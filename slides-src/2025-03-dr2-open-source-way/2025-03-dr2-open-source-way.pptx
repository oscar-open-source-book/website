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2900"/>
            <a:ext cx="8229600" cy="29718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2900"/>
            <a:ext cx="205740" cy="3429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8625"/>
            <a:ext cx="85060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39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 源 之 书 记 录</a:t>
            </a:r>
            <a:endParaRPr lang="en-US" sz="630" dirty="0"/>
          </a:p>
        </p:txBody>
      </p:sp>
      <p:sp>
        <p:nvSpPr>
          <p:cNvPr id="6" name="Shape 4"/>
          <p:cNvSpPr/>
          <p:nvPr/>
        </p:nvSpPr>
        <p:spPr>
          <a:xfrm>
            <a:off x="1308110" y="365760"/>
            <a:ext cx="1053435" cy="12001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308110" y="365760"/>
            <a:ext cx="0" cy="120015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8110" y="365760"/>
            <a:ext cx="1179847" cy="120015"/>
          </a:xfrm>
          <a:prstGeom prst="rect">
            <a:avLst/>
          </a:prstGeom>
          <a:noFill/>
          <a:ln/>
        </p:spPr>
        <p:txBody>
          <a:bodyPr wrap="none" lIns="0" tIns="10287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i="1" spc="2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Open-Source Reader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7190452" y="370046"/>
            <a:ext cx="550962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17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 NO.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7747129" y="370046"/>
            <a:ext cx="25038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17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DR2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8003232" y="370046"/>
            <a:ext cx="126302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17" kern="0" dirty="0">
                <a:solidFill>
                  <a:srgbClr val="0D2137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endParaRPr lang="en-US" sz="585" dirty="0"/>
          </a:p>
        </p:txBody>
      </p:sp>
      <p:sp>
        <p:nvSpPr>
          <p:cNvPr id="12" name="Text 10"/>
          <p:cNvSpPr/>
          <p:nvPr/>
        </p:nvSpPr>
        <p:spPr>
          <a:xfrm>
            <a:off x="8115300" y="370046"/>
            <a:ext cx="645795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17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MARCH 2025</a:t>
            </a:r>
            <a:endParaRPr lang="en-US" sz="585" dirty="0"/>
          </a:p>
        </p:txBody>
      </p:sp>
      <p:sp>
        <p:nvSpPr>
          <p:cNvPr id="13" name="Text 11"/>
          <p:cNvSpPr/>
          <p:nvPr/>
        </p:nvSpPr>
        <p:spPr>
          <a:xfrm>
            <a:off x="457200" y="788670"/>
            <a:ext cx="5579447" cy="7817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spc="-10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开源布道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" y="1570464"/>
            <a:ext cx="5579447" cy="7817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spc="-10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与阅读分享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457200" y="2603718"/>
            <a:ext cx="171450" cy="2286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090" y="2535138"/>
            <a:ext cx="905560" cy="4178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" y="2535138"/>
            <a:ext cx="1237030" cy="417820"/>
          </a:xfrm>
          <a:prstGeom prst="rect">
            <a:avLst/>
          </a:prstGeom>
          <a:noFill/>
          <a:ln/>
        </p:spPr>
        <p:txBody>
          <a:bodyPr wrap="none" lIns="11430" tIns="80010" rIns="80010" bIns="28575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610" b="1" spc="157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DR2</a:t>
            </a:r>
            <a:endParaRPr lang="en-US" sz="2610" dirty="0"/>
          </a:p>
        </p:txBody>
      </p:sp>
      <p:sp>
        <p:nvSpPr>
          <p:cNvPr id="18" name="Text 16"/>
          <p:cNvSpPr/>
          <p:nvPr/>
        </p:nvSpPr>
        <p:spPr>
          <a:xfrm>
            <a:off x="457200" y="3135838"/>
            <a:ext cx="5480885" cy="24860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5" i="1" spc="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以知识共享，让开源之道薪火相传</a:t>
            </a:r>
            <a:endParaRPr lang="en-US" sz="1305" dirty="0"/>
          </a:p>
        </p:txBody>
      </p:sp>
      <p:sp>
        <p:nvSpPr>
          <p:cNvPr id="19" name="Shape 17"/>
          <p:cNvSpPr/>
          <p:nvPr/>
        </p:nvSpPr>
        <p:spPr>
          <a:xfrm>
            <a:off x="457200" y="3563035"/>
            <a:ext cx="54864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" y="3521601"/>
            <a:ext cx="1718615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0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BRIEF · 编 辑 手 记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457200" y="3741628"/>
            <a:ext cx="4893647" cy="465773"/>
          </a:xfrm>
          <a:prstGeom prst="rect">
            <a:avLst/>
          </a:prstGeom>
          <a:solidFill>
            <a:srgbClr val="F5F1EA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645" y="3880217"/>
            <a:ext cx="365760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i="1" spc="2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954405" y="3838783"/>
            <a:ext cx="12801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144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主讲人 / SPEAKER</a:t>
            </a:r>
            <a:endParaRPr lang="en-US" sz="450" dirty="0"/>
          </a:p>
        </p:txBody>
      </p:sp>
      <p:sp>
        <p:nvSpPr>
          <p:cNvPr id="24" name="Text 22"/>
          <p:cNvSpPr/>
          <p:nvPr/>
        </p:nvSpPr>
        <p:spPr>
          <a:xfrm>
            <a:off x="954405" y="3947368"/>
            <a:ext cx="1280160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开源之道</a:t>
            </a:r>
            <a:pPr algn="l" indent="0" marL="0">
              <a:lnSpc>
                <a:spcPct val="150000"/>
              </a:lnSpc>
              <a:buNone/>
            </a:pPr>
            <a:r>
              <a:rPr lang="en-US" sz="855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适兕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2223135" y="3846552"/>
            <a:ext cx="3355819" cy="25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0D2137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一线开源布道者，常年活跃于社区与技术分享舞台，把每一次分享都当作对开源价值的重新诠释。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457200" y="4275981"/>
            <a:ext cx="4893647" cy="465773"/>
          </a:xfrm>
          <a:prstGeom prst="rect">
            <a:avLst/>
          </a:prstGeom>
          <a:solidFill>
            <a:srgbClr val="F5F1EA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645" y="4414570"/>
            <a:ext cx="365760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i="1" spc="2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954405" y="4373136"/>
            <a:ext cx="12801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144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 题 / TOPIC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954405" y="4481721"/>
            <a:ext cx="1280160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阅读</a:t>
            </a:r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× </a:t>
            </a:r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布道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2223135" y="4380905"/>
            <a:ext cx="3355819" cy="25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0D2137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把开源经典读进去，再把认知与经验传出去——从系统沉淀到主动输出，形成可持续的知识循环。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457200" y="4810333"/>
            <a:ext cx="4893647" cy="465773"/>
          </a:xfrm>
          <a:prstGeom prst="rect">
            <a:avLst/>
          </a:prstGeom>
          <a:solidFill>
            <a:srgbClr val="F5F1EA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8645" y="4948922"/>
            <a:ext cx="365760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i="1" spc="2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990" dirty="0"/>
          </a:p>
        </p:txBody>
      </p:sp>
      <p:sp>
        <p:nvSpPr>
          <p:cNvPr id="33" name="Text 31"/>
          <p:cNvSpPr/>
          <p:nvPr/>
        </p:nvSpPr>
        <p:spPr>
          <a:xfrm>
            <a:off x="954405" y="4907488"/>
            <a:ext cx="12801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144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 间 / DATE</a:t>
            </a:r>
            <a:endParaRPr lang="en-US" sz="450" dirty="0"/>
          </a:p>
        </p:txBody>
      </p:sp>
      <p:sp>
        <p:nvSpPr>
          <p:cNvPr id="34" name="Text 32"/>
          <p:cNvSpPr/>
          <p:nvPr/>
        </p:nvSpPr>
        <p:spPr>
          <a:xfrm>
            <a:off x="954405" y="5016073"/>
            <a:ext cx="1280160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 年</a:t>
            </a:r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pPr algn="l" indent="0" marL="0">
              <a:lnSpc>
                <a:spcPct val="150000"/>
              </a:lnSpc>
              <a:buNone/>
            </a:pPr>
            <a:r>
              <a:rPr lang="en-US" sz="85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月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2223135" y="4979194"/>
            <a:ext cx="3355819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0D2137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DR2 期开源之书记录分享，面向技术社区的公开演讲，欢迎同行者共同在场。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6834515" y="800100"/>
            <a:ext cx="92491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24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DR2 · 2025-03</a:t>
            </a:r>
            <a:endParaRPr lang="en-US" sz="495" dirty="0"/>
          </a:p>
        </p:txBody>
      </p:sp>
      <p:sp>
        <p:nvSpPr>
          <p:cNvPr id="37" name="Text 35"/>
          <p:cNvSpPr/>
          <p:nvPr/>
        </p:nvSpPr>
        <p:spPr>
          <a:xfrm>
            <a:off x="6801654" y="974408"/>
            <a:ext cx="104013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7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开源之书记录</a:t>
            </a:r>
            <a:pPr algn="ctr" indent="0" marL="0">
              <a:lnSpc>
                <a:spcPct val="150000"/>
              </a:lnSpc>
              <a:buNone/>
            </a:pPr>
            <a:r>
              <a:rPr lang="en-US" sz="54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 · 第 2 期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244566" y="1471613"/>
            <a:ext cx="5715" cy="3361581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9" name="Shape 37"/>
          <p:cNvSpPr/>
          <p:nvPr/>
        </p:nvSpPr>
        <p:spPr>
          <a:xfrm>
            <a:off x="7215991" y="1443038"/>
            <a:ext cx="62865" cy="6286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0" name="Shape 38"/>
          <p:cNvSpPr/>
          <p:nvPr/>
        </p:nvSpPr>
        <p:spPr>
          <a:xfrm>
            <a:off x="7215991" y="4798903"/>
            <a:ext cx="62865" cy="6286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1" name="Text 39"/>
          <p:cNvSpPr/>
          <p:nvPr/>
        </p:nvSpPr>
        <p:spPr>
          <a:xfrm rot="-5400000">
            <a:off x="5790099" y="3092351"/>
            <a:ext cx="32644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50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SOURCE READER · 第 二 期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6887825" y="4970353"/>
            <a:ext cx="805301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i="1" spc="234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MARCH —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6636990" y="5150376"/>
            <a:ext cx="136727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216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 源 与 阅 读 的 双 主 线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457200" y="5276106"/>
            <a:ext cx="8229600" cy="211455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457200" y="5276106"/>
            <a:ext cx="822960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418981"/>
            <a:ext cx="125730" cy="3429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7" name="Text 45"/>
          <p:cNvSpPr/>
          <p:nvPr/>
        </p:nvSpPr>
        <p:spPr>
          <a:xfrm>
            <a:off x="674370" y="5388977"/>
            <a:ext cx="2980773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09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ADVOCACY  ·  READING SHARING  ·  DR2 ISSUE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6369814" y="5384691"/>
            <a:ext cx="66448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i="1" spc="10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DR2 / VOL.02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7077402" y="5421838"/>
            <a:ext cx="28575" cy="2857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50" name="Text 48"/>
          <p:cNvSpPr/>
          <p:nvPr/>
        </p:nvSpPr>
        <p:spPr>
          <a:xfrm>
            <a:off x="7220277" y="5384691"/>
            <a:ext cx="46068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i="1" spc="10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 · 03</a:t>
            </a:r>
            <a:endParaRPr lang="en-US" sz="540" dirty="0"/>
          </a:p>
        </p:txBody>
      </p:sp>
      <p:sp>
        <p:nvSpPr>
          <p:cNvPr id="51" name="Shape 49"/>
          <p:cNvSpPr/>
          <p:nvPr/>
        </p:nvSpPr>
        <p:spPr>
          <a:xfrm>
            <a:off x="7726680" y="5421838"/>
            <a:ext cx="28575" cy="2857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52" name="Text 50"/>
          <p:cNvSpPr/>
          <p:nvPr/>
        </p:nvSpPr>
        <p:spPr>
          <a:xfrm>
            <a:off x="7869555" y="5384691"/>
            <a:ext cx="91531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i="1" spc="10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EDITORIAL COVER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" y="148590"/>
            <a:ext cx="125730" cy="12573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48590" y="14859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" y="14859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4869180"/>
            <a:ext cx="125730" cy="12573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995410" y="486918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499491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8610"/>
            <a:ext cx="34290" cy="34290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9" name="Text 7"/>
          <p:cNvSpPr/>
          <p:nvPr/>
        </p:nvSpPr>
        <p:spPr>
          <a:xfrm>
            <a:off x="560070" y="308610"/>
            <a:ext cx="143087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68" kern="0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SOURCE CODEX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4159002" y="308610"/>
            <a:ext cx="219627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VOL. 01  ·  CHAPTER ONE  ·  A MANIFESTO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8441234" y="308610"/>
            <a:ext cx="30843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6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"/>
            <a:ext cx="822960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702945"/>
            <a:ext cx="5132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98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941903" y="702945"/>
            <a:ext cx="11090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C23D2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1024235" y="702945"/>
            <a:ext cx="5361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98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4383405" y="2119105"/>
            <a:ext cx="62865" cy="62865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05765"/>
            <a:ext cx="4663440" cy="25888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5300" b="1" spc="-61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300" dirty="0"/>
          </a:p>
        </p:txBody>
      </p:sp>
      <p:sp>
        <p:nvSpPr>
          <p:cNvPr id="18" name="Shape 16"/>
          <p:cNvSpPr/>
          <p:nvPr/>
        </p:nvSpPr>
        <p:spPr>
          <a:xfrm>
            <a:off x="457200" y="2627739"/>
            <a:ext cx="4114800" cy="66678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57200" y="2627739"/>
            <a:ext cx="0" cy="666780"/>
          </a:xfrm>
          <a:prstGeom prst="line">
            <a:avLst/>
          </a:prstGeom>
          <a:noFill/>
          <a:ln w="17145">
            <a:solidFill>
              <a:srgbClr val="C2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075" y="2593449"/>
            <a:ext cx="2395399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90" b="1" spc="-1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开源之道的核心价值</a:t>
            </a:r>
            <a:endParaRPr lang="en-US" sz="1890" dirty="0"/>
          </a:p>
        </p:txBody>
      </p:sp>
      <p:sp>
        <p:nvSpPr>
          <p:cNvPr id="21" name="Text 19"/>
          <p:cNvSpPr/>
          <p:nvPr/>
        </p:nvSpPr>
        <p:spPr>
          <a:xfrm>
            <a:off x="600075" y="2995196"/>
            <a:ext cx="3445231" cy="286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spc="14" kern="0" dirty="0">
                <a:solidFill>
                  <a:srgbClr val="4B58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为什么开源，是技术人的一种信仰与实践——写在众目之下累积信任的世界观。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892040" y="702945"/>
            <a:ext cx="5715" cy="2591574"/>
          </a:xfrm>
          <a:prstGeom prst="rect">
            <a:avLst/>
          </a:prstGeom>
          <a:solidFill>
            <a:srgbClr val="0D2137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17795" y="702945"/>
            <a:ext cx="274204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17795" y="702945"/>
            <a:ext cx="93581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71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开源历史 · HISTORY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5217795" y="851535"/>
            <a:ext cx="1633604" cy="325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始于</a:t>
            </a:r>
            <a:pPr algn="l" indent="0" marL="0">
              <a:lnSpc>
                <a:spcPct val="140000"/>
              </a:lnSpc>
              <a:buNone/>
            </a:pPr>
            <a:r>
              <a:rPr lang="en-US" sz="900" b="1" i="1" spc="9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1980s</a:t>
            </a:r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，从自由软件运动</a:t>
            </a:r>
            <a:pPr algn="l" indent="0" marL="0">
              <a:lnSpc>
                <a:spcPct val="140000"/>
              </a:lnSpc>
              <a:buNone/>
            </a:pP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到今天的企业级基础设施。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7795" y="1325880"/>
            <a:ext cx="260256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17795" y="1325880"/>
            <a:ext cx="109203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71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关键理念 · PRINCIPLES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5217795" y="1474470"/>
            <a:ext cx="1712914" cy="325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自由 · 公开 · 协作 —— 开源的</a:t>
            </a:r>
            <a:pPr algn="l" indent="0" marL="0">
              <a:lnSpc>
                <a:spcPct val="140000"/>
              </a:lnSpc>
              <a:buNone/>
            </a:pP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三大基本原则。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7795" y="1948815"/>
            <a:ext cx="3657600" cy="1324808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5217795" y="1948815"/>
            <a:ext cx="365760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7795" y="2080260"/>
            <a:ext cx="181142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PILLARS OF OPEN SOURCE</a:t>
            </a:r>
            <a:endParaRPr lang="en-US" sz="450" dirty="0"/>
          </a:p>
        </p:txBody>
      </p:sp>
      <p:sp>
        <p:nvSpPr>
          <p:cNvPr id="32" name="Shape 30"/>
          <p:cNvSpPr/>
          <p:nvPr/>
        </p:nvSpPr>
        <p:spPr>
          <a:xfrm>
            <a:off x="5217795" y="2263140"/>
            <a:ext cx="9144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7795" y="2274570"/>
            <a:ext cx="14573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560695" y="2251710"/>
            <a:ext cx="784116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spc="8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公开透明的协作</a:t>
            </a:r>
            <a:endParaRPr lang="en-US" sz="765" dirty="0"/>
          </a:p>
        </p:txBody>
      </p:sp>
      <p:sp>
        <p:nvSpPr>
          <p:cNvPr id="35" name="Text 33"/>
          <p:cNvSpPr/>
          <p:nvPr/>
        </p:nvSpPr>
        <p:spPr>
          <a:xfrm>
            <a:off x="5560695" y="2428518"/>
            <a:ext cx="224668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代码、决策与讨论全部开放，让质量与信任在众目之下累积。</a:t>
            </a:r>
            <a:endParaRPr lang="en-US" sz="563" dirty="0"/>
          </a:p>
        </p:txBody>
      </p:sp>
      <p:sp>
        <p:nvSpPr>
          <p:cNvPr id="36" name="Shape 34"/>
          <p:cNvSpPr/>
          <p:nvPr/>
        </p:nvSpPr>
        <p:spPr>
          <a:xfrm>
            <a:off x="5217795" y="2634258"/>
            <a:ext cx="9144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7" name="Text 35"/>
          <p:cNvSpPr/>
          <p:nvPr/>
        </p:nvSpPr>
        <p:spPr>
          <a:xfrm>
            <a:off x="5217795" y="2645688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560695" y="2622828"/>
            <a:ext cx="48970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spc="8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复利效应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5560695" y="2799636"/>
            <a:ext cx="21634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一次贡献被无数人复用，长期收益远超个人项目所能抵达。</a:t>
            </a:r>
            <a:endParaRPr lang="en-US" sz="563" dirty="0"/>
          </a:p>
        </p:txBody>
      </p:sp>
      <p:sp>
        <p:nvSpPr>
          <p:cNvPr id="40" name="Shape 38"/>
          <p:cNvSpPr/>
          <p:nvPr/>
        </p:nvSpPr>
        <p:spPr>
          <a:xfrm>
            <a:off x="5217795" y="3005376"/>
            <a:ext cx="9144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1" name="Text 39"/>
          <p:cNvSpPr/>
          <p:nvPr/>
        </p:nvSpPr>
        <p:spPr>
          <a:xfrm>
            <a:off x="5217795" y="3016806"/>
            <a:ext cx="2657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560695" y="2993946"/>
            <a:ext cx="48970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spc="8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共同成长</a:t>
            </a:r>
            <a:endParaRPr lang="en-US" sz="765" dirty="0"/>
          </a:p>
        </p:txBody>
      </p:sp>
      <p:sp>
        <p:nvSpPr>
          <p:cNvPr id="43" name="Text 41"/>
          <p:cNvSpPr/>
          <p:nvPr/>
        </p:nvSpPr>
        <p:spPr>
          <a:xfrm>
            <a:off x="5560695" y="3170753"/>
            <a:ext cx="24131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社区即学校，优秀者在彼此反馈中不断被抬高，边界因此被推远。</a:t>
            </a:r>
            <a:endParaRPr lang="en-US" sz="563" dirty="0"/>
          </a:p>
        </p:txBody>
      </p:sp>
      <p:sp>
        <p:nvSpPr>
          <p:cNvPr id="44" name="Shape 42"/>
          <p:cNvSpPr/>
          <p:nvPr/>
        </p:nvSpPr>
        <p:spPr>
          <a:xfrm>
            <a:off x="457200" y="4757738"/>
            <a:ext cx="2238048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959745" y="4703445"/>
            <a:ext cx="361135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30" i="1" spc="13" kern="0" dirty="0">
                <a:solidFill>
                  <a:srgbClr val="1A2A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开源不只是许可证和代码仓库，它是一种公开协作的方式、一种关于信任与复利的世界观。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6448663" y="4757738"/>
            <a:ext cx="2238137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2300" y="-800100"/>
            <a:ext cx="2971800" cy="2971800"/>
          </a:xfrm>
          <a:prstGeom prst="ellipse">
            <a:avLst/>
          </a:prstGeom>
          <a:noFill/>
          <a:ln w="5715">
            <a:solidFill>
              <a:srgbClr val="0D2137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29500" y="-342900"/>
            <a:ext cx="2057400" cy="2057400"/>
          </a:xfrm>
          <a:prstGeom prst="ellipse">
            <a:avLst/>
          </a:prstGeom>
          <a:noFill/>
          <a:ln w="5715">
            <a:solidFill>
              <a:srgbClr val="C23D2E">
                <a:alpha val="1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14350" y="4057650"/>
            <a:ext cx="1600200" cy="1600200"/>
          </a:xfrm>
          <a:prstGeom prst="ellipse">
            <a:avLst/>
          </a:prstGeom>
          <a:noFill/>
          <a:ln w="5715">
            <a:solidFill>
              <a:srgbClr val="0D2137">
                <a:alpha val="9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11480" y="274320"/>
            <a:ext cx="8321040" cy="708303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11480" y="982623"/>
            <a:ext cx="832104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90036"/>
            <a:ext cx="62865" cy="6286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8" name="Text 6"/>
          <p:cNvSpPr/>
          <p:nvPr/>
        </p:nvSpPr>
        <p:spPr>
          <a:xfrm>
            <a:off x="554355" y="274320"/>
            <a:ext cx="148498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39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ESSAY · ISSUE 24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411480" y="345758"/>
            <a:ext cx="2571750" cy="5943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40" b="1" spc="162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为什么选择</a:t>
            </a:r>
            <a:endParaRPr lang="en-US" sz="3240" dirty="0"/>
          </a:p>
        </p:txBody>
      </p:sp>
      <p:sp>
        <p:nvSpPr>
          <p:cNvPr id="10" name="Text 8"/>
          <p:cNvSpPr/>
          <p:nvPr/>
        </p:nvSpPr>
        <p:spPr>
          <a:xfrm>
            <a:off x="2571750" y="374333"/>
            <a:ext cx="1242745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40" i="1" spc="32" kern="0" dirty="0">
                <a:solidFill>
                  <a:srgbClr val="0D2137">
                    <a:alpha val="7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</a:t>
            </a:r>
            <a:endParaRPr lang="en-US" sz="3240" dirty="0"/>
          </a:p>
        </p:txBody>
      </p:sp>
      <p:sp>
        <p:nvSpPr>
          <p:cNvPr id="11" name="Text 9"/>
          <p:cNvSpPr/>
          <p:nvPr/>
        </p:nvSpPr>
        <p:spPr>
          <a:xfrm>
            <a:off x="7186613" y="480774"/>
            <a:ext cx="1308964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65" kern="0" dirty="0">
                <a:solidFill>
                  <a:srgbClr val="0D213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SOURCE CASE</a:t>
            </a:r>
            <a:endParaRPr lang="en-US" sz="473" dirty="0"/>
          </a:p>
        </p:txBody>
      </p:sp>
      <p:sp>
        <p:nvSpPr>
          <p:cNvPr id="12" name="Text 10"/>
          <p:cNvSpPr/>
          <p:nvPr/>
        </p:nvSpPr>
        <p:spPr>
          <a:xfrm>
            <a:off x="8458200" y="400050"/>
            <a:ext cx="603504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980" dirty="0"/>
          </a:p>
        </p:txBody>
      </p:sp>
      <p:sp>
        <p:nvSpPr>
          <p:cNvPr id="13" name="Shape 11"/>
          <p:cNvSpPr/>
          <p:nvPr/>
        </p:nvSpPr>
        <p:spPr>
          <a:xfrm>
            <a:off x="3611880" y="1222653"/>
            <a:ext cx="5715" cy="2763381"/>
          </a:xfrm>
          <a:prstGeom prst="rect">
            <a:avLst/>
          </a:prstGeom>
          <a:solidFill>
            <a:srgbClr val="0D2137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309092"/>
            <a:ext cx="251460" cy="8573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268373"/>
            <a:ext cx="1132041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b="1" spc="142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引言 · EDITORIAL NOTE</a:t>
            </a:r>
            <a:endParaRPr lang="en-US" sz="473" dirty="0"/>
          </a:p>
        </p:txBody>
      </p:sp>
      <p:sp>
        <p:nvSpPr>
          <p:cNvPr id="16" name="Text 14"/>
          <p:cNvSpPr/>
          <p:nvPr/>
        </p:nvSpPr>
        <p:spPr>
          <a:xfrm>
            <a:off x="411480" y="1472684"/>
            <a:ext cx="3328416" cy="21600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6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"收益不排斥，反而互为条件——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411480" y="1688693"/>
            <a:ext cx="3328416" cy="21600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6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这正是开源之路的吸引力所在。"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411480" y="2019002"/>
            <a:ext cx="2971800" cy="91976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11480" y="2019002"/>
            <a:ext cx="0" cy="91976"/>
          </a:xfrm>
          <a:prstGeom prst="line">
            <a:avLst/>
          </a:prstGeom>
          <a:noFill/>
          <a:ln w="11430">
            <a:solidFill>
              <a:srgbClr val="C23D2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19002"/>
            <a:ext cx="3328416" cy="91976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spc="103" kern="0" dirty="0">
                <a:solidFill>
                  <a:srgbClr val="0D213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编者按 / Editor's Note</a:t>
            </a:r>
            <a:endParaRPr lang="en-US" sz="518" dirty="0"/>
          </a:p>
        </p:txBody>
      </p:sp>
      <p:sp>
        <p:nvSpPr>
          <p:cNvPr id="21" name="Text 19"/>
          <p:cNvSpPr/>
          <p:nvPr/>
        </p:nvSpPr>
        <p:spPr>
          <a:xfrm>
            <a:off x="411480" y="2293858"/>
            <a:ext cx="3328416" cy="306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对个人而言，选择开源的收益来自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多个维度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：短期是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工程效率与能力证明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，中期是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社区关系与影响力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，长期是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参与技术生态演进本身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53" dirty="0"/>
          </a:p>
        </p:txBody>
      </p:sp>
      <p:sp>
        <p:nvSpPr>
          <p:cNvPr id="22" name="Text 20"/>
          <p:cNvSpPr/>
          <p:nvPr/>
        </p:nvSpPr>
        <p:spPr>
          <a:xfrm>
            <a:off x="411480" y="2657475"/>
            <a:ext cx="3328416" cy="1532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这些收益并不排斥，反而互为条件，共同构成了开源之路的基本吸引力。</a:t>
            </a:r>
            <a:endParaRPr lang="en-US" sz="653" dirty="0"/>
          </a:p>
        </p:txBody>
      </p:sp>
      <p:sp>
        <p:nvSpPr>
          <p:cNvPr id="23" name="Shape 21"/>
          <p:cNvSpPr/>
          <p:nvPr/>
        </p:nvSpPr>
        <p:spPr>
          <a:xfrm>
            <a:off x="3840480" y="1222653"/>
            <a:ext cx="4892040" cy="573197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840480" y="1795849"/>
            <a:ext cx="4892040" cy="0"/>
          </a:xfrm>
          <a:prstGeom prst="line">
            <a:avLst/>
          </a:prstGeom>
          <a:noFill/>
          <a:ln w="5715">
            <a:solidFill>
              <a:srgbClr val="0D2137">
                <a:alpha val="16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1325523"/>
            <a:ext cx="708660" cy="350312"/>
          </a:xfrm>
          <a:prstGeom prst="rect">
            <a:avLst/>
          </a:prstGeom>
          <a:noFill/>
          <a:ln/>
        </p:spPr>
        <p:txBody>
          <a:bodyPr wrap="none" lIns="2286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070" dirty="0"/>
          </a:p>
        </p:txBody>
      </p:sp>
      <p:sp>
        <p:nvSpPr>
          <p:cNvPr id="26" name="Shape 24"/>
          <p:cNvSpPr/>
          <p:nvPr/>
        </p:nvSpPr>
        <p:spPr>
          <a:xfrm>
            <a:off x="3840480" y="1698695"/>
            <a:ext cx="14859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1336953"/>
            <a:ext cx="4813402" cy="1571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90" b="1" spc="3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降低试错成本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4434840" y="1539835"/>
            <a:ext cx="481340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站在成熟社区肩膀上，不必重复造轮子。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3840480" y="1795849"/>
            <a:ext cx="4892040" cy="573197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3840480" y="2369046"/>
            <a:ext cx="4892040" cy="0"/>
          </a:xfrm>
          <a:prstGeom prst="line">
            <a:avLst/>
          </a:prstGeom>
          <a:noFill/>
          <a:ln w="5715">
            <a:solidFill>
              <a:srgbClr val="0D2137">
                <a:alpha val="16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898719"/>
            <a:ext cx="708660" cy="350312"/>
          </a:xfrm>
          <a:prstGeom prst="rect">
            <a:avLst/>
          </a:prstGeom>
          <a:noFill/>
          <a:ln/>
        </p:spPr>
        <p:txBody>
          <a:bodyPr wrap="none" lIns="2286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070" dirty="0"/>
          </a:p>
        </p:txBody>
      </p:sp>
      <p:sp>
        <p:nvSpPr>
          <p:cNvPr id="32" name="Shape 30"/>
          <p:cNvSpPr/>
          <p:nvPr/>
        </p:nvSpPr>
        <p:spPr>
          <a:xfrm>
            <a:off x="3840480" y="2271891"/>
            <a:ext cx="14859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1910149"/>
            <a:ext cx="4813402" cy="1571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90" b="1" spc="3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构建专业声誉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4434840" y="2113032"/>
            <a:ext cx="481340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公开的贡献历史本身就是可验证的能力证明。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3840480" y="2369046"/>
            <a:ext cx="4892040" cy="573197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3840480" y="2942243"/>
            <a:ext cx="4892040" cy="0"/>
          </a:xfrm>
          <a:prstGeom prst="line">
            <a:avLst/>
          </a:prstGeom>
          <a:noFill/>
          <a:ln w="5715">
            <a:solidFill>
              <a:srgbClr val="0D2137">
                <a:alpha val="16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2471916"/>
            <a:ext cx="708660" cy="350312"/>
          </a:xfrm>
          <a:prstGeom prst="rect">
            <a:avLst/>
          </a:prstGeom>
          <a:noFill/>
          <a:ln/>
        </p:spPr>
        <p:txBody>
          <a:bodyPr wrap="none" lIns="2286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070" dirty="0"/>
          </a:p>
        </p:txBody>
      </p:sp>
      <p:sp>
        <p:nvSpPr>
          <p:cNvPr id="38" name="Shape 36"/>
          <p:cNvSpPr/>
          <p:nvPr/>
        </p:nvSpPr>
        <p:spPr>
          <a:xfrm>
            <a:off x="3840480" y="2845088"/>
            <a:ext cx="14859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2483346"/>
            <a:ext cx="4813402" cy="1571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90" b="1" spc="3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参与定义标准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4434840" y="2686229"/>
            <a:ext cx="481340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从使用者到贡献者，再到治理参与者，影响力逐步放大。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3840480" y="3045113"/>
            <a:ext cx="708660" cy="350312"/>
          </a:xfrm>
          <a:prstGeom prst="rect">
            <a:avLst/>
          </a:prstGeom>
          <a:noFill/>
          <a:ln/>
        </p:spPr>
        <p:txBody>
          <a:bodyPr wrap="none" lIns="2286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070" dirty="0"/>
          </a:p>
        </p:txBody>
      </p:sp>
      <p:sp>
        <p:nvSpPr>
          <p:cNvPr id="42" name="Shape 40"/>
          <p:cNvSpPr/>
          <p:nvPr/>
        </p:nvSpPr>
        <p:spPr>
          <a:xfrm>
            <a:off x="3840480" y="3418285"/>
            <a:ext cx="14859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3" name="Text 41"/>
          <p:cNvSpPr/>
          <p:nvPr/>
        </p:nvSpPr>
        <p:spPr>
          <a:xfrm>
            <a:off x="4434840" y="3056543"/>
            <a:ext cx="4813402" cy="1571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90" b="1" spc="3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反哺个人成长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4434840" y="3259425"/>
            <a:ext cx="481340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D213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被评审、被讨论、被质疑，是最高效的学习机制。</a:t>
            </a:r>
            <a:endParaRPr lang="en-US" sz="630" dirty="0"/>
          </a:p>
        </p:txBody>
      </p:sp>
      <p:sp>
        <p:nvSpPr>
          <p:cNvPr id="45" name="Shape 43"/>
          <p:cNvSpPr/>
          <p:nvPr/>
        </p:nvSpPr>
        <p:spPr>
          <a:xfrm>
            <a:off x="411480" y="4283214"/>
            <a:ext cx="8321040" cy="620256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411480" y="4283214"/>
            <a:ext cx="832104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671834"/>
            <a:ext cx="402818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39" kern="0" dirty="0">
                <a:solidFill>
                  <a:srgbClr val="0D213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900023" y="4420374"/>
            <a:ext cx="1303020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 亿+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1845588" y="4666119"/>
            <a:ext cx="838505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开发者规模</a:t>
            </a:r>
            <a:endParaRPr lang="en-US" sz="585" dirty="0"/>
          </a:p>
        </p:txBody>
      </p:sp>
      <p:sp>
        <p:nvSpPr>
          <p:cNvPr id="50" name="Text 48"/>
          <p:cNvSpPr/>
          <p:nvPr/>
        </p:nvSpPr>
        <p:spPr>
          <a:xfrm>
            <a:off x="1845588" y="4791224"/>
            <a:ext cx="838505" cy="779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73" spc="95" kern="0" dirty="0">
                <a:solidFill>
                  <a:srgbClr val="0D213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全球最大开源协作平台</a:t>
            </a:r>
            <a:endParaRPr lang="en-US" sz="473" dirty="0"/>
          </a:p>
        </p:txBody>
      </p:sp>
      <p:sp>
        <p:nvSpPr>
          <p:cNvPr id="51" name="Text 49"/>
          <p:cNvSpPr/>
          <p:nvPr/>
        </p:nvSpPr>
        <p:spPr>
          <a:xfrm>
            <a:off x="6847374" y="4666119"/>
            <a:ext cx="520065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公开仓库数量</a:t>
            </a:r>
            <a:endParaRPr lang="en-US" sz="585" dirty="0"/>
          </a:p>
        </p:txBody>
      </p:sp>
      <p:sp>
        <p:nvSpPr>
          <p:cNvPr id="52" name="Text 50"/>
          <p:cNvSpPr/>
          <p:nvPr/>
        </p:nvSpPr>
        <p:spPr>
          <a:xfrm>
            <a:off x="6394728" y="4791224"/>
            <a:ext cx="1006226" cy="779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73" spc="95" kern="0" dirty="0">
                <a:solidFill>
                  <a:srgbClr val="0D213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涵盖几乎所有主流技术领域</a:t>
            </a:r>
            <a:endParaRPr lang="en-US" sz="473" dirty="0"/>
          </a:p>
        </p:txBody>
      </p:sp>
      <p:sp>
        <p:nvSpPr>
          <p:cNvPr id="53" name="Text 51"/>
          <p:cNvSpPr/>
          <p:nvPr/>
        </p:nvSpPr>
        <p:spPr>
          <a:xfrm>
            <a:off x="7441734" y="4420374"/>
            <a:ext cx="1303020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 亿+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8438733" y="4671834"/>
            <a:ext cx="35665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39" kern="0" dirty="0">
                <a:solidFill>
                  <a:srgbClr val="0D213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1EA"/>
              </a:gs>
              <a:gs pos="100000">
                <a:srgbClr val="EFE9DE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57200" y="277178"/>
            <a:ext cx="342900" cy="5715"/>
          </a:xfrm>
          <a:prstGeom prst="rect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80110" y="240030"/>
            <a:ext cx="133726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· DASHBOARD</a:t>
            </a:r>
            <a:endParaRPr lang="en-US" sz="495" dirty="0"/>
          </a:p>
        </p:txBody>
      </p:sp>
      <p:sp>
        <p:nvSpPr>
          <p:cNvPr id="5" name="Shape 3"/>
          <p:cNvSpPr/>
          <p:nvPr/>
        </p:nvSpPr>
        <p:spPr>
          <a:xfrm>
            <a:off x="2154109" y="265748"/>
            <a:ext cx="28575" cy="28575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6" name="Text 4"/>
          <p:cNvSpPr/>
          <p:nvPr/>
        </p:nvSpPr>
        <p:spPr>
          <a:xfrm>
            <a:off x="2262694" y="240030"/>
            <a:ext cx="48372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457200" y="400050"/>
            <a:ext cx="7552944" cy="3613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90" b="1" spc="2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全球开源生态速览</a:t>
            </a:r>
            <a:endParaRPr lang="en-US" sz="2790" dirty="0"/>
          </a:p>
        </p:txBody>
      </p:sp>
      <p:sp>
        <p:nvSpPr>
          <p:cNvPr id="8" name="Text 6"/>
          <p:cNvSpPr/>
          <p:nvPr/>
        </p:nvSpPr>
        <p:spPr>
          <a:xfrm>
            <a:off x="457200" y="852874"/>
            <a:ext cx="4992624" cy="132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spc="14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从基础设施到语言框架，从基金会治理到 AI 时代的模型开源——</a:t>
            </a:r>
            <a:pPr algn="l" indent="0" marL="0">
              <a:lnSpc>
                <a:spcPct val="155000"/>
              </a:lnSpc>
              <a:buNone/>
            </a:pPr>
            <a:r>
              <a:rPr lang="en-US" sz="675" b="1" spc="14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数字之下，是相互支撑的生态</a:t>
            </a:r>
            <a:pPr algn="l" indent="0" marL="0">
              <a:lnSpc>
                <a:spcPct val="155000"/>
              </a:lnSpc>
              <a:buNone/>
            </a:pPr>
            <a:r>
              <a:rPr lang="en-US" sz="675" spc="14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9" name="Shape 7"/>
          <p:cNvSpPr/>
          <p:nvPr/>
        </p:nvSpPr>
        <p:spPr>
          <a:xfrm>
            <a:off x="7543800" y="240030"/>
            <a:ext cx="1143000" cy="58293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7543800" y="240030"/>
            <a:ext cx="0" cy="58293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6675" y="274320"/>
            <a:ext cx="11830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40" spc="7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686675" y="514350"/>
            <a:ext cx="112014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26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7686675" y="640080"/>
            <a:ext cx="112014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26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ECOLOGY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7686675" y="742950"/>
            <a:ext cx="112014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i="1" spc="108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Visual Briefing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457200" y="1142911"/>
            <a:ext cx="18430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40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670084" y="1134338"/>
            <a:ext cx="41933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8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关键指标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1112282" y="1148626"/>
            <a:ext cx="5717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119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Metrics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1724055" y="1188631"/>
            <a:ext cx="6962745" cy="5715"/>
          </a:xfrm>
          <a:prstGeom prst="rect">
            <a:avLst/>
          </a:prstGeom>
          <a:solidFill>
            <a:srgbClr val="0D2137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1328648"/>
            <a:ext cx="1563588" cy="1074420"/>
          </a:xfrm>
          <a:prstGeom prst="rect">
            <a:avLst/>
          </a:prstGeom>
          <a:solidFill>
            <a:srgbClr val="FBF7F0"/>
          </a:solidFill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328648"/>
            <a:ext cx="1552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577215" y="1448663"/>
            <a:ext cx="1485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①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1621810" y="1448663"/>
            <a:ext cx="3361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社区规模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577215" y="1585823"/>
            <a:ext cx="1609308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亿+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77215" y="1928723"/>
            <a:ext cx="14823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MILLION+ USERS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577215" y="2025789"/>
            <a:ext cx="1323558" cy="268694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577215" y="2025789"/>
            <a:ext cx="1323558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215" y="2088654"/>
            <a:ext cx="1482385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1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GitHub 开发者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77215" y="2207508"/>
            <a:ext cx="1482385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全球最大开源平台用户</a:t>
            </a:r>
            <a:endParaRPr lang="en-US" sz="473" dirty="0"/>
          </a:p>
        </p:txBody>
      </p:sp>
      <p:sp>
        <p:nvSpPr>
          <p:cNvPr id="29" name="Shape 27"/>
          <p:cNvSpPr/>
          <p:nvPr/>
        </p:nvSpPr>
        <p:spPr>
          <a:xfrm>
            <a:off x="2123658" y="1328648"/>
            <a:ext cx="1563588" cy="1074420"/>
          </a:xfrm>
          <a:prstGeom prst="rect">
            <a:avLst/>
          </a:prstGeom>
          <a:solidFill>
            <a:srgbClr val="FBF7F0"/>
          </a:solidFill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23658" y="1328648"/>
            <a:ext cx="1552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2243673" y="1448663"/>
            <a:ext cx="1485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②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3288268" y="1448663"/>
            <a:ext cx="3361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全球总量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2243673" y="1585823"/>
            <a:ext cx="1609308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亿+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2243673" y="1928723"/>
            <a:ext cx="14823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MILLION+ REPOS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2243673" y="2025789"/>
            <a:ext cx="1323558" cy="268694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2243673" y="2025789"/>
            <a:ext cx="1323558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3673" y="2088654"/>
            <a:ext cx="1482385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1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公开仓库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2243673" y="2207508"/>
            <a:ext cx="1482385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跨领域累积的代码资产</a:t>
            </a:r>
            <a:endParaRPr lang="en-US" sz="473" dirty="0"/>
          </a:p>
        </p:txBody>
      </p:sp>
      <p:sp>
        <p:nvSpPr>
          <p:cNvPr id="39" name="Shape 37"/>
          <p:cNvSpPr/>
          <p:nvPr/>
        </p:nvSpPr>
        <p:spPr>
          <a:xfrm>
            <a:off x="3790117" y="1328648"/>
            <a:ext cx="1563678" cy="1074420"/>
          </a:xfrm>
          <a:prstGeom prst="rect">
            <a:avLst/>
          </a:prstGeom>
          <a:solidFill>
            <a:srgbClr val="FBF7F0"/>
          </a:solidFill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0117" y="1328648"/>
            <a:ext cx="1552245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3910132" y="1448663"/>
            <a:ext cx="1485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③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4924008" y="1448663"/>
            <a:ext cx="36692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TLP 项目</a:t>
            </a:r>
            <a:endParaRPr lang="en-US" sz="450" dirty="0"/>
          </a:p>
        </p:txBody>
      </p:sp>
      <p:sp>
        <p:nvSpPr>
          <p:cNvPr id="43" name="Text 41"/>
          <p:cNvSpPr/>
          <p:nvPr/>
        </p:nvSpPr>
        <p:spPr>
          <a:xfrm>
            <a:off x="3910132" y="1585823"/>
            <a:ext cx="1609398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近 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350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3910132" y="1928723"/>
            <a:ext cx="14824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TOP-LEVEL PROJECTS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3910132" y="2025789"/>
            <a:ext cx="1323648" cy="268694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3910132" y="2025789"/>
            <a:ext cx="1323648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10132" y="2088654"/>
            <a:ext cx="1482485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1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Apache 顶级项目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3910132" y="2207508"/>
            <a:ext cx="1482485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长期稳定的企业级项目数</a:t>
            </a:r>
            <a:endParaRPr lang="en-US" sz="473" dirty="0"/>
          </a:p>
        </p:txBody>
      </p:sp>
      <p:sp>
        <p:nvSpPr>
          <p:cNvPr id="49" name="Shape 47"/>
          <p:cNvSpPr/>
          <p:nvPr/>
        </p:nvSpPr>
        <p:spPr>
          <a:xfrm>
            <a:off x="5456664" y="1328648"/>
            <a:ext cx="1563588" cy="1074420"/>
          </a:xfrm>
          <a:prstGeom prst="rect">
            <a:avLst/>
          </a:prstGeom>
          <a:solidFill>
            <a:srgbClr val="FBF7F0"/>
          </a:solidFill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56664" y="1328648"/>
            <a:ext cx="1552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1" name="Text 49"/>
          <p:cNvSpPr/>
          <p:nvPr/>
        </p:nvSpPr>
        <p:spPr>
          <a:xfrm>
            <a:off x="5576679" y="1448663"/>
            <a:ext cx="1485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④</a:t>
            </a:r>
            <a:endParaRPr lang="en-US" sz="585" dirty="0"/>
          </a:p>
        </p:txBody>
      </p:sp>
      <p:sp>
        <p:nvSpPr>
          <p:cNvPr id="52" name="Text 50"/>
          <p:cNvSpPr/>
          <p:nvPr/>
        </p:nvSpPr>
        <p:spPr>
          <a:xfrm>
            <a:off x="6621274" y="1448663"/>
            <a:ext cx="3361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毕业项目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5576679" y="1585823"/>
            <a:ext cx="1609308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数十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5576679" y="1928723"/>
            <a:ext cx="14823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GRADUATED PROJECTS</a:t>
            </a:r>
            <a:endParaRPr lang="en-US" sz="450" dirty="0"/>
          </a:p>
        </p:txBody>
      </p:sp>
      <p:sp>
        <p:nvSpPr>
          <p:cNvPr id="55" name="Shape 53"/>
          <p:cNvSpPr/>
          <p:nvPr/>
        </p:nvSpPr>
        <p:spPr>
          <a:xfrm>
            <a:off x="5576679" y="2025789"/>
            <a:ext cx="1323558" cy="268694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5576679" y="2025789"/>
            <a:ext cx="1323558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6679" y="2088654"/>
            <a:ext cx="1482385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1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CNCF 毕业项目</a:t>
            </a:r>
            <a:endParaRPr lang="en-US" sz="630" dirty="0"/>
          </a:p>
        </p:txBody>
      </p:sp>
      <p:sp>
        <p:nvSpPr>
          <p:cNvPr id="58" name="Text 56"/>
          <p:cNvSpPr/>
          <p:nvPr/>
        </p:nvSpPr>
        <p:spPr>
          <a:xfrm>
            <a:off x="5576679" y="2207508"/>
            <a:ext cx="1482385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 Kubernetes 等核心项目</a:t>
            </a:r>
            <a:endParaRPr lang="en-US" sz="473" dirty="0"/>
          </a:p>
        </p:txBody>
      </p:sp>
      <p:sp>
        <p:nvSpPr>
          <p:cNvPr id="59" name="Shape 57"/>
          <p:cNvSpPr/>
          <p:nvPr/>
        </p:nvSpPr>
        <p:spPr>
          <a:xfrm>
            <a:off x="7123122" y="1328648"/>
            <a:ext cx="1563678" cy="1074420"/>
          </a:xfrm>
          <a:prstGeom prst="rect">
            <a:avLst/>
          </a:prstGeom>
          <a:solidFill>
            <a:srgbClr val="FBF7F0"/>
          </a:solidFill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23122" y="1328648"/>
            <a:ext cx="1552245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1" name="Text 59"/>
          <p:cNvSpPr/>
          <p:nvPr/>
        </p:nvSpPr>
        <p:spPr>
          <a:xfrm>
            <a:off x="7243137" y="1448663"/>
            <a:ext cx="1485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⑤</a:t>
            </a:r>
            <a:endParaRPr lang="en-US" sz="585" dirty="0"/>
          </a:p>
        </p:txBody>
      </p:sp>
      <p:sp>
        <p:nvSpPr>
          <p:cNvPr id="62" name="Text 60"/>
          <p:cNvSpPr/>
          <p:nvPr/>
        </p:nvSpPr>
        <p:spPr>
          <a:xfrm>
            <a:off x="8148429" y="1448663"/>
            <a:ext cx="47550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数十万人维护</a:t>
            </a:r>
            <a:endParaRPr lang="en-US" sz="450" dirty="0"/>
          </a:p>
        </p:txBody>
      </p:sp>
      <p:sp>
        <p:nvSpPr>
          <p:cNvPr id="63" name="Text 61"/>
          <p:cNvSpPr/>
          <p:nvPr/>
        </p:nvSpPr>
        <p:spPr>
          <a:xfrm>
            <a:off x="7243137" y="1585823"/>
            <a:ext cx="1609398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三千万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7243137" y="1928723"/>
            <a:ext cx="14824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MILLION+ LINES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7243137" y="2025789"/>
            <a:ext cx="1323648" cy="268694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7243137" y="2025789"/>
            <a:ext cx="1323648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43137" y="2088654"/>
            <a:ext cx="1482485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1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Linux 内核代码行</a:t>
            </a:r>
            <a:endParaRPr lang="en-US" sz="630" dirty="0"/>
          </a:p>
        </p:txBody>
      </p:sp>
      <p:sp>
        <p:nvSpPr>
          <p:cNvPr id="68" name="Text 66"/>
          <p:cNvSpPr/>
          <p:nvPr/>
        </p:nvSpPr>
        <p:spPr>
          <a:xfrm>
            <a:off x="7243137" y="2207508"/>
            <a:ext cx="1482485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5A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数十万人共同维护</a:t>
            </a:r>
            <a:endParaRPr lang="en-US" sz="473" dirty="0"/>
          </a:p>
        </p:txBody>
      </p:sp>
      <p:sp>
        <p:nvSpPr>
          <p:cNvPr id="69" name="Text 67"/>
          <p:cNvSpPr/>
          <p:nvPr/>
        </p:nvSpPr>
        <p:spPr>
          <a:xfrm>
            <a:off x="457200" y="2560231"/>
            <a:ext cx="190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40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585" dirty="0"/>
          </a:p>
        </p:txBody>
      </p:sp>
      <p:sp>
        <p:nvSpPr>
          <p:cNvPr id="70" name="Text 68"/>
          <p:cNvSpPr/>
          <p:nvPr/>
        </p:nvSpPr>
        <p:spPr>
          <a:xfrm>
            <a:off x="675799" y="2551658"/>
            <a:ext cx="41933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8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生态层级</a:t>
            </a:r>
            <a:endParaRPr lang="en-US" sz="630" dirty="0"/>
          </a:p>
        </p:txBody>
      </p:sp>
      <p:sp>
        <p:nvSpPr>
          <p:cNvPr id="71" name="Text 69"/>
          <p:cNvSpPr/>
          <p:nvPr/>
        </p:nvSpPr>
        <p:spPr>
          <a:xfrm>
            <a:off x="1117997" y="2565946"/>
            <a:ext cx="7847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119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Ecosystem Stack</a:t>
            </a:r>
            <a:endParaRPr lang="en-US" sz="495" dirty="0"/>
          </a:p>
        </p:txBody>
      </p:sp>
      <p:sp>
        <p:nvSpPr>
          <p:cNvPr id="72" name="Shape 70"/>
          <p:cNvSpPr/>
          <p:nvPr/>
        </p:nvSpPr>
        <p:spPr>
          <a:xfrm>
            <a:off x="1921579" y="2605951"/>
            <a:ext cx="6765221" cy="5715"/>
          </a:xfrm>
          <a:prstGeom prst="rect">
            <a:avLst/>
          </a:prstGeom>
          <a:solidFill>
            <a:srgbClr val="0D2137">
              <a:alpha val="15000"/>
            </a:srgbClr>
          </a:solidFill>
          <a:ln/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768828"/>
            <a:ext cx="8229600" cy="2057400"/>
          </a:xfrm>
          <a:prstGeom prst="rect">
            <a:avLst/>
          </a:prstGeom>
        </p:spPr>
      </p:pic>
      <p:pic>
        <p:nvPicPr>
          <p:cNvPr id="7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0310" y="2923133"/>
            <a:ext cx="148590" cy="148590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2754630" y="2885986"/>
            <a:ext cx="1526591" cy="222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b="1" spc="27" kern="0" dirty="0">
                <a:solidFill>
                  <a:srgbClr val="FBF7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时代的开源</a:t>
            </a:r>
            <a:pPr algn="l" indent="0" marL="0">
              <a:lnSpc>
                <a:spcPct val="130000"/>
              </a:lnSpc>
              <a:buNone/>
            </a:pPr>
            <a:endParaRPr lang="en-US" sz="6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63" b="1" spc="27" kern="0" dirty="0">
                <a:solidFill>
                  <a:srgbClr val="FBF7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大模型开源权重与工具链成为新的增长极 </a:t>
            </a:r>
            <a:endParaRPr lang="en-US" sz="675" dirty="0"/>
          </a:p>
        </p:txBody>
      </p:sp>
      <p:sp>
        <p:nvSpPr>
          <p:cNvPr id="76" name="Shape 72"/>
          <p:cNvSpPr/>
          <p:nvPr/>
        </p:nvSpPr>
        <p:spPr>
          <a:xfrm>
            <a:off x="457200" y="4880610"/>
            <a:ext cx="8229600" cy="160020"/>
          </a:xfrm>
          <a:prstGeom prst="rect">
            <a:avLst/>
          </a:prstGeom>
          <a:noFill/>
          <a:ln/>
        </p:spPr>
      </p:sp>
      <p:sp>
        <p:nvSpPr>
          <p:cNvPr id="77" name="Shape 73"/>
          <p:cNvSpPr/>
          <p:nvPr/>
        </p:nvSpPr>
        <p:spPr>
          <a:xfrm>
            <a:off x="457200" y="4880610"/>
            <a:ext cx="8229600" cy="0"/>
          </a:xfrm>
          <a:prstGeom prst="line">
            <a:avLst/>
          </a:prstGeom>
          <a:noFill/>
          <a:ln w="5715">
            <a:solidFill>
              <a:srgbClr val="0D2137">
                <a:alpha val="1500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57200" y="4954905"/>
            <a:ext cx="22208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76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 · GitHub 官方 · Apache · CNCF · Linux Kernel</a:t>
            </a:r>
            <a:endParaRPr lang="en-US" sz="473" dirty="0"/>
          </a:p>
        </p:txBody>
      </p:sp>
      <p:sp>
        <p:nvSpPr>
          <p:cNvPr id="79" name="Text 75"/>
          <p:cNvSpPr/>
          <p:nvPr/>
        </p:nvSpPr>
        <p:spPr>
          <a:xfrm>
            <a:off x="4555212" y="4957763"/>
            <a:ext cx="8395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i="1" spc="47" kern="0" dirty="0">
                <a:solidFill>
                  <a:srgbClr val="8A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Editorial Data Briefing</a:t>
            </a:r>
            <a:endParaRPr lang="en-US" sz="473" dirty="0"/>
          </a:p>
        </p:txBody>
      </p:sp>
      <p:sp>
        <p:nvSpPr>
          <p:cNvPr id="80" name="Shape 76"/>
          <p:cNvSpPr/>
          <p:nvPr/>
        </p:nvSpPr>
        <p:spPr>
          <a:xfrm>
            <a:off x="7419856" y="4980623"/>
            <a:ext cx="34290" cy="3429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81" name="Text 77"/>
          <p:cNvSpPr/>
          <p:nvPr/>
        </p:nvSpPr>
        <p:spPr>
          <a:xfrm>
            <a:off x="7499866" y="4960620"/>
            <a:ext cx="132936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76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ECOLOGY · 2025</a:t>
            </a:r>
            <a:endParaRPr lang="en-US" sz="47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-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FFFFFF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285875"/>
            <a:ext cx="11887200" cy="6686550"/>
          </a:xfrm>
          <a:prstGeom prst="ellipse">
            <a:avLst/>
          </a:prstGeom>
          <a:gradFill rotWithShape="1">
            <a:gsLst>
              <a:gs pos="0">
                <a:srgbClr val="C23D2E">
                  <a:alpha val="4000"/>
                </a:srgbClr>
              </a:gs>
              <a:gs pos="100000">
                <a:srgbClr val="C23D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411480" y="320040"/>
            <a:ext cx="8321040" cy="45148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11480" y="771525"/>
            <a:ext cx="832104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58099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pPr algn="l" indent="0" marL="0">
              <a:buNone/>
            </a:pPr>
            <a:r>
              <a:rPr lang="en-US" sz="495" b="1" spc="158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EVRANGELIST</a:t>
            </a:r>
            <a:pPr algn="l" indent="0" marL="0">
              <a:buNone/>
            </a:pPr>
            <a:r>
              <a:rPr lang="en-US" sz="495" b="1" spc="15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布道者杂志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7816959" y="320040"/>
            <a:ext cx="10254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VOL. 05 — 方法论专刊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8067169" y="594360"/>
            <a:ext cx="4780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秋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411480" y="897255"/>
            <a:ext cx="2496294" cy="392620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907774" y="897255"/>
            <a:ext cx="0" cy="3926205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897255"/>
            <a:ext cx="25590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73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05 · METHOD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377190" y="1057275"/>
            <a:ext cx="3633579" cy="11566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350" b="1" spc="-41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0350" dirty="0"/>
          </a:p>
        </p:txBody>
      </p:sp>
      <p:sp>
        <p:nvSpPr>
          <p:cNvPr id="13" name="Text 11"/>
          <p:cNvSpPr/>
          <p:nvPr/>
        </p:nvSpPr>
        <p:spPr>
          <a:xfrm>
            <a:off x="411480" y="2248227"/>
            <a:ext cx="2559020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·</a:t>
            </a:r>
            <a:pPr algn="l" indent="0" marL="0">
              <a:buNone/>
            </a:pPr>
            <a:r>
              <a:rPr lang="en-US" sz="450" spc="135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EVANGELISM SERIES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411480" y="2465397"/>
            <a:ext cx="2559020" cy="543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80" b="1" spc="-2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布道的</a:t>
            </a:r>
            <a:pPr algn="l" indent="0" marL="0">
              <a:lnSpc>
                <a:spcPct val="108000"/>
              </a:lnSpc>
              <a:buNone/>
            </a:pPr>
            <a:endParaRPr lang="en-US" sz="19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980" b="1" i="1" spc="-2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方法论</a:t>
            </a:r>
            <a:endParaRPr lang="en-US" sz="1980" dirty="0"/>
          </a:p>
        </p:txBody>
      </p:sp>
      <p:sp>
        <p:nvSpPr>
          <p:cNvPr id="15" name="Shape 13"/>
          <p:cNvSpPr/>
          <p:nvPr/>
        </p:nvSpPr>
        <p:spPr>
          <a:xfrm>
            <a:off x="411480" y="3159949"/>
            <a:ext cx="19431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6" name="Text 14"/>
          <p:cNvSpPr/>
          <p:nvPr/>
        </p:nvSpPr>
        <p:spPr>
          <a:xfrm>
            <a:off x="674370" y="3122801"/>
            <a:ext cx="111373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EDITOR'S NOTE · 编者按</a:t>
            </a:r>
            <a:endParaRPr lang="en-US" sz="450" dirty="0"/>
          </a:p>
        </p:txBody>
      </p:sp>
      <p:sp>
        <p:nvSpPr>
          <p:cNvPr id="17" name="Shape 15"/>
          <p:cNvSpPr/>
          <p:nvPr/>
        </p:nvSpPr>
        <p:spPr>
          <a:xfrm>
            <a:off x="411480" y="3334256"/>
            <a:ext cx="2284839" cy="530066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11480" y="3334256"/>
            <a:ext cx="0" cy="530066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" y="3437126"/>
            <a:ext cx="24310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99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A note to readers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525780" y="3574286"/>
            <a:ext cx="2431004" cy="29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布道是一门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手艺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，不是把会的东西讲一遍那么简单，它需要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理解受众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提炼结构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选择案例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，并给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讨论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留出空间。</a:t>
            </a:r>
            <a:endParaRPr lang="en-US" sz="653" dirty="0"/>
          </a:p>
        </p:txBody>
      </p:sp>
      <p:sp>
        <p:nvSpPr>
          <p:cNvPr id="21" name="Shape 19"/>
          <p:cNvSpPr/>
          <p:nvPr/>
        </p:nvSpPr>
        <p:spPr>
          <a:xfrm>
            <a:off x="3227814" y="897255"/>
            <a:ext cx="5824657" cy="24003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227814" y="1137285"/>
            <a:ext cx="5824657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14" y="897255"/>
            <a:ext cx="1942043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五步布道法 ·</a:t>
            </a:r>
            <a:pPr algn="l" indent="0" marL="0">
              <a:buNone/>
            </a:pPr>
            <a:r>
              <a:rPr lang="en-US" sz="900" i="1" spc="1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Five Movements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8106" y="971550"/>
            <a:ext cx="71048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PRINCIPLES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3227814" y="1217295"/>
            <a:ext cx="5824657" cy="722322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3227814" y="1939617"/>
            <a:ext cx="5824657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14" y="1297305"/>
            <a:ext cx="70866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i="1" spc="-3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90" dirty="0"/>
          </a:p>
        </p:txBody>
      </p:sp>
      <p:sp>
        <p:nvSpPr>
          <p:cNvPr id="28" name="Shape 26"/>
          <p:cNvSpPr/>
          <p:nvPr/>
        </p:nvSpPr>
        <p:spPr>
          <a:xfrm>
            <a:off x="3227814" y="1297305"/>
            <a:ext cx="12573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174" y="1308735"/>
            <a:ext cx="63374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选对受众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4410194" y="1377315"/>
            <a:ext cx="9735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3" kern="0" dirty="0">
                <a:solidFill>
                  <a:srgbClr val="6B758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Tune to your audience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822174" y="1520190"/>
            <a:ext cx="5857932" cy="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初学者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同行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或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管理者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，内容颗粒度截然不同——同一份技术，讲给三类人，需要三种结构、三种案例、三种节奏。</a:t>
            </a:r>
            <a:endParaRPr lang="en-US" sz="608" dirty="0"/>
          </a:p>
        </p:txBody>
      </p:sp>
      <p:sp>
        <p:nvSpPr>
          <p:cNvPr id="32" name="Shape 30"/>
          <p:cNvSpPr/>
          <p:nvPr/>
        </p:nvSpPr>
        <p:spPr>
          <a:xfrm>
            <a:off x="3227814" y="1939617"/>
            <a:ext cx="5824657" cy="722322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3227814" y="2661940"/>
            <a:ext cx="5824657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27814" y="2019627"/>
            <a:ext cx="70866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i="1" spc="-3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90" dirty="0"/>
          </a:p>
        </p:txBody>
      </p:sp>
      <p:sp>
        <p:nvSpPr>
          <p:cNvPr id="35" name="Shape 33"/>
          <p:cNvSpPr/>
          <p:nvPr/>
        </p:nvSpPr>
        <p:spPr>
          <a:xfrm>
            <a:off x="3227814" y="2019627"/>
            <a:ext cx="12573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6" name="Text 34"/>
          <p:cNvSpPr/>
          <p:nvPr/>
        </p:nvSpPr>
        <p:spPr>
          <a:xfrm>
            <a:off x="3822174" y="2031057"/>
            <a:ext cx="63374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讲清动机</a:t>
            </a:r>
            <a:endParaRPr lang="en-US" sz="990" dirty="0"/>
          </a:p>
        </p:txBody>
      </p:sp>
      <p:sp>
        <p:nvSpPr>
          <p:cNvPr id="37" name="Text 35"/>
          <p:cNvSpPr/>
          <p:nvPr/>
        </p:nvSpPr>
        <p:spPr>
          <a:xfrm>
            <a:off x="4410194" y="2099637"/>
            <a:ext cx="70648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3" kern="0" dirty="0">
                <a:solidFill>
                  <a:srgbClr val="6B758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Why before how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3822174" y="2242512"/>
            <a:ext cx="5857932" cy="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先说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为什么值得听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，再说怎么做。开场用一句利益承诺锚定注意力，比纯技术罗列更能让人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愿意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把耳朵打开。</a:t>
            </a:r>
            <a:endParaRPr lang="en-US" sz="608" dirty="0"/>
          </a:p>
        </p:txBody>
      </p:sp>
      <p:sp>
        <p:nvSpPr>
          <p:cNvPr id="39" name="Shape 37"/>
          <p:cNvSpPr/>
          <p:nvPr/>
        </p:nvSpPr>
        <p:spPr>
          <a:xfrm>
            <a:off x="3227814" y="2661940"/>
            <a:ext cx="5824657" cy="722412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3227814" y="3384352"/>
            <a:ext cx="5824657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14" y="2741950"/>
            <a:ext cx="70866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i="1" spc="-3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90" dirty="0"/>
          </a:p>
        </p:txBody>
      </p:sp>
      <p:sp>
        <p:nvSpPr>
          <p:cNvPr id="42" name="Shape 40"/>
          <p:cNvSpPr/>
          <p:nvPr/>
        </p:nvSpPr>
        <p:spPr>
          <a:xfrm>
            <a:off x="3227814" y="2741950"/>
            <a:ext cx="12573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3" name="Text 41"/>
          <p:cNvSpPr/>
          <p:nvPr/>
        </p:nvSpPr>
        <p:spPr>
          <a:xfrm>
            <a:off x="3822174" y="2753380"/>
            <a:ext cx="63374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案例驱动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4410194" y="2821960"/>
            <a:ext cx="104953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3" kern="0" dirty="0">
                <a:solidFill>
                  <a:srgbClr val="6B758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Case-driven storytelling</a:t>
            </a:r>
            <a:endParaRPr lang="en-US" sz="540" dirty="0"/>
          </a:p>
        </p:txBody>
      </p:sp>
      <p:sp>
        <p:nvSpPr>
          <p:cNvPr id="45" name="Text 43"/>
          <p:cNvSpPr/>
          <p:nvPr/>
        </p:nvSpPr>
        <p:spPr>
          <a:xfrm>
            <a:off x="3822174" y="2964835"/>
            <a:ext cx="5857932" cy="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真实项目、真实取舍、真实代价，远比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抽象概念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更能留下印象。一个具体的决策故事，胜过十张架构图。</a:t>
            </a:r>
            <a:endParaRPr lang="en-US" sz="608" dirty="0"/>
          </a:p>
        </p:txBody>
      </p:sp>
      <p:sp>
        <p:nvSpPr>
          <p:cNvPr id="46" name="Shape 44"/>
          <p:cNvSpPr/>
          <p:nvPr/>
        </p:nvSpPr>
        <p:spPr>
          <a:xfrm>
            <a:off x="3227814" y="3384352"/>
            <a:ext cx="5824657" cy="722412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3227814" y="4106763"/>
            <a:ext cx="5824657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27814" y="3464362"/>
            <a:ext cx="70866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i="1" spc="-3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90" dirty="0"/>
          </a:p>
        </p:txBody>
      </p:sp>
      <p:sp>
        <p:nvSpPr>
          <p:cNvPr id="49" name="Shape 47"/>
          <p:cNvSpPr/>
          <p:nvPr/>
        </p:nvSpPr>
        <p:spPr>
          <a:xfrm>
            <a:off x="3227814" y="3464362"/>
            <a:ext cx="12573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50" name="Text 48"/>
          <p:cNvSpPr/>
          <p:nvPr/>
        </p:nvSpPr>
        <p:spPr>
          <a:xfrm>
            <a:off x="3822174" y="3475792"/>
            <a:ext cx="63374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留白提问</a:t>
            </a:r>
            <a:endParaRPr lang="en-US" sz="990" dirty="0"/>
          </a:p>
        </p:txBody>
      </p:sp>
      <p:sp>
        <p:nvSpPr>
          <p:cNvPr id="51" name="Text 49"/>
          <p:cNvSpPr/>
          <p:nvPr/>
        </p:nvSpPr>
        <p:spPr>
          <a:xfrm>
            <a:off x="4410194" y="3544372"/>
            <a:ext cx="9735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3" kern="0" dirty="0">
                <a:solidFill>
                  <a:srgbClr val="6B758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Room for the audience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3822174" y="3687247"/>
            <a:ext cx="5857932" cy="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讲七分、留三分。刻意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留出讨论空间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，让听众从被动接收变成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共同构建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——布道的价值在对话中被激活。</a:t>
            </a:r>
            <a:endParaRPr lang="en-US" sz="608" dirty="0"/>
          </a:p>
        </p:txBody>
      </p:sp>
      <p:sp>
        <p:nvSpPr>
          <p:cNvPr id="53" name="Text 51"/>
          <p:cNvSpPr/>
          <p:nvPr/>
        </p:nvSpPr>
        <p:spPr>
          <a:xfrm>
            <a:off x="3227814" y="4186773"/>
            <a:ext cx="70866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i="1" spc="-3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890" dirty="0"/>
          </a:p>
        </p:txBody>
      </p:sp>
      <p:sp>
        <p:nvSpPr>
          <p:cNvPr id="54" name="Shape 52"/>
          <p:cNvSpPr/>
          <p:nvPr/>
        </p:nvSpPr>
        <p:spPr>
          <a:xfrm>
            <a:off x="3227814" y="4186773"/>
            <a:ext cx="125730" cy="1143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55" name="Text 53"/>
          <p:cNvSpPr/>
          <p:nvPr/>
        </p:nvSpPr>
        <p:spPr>
          <a:xfrm>
            <a:off x="3822174" y="4198203"/>
            <a:ext cx="76072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结构化收束</a:t>
            </a:r>
            <a:endParaRPr lang="en-US" sz="990" dirty="0"/>
          </a:p>
        </p:txBody>
      </p:sp>
      <p:sp>
        <p:nvSpPr>
          <p:cNvPr id="56" name="Text 54"/>
          <p:cNvSpPr/>
          <p:nvPr/>
        </p:nvSpPr>
        <p:spPr>
          <a:xfrm>
            <a:off x="4537174" y="4266783"/>
            <a:ext cx="92841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3" kern="0" dirty="0">
                <a:solidFill>
                  <a:srgbClr val="6B758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Close with three lines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3822174" y="4409658"/>
            <a:ext cx="5857932" cy="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结尾用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三句话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总结核心结论——一句观点、一句方法、一句行动。避免信息过载，把要点刻进听众的记忆。</a:t>
            </a:r>
            <a:endParaRPr lang="en-US" sz="608" dirty="0"/>
          </a:p>
        </p:txBody>
      </p:sp>
      <p:sp>
        <p:nvSpPr>
          <p:cNvPr id="58" name="Shape 56"/>
          <p:cNvSpPr/>
          <p:nvPr/>
        </p:nvSpPr>
        <p:spPr>
          <a:xfrm>
            <a:off x="411480" y="4829175"/>
            <a:ext cx="8321040" cy="188595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411480" y="4829175"/>
            <a:ext cx="8321040" cy="0"/>
          </a:xfrm>
          <a:prstGeom prst="line">
            <a:avLst/>
          </a:prstGeom>
          <a:noFill/>
          <a:ln w="5715">
            <a:solidFill>
              <a:srgbClr val="0D2137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4949190"/>
            <a:ext cx="34290" cy="34290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61" name="Text 59"/>
          <p:cNvSpPr/>
          <p:nvPr/>
        </p:nvSpPr>
        <p:spPr>
          <a:xfrm>
            <a:off x="525780" y="4926330"/>
            <a:ext cx="174231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B7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EVRANGELIST · METHOD ISSUE</a:t>
            </a:r>
            <a:endParaRPr lang="en-US" sz="495" dirty="0"/>
          </a:p>
        </p:txBody>
      </p:sp>
      <p:sp>
        <p:nvSpPr>
          <p:cNvPr id="62" name="Text 60"/>
          <p:cNvSpPr/>
          <p:nvPr/>
        </p:nvSpPr>
        <p:spPr>
          <a:xfrm>
            <a:off x="4256157" y="4914900"/>
            <a:ext cx="2193874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3" b="1" spc="23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核心方法：受众</a:t>
            </a:r>
            <a:pPr algn="l" indent="0" marL="0">
              <a:buNone/>
            </a:pPr>
            <a:r>
              <a:rPr lang="en-US" sz="563" spc="23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563" b="1" spc="23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动机</a:t>
            </a:r>
            <a:pPr algn="l" indent="0" marL="0">
              <a:buNone/>
            </a:pPr>
            <a:r>
              <a:rPr lang="en-US" sz="563" spc="23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563" b="1" spc="23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案例</a:t>
            </a:r>
            <a:pPr algn="l" indent="0" marL="0">
              <a:buNone/>
            </a:pPr>
            <a:r>
              <a:rPr lang="en-US" sz="563" spc="23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563" b="1" spc="23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讨论</a:t>
            </a:r>
            <a:pPr algn="l" indent="0" marL="0">
              <a:buNone/>
            </a:pPr>
            <a:r>
              <a:rPr lang="en-US" sz="563" spc="23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563" b="1" spc="23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收束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8389620" y="4920615"/>
            <a:ext cx="4114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5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P. 05 / 12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3543300" cy="44577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886200" y="342900"/>
            <a:ext cx="0" cy="4457700"/>
          </a:xfrm>
          <a:prstGeom prst="line">
            <a:avLst/>
          </a:prstGeom>
          <a:noFill/>
          <a:ln w="5715">
            <a:solidFill>
              <a:srgbClr val="D5D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1184166"/>
            <a:ext cx="514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868680" y="1224171"/>
            <a:ext cx="2726055" cy="5715"/>
          </a:xfrm>
          <a:prstGeom prst="rect">
            <a:avLst/>
          </a:prstGeom>
          <a:solidFill>
            <a:srgbClr val="C23D2E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1452771"/>
            <a:ext cx="3642055" cy="740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3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阅读分享</a:t>
            </a:r>
            <a:pPr algn="l" indent="0" marL="0">
              <a:lnSpc>
                <a:spcPct val="120000"/>
              </a:lnSpc>
              <a:buNone/>
            </a:pPr>
            <a:endParaRPr lang="en-US" sz="24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43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实践指南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342900" y="2307699"/>
            <a:ext cx="3642055" cy="1760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90" dirty="0">
                <a:solidFill>
                  <a:srgbClr val="5A5A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从一名读者，到一名布道者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342900" y="2689443"/>
            <a:ext cx="3200400" cy="298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53" dirty="0">
                <a:solidFill>
                  <a:srgbClr val="7A7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真正的开源布道者，往往是先深度阅读、再沉淀文字、最后走向公开场合的布道者；这一章给出读·写·讲三段可落地的路径。</a:t>
            </a:r>
            <a:endParaRPr lang="en-US" sz="653" dirty="0"/>
          </a:p>
        </p:txBody>
      </p:sp>
      <p:sp>
        <p:nvSpPr>
          <p:cNvPr id="9" name="Text 7"/>
          <p:cNvSpPr/>
          <p:nvPr/>
        </p:nvSpPr>
        <p:spPr>
          <a:xfrm>
            <a:off x="342900" y="3262015"/>
            <a:ext cx="32004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6305"/>
            <a:ext cx="3429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读得深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914400" y="3296305"/>
            <a:ext cx="222747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5A5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把经典与一手资料反复咀嚼，建立稳定的认知底座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42900" y="3524905"/>
            <a:ext cx="32004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559195"/>
            <a:ext cx="3429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写得清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914400" y="3559195"/>
            <a:ext cx="203545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5A5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把思考落成文字，是分享与自我校验的第一站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42900" y="3787795"/>
            <a:ext cx="32004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822085"/>
            <a:ext cx="3429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讲得透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914400" y="3822085"/>
            <a:ext cx="193944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5A5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从个人笔记走向公开舞台，让认知真正流动</a:t>
            </a:r>
            <a:endParaRPr lang="en-US" sz="675" dirty="0"/>
          </a:p>
        </p:txBody>
      </p:sp>
      <p:pic>
        <p:nvPicPr>
          <p:cNvPr id="18" name="Image 0" descr="/home/lee/developing/oscar-open-source-book/website/slides-src/2025-03-dr2-open-source-way/images/page_006_hero.png">    </p:cNvPr>
          <p:cNvPicPr>
            <a:picLocks noChangeAspect="1"/>
          </p:cNvPicPr>
          <p:nvPr/>
        </p:nvPicPr>
        <p:blipFill>
          <a:blip r:embed="rId1"/>
          <a:srcRect l="0" r="0" t="-34" b="-34"/>
          <a:stretch/>
        </p:blipFill>
        <p:spPr>
          <a:xfrm>
            <a:off x="4229100" y="871538"/>
            <a:ext cx="457200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7412C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8700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C9BFA8"/>
              </a:gs>
              <a:gs pos="85000">
                <a:srgbClr val="C9BFA8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8109585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C9BFA8"/>
              </a:gs>
              <a:gs pos="85000">
                <a:srgbClr val="C9BFA8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205740" y="205740"/>
            <a:ext cx="457200" cy="4572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05740" y="205740"/>
            <a:ext cx="457200" cy="0"/>
          </a:xfrm>
          <a:prstGeom prst="line">
            <a:avLst/>
          </a:prstGeom>
          <a:noFill/>
          <a:ln w="5715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" y="205740"/>
            <a:ext cx="0" cy="457200"/>
          </a:xfrm>
          <a:prstGeom prst="line">
            <a:avLst/>
          </a:prstGeom>
          <a:noFill/>
          <a:ln w="571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1060" y="4480560"/>
            <a:ext cx="457200" cy="4572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938260" y="4480560"/>
            <a:ext cx="0" cy="457200"/>
          </a:xfrm>
          <a:prstGeom prst="line">
            <a:avLst/>
          </a:prstGeom>
          <a:noFill/>
          <a:ln w="571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1060" y="4937760"/>
            <a:ext cx="457200" cy="0"/>
          </a:xfrm>
          <a:prstGeom prst="line">
            <a:avLst/>
          </a:prstGeom>
          <a:noFill/>
          <a:ln w="571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531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6389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247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105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963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6" name="Shape 14"/>
          <p:cNvSpPr/>
          <p:nvPr/>
        </p:nvSpPr>
        <p:spPr>
          <a:xfrm>
            <a:off x="8538210" y="434340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9531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389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247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0105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6963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8210" y="441198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3" name="Shape 21"/>
          <p:cNvSpPr/>
          <p:nvPr/>
        </p:nvSpPr>
        <p:spPr>
          <a:xfrm>
            <a:off x="819531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389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47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6" name="Shape 24"/>
          <p:cNvSpPr/>
          <p:nvPr/>
        </p:nvSpPr>
        <p:spPr>
          <a:xfrm>
            <a:off x="840105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963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8" name="Shape 26"/>
          <p:cNvSpPr/>
          <p:nvPr/>
        </p:nvSpPr>
        <p:spPr>
          <a:xfrm>
            <a:off x="8538210" y="4480560"/>
            <a:ext cx="34290" cy="34290"/>
          </a:xfrm>
          <a:prstGeom prst="roundRect">
            <a:avLst>
              <a:gd name="adj" fmla="val 16667"/>
            </a:avLst>
          </a:prstGeom>
          <a:solidFill>
            <a:srgbClr val="B7412C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" y="320040"/>
            <a:ext cx="8115300" cy="28575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514350" y="605790"/>
            <a:ext cx="8115300" cy="0"/>
          </a:xfrm>
          <a:prstGeom prst="line">
            <a:avLst/>
          </a:prstGeom>
          <a:noFill/>
          <a:ln w="1143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350" y="622935"/>
            <a:ext cx="1600200" cy="5715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514350" y="408623"/>
            <a:ext cx="68580" cy="6858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" y="394335"/>
            <a:ext cx="157819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READING METHOD · 阅读专栏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6348472" y="360045"/>
            <a:ext cx="3280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3B4A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</a:t>
            </a:r>
            <a:endParaRPr lang="en-US" sz="540" dirty="0"/>
          </a:p>
        </p:txBody>
      </p:sp>
      <p:sp>
        <p:nvSpPr>
          <p:cNvPr id="35" name="Text 33"/>
          <p:cNvSpPr/>
          <p:nvPr/>
        </p:nvSpPr>
        <p:spPr>
          <a:xfrm>
            <a:off x="6802279" y="320040"/>
            <a:ext cx="488633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50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No.07</a:t>
            </a:r>
            <a:endParaRPr lang="en-US" sz="990" dirty="0"/>
          </a:p>
        </p:txBody>
      </p:sp>
      <p:sp>
        <p:nvSpPr>
          <p:cNvPr id="36" name="Text 34"/>
          <p:cNvSpPr/>
          <p:nvPr/>
        </p:nvSpPr>
        <p:spPr>
          <a:xfrm>
            <a:off x="7359491" y="360045"/>
            <a:ext cx="4003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3B4A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Vol. III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7885539" y="360045"/>
            <a:ext cx="8334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3B4A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Editor's Column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514350" y="770275"/>
            <a:ext cx="3860393" cy="474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90" b="1" spc="7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高效</a:t>
            </a:r>
            <a:pPr algn="l" indent="0" marL="0">
              <a:lnSpc>
                <a:spcPct val="100000"/>
              </a:lnSpc>
              <a:buNone/>
            </a:pPr>
            <a:r>
              <a:rPr lang="en-US" sz="3690" b="1" i="1" spc="7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阅读</a:t>
            </a:r>
            <a:pPr algn="l" indent="0" marL="0">
              <a:lnSpc>
                <a:spcPct val="100000"/>
              </a:lnSpc>
              <a:buNone/>
            </a:pPr>
            <a:r>
              <a:rPr lang="en-US" sz="3690" b="1" spc="7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方法论</a:t>
            </a:r>
            <a:endParaRPr lang="en-US" sz="3690" dirty="0"/>
          </a:p>
        </p:txBody>
      </p:sp>
      <p:sp>
        <p:nvSpPr>
          <p:cNvPr id="39" name="Text 37"/>
          <p:cNvSpPr/>
          <p:nvPr/>
        </p:nvSpPr>
        <p:spPr>
          <a:xfrm>
            <a:off x="7011144" y="731520"/>
            <a:ext cx="1812727" cy="301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90" i="1" spc="40" kern="0" dirty="0">
                <a:solidFill>
                  <a:srgbClr val="3B4A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Craft of</a:t>
            </a:r>
            <a:pPr algn="r" indent="0" marL="0">
              <a:lnSpc>
                <a:spcPct val="120000"/>
              </a:lnSpc>
              <a:buNone/>
            </a:pPr>
            <a:endParaRPr lang="en-US" sz="99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90" i="1" spc="40" kern="0" dirty="0">
                <a:solidFill>
                  <a:srgbClr val="3B4A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Reading Effectively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7011144" y="1078885"/>
            <a:ext cx="181272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216" kern="0" dirty="0">
                <a:solidFill>
                  <a:srgbClr val="7A6E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专栏 · 主题式阅读 · 一手资料优先</a:t>
            </a:r>
            <a:endParaRPr lang="en-US" sz="540" dirty="0"/>
          </a:p>
        </p:txBody>
      </p:sp>
      <p:sp>
        <p:nvSpPr>
          <p:cNvPr id="41" name="Shape 39"/>
          <p:cNvSpPr/>
          <p:nvPr/>
        </p:nvSpPr>
        <p:spPr>
          <a:xfrm>
            <a:off x="514350" y="1476077"/>
            <a:ext cx="251460" cy="1143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42" name="Text 40"/>
          <p:cNvSpPr/>
          <p:nvPr/>
        </p:nvSpPr>
        <p:spPr>
          <a:xfrm>
            <a:off x="857250" y="1427500"/>
            <a:ext cx="160540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4" kern="0" dirty="0">
                <a:solidFill>
                  <a:srgbClr val="B741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EDITOR'S NOTE · 编者按</a:t>
            </a:r>
            <a:endParaRPr lang="en-US" sz="585" dirty="0"/>
          </a:p>
        </p:txBody>
      </p:sp>
      <p:sp>
        <p:nvSpPr>
          <p:cNvPr id="43" name="Shape 41"/>
          <p:cNvSpPr/>
          <p:nvPr/>
        </p:nvSpPr>
        <p:spPr>
          <a:xfrm>
            <a:off x="2382083" y="1478935"/>
            <a:ext cx="5035987" cy="5715"/>
          </a:xfrm>
          <a:prstGeom prst="rect">
            <a:avLst/>
          </a:prstGeom>
          <a:solidFill>
            <a:srgbClr val="C9BFA8"/>
          </a:solidFill>
          <a:ln/>
        </p:spPr>
      </p:sp>
      <p:sp>
        <p:nvSpPr>
          <p:cNvPr id="44" name="Text 42"/>
          <p:cNvSpPr/>
          <p:nvPr/>
        </p:nvSpPr>
        <p:spPr>
          <a:xfrm>
            <a:off x="7509510" y="1427500"/>
            <a:ext cx="12545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4" kern="0" dirty="0">
                <a:solidFill>
                  <a:srgbClr val="B741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FOUR PRINCIPLES</a:t>
            </a:r>
            <a:endParaRPr lang="en-US" sz="585" dirty="0"/>
          </a:p>
        </p:txBody>
      </p:sp>
      <p:sp>
        <p:nvSpPr>
          <p:cNvPr id="45" name="Shape 43"/>
          <p:cNvSpPr/>
          <p:nvPr/>
        </p:nvSpPr>
        <p:spPr>
          <a:xfrm>
            <a:off x="514350" y="1736110"/>
            <a:ext cx="57150" cy="5715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46" name="Text 44"/>
          <p:cNvSpPr/>
          <p:nvPr/>
        </p:nvSpPr>
        <p:spPr>
          <a:xfrm>
            <a:off x="628650" y="1707535"/>
            <a:ext cx="64356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i="1" spc="5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Editor's Note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1243638" y="1710392"/>
            <a:ext cx="50006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76" kern="0" dirty="0">
                <a:solidFill>
                  <a:srgbClr val="3B4A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编者按</a:t>
            </a:r>
            <a:endParaRPr lang="en-US" sz="585" dirty="0"/>
          </a:p>
        </p:txBody>
      </p:sp>
      <p:sp>
        <p:nvSpPr>
          <p:cNvPr id="48" name="Text 46"/>
          <p:cNvSpPr/>
          <p:nvPr/>
        </p:nvSpPr>
        <p:spPr>
          <a:xfrm>
            <a:off x="514350" y="1901845"/>
            <a:ext cx="2982773" cy="1100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990" i="1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开源领域知识量庞大且更新极快，</a:t>
            </a:r>
            <a:pPr algn="l" indent="0" marL="0">
              <a:lnSpc>
                <a:spcPct val="175000"/>
              </a:lnSpc>
              <a:buNone/>
            </a:pPr>
            <a:r>
              <a:rPr lang="en-US" sz="990" b="1" i="1" dirty="0">
                <a:solidFill>
                  <a:srgbClr val="B741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普通线性阅读效率很低</a:t>
            </a:r>
            <a:pPr algn="l" indent="0" marL="0">
              <a:lnSpc>
                <a:spcPct val="175000"/>
              </a:lnSpc>
              <a:buNone/>
            </a:pPr>
            <a:r>
              <a:rPr lang="en-US" sz="990" i="1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。主题式阅读、一手资料优先、边读边写，构成了</a:t>
            </a:r>
            <a:pPr algn="l" indent="0" marL="0">
              <a:lnSpc>
                <a:spcPct val="175000"/>
              </a:lnSpc>
              <a:buNone/>
            </a:pPr>
            <a:r>
              <a:rPr lang="en-US" sz="990" b="1" i="1" dirty="0">
                <a:solidFill>
                  <a:srgbClr val="B741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可持续的阅读节奏</a:t>
            </a:r>
            <a:pPr algn="l" indent="0" marL="0">
              <a:lnSpc>
                <a:spcPct val="175000"/>
              </a:lnSpc>
              <a:buNone/>
            </a:pPr>
            <a:r>
              <a:rPr lang="en-US" sz="990" i="1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。这套方法的目标不是读完更多，而是</a:t>
            </a:r>
            <a:pPr algn="l" indent="0" marL="0">
              <a:lnSpc>
                <a:spcPct val="175000"/>
              </a:lnSpc>
              <a:buNone/>
            </a:pPr>
            <a:r>
              <a:rPr lang="en-US" sz="990" b="1" i="1" dirty="0">
                <a:solidFill>
                  <a:srgbClr val="B741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理解更深</a:t>
            </a:r>
            <a:pPr algn="l" indent="0" marL="0">
              <a:lnSpc>
                <a:spcPct val="175000"/>
              </a:lnSpc>
              <a:buNone/>
            </a:pPr>
            <a:r>
              <a:rPr lang="en-US" sz="990" i="1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990" dirty="0"/>
          </a:p>
        </p:txBody>
      </p:sp>
      <p:sp>
        <p:nvSpPr>
          <p:cNvPr id="49" name="Shape 47"/>
          <p:cNvSpPr/>
          <p:nvPr/>
        </p:nvSpPr>
        <p:spPr>
          <a:xfrm>
            <a:off x="514350" y="3858518"/>
            <a:ext cx="2663190" cy="240030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514350" y="3858518"/>
            <a:ext cx="26631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4350" y="3995678"/>
            <a:ext cx="1270059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108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EDITOR</a:t>
            </a:r>
            <a:pPr algn="l" indent="0" marL="0">
              <a:buNone/>
            </a:pPr>
            <a:r>
              <a:rPr lang="en-US" sz="540" spc="108" kern="0" dirty="0">
                <a:solidFill>
                  <a:srgbClr val="3B4A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 阅读专栏编辑部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2553444" y="3989963"/>
            <a:ext cx="70410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76" kern="0" dirty="0">
                <a:solidFill>
                  <a:srgbClr val="7A6E5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Vol.III · No.07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3566160" y="1661815"/>
            <a:ext cx="5063490" cy="549176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3566160" y="1661815"/>
            <a:ext cx="50634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1656100"/>
            <a:ext cx="251460" cy="1143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56" name="Text 54"/>
          <p:cNvSpPr/>
          <p:nvPr/>
        </p:nvSpPr>
        <p:spPr>
          <a:xfrm>
            <a:off x="3566160" y="1736110"/>
            <a:ext cx="1042416" cy="3908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20" b="1" i="1" spc="-68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420" dirty="0"/>
          </a:p>
        </p:txBody>
      </p:sp>
      <p:sp>
        <p:nvSpPr>
          <p:cNvPr id="57" name="Shape 55"/>
          <p:cNvSpPr/>
          <p:nvPr/>
        </p:nvSpPr>
        <p:spPr>
          <a:xfrm>
            <a:off x="4126230" y="2058382"/>
            <a:ext cx="34290" cy="3429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8" name="Text 56"/>
          <p:cNvSpPr/>
          <p:nvPr/>
        </p:nvSpPr>
        <p:spPr>
          <a:xfrm>
            <a:off x="4240530" y="1793260"/>
            <a:ext cx="91029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0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一手资料优先</a:t>
            </a:r>
            <a:endParaRPr lang="en-US" sz="990" dirty="0"/>
          </a:p>
        </p:txBody>
      </p:sp>
      <p:sp>
        <p:nvSpPr>
          <p:cNvPr id="59" name="Text 57"/>
          <p:cNvSpPr/>
          <p:nvPr/>
        </p:nvSpPr>
        <p:spPr>
          <a:xfrm>
            <a:off x="5093672" y="1856125"/>
            <a:ext cx="92711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47" kern="0" dirty="0">
                <a:solidFill>
                  <a:srgbClr val="7A6E5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Primary Sources First</a:t>
            </a:r>
            <a:endParaRPr lang="en-US" sz="585" dirty="0"/>
          </a:p>
        </p:txBody>
      </p:sp>
      <p:sp>
        <p:nvSpPr>
          <p:cNvPr id="60" name="Text 58"/>
          <p:cNvSpPr/>
          <p:nvPr/>
        </p:nvSpPr>
        <p:spPr>
          <a:xfrm>
            <a:off x="4240530" y="2004715"/>
            <a:ext cx="4915814" cy="13198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读论文、读代码、读原始文档，胜过二手转述。回到源头才能建立属于自己的判断依据。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3566160" y="2291001"/>
            <a:ext cx="5063490" cy="549176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3566160" y="2291001"/>
            <a:ext cx="50634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2285286"/>
            <a:ext cx="251460" cy="1143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64" name="Text 62"/>
          <p:cNvSpPr/>
          <p:nvPr/>
        </p:nvSpPr>
        <p:spPr>
          <a:xfrm>
            <a:off x="3566160" y="2365296"/>
            <a:ext cx="1042416" cy="3908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20" b="1" i="1" spc="-68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420" dirty="0"/>
          </a:p>
        </p:txBody>
      </p:sp>
      <p:sp>
        <p:nvSpPr>
          <p:cNvPr id="65" name="Shape 63"/>
          <p:cNvSpPr/>
          <p:nvPr/>
        </p:nvSpPr>
        <p:spPr>
          <a:xfrm>
            <a:off x="4126230" y="2687568"/>
            <a:ext cx="34290" cy="3429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6" name="Text 64"/>
          <p:cNvSpPr/>
          <p:nvPr/>
        </p:nvSpPr>
        <p:spPr>
          <a:xfrm>
            <a:off x="4240530" y="2422446"/>
            <a:ext cx="77956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0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主题式阅读</a:t>
            </a:r>
            <a:endParaRPr lang="en-US" sz="990" dirty="0"/>
          </a:p>
        </p:txBody>
      </p:sp>
      <p:sp>
        <p:nvSpPr>
          <p:cNvPr id="67" name="Text 65"/>
          <p:cNvSpPr/>
          <p:nvPr/>
        </p:nvSpPr>
        <p:spPr>
          <a:xfrm>
            <a:off x="4962942" y="2485311"/>
            <a:ext cx="77219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47" kern="0" dirty="0">
                <a:solidFill>
                  <a:srgbClr val="7A6E5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Thematic Reading</a:t>
            </a:r>
            <a:endParaRPr lang="en-US" sz="585" dirty="0"/>
          </a:p>
        </p:txBody>
      </p:sp>
      <p:sp>
        <p:nvSpPr>
          <p:cNvPr id="68" name="Text 66"/>
          <p:cNvSpPr/>
          <p:nvPr/>
        </p:nvSpPr>
        <p:spPr>
          <a:xfrm>
            <a:off x="4240530" y="2633901"/>
            <a:ext cx="4915814" cy="13198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围绕一个问题读多本书，比逐本通读形成更深理解。主题成为线索，观点在碰撞中沉淀。</a:t>
            </a:r>
            <a:endParaRPr lang="en-US" sz="630" dirty="0"/>
          </a:p>
        </p:txBody>
      </p:sp>
      <p:sp>
        <p:nvSpPr>
          <p:cNvPr id="69" name="Shape 67"/>
          <p:cNvSpPr/>
          <p:nvPr/>
        </p:nvSpPr>
        <p:spPr>
          <a:xfrm>
            <a:off x="3566160" y="2920186"/>
            <a:ext cx="5063490" cy="549176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3566160" y="2920186"/>
            <a:ext cx="50634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66160" y="2914471"/>
            <a:ext cx="251460" cy="1143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72" name="Text 70"/>
          <p:cNvSpPr/>
          <p:nvPr/>
        </p:nvSpPr>
        <p:spPr>
          <a:xfrm>
            <a:off x="3566160" y="2994481"/>
            <a:ext cx="1042416" cy="3908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20" b="1" i="1" spc="-68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420" dirty="0"/>
          </a:p>
        </p:txBody>
      </p:sp>
      <p:sp>
        <p:nvSpPr>
          <p:cNvPr id="73" name="Shape 71"/>
          <p:cNvSpPr/>
          <p:nvPr/>
        </p:nvSpPr>
        <p:spPr>
          <a:xfrm>
            <a:off x="4126230" y="3316754"/>
            <a:ext cx="34290" cy="3429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4" name="Text 72"/>
          <p:cNvSpPr/>
          <p:nvPr/>
        </p:nvSpPr>
        <p:spPr>
          <a:xfrm>
            <a:off x="4240530" y="3051631"/>
            <a:ext cx="648831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0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边读边写</a:t>
            </a:r>
            <a:endParaRPr lang="en-US" sz="990" dirty="0"/>
          </a:p>
        </p:txBody>
      </p:sp>
      <p:sp>
        <p:nvSpPr>
          <p:cNvPr id="75" name="Text 73"/>
          <p:cNvSpPr/>
          <p:nvPr/>
        </p:nvSpPr>
        <p:spPr>
          <a:xfrm>
            <a:off x="4832211" y="3114496"/>
            <a:ext cx="96552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47" kern="0" dirty="0">
                <a:solidFill>
                  <a:srgbClr val="7A6E5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 &amp; Write Together</a:t>
            </a:r>
            <a:endParaRPr lang="en-US" sz="585" dirty="0"/>
          </a:p>
        </p:txBody>
      </p:sp>
      <p:sp>
        <p:nvSpPr>
          <p:cNvPr id="76" name="Text 74"/>
          <p:cNvSpPr/>
          <p:nvPr/>
        </p:nvSpPr>
        <p:spPr>
          <a:xfrm>
            <a:off x="4240530" y="3263086"/>
            <a:ext cx="4915814" cy="13198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读书笔记是二次思考，能显著降低遗忘率。写下时，理解才被真正内化。</a:t>
            </a:r>
            <a:endParaRPr lang="en-US" sz="630" dirty="0"/>
          </a:p>
        </p:txBody>
      </p:sp>
      <p:sp>
        <p:nvSpPr>
          <p:cNvPr id="77" name="Shape 75"/>
          <p:cNvSpPr/>
          <p:nvPr/>
        </p:nvSpPr>
        <p:spPr>
          <a:xfrm>
            <a:off x="3566160" y="3549372"/>
            <a:ext cx="5063490" cy="549176"/>
          </a:xfrm>
          <a:prstGeom prst="rect">
            <a:avLst/>
          </a:prstGeom>
          <a:noFill/>
          <a:ln/>
        </p:spPr>
      </p:sp>
      <p:sp>
        <p:nvSpPr>
          <p:cNvPr id="78" name="Shape 76"/>
          <p:cNvSpPr/>
          <p:nvPr/>
        </p:nvSpPr>
        <p:spPr>
          <a:xfrm>
            <a:off x="3566160" y="3549372"/>
            <a:ext cx="50634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4098548"/>
            <a:ext cx="5063490" cy="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43657"/>
            <a:ext cx="251460" cy="1143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81" name="Text 79"/>
          <p:cNvSpPr/>
          <p:nvPr/>
        </p:nvSpPr>
        <p:spPr>
          <a:xfrm>
            <a:off x="3566160" y="3623667"/>
            <a:ext cx="1042416" cy="3908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20" b="1" i="1" spc="-68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420" dirty="0"/>
          </a:p>
        </p:txBody>
      </p:sp>
      <p:sp>
        <p:nvSpPr>
          <p:cNvPr id="82" name="Shape 80"/>
          <p:cNvSpPr/>
          <p:nvPr/>
        </p:nvSpPr>
        <p:spPr>
          <a:xfrm>
            <a:off x="4126230" y="3945939"/>
            <a:ext cx="34290" cy="3429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3" name="Text 81"/>
          <p:cNvSpPr/>
          <p:nvPr/>
        </p:nvSpPr>
        <p:spPr>
          <a:xfrm>
            <a:off x="4240530" y="3680817"/>
            <a:ext cx="77956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0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版本与更新</a:t>
            </a:r>
            <a:endParaRPr lang="en-US" sz="990" dirty="0"/>
          </a:p>
        </p:txBody>
      </p:sp>
      <p:sp>
        <p:nvSpPr>
          <p:cNvPr id="84" name="Text 82"/>
          <p:cNvSpPr/>
          <p:nvPr/>
        </p:nvSpPr>
        <p:spPr>
          <a:xfrm>
            <a:off x="4962942" y="3743682"/>
            <a:ext cx="68946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47" kern="0" dirty="0">
                <a:solidFill>
                  <a:srgbClr val="7A6E5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Track the Latest</a:t>
            </a:r>
            <a:endParaRPr lang="en-US" sz="585" dirty="0"/>
          </a:p>
        </p:txBody>
      </p:sp>
      <p:sp>
        <p:nvSpPr>
          <p:cNvPr id="85" name="Text 83"/>
          <p:cNvSpPr/>
          <p:nvPr/>
        </p:nvSpPr>
        <p:spPr>
          <a:xfrm>
            <a:off x="4240530" y="3892272"/>
            <a:ext cx="4915814" cy="13198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技术文档有保质期，定期回到最新一手源保持同步。让阅读成为一种持续更新的习惯。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514350" y="4114800"/>
            <a:ext cx="3989070" cy="74295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87" name="Shape 85"/>
          <p:cNvSpPr/>
          <p:nvPr/>
        </p:nvSpPr>
        <p:spPr>
          <a:xfrm>
            <a:off x="514350" y="4114800"/>
            <a:ext cx="3989070" cy="0"/>
          </a:xfrm>
          <a:prstGeom prst="line">
            <a:avLst/>
          </a:prstGeom>
          <a:noFill/>
          <a:ln w="17145">
            <a:solidFill>
              <a:srgbClr val="1B2A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00550" y="4171950"/>
            <a:ext cx="45720" cy="4572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89" name="Text 87"/>
          <p:cNvSpPr/>
          <p:nvPr/>
        </p:nvSpPr>
        <p:spPr>
          <a:xfrm>
            <a:off x="662940" y="4257675"/>
            <a:ext cx="330281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7A6E5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阅读策略 · READING STRATEGY</a:t>
            </a:r>
            <a:endParaRPr lang="en-US" sz="540" dirty="0"/>
          </a:p>
        </p:txBody>
      </p:sp>
      <p:sp>
        <p:nvSpPr>
          <p:cNvPr id="90" name="Text 88"/>
          <p:cNvSpPr/>
          <p:nvPr/>
        </p:nvSpPr>
        <p:spPr>
          <a:xfrm>
            <a:off x="662940" y="4389120"/>
            <a:ext cx="3302813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5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主题式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i="1" spc="5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&gt;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spc="5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线性式</a:t>
            </a:r>
            <a:endParaRPr lang="en-US" sz="1350" dirty="0"/>
          </a:p>
        </p:txBody>
      </p:sp>
      <p:sp>
        <p:nvSpPr>
          <p:cNvPr id="91" name="Text 89"/>
          <p:cNvSpPr/>
          <p:nvPr/>
        </p:nvSpPr>
        <p:spPr>
          <a:xfrm>
            <a:off x="662940" y="4629150"/>
            <a:ext cx="330281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1" kern="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围绕问题构建知识网络，让每一次阅读都积累到同一张地图上。</a:t>
            </a:r>
            <a:endParaRPr lang="en-US" sz="540" dirty="0"/>
          </a:p>
        </p:txBody>
      </p:sp>
      <p:sp>
        <p:nvSpPr>
          <p:cNvPr id="92" name="Shape 90"/>
          <p:cNvSpPr/>
          <p:nvPr/>
        </p:nvSpPr>
        <p:spPr>
          <a:xfrm>
            <a:off x="3726180" y="4323398"/>
            <a:ext cx="628650" cy="342900"/>
          </a:xfrm>
          <a:prstGeom prst="rect">
            <a:avLst/>
          </a:prstGeom>
          <a:noFill/>
          <a:ln/>
        </p:spPr>
      </p:sp>
      <p:sp>
        <p:nvSpPr>
          <p:cNvPr id="93" name="Shape 91"/>
          <p:cNvSpPr/>
          <p:nvPr/>
        </p:nvSpPr>
        <p:spPr>
          <a:xfrm>
            <a:off x="3726180" y="4323398"/>
            <a:ext cx="0" cy="34290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23335" y="4323398"/>
            <a:ext cx="748665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10" b="1" i="1" spc="-3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Ⅰ</a:t>
            </a:r>
            <a:endParaRPr lang="en-US" sz="1710" dirty="0"/>
          </a:p>
        </p:txBody>
      </p:sp>
      <p:sp>
        <p:nvSpPr>
          <p:cNvPr id="95" name="Text 93"/>
          <p:cNvSpPr/>
          <p:nvPr/>
        </p:nvSpPr>
        <p:spPr>
          <a:xfrm>
            <a:off x="3823335" y="4574858"/>
            <a:ext cx="59527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49" kern="0" dirty="0">
                <a:solidFill>
                  <a:srgbClr val="3B4A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STRATEGY</a:t>
            </a:r>
            <a:endParaRPr lang="en-US" sz="495" dirty="0"/>
          </a:p>
        </p:txBody>
      </p:sp>
      <p:sp>
        <p:nvSpPr>
          <p:cNvPr id="96" name="Shape 94"/>
          <p:cNvSpPr/>
          <p:nvPr/>
        </p:nvSpPr>
        <p:spPr>
          <a:xfrm>
            <a:off x="4640580" y="4114800"/>
            <a:ext cx="3989070" cy="74295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97" name="Shape 95"/>
          <p:cNvSpPr/>
          <p:nvPr/>
        </p:nvSpPr>
        <p:spPr>
          <a:xfrm>
            <a:off x="4640580" y="4114800"/>
            <a:ext cx="3989070" cy="0"/>
          </a:xfrm>
          <a:prstGeom prst="line">
            <a:avLst/>
          </a:prstGeom>
          <a:noFill/>
          <a:ln w="17145">
            <a:solidFill>
              <a:srgbClr val="1B2A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26780" y="4171950"/>
            <a:ext cx="45720" cy="45720"/>
          </a:xfrm>
          <a:prstGeom prst="rect">
            <a:avLst/>
          </a:prstGeom>
          <a:solidFill>
            <a:srgbClr val="B7412C"/>
          </a:solidFill>
          <a:ln/>
        </p:spPr>
      </p:sp>
      <p:sp>
        <p:nvSpPr>
          <p:cNvPr id="99" name="Text 97"/>
          <p:cNvSpPr/>
          <p:nvPr/>
        </p:nvSpPr>
        <p:spPr>
          <a:xfrm>
            <a:off x="4789170" y="4257675"/>
            <a:ext cx="330281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7A6E5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笔记形式 · NOTE FORMAT</a:t>
            </a:r>
            <a:endParaRPr lang="en-US" sz="540" dirty="0"/>
          </a:p>
        </p:txBody>
      </p:sp>
      <p:sp>
        <p:nvSpPr>
          <p:cNvPr id="100" name="Text 98"/>
          <p:cNvSpPr/>
          <p:nvPr/>
        </p:nvSpPr>
        <p:spPr>
          <a:xfrm>
            <a:off x="4789170" y="4389120"/>
            <a:ext cx="3302813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5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i="1" spc="5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spc="54" kern="0" dirty="0">
                <a:solidFill>
                  <a:srgbClr val="1B2A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复盘</a:t>
            </a:r>
            <a:endParaRPr lang="en-US" sz="1350" dirty="0"/>
          </a:p>
        </p:txBody>
      </p:sp>
      <p:sp>
        <p:nvSpPr>
          <p:cNvPr id="101" name="Text 99"/>
          <p:cNvSpPr/>
          <p:nvPr/>
        </p:nvSpPr>
        <p:spPr>
          <a:xfrm>
            <a:off x="4789170" y="4629150"/>
            <a:ext cx="330281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1" kern="0" dirty="0">
                <a:solidFill>
                  <a:srgbClr val="3B4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便于检索与再次分享，让笔记成为可复用的资产而非一次性记录。</a:t>
            </a:r>
            <a:endParaRPr lang="en-US" sz="540" dirty="0"/>
          </a:p>
        </p:txBody>
      </p:sp>
      <p:sp>
        <p:nvSpPr>
          <p:cNvPr id="102" name="Shape 100"/>
          <p:cNvSpPr/>
          <p:nvPr/>
        </p:nvSpPr>
        <p:spPr>
          <a:xfrm>
            <a:off x="7852410" y="4323398"/>
            <a:ext cx="628650" cy="342900"/>
          </a:xfrm>
          <a:prstGeom prst="rect">
            <a:avLst/>
          </a:prstGeom>
          <a:noFill/>
          <a:ln/>
        </p:spPr>
      </p:sp>
      <p:sp>
        <p:nvSpPr>
          <p:cNvPr id="103" name="Shape 101"/>
          <p:cNvSpPr/>
          <p:nvPr/>
        </p:nvSpPr>
        <p:spPr>
          <a:xfrm>
            <a:off x="7852410" y="4323398"/>
            <a:ext cx="0" cy="342900"/>
          </a:xfrm>
          <a:prstGeom prst="line">
            <a:avLst/>
          </a:prstGeom>
          <a:noFill/>
          <a:ln w="5715">
            <a:solidFill>
              <a:srgbClr val="C9BFA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949565" y="4323398"/>
            <a:ext cx="748665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10" b="1" i="1" spc="-34" kern="0" dirty="0">
                <a:solidFill>
                  <a:srgbClr val="B741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Ⅱ</a:t>
            </a:r>
            <a:endParaRPr lang="en-US" sz="1710" dirty="0"/>
          </a:p>
        </p:txBody>
      </p:sp>
      <p:sp>
        <p:nvSpPr>
          <p:cNvPr id="105" name="Text 103"/>
          <p:cNvSpPr/>
          <p:nvPr/>
        </p:nvSpPr>
        <p:spPr>
          <a:xfrm>
            <a:off x="7949565" y="4574858"/>
            <a:ext cx="59527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49" kern="0" dirty="0">
                <a:solidFill>
                  <a:srgbClr val="3B4A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FORMAT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7180"/>
            <a:ext cx="8321040" cy="10144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11480" y="1311593"/>
            <a:ext cx="832104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28738"/>
            <a:ext cx="8321040" cy="5715"/>
          </a:xfrm>
          <a:prstGeom prst="rect">
            <a:avLst/>
          </a:prstGeom>
          <a:solidFill>
            <a:srgbClr val="0D213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97180"/>
            <a:ext cx="1651635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760" b="1" spc="-18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</a:t>
            </a:r>
            <a:endParaRPr lang="en-US" sz="5760" dirty="0"/>
          </a:p>
        </p:txBody>
      </p:sp>
      <p:sp>
        <p:nvSpPr>
          <p:cNvPr id="6" name="Shape 4"/>
          <p:cNvSpPr/>
          <p:nvPr/>
        </p:nvSpPr>
        <p:spPr>
          <a:xfrm>
            <a:off x="1285875" y="902970"/>
            <a:ext cx="45720" cy="457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7" name="Shape 5"/>
          <p:cNvSpPr/>
          <p:nvPr/>
        </p:nvSpPr>
        <p:spPr>
          <a:xfrm>
            <a:off x="1537335" y="420053"/>
            <a:ext cx="29718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1914525" y="382905"/>
            <a:ext cx="4057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 08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2337435" y="382905"/>
            <a:ext cx="97932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BEST PRACTICE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3291840" y="377190"/>
            <a:ext cx="4857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分享之道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1537335" y="514350"/>
            <a:ext cx="7245706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3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分享的最佳</a:t>
            </a:r>
            <a:pPr algn="l" indent="0" marL="0">
              <a:lnSpc>
                <a:spcPct val="100000"/>
              </a:lnSpc>
              <a:buNone/>
            </a:pPr>
            <a:r>
              <a:rPr lang="en-US" sz="3330" b="1" i="1" spc="-45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实践</a:t>
            </a:r>
            <a:endParaRPr lang="en-US" sz="3330" dirty="0"/>
          </a:p>
        </p:txBody>
      </p:sp>
      <p:sp>
        <p:nvSpPr>
          <p:cNvPr id="12" name="Text 10"/>
          <p:cNvSpPr/>
          <p:nvPr/>
        </p:nvSpPr>
        <p:spPr>
          <a:xfrm>
            <a:off x="1537335" y="1005840"/>
            <a:ext cx="5632704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i="1" dirty="0">
                <a:solidFill>
                  <a:srgbClr val="1A2E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把每一次表达，都做成社区可复用的资产。</a:t>
            </a:r>
            <a:endParaRPr lang="en-US" sz="765" dirty="0"/>
          </a:p>
        </p:txBody>
      </p:sp>
      <p:sp>
        <p:nvSpPr>
          <p:cNvPr id="13" name="Shape 11"/>
          <p:cNvSpPr/>
          <p:nvPr/>
        </p:nvSpPr>
        <p:spPr>
          <a:xfrm>
            <a:off x="1537335" y="1075134"/>
            <a:ext cx="16002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6775" y="422910"/>
            <a:ext cx="30289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35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8212455" y="525780"/>
            <a:ext cx="60579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67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Vol. II · No. 08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411480" y="1560195"/>
            <a:ext cx="12573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605790" y="1523048"/>
            <a:ext cx="2914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902970" y="1523048"/>
            <a:ext cx="10273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FOUR PRINCIPLES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1888808" y="1517333"/>
            <a:ext cx="5600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四条基本原则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411480" y="1734503"/>
            <a:ext cx="4104513" cy="2339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先小后大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从团队内部分享起步，逐步走向社区公开场合。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2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2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复用而非重造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2"/>
            </a:pP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2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把已有的笔记、案例、代码整理成可分享的资产。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3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3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双向反馈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3"/>
            </a:pP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3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分享后主动收集提问与评价，形成迭代闭环。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4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4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</a:t>
            </a: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4"/>
            </a:pPr>
            <a:endParaRPr lang="en-US" sz="720" dirty="0"/>
          </a:p>
          <a:p>
            <a:pPr algn="l" marL="342900" indent="-342900">
              <a:buSzPct val="100000"/>
              <a:buFont typeface="+mj-lt"/>
              <a:buAutoNum type="arabicPeriod" startAt="4"/>
            </a:pPr>
            <a:r>
              <a:rPr lang="en-US" sz="720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把分享当作社区贡献的一部分，积累而非消耗。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11480" y="4177308"/>
            <a:ext cx="437814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Less talk, more loop. 少讲一次，多做一遍。</a:t>
            </a:r>
            <a:endParaRPr lang="en-US" sz="585" dirty="0"/>
          </a:p>
        </p:txBody>
      </p:sp>
      <p:sp>
        <p:nvSpPr>
          <p:cNvPr id="22" name="Shape 20"/>
          <p:cNvSpPr/>
          <p:nvPr/>
        </p:nvSpPr>
        <p:spPr>
          <a:xfrm>
            <a:off x="411480" y="4177308"/>
            <a:ext cx="14859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3460" y="1560195"/>
            <a:ext cx="12573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4" name="Text 22"/>
          <p:cNvSpPr/>
          <p:nvPr/>
        </p:nvSpPr>
        <p:spPr>
          <a:xfrm>
            <a:off x="5017770" y="1523048"/>
            <a:ext cx="35147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</a:t>
            </a:r>
            <a:endParaRPr lang="en-US" sz="495" dirty="0"/>
          </a:p>
        </p:txBody>
      </p:sp>
      <p:sp>
        <p:nvSpPr>
          <p:cNvPr id="25" name="Text 23"/>
          <p:cNvSpPr/>
          <p:nvPr/>
        </p:nvSpPr>
        <p:spPr>
          <a:xfrm>
            <a:off x="5374958" y="1523048"/>
            <a:ext cx="9057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EDITOR'S NOTE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6252210" y="1517333"/>
            <a:ext cx="3943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6B7A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编辑手记</a:t>
            </a:r>
            <a:endParaRPr lang="en-US" sz="495" dirty="0"/>
          </a:p>
        </p:txBody>
      </p:sp>
      <p:sp>
        <p:nvSpPr>
          <p:cNvPr id="27" name="Text 25"/>
          <p:cNvSpPr/>
          <p:nvPr/>
        </p:nvSpPr>
        <p:spPr>
          <a:xfrm>
            <a:off x="4823460" y="1734503"/>
            <a:ext cx="43781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i="1" spc="23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Editor's Note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823460" y="1923098"/>
            <a:ext cx="4378147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分享不是终点，而是把个人积累变成</a:t>
            </a:r>
            <a:pPr algn="l" indent="0" marL="0">
              <a:lnSpc>
                <a:spcPct val="150000"/>
              </a:lnSpc>
              <a:buNone/>
            </a:pPr>
            <a:r>
              <a:rPr lang="en-US" sz="990" b="1" dirty="0">
                <a:solidFill>
                  <a:srgbClr val="000000">
                    <a:alpha val="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社区资产</a:t>
            </a:r>
            <a:pPr algn="l" indent="0" marL="0">
              <a:lnSpc>
                <a:spcPct val="150000"/>
              </a:lnSpc>
              <a:buNone/>
            </a:pPr>
            <a:r>
              <a:rPr lang="en-US" sz="99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的起点。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6835140" y="1928813"/>
            <a:ext cx="525780" cy="171450"/>
          </a:xfrm>
          <a:prstGeom prst="rect">
            <a:avLst/>
          </a:prstGeom>
          <a:gradFill rotWithShape="1">
            <a:gsLst>
              <a:gs pos="55000">
                <a:srgbClr val="000000">
                  <a:alpha val="0"/>
                </a:srgbClr>
              </a:gs>
              <a:gs pos="55000">
                <a:srgbClr val="C23D2E">
                  <a:alpha val="24000"/>
                </a:srgbClr>
              </a:gs>
            </a:gsLst>
            <a:lin ang="540000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6835140" y="1928813"/>
            <a:ext cx="651510" cy="171450"/>
          </a:xfrm>
          <a:prstGeom prst="rect">
            <a:avLst/>
          </a:prstGeom>
          <a:noFill/>
          <a:ln/>
        </p:spPr>
        <p:txBody>
          <a:bodyPr wrap="none" lIns="0" tIns="11430" rIns="1143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社区资产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4823460" y="2225993"/>
            <a:ext cx="4378147" cy="29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E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从小组内部到社区公开，从一次性演讲到可复用内容库，最好的分享者都是长期主义者——把每一次分享都当作下一次的输入。</a:t>
            </a:r>
            <a:endParaRPr lang="en-US" sz="653" dirty="0"/>
          </a:p>
        </p:txBody>
      </p:sp>
      <p:sp>
        <p:nvSpPr>
          <p:cNvPr id="32" name="Shape 30"/>
          <p:cNvSpPr/>
          <p:nvPr/>
        </p:nvSpPr>
        <p:spPr>
          <a:xfrm>
            <a:off x="4823460" y="2641759"/>
            <a:ext cx="3909060" cy="441662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4823460" y="2641759"/>
            <a:ext cx="0" cy="441662"/>
          </a:xfrm>
          <a:prstGeom prst="line">
            <a:avLst/>
          </a:prstGeom>
          <a:noFill/>
          <a:ln w="17145">
            <a:solidFill>
              <a:srgbClr val="C23D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3460" y="2527459"/>
            <a:ext cx="718947" cy="211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3330" b="1" dirty="0">
                <a:solidFill>
                  <a:srgbClr val="C23D2E">
                    <a:alpha val="9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endParaRPr lang="en-US" sz="3330" dirty="0"/>
          </a:p>
        </p:txBody>
      </p:sp>
      <p:sp>
        <p:nvSpPr>
          <p:cNvPr id="35" name="Text 33"/>
          <p:cNvSpPr/>
          <p:nvPr/>
        </p:nvSpPr>
        <p:spPr>
          <a:xfrm>
            <a:off x="5000625" y="2721769"/>
            <a:ext cx="4179722" cy="281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讲一次，只是一次；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讲进别人的书架，才算一份。</a:t>
            </a:r>
            <a:endParaRPr lang="en-US" sz="765" dirty="0"/>
          </a:p>
        </p:txBody>
      </p:sp>
      <p:sp>
        <p:nvSpPr>
          <p:cNvPr id="36" name="Shape 34"/>
          <p:cNvSpPr/>
          <p:nvPr/>
        </p:nvSpPr>
        <p:spPr>
          <a:xfrm>
            <a:off x="4823460" y="3197721"/>
            <a:ext cx="434340" cy="160020"/>
          </a:xfrm>
          <a:prstGeom prst="rect">
            <a:avLst/>
          </a:prstGeom>
          <a:solidFill>
            <a:srgbClr val="0D2137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3460" y="3197721"/>
            <a:ext cx="497205" cy="16002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</a:t>
            </a:r>
            <a:endParaRPr lang="en-US" sz="495" dirty="0"/>
          </a:p>
        </p:txBody>
      </p:sp>
      <p:sp>
        <p:nvSpPr>
          <p:cNvPr id="38" name="Shape 36"/>
          <p:cNvSpPr/>
          <p:nvPr/>
        </p:nvSpPr>
        <p:spPr>
          <a:xfrm>
            <a:off x="5303520" y="3197721"/>
            <a:ext cx="362903" cy="160020"/>
          </a:xfrm>
          <a:prstGeom prst="rect">
            <a:avLst/>
          </a:prstGeom>
          <a:noFill/>
          <a:ln w="5715">
            <a:solidFill>
              <a:srgbClr val="0D2137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197721"/>
            <a:ext cx="425768" cy="16002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可复用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5712143" y="3197721"/>
            <a:ext cx="291465" cy="160020"/>
          </a:xfrm>
          <a:prstGeom prst="rect">
            <a:avLst/>
          </a:prstGeom>
          <a:noFill/>
          <a:ln w="5715">
            <a:solidFill>
              <a:srgbClr val="0D2137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2143" y="3197721"/>
            <a:ext cx="354330" cy="16002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411480" y="4434483"/>
            <a:ext cx="8321040" cy="800725"/>
          </a:xfrm>
          <a:prstGeom prst="roundRect">
            <a:avLst>
              <a:gd name="adj" fmla="val 1427"/>
            </a:avLst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582930" y="4605933"/>
            <a:ext cx="421812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F5F1EA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POINT · 01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582930" y="4720233"/>
            <a:ext cx="4218127" cy="178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分享路径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小圈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大圈</a:t>
            </a:r>
            <a:endParaRPr lang="en-US" sz="1170" dirty="0"/>
          </a:p>
        </p:txBody>
      </p:sp>
      <p:sp>
        <p:nvSpPr>
          <p:cNvPr id="45" name="Text 43"/>
          <p:cNvSpPr/>
          <p:nvPr/>
        </p:nvSpPr>
        <p:spPr>
          <a:xfrm>
            <a:off x="582930" y="4944189"/>
            <a:ext cx="4218127" cy="1195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F5F1EA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从内部到公开的渐进式布道。</a:t>
            </a:r>
            <a:endParaRPr lang="en-US" sz="608" dirty="0"/>
          </a:p>
        </p:txBody>
      </p:sp>
      <p:sp>
        <p:nvSpPr>
          <p:cNvPr id="46" name="Shape 44"/>
          <p:cNvSpPr/>
          <p:nvPr/>
        </p:nvSpPr>
        <p:spPr>
          <a:xfrm>
            <a:off x="4371975" y="4830514"/>
            <a:ext cx="400050" cy="85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C23D2E"/>
              </a:gs>
              <a:gs pos="70000">
                <a:srgbClr val="C23D2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Shape 45"/>
          <p:cNvSpPr/>
          <p:nvPr/>
        </p:nvSpPr>
        <p:spPr>
          <a:xfrm>
            <a:off x="4549140" y="4811941"/>
            <a:ext cx="45720" cy="45720"/>
          </a:xfrm>
          <a:prstGeom prst="ellipse">
            <a:avLst/>
          </a:prstGeom>
          <a:solidFill>
            <a:srgbClr val="C23D2E"/>
          </a:solidFill>
          <a:ln/>
          <a:effectLst>
            <a:outerShdw sx="100000" sy="100000" kx="0" ky="0" algn="bl" rotWithShape="0" blurRad="101600" dist="50800" dir="16200000">
              <a:srgbClr val="0D2137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23435" y="4783366"/>
            <a:ext cx="80010" cy="102870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4623435" y="4783366"/>
            <a:ext cx="80010" cy="0"/>
          </a:xfrm>
          <a:prstGeom prst="line">
            <a:avLst/>
          </a:prstGeom>
          <a:noFill/>
          <a:ln w="5143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23435" y="4886236"/>
            <a:ext cx="80010" cy="0"/>
          </a:xfrm>
          <a:prstGeom prst="line">
            <a:avLst/>
          </a:prstGeom>
          <a:noFill/>
          <a:ln w="5143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3435" y="4783366"/>
            <a:ext cx="0" cy="102870"/>
          </a:xfrm>
          <a:prstGeom prst="line">
            <a:avLst/>
          </a:prstGeom>
          <a:noFill/>
          <a:ln w="80010">
            <a:solidFill>
              <a:srgbClr val="C23D2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4885" y="4605933"/>
            <a:ext cx="421812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F5F1EA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POINT · 02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4794885" y="4720233"/>
            <a:ext cx="4218127" cy="178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关键习惯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pPr algn="l" indent="0" marL="0">
              <a:lnSpc>
                <a:spcPct val="120000"/>
              </a:lnSpc>
              <a:buNone/>
            </a:pPr>
            <a:r>
              <a:rPr lang="en-US" sz="1170" b="1" spc="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复用 · 反馈 · 迭代</a:t>
            </a:r>
            <a:endParaRPr lang="en-US" sz="1170" dirty="0"/>
          </a:p>
        </p:txBody>
      </p:sp>
      <p:sp>
        <p:nvSpPr>
          <p:cNvPr id="54" name="Text 52"/>
          <p:cNvSpPr/>
          <p:nvPr/>
        </p:nvSpPr>
        <p:spPr>
          <a:xfrm>
            <a:off x="4794885" y="4944189"/>
            <a:ext cx="4218127" cy="1195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F5F1EA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让分享产生复利。</a:t>
            </a:r>
            <a:endParaRPr lang="en-US" sz="60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43100" y="0"/>
            <a:ext cx="5715" cy="5143500"/>
          </a:xfrm>
          <a:prstGeom prst="rect">
            <a:avLst/>
          </a:prstGeom>
          <a:solidFill>
            <a:srgbClr val="0D2137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86300" y="0"/>
            <a:ext cx="5715" cy="5143500"/>
          </a:xfrm>
          <a:prstGeom prst="rect">
            <a:avLst/>
          </a:prstGeom>
          <a:solidFill>
            <a:srgbClr val="0D2137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0"/>
            <a:ext cx="5715" cy="5143500"/>
          </a:xfrm>
          <a:prstGeom prst="rect">
            <a:avLst/>
          </a:prstGeom>
          <a:solidFill>
            <a:srgbClr val="0D2137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6676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844677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7" name="Shape 5"/>
          <p:cNvSpPr/>
          <p:nvPr/>
        </p:nvSpPr>
        <p:spPr>
          <a:xfrm>
            <a:off x="852678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8" name="Shape 6"/>
          <p:cNvSpPr/>
          <p:nvPr/>
        </p:nvSpPr>
        <p:spPr>
          <a:xfrm>
            <a:off x="860679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0" name="Shape 8"/>
          <p:cNvSpPr/>
          <p:nvPr/>
        </p:nvSpPr>
        <p:spPr>
          <a:xfrm>
            <a:off x="8766810" y="25146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677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852678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0679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6810" y="32004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677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9" name="Shape 17"/>
          <p:cNvSpPr/>
          <p:nvPr/>
        </p:nvSpPr>
        <p:spPr>
          <a:xfrm>
            <a:off x="852678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679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2" name="Shape 20"/>
          <p:cNvSpPr/>
          <p:nvPr/>
        </p:nvSpPr>
        <p:spPr>
          <a:xfrm>
            <a:off x="8766810" y="388620"/>
            <a:ext cx="22860" cy="228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" y="4932045"/>
            <a:ext cx="196634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0D2137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 I N C E · O B S E R V A T O R Y</a:t>
            </a:r>
            <a:endParaRPr lang="en-US" sz="495" dirty="0"/>
          </a:p>
        </p:txBody>
      </p:sp>
      <p:sp>
        <p:nvSpPr>
          <p:cNvPr id="24" name="Shape 22"/>
          <p:cNvSpPr/>
          <p:nvPr/>
        </p:nvSpPr>
        <p:spPr>
          <a:xfrm>
            <a:off x="342900" y="228600"/>
            <a:ext cx="8458200" cy="165735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342900" y="394335"/>
            <a:ext cx="84582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248603"/>
            <a:ext cx="57150" cy="57150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468630" y="237173"/>
            <a:ext cx="195284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INFLUENCE QUARTERLY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7702213" y="228600"/>
            <a:ext cx="123075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76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VOL. 04 · 社区观察 · 编辑特辑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342900" y="508635"/>
            <a:ext cx="458697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73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· 特稿 · No.04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342900" y="640080"/>
            <a:ext cx="45869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spc="-2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社区影响力观察</a:t>
            </a:r>
            <a:pPr algn="l" indent="0" marL="0">
              <a:lnSpc>
                <a:spcPct val="105000"/>
              </a:lnSpc>
              <a:buNone/>
            </a:pPr>
            <a:r>
              <a:rPr lang="en-US" sz="2700" b="1" spc="-27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pPr algn="l" indent="0" marL="0">
              <a:lnSpc>
                <a:spcPct val="105000"/>
              </a:lnSpc>
              <a:buNone/>
            </a:pPr>
            <a:r>
              <a:rPr lang="en-US" sz="2700" b="1" i="1" spc="-27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Influence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8139946" y="512207"/>
            <a:ext cx="740493" cy="493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980" b="1" spc="130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540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540" spc="13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SECTION</a:t>
            </a:r>
            <a:pPr algn="r" indent="0" marL="0">
              <a:lnSpc>
                <a:spcPct val="160000"/>
              </a:lnSpc>
              <a:buNone/>
            </a:pPr>
            <a:endParaRPr lang="en-US" sz="540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540" spc="13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OBSERVATORY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342900" y="1074420"/>
            <a:ext cx="8458200" cy="49149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342900" y="1074420"/>
            <a:ext cx="8458200" cy="0"/>
          </a:xfrm>
          <a:prstGeom prst="line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" y="1565910"/>
            <a:ext cx="8458200" cy="0"/>
          </a:xfrm>
          <a:prstGeom prst="line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" y="1160145"/>
            <a:ext cx="7360920" cy="281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开源影响力并不是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一次性事件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代码贡献、文档写作、答疑讨论、治理参与、人才培养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等多种形态的长期累积。这一页把社区里可观察的影响力信号罗列出来，帮助每个人找到属于自己的切入点 —— 从随手回复一条 issue，到参与一次治理会议，再到带出下一位维护者。</a:t>
            </a:r>
            <a:endParaRPr lang="en-US" sz="653" dirty="0"/>
          </a:p>
        </p:txBody>
      </p:sp>
      <p:sp>
        <p:nvSpPr>
          <p:cNvPr id="36" name="Shape 34"/>
          <p:cNvSpPr/>
          <p:nvPr/>
        </p:nvSpPr>
        <p:spPr>
          <a:xfrm>
            <a:off x="1028700" y="1177290"/>
            <a:ext cx="451485" cy="97155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60000">
                <a:srgbClr val="C23D2E">
                  <a:alpha val="22000"/>
                </a:srgbClr>
              </a:gs>
            </a:gsLst>
            <a:lin ang="540000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1028700" y="1177290"/>
            <a:ext cx="534353" cy="97155"/>
          </a:xfrm>
          <a:prstGeom prst="rect">
            <a:avLst/>
          </a:prstGeom>
          <a:noFill/>
          <a:ln/>
        </p:spPr>
        <p:txBody>
          <a:bodyPr wrap="none" lIns="0" tIns="11430" rIns="1143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一次性事件</a:t>
            </a:r>
            <a:endParaRPr lang="en-US" sz="653" dirty="0"/>
          </a:p>
        </p:txBody>
      </p:sp>
      <p:sp>
        <p:nvSpPr>
          <p:cNvPr id="38" name="Shape 36"/>
          <p:cNvSpPr/>
          <p:nvPr/>
        </p:nvSpPr>
        <p:spPr>
          <a:xfrm>
            <a:off x="8418195" y="1160145"/>
            <a:ext cx="382905" cy="30861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8418195" y="1160145"/>
            <a:ext cx="0" cy="308610"/>
          </a:xfrm>
          <a:prstGeom prst="line">
            <a:avLst/>
          </a:prstGeom>
          <a:noFill/>
          <a:ln w="5715">
            <a:solidFill>
              <a:srgbClr val="0D2137">
                <a:alpha val="14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8195" y="1160145"/>
            <a:ext cx="451485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54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影响力是</a:t>
            </a:r>
            <a:pPr algn="r" indent="0" marL="0">
              <a:lnSpc>
                <a:spcPct val="150000"/>
              </a:lnSpc>
              <a:buNone/>
            </a:pPr>
            <a:endParaRPr lang="en-US" sz="54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540" b="1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可观察的</a:t>
            </a:r>
            <a:endParaRPr lang="en-US" sz="54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540" b="1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累积曲线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342900" y="1680210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451485" y="1683068"/>
            <a:ext cx="105333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7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四种可观察的影响力信号</a:t>
            </a:r>
            <a:endParaRPr lang="en-US" sz="495" dirty="0"/>
          </a:p>
        </p:txBody>
      </p:sp>
      <p:sp>
        <p:nvSpPr>
          <p:cNvPr id="43" name="Shape 41"/>
          <p:cNvSpPr/>
          <p:nvPr/>
        </p:nvSpPr>
        <p:spPr>
          <a:xfrm>
            <a:off x="1449110" y="1725930"/>
            <a:ext cx="2973497" cy="5715"/>
          </a:xfrm>
          <a:prstGeom prst="rect">
            <a:avLst/>
          </a:prstGeom>
          <a:solidFill>
            <a:srgbClr val="0D2137">
              <a:alpha val="1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2900" y="1845945"/>
            <a:ext cx="2011234" cy="801529"/>
          </a:xfrm>
          <a:prstGeom prst="rect">
            <a:avLst/>
          </a:prstGeom>
          <a:solidFill>
            <a:srgbClr val="FBF8F2"/>
          </a:solidFill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70093" y="1851660"/>
            <a:ext cx="178326" cy="1200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6" name="Text 44"/>
          <p:cNvSpPr/>
          <p:nvPr/>
        </p:nvSpPr>
        <p:spPr>
          <a:xfrm>
            <a:off x="2170093" y="1851660"/>
            <a:ext cx="241191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b="1" spc="50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495" dirty="0"/>
          </a:p>
        </p:txBody>
      </p:sp>
      <p:sp>
        <p:nvSpPr>
          <p:cNvPr id="47" name="Text 45"/>
          <p:cNvSpPr/>
          <p:nvPr/>
        </p:nvSpPr>
        <p:spPr>
          <a:xfrm>
            <a:off x="428625" y="1920240"/>
            <a:ext cx="20605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6" kern="0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· 贡献</a:t>
            </a:r>
            <a:endParaRPr lang="en-US" sz="473" dirty="0"/>
          </a:p>
        </p:txBody>
      </p:sp>
      <p:sp>
        <p:nvSpPr>
          <p:cNvPr id="48" name="Shape 46"/>
          <p:cNvSpPr/>
          <p:nvPr/>
        </p:nvSpPr>
        <p:spPr>
          <a:xfrm>
            <a:off x="428625" y="2085975"/>
            <a:ext cx="40005" cy="4000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9" name="Text 47"/>
          <p:cNvSpPr/>
          <p:nvPr/>
        </p:nvSpPr>
        <p:spPr>
          <a:xfrm>
            <a:off x="508635" y="2034540"/>
            <a:ext cx="72009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1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贡献即影响力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428625" y="2208848"/>
            <a:ext cx="206055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代码、文档、答疑都是可量化的社区贡献，每一份合入都写进项目的时间线。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428625" y="2476024"/>
            <a:ext cx="271820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8625" y="2476024"/>
            <a:ext cx="326112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428" dirty="0"/>
          </a:p>
        </p:txBody>
      </p:sp>
      <p:sp>
        <p:nvSpPr>
          <p:cNvPr id="53" name="Shape 51"/>
          <p:cNvSpPr/>
          <p:nvPr/>
        </p:nvSpPr>
        <p:spPr>
          <a:xfrm>
            <a:off x="734735" y="2476024"/>
            <a:ext cx="271820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4735" y="2476024"/>
            <a:ext cx="326112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</a:t>
            </a:r>
            <a:endParaRPr lang="en-US" sz="428" dirty="0"/>
          </a:p>
        </p:txBody>
      </p:sp>
      <p:sp>
        <p:nvSpPr>
          <p:cNvPr id="55" name="Shape 53"/>
          <p:cNvSpPr/>
          <p:nvPr/>
        </p:nvSpPr>
        <p:spPr>
          <a:xfrm>
            <a:off x="1040844" y="2476024"/>
            <a:ext cx="225296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0844" y="2476024"/>
            <a:ext cx="279589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428" dirty="0"/>
          </a:p>
        </p:txBody>
      </p:sp>
      <p:sp>
        <p:nvSpPr>
          <p:cNvPr id="57" name="Shape 55"/>
          <p:cNvSpPr/>
          <p:nvPr/>
        </p:nvSpPr>
        <p:spPr>
          <a:xfrm>
            <a:off x="2411284" y="1845945"/>
            <a:ext cx="2011323" cy="801529"/>
          </a:xfrm>
          <a:prstGeom prst="rect">
            <a:avLst/>
          </a:prstGeom>
          <a:solidFill>
            <a:srgbClr val="FBF8F2"/>
          </a:solidFill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27135" y="1851660"/>
            <a:ext cx="189756" cy="1200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9" name="Text 57"/>
          <p:cNvSpPr/>
          <p:nvPr/>
        </p:nvSpPr>
        <p:spPr>
          <a:xfrm>
            <a:off x="4227135" y="1851660"/>
            <a:ext cx="252621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b="1" spc="50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495" dirty="0"/>
          </a:p>
        </p:txBody>
      </p:sp>
      <p:sp>
        <p:nvSpPr>
          <p:cNvPr id="60" name="Text 58"/>
          <p:cNvSpPr/>
          <p:nvPr/>
        </p:nvSpPr>
        <p:spPr>
          <a:xfrm>
            <a:off x="2497009" y="1920240"/>
            <a:ext cx="20606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6" kern="0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· 布道</a:t>
            </a:r>
            <a:endParaRPr lang="en-US" sz="473" dirty="0"/>
          </a:p>
        </p:txBody>
      </p:sp>
      <p:sp>
        <p:nvSpPr>
          <p:cNvPr id="61" name="Shape 59"/>
          <p:cNvSpPr/>
          <p:nvPr/>
        </p:nvSpPr>
        <p:spPr>
          <a:xfrm>
            <a:off x="2497009" y="2085975"/>
            <a:ext cx="40005" cy="4000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62" name="Text 60"/>
          <p:cNvSpPr/>
          <p:nvPr/>
        </p:nvSpPr>
        <p:spPr>
          <a:xfrm>
            <a:off x="2577019" y="2034540"/>
            <a:ext cx="72009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1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布道沉淀资产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2497009" y="2208848"/>
            <a:ext cx="206065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演讲、文章、课程形成长期可复用的社区知识，把个人经验变为公共资产。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2497009" y="2476024"/>
            <a:ext cx="248960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97009" y="2476024"/>
            <a:ext cx="303252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</a:t>
            </a:r>
            <a:endParaRPr lang="en-US" sz="428" dirty="0"/>
          </a:p>
        </p:txBody>
      </p:sp>
      <p:sp>
        <p:nvSpPr>
          <p:cNvPr id="66" name="Shape 64"/>
          <p:cNvSpPr/>
          <p:nvPr/>
        </p:nvSpPr>
        <p:spPr>
          <a:xfrm>
            <a:off x="2780258" y="2476024"/>
            <a:ext cx="371386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0258" y="2476024"/>
            <a:ext cx="425678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</a:t>
            </a:r>
            <a:endParaRPr lang="en-US" sz="428" dirty="0"/>
          </a:p>
        </p:txBody>
      </p:sp>
      <p:sp>
        <p:nvSpPr>
          <p:cNvPr id="68" name="Shape 66"/>
          <p:cNvSpPr/>
          <p:nvPr/>
        </p:nvSpPr>
        <p:spPr>
          <a:xfrm>
            <a:off x="3185934" y="2476024"/>
            <a:ext cx="353437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85934" y="2476024"/>
            <a:ext cx="407730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428" dirty="0"/>
          </a:p>
        </p:txBody>
      </p:sp>
      <p:sp>
        <p:nvSpPr>
          <p:cNvPr id="70" name="Shape 68"/>
          <p:cNvSpPr/>
          <p:nvPr/>
        </p:nvSpPr>
        <p:spPr>
          <a:xfrm>
            <a:off x="342900" y="2704624"/>
            <a:ext cx="2011234" cy="801529"/>
          </a:xfrm>
          <a:prstGeom prst="rect">
            <a:avLst/>
          </a:prstGeom>
          <a:solidFill>
            <a:srgbClr val="FBF8F2"/>
          </a:solidFill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64378" y="2710339"/>
            <a:ext cx="184041" cy="1200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2" name="Text 70"/>
          <p:cNvSpPr/>
          <p:nvPr/>
        </p:nvSpPr>
        <p:spPr>
          <a:xfrm>
            <a:off x="2164378" y="2710339"/>
            <a:ext cx="246906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b="1" spc="50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495" dirty="0"/>
          </a:p>
        </p:txBody>
      </p:sp>
      <p:sp>
        <p:nvSpPr>
          <p:cNvPr id="73" name="Text 71"/>
          <p:cNvSpPr/>
          <p:nvPr/>
        </p:nvSpPr>
        <p:spPr>
          <a:xfrm>
            <a:off x="428625" y="2778919"/>
            <a:ext cx="20605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6" kern="0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· 治理</a:t>
            </a:r>
            <a:endParaRPr lang="en-US" sz="473" dirty="0"/>
          </a:p>
        </p:txBody>
      </p:sp>
      <p:sp>
        <p:nvSpPr>
          <p:cNvPr id="74" name="Shape 72"/>
          <p:cNvSpPr/>
          <p:nvPr/>
        </p:nvSpPr>
        <p:spPr>
          <a:xfrm>
            <a:off x="428625" y="2944654"/>
            <a:ext cx="40005" cy="4000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75" name="Text 73"/>
          <p:cNvSpPr/>
          <p:nvPr/>
        </p:nvSpPr>
        <p:spPr>
          <a:xfrm>
            <a:off x="508635" y="2893219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1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治理参与</a:t>
            </a:r>
            <a:endParaRPr lang="en-US" sz="810" dirty="0"/>
          </a:p>
        </p:txBody>
      </p:sp>
      <p:sp>
        <p:nvSpPr>
          <p:cNvPr id="76" name="Text 74"/>
          <p:cNvSpPr/>
          <p:nvPr/>
        </p:nvSpPr>
        <p:spPr>
          <a:xfrm>
            <a:off x="428625" y="3067526"/>
            <a:ext cx="206055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从使用者到委员会成员，影响力进入制度层，影响路线图、协议与决策流程。</a:t>
            </a:r>
            <a:endParaRPr lang="en-US" sz="563" dirty="0"/>
          </a:p>
        </p:txBody>
      </p:sp>
      <p:sp>
        <p:nvSpPr>
          <p:cNvPr id="77" name="Shape 75"/>
          <p:cNvSpPr/>
          <p:nvPr/>
        </p:nvSpPr>
        <p:spPr>
          <a:xfrm>
            <a:off x="428625" y="3334703"/>
            <a:ext cx="417106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8625" y="3334703"/>
            <a:ext cx="471398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428" dirty="0"/>
          </a:p>
        </p:txBody>
      </p:sp>
      <p:sp>
        <p:nvSpPr>
          <p:cNvPr id="79" name="Shape 77"/>
          <p:cNvSpPr/>
          <p:nvPr/>
        </p:nvSpPr>
        <p:spPr>
          <a:xfrm>
            <a:off x="880021" y="3334703"/>
            <a:ext cx="231011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80021" y="3334703"/>
            <a:ext cx="285304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</a:t>
            </a:r>
            <a:endParaRPr lang="en-US" sz="428" dirty="0"/>
          </a:p>
        </p:txBody>
      </p:sp>
      <p:sp>
        <p:nvSpPr>
          <p:cNvPr id="81" name="Shape 79"/>
          <p:cNvSpPr/>
          <p:nvPr/>
        </p:nvSpPr>
        <p:spPr>
          <a:xfrm>
            <a:off x="1145322" y="3334703"/>
            <a:ext cx="324862" cy="97155"/>
          </a:xfrm>
          <a:prstGeom prst="rect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45322" y="3334703"/>
            <a:ext cx="379155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428" dirty="0"/>
          </a:p>
        </p:txBody>
      </p:sp>
      <p:sp>
        <p:nvSpPr>
          <p:cNvPr id="83" name="Shape 81"/>
          <p:cNvSpPr/>
          <p:nvPr/>
        </p:nvSpPr>
        <p:spPr>
          <a:xfrm>
            <a:off x="2411284" y="2704624"/>
            <a:ext cx="2011323" cy="801529"/>
          </a:xfrm>
          <a:prstGeom prst="rect">
            <a:avLst/>
          </a:prstGeom>
          <a:solidFill>
            <a:srgbClr val="0D2137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27135" y="2710339"/>
            <a:ext cx="189756" cy="1200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85" name="Text 83"/>
          <p:cNvSpPr/>
          <p:nvPr/>
        </p:nvSpPr>
        <p:spPr>
          <a:xfrm>
            <a:off x="4227135" y="2710339"/>
            <a:ext cx="252621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b="1" spc="50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495" dirty="0"/>
          </a:p>
        </p:txBody>
      </p:sp>
      <p:sp>
        <p:nvSpPr>
          <p:cNvPr id="86" name="Text 84"/>
          <p:cNvSpPr/>
          <p:nvPr/>
        </p:nvSpPr>
        <p:spPr>
          <a:xfrm>
            <a:off x="2497009" y="2778919"/>
            <a:ext cx="20606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6" kern="0" dirty="0">
                <a:solidFill>
                  <a:srgbClr val="F5F1EA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· 传承</a:t>
            </a:r>
            <a:endParaRPr lang="en-US" sz="473" dirty="0"/>
          </a:p>
        </p:txBody>
      </p:sp>
      <p:sp>
        <p:nvSpPr>
          <p:cNvPr id="87" name="Shape 85"/>
          <p:cNvSpPr/>
          <p:nvPr/>
        </p:nvSpPr>
        <p:spPr>
          <a:xfrm>
            <a:off x="2497009" y="2944654"/>
            <a:ext cx="40005" cy="4000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88" name="Text 86"/>
          <p:cNvSpPr/>
          <p:nvPr/>
        </p:nvSpPr>
        <p:spPr>
          <a:xfrm>
            <a:off x="2577019" y="2893219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10" b="1" dirty="0">
                <a:solidFill>
                  <a:srgbClr val="F5F1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人才培养</a:t>
            </a:r>
            <a:endParaRPr lang="en-US" sz="810" dirty="0"/>
          </a:p>
        </p:txBody>
      </p:sp>
      <p:sp>
        <p:nvSpPr>
          <p:cNvPr id="89" name="Text 87"/>
          <p:cNvSpPr/>
          <p:nvPr/>
        </p:nvSpPr>
        <p:spPr>
          <a:xfrm>
            <a:off x="2497009" y="3067526"/>
            <a:ext cx="206065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F5F1E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带新人、带小团队是最持久的社区贡献，一次投入换来长期的复利。</a:t>
            </a:r>
            <a:endParaRPr lang="en-US" sz="563" dirty="0"/>
          </a:p>
        </p:txBody>
      </p:sp>
      <p:sp>
        <p:nvSpPr>
          <p:cNvPr id="90" name="Shape 88"/>
          <p:cNvSpPr/>
          <p:nvPr/>
        </p:nvSpPr>
        <p:spPr>
          <a:xfrm>
            <a:off x="2497009" y="3334703"/>
            <a:ext cx="364867" cy="97155"/>
          </a:xfrm>
          <a:prstGeom prst="rect">
            <a:avLst/>
          </a:prstGeom>
          <a:noFill/>
          <a:ln w="5715">
            <a:solidFill>
              <a:srgbClr val="F5F1EA">
                <a:alpha val="35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97009" y="3334703"/>
            <a:ext cx="419160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</a:t>
            </a:r>
            <a:endParaRPr lang="en-US" sz="428" dirty="0"/>
          </a:p>
        </p:txBody>
      </p:sp>
      <p:sp>
        <p:nvSpPr>
          <p:cNvPr id="92" name="Shape 90"/>
          <p:cNvSpPr/>
          <p:nvPr/>
        </p:nvSpPr>
        <p:spPr>
          <a:xfrm>
            <a:off x="2896166" y="3334703"/>
            <a:ext cx="277535" cy="97155"/>
          </a:xfrm>
          <a:prstGeom prst="rect">
            <a:avLst/>
          </a:prstGeom>
          <a:noFill/>
          <a:ln w="5715">
            <a:solidFill>
              <a:srgbClr val="F5F1EA">
                <a:alpha val="3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96166" y="3334703"/>
            <a:ext cx="331827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428" dirty="0"/>
          </a:p>
        </p:txBody>
      </p:sp>
      <p:sp>
        <p:nvSpPr>
          <p:cNvPr id="94" name="Shape 92"/>
          <p:cNvSpPr/>
          <p:nvPr/>
        </p:nvSpPr>
        <p:spPr>
          <a:xfrm>
            <a:off x="3207990" y="3334703"/>
            <a:ext cx="353437" cy="97155"/>
          </a:xfrm>
          <a:prstGeom prst="rect">
            <a:avLst/>
          </a:prstGeom>
          <a:noFill/>
          <a:ln w="5715">
            <a:solidFill>
              <a:srgbClr val="F5F1EA">
                <a:alpha val="35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7990" y="3334703"/>
            <a:ext cx="407730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spc="51" kern="0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</a:t>
            </a:r>
            <a:endParaRPr lang="en-US" sz="428" dirty="0"/>
          </a:p>
        </p:txBody>
      </p:sp>
      <p:sp>
        <p:nvSpPr>
          <p:cNvPr id="96" name="Text 94"/>
          <p:cNvSpPr/>
          <p:nvPr/>
        </p:nvSpPr>
        <p:spPr>
          <a:xfrm>
            <a:off x="4639776" y="1680210"/>
            <a:ext cx="23031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585" dirty="0"/>
          </a:p>
        </p:txBody>
      </p:sp>
      <p:sp>
        <p:nvSpPr>
          <p:cNvPr id="97" name="Text 95"/>
          <p:cNvSpPr/>
          <p:nvPr/>
        </p:nvSpPr>
        <p:spPr>
          <a:xfrm>
            <a:off x="4776936" y="1683068"/>
            <a:ext cx="6703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7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影响力层级递进</a:t>
            </a:r>
            <a:endParaRPr lang="en-US" sz="495" dirty="0"/>
          </a:p>
        </p:txBody>
      </p:sp>
      <p:sp>
        <p:nvSpPr>
          <p:cNvPr id="98" name="Shape 96"/>
          <p:cNvSpPr/>
          <p:nvPr/>
        </p:nvSpPr>
        <p:spPr>
          <a:xfrm>
            <a:off x="5432643" y="1725930"/>
            <a:ext cx="3368457" cy="5715"/>
          </a:xfrm>
          <a:prstGeom prst="rect">
            <a:avLst/>
          </a:prstGeom>
          <a:solidFill>
            <a:srgbClr val="0D2137">
              <a:alpha val="14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639776" y="1845945"/>
            <a:ext cx="4161324" cy="2691051"/>
          </a:xfrm>
          <a:prstGeom prst="rect">
            <a:avLst/>
          </a:prstGeom>
          <a:solidFill>
            <a:srgbClr val="FBF8F2"/>
          </a:solidFill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59791" y="1931670"/>
            <a:ext cx="117834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4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Progression · 使用 → 贡献 → 治理</a:t>
            </a:r>
            <a:endParaRPr lang="en-US" sz="495" dirty="0"/>
          </a:p>
        </p:txBody>
      </p:sp>
      <p:sp>
        <p:nvSpPr>
          <p:cNvPr id="101" name="Text 99"/>
          <p:cNvSpPr/>
          <p:nvPr/>
        </p:nvSpPr>
        <p:spPr>
          <a:xfrm>
            <a:off x="8094672" y="1934528"/>
            <a:ext cx="65678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08" kern="0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影响力层级递增</a:t>
            </a:r>
            <a:endParaRPr lang="en-US" sz="450" dirty="0"/>
          </a:p>
        </p:txBody>
      </p:sp>
      <p:sp>
        <p:nvSpPr>
          <p:cNvPr id="102" name="Shape 100"/>
          <p:cNvSpPr/>
          <p:nvPr/>
        </p:nvSpPr>
        <p:spPr>
          <a:xfrm>
            <a:off x="4759791" y="2791510"/>
            <a:ext cx="1261318" cy="1264354"/>
          </a:xfrm>
          <a:prstGeom prst="rect">
            <a:avLst/>
          </a:prstGeom>
          <a:solidFill>
            <a:srgbClr val="0D2137">
              <a:alpha val="75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4828371" y="2848660"/>
            <a:ext cx="12590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79" kern="0" dirty="0">
                <a:solidFill>
                  <a:srgbClr val="F5F1EA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STAGE 01</a:t>
            </a:r>
            <a:endParaRPr lang="en-US" sz="495" dirty="0"/>
          </a:p>
        </p:txBody>
      </p:sp>
      <p:sp>
        <p:nvSpPr>
          <p:cNvPr id="104" name="Text 102"/>
          <p:cNvSpPr/>
          <p:nvPr/>
        </p:nvSpPr>
        <p:spPr>
          <a:xfrm>
            <a:off x="4828371" y="2957245"/>
            <a:ext cx="1259057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F5F1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使用</a:t>
            </a:r>
            <a:endParaRPr lang="en-US" sz="990" dirty="0"/>
          </a:p>
        </p:txBody>
      </p:sp>
      <p:sp>
        <p:nvSpPr>
          <p:cNvPr id="105" name="Text 103"/>
          <p:cNvSpPr/>
          <p:nvPr/>
        </p:nvSpPr>
        <p:spPr>
          <a:xfrm>
            <a:off x="4828371" y="3118336"/>
            <a:ext cx="125905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F5F1EA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450" dirty="0"/>
          </a:p>
        </p:txBody>
      </p:sp>
      <p:sp>
        <p:nvSpPr>
          <p:cNvPr id="106" name="Text 104"/>
          <p:cNvSpPr/>
          <p:nvPr/>
        </p:nvSpPr>
        <p:spPr>
          <a:xfrm>
            <a:off x="4828371" y="3232636"/>
            <a:ext cx="1259057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跑起来、给反馈、提 issue，成为社区的第一层数据。</a:t>
            </a:r>
            <a:endParaRPr lang="en-US" sz="518" dirty="0"/>
          </a:p>
        </p:txBody>
      </p:sp>
      <p:sp>
        <p:nvSpPr>
          <p:cNvPr id="107" name="Shape 105"/>
          <p:cNvSpPr/>
          <p:nvPr/>
        </p:nvSpPr>
        <p:spPr>
          <a:xfrm>
            <a:off x="4828371" y="3821549"/>
            <a:ext cx="1124158" cy="177165"/>
          </a:xfrm>
          <a:prstGeom prst="rect">
            <a:avLst/>
          </a:prstGeom>
          <a:noFill/>
          <a:ln/>
        </p:spPr>
      </p:sp>
      <p:sp>
        <p:nvSpPr>
          <p:cNvPr id="108" name="Shape 106"/>
          <p:cNvSpPr/>
          <p:nvPr/>
        </p:nvSpPr>
        <p:spPr>
          <a:xfrm>
            <a:off x="4828371" y="3821549"/>
            <a:ext cx="1124158" cy="0"/>
          </a:xfrm>
          <a:prstGeom prst="line">
            <a:avLst/>
          </a:prstGeom>
          <a:noFill/>
          <a:ln w="5715">
            <a:solidFill>
              <a:srgbClr val="F5F1EA">
                <a:alpha val="2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28371" y="3887272"/>
            <a:ext cx="18752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F5F1E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起点</a:t>
            </a:r>
            <a:endParaRPr lang="en-US" sz="450" dirty="0"/>
          </a:p>
        </p:txBody>
      </p:sp>
      <p:sp>
        <p:nvSpPr>
          <p:cNvPr id="110" name="Text 108"/>
          <p:cNvSpPr/>
          <p:nvPr/>
        </p:nvSpPr>
        <p:spPr>
          <a:xfrm>
            <a:off x="5849660" y="3861554"/>
            <a:ext cx="24688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L1</a:t>
            </a:r>
            <a:endParaRPr lang="en-US" sz="810" dirty="0"/>
          </a:p>
        </p:txBody>
      </p:sp>
      <p:sp>
        <p:nvSpPr>
          <p:cNvPr id="111" name="Text 109"/>
          <p:cNvSpPr/>
          <p:nvPr/>
        </p:nvSpPr>
        <p:spPr>
          <a:xfrm>
            <a:off x="6043970" y="3010912"/>
            <a:ext cx="155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6089690" y="2435929"/>
            <a:ext cx="1261408" cy="161993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3" name="Text 111"/>
          <p:cNvSpPr/>
          <p:nvPr/>
        </p:nvSpPr>
        <p:spPr>
          <a:xfrm>
            <a:off x="6158270" y="2493079"/>
            <a:ext cx="12591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79" kern="0" dirty="0">
                <a:solidFill>
                  <a:srgbClr val="F5F1EA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STAGE 02</a:t>
            </a:r>
            <a:endParaRPr lang="en-US" sz="495" dirty="0"/>
          </a:p>
        </p:txBody>
      </p:sp>
      <p:sp>
        <p:nvSpPr>
          <p:cNvPr id="114" name="Text 112"/>
          <p:cNvSpPr/>
          <p:nvPr/>
        </p:nvSpPr>
        <p:spPr>
          <a:xfrm>
            <a:off x="6158270" y="2601664"/>
            <a:ext cx="1259157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F5F1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贡献</a:t>
            </a:r>
            <a:endParaRPr lang="en-US" sz="990" dirty="0"/>
          </a:p>
        </p:txBody>
      </p:sp>
      <p:sp>
        <p:nvSpPr>
          <p:cNvPr id="115" name="Text 113"/>
          <p:cNvSpPr/>
          <p:nvPr/>
        </p:nvSpPr>
        <p:spPr>
          <a:xfrm>
            <a:off x="6158270" y="2762756"/>
            <a:ext cx="125915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F5F1EA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</a:t>
            </a:r>
            <a:endParaRPr lang="en-US" sz="450" dirty="0"/>
          </a:p>
        </p:txBody>
      </p:sp>
      <p:sp>
        <p:nvSpPr>
          <p:cNvPr id="116" name="Text 114"/>
          <p:cNvSpPr/>
          <p:nvPr/>
        </p:nvSpPr>
        <p:spPr>
          <a:xfrm>
            <a:off x="6158270" y="2877056"/>
            <a:ext cx="1259157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 PR、写文档、答疑讨论，进入可被记录的名册。</a:t>
            </a:r>
            <a:endParaRPr lang="en-US" sz="518" dirty="0"/>
          </a:p>
        </p:txBody>
      </p:sp>
      <p:sp>
        <p:nvSpPr>
          <p:cNvPr id="117" name="Shape 115"/>
          <p:cNvSpPr/>
          <p:nvPr/>
        </p:nvSpPr>
        <p:spPr>
          <a:xfrm>
            <a:off x="6158270" y="3821549"/>
            <a:ext cx="1124248" cy="177165"/>
          </a:xfrm>
          <a:prstGeom prst="rect">
            <a:avLst/>
          </a:prstGeom>
          <a:noFill/>
          <a:ln/>
        </p:spPr>
      </p:sp>
      <p:sp>
        <p:nvSpPr>
          <p:cNvPr id="118" name="Shape 116"/>
          <p:cNvSpPr/>
          <p:nvPr/>
        </p:nvSpPr>
        <p:spPr>
          <a:xfrm>
            <a:off x="6158270" y="3821549"/>
            <a:ext cx="1124248" cy="0"/>
          </a:xfrm>
          <a:prstGeom prst="line">
            <a:avLst/>
          </a:prstGeom>
          <a:noFill/>
          <a:ln w="5715">
            <a:solidFill>
              <a:srgbClr val="F5F1EA">
                <a:alpha val="20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58270" y="3887272"/>
            <a:ext cx="18752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F5F1E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合入</a:t>
            </a:r>
            <a:endParaRPr lang="en-US" sz="450" dirty="0"/>
          </a:p>
        </p:txBody>
      </p:sp>
      <p:sp>
        <p:nvSpPr>
          <p:cNvPr id="120" name="Text 118"/>
          <p:cNvSpPr/>
          <p:nvPr/>
        </p:nvSpPr>
        <p:spPr>
          <a:xfrm>
            <a:off x="7168217" y="3861554"/>
            <a:ext cx="24688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L2</a:t>
            </a:r>
            <a:endParaRPr lang="en-US" sz="810" dirty="0"/>
          </a:p>
        </p:txBody>
      </p:sp>
      <p:sp>
        <p:nvSpPr>
          <p:cNvPr id="121" name="Text 119"/>
          <p:cNvSpPr/>
          <p:nvPr/>
        </p:nvSpPr>
        <p:spPr>
          <a:xfrm>
            <a:off x="7373957" y="3010912"/>
            <a:ext cx="155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7419677" y="2080260"/>
            <a:ext cx="1261408" cy="1975604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23" name="Text 121"/>
          <p:cNvSpPr/>
          <p:nvPr/>
        </p:nvSpPr>
        <p:spPr>
          <a:xfrm>
            <a:off x="7488257" y="2137410"/>
            <a:ext cx="12591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79" kern="0" dirty="0">
                <a:solidFill>
                  <a:srgbClr val="F5F1EA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STAGE 03</a:t>
            </a:r>
            <a:endParaRPr lang="en-US" sz="495" dirty="0"/>
          </a:p>
        </p:txBody>
      </p:sp>
      <p:sp>
        <p:nvSpPr>
          <p:cNvPr id="124" name="Text 122"/>
          <p:cNvSpPr/>
          <p:nvPr/>
        </p:nvSpPr>
        <p:spPr>
          <a:xfrm>
            <a:off x="7488257" y="2245995"/>
            <a:ext cx="1259157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F5F1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</a:t>
            </a:r>
            <a:endParaRPr lang="en-US" sz="990" dirty="0"/>
          </a:p>
        </p:txBody>
      </p:sp>
      <p:sp>
        <p:nvSpPr>
          <p:cNvPr id="125" name="Text 123"/>
          <p:cNvSpPr/>
          <p:nvPr/>
        </p:nvSpPr>
        <p:spPr>
          <a:xfrm>
            <a:off x="7488257" y="2407087"/>
            <a:ext cx="125915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F5F1EA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GOVERNOR</a:t>
            </a:r>
            <a:endParaRPr lang="en-US" sz="450" dirty="0"/>
          </a:p>
        </p:txBody>
      </p:sp>
      <p:sp>
        <p:nvSpPr>
          <p:cNvPr id="126" name="Text 124"/>
          <p:cNvSpPr/>
          <p:nvPr/>
        </p:nvSpPr>
        <p:spPr>
          <a:xfrm>
            <a:off x="7488257" y="2521387"/>
            <a:ext cx="1259157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F5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维护者、委员会成员，参与路线图、协议与决策流程。</a:t>
            </a:r>
            <a:endParaRPr lang="en-US" sz="518" dirty="0"/>
          </a:p>
        </p:txBody>
      </p:sp>
      <p:sp>
        <p:nvSpPr>
          <p:cNvPr id="127" name="Shape 125"/>
          <p:cNvSpPr/>
          <p:nvPr/>
        </p:nvSpPr>
        <p:spPr>
          <a:xfrm>
            <a:off x="7488257" y="3821549"/>
            <a:ext cx="1124248" cy="177165"/>
          </a:xfrm>
          <a:prstGeom prst="rect">
            <a:avLst/>
          </a:prstGeom>
          <a:noFill/>
          <a:ln/>
        </p:spPr>
      </p:sp>
      <p:sp>
        <p:nvSpPr>
          <p:cNvPr id="128" name="Shape 126"/>
          <p:cNvSpPr/>
          <p:nvPr/>
        </p:nvSpPr>
        <p:spPr>
          <a:xfrm>
            <a:off x="7488257" y="3821549"/>
            <a:ext cx="1124248" cy="0"/>
          </a:xfrm>
          <a:prstGeom prst="line">
            <a:avLst/>
          </a:prstGeom>
          <a:noFill/>
          <a:ln w="5715">
            <a:solidFill>
              <a:srgbClr val="F5F1EA">
                <a:alpha val="20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88257" y="3887272"/>
            <a:ext cx="18752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F5F1E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</a:t>
            </a:r>
            <a:endParaRPr lang="en-US" sz="450" dirty="0"/>
          </a:p>
        </p:txBody>
      </p:sp>
      <p:sp>
        <p:nvSpPr>
          <p:cNvPr id="130" name="Text 128"/>
          <p:cNvSpPr/>
          <p:nvPr/>
        </p:nvSpPr>
        <p:spPr>
          <a:xfrm>
            <a:off x="8498205" y="3861554"/>
            <a:ext cx="24688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L3</a:t>
            </a:r>
            <a:endParaRPr lang="en-US" sz="810" dirty="0"/>
          </a:p>
        </p:txBody>
      </p:sp>
      <p:sp>
        <p:nvSpPr>
          <p:cNvPr id="131" name="Shape 129"/>
          <p:cNvSpPr/>
          <p:nvPr/>
        </p:nvSpPr>
        <p:spPr>
          <a:xfrm>
            <a:off x="4759791" y="4124444"/>
            <a:ext cx="3921294" cy="326827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32" name="Text 130"/>
          <p:cNvSpPr/>
          <p:nvPr/>
        </p:nvSpPr>
        <p:spPr>
          <a:xfrm>
            <a:off x="4851231" y="4215884"/>
            <a:ext cx="349758" cy="14394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620" b="1" i="1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=</a:t>
            </a:r>
            <a:endParaRPr lang="en-US" sz="1620" dirty="0"/>
          </a:p>
        </p:txBody>
      </p:sp>
      <p:sp>
        <p:nvSpPr>
          <p:cNvPr id="133" name="Text 131"/>
          <p:cNvSpPr/>
          <p:nvPr/>
        </p:nvSpPr>
        <p:spPr>
          <a:xfrm>
            <a:off x="5062686" y="4187309"/>
            <a:ext cx="3267208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5F1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带新人 · 是复利最高的长期贡献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5062686" y="4308396"/>
            <a:ext cx="326720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9" kern="0" dirty="0">
                <a:solidFill>
                  <a:srgbClr val="F5F1E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MENTORSHIP · COMPOUNDING RETURN</a:t>
            </a:r>
            <a:endParaRPr lang="en-US" sz="495" dirty="0"/>
          </a:p>
        </p:txBody>
      </p:sp>
      <p:sp>
        <p:nvSpPr>
          <p:cNvPr id="135" name="Text 133"/>
          <p:cNvSpPr/>
          <p:nvPr/>
        </p:nvSpPr>
        <p:spPr>
          <a:xfrm>
            <a:off x="8059847" y="4187845"/>
            <a:ext cx="593374" cy="19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495" spc="79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 位导师</a:t>
            </a:r>
            <a:pPr algn="r" indent="0" marL="0">
              <a:lnSpc>
                <a:spcPct val="140000"/>
              </a:lnSpc>
              <a:buNone/>
            </a:pPr>
            <a:endParaRPr lang="en-US" sz="495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630" b="1" spc="79" kern="0" dirty="0">
                <a:solidFill>
                  <a:srgbClr val="F5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 N 位贡献者</a:t>
            </a:r>
            <a:endParaRPr lang="en-US" sz="495" dirty="0"/>
          </a:p>
        </p:txBody>
      </p:sp>
      <p:sp>
        <p:nvSpPr>
          <p:cNvPr id="136" name="Shape 134"/>
          <p:cNvSpPr/>
          <p:nvPr/>
        </p:nvSpPr>
        <p:spPr>
          <a:xfrm>
            <a:off x="342900" y="4485561"/>
            <a:ext cx="8458200" cy="429339"/>
          </a:xfrm>
          <a:prstGeom prst="rect">
            <a:avLst/>
          </a:prstGeom>
          <a:noFill/>
          <a:ln/>
        </p:spPr>
      </p:sp>
      <p:sp>
        <p:nvSpPr>
          <p:cNvPr id="137" name="Shape 135"/>
          <p:cNvSpPr/>
          <p:nvPr/>
        </p:nvSpPr>
        <p:spPr>
          <a:xfrm>
            <a:off x="342900" y="4485561"/>
            <a:ext cx="84582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2900" y="4588431"/>
            <a:ext cx="493776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620" dirty="0"/>
          </a:p>
        </p:txBody>
      </p:sp>
      <p:sp>
        <p:nvSpPr>
          <p:cNvPr id="139" name="Shape 137"/>
          <p:cNvSpPr/>
          <p:nvPr/>
        </p:nvSpPr>
        <p:spPr>
          <a:xfrm>
            <a:off x="342900" y="4588431"/>
            <a:ext cx="137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0" name="Text 138"/>
          <p:cNvSpPr/>
          <p:nvPr/>
        </p:nvSpPr>
        <p:spPr>
          <a:xfrm>
            <a:off x="685800" y="4577001"/>
            <a:ext cx="270533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四种可量化贡献</a:t>
            </a:r>
            <a:endParaRPr lang="en-US" sz="675" dirty="0"/>
          </a:p>
        </p:txBody>
      </p:sp>
      <p:sp>
        <p:nvSpPr>
          <p:cNvPr id="141" name="Text 139"/>
          <p:cNvSpPr/>
          <p:nvPr/>
        </p:nvSpPr>
        <p:spPr>
          <a:xfrm>
            <a:off x="685800" y="4711303"/>
            <a:ext cx="2705338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贡献形态涵盖</a:t>
            </a:r>
            <a:pPr algn="l" indent="0" marL="0">
              <a:lnSpc>
                <a:spcPct val="155000"/>
              </a:lnSpc>
              <a:buNone/>
            </a:pPr>
            <a:r>
              <a:rPr lang="en-US" sz="518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代码、文档、答疑、治理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四种，每一条都可被追踪、复盘、度量。</a:t>
            </a:r>
            <a:endParaRPr lang="en-US" sz="518" dirty="0"/>
          </a:p>
        </p:txBody>
      </p:sp>
      <p:sp>
        <p:nvSpPr>
          <p:cNvPr id="142" name="Text 140"/>
          <p:cNvSpPr/>
          <p:nvPr/>
        </p:nvSpPr>
        <p:spPr>
          <a:xfrm>
            <a:off x="3192720" y="4588431"/>
            <a:ext cx="493776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620" dirty="0"/>
          </a:p>
        </p:txBody>
      </p:sp>
      <p:sp>
        <p:nvSpPr>
          <p:cNvPr id="143" name="Shape 141"/>
          <p:cNvSpPr/>
          <p:nvPr/>
        </p:nvSpPr>
        <p:spPr>
          <a:xfrm>
            <a:off x="3192720" y="4588431"/>
            <a:ext cx="137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4" name="Text 142"/>
          <p:cNvSpPr/>
          <p:nvPr/>
        </p:nvSpPr>
        <p:spPr>
          <a:xfrm>
            <a:off x="3535620" y="4577001"/>
            <a:ext cx="270543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从参与者到决策者</a:t>
            </a:r>
            <a:endParaRPr lang="en-US" sz="675" dirty="0"/>
          </a:p>
        </p:txBody>
      </p:sp>
      <p:sp>
        <p:nvSpPr>
          <p:cNvPr id="145" name="Text 143"/>
          <p:cNvSpPr/>
          <p:nvPr/>
        </p:nvSpPr>
        <p:spPr>
          <a:xfrm>
            <a:off x="3535620" y="4711303"/>
            <a:ext cx="2705438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影响力层级是一次清晰的跃迁：</a:t>
            </a:r>
            <a:pPr algn="l" indent="0" marL="0">
              <a:lnSpc>
                <a:spcPct val="155000"/>
              </a:lnSpc>
              <a:buNone/>
            </a:pPr>
            <a:r>
              <a:rPr lang="en-US" sz="518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使用者 → 贡献者 → 治理者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，角色越深，可观察性越强。</a:t>
            </a:r>
            <a:endParaRPr lang="en-US" sz="518" dirty="0"/>
          </a:p>
        </p:txBody>
      </p:sp>
      <p:sp>
        <p:nvSpPr>
          <p:cNvPr id="146" name="Text 144"/>
          <p:cNvSpPr/>
          <p:nvPr/>
        </p:nvSpPr>
        <p:spPr>
          <a:xfrm>
            <a:off x="6042630" y="4588431"/>
            <a:ext cx="493776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620" dirty="0"/>
          </a:p>
        </p:txBody>
      </p:sp>
      <p:sp>
        <p:nvSpPr>
          <p:cNvPr id="147" name="Shape 145"/>
          <p:cNvSpPr/>
          <p:nvPr/>
        </p:nvSpPr>
        <p:spPr>
          <a:xfrm>
            <a:off x="6042630" y="4588431"/>
            <a:ext cx="13716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8" name="Text 146"/>
          <p:cNvSpPr/>
          <p:nvPr/>
        </p:nvSpPr>
        <p:spPr>
          <a:xfrm>
            <a:off x="6385530" y="4577001"/>
            <a:ext cx="270533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人才培养 · 长期复利</a:t>
            </a:r>
            <a:endParaRPr lang="en-US" sz="675" dirty="0"/>
          </a:p>
        </p:txBody>
      </p:sp>
      <p:sp>
        <p:nvSpPr>
          <p:cNvPr id="149" name="Text 147"/>
          <p:cNvSpPr/>
          <p:nvPr/>
        </p:nvSpPr>
        <p:spPr>
          <a:xfrm>
            <a:off x="6385530" y="4711303"/>
            <a:ext cx="2705338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带新人、带小团队是</a:t>
            </a:r>
            <a:pPr algn="l" indent="0" marL="0">
              <a:lnSpc>
                <a:spcPct val="155000"/>
              </a:lnSpc>
              <a:buNone/>
            </a:pPr>
            <a:r>
              <a:rPr lang="en-US" sz="518" b="1" dirty="0">
                <a:solidFill>
                  <a:srgbClr val="C2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复利最高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4A57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的形式，一次投入换来多年持续可见的社区增量。</a:t>
            </a:r>
            <a:endParaRPr lang="en-US" sz="51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7180" y="548640"/>
            <a:ext cx="5715" cy="4091940"/>
          </a:xfrm>
          <a:prstGeom prst="rect">
            <a:avLst/>
          </a:prstGeom>
          <a:solidFill>
            <a:srgbClr val="0D2137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41105" y="548640"/>
            <a:ext cx="5715" cy="4091940"/>
          </a:xfrm>
          <a:prstGeom prst="rect">
            <a:avLst/>
          </a:prstGeom>
          <a:solidFill>
            <a:srgbClr val="0D2137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95385" y="320040"/>
            <a:ext cx="28575" cy="28575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4794885"/>
            <a:ext cx="28575" cy="28575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97180"/>
            <a:ext cx="8138160" cy="16573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02920" y="462915"/>
            <a:ext cx="8138160" cy="0"/>
          </a:xfrm>
          <a:prstGeom prst="line">
            <a:avLst/>
          </a:prstGeom>
          <a:noFill/>
          <a:ln w="5715">
            <a:solidFill>
              <a:srgbClr val="0D2137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20040"/>
            <a:ext cx="34290" cy="34290"/>
          </a:xfrm>
          <a:prstGeom prst="ellipse">
            <a:avLst/>
          </a:prstGeom>
          <a:solidFill>
            <a:srgbClr val="C2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5790" y="297180"/>
            <a:ext cx="144788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14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SOURCE JOURNAL</a:t>
            </a:r>
            <a:endParaRPr lang="en-US" sz="518" dirty="0"/>
          </a:p>
        </p:txBody>
      </p:sp>
      <p:sp>
        <p:nvSpPr>
          <p:cNvPr id="11" name="Text 9"/>
          <p:cNvSpPr/>
          <p:nvPr/>
        </p:nvSpPr>
        <p:spPr>
          <a:xfrm>
            <a:off x="1967121" y="297180"/>
            <a:ext cx="4702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14" kern="0" dirty="0">
                <a:solidFill>
                  <a:srgbClr val="0D2137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VOL. 01</a:t>
            </a:r>
            <a:endParaRPr lang="en-US" sz="518" dirty="0"/>
          </a:p>
        </p:txBody>
      </p:sp>
      <p:sp>
        <p:nvSpPr>
          <p:cNvPr id="12" name="Text 10"/>
          <p:cNvSpPr/>
          <p:nvPr/>
        </p:nvSpPr>
        <p:spPr>
          <a:xfrm>
            <a:off x="4594503" y="297180"/>
            <a:ext cx="116734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0D2137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MAGAZINE EDITORIAL</a:t>
            </a:r>
            <a:endParaRPr lang="en-US" sz="495" dirty="0"/>
          </a:p>
        </p:txBody>
      </p:sp>
      <p:sp>
        <p:nvSpPr>
          <p:cNvPr id="13" name="Text 11"/>
          <p:cNvSpPr/>
          <p:nvPr/>
        </p:nvSpPr>
        <p:spPr>
          <a:xfrm>
            <a:off x="7859554" y="297180"/>
            <a:ext cx="87530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55" kern="0" dirty="0">
                <a:solidFill>
                  <a:srgbClr val="0D2137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01 · 2025</a:t>
            </a:r>
            <a:endParaRPr lang="en-US" sz="518" dirty="0"/>
          </a:p>
        </p:txBody>
      </p:sp>
      <p:sp>
        <p:nvSpPr>
          <p:cNvPr id="14" name="Text 12"/>
          <p:cNvSpPr/>
          <p:nvPr/>
        </p:nvSpPr>
        <p:spPr>
          <a:xfrm>
            <a:off x="502920" y="634365"/>
            <a:ext cx="911473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i="1" spc="41" kern="0" dirty="0">
                <a:solidFill>
                  <a:srgbClr val="0D2137">
                    <a:alpha val="4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尾页 · Colophon —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848302" y="702945"/>
            <a:ext cx="4041666" cy="8572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80" b="1" spc="74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与开源同行</a:t>
            </a:r>
            <a:endParaRPr lang="en-US" sz="4680" dirty="0"/>
          </a:p>
        </p:txBody>
      </p:sp>
      <p:sp>
        <p:nvSpPr>
          <p:cNvPr id="16" name="Shape 14"/>
          <p:cNvSpPr/>
          <p:nvPr/>
        </p:nvSpPr>
        <p:spPr>
          <a:xfrm>
            <a:off x="1870502" y="1664137"/>
            <a:ext cx="34290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2327702" y="1589842"/>
            <a:ext cx="267683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i="1" spc="36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May you be both a reader, and an evangelist.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2033" y="1578412"/>
            <a:ext cx="2222378" cy="177165"/>
          </a:xfrm>
          <a:prstGeom prst="rect">
            <a:avLst/>
          </a:prstGeom>
          <a:noFill/>
          <a:ln/>
        </p:spPr>
        <p:txBody>
          <a:bodyPr wrap="none" lIns="0" tIns="22860" rIns="0" bIns="0" rtlCol="0" anchor="ctr"/>
          <a:lstStyle/>
          <a:p>
            <a:pPr algn="ctr" indent="0" marL="0">
              <a:buNone/>
            </a:pPr>
            <a:r>
              <a:rPr lang="en-US" sz="990" spc="29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愿你既是读者，也是布道者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6930598" y="1664137"/>
            <a:ext cx="342900" cy="571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2518172" y="1938457"/>
            <a:ext cx="4600475" cy="410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分享的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终点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，是另一段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开始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。愿读到这份记录的你，</a:t>
            </a:r>
            <a:pPr algn="ctr" indent="0" marL="0">
              <a:lnSpc>
                <a:spcPct val="205000"/>
              </a:lnSpc>
              <a:buNone/>
            </a:pPr>
            <a:endParaRPr lang="en-US" sz="788" dirty="0"/>
          </a:p>
          <a:p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从「读完即忘」，变成「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读完即做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」——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读进去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写出来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pPr algn="ctr" indent="0" marL="0">
              <a:lnSpc>
                <a:spcPct val="205000"/>
              </a:lnSpc>
              <a:buNone/>
            </a:pPr>
            <a:r>
              <a:rPr lang="en-US" sz="788" b="1" spc="1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讲出去</a:t>
            </a:r>
            <a:pPr algn="ctr" indent="0" marL="0">
              <a:lnSpc>
                <a:spcPct val="205000"/>
              </a:lnSpc>
              <a:buNone/>
            </a:pPr>
            <a:r>
              <a:rPr lang="en-US" sz="788" spc="16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，也邀请更多人加入。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617220" y="2577108"/>
            <a:ext cx="2491740" cy="1094601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17220" y="2577108"/>
            <a:ext cx="249174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" y="2568535"/>
            <a:ext cx="320040" cy="1714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24" name="Text 22"/>
          <p:cNvSpPr/>
          <p:nvPr/>
        </p:nvSpPr>
        <p:spPr>
          <a:xfrm>
            <a:off x="788670" y="2742843"/>
            <a:ext cx="24195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8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CHAPTER · 01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788670" y="2742843"/>
            <a:ext cx="1460005" cy="5715"/>
          </a:xfrm>
          <a:prstGeom prst="rect">
            <a:avLst/>
          </a:prstGeom>
          <a:solidFill>
            <a:srgbClr val="C23D2E">
              <a:alpha val="3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8670" y="2920008"/>
            <a:ext cx="2419502" cy="208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15" spc="9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从今天开始</a:t>
            </a:r>
            <a:endParaRPr lang="en-US" sz="1215" dirty="0"/>
          </a:p>
        </p:txBody>
      </p:sp>
      <p:sp>
        <p:nvSpPr>
          <p:cNvPr id="27" name="Text 25"/>
          <p:cNvSpPr/>
          <p:nvPr/>
        </p:nvSpPr>
        <p:spPr>
          <a:xfrm>
            <a:off x="788670" y="3208258"/>
            <a:ext cx="2419502" cy="314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读一本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经典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、写一篇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笔记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、做一次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小分享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——就是最好的起点。</a:t>
            </a:r>
            <a:endParaRPr lang="en-US" sz="653" dirty="0"/>
          </a:p>
        </p:txBody>
      </p:sp>
      <p:sp>
        <p:nvSpPr>
          <p:cNvPr id="28" name="Shape 26"/>
          <p:cNvSpPr/>
          <p:nvPr/>
        </p:nvSpPr>
        <p:spPr>
          <a:xfrm>
            <a:off x="3326130" y="2577108"/>
            <a:ext cx="2491740" cy="1094601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3326130" y="2577108"/>
            <a:ext cx="249174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6130" y="2568535"/>
            <a:ext cx="320040" cy="1714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1" name="Text 29"/>
          <p:cNvSpPr/>
          <p:nvPr/>
        </p:nvSpPr>
        <p:spPr>
          <a:xfrm>
            <a:off x="3497580" y="2742843"/>
            <a:ext cx="24195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8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CHAPTER · 02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3497580" y="2742843"/>
            <a:ext cx="1448575" cy="5715"/>
          </a:xfrm>
          <a:prstGeom prst="rect">
            <a:avLst/>
          </a:prstGeom>
          <a:solidFill>
            <a:srgbClr val="C23D2E">
              <a:alpha val="3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97580" y="2920008"/>
            <a:ext cx="2419502" cy="208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15" spc="9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保持长期主义</a:t>
            </a:r>
            <a:endParaRPr lang="en-US" sz="1215" dirty="0"/>
          </a:p>
        </p:txBody>
      </p:sp>
      <p:sp>
        <p:nvSpPr>
          <p:cNvPr id="34" name="Text 32"/>
          <p:cNvSpPr/>
          <p:nvPr/>
        </p:nvSpPr>
        <p:spPr>
          <a:xfrm>
            <a:off x="3497580" y="3208258"/>
            <a:ext cx="2419502" cy="314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开源的意义在于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C23D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复利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，一次分享，可能被未来的人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复用千次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653" dirty="0"/>
          </a:p>
        </p:txBody>
      </p:sp>
      <p:sp>
        <p:nvSpPr>
          <p:cNvPr id="35" name="Shape 33"/>
          <p:cNvSpPr/>
          <p:nvPr/>
        </p:nvSpPr>
        <p:spPr>
          <a:xfrm>
            <a:off x="6035040" y="2577108"/>
            <a:ext cx="2491740" cy="1094601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6035040" y="2577108"/>
            <a:ext cx="249174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2568535"/>
            <a:ext cx="320040" cy="17145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38" name="Text 36"/>
          <p:cNvSpPr/>
          <p:nvPr/>
        </p:nvSpPr>
        <p:spPr>
          <a:xfrm>
            <a:off x="6206490" y="2742843"/>
            <a:ext cx="24195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88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CHAPTER · 03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206490" y="2742843"/>
            <a:ext cx="1448575" cy="5715"/>
          </a:xfrm>
          <a:prstGeom prst="rect">
            <a:avLst/>
          </a:prstGeom>
          <a:solidFill>
            <a:srgbClr val="C23D2E">
              <a:alpha val="3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06490" y="2920008"/>
            <a:ext cx="2419502" cy="208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15" spc="9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欢迎交流</a:t>
            </a:r>
            <a:endParaRPr lang="en-US" sz="1215" dirty="0"/>
          </a:p>
        </p:txBody>
      </p:sp>
      <p:sp>
        <p:nvSpPr>
          <p:cNvPr id="41" name="Text 39"/>
          <p:cNvSpPr/>
          <p:nvPr/>
        </p:nvSpPr>
        <p:spPr>
          <a:xfrm>
            <a:off x="6206490" y="3208258"/>
            <a:ext cx="2419502" cy="314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开源之道·适兕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，愿意与你一起，把这条</a:t>
            </a:r>
            <a:pPr algn="l" indent="0" marL="0">
              <a:lnSpc>
                <a:spcPct val="190000"/>
              </a:lnSpc>
              <a:buNone/>
            </a:pPr>
            <a:r>
              <a:rPr lang="en-US" sz="653" b="1" spc="10" kern="0" dirty="0">
                <a:solidFill>
                  <a:srgbClr val="C23D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布道之路</a:t>
            </a:r>
            <a:pPr algn="l" indent="0" marL="0">
              <a:lnSpc>
                <a:spcPct val="190000"/>
              </a:lnSpc>
              <a:buNone/>
            </a:pPr>
            <a:r>
              <a:rPr lang="en-US" sz="653" spc="10" kern="0" dirty="0">
                <a:solidFill>
                  <a:srgbClr val="0D2137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走得更远。</a:t>
            </a:r>
            <a:endParaRPr lang="en-US" sz="653" dirty="0"/>
          </a:p>
        </p:txBody>
      </p:sp>
      <p:sp>
        <p:nvSpPr>
          <p:cNvPr id="42" name="Shape 40"/>
          <p:cNvSpPr/>
          <p:nvPr/>
        </p:nvSpPr>
        <p:spPr>
          <a:xfrm>
            <a:off x="502920" y="4454307"/>
            <a:ext cx="3779044" cy="6787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3" name="Text 41"/>
          <p:cNvSpPr/>
          <p:nvPr/>
        </p:nvSpPr>
        <p:spPr>
          <a:xfrm>
            <a:off x="4361974" y="4411980"/>
            <a:ext cx="48854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119" kern="0" dirty="0">
                <a:solidFill>
                  <a:srgbClr val="C23D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END —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4861947" y="4454307"/>
            <a:ext cx="3779133" cy="6787"/>
          </a:xfrm>
          <a:prstGeom prst="rect">
            <a:avLst/>
          </a:prstGeom>
          <a:solidFill>
            <a:srgbClr val="C23D2E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606290"/>
            <a:ext cx="119134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51" kern="0" dirty="0">
                <a:solidFill>
                  <a:srgbClr val="0D2137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473" dirty="0"/>
          </a:p>
        </p:txBody>
      </p:sp>
      <p:sp>
        <p:nvSpPr>
          <p:cNvPr id="46" name="Text 44"/>
          <p:cNvSpPr/>
          <p:nvPr/>
        </p:nvSpPr>
        <p:spPr>
          <a:xfrm>
            <a:off x="502920" y="4726305"/>
            <a:ext cx="1191349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5" b="1" spc="8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下一步：读</a:t>
            </a:r>
            <a:pPr algn="l" indent="0" marL="0">
              <a:buNone/>
            </a:pPr>
            <a:r>
              <a:rPr lang="en-US" sz="855" spc="8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855" b="1" spc="8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</a:t>
            </a:r>
            <a:pPr algn="l" indent="0" marL="0">
              <a:buNone/>
            </a:pPr>
            <a:r>
              <a:rPr lang="en-US" sz="855" spc="86" kern="0" dirty="0">
                <a:solidFill>
                  <a:srgbClr val="C23D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buNone/>
            </a:pPr>
            <a:r>
              <a:rPr lang="en-US" sz="855" b="1" spc="86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讲</a:t>
            </a:r>
            <a:endParaRPr lang="en-US" sz="855" dirty="0"/>
          </a:p>
        </p:txBody>
      </p:sp>
      <p:sp>
        <p:nvSpPr>
          <p:cNvPr id="47" name="Text 45"/>
          <p:cNvSpPr/>
          <p:nvPr/>
        </p:nvSpPr>
        <p:spPr>
          <a:xfrm>
            <a:off x="3684568" y="4772025"/>
            <a:ext cx="117904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i="1" spc="126" kern="0" dirty="0">
                <a:solidFill>
                  <a:srgbClr val="0D2137">
                    <a:alpha val="4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To be continued —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6855232" y="4607451"/>
            <a:ext cx="20001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73" spc="151" kern="0" dirty="0">
                <a:solidFill>
                  <a:srgbClr val="0D2137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· 联系</a:t>
            </a:r>
            <a:endParaRPr lang="en-US" sz="473" dirty="0"/>
          </a:p>
        </p:txBody>
      </p:sp>
      <p:sp>
        <p:nvSpPr>
          <p:cNvPr id="49" name="Text 47"/>
          <p:cNvSpPr/>
          <p:nvPr/>
        </p:nvSpPr>
        <p:spPr>
          <a:xfrm>
            <a:off x="6855232" y="4738896"/>
            <a:ext cx="2000150" cy="14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698" b="1" spc="3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开源之道 · 适兕</a:t>
            </a:r>
            <a:pPr algn="r" indent="0" marL="0">
              <a:lnSpc>
                <a:spcPct val="160000"/>
              </a:lnSpc>
              <a:buNone/>
            </a:pPr>
            <a:r>
              <a:rPr lang="en-US" sz="698" spc="35" kern="0" dirty="0">
                <a:solidFill>
                  <a:srgbClr val="0D2137">
                    <a:alpha val="68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欢迎私信与社区交流</a:t>
            </a:r>
            <a:endParaRPr lang="en-US" sz="69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2026-08-30T18:51:39Z</dcterms:created>
  <dcterms:modified xsi:type="dcterms:W3CDTF">2026-08-30T18:51:39Z</dcterms:modified>
</cp:coreProperties>
</file>