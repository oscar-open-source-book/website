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96F3"/>
              </a:solidFill>
              <a:effectLst/>
            </c:spPr>
          </c:dPt>
          <c:dPt>
            <c:idx val="1"/>
            <c:bubble3D val="0"/>
            <c:spPr>
              <a:solidFill>
                <a:srgbClr val="000000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/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88</c:v>
                </c:pt>
                <c:pt idx="1">
                  <c:v>12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CD4"/>
              </a:solidFill>
              <a:effectLst/>
            </c:spPr>
          </c:dPt>
          <c:dPt>
            <c:idx val="1"/>
            <c:bubble3D val="0"/>
            <c:spPr>
              <a:solidFill>
                <a:srgbClr val="000000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/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93</c:v>
                </c:pt>
                <c:pt idx="1">
                  <c:v>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96F3"/>
              </a:solidFill>
              <a:effectLst/>
            </c:spPr>
          </c:dPt>
          <c:dPt>
            <c:idx val="1"/>
            <c:bubble3D val="0"/>
            <c:spPr>
              <a:solidFill>
                <a:srgbClr val="000000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/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CD4"/>
              </a:solidFill>
              <a:effectLst/>
            </c:spPr>
          </c:dPt>
          <c:dPt>
            <c:idx val="1"/>
            <c:bubble3D val="0"/>
            <c:spPr>
              <a:solidFill>
                <a:srgbClr val="000000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/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72</c:v>
                </c:pt>
                <c:pt idx="1">
                  <c:v>28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96F3"/>
              </a:solidFill>
              <a:effectLst/>
            </c:spPr>
          </c:dPt>
          <c:dPt>
            <c:idx val="1"/>
            <c:bubble3D val="0"/>
            <c:spPr>
              <a:solidFill>
                <a:srgbClr val="000000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/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CD4"/>
              </a:solidFill>
              <a:effectLst/>
            </c:spPr>
          </c:dPt>
          <c:dPt>
            <c:idx val="1"/>
            <c:bubble3D val="0"/>
            <c:spPr>
              <a:solidFill>
                <a:srgbClr val="000000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/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95</c:v>
                </c:pt>
                <c:pt idx="1">
                  <c:v>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5470C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CEFF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470C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1CC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AC85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E666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3C0D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BA27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岗位增长率</c:v>
                  </c:pt>
                  <c:pt idx="1">
                    <c:v>中国贡献排名</c:v>
                  </c:pt>
                  <c:pt idx="2">
                    <c:v>企业采用率</c:v>
                  </c:pt>
                  <c:pt idx="3">
                    <c:v>GitHub活跃度</c:v>
                  </c:pt>
                  <c:pt idx="4">
                    <c:v>市场规模</c:v>
                  </c:pt>
                  <c:pt idx="5">
                    <c:v>Linux影响力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72</c:v>
                </c:pt>
                <c:pt idx="2">
                  <c:v>90</c:v>
                </c:pt>
                <c:pt idx="3">
                  <c:v>93</c:v>
                </c:pt>
                <c:pt idx="4">
                  <c:v>88</c:v>
                </c:pt>
                <c:pt idx="5">
                  <c:v>98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ECEFF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7474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37474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37474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CEFF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CD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97355"/>
            <a:ext cx="914400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394710"/>
            <a:ext cx="914400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Shape 3"/>
          <p:cNvSpPr/>
          <p:nvPr/>
        </p:nvSpPr>
        <p:spPr>
          <a:xfrm>
            <a:off x="3017520" y="0"/>
            <a:ext cx="5715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0"/>
            <a:ext cx="5715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019174"/>
            <a:ext cx="11430" cy="11430"/>
          </a:xfrm>
          <a:prstGeom prst="ellipse">
            <a:avLst/>
          </a:prstGeom>
          <a:solidFill>
            <a:srgbClr val="00BCD4">
              <a:alpha val="25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80160" y="3600450"/>
            <a:ext cx="11430" cy="11430"/>
          </a:xfrm>
          <a:prstGeom prst="ellipse">
            <a:avLst/>
          </a:prstGeom>
          <a:solidFill>
            <a:srgbClr val="2196F3">
              <a:alpha val="50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514350"/>
            <a:ext cx="11430" cy="11430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4371975"/>
            <a:ext cx="11430" cy="11430"/>
          </a:xfrm>
          <a:prstGeom prst="ellipse">
            <a:avLst/>
          </a:prstGeom>
          <a:solidFill>
            <a:srgbClr val="2196F3">
              <a:alpha val="50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0" y="1800225"/>
            <a:ext cx="11430" cy="11430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0" y="3857625"/>
            <a:ext cx="11430" cy="11430"/>
          </a:xfrm>
          <a:prstGeom prst="ellipse">
            <a:avLst/>
          </a:prstGeom>
          <a:solidFill>
            <a:srgbClr val="2196F3">
              <a:alpha val="50000"/>
            </a:srgbClr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0" y="2314575"/>
            <a:ext cx="11430" cy="11430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0" y="411480"/>
            <a:ext cx="11430" cy="11430"/>
          </a:xfrm>
          <a:prstGeom prst="ellipse">
            <a:avLst/>
          </a:prstGeom>
          <a:solidFill>
            <a:srgbClr val="2196F3">
              <a:alpha val="50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0050" y="796617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4350" y="768042"/>
            <a:ext cx="2419502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7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CULTURE · EP.16</a:t>
            </a:r>
            <a:endParaRPr lang="en-US" sz="585" dirty="0"/>
          </a:p>
        </p:txBody>
      </p:sp>
      <p:sp>
        <p:nvSpPr>
          <p:cNvPr id="17" name="Shape 15"/>
          <p:cNvSpPr/>
          <p:nvPr/>
        </p:nvSpPr>
        <p:spPr>
          <a:xfrm>
            <a:off x="2743200" y="816620"/>
            <a:ext cx="22860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8" name="Text 16"/>
          <p:cNvSpPr/>
          <p:nvPr/>
        </p:nvSpPr>
        <p:spPr>
          <a:xfrm>
            <a:off x="400050" y="973782"/>
            <a:ext cx="3903345" cy="912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20" b="1" spc="-45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感受红帽</a:t>
            </a:r>
            <a:pPr algn="l" indent="0" marL="0">
              <a:lnSpc>
                <a:spcPct val="105000"/>
              </a:lnSpc>
              <a:buNone/>
            </a:pPr>
            <a:endParaRPr lang="en-US" sz="342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420" b="1" spc="-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开源文化</a:t>
            </a:r>
            <a:endParaRPr lang="en-US" sz="3420" dirty="0"/>
          </a:p>
        </p:txBody>
      </p:sp>
      <p:sp>
        <p:nvSpPr>
          <p:cNvPr id="19" name="Text 17"/>
          <p:cNvSpPr/>
          <p:nvPr/>
        </p:nvSpPr>
        <p:spPr>
          <a:xfrm>
            <a:off x="400050" y="1965871"/>
            <a:ext cx="3885286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spc="4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2021年10月 · 开源布道与阅读分享主题演讲</a:t>
            </a:r>
            <a:endParaRPr lang="en-US" sz="675" dirty="0"/>
          </a:p>
        </p:txBody>
      </p:sp>
      <p:sp>
        <p:nvSpPr>
          <p:cNvPr id="20" name="Shape 18"/>
          <p:cNvSpPr/>
          <p:nvPr/>
        </p:nvSpPr>
        <p:spPr>
          <a:xfrm>
            <a:off x="400050" y="2285911"/>
            <a:ext cx="3469005" cy="252264"/>
          </a:xfrm>
          <a:prstGeom prst="rect">
            <a:avLst/>
          </a:prstGeom>
          <a:solidFill>
            <a:srgbClr val="2196F3">
              <a:alpha val="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00050" y="2285911"/>
            <a:ext cx="0" cy="252264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354491"/>
            <a:ext cx="19431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540" dirty="0"/>
          </a:p>
        </p:txBody>
      </p:sp>
      <p:sp>
        <p:nvSpPr>
          <p:cNvPr id="23" name="Text 21"/>
          <p:cNvSpPr/>
          <p:nvPr/>
        </p:nvSpPr>
        <p:spPr>
          <a:xfrm>
            <a:off x="708660" y="2354491"/>
            <a:ext cx="2128266" cy="11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b="1" spc="14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主题定位：</a:t>
            </a:r>
            <a:pPr algn="l" indent="0" marL="0">
              <a:lnSpc>
                <a:spcPct val="155000"/>
              </a:lnSpc>
              <a:buNone/>
            </a:pPr>
            <a:r>
              <a:rPr lang="en-US" sz="585" spc="14" kern="0" dirty="0">
                <a:solidFill>
                  <a:srgbClr val="E0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从红帽出发，理解开源文化的内核与布道实践</a:t>
            </a:r>
            <a:endParaRPr lang="en-US" sz="585" dirty="0"/>
          </a:p>
        </p:txBody>
      </p:sp>
      <p:sp>
        <p:nvSpPr>
          <p:cNvPr id="24" name="Shape 22"/>
          <p:cNvSpPr/>
          <p:nvPr/>
        </p:nvSpPr>
        <p:spPr>
          <a:xfrm>
            <a:off x="400050" y="2618184"/>
            <a:ext cx="3469005" cy="252264"/>
          </a:xfrm>
          <a:prstGeom prst="rect">
            <a:avLst/>
          </a:prstGeom>
          <a:solidFill>
            <a:srgbClr val="2196F3">
              <a:alpha val="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00050" y="2618184"/>
            <a:ext cx="0" cy="252264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686764"/>
            <a:ext cx="19431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540" dirty="0"/>
          </a:p>
        </p:txBody>
      </p:sp>
      <p:sp>
        <p:nvSpPr>
          <p:cNvPr id="27" name="Text 25"/>
          <p:cNvSpPr/>
          <p:nvPr/>
        </p:nvSpPr>
        <p:spPr>
          <a:xfrm>
            <a:off x="708660" y="2686764"/>
            <a:ext cx="2031654" cy="11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b="1" spc="14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分享时间：</a:t>
            </a:r>
            <a:pPr algn="l" indent="0" marL="0">
              <a:lnSpc>
                <a:spcPct val="155000"/>
              </a:lnSpc>
              <a:buNone/>
            </a:pPr>
            <a:r>
              <a:rPr lang="en-US" sz="585" spc="14" kern="0" dirty="0">
                <a:solidFill>
                  <a:srgbClr val="E0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2021年10月 · 开源之书记录系列第16期</a:t>
            </a:r>
            <a:endParaRPr lang="en-US" sz="585" dirty="0"/>
          </a:p>
        </p:txBody>
      </p:sp>
      <p:sp>
        <p:nvSpPr>
          <p:cNvPr id="28" name="Shape 26"/>
          <p:cNvSpPr/>
          <p:nvPr/>
        </p:nvSpPr>
        <p:spPr>
          <a:xfrm>
            <a:off x="400050" y="2950458"/>
            <a:ext cx="3469005" cy="252264"/>
          </a:xfrm>
          <a:prstGeom prst="rect">
            <a:avLst/>
          </a:prstGeom>
          <a:solidFill>
            <a:srgbClr val="2196F3">
              <a:alpha val="6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2950458"/>
            <a:ext cx="0" cy="252264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019038"/>
            <a:ext cx="19431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540" dirty="0"/>
          </a:p>
        </p:txBody>
      </p:sp>
      <p:sp>
        <p:nvSpPr>
          <p:cNvPr id="31" name="Text 29"/>
          <p:cNvSpPr/>
          <p:nvPr/>
        </p:nvSpPr>
        <p:spPr>
          <a:xfrm>
            <a:off x="708660" y="3019038"/>
            <a:ext cx="1958045" cy="11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b="1" spc="14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主讲视角：</a:t>
            </a:r>
            <a:pPr algn="l" indent="0" marL="0">
              <a:lnSpc>
                <a:spcPct val="155000"/>
              </a:lnSpc>
              <a:buNone/>
            </a:pPr>
            <a:r>
              <a:rPr lang="en-US" sz="585" spc="14" kern="0" dirty="0">
                <a:solidFill>
                  <a:srgbClr val="E0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以开源布道者身份拆解文化、方法与生态</a:t>
            </a:r>
            <a:endParaRPr lang="en-US" sz="585" dirty="0"/>
          </a:p>
        </p:txBody>
      </p:sp>
      <p:sp>
        <p:nvSpPr>
          <p:cNvPr id="32" name="Shape 30"/>
          <p:cNvSpPr/>
          <p:nvPr/>
        </p:nvSpPr>
        <p:spPr>
          <a:xfrm>
            <a:off x="400050" y="3385602"/>
            <a:ext cx="1694498" cy="434340"/>
          </a:xfrm>
          <a:prstGeom prst="roundRect">
            <a:avLst>
              <a:gd name="adj" fmla="val 7895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0050" y="3385602"/>
            <a:ext cx="17145" cy="42291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4" name="Text 32"/>
          <p:cNvSpPr/>
          <p:nvPr/>
        </p:nvSpPr>
        <p:spPr>
          <a:xfrm>
            <a:off x="508635" y="3471327"/>
            <a:ext cx="165460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分享期数</a:t>
            </a:r>
            <a:endParaRPr lang="en-US" sz="495" dirty="0"/>
          </a:p>
        </p:txBody>
      </p:sp>
      <p:sp>
        <p:nvSpPr>
          <p:cNvPr id="35" name="Text 33"/>
          <p:cNvSpPr/>
          <p:nvPr/>
        </p:nvSpPr>
        <p:spPr>
          <a:xfrm>
            <a:off x="508635" y="3597057"/>
            <a:ext cx="1654607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b="1" spc="23" kern="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</a:t>
            </a:r>
            <a:pPr algn="l" indent="0" marL="0">
              <a:buNone/>
            </a:pPr>
            <a:r>
              <a:rPr lang="en-US" sz="72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pPr algn="l" indent="0" marL="0">
              <a:buNone/>
            </a:pPr>
            <a:r>
              <a:rPr lang="en-US" sz="720" b="1" spc="23" kern="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期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174558" y="3385602"/>
            <a:ext cx="1694498" cy="434340"/>
          </a:xfrm>
          <a:prstGeom prst="roundRect">
            <a:avLst>
              <a:gd name="adj" fmla="val 7895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74558" y="3385602"/>
            <a:ext cx="17145" cy="42291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8" name="Text 36"/>
          <p:cNvSpPr/>
          <p:nvPr/>
        </p:nvSpPr>
        <p:spPr>
          <a:xfrm>
            <a:off x="2283143" y="3471327"/>
            <a:ext cx="165460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核心主题</a:t>
            </a:r>
            <a:endParaRPr lang="en-US" sz="495" dirty="0"/>
          </a:p>
        </p:txBody>
      </p:sp>
      <p:sp>
        <p:nvSpPr>
          <p:cNvPr id="39" name="Text 37"/>
          <p:cNvSpPr/>
          <p:nvPr/>
        </p:nvSpPr>
        <p:spPr>
          <a:xfrm>
            <a:off x="2283143" y="3597057"/>
            <a:ext cx="1654607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b="1" spc="23" kern="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开源文化</a:t>
            </a:r>
            <a:pPr algn="l" indent="0" marL="0">
              <a:buNone/>
            </a:pPr>
            <a:r>
              <a:rPr lang="en-US" sz="72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720" b="1" spc="23" kern="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红帽样本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400050" y="3979962"/>
            <a:ext cx="3469005" cy="441127"/>
          </a:xfrm>
          <a:prstGeom prst="rect">
            <a:avLst/>
          </a:prstGeom>
          <a:noFill/>
          <a:ln/>
        </p:spPr>
      </p:sp>
      <p:sp>
        <p:nvSpPr>
          <p:cNvPr id="41" name="Shape 39"/>
          <p:cNvSpPr/>
          <p:nvPr/>
        </p:nvSpPr>
        <p:spPr>
          <a:xfrm>
            <a:off x="400050" y="3979962"/>
            <a:ext cx="3469005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0050" y="4421088"/>
            <a:ext cx="3469005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4350" y="4171950"/>
            <a:ext cx="57150" cy="57150"/>
          </a:xfrm>
          <a:prstGeom prst="ellipse">
            <a:avLst/>
          </a:prstGeom>
          <a:solidFill>
            <a:srgbClr val="2196F3">
              <a:alpha val="79000"/>
            </a:srgbClr>
          </a:solidFill>
          <a:ln/>
          <a:effectLst>
            <a:outerShdw sx="100000" sy="100000" kx="0" ky="0" algn="bl" rotWithShape="0" blurRad="95250" dist="50800" dir="16200000">
              <a:srgbClr val="2196F3">
                <a:alpha val="10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51510" y="4077117"/>
            <a:ext cx="3475634" cy="2468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540" spc="23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本场分享以红帽为切入点，从企业文化、核心理念、布道实践三个维度，带大家感受开源世界真正在传递的东西——协作、开放、共享与创新。</a:t>
            </a:r>
            <a:endParaRPr lang="en-US" sz="540" dirty="0"/>
          </a:p>
        </p:txBody>
      </p:sp>
      <p:sp>
        <p:nvSpPr>
          <p:cNvPr id="45" name="Shape 43"/>
          <p:cNvSpPr/>
          <p:nvPr/>
        </p:nvSpPr>
        <p:spPr>
          <a:xfrm>
            <a:off x="4154805" y="1285875"/>
            <a:ext cx="4589145" cy="2617470"/>
          </a:xfrm>
          <a:prstGeom prst="roundRect">
            <a:avLst>
              <a:gd name="adj" fmla="val 1747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  <a:effectLst>
            <a:outerShdw sx="100000" sy="100000" kx="0" ky="0" algn="bl" rotWithShape="0" blurRad="571500" dist="190500" dir="16200000">
              <a:srgbClr val="000000">
                <a:alpha val="5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154805" y="1285875"/>
            <a:ext cx="4577715" cy="2606040"/>
          </a:xfrm>
          <a:prstGeom prst="rect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/>
        </p:spPr>
      </p:sp>
      <p:pic>
        <p:nvPicPr>
          <p:cNvPr id="47" name="Image 0" descr="/home/lee/developing/oscar-open-source-book/website/slides-src/2021-10-感受红帽开源文化211016/images/page_001_hero.png">    </p:cNvPr>
          <p:cNvPicPr>
            <a:picLocks noChangeAspect="1"/>
          </p:cNvPicPr>
          <p:nvPr/>
        </p:nvPicPr>
        <p:blipFill>
          <a:blip r:embed="rId1"/>
          <a:srcRect l="979" r="979" t="0" b="0"/>
          <a:stretch/>
        </p:blipFill>
        <p:spPr>
          <a:xfrm>
            <a:off x="4160520" y="1291590"/>
            <a:ext cx="4577715" cy="2606040"/>
          </a:xfrm>
          <a:prstGeom prst="rect">
            <a:avLst/>
          </a:prstGeom>
        </p:spPr>
      </p:pic>
      <p:sp>
        <p:nvSpPr>
          <p:cNvPr id="48" name="Shape 45"/>
          <p:cNvSpPr/>
          <p:nvPr/>
        </p:nvSpPr>
        <p:spPr>
          <a:xfrm>
            <a:off x="4217670" y="1348740"/>
            <a:ext cx="102870" cy="102870"/>
          </a:xfrm>
          <a:prstGeom prst="rect">
            <a:avLst/>
          </a:prstGeom>
          <a:noFill/>
          <a:ln/>
        </p:spPr>
      </p:sp>
      <p:sp>
        <p:nvSpPr>
          <p:cNvPr id="49" name="Shape 46"/>
          <p:cNvSpPr/>
          <p:nvPr/>
        </p:nvSpPr>
        <p:spPr>
          <a:xfrm>
            <a:off x="4217670" y="1348740"/>
            <a:ext cx="10287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217670" y="1348740"/>
            <a:ext cx="0" cy="10287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578215" y="1348740"/>
            <a:ext cx="102870" cy="102870"/>
          </a:xfrm>
          <a:prstGeom prst="rect">
            <a:avLst/>
          </a:prstGeom>
          <a:noFill/>
          <a:ln/>
        </p:spPr>
      </p:sp>
      <p:sp>
        <p:nvSpPr>
          <p:cNvPr id="52" name="Shape 49"/>
          <p:cNvSpPr/>
          <p:nvPr/>
        </p:nvSpPr>
        <p:spPr>
          <a:xfrm>
            <a:off x="8578215" y="1348740"/>
            <a:ext cx="10287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681085" y="1348740"/>
            <a:ext cx="0" cy="10287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217670" y="3737610"/>
            <a:ext cx="102870" cy="102870"/>
          </a:xfrm>
          <a:prstGeom prst="rect">
            <a:avLst/>
          </a:prstGeom>
          <a:noFill/>
          <a:ln/>
        </p:spPr>
      </p:sp>
      <p:sp>
        <p:nvSpPr>
          <p:cNvPr id="55" name="Shape 52"/>
          <p:cNvSpPr/>
          <p:nvPr/>
        </p:nvSpPr>
        <p:spPr>
          <a:xfrm>
            <a:off x="4217670" y="3840480"/>
            <a:ext cx="10287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217670" y="3737610"/>
            <a:ext cx="0" cy="10287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578215" y="3737610"/>
            <a:ext cx="102870" cy="102870"/>
          </a:xfrm>
          <a:prstGeom prst="rect">
            <a:avLst/>
          </a:prstGeom>
          <a:noFill/>
          <a:ln/>
        </p:spPr>
      </p:sp>
      <p:sp>
        <p:nvSpPr>
          <p:cNvPr id="58" name="Shape 55"/>
          <p:cNvSpPr/>
          <p:nvPr/>
        </p:nvSpPr>
        <p:spPr>
          <a:xfrm>
            <a:off x="8681085" y="3737610"/>
            <a:ext cx="0" cy="10287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578215" y="3840480"/>
            <a:ext cx="10287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160520" y="4020503"/>
            <a:ext cx="34290" cy="3429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61" name="Text 58"/>
          <p:cNvSpPr/>
          <p:nvPr/>
        </p:nvSpPr>
        <p:spPr>
          <a:xfrm>
            <a:off x="4240530" y="3994785"/>
            <a:ext cx="138257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KEYNOTE VISUAL · 2021.10</a:t>
            </a:r>
            <a:endParaRPr lang="en-US" sz="495" dirty="0"/>
          </a:p>
        </p:txBody>
      </p:sp>
      <p:sp>
        <p:nvSpPr>
          <p:cNvPr id="62" name="Text 59"/>
          <p:cNvSpPr/>
          <p:nvPr/>
        </p:nvSpPr>
        <p:spPr>
          <a:xfrm>
            <a:off x="7658100" y="3994785"/>
            <a:ext cx="120975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RED HAT × OPEN SOURCE</a:t>
            </a:r>
            <a:endParaRPr lang="en-US" sz="495" dirty="0"/>
          </a:p>
        </p:txBody>
      </p:sp>
      <p:sp>
        <p:nvSpPr>
          <p:cNvPr id="63" name="Text 60"/>
          <p:cNvSpPr/>
          <p:nvPr/>
        </p:nvSpPr>
        <p:spPr>
          <a:xfrm>
            <a:off x="400050" y="4920615"/>
            <a:ext cx="108813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BOOKS</a:t>
            </a:r>
            <a:endParaRPr lang="en-US" sz="495" dirty="0"/>
          </a:p>
        </p:txBody>
      </p:sp>
      <p:sp>
        <p:nvSpPr>
          <p:cNvPr id="64" name="Shape 61"/>
          <p:cNvSpPr/>
          <p:nvPr/>
        </p:nvSpPr>
        <p:spPr>
          <a:xfrm>
            <a:off x="1485900" y="4960620"/>
            <a:ext cx="2085975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5" name="Text 62"/>
          <p:cNvSpPr/>
          <p:nvPr/>
        </p:nvSpPr>
        <p:spPr>
          <a:xfrm>
            <a:off x="3686175" y="4920615"/>
            <a:ext cx="211226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EP.16 / 2021.10 / RED HAT CULTURE</a:t>
            </a:r>
            <a:endParaRPr lang="en-US" sz="495" dirty="0"/>
          </a:p>
        </p:txBody>
      </p:sp>
      <p:sp>
        <p:nvSpPr>
          <p:cNvPr id="66" name="Shape 63"/>
          <p:cNvSpPr/>
          <p:nvPr/>
        </p:nvSpPr>
        <p:spPr>
          <a:xfrm>
            <a:off x="5686425" y="4960620"/>
            <a:ext cx="2085975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7" name="Text 64"/>
          <p:cNvSpPr/>
          <p:nvPr/>
        </p:nvSpPr>
        <p:spPr>
          <a:xfrm>
            <a:off x="7886700" y="4920615"/>
            <a:ext cx="96012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CO·LAB · SHAR·E</a:t>
            </a:r>
            <a:endParaRPr lang="en-US" sz="49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e/developing/oscar-open-source-book/website/slides-src/2021-10-感受红帽开源文化211016/images/page_002_section_bg.png">    </p:cNvPr>
          <p:cNvPicPr>
            <a:picLocks noChangeAspect="1"/>
          </p:cNvPicPr>
          <p:nvPr/>
        </p:nvPicPr>
        <p:blipFill>
          <a:blip r:embed="rId2"/>
          <a:srcRect l="388" r="388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61F24">
                  <a:alpha val="92000"/>
                </a:srgbClr>
              </a:gs>
              <a:gs pos="35000">
                <a:srgbClr val="161F24">
                  <a:alpha val="78000"/>
                </a:srgbClr>
              </a:gs>
              <a:gs pos="65000">
                <a:srgbClr val="161F24">
                  <a:alpha val="35000"/>
                </a:srgbClr>
              </a:gs>
              <a:gs pos="100000">
                <a:srgbClr val="161F24">
                  <a:alpha val="5500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365760" y="234315"/>
            <a:ext cx="1316736" cy="662940"/>
          </a:xfrm>
          <a:prstGeom prst="rect">
            <a:avLst/>
          </a:prstGeom>
          <a:noFill/>
          <a:ln/>
          <a:effectLst>
            <a:outerShdw sx="100000" sy="100000" kx="0" ky="0" algn="bl" rotWithShape="0" blurRad="137160" dist="50800" dir="5400000">
              <a:srgbClr val="2196F3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320" b="1" spc="-90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320" dirty="0"/>
          </a:p>
        </p:txBody>
      </p:sp>
      <p:sp>
        <p:nvSpPr>
          <p:cNvPr id="5" name="Text 2"/>
          <p:cNvSpPr/>
          <p:nvPr/>
        </p:nvSpPr>
        <p:spPr>
          <a:xfrm>
            <a:off x="1085850" y="400050"/>
            <a:ext cx="93451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7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</a:t>
            </a:r>
            <a:endParaRPr lang="en-US" sz="495" dirty="0"/>
          </a:p>
        </p:txBody>
      </p:sp>
      <p:sp>
        <p:nvSpPr>
          <p:cNvPr id="6" name="Text 3"/>
          <p:cNvSpPr/>
          <p:nvPr/>
        </p:nvSpPr>
        <p:spPr>
          <a:xfrm>
            <a:off x="1085850" y="520065"/>
            <a:ext cx="93451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7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分  区  序  幕</a:t>
            </a:r>
            <a:endParaRPr lang="en-US" sz="495" dirty="0"/>
          </a:p>
        </p:txBody>
      </p:sp>
      <p:sp>
        <p:nvSpPr>
          <p:cNvPr id="7" name="Shape 4"/>
          <p:cNvSpPr/>
          <p:nvPr/>
        </p:nvSpPr>
        <p:spPr>
          <a:xfrm>
            <a:off x="1085850" y="645795"/>
            <a:ext cx="205740" cy="5715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893772"/>
            <a:ext cx="1623060" cy="3886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20" b="1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走进红帽</a:t>
            </a:r>
            <a:endParaRPr lang="en-US" sz="2520" dirty="0"/>
          </a:p>
        </p:txBody>
      </p:sp>
      <p:sp>
        <p:nvSpPr>
          <p:cNvPr id="9" name="Text 6"/>
          <p:cNvSpPr/>
          <p:nvPr/>
        </p:nvSpPr>
        <p:spPr>
          <a:xfrm>
            <a:off x="365760" y="1382941"/>
            <a:ext cx="204825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1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一家定义了现代开源商业模式的企业</a:t>
            </a:r>
            <a:endParaRPr lang="en-US" sz="810" dirty="0"/>
          </a:p>
        </p:txBody>
      </p:sp>
      <p:sp>
        <p:nvSpPr>
          <p:cNvPr id="10" name="Shape 7"/>
          <p:cNvSpPr/>
          <p:nvPr/>
        </p:nvSpPr>
        <p:spPr>
          <a:xfrm>
            <a:off x="365760" y="1641187"/>
            <a:ext cx="365760" cy="1143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1795492"/>
            <a:ext cx="3558845" cy="240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红帽成立于1993年，是美国北卡罗来纳州里士满的一家开源软件公司，以企业级 Linux 发行版 RHEL 闻名，被视为开源运动走向主流商业的关键推动者。</a:t>
            </a:r>
            <a:endParaRPr lang="en-US" sz="585" dirty="0"/>
          </a:p>
        </p:txBody>
      </p:sp>
      <p:sp>
        <p:nvSpPr>
          <p:cNvPr id="12" name="Shape 9"/>
          <p:cNvSpPr/>
          <p:nvPr/>
        </p:nvSpPr>
        <p:spPr>
          <a:xfrm>
            <a:off x="365760" y="3952548"/>
            <a:ext cx="2727930" cy="710892"/>
          </a:xfrm>
          <a:prstGeom prst="rect">
            <a:avLst/>
          </a:prstGeom>
          <a:solidFill>
            <a:srgbClr val="1F2B32">
              <a:alpha val="72000"/>
            </a:srgbClr>
          </a:solidFill>
          <a:ln w="11430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4072563"/>
            <a:ext cx="275444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01</a:t>
            </a:r>
            <a:endParaRPr lang="en-US" sz="585" dirty="0"/>
          </a:p>
        </p:txBody>
      </p:sp>
      <p:sp>
        <p:nvSpPr>
          <p:cNvPr id="14" name="Text 11"/>
          <p:cNvSpPr/>
          <p:nvPr/>
        </p:nvSpPr>
        <p:spPr>
          <a:xfrm>
            <a:off x="502920" y="4244013"/>
            <a:ext cx="75438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为何选择红帽</a:t>
            </a:r>
            <a:endParaRPr lang="en-US" sz="810" dirty="0"/>
          </a:p>
        </p:txBody>
      </p:sp>
      <p:sp>
        <p:nvSpPr>
          <p:cNvPr id="15" name="Text 12"/>
          <p:cNvSpPr/>
          <p:nvPr/>
        </p:nvSpPr>
        <p:spPr>
          <a:xfrm>
            <a:off x="502920" y="4438323"/>
            <a:ext cx="192024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红帽是开源商业化最成功的范例，其文化具高度代表性。</a:t>
            </a:r>
            <a:endParaRPr lang="en-US" sz="540" dirty="0"/>
          </a:p>
        </p:txBody>
      </p:sp>
      <p:sp>
        <p:nvSpPr>
          <p:cNvPr id="16" name="Shape 13"/>
          <p:cNvSpPr/>
          <p:nvPr/>
        </p:nvSpPr>
        <p:spPr>
          <a:xfrm>
            <a:off x="3207990" y="3952548"/>
            <a:ext cx="2727930" cy="710892"/>
          </a:xfrm>
          <a:prstGeom prst="rect">
            <a:avLst/>
          </a:prstGeom>
          <a:solidFill>
            <a:srgbClr val="1F2B32">
              <a:alpha val="72000"/>
            </a:srgbClr>
          </a:solidFill>
          <a:ln w="11430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45150" y="4072563"/>
            <a:ext cx="275444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02</a:t>
            </a:r>
            <a:endParaRPr lang="en-US" sz="585" dirty="0"/>
          </a:p>
        </p:txBody>
      </p:sp>
      <p:sp>
        <p:nvSpPr>
          <p:cNvPr id="18" name="Text 15"/>
          <p:cNvSpPr/>
          <p:nvPr/>
        </p:nvSpPr>
        <p:spPr>
          <a:xfrm>
            <a:off x="3345150" y="4244013"/>
            <a:ext cx="53721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本章聚焦</a:t>
            </a:r>
            <a:endParaRPr lang="en-US" sz="810" dirty="0"/>
          </a:p>
        </p:txBody>
      </p:sp>
      <p:sp>
        <p:nvSpPr>
          <p:cNvPr id="19" name="Text 16"/>
          <p:cNvSpPr/>
          <p:nvPr/>
        </p:nvSpPr>
        <p:spPr>
          <a:xfrm>
            <a:off x="3345150" y="4438323"/>
            <a:ext cx="15361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公司背景、开源理念与在开源社区中的角色。</a:t>
            </a:r>
            <a:endParaRPr lang="en-US" sz="540" dirty="0"/>
          </a:p>
        </p:txBody>
      </p:sp>
      <p:sp>
        <p:nvSpPr>
          <p:cNvPr id="20" name="Shape 17"/>
          <p:cNvSpPr/>
          <p:nvPr/>
        </p:nvSpPr>
        <p:spPr>
          <a:xfrm>
            <a:off x="6050220" y="3952548"/>
            <a:ext cx="2728020" cy="710892"/>
          </a:xfrm>
          <a:prstGeom prst="rect">
            <a:avLst/>
          </a:prstGeom>
          <a:solidFill>
            <a:srgbClr val="1F2B32">
              <a:alpha val="72000"/>
            </a:srgbClr>
          </a:solidFill>
          <a:ln w="11430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87380" y="4072563"/>
            <a:ext cx="275454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03</a:t>
            </a:r>
            <a:endParaRPr lang="en-US" sz="585" dirty="0"/>
          </a:p>
        </p:txBody>
      </p:sp>
      <p:sp>
        <p:nvSpPr>
          <p:cNvPr id="22" name="Text 19"/>
          <p:cNvSpPr/>
          <p:nvPr/>
        </p:nvSpPr>
        <p:spPr>
          <a:xfrm>
            <a:off x="6187380" y="4244013"/>
            <a:ext cx="53721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阅读线索</a:t>
            </a:r>
            <a:endParaRPr lang="en-US" sz="810" dirty="0"/>
          </a:p>
        </p:txBody>
      </p:sp>
      <p:sp>
        <p:nvSpPr>
          <p:cNvPr id="23" name="Text 20"/>
          <p:cNvSpPr/>
          <p:nvPr/>
        </p:nvSpPr>
        <p:spPr>
          <a:xfrm>
            <a:off x="6187380" y="4438323"/>
            <a:ext cx="15361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从历史到文化，建立对红帽的完整认知框架。</a:t>
            </a:r>
            <a:endParaRPr lang="en-US" sz="540" dirty="0"/>
          </a:p>
        </p:txBody>
      </p:sp>
      <p:sp>
        <p:nvSpPr>
          <p:cNvPr id="24" name="Shape 21"/>
          <p:cNvSpPr/>
          <p:nvPr/>
        </p:nvSpPr>
        <p:spPr>
          <a:xfrm>
            <a:off x="365760" y="4663440"/>
            <a:ext cx="841248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2196F3"/>
              </a:gs>
              <a:gs pos="7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5" name="Text 22"/>
          <p:cNvSpPr/>
          <p:nvPr/>
        </p:nvSpPr>
        <p:spPr>
          <a:xfrm>
            <a:off x="365760" y="4737735"/>
            <a:ext cx="153619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一家定义了现代开源商业模式的企业</a:t>
            </a:r>
            <a:endParaRPr lang="en-US" sz="495" dirty="0"/>
          </a:p>
        </p:txBody>
      </p:sp>
      <p:sp>
        <p:nvSpPr>
          <p:cNvPr id="26" name="Text 23"/>
          <p:cNvSpPr/>
          <p:nvPr/>
        </p:nvSpPr>
        <p:spPr>
          <a:xfrm>
            <a:off x="7749540" y="4734878"/>
            <a:ext cx="115214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RED HAT · CHAPTER 01</a:t>
            </a:r>
            <a:endParaRPr lang="en-US" sz="4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3600450"/>
            <a:ext cx="12801600" cy="7200900"/>
          </a:xfrm>
          <a:prstGeom prst="ellipse">
            <a:avLst/>
          </a:prstGeom>
          <a:gradFill rotWithShape="1">
            <a:gsLst>
              <a:gs pos="0">
                <a:srgbClr val="2196F3">
                  <a:alpha val="96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6400800" y="1543050"/>
            <a:ext cx="12801600" cy="7200900"/>
          </a:xfrm>
          <a:prstGeom prst="ellipse">
            <a:avLst/>
          </a:prstGeom>
          <a:gradFill rotWithShape="1">
            <a:gsLst>
              <a:gs pos="0">
                <a:srgbClr val="00BCD4">
                  <a:alpha val="6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342900" y="285750"/>
            <a:ext cx="34290" cy="2971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71450" dist="50800" dir="16200000">
              <a:srgbClr val="2196F3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2900" y="651510"/>
            <a:ext cx="1577340" cy="157698"/>
          </a:xfrm>
          <a:prstGeom prst="roundRect">
            <a:avLst>
              <a:gd name="adj" fmla="val 10872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" y="651510"/>
            <a:ext cx="1766621" cy="157698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RED HAT · COMPANY OVERVIEW</a:t>
            </a:r>
            <a:endParaRPr lang="en-US" sz="495" dirty="0"/>
          </a:p>
        </p:txBody>
      </p:sp>
      <p:sp>
        <p:nvSpPr>
          <p:cNvPr id="7" name="Shape 5"/>
          <p:cNvSpPr/>
          <p:nvPr/>
        </p:nvSpPr>
        <p:spPr>
          <a:xfrm>
            <a:off x="342900" y="946368"/>
            <a:ext cx="8458200" cy="263426"/>
          </a:xfrm>
          <a:prstGeom prst="rect">
            <a:avLst/>
          </a:prstGeom>
          <a:solidFill>
            <a:srgbClr val="2196F3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42900" y="946368"/>
            <a:ext cx="0" cy="263426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" y="946368"/>
            <a:ext cx="9473184" cy="263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E8F0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红帽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从一个小小的 RPM 发布站起家，如今已成为全球开源基础设施的基石；它证明了开源不仅能构建出高质量的软件，更能支撑起一家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E8F0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数百亿美元体量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的企业。</a:t>
            </a:r>
            <a:endParaRPr lang="en-US" sz="585" dirty="0"/>
          </a:p>
        </p:txBody>
      </p:sp>
      <p:sp>
        <p:nvSpPr>
          <p:cNvPr id="10" name="Shape 8"/>
          <p:cNvSpPr/>
          <p:nvPr/>
        </p:nvSpPr>
        <p:spPr>
          <a:xfrm>
            <a:off x="342900" y="1301234"/>
            <a:ext cx="4137660" cy="388620"/>
          </a:xfrm>
          <a:prstGeom prst="roundRect">
            <a:avLst>
              <a:gd name="adj" fmla="val 8824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 w="1714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301234"/>
            <a:ext cx="342900" cy="342900"/>
          </a:xfrm>
          <a:prstGeom prst="rect">
            <a:avLst/>
          </a:prstGeom>
          <a:solidFill>
            <a:srgbClr val="2196F3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1485" y="1375529"/>
            <a:ext cx="240030" cy="240030"/>
          </a:xfrm>
          <a:prstGeom prst="roundRect">
            <a:avLst>
              <a:gd name="adj" fmla="val 19048"/>
            </a:avLst>
          </a:prstGeom>
          <a:gradFill rotWithShape="1">
            <a:gsLst>
              <a:gs pos="0">
                <a:srgbClr val="2196F3"/>
              </a:gs>
              <a:gs pos="100000">
                <a:srgbClr val="1565C0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5778" y="1422410"/>
            <a:ext cx="222885" cy="1462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RH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771525" y="1375529"/>
            <a:ext cx="4045306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b="1" spc="23" kern="0" dirty="0">
                <a:solidFill>
                  <a:srgbClr val="E8F0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成立背景</a:t>
            </a:r>
            <a:endParaRPr lang="en-US" sz="585" dirty="0"/>
          </a:p>
        </p:txBody>
      </p:sp>
      <p:sp>
        <p:nvSpPr>
          <p:cNvPr id="15" name="Text 13"/>
          <p:cNvSpPr/>
          <p:nvPr/>
        </p:nvSpPr>
        <p:spPr>
          <a:xfrm>
            <a:off x="771525" y="1511528"/>
            <a:ext cx="4045306" cy="101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1993 年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由 Bob Young 与 Marc Ewing 共同创立，总部位于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美国北卡罗来纳州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，以社区驱动的开源理念开启创业征程。</a:t>
            </a:r>
            <a:endParaRPr lang="en-US" sz="518" dirty="0"/>
          </a:p>
        </p:txBody>
      </p:sp>
      <p:sp>
        <p:nvSpPr>
          <p:cNvPr id="16" name="Shape 14"/>
          <p:cNvSpPr/>
          <p:nvPr/>
        </p:nvSpPr>
        <p:spPr>
          <a:xfrm>
            <a:off x="342900" y="1758434"/>
            <a:ext cx="4137660" cy="388620"/>
          </a:xfrm>
          <a:prstGeom prst="roundRect">
            <a:avLst>
              <a:gd name="adj" fmla="val 8824"/>
            </a:avLst>
          </a:prstGeom>
          <a:gradFill rotWithShape="1">
            <a:gsLst>
              <a:gs pos="0">
                <a:srgbClr val="00BCD4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 w="17145">
            <a:solidFill>
              <a:srgbClr val="00BCD4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1758434"/>
            <a:ext cx="342900" cy="342900"/>
          </a:xfrm>
          <a:prstGeom prst="rect">
            <a:avLst/>
          </a:prstGeom>
          <a:solidFill>
            <a:srgbClr val="00BCD4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1485" y="1832729"/>
            <a:ext cx="240030" cy="240030"/>
          </a:xfrm>
          <a:prstGeom prst="roundRect">
            <a:avLst>
              <a:gd name="adj" fmla="val 19048"/>
            </a:avLst>
          </a:prstGeom>
          <a:gradFill rotWithShape="1">
            <a:gsLst>
              <a:gs pos="0">
                <a:srgbClr val="00BCD4"/>
              </a:gs>
              <a:gs pos="100000">
                <a:srgbClr val="00838F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00BCD4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" y="1879610"/>
            <a:ext cx="283464" cy="1462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71525" y="1832729"/>
            <a:ext cx="4045306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b="1" spc="23" kern="0" dirty="0">
                <a:solidFill>
                  <a:srgbClr val="E8F0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核心产品</a:t>
            </a:r>
            <a:endParaRPr lang="en-US" sz="585" dirty="0"/>
          </a:p>
        </p:txBody>
      </p:sp>
      <p:sp>
        <p:nvSpPr>
          <p:cNvPr id="21" name="Text 19"/>
          <p:cNvSpPr/>
          <p:nvPr/>
        </p:nvSpPr>
        <p:spPr>
          <a:xfrm>
            <a:off x="771525" y="1968728"/>
            <a:ext cx="4045306" cy="101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以企业级 Linux 发行版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RHEL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为核心，延伸出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Kubernetes · OpenShift · Ansible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等企业级产品线。</a:t>
            </a:r>
            <a:endParaRPr lang="en-US" sz="518" dirty="0"/>
          </a:p>
        </p:txBody>
      </p:sp>
      <p:sp>
        <p:nvSpPr>
          <p:cNvPr id="22" name="Shape 20"/>
          <p:cNvSpPr/>
          <p:nvPr/>
        </p:nvSpPr>
        <p:spPr>
          <a:xfrm>
            <a:off x="342900" y="2215634"/>
            <a:ext cx="4137660" cy="388620"/>
          </a:xfrm>
          <a:prstGeom prst="roundRect">
            <a:avLst>
              <a:gd name="adj" fmla="val 8824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 w="1714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2215634"/>
            <a:ext cx="342900" cy="342900"/>
          </a:xfrm>
          <a:prstGeom prst="rect">
            <a:avLst/>
          </a:prstGeom>
          <a:solidFill>
            <a:srgbClr val="2196F3">
              <a:alpha val="1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1485" y="2289929"/>
            <a:ext cx="240030" cy="240030"/>
          </a:xfrm>
          <a:prstGeom prst="roundRect">
            <a:avLst>
              <a:gd name="adj" fmla="val 19048"/>
            </a:avLst>
          </a:prstGeom>
          <a:gradFill rotWithShape="1">
            <a:gsLst>
              <a:gs pos="0">
                <a:srgbClr val="2196F3"/>
              </a:gs>
              <a:gs pos="100000">
                <a:srgbClr val="1565C0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7203" y="2336810"/>
            <a:ext cx="283464" cy="1462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$$$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771525" y="2289929"/>
            <a:ext cx="4045306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b="1" spc="23" kern="0" dirty="0">
                <a:solidFill>
                  <a:srgbClr val="E8F0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商业模式</a:t>
            </a:r>
            <a:endParaRPr lang="en-US" sz="585" dirty="0"/>
          </a:p>
        </p:txBody>
      </p:sp>
      <p:sp>
        <p:nvSpPr>
          <p:cNvPr id="27" name="Text 25"/>
          <p:cNvSpPr/>
          <p:nvPr/>
        </p:nvSpPr>
        <p:spPr>
          <a:xfrm>
            <a:off x="771525" y="2425928"/>
            <a:ext cx="4045306" cy="101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软件本身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免费开源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，通过订阅服务、技术支持与企业培训实现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可持续盈利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</a:t>
            </a:r>
            <a:endParaRPr lang="en-US" sz="518" dirty="0"/>
          </a:p>
        </p:txBody>
      </p:sp>
      <p:sp>
        <p:nvSpPr>
          <p:cNvPr id="28" name="Shape 26"/>
          <p:cNvSpPr/>
          <p:nvPr/>
        </p:nvSpPr>
        <p:spPr>
          <a:xfrm>
            <a:off x="342900" y="2672834"/>
            <a:ext cx="4137660" cy="388620"/>
          </a:xfrm>
          <a:prstGeom prst="roundRect">
            <a:avLst>
              <a:gd name="adj" fmla="val 8824"/>
            </a:avLst>
          </a:prstGeom>
          <a:gradFill rotWithShape="1">
            <a:gsLst>
              <a:gs pos="0">
                <a:srgbClr val="00BCD4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 w="17145">
            <a:solidFill>
              <a:srgbClr val="00BCD4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2672834"/>
            <a:ext cx="342900" cy="342900"/>
          </a:xfrm>
          <a:prstGeom prst="rect">
            <a:avLst/>
          </a:prstGeom>
          <a:solidFill>
            <a:srgbClr val="00BCD4">
              <a:alpha val="1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1485" y="2747129"/>
            <a:ext cx="240030" cy="240030"/>
          </a:xfrm>
          <a:prstGeom prst="roundRect">
            <a:avLst>
              <a:gd name="adj" fmla="val 19048"/>
            </a:avLst>
          </a:prstGeom>
          <a:gradFill rotWithShape="1">
            <a:gsLst>
              <a:gs pos="0">
                <a:srgbClr val="00BCD4"/>
              </a:gs>
              <a:gs pos="100000">
                <a:srgbClr val="00838F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00BCD4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2918" y="2794010"/>
            <a:ext cx="283464" cy="1462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771525" y="2747129"/>
            <a:ext cx="4045306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b="1" spc="23" kern="0" dirty="0">
                <a:solidFill>
                  <a:srgbClr val="E8F0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IBM 并购</a:t>
            </a:r>
            <a:endParaRPr lang="en-US" sz="585" dirty="0"/>
          </a:p>
        </p:txBody>
      </p:sp>
      <p:sp>
        <p:nvSpPr>
          <p:cNvPr id="33" name="Text 31"/>
          <p:cNvSpPr/>
          <p:nvPr/>
        </p:nvSpPr>
        <p:spPr>
          <a:xfrm>
            <a:off x="771525" y="2883128"/>
            <a:ext cx="4045306" cy="101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2019 年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被 IBM 以约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340 亿美元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收购，成为全球最大软件并购案之一。</a:t>
            </a:r>
            <a:endParaRPr lang="en-US" sz="518" dirty="0"/>
          </a:p>
        </p:txBody>
      </p:sp>
      <p:sp>
        <p:nvSpPr>
          <p:cNvPr id="34" name="Shape 32"/>
          <p:cNvSpPr/>
          <p:nvPr/>
        </p:nvSpPr>
        <p:spPr>
          <a:xfrm>
            <a:off x="342900" y="3130034"/>
            <a:ext cx="4137660" cy="388620"/>
          </a:xfrm>
          <a:prstGeom prst="roundRect">
            <a:avLst>
              <a:gd name="adj" fmla="val 8824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 w="1714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3130034"/>
            <a:ext cx="342900" cy="342900"/>
          </a:xfrm>
          <a:prstGeom prst="rect">
            <a:avLst/>
          </a:prstGeom>
          <a:solidFill>
            <a:srgbClr val="2196F3">
              <a:alpha val="1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51485" y="3204329"/>
            <a:ext cx="240030" cy="240030"/>
          </a:xfrm>
          <a:prstGeom prst="roundRect">
            <a:avLst>
              <a:gd name="adj" fmla="val 19048"/>
            </a:avLst>
          </a:prstGeom>
          <a:gradFill rotWithShape="1">
            <a:gsLst>
              <a:gs pos="0">
                <a:srgbClr val="2196F3"/>
              </a:gs>
              <a:gs pos="100000">
                <a:srgbClr val="1565C0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30513" y="3251210"/>
            <a:ext cx="173415" cy="1462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771525" y="3204329"/>
            <a:ext cx="4045306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b="1" spc="23" kern="0" dirty="0">
                <a:solidFill>
                  <a:srgbClr val="E8F0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全球影响</a:t>
            </a:r>
            <a:endParaRPr lang="en-US" sz="585" dirty="0"/>
          </a:p>
        </p:txBody>
      </p:sp>
      <p:sp>
        <p:nvSpPr>
          <p:cNvPr id="39" name="Text 37"/>
          <p:cNvSpPr/>
          <p:nvPr/>
        </p:nvSpPr>
        <p:spPr>
          <a:xfrm>
            <a:off x="771525" y="3340328"/>
            <a:ext cx="4045306" cy="101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服务全球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数千家企业客户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，覆盖金融、电信、制造、政府等关键行业。</a:t>
            </a:r>
            <a:endParaRPr lang="en-US" sz="518" dirty="0"/>
          </a:p>
        </p:txBody>
      </p:sp>
      <p:sp>
        <p:nvSpPr>
          <p:cNvPr id="40" name="Shape 38"/>
          <p:cNvSpPr/>
          <p:nvPr/>
        </p:nvSpPr>
        <p:spPr>
          <a:xfrm>
            <a:off x="4663440" y="1301234"/>
            <a:ext cx="2028825" cy="649099"/>
          </a:xfrm>
          <a:prstGeom prst="roundRect">
            <a:avLst>
              <a:gd name="adj" fmla="val 7044"/>
            </a:avLst>
          </a:prstGeom>
          <a:solidFill>
            <a:srgbClr val="1D2C38"/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1927472"/>
            <a:ext cx="201739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2" name="Text 40"/>
          <p:cNvSpPr/>
          <p:nvPr/>
        </p:nvSpPr>
        <p:spPr>
          <a:xfrm>
            <a:off x="4772025" y="1404104"/>
            <a:ext cx="33432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73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成立年份</a:t>
            </a:r>
            <a:endParaRPr lang="en-US" sz="473" dirty="0"/>
          </a:p>
        </p:txBody>
      </p:sp>
      <p:sp>
        <p:nvSpPr>
          <p:cNvPr id="43" name="Text 41"/>
          <p:cNvSpPr/>
          <p:nvPr/>
        </p:nvSpPr>
        <p:spPr>
          <a:xfrm>
            <a:off x="4772025" y="1517243"/>
            <a:ext cx="694944" cy="2228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40" b="1" spc="-22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1993</a:t>
            </a:r>
            <a:endParaRPr lang="en-US" sz="1440" dirty="0"/>
          </a:p>
        </p:txBody>
      </p:sp>
      <p:sp>
        <p:nvSpPr>
          <p:cNvPr id="44" name="Shape 42"/>
          <p:cNvSpPr/>
          <p:nvPr/>
        </p:nvSpPr>
        <p:spPr>
          <a:xfrm>
            <a:off x="4772025" y="1764060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45" name="Text 43"/>
          <p:cNvSpPr/>
          <p:nvPr/>
        </p:nvSpPr>
        <p:spPr>
          <a:xfrm>
            <a:off x="4834890" y="1764060"/>
            <a:ext cx="565785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美国北卡罗来纳州</a:t>
            </a:r>
            <a:endParaRPr lang="en-US" sz="495" dirty="0"/>
          </a:p>
        </p:txBody>
      </p:sp>
      <p:sp>
        <p:nvSpPr>
          <p:cNvPr id="46" name="Shape 44"/>
          <p:cNvSpPr/>
          <p:nvPr/>
        </p:nvSpPr>
        <p:spPr>
          <a:xfrm>
            <a:off x="6772275" y="1301234"/>
            <a:ext cx="2028825" cy="649099"/>
          </a:xfrm>
          <a:prstGeom prst="roundRect">
            <a:avLst>
              <a:gd name="adj" fmla="val 7044"/>
            </a:avLst>
          </a:prstGeom>
          <a:solidFill>
            <a:srgbClr val="1D2C38"/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72275" y="1927472"/>
            <a:ext cx="2017395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8" name="Text 46"/>
          <p:cNvSpPr/>
          <p:nvPr/>
        </p:nvSpPr>
        <p:spPr>
          <a:xfrm>
            <a:off x="6880860" y="1404104"/>
            <a:ext cx="54006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73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IBM 收购价格</a:t>
            </a:r>
            <a:endParaRPr lang="en-US" sz="473" dirty="0"/>
          </a:p>
        </p:txBody>
      </p:sp>
      <p:sp>
        <p:nvSpPr>
          <p:cNvPr id="49" name="Text 47"/>
          <p:cNvSpPr/>
          <p:nvPr/>
        </p:nvSpPr>
        <p:spPr>
          <a:xfrm>
            <a:off x="6880860" y="1517243"/>
            <a:ext cx="768668" cy="2228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40" b="1" spc="-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$340</a:t>
            </a:r>
            <a:pPr algn="l" indent="0" marL="0">
              <a:lnSpc>
                <a:spcPct val="110000"/>
              </a:lnSpc>
              <a:buNone/>
            </a:pPr>
            <a:r>
              <a:rPr lang="en-US" sz="675" b="1" spc="-22" kern="0" dirty="0">
                <a:solidFill>
                  <a:srgbClr val="E8F0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亿</a:t>
            </a:r>
            <a:endParaRPr lang="en-US" sz="1440" dirty="0"/>
          </a:p>
        </p:txBody>
      </p:sp>
      <p:sp>
        <p:nvSpPr>
          <p:cNvPr id="50" name="Shape 48"/>
          <p:cNvSpPr/>
          <p:nvPr/>
        </p:nvSpPr>
        <p:spPr>
          <a:xfrm>
            <a:off x="6880860" y="1764060"/>
            <a:ext cx="28575" cy="28575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51" name="Text 49"/>
          <p:cNvSpPr/>
          <p:nvPr/>
        </p:nvSpPr>
        <p:spPr>
          <a:xfrm>
            <a:off x="6943725" y="1764060"/>
            <a:ext cx="451485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2019 年完成</a:t>
            </a:r>
            <a:endParaRPr lang="en-US" sz="495" dirty="0"/>
          </a:p>
        </p:txBody>
      </p:sp>
      <p:sp>
        <p:nvSpPr>
          <p:cNvPr id="52" name="Shape 50"/>
          <p:cNvSpPr/>
          <p:nvPr/>
        </p:nvSpPr>
        <p:spPr>
          <a:xfrm>
            <a:off x="4663440" y="2053203"/>
            <a:ext cx="4137660" cy="1242298"/>
          </a:xfrm>
          <a:prstGeom prst="roundRect">
            <a:avLst>
              <a:gd name="adj" fmla="val 3680"/>
            </a:avLst>
          </a:prstGeom>
          <a:solidFill>
            <a:srgbClr val="16232E"/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72025" y="2150358"/>
            <a:ext cx="80010" cy="1143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4" name="Text 52"/>
          <p:cNvSpPr/>
          <p:nvPr/>
        </p:nvSpPr>
        <p:spPr>
          <a:xfrm>
            <a:off x="4897755" y="2150358"/>
            <a:ext cx="588645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b="1" spc="45" kern="0" dirty="0">
                <a:solidFill>
                  <a:srgbClr val="E8F0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公司历程时间轴</a:t>
            </a:r>
            <a:endParaRPr lang="en-US" sz="540" dirty="0"/>
          </a:p>
        </p:txBody>
      </p:sp>
      <p:sp>
        <p:nvSpPr>
          <p:cNvPr id="55" name="Shape 53"/>
          <p:cNvSpPr/>
          <p:nvPr/>
        </p:nvSpPr>
        <p:spPr>
          <a:xfrm>
            <a:off x="4886325" y="2602915"/>
            <a:ext cx="3691890" cy="114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6" name="Text 54"/>
          <p:cNvSpPr/>
          <p:nvPr/>
        </p:nvSpPr>
        <p:spPr>
          <a:xfrm>
            <a:off x="5234940" y="2717215"/>
            <a:ext cx="477774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90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1993</a:t>
            </a:r>
            <a:endParaRPr lang="en-US" sz="990" dirty="0"/>
          </a:p>
        </p:txBody>
      </p:sp>
      <p:sp>
        <p:nvSpPr>
          <p:cNvPr id="57" name="Text 55"/>
          <p:cNvSpPr/>
          <p:nvPr/>
        </p:nvSpPr>
        <p:spPr>
          <a:xfrm>
            <a:off x="5023485" y="2918311"/>
            <a:ext cx="844906" cy="1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红帽公司在美国北卡罗来纳州创立</a:t>
            </a:r>
            <a:endParaRPr lang="en-US" sz="495" dirty="0"/>
          </a:p>
        </p:txBody>
      </p:sp>
      <p:sp>
        <p:nvSpPr>
          <p:cNvPr id="58" name="Shape 56"/>
          <p:cNvSpPr/>
          <p:nvPr/>
        </p:nvSpPr>
        <p:spPr>
          <a:xfrm>
            <a:off x="5349240" y="2534335"/>
            <a:ext cx="102870" cy="102870"/>
          </a:xfrm>
          <a:prstGeom prst="ellipse">
            <a:avLst/>
          </a:prstGeom>
          <a:solidFill>
            <a:srgbClr val="2196F3"/>
          </a:solidFill>
          <a:ln w="17145">
            <a:solidFill>
              <a:srgbClr val="16232E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6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898130" y="2717215"/>
            <a:ext cx="477774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9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2019</a:t>
            </a:r>
            <a:endParaRPr lang="en-US" sz="990" dirty="0"/>
          </a:p>
        </p:txBody>
      </p:sp>
      <p:sp>
        <p:nvSpPr>
          <p:cNvPr id="60" name="Text 58"/>
          <p:cNvSpPr/>
          <p:nvPr/>
        </p:nvSpPr>
        <p:spPr>
          <a:xfrm>
            <a:off x="7663815" y="2918311"/>
            <a:ext cx="896112" cy="1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IBM 以约 340 亿美元完成收购</a:t>
            </a:r>
            <a:endParaRPr lang="en-US" sz="495" dirty="0"/>
          </a:p>
        </p:txBody>
      </p:sp>
      <p:sp>
        <p:nvSpPr>
          <p:cNvPr id="61" name="Shape 59"/>
          <p:cNvSpPr/>
          <p:nvPr/>
        </p:nvSpPr>
        <p:spPr>
          <a:xfrm>
            <a:off x="8012430" y="2534335"/>
            <a:ext cx="102870" cy="102870"/>
          </a:xfrm>
          <a:prstGeom prst="ellipse">
            <a:avLst/>
          </a:prstGeom>
          <a:solidFill>
            <a:srgbClr val="00BCD4"/>
          </a:solidFill>
          <a:ln w="17145">
            <a:solidFill>
              <a:srgbClr val="16232E"/>
            </a:solidFill>
            <a:prstDash val="solid"/>
          </a:ln>
          <a:effectLst>
            <a:outerShdw sx="100000" sy="100000" kx="0" ky="0" algn="bl" rotWithShape="0" blurRad="114300" dist="50800" dir="16200000">
              <a:srgbClr val="00BCD4">
                <a:alpha val="6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663440" y="3444091"/>
            <a:ext cx="4137660" cy="271998"/>
          </a:xfrm>
          <a:prstGeom prst="roundRect">
            <a:avLst>
              <a:gd name="adj" fmla="val 12607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8000"/>
                </a:srgbClr>
              </a:gs>
            </a:gsLst>
            <a:lin ang="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15025" y="3518386"/>
            <a:ext cx="1830629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20" b="1" spc="270" kern="0" dirty="0">
                <a:solidFill>
                  <a:srgbClr val="E8F0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开源改变世界，红帽改写历史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314575"/>
            <a:ext cx="10058400" cy="565785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743200" y="1800225"/>
            <a:ext cx="10058400" cy="5657850"/>
          </a:xfrm>
          <a:prstGeom prst="ellipse">
            <a:avLst/>
          </a:prstGeom>
          <a:gradFill rotWithShape="1">
            <a:gsLst>
              <a:gs pos="0">
                <a:srgbClr val="00BCD4">
                  <a:alpha val="6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8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3760470" y="297180"/>
            <a:ext cx="1623060" cy="171450"/>
          </a:xfrm>
          <a:prstGeom prst="roundRect">
            <a:avLst>
              <a:gd name="adj" fmla="val 3330000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69055" y="360045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90500" dist="50800" dir="16200000">
              <a:srgbClr val="00BCD4">
                <a:alpha val="7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71925" y="337185"/>
            <a:ext cx="134416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13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RED HAT · KEY METRICS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5229225" y="360045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90500" dist="50800" dir="16200000">
              <a:srgbClr val="00BCD4">
                <a:alpha val="7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83330" y="548640"/>
            <a:ext cx="182880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2196F3">
                <a:alpha val="2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98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红帽关键数据</a:t>
            </a:r>
            <a:endParaRPr lang="en-US" sz="1980" dirty="0"/>
          </a:p>
        </p:txBody>
      </p:sp>
      <p:sp>
        <p:nvSpPr>
          <p:cNvPr id="10" name="Text 8"/>
          <p:cNvSpPr/>
          <p:nvPr/>
        </p:nvSpPr>
        <p:spPr>
          <a:xfrm>
            <a:off x="1765935" y="994410"/>
            <a:ext cx="6285586" cy="130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CFD8D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这些数据勾勒出一个事实——红帽不仅是一家成功的开源公司，更是</a:t>
            </a:r>
            <a:pPr algn="ctr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开源生态的核心枢纽</a:t>
            </a:r>
            <a:pPr algn="ctr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CFD8D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，其影响力渗透到 Linux 内核、容器编排、自动化运维等几乎所有关键技术领域。</a:t>
            </a:r>
            <a:endParaRPr lang="en-US" sz="585" dirty="0"/>
          </a:p>
        </p:txBody>
      </p:sp>
      <p:sp>
        <p:nvSpPr>
          <p:cNvPr id="11" name="Shape 9"/>
          <p:cNvSpPr/>
          <p:nvPr/>
        </p:nvSpPr>
        <p:spPr>
          <a:xfrm>
            <a:off x="365760" y="1250156"/>
            <a:ext cx="2735520" cy="1658064"/>
          </a:xfrm>
          <a:prstGeom prst="roundRect">
            <a:avLst>
              <a:gd name="adj" fmla="val 4826"/>
            </a:avLst>
          </a:prstGeom>
          <a:solidFill>
            <a:srgbClr val="2E3D45"/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250156"/>
            <a:ext cx="17145" cy="1646634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86979" y="1318736"/>
            <a:ext cx="34290" cy="34290"/>
          </a:xfrm>
          <a:prstGeom prst="ellipse">
            <a:avLst/>
          </a:prstGeom>
          <a:solidFill>
            <a:srgbClr val="00BCD4">
              <a:alpha val="85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8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4335" y="1278731"/>
            <a:ext cx="57150" cy="5715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394335" y="1278731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4335" y="1278731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5555" y="1278731"/>
            <a:ext cx="57150" cy="5715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3015555" y="1278731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72705" y="1278731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4335" y="2822496"/>
            <a:ext cx="57150" cy="5715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394335" y="2879646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4335" y="2822496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5555" y="2822496"/>
            <a:ext cx="57150" cy="5715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3072705" y="2822496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5555" y="2879646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7205" y="1413034"/>
            <a:ext cx="91440" cy="571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7" name="Text 25"/>
          <p:cNvSpPr/>
          <p:nvPr/>
        </p:nvSpPr>
        <p:spPr>
          <a:xfrm>
            <a:off x="634365" y="1370171"/>
            <a:ext cx="3600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收入规模</a:t>
            </a:r>
            <a:endParaRPr lang="en-US" sz="495" dirty="0"/>
          </a:p>
        </p:txBody>
      </p:sp>
      <p:sp>
        <p:nvSpPr>
          <p:cNvPr id="28" name="Text 26"/>
          <p:cNvSpPr/>
          <p:nvPr/>
        </p:nvSpPr>
        <p:spPr>
          <a:xfrm>
            <a:off x="497205" y="1473041"/>
            <a:ext cx="276934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年收入（被收购前）</a:t>
            </a:r>
            <a:endParaRPr lang="en-US" sz="585" dirty="0"/>
          </a:p>
        </p:txBody>
      </p:sp>
      <p:sp>
        <p:nvSpPr>
          <p:cNvPr id="29" name="Text 27"/>
          <p:cNvSpPr/>
          <p:nvPr/>
        </p:nvSpPr>
        <p:spPr>
          <a:xfrm>
            <a:off x="497205" y="1638776"/>
            <a:ext cx="744093" cy="24003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6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~22</a:t>
            </a:r>
            <a:endParaRPr lang="en-US" sz="1890" dirty="0"/>
          </a:p>
        </p:txBody>
      </p:sp>
      <p:sp>
        <p:nvSpPr>
          <p:cNvPr id="30" name="Text 28"/>
          <p:cNvSpPr/>
          <p:nvPr/>
        </p:nvSpPr>
        <p:spPr>
          <a:xfrm>
            <a:off x="971550" y="1758791"/>
            <a:ext cx="36576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CFD8D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亿 美元</a:t>
            </a:r>
            <a:endParaRPr lang="en-US" sz="630" dirty="0"/>
          </a:p>
        </p:txBody>
      </p:sp>
      <p:sp>
        <p:nvSpPr>
          <p:cNvPr id="31" name="Text 29"/>
          <p:cNvSpPr/>
          <p:nvPr/>
        </p:nvSpPr>
        <p:spPr>
          <a:xfrm>
            <a:off x="497205" y="1924526"/>
            <a:ext cx="276934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REVENUE · PRE-ACQUISITION</a:t>
            </a:r>
            <a:endParaRPr lang="en-US" sz="540" dirty="0"/>
          </a:p>
        </p:txBody>
      </p:sp>
      <p:sp>
        <p:nvSpPr>
          <p:cNvPr id="32" name="Shape 30"/>
          <p:cNvSpPr/>
          <p:nvPr/>
        </p:nvSpPr>
        <p:spPr>
          <a:xfrm>
            <a:off x="497205" y="2084546"/>
            <a:ext cx="27432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3" name="Text 31"/>
          <p:cNvSpPr/>
          <p:nvPr/>
        </p:nvSpPr>
        <p:spPr>
          <a:xfrm>
            <a:off x="497205" y="2147411"/>
            <a:ext cx="2769346" cy="1117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CFD8D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被收购前年收入已达约 22 亿美元，保持连续增长态势。</a:t>
            </a:r>
            <a:endParaRPr lang="en-US" sz="518" dirty="0"/>
          </a:p>
        </p:txBody>
      </p:sp>
      <p:sp>
        <p:nvSpPr>
          <p:cNvPr id="34" name="Shape 32"/>
          <p:cNvSpPr/>
          <p:nvPr/>
        </p:nvSpPr>
        <p:spPr>
          <a:xfrm>
            <a:off x="3204150" y="1250156"/>
            <a:ext cx="2735610" cy="1658064"/>
          </a:xfrm>
          <a:prstGeom prst="roundRect">
            <a:avLst>
              <a:gd name="adj" fmla="val 4826"/>
            </a:avLst>
          </a:prstGeom>
          <a:solidFill>
            <a:srgbClr val="2E3D45"/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4150" y="1250156"/>
            <a:ext cx="17145" cy="1646634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5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825461" y="1318736"/>
            <a:ext cx="34290" cy="34290"/>
          </a:xfrm>
          <a:prstGeom prst="ellipse">
            <a:avLst/>
          </a:prstGeom>
          <a:solidFill>
            <a:srgbClr val="00BCD4">
              <a:alpha val="85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8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32725" y="1278731"/>
            <a:ext cx="57150" cy="57150"/>
          </a:xfrm>
          <a:prstGeom prst="rect">
            <a:avLst/>
          </a:prstGeom>
          <a:noFill/>
          <a:ln/>
        </p:spPr>
      </p:sp>
      <p:sp>
        <p:nvSpPr>
          <p:cNvPr id="38" name="Shape 36"/>
          <p:cNvSpPr/>
          <p:nvPr/>
        </p:nvSpPr>
        <p:spPr>
          <a:xfrm>
            <a:off x="3232725" y="1278731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32725" y="1278731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54035" y="1278731"/>
            <a:ext cx="57150" cy="57150"/>
          </a:xfrm>
          <a:prstGeom prst="rect">
            <a:avLst/>
          </a:prstGeom>
          <a:noFill/>
          <a:ln/>
        </p:spPr>
      </p:sp>
      <p:sp>
        <p:nvSpPr>
          <p:cNvPr id="41" name="Shape 39"/>
          <p:cNvSpPr/>
          <p:nvPr/>
        </p:nvSpPr>
        <p:spPr>
          <a:xfrm>
            <a:off x="5854035" y="1278731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11185" y="1278731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32725" y="2822496"/>
            <a:ext cx="57150" cy="57150"/>
          </a:xfrm>
          <a:prstGeom prst="rect">
            <a:avLst/>
          </a:prstGeom>
          <a:noFill/>
          <a:ln/>
        </p:spPr>
      </p:sp>
      <p:sp>
        <p:nvSpPr>
          <p:cNvPr id="44" name="Shape 42"/>
          <p:cNvSpPr/>
          <p:nvPr/>
        </p:nvSpPr>
        <p:spPr>
          <a:xfrm>
            <a:off x="3232725" y="2879646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32725" y="2822496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54035" y="2822496"/>
            <a:ext cx="57150" cy="57150"/>
          </a:xfrm>
          <a:prstGeom prst="rect">
            <a:avLst/>
          </a:prstGeom>
          <a:noFill/>
          <a:ln/>
        </p:spPr>
      </p:sp>
      <p:sp>
        <p:nvSpPr>
          <p:cNvPr id="47" name="Shape 45"/>
          <p:cNvSpPr/>
          <p:nvPr/>
        </p:nvSpPr>
        <p:spPr>
          <a:xfrm>
            <a:off x="5911185" y="2822496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54035" y="2879646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35595" y="1413034"/>
            <a:ext cx="91440" cy="571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50" name="Text 48"/>
          <p:cNvSpPr/>
          <p:nvPr/>
        </p:nvSpPr>
        <p:spPr>
          <a:xfrm>
            <a:off x="3472755" y="1370171"/>
            <a:ext cx="3600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企业客户</a:t>
            </a:r>
            <a:endParaRPr lang="en-US" sz="495" dirty="0"/>
          </a:p>
        </p:txBody>
      </p:sp>
      <p:sp>
        <p:nvSpPr>
          <p:cNvPr id="51" name="Text 49"/>
          <p:cNvSpPr/>
          <p:nvPr/>
        </p:nvSpPr>
        <p:spPr>
          <a:xfrm>
            <a:off x="3335595" y="1473041"/>
            <a:ext cx="276944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企业客户数</a:t>
            </a:r>
            <a:endParaRPr lang="en-US" sz="585" dirty="0"/>
          </a:p>
        </p:txBody>
      </p:sp>
      <p:sp>
        <p:nvSpPr>
          <p:cNvPr id="52" name="Text 50"/>
          <p:cNvSpPr/>
          <p:nvPr/>
        </p:nvSpPr>
        <p:spPr>
          <a:xfrm>
            <a:off x="3335595" y="1638776"/>
            <a:ext cx="1240155" cy="24003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00BCD4">
                <a:alpha val="7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50,000+</a:t>
            </a:r>
            <a:endParaRPr lang="en-US" sz="1890" dirty="0"/>
          </a:p>
        </p:txBody>
      </p:sp>
      <p:sp>
        <p:nvSpPr>
          <p:cNvPr id="53" name="Text 51"/>
          <p:cNvSpPr/>
          <p:nvPr/>
        </p:nvSpPr>
        <p:spPr>
          <a:xfrm>
            <a:off x="3335595" y="1924526"/>
            <a:ext cx="276944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全球订阅客户</a:t>
            </a:r>
            <a:endParaRPr lang="en-US" sz="540" dirty="0"/>
          </a:p>
        </p:txBody>
      </p:sp>
      <p:sp>
        <p:nvSpPr>
          <p:cNvPr id="54" name="Shape 52"/>
          <p:cNvSpPr/>
          <p:nvPr/>
        </p:nvSpPr>
        <p:spPr>
          <a:xfrm>
            <a:off x="3335595" y="2090261"/>
            <a:ext cx="27432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5" name="Text 53"/>
          <p:cNvSpPr/>
          <p:nvPr/>
        </p:nvSpPr>
        <p:spPr>
          <a:xfrm>
            <a:off x="3335595" y="2153126"/>
            <a:ext cx="2769446" cy="1117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CFD8D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全球超过 5 万家企业订阅客户，含大量财富 500 强公司。</a:t>
            </a:r>
            <a:endParaRPr lang="en-US" sz="518" dirty="0"/>
          </a:p>
        </p:txBody>
      </p:sp>
      <p:sp>
        <p:nvSpPr>
          <p:cNvPr id="56" name="Shape 54"/>
          <p:cNvSpPr/>
          <p:nvPr/>
        </p:nvSpPr>
        <p:spPr>
          <a:xfrm>
            <a:off x="6042630" y="1250156"/>
            <a:ext cx="2735520" cy="1658064"/>
          </a:xfrm>
          <a:prstGeom prst="roundRect">
            <a:avLst>
              <a:gd name="adj" fmla="val 4826"/>
            </a:avLst>
          </a:prstGeom>
          <a:solidFill>
            <a:srgbClr val="2E3D45"/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42630" y="1250156"/>
            <a:ext cx="17145" cy="1646634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5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663849" y="1318736"/>
            <a:ext cx="34290" cy="34290"/>
          </a:xfrm>
          <a:prstGeom prst="ellipse">
            <a:avLst/>
          </a:prstGeom>
          <a:solidFill>
            <a:srgbClr val="00BCD4">
              <a:alpha val="85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8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071205" y="1278731"/>
            <a:ext cx="57150" cy="57150"/>
          </a:xfrm>
          <a:prstGeom prst="rect">
            <a:avLst/>
          </a:prstGeom>
          <a:noFill/>
          <a:ln/>
        </p:spPr>
      </p:sp>
      <p:sp>
        <p:nvSpPr>
          <p:cNvPr id="60" name="Shape 58"/>
          <p:cNvSpPr/>
          <p:nvPr/>
        </p:nvSpPr>
        <p:spPr>
          <a:xfrm>
            <a:off x="6071205" y="1278731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71205" y="1278731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92426" y="1278731"/>
            <a:ext cx="57150" cy="57150"/>
          </a:xfrm>
          <a:prstGeom prst="rect">
            <a:avLst/>
          </a:prstGeom>
          <a:noFill/>
          <a:ln/>
        </p:spPr>
      </p:sp>
      <p:sp>
        <p:nvSpPr>
          <p:cNvPr id="63" name="Shape 61"/>
          <p:cNvSpPr/>
          <p:nvPr/>
        </p:nvSpPr>
        <p:spPr>
          <a:xfrm>
            <a:off x="8692426" y="1278731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49576" y="1278731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71205" y="2822496"/>
            <a:ext cx="57150" cy="57150"/>
          </a:xfrm>
          <a:prstGeom prst="rect">
            <a:avLst/>
          </a:prstGeom>
          <a:noFill/>
          <a:ln/>
        </p:spPr>
      </p:sp>
      <p:sp>
        <p:nvSpPr>
          <p:cNvPr id="66" name="Shape 64"/>
          <p:cNvSpPr/>
          <p:nvPr/>
        </p:nvSpPr>
        <p:spPr>
          <a:xfrm>
            <a:off x="6071205" y="2879646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71205" y="2822496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92426" y="2822496"/>
            <a:ext cx="57150" cy="57150"/>
          </a:xfrm>
          <a:prstGeom prst="rect">
            <a:avLst/>
          </a:prstGeom>
          <a:noFill/>
          <a:ln/>
        </p:spPr>
      </p:sp>
      <p:sp>
        <p:nvSpPr>
          <p:cNvPr id="69" name="Shape 67"/>
          <p:cNvSpPr/>
          <p:nvPr/>
        </p:nvSpPr>
        <p:spPr>
          <a:xfrm>
            <a:off x="8749576" y="2822496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92426" y="2879646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74075" y="1413034"/>
            <a:ext cx="91440" cy="571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2" name="Text 70"/>
          <p:cNvSpPr/>
          <p:nvPr/>
        </p:nvSpPr>
        <p:spPr>
          <a:xfrm>
            <a:off x="6311235" y="1370171"/>
            <a:ext cx="3600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员工规模</a:t>
            </a:r>
            <a:endParaRPr lang="en-US" sz="495" dirty="0"/>
          </a:p>
        </p:txBody>
      </p:sp>
      <p:sp>
        <p:nvSpPr>
          <p:cNvPr id="73" name="Text 71"/>
          <p:cNvSpPr/>
          <p:nvPr/>
        </p:nvSpPr>
        <p:spPr>
          <a:xfrm>
            <a:off x="6174075" y="1473041"/>
            <a:ext cx="276934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全球员工</a:t>
            </a:r>
            <a:endParaRPr lang="en-US" sz="585" dirty="0"/>
          </a:p>
        </p:txBody>
      </p:sp>
      <p:sp>
        <p:nvSpPr>
          <p:cNvPr id="74" name="Text 72"/>
          <p:cNvSpPr/>
          <p:nvPr/>
        </p:nvSpPr>
        <p:spPr>
          <a:xfrm>
            <a:off x="6174075" y="1638776"/>
            <a:ext cx="1240155" cy="24003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6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~18,000</a:t>
            </a:r>
            <a:endParaRPr lang="en-US" sz="1890" dirty="0"/>
          </a:p>
        </p:txBody>
      </p:sp>
      <p:sp>
        <p:nvSpPr>
          <p:cNvPr id="75" name="Text 73"/>
          <p:cNvSpPr/>
          <p:nvPr/>
        </p:nvSpPr>
        <p:spPr>
          <a:xfrm>
            <a:off x="6174075" y="1924526"/>
            <a:ext cx="276934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多国分布</a:t>
            </a:r>
            <a:endParaRPr lang="en-US" sz="540" dirty="0"/>
          </a:p>
        </p:txBody>
      </p:sp>
      <p:sp>
        <p:nvSpPr>
          <p:cNvPr id="76" name="Shape 74"/>
          <p:cNvSpPr/>
          <p:nvPr/>
        </p:nvSpPr>
        <p:spPr>
          <a:xfrm>
            <a:off x="6174075" y="2090261"/>
            <a:ext cx="27432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7" name="Text 75"/>
          <p:cNvSpPr/>
          <p:nvPr/>
        </p:nvSpPr>
        <p:spPr>
          <a:xfrm>
            <a:off x="6174075" y="2153126"/>
            <a:ext cx="2769346" cy="1117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CFD8D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全球员工约 18,000 人，其中工程师占比最高。</a:t>
            </a:r>
            <a:endParaRPr lang="en-US" sz="518" dirty="0"/>
          </a:p>
        </p:txBody>
      </p:sp>
      <p:sp>
        <p:nvSpPr>
          <p:cNvPr id="78" name="Shape 76"/>
          <p:cNvSpPr/>
          <p:nvPr/>
        </p:nvSpPr>
        <p:spPr>
          <a:xfrm>
            <a:off x="365760" y="3011091"/>
            <a:ext cx="2735520" cy="1658064"/>
          </a:xfrm>
          <a:prstGeom prst="roundRect">
            <a:avLst>
              <a:gd name="adj" fmla="val 4826"/>
            </a:avLst>
          </a:prstGeom>
          <a:solidFill>
            <a:srgbClr val="2E3D45"/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5760" y="3011091"/>
            <a:ext cx="17145" cy="1646634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5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2986979" y="3079671"/>
            <a:ext cx="34290" cy="34290"/>
          </a:xfrm>
          <a:prstGeom prst="ellipse">
            <a:avLst/>
          </a:prstGeom>
          <a:solidFill>
            <a:srgbClr val="00BCD4">
              <a:alpha val="85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8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394335" y="3039666"/>
            <a:ext cx="57150" cy="57150"/>
          </a:xfrm>
          <a:prstGeom prst="rect">
            <a:avLst/>
          </a:prstGeom>
          <a:noFill/>
          <a:ln/>
        </p:spPr>
      </p:sp>
      <p:sp>
        <p:nvSpPr>
          <p:cNvPr id="82" name="Shape 80"/>
          <p:cNvSpPr/>
          <p:nvPr/>
        </p:nvSpPr>
        <p:spPr>
          <a:xfrm>
            <a:off x="394335" y="3039666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94335" y="3039666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015555" y="3039666"/>
            <a:ext cx="57150" cy="57150"/>
          </a:xfrm>
          <a:prstGeom prst="rect">
            <a:avLst/>
          </a:prstGeom>
          <a:noFill/>
          <a:ln/>
        </p:spPr>
      </p:sp>
      <p:sp>
        <p:nvSpPr>
          <p:cNvPr id="85" name="Shape 83"/>
          <p:cNvSpPr/>
          <p:nvPr/>
        </p:nvSpPr>
        <p:spPr>
          <a:xfrm>
            <a:off x="3015555" y="3039666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72705" y="3039666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94335" y="4583430"/>
            <a:ext cx="57150" cy="57150"/>
          </a:xfrm>
          <a:prstGeom prst="rect">
            <a:avLst/>
          </a:prstGeom>
          <a:noFill/>
          <a:ln/>
        </p:spPr>
      </p:sp>
      <p:sp>
        <p:nvSpPr>
          <p:cNvPr id="88" name="Shape 86"/>
          <p:cNvSpPr/>
          <p:nvPr/>
        </p:nvSpPr>
        <p:spPr>
          <a:xfrm>
            <a:off x="394335" y="4640580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94335" y="4583430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15555" y="4583430"/>
            <a:ext cx="57150" cy="57150"/>
          </a:xfrm>
          <a:prstGeom prst="rect">
            <a:avLst/>
          </a:prstGeom>
          <a:noFill/>
          <a:ln/>
        </p:spPr>
      </p:sp>
      <p:sp>
        <p:nvSpPr>
          <p:cNvPr id="91" name="Shape 89"/>
          <p:cNvSpPr/>
          <p:nvPr/>
        </p:nvSpPr>
        <p:spPr>
          <a:xfrm>
            <a:off x="3072705" y="4583430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15555" y="4640580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97205" y="3173968"/>
            <a:ext cx="91440" cy="571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4" name="Text 92"/>
          <p:cNvSpPr/>
          <p:nvPr/>
        </p:nvSpPr>
        <p:spPr>
          <a:xfrm>
            <a:off x="634365" y="3131106"/>
            <a:ext cx="57150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Fedora 项目</a:t>
            </a:r>
            <a:endParaRPr lang="en-US" sz="495" dirty="0"/>
          </a:p>
        </p:txBody>
      </p:sp>
      <p:sp>
        <p:nvSpPr>
          <p:cNvPr id="95" name="Text 93"/>
          <p:cNvSpPr/>
          <p:nvPr/>
        </p:nvSpPr>
        <p:spPr>
          <a:xfrm>
            <a:off x="497205" y="3233976"/>
            <a:ext cx="276934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Fedora 运营年数</a:t>
            </a:r>
            <a:endParaRPr lang="en-US" sz="585" dirty="0"/>
          </a:p>
        </p:txBody>
      </p:sp>
      <p:sp>
        <p:nvSpPr>
          <p:cNvPr id="96" name="Text 94"/>
          <p:cNvSpPr/>
          <p:nvPr/>
        </p:nvSpPr>
        <p:spPr>
          <a:xfrm>
            <a:off x="497205" y="3399711"/>
            <a:ext cx="744093" cy="24003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00BCD4">
                <a:alpha val="7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20+</a:t>
            </a:r>
            <a:endParaRPr lang="en-US" sz="1890" dirty="0"/>
          </a:p>
        </p:txBody>
      </p:sp>
      <p:sp>
        <p:nvSpPr>
          <p:cNvPr id="97" name="Text 95"/>
          <p:cNvSpPr/>
          <p:nvPr/>
        </p:nvSpPr>
        <p:spPr>
          <a:xfrm>
            <a:off x="497205" y="3685461"/>
            <a:ext cx="276934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社区上游项目</a:t>
            </a:r>
            <a:endParaRPr lang="en-US" sz="540" dirty="0"/>
          </a:p>
        </p:txBody>
      </p:sp>
      <p:sp>
        <p:nvSpPr>
          <p:cNvPr id="98" name="Shape 96"/>
          <p:cNvSpPr/>
          <p:nvPr/>
        </p:nvSpPr>
        <p:spPr>
          <a:xfrm>
            <a:off x="497205" y="3851196"/>
            <a:ext cx="27432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9" name="Text 97"/>
          <p:cNvSpPr/>
          <p:nvPr/>
        </p:nvSpPr>
        <p:spPr>
          <a:xfrm>
            <a:off x="497205" y="3914061"/>
            <a:ext cx="2769346" cy="1117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CFD8D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作为上游社区项目已运行超过 20 年，贡献者来自全球。</a:t>
            </a:r>
            <a:endParaRPr lang="en-US" sz="518" dirty="0"/>
          </a:p>
        </p:txBody>
      </p:sp>
      <p:sp>
        <p:nvSpPr>
          <p:cNvPr id="100" name="Shape 98"/>
          <p:cNvSpPr/>
          <p:nvPr/>
        </p:nvSpPr>
        <p:spPr>
          <a:xfrm>
            <a:off x="3204150" y="3011091"/>
            <a:ext cx="2735610" cy="1658064"/>
          </a:xfrm>
          <a:prstGeom prst="roundRect">
            <a:avLst>
              <a:gd name="adj" fmla="val 4826"/>
            </a:avLst>
          </a:prstGeom>
          <a:solidFill>
            <a:srgbClr val="2E3D45"/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204150" y="3011091"/>
            <a:ext cx="17145" cy="1646634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5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5825461" y="3079671"/>
            <a:ext cx="34290" cy="34290"/>
          </a:xfrm>
          <a:prstGeom prst="ellipse">
            <a:avLst/>
          </a:prstGeom>
          <a:solidFill>
            <a:srgbClr val="00BCD4">
              <a:alpha val="85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8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3232725" y="3039666"/>
            <a:ext cx="57150" cy="57150"/>
          </a:xfrm>
          <a:prstGeom prst="rect">
            <a:avLst/>
          </a:prstGeom>
          <a:noFill/>
          <a:ln/>
        </p:spPr>
      </p:sp>
      <p:sp>
        <p:nvSpPr>
          <p:cNvPr id="104" name="Shape 102"/>
          <p:cNvSpPr/>
          <p:nvPr/>
        </p:nvSpPr>
        <p:spPr>
          <a:xfrm>
            <a:off x="3232725" y="3039666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232725" y="3039666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854035" y="3039666"/>
            <a:ext cx="57150" cy="57150"/>
          </a:xfrm>
          <a:prstGeom prst="rect">
            <a:avLst/>
          </a:prstGeom>
          <a:noFill/>
          <a:ln/>
        </p:spPr>
      </p:sp>
      <p:sp>
        <p:nvSpPr>
          <p:cNvPr id="107" name="Shape 105"/>
          <p:cNvSpPr/>
          <p:nvPr/>
        </p:nvSpPr>
        <p:spPr>
          <a:xfrm>
            <a:off x="5854035" y="3039666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911185" y="3039666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232725" y="4583430"/>
            <a:ext cx="57150" cy="57150"/>
          </a:xfrm>
          <a:prstGeom prst="rect">
            <a:avLst/>
          </a:prstGeom>
          <a:noFill/>
          <a:ln/>
        </p:spPr>
      </p:sp>
      <p:sp>
        <p:nvSpPr>
          <p:cNvPr id="110" name="Shape 108"/>
          <p:cNvSpPr/>
          <p:nvPr/>
        </p:nvSpPr>
        <p:spPr>
          <a:xfrm>
            <a:off x="3232725" y="4640580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232725" y="4583430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54035" y="4583430"/>
            <a:ext cx="57150" cy="57150"/>
          </a:xfrm>
          <a:prstGeom prst="rect">
            <a:avLst/>
          </a:prstGeom>
          <a:noFill/>
          <a:ln/>
        </p:spPr>
      </p:sp>
      <p:sp>
        <p:nvSpPr>
          <p:cNvPr id="113" name="Shape 111"/>
          <p:cNvSpPr/>
          <p:nvPr/>
        </p:nvSpPr>
        <p:spPr>
          <a:xfrm>
            <a:off x="5911185" y="4583430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54035" y="4640580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335595" y="3171111"/>
            <a:ext cx="91440" cy="571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16" name="Text 114"/>
          <p:cNvSpPr/>
          <p:nvPr/>
        </p:nvSpPr>
        <p:spPr>
          <a:xfrm>
            <a:off x="3472755" y="3131106"/>
            <a:ext cx="80650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Red Hat Summit</a:t>
            </a:r>
            <a:endParaRPr lang="en-US" sz="495" dirty="0"/>
          </a:p>
        </p:txBody>
      </p:sp>
      <p:sp>
        <p:nvSpPr>
          <p:cNvPr id="117" name="Text 115"/>
          <p:cNvSpPr/>
          <p:nvPr/>
        </p:nvSpPr>
        <p:spPr>
          <a:xfrm>
            <a:off x="3335595" y="3228261"/>
            <a:ext cx="276944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Summit 与会国数</a:t>
            </a:r>
            <a:endParaRPr lang="en-US" sz="585" dirty="0"/>
          </a:p>
        </p:txBody>
      </p:sp>
      <p:sp>
        <p:nvSpPr>
          <p:cNvPr id="118" name="Text 116"/>
          <p:cNvSpPr/>
          <p:nvPr/>
        </p:nvSpPr>
        <p:spPr>
          <a:xfrm>
            <a:off x="3335595" y="3393996"/>
            <a:ext cx="912114" cy="24003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6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150+</a:t>
            </a:r>
            <a:endParaRPr lang="en-US" sz="1890" dirty="0"/>
          </a:p>
        </p:txBody>
      </p:sp>
      <p:sp>
        <p:nvSpPr>
          <p:cNvPr id="119" name="Text 117"/>
          <p:cNvSpPr/>
          <p:nvPr/>
        </p:nvSpPr>
        <p:spPr>
          <a:xfrm>
            <a:off x="3335595" y="3679746"/>
            <a:ext cx="276944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年度全球大会</a:t>
            </a:r>
            <a:endParaRPr lang="en-US" sz="540" dirty="0"/>
          </a:p>
        </p:txBody>
      </p:sp>
      <p:sp>
        <p:nvSpPr>
          <p:cNvPr id="120" name="Shape 118"/>
          <p:cNvSpPr/>
          <p:nvPr/>
        </p:nvSpPr>
        <p:spPr>
          <a:xfrm>
            <a:off x="3335595" y="3845481"/>
            <a:ext cx="27432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1" name="Text 119"/>
          <p:cNvSpPr/>
          <p:nvPr/>
        </p:nvSpPr>
        <p:spPr>
          <a:xfrm>
            <a:off x="3335595" y="3908346"/>
            <a:ext cx="2769446" cy="1117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CFD8D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年度全球开源大会，吸引来自 150+ 国家的与会者参与。</a:t>
            </a:r>
            <a:endParaRPr lang="en-US" sz="518" dirty="0"/>
          </a:p>
        </p:txBody>
      </p:sp>
      <p:sp>
        <p:nvSpPr>
          <p:cNvPr id="122" name="Shape 120"/>
          <p:cNvSpPr/>
          <p:nvPr/>
        </p:nvSpPr>
        <p:spPr>
          <a:xfrm>
            <a:off x="6042630" y="3011091"/>
            <a:ext cx="2735520" cy="1658064"/>
          </a:xfrm>
          <a:prstGeom prst="roundRect">
            <a:avLst>
              <a:gd name="adj" fmla="val 4826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5000"/>
                </a:srgbClr>
              </a:gs>
            </a:gsLst>
            <a:lin ang="270000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042630" y="3011091"/>
            <a:ext cx="17145" cy="1646634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50000"/>
              </a:srgbClr>
            </a:outerShdw>
          </a:effectLst>
        </p:spPr>
      </p:sp>
      <p:sp>
        <p:nvSpPr>
          <p:cNvPr id="124" name="Shape 122"/>
          <p:cNvSpPr/>
          <p:nvPr/>
        </p:nvSpPr>
        <p:spPr>
          <a:xfrm>
            <a:off x="8663849" y="3079671"/>
            <a:ext cx="34290" cy="34290"/>
          </a:xfrm>
          <a:prstGeom prst="ellipse">
            <a:avLst/>
          </a:prstGeom>
          <a:solidFill>
            <a:srgbClr val="00BCD4">
              <a:alpha val="85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80000"/>
              </a:srgbClr>
            </a:outerShdw>
          </a:effectLst>
        </p:spPr>
      </p:sp>
      <p:sp>
        <p:nvSpPr>
          <p:cNvPr id="125" name="Shape 123"/>
          <p:cNvSpPr/>
          <p:nvPr/>
        </p:nvSpPr>
        <p:spPr>
          <a:xfrm>
            <a:off x="6071205" y="3039666"/>
            <a:ext cx="57150" cy="57150"/>
          </a:xfrm>
          <a:prstGeom prst="rect">
            <a:avLst/>
          </a:prstGeom>
          <a:noFill/>
          <a:ln/>
        </p:spPr>
      </p:sp>
      <p:sp>
        <p:nvSpPr>
          <p:cNvPr id="126" name="Shape 124"/>
          <p:cNvSpPr/>
          <p:nvPr/>
        </p:nvSpPr>
        <p:spPr>
          <a:xfrm>
            <a:off x="6071205" y="3039666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071205" y="3039666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692426" y="3039666"/>
            <a:ext cx="57150" cy="57150"/>
          </a:xfrm>
          <a:prstGeom prst="rect">
            <a:avLst/>
          </a:prstGeom>
          <a:noFill/>
          <a:ln/>
        </p:spPr>
      </p:sp>
      <p:sp>
        <p:nvSpPr>
          <p:cNvPr id="129" name="Shape 127"/>
          <p:cNvSpPr/>
          <p:nvPr/>
        </p:nvSpPr>
        <p:spPr>
          <a:xfrm>
            <a:off x="8692426" y="3039666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749576" y="3039666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071205" y="4583430"/>
            <a:ext cx="57150" cy="57150"/>
          </a:xfrm>
          <a:prstGeom prst="rect">
            <a:avLst/>
          </a:prstGeom>
          <a:noFill/>
          <a:ln/>
        </p:spPr>
      </p:sp>
      <p:sp>
        <p:nvSpPr>
          <p:cNvPr id="132" name="Shape 130"/>
          <p:cNvSpPr/>
          <p:nvPr/>
        </p:nvSpPr>
        <p:spPr>
          <a:xfrm>
            <a:off x="6071205" y="4640580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071205" y="4583430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692426" y="4583430"/>
            <a:ext cx="57150" cy="57150"/>
          </a:xfrm>
          <a:prstGeom prst="rect">
            <a:avLst/>
          </a:prstGeom>
          <a:noFill/>
          <a:ln/>
        </p:spPr>
      </p:sp>
      <p:sp>
        <p:nvSpPr>
          <p:cNvPr id="135" name="Shape 133"/>
          <p:cNvSpPr/>
          <p:nvPr/>
        </p:nvSpPr>
        <p:spPr>
          <a:xfrm>
            <a:off x="8749576" y="4583430"/>
            <a:ext cx="0" cy="5715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692426" y="4640580"/>
            <a:ext cx="5715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174075" y="3173968"/>
            <a:ext cx="91440" cy="571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38" name="Text 136"/>
          <p:cNvSpPr/>
          <p:nvPr/>
        </p:nvSpPr>
        <p:spPr>
          <a:xfrm>
            <a:off x="6311235" y="3131106"/>
            <a:ext cx="43434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云原生旗舰</a:t>
            </a:r>
            <a:endParaRPr lang="en-US" sz="495" dirty="0"/>
          </a:p>
        </p:txBody>
      </p:sp>
      <p:sp>
        <p:nvSpPr>
          <p:cNvPr id="139" name="Text 137"/>
          <p:cNvSpPr/>
          <p:nvPr/>
        </p:nvSpPr>
        <p:spPr>
          <a:xfrm>
            <a:off x="6174075" y="3233976"/>
            <a:ext cx="276934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社区贡献者</a:t>
            </a:r>
            <a:endParaRPr lang="en-US" sz="585" dirty="0"/>
          </a:p>
        </p:txBody>
      </p:sp>
      <p:sp>
        <p:nvSpPr>
          <p:cNvPr id="140" name="Text 138"/>
          <p:cNvSpPr/>
          <p:nvPr/>
        </p:nvSpPr>
        <p:spPr>
          <a:xfrm>
            <a:off x="6174075" y="3399711"/>
            <a:ext cx="994410" cy="20574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00BCD4">
                <a:alpha val="7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第 2 大</a:t>
            </a:r>
            <a:endParaRPr lang="en-US" sz="1620" dirty="0"/>
          </a:p>
        </p:txBody>
      </p:sp>
      <p:sp>
        <p:nvSpPr>
          <p:cNvPr id="141" name="Text 139"/>
          <p:cNvSpPr/>
          <p:nvPr/>
        </p:nvSpPr>
        <p:spPr>
          <a:xfrm>
            <a:off x="6174075" y="3651171"/>
            <a:ext cx="276934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OPENSHIFT · 旗舰产品</a:t>
            </a:r>
            <a:endParaRPr lang="en-US" sz="540" dirty="0"/>
          </a:p>
        </p:txBody>
      </p:sp>
      <p:sp>
        <p:nvSpPr>
          <p:cNvPr id="142" name="Shape 140"/>
          <p:cNvSpPr/>
          <p:nvPr/>
        </p:nvSpPr>
        <p:spPr>
          <a:xfrm>
            <a:off x="6174075" y="3816906"/>
            <a:ext cx="27432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43" name="Text 141"/>
          <p:cNvSpPr/>
          <p:nvPr/>
        </p:nvSpPr>
        <p:spPr>
          <a:xfrm>
            <a:off x="6174075" y="3879771"/>
            <a:ext cx="2769346" cy="1117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CFD8D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OpenShift 是红帽的云原生旗舰产品，Kubernetes 社区第二大贡献者。</a:t>
            </a:r>
            <a:endParaRPr lang="en-US" sz="518" dirty="0"/>
          </a:p>
        </p:txBody>
      </p:sp>
      <p:sp>
        <p:nvSpPr>
          <p:cNvPr id="144" name="Shape 142"/>
          <p:cNvSpPr/>
          <p:nvPr/>
        </p:nvSpPr>
        <p:spPr>
          <a:xfrm>
            <a:off x="365760" y="4817745"/>
            <a:ext cx="298323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45" name="Text 143"/>
          <p:cNvSpPr/>
          <p:nvPr/>
        </p:nvSpPr>
        <p:spPr>
          <a:xfrm>
            <a:off x="3440430" y="4772025"/>
            <a:ext cx="2534717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一家公司，</a:t>
            </a:r>
            <a:pPr algn="ctr" indent="0" marL="0">
              <a:buNone/>
            </a:pPr>
            <a:r>
              <a:rPr lang="en-US" sz="540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整个生态</a:t>
            </a:r>
            <a:pPr algn="ctr" indent="0" marL="0">
              <a:buNone/>
            </a:pPr>
            <a:r>
              <a:rPr lang="en-US" sz="540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——红帽用数据证明开源可以成就产业级未来</a:t>
            </a:r>
            <a:endParaRPr lang="en-US" sz="540" dirty="0"/>
          </a:p>
        </p:txBody>
      </p:sp>
      <p:sp>
        <p:nvSpPr>
          <p:cNvPr id="146" name="Shape 144"/>
          <p:cNvSpPr/>
          <p:nvPr/>
        </p:nvSpPr>
        <p:spPr>
          <a:xfrm>
            <a:off x="5795010" y="4817745"/>
            <a:ext cx="298323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B2529"/>
              </a:gs>
              <a:gs pos="50000">
                <a:srgbClr val="263238"/>
              </a:gs>
              <a:gs pos="100000">
                <a:srgbClr val="1B2529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" cy="11430"/>
          </a:xfrm>
          <a:prstGeom prst="ellipse">
            <a:avLst/>
          </a:prstGeom>
          <a:noFill/>
          <a:ln/>
          <a:effectLst>
            <a:outerShdw sx="100000" sy="100000" kx="0" ky="0" algn="bl" rotWithShape="0" blurRad="101600" dist="571500" dir="16200000">
              <a:srgbClr val="00BCD4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5715" cy="5715"/>
          </a:xfrm>
          <a:prstGeom prst="ellipse">
            <a:avLst/>
          </a:prstGeom>
          <a:noFill/>
          <a:ln/>
          <a:effectLst>
            <a:outerShdw sx="100000" sy="100000" kx="0" ky="0" algn="bl" rotWithShape="0" blurRad="101600" dist="1428750" dir="16200000">
              <a:srgbClr val="2196F3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0" y="2686050"/>
            <a:ext cx="1828800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" name="Shape 4"/>
          <p:cNvSpPr/>
          <p:nvPr/>
        </p:nvSpPr>
        <p:spPr>
          <a:xfrm rot="2700000">
            <a:off x="4302158" y="3331791"/>
            <a:ext cx="1828800" cy="5715"/>
          </a:xfrm>
          <a:prstGeom prst="rect">
            <a:avLst/>
          </a:prstGeom>
          <a:gradFill rotWithShape="1">
            <a:gsLst>
              <a:gs pos="0">
                <a:srgbClr val="00BCD4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" name="Shape 5"/>
          <p:cNvSpPr/>
          <p:nvPr/>
        </p:nvSpPr>
        <p:spPr>
          <a:xfrm rot="5400000">
            <a:off x="3654743" y="3597593"/>
            <a:ext cx="1828800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" name="Shape 6"/>
          <p:cNvSpPr/>
          <p:nvPr/>
        </p:nvSpPr>
        <p:spPr>
          <a:xfrm rot="8100000">
            <a:off x="3009001" y="3327750"/>
            <a:ext cx="1828800" cy="5715"/>
          </a:xfrm>
          <a:prstGeom prst="rect">
            <a:avLst/>
          </a:prstGeom>
          <a:gradFill rotWithShape="1">
            <a:gsLst>
              <a:gs pos="0">
                <a:srgbClr val="00BCD4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" name="Shape 7"/>
          <p:cNvSpPr/>
          <p:nvPr/>
        </p:nvSpPr>
        <p:spPr>
          <a:xfrm rot="10800000">
            <a:off x="2743200" y="2680335"/>
            <a:ext cx="1828800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0" name="Shape 8"/>
          <p:cNvSpPr/>
          <p:nvPr/>
        </p:nvSpPr>
        <p:spPr>
          <a:xfrm rot="-8100000">
            <a:off x="3013042" y="2034593"/>
            <a:ext cx="1828800" cy="5715"/>
          </a:xfrm>
          <a:prstGeom prst="rect">
            <a:avLst/>
          </a:prstGeom>
          <a:gradFill rotWithShape="1">
            <a:gsLst>
              <a:gs pos="0">
                <a:srgbClr val="00BCD4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1" name="Shape 9"/>
          <p:cNvSpPr/>
          <p:nvPr/>
        </p:nvSpPr>
        <p:spPr>
          <a:xfrm rot="-5400000">
            <a:off x="3660458" y="1768793"/>
            <a:ext cx="1828800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" name="Shape 10"/>
          <p:cNvSpPr/>
          <p:nvPr/>
        </p:nvSpPr>
        <p:spPr>
          <a:xfrm rot="-2700000">
            <a:off x="4306199" y="2038635"/>
            <a:ext cx="1828800" cy="5715"/>
          </a:xfrm>
          <a:prstGeom prst="rect">
            <a:avLst/>
          </a:prstGeom>
          <a:gradFill rotWithShape="1">
            <a:gsLst>
              <a:gs pos="0">
                <a:srgbClr val="00BCD4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3" name="Shape 11"/>
          <p:cNvSpPr/>
          <p:nvPr/>
        </p:nvSpPr>
        <p:spPr>
          <a:xfrm>
            <a:off x="342900" y="377190"/>
            <a:ext cx="22860" cy="1828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4" name="Text 12"/>
          <p:cNvSpPr/>
          <p:nvPr/>
        </p:nvSpPr>
        <p:spPr>
          <a:xfrm>
            <a:off x="457200" y="314325"/>
            <a:ext cx="1634490" cy="2800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800" b="1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开源文化核心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42900" y="662940"/>
            <a:ext cx="8458200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60000"/>
                </a:srgbClr>
              </a:gs>
              <a:gs pos="40000">
                <a:srgbClr val="00BCD4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6" name="Shape 14"/>
          <p:cNvSpPr/>
          <p:nvPr/>
        </p:nvSpPr>
        <p:spPr>
          <a:xfrm>
            <a:off x="342900" y="651510"/>
            <a:ext cx="45720" cy="28575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754380"/>
            <a:ext cx="6381598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0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开源不仅仅是代码许可证的选择，更是一种组织方式和文化信念。红帽把"开放、协作、透明、共享"当作企业 DNA，渗透进产品研发、客户沟通乃至招聘流程的每一个环节。</a:t>
            </a:r>
            <a:endParaRPr lang="en-US" sz="608" dirty="0"/>
          </a:p>
        </p:txBody>
      </p:sp>
      <p:sp>
        <p:nvSpPr>
          <p:cNvPr id="18" name="Shape 16"/>
          <p:cNvSpPr/>
          <p:nvPr/>
        </p:nvSpPr>
        <p:spPr>
          <a:xfrm>
            <a:off x="4572000" y="971371"/>
            <a:ext cx="5715" cy="34290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2196F3">
                  <a:alpha val="25000"/>
                </a:srgbClr>
              </a:gs>
              <a:gs pos="80000">
                <a:srgbClr val="00BCD4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19" name="Shape 17"/>
          <p:cNvSpPr/>
          <p:nvPr/>
        </p:nvSpPr>
        <p:spPr>
          <a:xfrm>
            <a:off x="342900" y="2685871"/>
            <a:ext cx="84582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2196F3">
                  <a:alpha val="25000"/>
                </a:srgbClr>
              </a:gs>
              <a:gs pos="80000">
                <a:srgbClr val="00BCD4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0" name="Shape 18"/>
          <p:cNvSpPr/>
          <p:nvPr/>
        </p:nvSpPr>
        <p:spPr>
          <a:xfrm>
            <a:off x="331470" y="2668726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66810" y="2668726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54855" y="2668726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54855" y="959941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54855" y="4377511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" y="971371"/>
            <a:ext cx="3429000" cy="1143000"/>
          </a:xfrm>
          <a:prstGeom prst="rect">
            <a:avLst/>
          </a:prstGeom>
          <a:gradFill rotWithShape="1">
            <a:gsLst>
              <a:gs pos="0">
                <a:srgbClr val="2A363B"/>
              </a:gs>
              <a:gs pos="100000">
                <a:srgbClr val="263238"/>
              </a:gs>
            </a:gsLst>
            <a:lin ang="27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" y="971371"/>
            <a:ext cx="17145" cy="113157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7" name="Text 25"/>
          <p:cNvSpPr/>
          <p:nvPr/>
        </p:nvSpPr>
        <p:spPr>
          <a:xfrm>
            <a:off x="497205" y="1263194"/>
            <a:ext cx="18288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85" dirty="0"/>
          </a:p>
        </p:txBody>
      </p:sp>
      <p:sp>
        <p:nvSpPr>
          <p:cNvPr id="28" name="Text 26"/>
          <p:cNvSpPr/>
          <p:nvPr/>
        </p:nvSpPr>
        <p:spPr>
          <a:xfrm>
            <a:off x="3507849" y="1217474"/>
            <a:ext cx="310896" cy="182880"/>
          </a:xfrm>
          <a:prstGeom prst="rect">
            <a:avLst/>
          </a:prstGeom>
          <a:noFill/>
          <a:ln/>
          <a:effectLst>
            <a:outerShdw sx="100000" sy="100000" kx="0" ky="0" algn="bl" rotWithShape="0" blurRad="85725" dist="50800" dir="5400000">
              <a:srgbClr val="00BCD4">
                <a:alpha val="6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∞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497205" y="1486079"/>
            <a:ext cx="64008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23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开放协作</a:t>
            </a:r>
            <a:endParaRPr lang="en-US" sz="990" dirty="0"/>
          </a:p>
        </p:txBody>
      </p:sp>
      <p:sp>
        <p:nvSpPr>
          <p:cNvPr id="30" name="Shape 28"/>
          <p:cNvSpPr/>
          <p:nvPr/>
        </p:nvSpPr>
        <p:spPr>
          <a:xfrm>
            <a:off x="497205" y="1674674"/>
            <a:ext cx="274320" cy="114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1" name="Text 29"/>
          <p:cNvSpPr/>
          <p:nvPr/>
        </p:nvSpPr>
        <p:spPr>
          <a:xfrm>
            <a:off x="497205" y="1754684"/>
            <a:ext cx="224668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代码、设计、文档全部公开，任何人都可以参与讨论与贡献。</a:t>
            </a:r>
            <a:endParaRPr lang="en-US" sz="563" dirty="0"/>
          </a:p>
        </p:txBody>
      </p:sp>
      <p:sp>
        <p:nvSpPr>
          <p:cNvPr id="32" name="Shape 30"/>
          <p:cNvSpPr/>
          <p:nvPr/>
        </p:nvSpPr>
        <p:spPr>
          <a:xfrm>
            <a:off x="5372100" y="971371"/>
            <a:ext cx="3429000" cy="1143000"/>
          </a:xfrm>
          <a:prstGeom prst="rect">
            <a:avLst/>
          </a:prstGeom>
          <a:gradFill rotWithShape="1">
            <a:gsLst>
              <a:gs pos="0">
                <a:srgbClr val="2A363B"/>
              </a:gs>
              <a:gs pos="100000">
                <a:srgbClr val="263238"/>
              </a:gs>
            </a:gsLst>
            <a:lin ang="27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72100" y="971371"/>
            <a:ext cx="17145" cy="113157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4" name="Text 32"/>
          <p:cNvSpPr/>
          <p:nvPr/>
        </p:nvSpPr>
        <p:spPr>
          <a:xfrm>
            <a:off x="5526405" y="1263194"/>
            <a:ext cx="19431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85" dirty="0"/>
          </a:p>
        </p:txBody>
      </p:sp>
      <p:sp>
        <p:nvSpPr>
          <p:cNvPr id="35" name="Text 33"/>
          <p:cNvSpPr/>
          <p:nvPr/>
        </p:nvSpPr>
        <p:spPr>
          <a:xfrm>
            <a:off x="8441055" y="1217474"/>
            <a:ext cx="388620" cy="182880"/>
          </a:xfrm>
          <a:prstGeom prst="rect">
            <a:avLst/>
          </a:prstGeom>
          <a:noFill/>
          <a:ln/>
          <a:effectLst>
            <a:outerShdw sx="100000" sy="100000" kx="0" ky="0" algn="bl" rotWithShape="0" blurRad="85725" dist="50800" dir="5400000">
              <a:srgbClr val="00BCD4">
                <a:alpha val="6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◯</a:t>
            </a:r>
            <a:endParaRPr lang="en-US" sz="1440" dirty="0"/>
          </a:p>
        </p:txBody>
      </p:sp>
      <p:sp>
        <p:nvSpPr>
          <p:cNvPr id="36" name="Text 34"/>
          <p:cNvSpPr/>
          <p:nvPr/>
        </p:nvSpPr>
        <p:spPr>
          <a:xfrm>
            <a:off x="5526405" y="1486079"/>
            <a:ext cx="64008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23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社区自治</a:t>
            </a:r>
            <a:endParaRPr lang="en-US" sz="990" dirty="0"/>
          </a:p>
        </p:txBody>
      </p:sp>
      <p:sp>
        <p:nvSpPr>
          <p:cNvPr id="37" name="Shape 35"/>
          <p:cNvSpPr/>
          <p:nvPr/>
        </p:nvSpPr>
        <p:spPr>
          <a:xfrm>
            <a:off x="5526405" y="1674674"/>
            <a:ext cx="274320" cy="114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8" name="Text 36"/>
          <p:cNvSpPr/>
          <p:nvPr/>
        </p:nvSpPr>
        <p:spPr>
          <a:xfrm>
            <a:off x="5526405" y="1754684"/>
            <a:ext cx="224668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决策由社区共识驱动，技术路线图透明，避免单一厂商锁定。</a:t>
            </a:r>
            <a:endParaRPr lang="en-US" sz="563" dirty="0"/>
          </a:p>
        </p:txBody>
      </p:sp>
      <p:sp>
        <p:nvSpPr>
          <p:cNvPr id="39" name="Shape 37"/>
          <p:cNvSpPr/>
          <p:nvPr/>
        </p:nvSpPr>
        <p:spPr>
          <a:xfrm>
            <a:off x="342900" y="3257371"/>
            <a:ext cx="3429000" cy="1143000"/>
          </a:xfrm>
          <a:prstGeom prst="rect">
            <a:avLst/>
          </a:prstGeom>
          <a:gradFill rotWithShape="1">
            <a:gsLst>
              <a:gs pos="0">
                <a:srgbClr val="2A363B"/>
              </a:gs>
              <a:gs pos="100000">
                <a:srgbClr val="263238"/>
              </a:gs>
            </a:gsLst>
            <a:lin ang="27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2900" y="3257371"/>
            <a:ext cx="17145" cy="113157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1" name="Text 39"/>
          <p:cNvSpPr/>
          <p:nvPr/>
        </p:nvSpPr>
        <p:spPr>
          <a:xfrm>
            <a:off x="497205" y="3549194"/>
            <a:ext cx="19431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85" dirty="0"/>
          </a:p>
        </p:txBody>
      </p:sp>
      <p:sp>
        <p:nvSpPr>
          <p:cNvPr id="42" name="Text 40"/>
          <p:cNvSpPr/>
          <p:nvPr/>
        </p:nvSpPr>
        <p:spPr>
          <a:xfrm>
            <a:off x="3463290" y="3503474"/>
            <a:ext cx="337185" cy="182880"/>
          </a:xfrm>
          <a:prstGeom prst="rect">
            <a:avLst/>
          </a:prstGeom>
          <a:noFill/>
          <a:ln/>
          <a:effectLst>
            <a:outerShdw sx="100000" sy="100000" kx="0" ky="0" algn="bl" rotWithShape="0" blurRad="85725" dist="50800" dir="5400000">
              <a:srgbClr val="00BCD4">
                <a:alpha val="6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↻</a:t>
            </a:r>
            <a:endParaRPr lang="en-US" sz="1440" dirty="0"/>
          </a:p>
        </p:txBody>
      </p:sp>
      <p:sp>
        <p:nvSpPr>
          <p:cNvPr id="43" name="Text 41"/>
          <p:cNvSpPr/>
          <p:nvPr/>
        </p:nvSpPr>
        <p:spPr>
          <a:xfrm>
            <a:off x="497205" y="3772079"/>
            <a:ext cx="64008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23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分享优先</a:t>
            </a:r>
            <a:endParaRPr lang="en-US" sz="990" dirty="0"/>
          </a:p>
        </p:txBody>
      </p:sp>
      <p:sp>
        <p:nvSpPr>
          <p:cNvPr id="44" name="Shape 42"/>
          <p:cNvSpPr/>
          <p:nvPr/>
        </p:nvSpPr>
        <p:spPr>
          <a:xfrm>
            <a:off x="497205" y="3960674"/>
            <a:ext cx="274320" cy="114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5" name="Text 43"/>
          <p:cNvSpPr/>
          <p:nvPr/>
        </p:nvSpPr>
        <p:spPr>
          <a:xfrm>
            <a:off x="497205" y="4040684"/>
            <a:ext cx="256032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知识、经验、教训主动外溢，"Give Back"是红帽文化的核心信条。</a:t>
            </a:r>
            <a:endParaRPr lang="en-US" sz="563" dirty="0"/>
          </a:p>
        </p:txBody>
      </p:sp>
      <p:sp>
        <p:nvSpPr>
          <p:cNvPr id="46" name="Shape 44"/>
          <p:cNvSpPr/>
          <p:nvPr/>
        </p:nvSpPr>
        <p:spPr>
          <a:xfrm>
            <a:off x="5372100" y="3257371"/>
            <a:ext cx="3429000" cy="1143000"/>
          </a:xfrm>
          <a:prstGeom prst="rect">
            <a:avLst/>
          </a:prstGeom>
          <a:gradFill rotWithShape="1">
            <a:gsLst>
              <a:gs pos="0">
                <a:srgbClr val="2A363B"/>
              </a:gs>
              <a:gs pos="100000">
                <a:srgbClr val="263238"/>
              </a:gs>
            </a:gsLst>
            <a:lin ang="27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72100" y="3257371"/>
            <a:ext cx="17145" cy="113157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8" name="Text 46"/>
          <p:cNvSpPr/>
          <p:nvPr/>
        </p:nvSpPr>
        <p:spPr>
          <a:xfrm>
            <a:off x="5526405" y="3549194"/>
            <a:ext cx="20002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585" dirty="0"/>
          </a:p>
        </p:txBody>
      </p:sp>
      <p:sp>
        <p:nvSpPr>
          <p:cNvPr id="49" name="Text 47"/>
          <p:cNvSpPr/>
          <p:nvPr/>
        </p:nvSpPr>
        <p:spPr>
          <a:xfrm>
            <a:off x="8503920" y="3503474"/>
            <a:ext cx="325755" cy="182880"/>
          </a:xfrm>
          <a:prstGeom prst="rect">
            <a:avLst/>
          </a:prstGeom>
          <a:noFill/>
          <a:ln/>
          <a:effectLst>
            <a:outerShdw sx="100000" sy="100000" kx="0" ky="0" algn="bl" rotWithShape="0" blurRad="85725" dist="50800" dir="5400000">
              <a:srgbClr val="00BCD4">
                <a:alpha val="6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◈</a:t>
            </a:r>
            <a:endParaRPr lang="en-US" sz="1440" dirty="0"/>
          </a:p>
        </p:txBody>
      </p:sp>
      <p:sp>
        <p:nvSpPr>
          <p:cNvPr id="50" name="Text 48"/>
          <p:cNvSpPr/>
          <p:nvPr/>
        </p:nvSpPr>
        <p:spPr>
          <a:xfrm>
            <a:off x="5526405" y="3772079"/>
            <a:ext cx="64008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23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透明治理</a:t>
            </a:r>
            <a:endParaRPr lang="en-US" sz="990" dirty="0"/>
          </a:p>
        </p:txBody>
      </p:sp>
      <p:sp>
        <p:nvSpPr>
          <p:cNvPr id="51" name="Shape 49"/>
          <p:cNvSpPr/>
          <p:nvPr/>
        </p:nvSpPr>
        <p:spPr>
          <a:xfrm>
            <a:off x="5526405" y="3960674"/>
            <a:ext cx="274320" cy="114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2" name="Text 50"/>
          <p:cNvSpPr/>
          <p:nvPr/>
        </p:nvSpPr>
        <p:spPr>
          <a:xfrm>
            <a:off x="5526405" y="4040684"/>
            <a:ext cx="232989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通过开源基金会与社区章程实现权力制衡，保障生态健康发展。</a:t>
            </a:r>
            <a:endParaRPr lang="en-US" sz="563" dirty="0"/>
          </a:p>
        </p:txBody>
      </p:sp>
      <p:sp>
        <p:nvSpPr>
          <p:cNvPr id="53" name="Shape 51"/>
          <p:cNvSpPr/>
          <p:nvPr/>
        </p:nvSpPr>
        <p:spPr>
          <a:xfrm>
            <a:off x="3714750" y="2057221"/>
            <a:ext cx="1257300" cy="1257300"/>
          </a:xfrm>
          <a:prstGeom prst="ellipse">
            <a:avLst/>
          </a:prstGeom>
          <a:noFill/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381000" dist="50800" dir="16200000">
              <a:srgbClr val="2196F3">
                <a:alpha val="5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329113" y="2057221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329113" y="3285946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714750" y="2671584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943475" y="2671584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829050" y="2171521"/>
            <a:ext cx="1028700" cy="1028700"/>
          </a:xfrm>
          <a:prstGeom prst="ellipse">
            <a:avLst/>
          </a:prstGeom>
          <a:noFill/>
          <a:ln w="5715">
            <a:solidFill>
              <a:srgbClr val="00BCD4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3943350" y="2285821"/>
            <a:ext cx="800100" cy="800100"/>
          </a:xfrm>
          <a:prstGeom prst="ellips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9075" y="2371546"/>
            <a:ext cx="628650" cy="628650"/>
          </a:xfrm>
          <a:prstGeom prst="ellipse">
            <a:avLst/>
          </a:prstGeom>
          <a:gradFill rotWithShape="1">
            <a:gsLst>
              <a:gs pos="0">
                <a:srgbClr val="2196F3">
                  <a:alpha val="25000"/>
                </a:srgbClr>
              </a:gs>
              <a:gs pos="60000">
                <a:srgbClr val="00BCD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1" name="Text 59"/>
          <p:cNvSpPr/>
          <p:nvPr/>
        </p:nvSpPr>
        <p:spPr>
          <a:xfrm>
            <a:off x="4257675" y="2497276"/>
            <a:ext cx="377190" cy="20574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00BCD4">
                <a:alpha val="8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∞</a:t>
            </a:r>
            <a:endParaRPr lang="en-US" sz="1620" dirty="0"/>
          </a:p>
        </p:txBody>
      </p:sp>
      <p:sp>
        <p:nvSpPr>
          <p:cNvPr id="62" name="Text 60"/>
          <p:cNvSpPr/>
          <p:nvPr/>
        </p:nvSpPr>
        <p:spPr>
          <a:xfrm>
            <a:off x="4271963" y="2737306"/>
            <a:ext cx="194310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OSS</a:t>
            </a:r>
            <a:endParaRPr lang="en-US" sz="405" dirty="0"/>
          </a:p>
        </p:txBody>
      </p:sp>
      <p:sp>
        <p:nvSpPr>
          <p:cNvPr id="63" name="Text 61"/>
          <p:cNvSpPr/>
          <p:nvPr/>
        </p:nvSpPr>
        <p:spPr>
          <a:xfrm>
            <a:off x="4120515" y="2817316"/>
            <a:ext cx="499262" cy="571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" spc="68" kern="0" dirty="0">
                <a:solidFill>
                  <a:srgbClr val="607D8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· SHARE</a:t>
            </a:r>
            <a:endParaRPr lang="en-US" sz="360" dirty="0"/>
          </a:p>
        </p:txBody>
      </p:sp>
      <p:sp>
        <p:nvSpPr>
          <p:cNvPr id="64" name="Shape 62"/>
          <p:cNvSpPr/>
          <p:nvPr/>
        </p:nvSpPr>
        <p:spPr>
          <a:xfrm>
            <a:off x="34290" y="5034915"/>
            <a:ext cx="6858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>
                  <a:alpha val="40000"/>
                </a:srgbClr>
              </a:gs>
            </a:gsLst>
            <a:lin ang="0" scaled="0"/>
          </a:gradFill>
          <a:ln/>
        </p:spPr>
      </p:sp>
      <p:sp>
        <p:nvSpPr>
          <p:cNvPr id="65" name="Text 63"/>
          <p:cNvSpPr/>
          <p:nvPr/>
        </p:nvSpPr>
        <p:spPr>
          <a:xfrm>
            <a:off x="765810" y="5000625"/>
            <a:ext cx="128016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607D8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RED HAT · OPEN SOURCE DNA</a:t>
            </a:r>
            <a:endParaRPr lang="en-US" sz="450" dirty="0"/>
          </a:p>
        </p:txBody>
      </p:sp>
      <p:sp>
        <p:nvSpPr>
          <p:cNvPr id="66" name="Text 64"/>
          <p:cNvSpPr/>
          <p:nvPr/>
        </p:nvSpPr>
        <p:spPr>
          <a:xfrm>
            <a:off x="3954780" y="5000625"/>
            <a:ext cx="133136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607D8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P.05 / OPEN SOURCE CULTURE</a:t>
            </a:r>
            <a:endParaRPr lang="en-US" sz="450" dirty="0"/>
          </a:p>
        </p:txBody>
      </p:sp>
      <p:sp>
        <p:nvSpPr>
          <p:cNvPr id="67" name="Text 65"/>
          <p:cNvSpPr/>
          <p:nvPr/>
        </p:nvSpPr>
        <p:spPr>
          <a:xfrm>
            <a:off x="7189470" y="5000625"/>
            <a:ext cx="5632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607D8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CORE VALUES</a:t>
            </a:r>
            <a:endParaRPr lang="en-US" sz="450" dirty="0"/>
          </a:p>
        </p:txBody>
      </p:sp>
      <p:sp>
        <p:nvSpPr>
          <p:cNvPr id="68" name="Shape 66"/>
          <p:cNvSpPr/>
          <p:nvPr/>
        </p:nvSpPr>
        <p:spPr>
          <a:xfrm>
            <a:off x="7738110" y="5034915"/>
            <a:ext cx="6858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BCD4">
                  <a:alpha val="40000"/>
                </a:srgbClr>
              </a:gs>
            </a:gsLst>
            <a:lin ang="10800000" scaled="0"/>
          </a:gra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6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-514350" y="-457200"/>
            <a:ext cx="1600200" cy="1600200"/>
          </a:xfrm>
          <a:prstGeom prst="ellipse">
            <a:avLst/>
          </a:prstGeom>
          <a:noFill/>
          <a:ln w="5715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3543300"/>
            <a:ext cx="2400300" cy="2400300"/>
          </a:xfrm>
          <a:prstGeom prst="ellips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411480"/>
            <a:ext cx="914400" cy="914400"/>
          </a:xfrm>
          <a:prstGeom prst="ellipse">
            <a:avLst/>
          </a:prstGeom>
          <a:noFill/>
          <a:ln w="5715">
            <a:solidFill>
              <a:srgbClr val="00BCD4">
                <a:alpha val="30000"/>
              </a:srgbClr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65760" y="674370"/>
            <a:ext cx="29718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" name="Shape 6"/>
          <p:cNvSpPr/>
          <p:nvPr/>
        </p:nvSpPr>
        <p:spPr>
          <a:xfrm>
            <a:off x="5829300" y="674370"/>
            <a:ext cx="29718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00BCD4"/>
              </a:gs>
              <a:gs pos="67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" name="Shape 7"/>
          <p:cNvSpPr/>
          <p:nvPr/>
        </p:nvSpPr>
        <p:spPr>
          <a:xfrm>
            <a:off x="365760" y="4451985"/>
            <a:ext cx="46863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0" name="Shape 8"/>
          <p:cNvSpPr/>
          <p:nvPr/>
        </p:nvSpPr>
        <p:spPr>
          <a:xfrm>
            <a:off x="640080" y="720090"/>
            <a:ext cx="80010" cy="80010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5715" dist="50800" dir="16200000">
              <a:srgbClr val="00BCD4">
                <a:alpha val="6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0" y="1131570"/>
            <a:ext cx="45720" cy="45720"/>
          </a:xfrm>
          <a:prstGeom prst="ellipse">
            <a:avLst/>
          </a:prstGeom>
          <a:solidFill>
            <a:srgbClr val="2196F3">
              <a:alpha val="50000"/>
            </a:srgbClr>
          </a:solidFill>
          <a:ln/>
          <a:effectLst>
            <a:outerShdw sx="100000" sy="100000" kx="0" ky="0" algn="bl" rotWithShape="0" blurRad="5715" dist="50800" dir="16200000">
              <a:srgbClr val="2196F3">
                <a:alpha val="6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4011930"/>
            <a:ext cx="57150" cy="57150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5715" dist="50800" dir="16200000">
              <a:srgbClr val="00BCD4">
                <a:alpha val="6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0" y="4217670"/>
            <a:ext cx="34290" cy="34290"/>
          </a:xfrm>
          <a:prstGeom prst="ellipse">
            <a:avLst/>
          </a:prstGeom>
          <a:solidFill>
            <a:srgbClr val="2196F3">
              <a:alpha val="50000"/>
            </a:srgbClr>
          </a:solidFill>
          <a:ln/>
          <a:effectLst>
            <a:outerShdw sx="100000" sy="100000" kx="0" ky="0" algn="bl" rotWithShape="0" blurRad="5715" dist="50800" dir="16200000">
              <a:srgbClr val="2196F3">
                <a:alpha val="6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0" y="308610"/>
            <a:ext cx="28575" cy="28575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5715" dist="50800" dir="16200000">
              <a:srgbClr val="00BCD4">
                <a:alpha val="6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0" y="2828925"/>
            <a:ext cx="40005" cy="40005"/>
          </a:xfrm>
          <a:prstGeom prst="ellipse">
            <a:avLst/>
          </a:prstGeom>
          <a:solidFill>
            <a:srgbClr val="2196F3">
              <a:alpha val="50000"/>
            </a:srgbClr>
          </a:solidFill>
          <a:ln/>
          <a:effectLst>
            <a:outerShdw sx="100000" sy="100000" kx="0" ky="0" algn="bl" rotWithShape="0" blurRad="5715" dist="50800" dir="16200000">
              <a:srgbClr val="2196F3">
                <a:alpha val="6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3800" y="571500"/>
            <a:ext cx="1600200" cy="16002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65760" y="297180"/>
            <a:ext cx="8412480" cy="200025"/>
          </a:xfrm>
          <a:prstGeom prst="rect">
            <a:avLst/>
          </a:prstGeom>
          <a:noFill/>
          <a:ln/>
        </p:spPr>
      </p:sp>
      <p:sp>
        <p:nvSpPr>
          <p:cNvPr id="18" name="Shape 15"/>
          <p:cNvSpPr/>
          <p:nvPr/>
        </p:nvSpPr>
        <p:spPr>
          <a:xfrm>
            <a:off x="365760" y="497205"/>
            <a:ext cx="841248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320040"/>
            <a:ext cx="45720" cy="45720"/>
          </a:xfrm>
          <a:prstGeom prst="roundRect">
            <a:avLst>
              <a:gd name="adj" fmla="val 25000"/>
            </a:avLst>
          </a:prstGeom>
          <a:solidFill>
            <a:srgbClr val="2196F3"/>
          </a:solidFill>
          <a:ln/>
          <a:effectLst>
            <a:outerShdw sx="100000" sy="100000" kx="0" ky="0" algn="bl" rotWithShape="0" blurRad="95250" dist="50800" dir="16200000">
              <a:srgbClr val="2196F3">
                <a:alpha val="10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0060" y="297180"/>
            <a:ext cx="167060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7E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EVANGELISM</a:t>
            </a:r>
            <a:endParaRPr lang="en-US" sz="585" dirty="0"/>
          </a:p>
        </p:txBody>
      </p:sp>
      <p:sp>
        <p:nvSpPr>
          <p:cNvPr id="21" name="Text 18"/>
          <p:cNvSpPr/>
          <p:nvPr/>
        </p:nvSpPr>
        <p:spPr>
          <a:xfrm>
            <a:off x="7286625" y="300038"/>
            <a:ext cx="167060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7E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 / TRANSITION  ·  2024</a:t>
            </a:r>
            <a:endParaRPr lang="en-US" sz="495" dirty="0"/>
          </a:p>
        </p:txBody>
      </p:sp>
      <p:sp>
        <p:nvSpPr>
          <p:cNvPr id="22" name="Text 19"/>
          <p:cNvSpPr/>
          <p:nvPr/>
        </p:nvSpPr>
        <p:spPr>
          <a:xfrm>
            <a:off x="365760" y="1366242"/>
            <a:ext cx="307238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7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</a:t>
            </a:r>
            <a:endParaRPr lang="en-US" sz="540" dirty="0"/>
          </a:p>
        </p:txBody>
      </p:sp>
      <p:sp>
        <p:nvSpPr>
          <p:cNvPr id="23" name="Text 20"/>
          <p:cNvSpPr/>
          <p:nvPr/>
        </p:nvSpPr>
        <p:spPr>
          <a:xfrm>
            <a:off x="400050" y="1531977"/>
            <a:ext cx="3840480" cy="1360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2600" b="1" spc="-540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600" dirty="0"/>
          </a:p>
        </p:txBody>
      </p:sp>
      <p:sp>
        <p:nvSpPr>
          <p:cNvPr id="24" name="Text 21"/>
          <p:cNvSpPr/>
          <p:nvPr/>
        </p:nvSpPr>
        <p:spPr>
          <a:xfrm>
            <a:off x="365760" y="1497687"/>
            <a:ext cx="3840480" cy="1360170"/>
          </a:xfrm>
          <a:prstGeom prst="rect">
            <a:avLst/>
          </a:prstGeom>
          <a:noFill/>
          <a:ln/>
          <a:effectLst>
            <a:outerShdw sx="100000" sy="100000" kx="0" ky="0" algn="bl" rotWithShape="0" blurRad="342900" dist="50800" dir="5400000">
              <a:srgbClr val="2196F3">
                <a:alpha val="2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2600" b="1" spc="-54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6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2937867"/>
            <a:ext cx="240030" cy="24003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97230" y="2951083"/>
            <a:ext cx="940918" cy="213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MICROPHONE</a:t>
            </a:r>
            <a:pPr algn="l" indent="0" marL="0">
              <a:lnSpc>
                <a:spcPct val="170000"/>
              </a:lnSpc>
              <a:buNone/>
            </a:pPr>
            <a:r>
              <a:rPr lang="en-US" sz="495" dirty="0">
                <a:solidFill>
                  <a:srgbClr val="7E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</a:t>
            </a:r>
            <a:pPr algn="l" indent="0" marL="0">
              <a:lnSpc>
                <a:spcPct val="170000"/>
              </a:lnSpc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PODIUM</a:t>
            </a:r>
            <a:pPr algn="l" indent="0" marL="0">
              <a:lnSpc>
                <a:spcPct val="170000"/>
              </a:lnSpc>
              <a:buNone/>
            </a:pPr>
            <a:endParaRPr lang="en-US" sz="49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495" dirty="0">
                <a:solidFill>
                  <a:srgbClr val="7E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声音即影响力 · 传播即行动</a:t>
            </a:r>
            <a:endParaRPr lang="en-US" sz="495" dirty="0"/>
          </a:p>
        </p:txBody>
      </p:sp>
      <p:sp>
        <p:nvSpPr>
          <p:cNvPr id="27" name="Shape 23"/>
          <p:cNvSpPr/>
          <p:nvPr/>
        </p:nvSpPr>
        <p:spPr>
          <a:xfrm>
            <a:off x="365760" y="3292197"/>
            <a:ext cx="2743200" cy="496491"/>
          </a:xfrm>
          <a:prstGeom prst="rect">
            <a:avLst/>
          </a:prstGeom>
          <a:noFill/>
          <a:ln/>
        </p:spPr>
      </p:sp>
      <p:sp>
        <p:nvSpPr>
          <p:cNvPr id="28" name="Shape 24"/>
          <p:cNvSpPr/>
          <p:nvPr/>
        </p:nvSpPr>
        <p:spPr>
          <a:xfrm>
            <a:off x="365760" y="3292197"/>
            <a:ext cx="2743200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65760" y="3389352"/>
            <a:ext cx="3072384" cy="399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450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EVANGELIST</a:t>
            </a:r>
            <a:pPr algn="l" indent="0" marL="0">
              <a:lnSpc>
                <a:spcPct val="185000"/>
              </a:lnSpc>
              <a:buNone/>
            </a:pPr>
            <a:r>
              <a:rPr lang="en-US" sz="450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CULTURE</a:t>
            </a:r>
            <a:pPr algn="l" indent="0" marL="0">
              <a:lnSpc>
                <a:spcPct val="185000"/>
              </a:lnSpc>
              <a:buNone/>
            </a:pPr>
            <a:r>
              <a:rPr lang="en-US" sz="450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COMMUNITY</a:t>
            </a:r>
            <a:pPr algn="l" indent="0" marL="0">
              <a:lnSpc>
                <a:spcPct val="185000"/>
              </a:lnSpc>
              <a:buNone/>
            </a:pPr>
            <a:endParaRPr lang="en-US" sz="540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540" dirty="0">
                <a:solidFill>
                  <a:srgbClr val="E0F2F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开源布道者</a:t>
            </a:r>
            <a:pPr algn="l" indent="0" marL="0">
              <a:lnSpc>
                <a:spcPct val="185000"/>
              </a:lnSpc>
              <a:buNone/>
            </a:pPr>
            <a:r>
              <a:rPr lang="en-US" sz="540" dirty="0">
                <a:solidFill>
                  <a:srgbClr val="7E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既是技术实践者，也是文化传播者。通过</a:t>
            </a:r>
            <a:pPr algn="l" indent="0" marL="0">
              <a:lnSpc>
                <a:spcPct val="185000"/>
              </a:lnSpc>
              <a:buNone/>
            </a:pPr>
            <a:r>
              <a:rPr lang="en-US" sz="540" dirty="0">
                <a:solidFill>
                  <a:srgbClr val="E0F2F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演讲、写作、社区运营</a:t>
            </a:r>
            <a:pPr algn="l" indent="0" marL="0">
              <a:lnSpc>
                <a:spcPct val="185000"/>
              </a:lnSpc>
              <a:buNone/>
            </a:pPr>
            <a:r>
              <a:rPr lang="en-US" sz="540" dirty="0">
                <a:solidFill>
                  <a:srgbClr val="7E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等方式，让更多人理解并拥抱开源，将代码背后的</a:t>
            </a:r>
            <a:pPr algn="l" indent="0" marL="0">
              <a:lnSpc>
                <a:spcPct val="185000"/>
              </a:lnSpc>
              <a:buNone/>
            </a:pPr>
            <a:r>
              <a:rPr lang="en-US" sz="540" dirty="0">
                <a:solidFill>
                  <a:srgbClr val="E0F2F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理念与可能性</a:t>
            </a:r>
            <a:pPr algn="l" indent="0" marL="0">
              <a:lnSpc>
                <a:spcPct val="185000"/>
              </a:lnSpc>
              <a:buNone/>
            </a:pPr>
            <a:r>
              <a:rPr lang="en-US" sz="540" dirty="0">
                <a:solidFill>
                  <a:srgbClr val="7E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传递到每一个角落。</a:t>
            </a:r>
            <a:endParaRPr lang="en-US" sz="540" dirty="0"/>
          </a:p>
        </p:txBody>
      </p:sp>
      <p:sp>
        <p:nvSpPr>
          <p:cNvPr id="30" name="Shape 26"/>
          <p:cNvSpPr/>
          <p:nvPr/>
        </p:nvSpPr>
        <p:spPr>
          <a:xfrm>
            <a:off x="365760" y="3395067"/>
            <a:ext cx="445770" cy="140018"/>
          </a:xfrm>
          <a:prstGeom prst="roundRect">
            <a:avLst>
              <a:gd name="adj" fmla="val 12245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65760" y="3395067"/>
            <a:ext cx="502920" cy="140018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EVANGELIST</a:t>
            </a:r>
            <a:endParaRPr lang="en-US" sz="450" dirty="0"/>
          </a:p>
        </p:txBody>
      </p:sp>
      <p:sp>
        <p:nvSpPr>
          <p:cNvPr id="32" name="Shape 28"/>
          <p:cNvSpPr/>
          <p:nvPr/>
        </p:nvSpPr>
        <p:spPr>
          <a:xfrm>
            <a:off x="845820" y="3395067"/>
            <a:ext cx="342900" cy="140018"/>
          </a:xfrm>
          <a:prstGeom prst="roundRect">
            <a:avLst>
              <a:gd name="adj" fmla="val 12245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45820" y="3395067"/>
            <a:ext cx="400050" cy="140018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CULTURE</a:t>
            </a:r>
            <a:endParaRPr lang="en-US" sz="450" dirty="0"/>
          </a:p>
        </p:txBody>
      </p:sp>
      <p:sp>
        <p:nvSpPr>
          <p:cNvPr id="34" name="Shape 30"/>
          <p:cNvSpPr/>
          <p:nvPr/>
        </p:nvSpPr>
        <p:spPr>
          <a:xfrm>
            <a:off x="1223010" y="3395067"/>
            <a:ext cx="411480" cy="140018"/>
          </a:xfrm>
          <a:prstGeom prst="roundRect">
            <a:avLst>
              <a:gd name="adj" fmla="val 12245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223010" y="3395067"/>
            <a:ext cx="468630" cy="140018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COMMUNITY</a:t>
            </a:r>
            <a:endParaRPr lang="en-US" sz="450" dirty="0"/>
          </a:p>
        </p:txBody>
      </p:sp>
      <p:sp>
        <p:nvSpPr>
          <p:cNvPr id="36" name="Text 32"/>
          <p:cNvSpPr/>
          <p:nvPr/>
        </p:nvSpPr>
        <p:spPr>
          <a:xfrm>
            <a:off x="3337560" y="680085"/>
            <a:ext cx="609356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// 第二部分 · PART TWO</a:t>
            </a:r>
            <a:endParaRPr lang="en-US" sz="495" dirty="0"/>
          </a:p>
        </p:txBody>
      </p:sp>
      <p:sp>
        <p:nvSpPr>
          <p:cNvPr id="37" name="Shape 33"/>
          <p:cNvSpPr/>
          <p:nvPr/>
        </p:nvSpPr>
        <p:spPr>
          <a:xfrm>
            <a:off x="3337560" y="1292126"/>
            <a:ext cx="5440680" cy="137160"/>
          </a:xfrm>
          <a:prstGeom prst="rect">
            <a:avLst/>
          </a:prstGeom>
          <a:noFill/>
          <a:ln/>
        </p:spPr>
      </p:sp>
      <p:sp>
        <p:nvSpPr>
          <p:cNvPr id="38" name="Shape 34"/>
          <p:cNvSpPr/>
          <p:nvPr/>
        </p:nvSpPr>
        <p:spPr>
          <a:xfrm>
            <a:off x="3337560" y="1292126"/>
            <a:ext cx="0" cy="13716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337560" y="1292126"/>
            <a:ext cx="6093562" cy="137160"/>
          </a:xfrm>
          <a:prstGeom prst="rect">
            <a:avLst/>
          </a:prstGeom>
          <a:noFill/>
          <a:ln/>
        </p:spPr>
        <p:txBody>
          <a:bodyPr wrap="none" lIns="0" tIns="8001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7E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把文化转化为行动，让世界听见开源</a:t>
            </a:r>
            <a:endParaRPr lang="en-US" sz="675" dirty="0"/>
          </a:p>
        </p:txBody>
      </p:sp>
      <p:sp>
        <p:nvSpPr>
          <p:cNvPr id="40" name="Shape 36"/>
          <p:cNvSpPr/>
          <p:nvPr/>
        </p:nvSpPr>
        <p:spPr>
          <a:xfrm>
            <a:off x="3337560" y="1657886"/>
            <a:ext cx="1760220" cy="1040666"/>
          </a:xfrm>
          <a:prstGeom prst="roundRect">
            <a:avLst>
              <a:gd name="adj" fmla="val 4393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253238">
                  <a:alpha val="40000"/>
                </a:srgbClr>
              </a:gs>
            </a:gsLst>
            <a:lin ang="54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3337560" y="1657886"/>
            <a:ext cx="17145" cy="18288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2" name="Text 38"/>
          <p:cNvSpPr/>
          <p:nvPr/>
        </p:nvSpPr>
        <p:spPr>
          <a:xfrm>
            <a:off x="4806315" y="1709321"/>
            <a:ext cx="29146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2196F3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 03</a:t>
            </a:r>
            <a:endParaRPr lang="en-US" sz="405" dirty="0"/>
          </a:p>
        </p:txBody>
      </p:sp>
      <p:sp>
        <p:nvSpPr>
          <p:cNvPr id="43" name="Text 39"/>
          <p:cNvSpPr/>
          <p:nvPr/>
        </p:nvSpPr>
        <p:spPr>
          <a:xfrm>
            <a:off x="3423285" y="1755041"/>
            <a:ext cx="1779422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70" b="1" spc="-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70" dirty="0"/>
          </a:p>
        </p:txBody>
      </p:sp>
      <p:sp>
        <p:nvSpPr>
          <p:cNvPr id="44" name="Text 40"/>
          <p:cNvSpPr/>
          <p:nvPr/>
        </p:nvSpPr>
        <p:spPr>
          <a:xfrm>
            <a:off x="3423285" y="1955066"/>
            <a:ext cx="1779422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E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本章目标</a:t>
            </a:r>
            <a:endParaRPr lang="en-US" sz="720" dirty="0"/>
          </a:p>
        </p:txBody>
      </p:sp>
      <p:sp>
        <p:nvSpPr>
          <p:cNvPr id="45" name="Shape 41"/>
          <p:cNvSpPr/>
          <p:nvPr/>
        </p:nvSpPr>
        <p:spPr>
          <a:xfrm>
            <a:off x="3423285" y="2137946"/>
            <a:ext cx="18288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6" name="Text 42"/>
          <p:cNvSpPr/>
          <p:nvPr/>
        </p:nvSpPr>
        <p:spPr>
          <a:xfrm>
            <a:off x="3423285" y="2200811"/>
            <a:ext cx="1779422" cy="2234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7E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解析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4FC3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开源布道者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7E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的角色定位、核心方法，以及日常实践的完整路径。</a:t>
            </a:r>
            <a:endParaRPr lang="en-US" sz="518" dirty="0"/>
          </a:p>
        </p:txBody>
      </p:sp>
      <p:sp>
        <p:nvSpPr>
          <p:cNvPr id="47" name="Shape 43"/>
          <p:cNvSpPr/>
          <p:nvPr/>
        </p:nvSpPr>
        <p:spPr>
          <a:xfrm>
            <a:off x="3423285" y="2481382"/>
            <a:ext cx="622935" cy="120015"/>
          </a:xfrm>
          <a:prstGeom prst="roundRect">
            <a:avLst>
              <a:gd name="adj" fmla="val 9524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3423285" y="2481382"/>
            <a:ext cx="697687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ROLE · METHOD</a:t>
            </a:r>
            <a:endParaRPr lang="en-US" sz="450" dirty="0"/>
          </a:p>
        </p:txBody>
      </p:sp>
      <p:sp>
        <p:nvSpPr>
          <p:cNvPr id="49" name="Shape 45"/>
          <p:cNvSpPr/>
          <p:nvPr/>
        </p:nvSpPr>
        <p:spPr>
          <a:xfrm>
            <a:off x="5177790" y="1657886"/>
            <a:ext cx="1760220" cy="1040666"/>
          </a:xfrm>
          <a:prstGeom prst="roundRect">
            <a:avLst>
              <a:gd name="adj" fmla="val 4393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253238">
                  <a:alpha val="40000"/>
                </a:srgbClr>
              </a:gs>
            </a:gsLst>
            <a:lin ang="54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5177790" y="1657886"/>
            <a:ext cx="17145" cy="18288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51" name="Text 47"/>
          <p:cNvSpPr/>
          <p:nvPr/>
        </p:nvSpPr>
        <p:spPr>
          <a:xfrm>
            <a:off x="6646545" y="1709321"/>
            <a:ext cx="29146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2196F3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 03</a:t>
            </a:r>
            <a:endParaRPr lang="en-US" sz="405" dirty="0"/>
          </a:p>
        </p:txBody>
      </p:sp>
      <p:sp>
        <p:nvSpPr>
          <p:cNvPr id="52" name="Text 48"/>
          <p:cNvSpPr/>
          <p:nvPr/>
        </p:nvSpPr>
        <p:spPr>
          <a:xfrm>
            <a:off x="5263515" y="1755041"/>
            <a:ext cx="1779422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70" b="1" spc="-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70" dirty="0"/>
          </a:p>
        </p:txBody>
      </p:sp>
      <p:sp>
        <p:nvSpPr>
          <p:cNvPr id="53" name="Text 49"/>
          <p:cNvSpPr/>
          <p:nvPr/>
        </p:nvSpPr>
        <p:spPr>
          <a:xfrm>
            <a:off x="5263515" y="1955066"/>
            <a:ext cx="1779422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E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布道本质</a:t>
            </a:r>
            <a:endParaRPr lang="en-US" sz="720" dirty="0"/>
          </a:p>
        </p:txBody>
      </p:sp>
      <p:sp>
        <p:nvSpPr>
          <p:cNvPr id="54" name="Shape 50"/>
          <p:cNvSpPr/>
          <p:nvPr/>
        </p:nvSpPr>
        <p:spPr>
          <a:xfrm>
            <a:off x="5263515" y="2137946"/>
            <a:ext cx="18288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5" name="Text 51"/>
          <p:cNvSpPr/>
          <p:nvPr/>
        </p:nvSpPr>
        <p:spPr>
          <a:xfrm>
            <a:off x="5263515" y="2200811"/>
            <a:ext cx="1779422" cy="2234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7E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不是推销产品，而是传递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4FC3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开源带来的可能性与价值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7E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，激发共鸣。</a:t>
            </a:r>
            <a:endParaRPr lang="en-US" sz="518" dirty="0"/>
          </a:p>
        </p:txBody>
      </p:sp>
      <p:sp>
        <p:nvSpPr>
          <p:cNvPr id="56" name="Shape 52"/>
          <p:cNvSpPr/>
          <p:nvPr/>
        </p:nvSpPr>
        <p:spPr>
          <a:xfrm>
            <a:off x="5263515" y="2481382"/>
            <a:ext cx="662940" cy="120015"/>
          </a:xfrm>
          <a:prstGeom prst="roundRect">
            <a:avLst>
              <a:gd name="adj" fmla="val 9524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5263515" y="2481382"/>
            <a:ext cx="742493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VALUE · BELIEF</a:t>
            </a:r>
            <a:endParaRPr lang="en-US" sz="450" dirty="0"/>
          </a:p>
        </p:txBody>
      </p:sp>
      <p:sp>
        <p:nvSpPr>
          <p:cNvPr id="58" name="Shape 54"/>
          <p:cNvSpPr/>
          <p:nvPr/>
        </p:nvSpPr>
        <p:spPr>
          <a:xfrm>
            <a:off x="7018020" y="1657886"/>
            <a:ext cx="1760220" cy="1040666"/>
          </a:xfrm>
          <a:prstGeom prst="roundRect">
            <a:avLst>
              <a:gd name="adj" fmla="val 4393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253238">
                  <a:alpha val="40000"/>
                </a:srgbClr>
              </a:gs>
            </a:gsLst>
            <a:lin ang="54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7018020" y="1657886"/>
            <a:ext cx="17145" cy="18288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60" name="Text 56"/>
          <p:cNvSpPr/>
          <p:nvPr/>
        </p:nvSpPr>
        <p:spPr>
          <a:xfrm>
            <a:off x="8486775" y="1709321"/>
            <a:ext cx="29146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2196F3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 03</a:t>
            </a:r>
            <a:endParaRPr lang="en-US" sz="405" dirty="0"/>
          </a:p>
        </p:txBody>
      </p:sp>
      <p:sp>
        <p:nvSpPr>
          <p:cNvPr id="61" name="Text 57"/>
          <p:cNvSpPr/>
          <p:nvPr/>
        </p:nvSpPr>
        <p:spPr>
          <a:xfrm>
            <a:off x="7103745" y="1755041"/>
            <a:ext cx="1779422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70" b="1" spc="-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70" dirty="0"/>
          </a:p>
        </p:txBody>
      </p:sp>
      <p:sp>
        <p:nvSpPr>
          <p:cNvPr id="62" name="Text 58"/>
          <p:cNvSpPr/>
          <p:nvPr/>
        </p:nvSpPr>
        <p:spPr>
          <a:xfrm>
            <a:off x="7103745" y="1955066"/>
            <a:ext cx="1779422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E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实践维度</a:t>
            </a:r>
            <a:endParaRPr lang="en-US" sz="720" dirty="0"/>
          </a:p>
        </p:txBody>
      </p:sp>
      <p:sp>
        <p:nvSpPr>
          <p:cNvPr id="63" name="Shape 59"/>
          <p:cNvSpPr/>
          <p:nvPr/>
        </p:nvSpPr>
        <p:spPr>
          <a:xfrm>
            <a:off x="7103745" y="2137946"/>
            <a:ext cx="18288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4" name="Text 60"/>
          <p:cNvSpPr/>
          <p:nvPr/>
        </p:nvSpPr>
        <p:spPr>
          <a:xfrm>
            <a:off x="7103745" y="2200811"/>
            <a:ext cx="1779422" cy="111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7E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4FC3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个人品牌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7E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到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4FC3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社区参与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7E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，再到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4FC3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生态构建</a:t>
            </a:r>
            <a:pPr algn="l" indent="0" marL="0">
              <a:lnSpc>
                <a:spcPct val="170000"/>
              </a:lnSpc>
              <a:buNone/>
            </a:pPr>
            <a:r>
              <a:rPr lang="en-US" sz="518" dirty="0">
                <a:solidFill>
                  <a:srgbClr val="7E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的多层次路径。</a:t>
            </a:r>
            <a:endParaRPr lang="en-US" sz="518" dirty="0"/>
          </a:p>
        </p:txBody>
      </p:sp>
      <p:sp>
        <p:nvSpPr>
          <p:cNvPr id="65" name="Shape 61"/>
          <p:cNvSpPr/>
          <p:nvPr/>
        </p:nvSpPr>
        <p:spPr>
          <a:xfrm>
            <a:off x="7103745" y="2369671"/>
            <a:ext cx="662940" cy="120015"/>
          </a:xfrm>
          <a:prstGeom prst="roundRect">
            <a:avLst>
              <a:gd name="adj" fmla="val 9524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7103745" y="2369671"/>
            <a:ext cx="742493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SCALE · IMPACT</a:t>
            </a:r>
            <a:endParaRPr lang="en-US" sz="450" dirty="0"/>
          </a:p>
        </p:txBody>
      </p:sp>
      <p:sp>
        <p:nvSpPr>
          <p:cNvPr id="67" name="Shape 63"/>
          <p:cNvSpPr/>
          <p:nvPr/>
        </p:nvSpPr>
        <p:spPr>
          <a:xfrm>
            <a:off x="365760" y="4612005"/>
            <a:ext cx="8412480" cy="234315"/>
          </a:xfrm>
          <a:prstGeom prst="rect">
            <a:avLst/>
          </a:prstGeom>
          <a:noFill/>
          <a:ln/>
        </p:spPr>
      </p:sp>
      <p:sp>
        <p:nvSpPr>
          <p:cNvPr id="68" name="Shape 64"/>
          <p:cNvSpPr/>
          <p:nvPr/>
        </p:nvSpPr>
        <p:spPr>
          <a:xfrm>
            <a:off x="365760" y="4612005"/>
            <a:ext cx="8412480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365760" y="4697730"/>
            <a:ext cx="4222528" cy="148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10" b="1" spc="135" kern="0" dirty="0">
                <a:solidFill>
                  <a:srgbClr val="E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传递可能性</a:t>
            </a:r>
            <a:pPr algn="l" indent="0" marL="0">
              <a:buNone/>
            </a:pPr>
            <a:r>
              <a:rPr lang="en-US" sz="810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pPr algn="l" indent="0" marL="0">
              <a:buNone/>
            </a:pPr>
            <a:r>
              <a:rPr lang="en-US" sz="810" b="1" spc="135" kern="0" dirty="0">
                <a:solidFill>
                  <a:srgbClr val="E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连接共同体</a:t>
            </a:r>
            <a:pPr algn="l" indent="0" marL="0">
              <a:buNone/>
            </a:pPr>
            <a:r>
              <a:rPr lang="en-US" sz="810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pPr algn="l" indent="0" marL="0">
              <a:buNone/>
            </a:pPr>
            <a:r>
              <a:rPr lang="en-US" sz="585" spc="135" kern="0" dirty="0">
                <a:solidFill>
                  <a:srgbClr val="7E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SPREAD POSSIBILITY · CONNECT THE COMMUNITY </a:t>
            </a:r>
            <a:endParaRPr lang="en-US" sz="810" dirty="0"/>
          </a:p>
        </p:txBody>
      </p:sp>
      <p:sp>
        <p:nvSpPr>
          <p:cNvPr id="70" name="Text 66"/>
          <p:cNvSpPr/>
          <p:nvPr/>
        </p:nvSpPr>
        <p:spPr>
          <a:xfrm>
            <a:off x="6920865" y="4729163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7E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PROGRESS</a:t>
            </a:r>
            <a:endParaRPr lang="en-US" sz="495" dirty="0"/>
          </a:p>
        </p:txBody>
      </p:sp>
      <p:sp>
        <p:nvSpPr>
          <p:cNvPr id="71" name="Shape 67"/>
          <p:cNvSpPr/>
          <p:nvPr/>
        </p:nvSpPr>
        <p:spPr>
          <a:xfrm>
            <a:off x="7298055" y="4763453"/>
            <a:ext cx="1143000" cy="17145"/>
          </a:xfrm>
          <a:prstGeom prst="roundRect">
            <a:avLst>
              <a:gd name="adj" fmla="val 66667"/>
            </a:avLst>
          </a:prstGeom>
          <a:solidFill>
            <a:srgbClr val="2196F3">
              <a:alpha val="15000"/>
            </a:srgbClr>
          </a:solidFill>
          <a:ln/>
        </p:spPr>
      </p:sp>
      <p:sp>
        <p:nvSpPr>
          <p:cNvPr id="72" name="Shape 68"/>
          <p:cNvSpPr/>
          <p:nvPr/>
        </p:nvSpPr>
        <p:spPr>
          <a:xfrm>
            <a:off x="7298055" y="4763453"/>
            <a:ext cx="45720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45000"/>
              </a:srgbClr>
            </a:outerShdw>
          </a:effectLst>
        </p:spPr>
      </p:sp>
      <p:sp>
        <p:nvSpPr>
          <p:cNvPr id="73" name="Text 69"/>
          <p:cNvSpPr/>
          <p:nvPr/>
        </p:nvSpPr>
        <p:spPr>
          <a:xfrm>
            <a:off x="8498205" y="4729163"/>
            <a:ext cx="34290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 05</a:t>
            </a:r>
            <a:endParaRPr lang="en-US" sz="49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B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-457200" y="-571500"/>
            <a:ext cx="2171700" cy="2171700"/>
          </a:xfrm>
          <a:prstGeom prst="ellipse">
            <a:avLst/>
          </a:prstGeom>
          <a:solidFill>
            <a:srgbClr val="2196F3">
              <a:alpha val="18000"/>
            </a:srgbClr>
          </a:solidFill>
          <a:ln/>
          <a:effectLst>
            <a:outerShdw sx="100000" sy="100000" kx="0" ky="0" algn="bl" rotWithShape="0" blurRad="342900" dist="50800" dir="16200000">
              <a:srgbClr val="2196F3">
                <a:alpha val="6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86600" y="3886200"/>
            <a:ext cx="1714500" cy="1714500"/>
          </a:xfrm>
          <a:prstGeom prst="ellipse">
            <a:avLst/>
          </a:prstGeom>
          <a:solidFill>
            <a:srgbClr val="00BCD4">
              <a:alpha val="15000"/>
            </a:srgbClr>
          </a:solidFill>
          <a:ln/>
          <a:effectLst>
            <a:outerShdw sx="100000" sy="100000" kx="0" ky="0" algn="bl" rotWithShape="0" blurRad="342900" dist="50800" dir="16200000">
              <a:srgbClr val="00BCD4">
                <a:alpha val="6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2900" y="337185"/>
            <a:ext cx="34290" cy="2400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2686050" y="502920"/>
            <a:ext cx="15361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EVANGELIST · PRACTICE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342900" y="765810"/>
            <a:ext cx="8001000" cy="143947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342900" y="765810"/>
            <a:ext cx="0" cy="143947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" y="765810"/>
            <a:ext cx="8961120" cy="1439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开源布道不是</a:t>
            </a:r>
            <a:pPr algn="l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单向输出</a:t>
            </a:r>
            <a:pPr algn="l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，而是一个</a:t>
            </a:r>
            <a:pPr algn="l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"参与—输出—反馈—再参与"</a:t>
            </a:r>
            <a:pPr algn="l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的飞轮。每一次代码提交、每一篇博客、每一场演讲，都在让这个飞轮转动得</a:t>
            </a:r>
            <a:pPr algn="l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更有力</a:t>
            </a:r>
            <a:pPr algn="l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</a:t>
            </a:r>
            <a:endParaRPr lang="en-US" sz="630" dirty="0"/>
          </a:p>
        </p:txBody>
      </p:sp>
      <p:sp>
        <p:nvSpPr>
          <p:cNvPr id="11" name="Shape 9"/>
          <p:cNvSpPr/>
          <p:nvPr/>
        </p:nvSpPr>
        <p:spPr>
          <a:xfrm>
            <a:off x="342900" y="1046917"/>
            <a:ext cx="3657600" cy="3485078"/>
          </a:xfrm>
          <a:prstGeom prst="roundRect">
            <a:avLst>
              <a:gd name="adj" fmla="val 2296"/>
            </a:avLst>
          </a:prstGeom>
          <a:gradFill rotWithShape="1">
            <a:gsLst>
              <a:gs pos="0">
                <a:srgbClr val="1E2A31"/>
              </a:gs>
              <a:gs pos="100000">
                <a:srgbClr val="172027"/>
              </a:gs>
            </a:gsLst>
            <a:lin ang="42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  <a:effectLst>
            <a:outerShdw sx="100000" sy="100000" kx="0" ky="0" algn="bl" rotWithShape="0" blurRad="571500" dist="50800" dir="16200000">
              <a:srgbClr val="2196F3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0055" y="1132642"/>
            <a:ext cx="83210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FLYWHEEL_MODEL</a:t>
            </a:r>
            <a:endParaRPr lang="en-US" sz="495" dirty="0"/>
          </a:p>
        </p:txBody>
      </p:sp>
      <p:sp>
        <p:nvSpPr>
          <p:cNvPr id="13" name="Text 11"/>
          <p:cNvSpPr/>
          <p:nvPr/>
        </p:nvSpPr>
        <p:spPr>
          <a:xfrm>
            <a:off x="3400425" y="1132642"/>
            <a:ext cx="56578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0x5 · nodes</a:t>
            </a:r>
            <a:endParaRPr lang="en-US" sz="495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340703"/>
            <a:ext cx="3200400" cy="28003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58359" y="4141053"/>
            <a:ext cx="2269784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" spc="45" kern="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五节点闭环 ·</a:t>
            </a:r>
            <a:pPr algn="ctr" indent="0" marL="0">
              <a:buNone/>
            </a:pPr>
            <a:r>
              <a:rPr lang="en-US" sz="540" b="1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参与 → 输出 → 反馈 → 再参与</a:t>
            </a:r>
            <a:pPr algn="ctr" indent="0" marL="0">
              <a:buNone/>
            </a:pPr>
            <a:r>
              <a:rPr lang="en-US" sz="540" spc="45" kern="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· 持续自驱</a:t>
            </a:r>
            <a:endParaRPr lang="en-US" sz="540" dirty="0"/>
          </a:p>
        </p:txBody>
      </p:sp>
      <p:sp>
        <p:nvSpPr>
          <p:cNvPr id="16" name="Shape 13"/>
          <p:cNvSpPr/>
          <p:nvPr/>
        </p:nvSpPr>
        <p:spPr>
          <a:xfrm>
            <a:off x="4171950" y="1046917"/>
            <a:ext cx="4629150" cy="414873"/>
          </a:xfrm>
          <a:prstGeom prst="roundRect">
            <a:avLst>
              <a:gd name="adj" fmla="val 13775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60000">
                <a:srgbClr val="1E2A31">
                  <a:alpha val="90000"/>
                </a:srgbClr>
              </a:gs>
            </a:gsLst>
            <a:lin ang="0" scaled="0"/>
          </a:gradFill>
          <a:ln w="1714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91965" y="1134338"/>
            <a:ext cx="240030" cy="240030"/>
          </a:xfrm>
          <a:prstGeom prst="ellipse">
            <a:avLst/>
          </a:prstGeom>
          <a:gradFill rotWithShape="1">
            <a:gsLst>
              <a:gs pos="0">
                <a:srgbClr val="2196F3">
                  <a:alpha val="90000"/>
                </a:srgbClr>
              </a:gs>
              <a:gs pos="100000">
                <a:srgbClr val="00BCD4">
                  <a:alpha val="6000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171450" dist="50800" dir="16200000">
              <a:srgbClr val="2196F3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291965" y="1134338"/>
            <a:ext cx="33147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B12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4634865" y="1121212"/>
            <a:ext cx="64008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AF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深度参与社区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5240655" y="1152644"/>
            <a:ext cx="870509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 DEEP ENGAGEMENT</a:t>
            </a:r>
            <a:endParaRPr lang="en-US" sz="450" dirty="0"/>
          </a:p>
        </p:txBody>
      </p:sp>
      <p:sp>
        <p:nvSpPr>
          <p:cNvPr id="21" name="Text 18"/>
          <p:cNvSpPr/>
          <p:nvPr/>
        </p:nvSpPr>
        <p:spPr>
          <a:xfrm>
            <a:off x="4634865" y="1281232"/>
            <a:ext cx="4544568" cy="106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提交代码、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Review PR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、参与议题讨论，用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真实贡献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在社区中建立信任。</a:t>
            </a:r>
            <a:endParaRPr lang="en-US" sz="540" dirty="0"/>
          </a:p>
        </p:txBody>
      </p:sp>
      <p:sp>
        <p:nvSpPr>
          <p:cNvPr id="22" name="Shape 19"/>
          <p:cNvSpPr/>
          <p:nvPr/>
        </p:nvSpPr>
        <p:spPr>
          <a:xfrm>
            <a:off x="4171950" y="1530370"/>
            <a:ext cx="4629150" cy="414873"/>
          </a:xfrm>
          <a:prstGeom prst="roundRect">
            <a:avLst>
              <a:gd name="adj" fmla="val 13775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60000">
                <a:srgbClr val="1E2A31">
                  <a:alpha val="90000"/>
                </a:srgbClr>
              </a:gs>
            </a:gsLst>
            <a:lin ang="0" scaled="0"/>
          </a:gradFill>
          <a:ln w="17145">
            <a:solidFill>
              <a:srgbClr val="34A8F0">
                <a:alpha val="18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91965" y="1617791"/>
            <a:ext cx="240030" cy="240030"/>
          </a:xfrm>
          <a:prstGeom prst="ellipse">
            <a:avLst/>
          </a:prstGeom>
          <a:gradFill rotWithShape="1">
            <a:gsLst>
              <a:gs pos="0">
                <a:srgbClr val="2196F3">
                  <a:alpha val="90000"/>
                </a:srgbClr>
              </a:gs>
              <a:gs pos="100000">
                <a:srgbClr val="00BCD4">
                  <a:alpha val="6000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171450" dist="50800" dir="16200000">
              <a:srgbClr val="2196F3">
                <a:alpha val="4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291965" y="1617791"/>
            <a:ext cx="33147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B12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4634865" y="1604665"/>
            <a:ext cx="64008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AF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持续内容输出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240655" y="1636097"/>
            <a:ext cx="81930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 CONTENT OUTPUT</a:t>
            </a:r>
            <a:endParaRPr lang="en-US" sz="450" dirty="0"/>
          </a:p>
        </p:txBody>
      </p:sp>
      <p:sp>
        <p:nvSpPr>
          <p:cNvPr id="27" name="Text 24"/>
          <p:cNvSpPr/>
          <p:nvPr/>
        </p:nvSpPr>
        <p:spPr>
          <a:xfrm>
            <a:off x="4634865" y="1764685"/>
            <a:ext cx="4544568" cy="106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撰写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技术博客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、录制视频、出版书籍，形成可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广泛传播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的知识资产。</a:t>
            </a:r>
            <a:endParaRPr lang="en-US" sz="540" dirty="0"/>
          </a:p>
        </p:txBody>
      </p:sp>
      <p:sp>
        <p:nvSpPr>
          <p:cNvPr id="28" name="Shape 25"/>
          <p:cNvSpPr/>
          <p:nvPr/>
        </p:nvSpPr>
        <p:spPr>
          <a:xfrm>
            <a:off x="4171950" y="2013823"/>
            <a:ext cx="4629150" cy="414873"/>
          </a:xfrm>
          <a:prstGeom prst="roundRect">
            <a:avLst>
              <a:gd name="adj" fmla="val 13775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60000">
                <a:srgbClr val="1E2A31">
                  <a:alpha val="90000"/>
                </a:srgbClr>
              </a:gs>
            </a:gsLst>
            <a:lin ang="0" scaled="0"/>
          </a:gradFill>
          <a:ln w="1714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91965" y="2101245"/>
            <a:ext cx="240030" cy="240030"/>
          </a:xfrm>
          <a:prstGeom prst="ellipse">
            <a:avLst/>
          </a:prstGeom>
          <a:gradFill rotWithShape="1">
            <a:gsLst>
              <a:gs pos="0">
                <a:srgbClr val="2196F3">
                  <a:alpha val="90000"/>
                </a:srgbClr>
              </a:gs>
              <a:gs pos="100000">
                <a:srgbClr val="00BCD4">
                  <a:alpha val="6000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171450" dist="50800" dir="16200000">
              <a:srgbClr val="2196F3">
                <a:alpha val="4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291965" y="2101245"/>
            <a:ext cx="33147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B12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4634865" y="2088118"/>
            <a:ext cx="64008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AF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公开演讲分享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5240655" y="2119551"/>
            <a:ext cx="870509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 PUBLIC SPEAKING</a:t>
            </a:r>
            <a:endParaRPr lang="en-US" sz="450" dirty="0"/>
          </a:p>
        </p:txBody>
      </p:sp>
      <p:sp>
        <p:nvSpPr>
          <p:cNvPr id="33" name="Text 30"/>
          <p:cNvSpPr/>
          <p:nvPr/>
        </p:nvSpPr>
        <p:spPr>
          <a:xfrm>
            <a:off x="4634865" y="2248138"/>
            <a:ext cx="4544568" cy="106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参加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开源峰会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、Meetup、大学讲座，把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最佳实践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带给更多人。</a:t>
            </a:r>
            <a:endParaRPr lang="en-US" sz="540" dirty="0"/>
          </a:p>
        </p:txBody>
      </p:sp>
      <p:sp>
        <p:nvSpPr>
          <p:cNvPr id="34" name="Shape 31"/>
          <p:cNvSpPr/>
          <p:nvPr/>
        </p:nvSpPr>
        <p:spPr>
          <a:xfrm>
            <a:off x="4171950" y="2497276"/>
            <a:ext cx="4629150" cy="414873"/>
          </a:xfrm>
          <a:prstGeom prst="roundRect">
            <a:avLst>
              <a:gd name="adj" fmla="val 13775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60000">
                <a:srgbClr val="1E2A31">
                  <a:alpha val="90000"/>
                </a:srgbClr>
              </a:gs>
            </a:gsLst>
            <a:lin ang="0" scaled="0"/>
          </a:gradFill>
          <a:ln w="17145">
            <a:solidFill>
              <a:srgbClr val="1E90E0">
                <a:alpha val="18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91965" y="2584698"/>
            <a:ext cx="240030" cy="240030"/>
          </a:xfrm>
          <a:prstGeom prst="ellipse">
            <a:avLst/>
          </a:prstGeom>
          <a:gradFill rotWithShape="1">
            <a:gsLst>
              <a:gs pos="0">
                <a:srgbClr val="2196F3">
                  <a:alpha val="90000"/>
                </a:srgbClr>
              </a:gs>
              <a:gs pos="100000">
                <a:srgbClr val="00BCD4">
                  <a:alpha val="6000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171450" dist="50800" dir="16200000">
              <a:srgbClr val="2196F3">
                <a:alpha val="4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4291965" y="2584698"/>
            <a:ext cx="33147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B12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4634865" y="2571571"/>
            <a:ext cx="76581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AF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mentoring 新人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5366385" y="2603004"/>
            <a:ext cx="5632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 MENTORING</a:t>
            </a:r>
            <a:endParaRPr lang="en-US" sz="450" dirty="0"/>
          </a:p>
        </p:txBody>
      </p:sp>
      <p:sp>
        <p:nvSpPr>
          <p:cNvPr id="39" name="Text 36"/>
          <p:cNvSpPr/>
          <p:nvPr/>
        </p:nvSpPr>
        <p:spPr>
          <a:xfrm>
            <a:off x="4634865" y="2731591"/>
            <a:ext cx="4544568" cy="106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通过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GSoC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Outreachy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等项目，孵化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下一代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开源贡献者。</a:t>
            </a:r>
            <a:endParaRPr lang="en-US" sz="540" dirty="0"/>
          </a:p>
        </p:txBody>
      </p:sp>
      <p:sp>
        <p:nvSpPr>
          <p:cNvPr id="40" name="Shape 37"/>
          <p:cNvSpPr/>
          <p:nvPr/>
        </p:nvSpPr>
        <p:spPr>
          <a:xfrm>
            <a:off x="4171950" y="2980730"/>
            <a:ext cx="4629150" cy="414873"/>
          </a:xfrm>
          <a:prstGeom prst="roundRect">
            <a:avLst>
              <a:gd name="adj" fmla="val 13775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60000">
                <a:srgbClr val="1E2A31">
                  <a:alpha val="90000"/>
                </a:srgbClr>
              </a:gs>
            </a:gsLst>
            <a:lin ang="0" scaled="0"/>
          </a:gradFill>
          <a:ln w="17145">
            <a:solidFill>
              <a:srgbClr val="00ACC1">
                <a:alpha val="18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91965" y="3068151"/>
            <a:ext cx="240030" cy="240030"/>
          </a:xfrm>
          <a:prstGeom prst="ellipse">
            <a:avLst/>
          </a:prstGeom>
          <a:gradFill rotWithShape="1">
            <a:gsLst>
              <a:gs pos="0">
                <a:srgbClr val="2196F3">
                  <a:alpha val="90000"/>
                </a:srgbClr>
              </a:gs>
              <a:gs pos="100000">
                <a:srgbClr val="00BCD4">
                  <a:alpha val="6000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171450" dist="50800" dir="16200000">
              <a:srgbClr val="2196F3">
                <a:alpha val="40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4291965" y="3068151"/>
            <a:ext cx="33147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B12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20" dirty="0"/>
          </a:p>
        </p:txBody>
      </p:sp>
      <p:sp>
        <p:nvSpPr>
          <p:cNvPr id="43" name="Text 40"/>
          <p:cNvSpPr/>
          <p:nvPr/>
        </p:nvSpPr>
        <p:spPr>
          <a:xfrm>
            <a:off x="4634865" y="3055025"/>
            <a:ext cx="64008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AF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构建生态联盟</a:t>
            </a:r>
            <a:endParaRPr lang="en-US" sz="720" dirty="0"/>
          </a:p>
        </p:txBody>
      </p:sp>
      <p:sp>
        <p:nvSpPr>
          <p:cNvPr id="44" name="Text 41"/>
          <p:cNvSpPr/>
          <p:nvPr/>
        </p:nvSpPr>
        <p:spPr>
          <a:xfrm>
            <a:off x="5240655" y="3086457"/>
            <a:ext cx="1024128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 ECOSYSTEM ALLIANCE</a:t>
            </a:r>
            <a:endParaRPr lang="en-US" sz="450" dirty="0"/>
          </a:p>
        </p:txBody>
      </p:sp>
      <p:sp>
        <p:nvSpPr>
          <p:cNvPr id="45" name="Text 42"/>
          <p:cNvSpPr/>
          <p:nvPr/>
        </p:nvSpPr>
        <p:spPr>
          <a:xfrm>
            <a:off x="4634865" y="3215045"/>
            <a:ext cx="4544568" cy="106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推动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企业、高校、基金会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合作，放大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开源影响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的半径。</a:t>
            </a:r>
            <a:endParaRPr lang="en-US" sz="540" dirty="0"/>
          </a:p>
        </p:txBody>
      </p:sp>
      <p:sp>
        <p:nvSpPr>
          <p:cNvPr id="46" name="Shape 43"/>
          <p:cNvSpPr/>
          <p:nvPr/>
        </p:nvSpPr>
        <p:spPr>
          <a:xfrm>
            <a:off x="342900" y="4623435"/>
            <a:ext cx="8458200" cy="291465"/>
          </a:xfrm>
          <a:prstGeom prst="roundRect">
            <a:avLst>
              <a:gd name="adj" fmla="val 15686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12000"/>
                </a:srgbClr>
              </a:gs>
            </a:gsLst>
            <a:lin ang="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548890" y="4746308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5132070" y="4746308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5257800" y="4726305"/>
            <a:ext cx="149778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8EA4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KEEP THE FLYWHEEL SPINNING</a:t>
            </a:r>
            <a:endParaRPr lang="en-US" sz="49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A2327"/>
              </a:gs>
              <a:gs pos="50000">
                <a:srgbClr val="263238"/>
              </a:gs>
              <a:gs pos="100000">
                <a:srgbClr val="1E2A30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3371850" y="297180"/>
            <a:ext cx="2688336" cy="3086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980" b="1" spc="180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 源 生 态 影 响 力</a:t>
            </a:r>
            <a:endParaRPr lang="en-US" sz="1980" dirty="0"/>
          </a:p>
        </p:txBody>
      </p:sp>
      <p:sp>
        <p:nvSpPr>
          <p:cNvPr id="4" name="Shape 2"/>
          <p:cNvSpPr/>
          <p:nvPr/>
        </p:nvSpPr>
        <p:spPr>
          <a:xfrm>
            <a:off x="4229100" y="662940"/>
            <a:ext cx="68580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2543175" y="748665"/>
            <a:ext cx="454456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开源已从边缘走向主流，成为数字经济的底层基础设施，无论是云计算、AI、区块链还是物联网，开源都是推动技术普惠的关键力量。</a:t>
            </a:r>
            <a:endParaRPr lang="en-US" sz="540" dirty="0"/>
          </a:p>
        </p:txBody>
      </p:sp>
      <p:sp>
        <p:nvSpPr>
          <p:cNvPr id="6" name="Shape 4"/>
          <p:cNvSpPr/>
          <p:nvPr/>
        </p:nvSpPr>
        <p:spPr>
          <a:xfrm>
            <a:off x="342900" y="933777"/>
            <a:ext cx="2971800" cy="120015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342900" y="933777"/>
            <a:ext cx="0" cy="120015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8625" y="976640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508635" y="933777"/>
            <a:ext cx="60007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核心数据指标</a:t>
            </a:r>
            <a:endParaRPr lang="en-US" sz="675" dirty="0"/>
          </a:p>
        </p:txBody>
      </p:sp>
      <p:sp>
        <p:nvSpPr>
          <p:cNvPr id="10" name="Shape 8"/>
          <p:cNvSpPr/>
          <p:nvPr/>
        </p:nvSpPr>
        <p:spPr>
          <a:xfrm>
            <a:off x="342900" y="1110942"/>
            <a:ext cx="952440" cy="1721912"/>
          </a:xfrm>
          <a:prstGeom prst="roundRect">
            <a:avLst>
              <a:gd name="adj" fmla="val 7200"/>
            </a:avLst>
          </a:prstGeom>
          <a:solidFill>
            <a:srgbClr val="1F2A32">
              <a:alpha val="85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" y="1110942"/>
            <a:ext cx="941009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graphicFrame>
        <p:nvGraphicFramePr>
          <p:cNvPr id="12" name="Chart 0" descr=""/>
          <p:cNvGraphicFramePr/>
          <p:nvPr/>
        </p:nvGraphicFramePr>
        <p:xfrm>
          <a:off x="453360" y="1503224"/>
          <a:ext cx="73152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587663" y="2240459"/>
            <a:ext cx="5486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500亿+美元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579090" y="2366189"/>
            <a:ext cx="53766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5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2025全球开源市场</a:t>
            </a:r>
            <a:endParaRPr lang="en-US" sz="450" dirty="0"/>
          </a:p>
        </p:txBody>
      </p:sp>
      <p:sp>
        <p:nvSpPr>
          <p:cNvPr id="15" name="Shape 12"/>
          <p:cNvSpPr/>
          <p:nvPr/>
        </p:nvSpPr>
        <p:spPr>
          <a:xfrm>
            <a:off x="1352490" y="1110942"/>
            <a:ext cx="952530" cy="1721912"/>
          </a:xfrm>
          <a:prstGeom prst="roundRect">
            <a:avLst>
              <a:gd name="adj" fmla="val 7200"/>
            </a:avLst>
          </a:prstGeom>
          <a:solidFill>
            <a:srgbClr val="1F2A32">
              <a:alpha val="85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52490" y="1110942"/>
            <a:ext cx="94110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graphicFrame>
        <p:nvGraphicFramePr>
          <p:cNvPr id="17" name="Chart 1" descr=""/>
          <p:cNvGraphicFramePr/>
          <p:nvPr/>
        </p:nvGraphicFramePr>
        <p:xfrm>
          <a:off x="1462951" y="1503224"/>
          <a:ext cx="73152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4"/>
          <p:cNvSpPr/>
          <p:nvPr/>
        </p:nvSpPr>
        <p:spPr>
          <a:xfrm>
            <a:off x="1682978" y="2240459"/>
            <a:ext cx="37719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1.1亿+</a:t>
            </a:r>
            <a:endParaRPr lang="en-US" sz="675" dirty="0"/>
          </a:p>
        </p:txBody>
      </p:sp>
      <p:sp>
        <p:nvSpPr>
          <p:cNvPr id="19" name="Text 15"/>
          <p:cNvSpPr/>
          <p:nvPr/>
        </p:nvSpPr>
        <p:spPr>
          <a:xfrm>
            <a:off x="1582966" y="2366189"/>
            <a:ext cx="550469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5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GitHub全球开发者</a:t>
            </a:r>
            <a:endParaRPr lang="en-US" sz="450" dirty="0"/>
          </a:p>
        </p:txBody>
      </p:sp>
      <p:sp>
        <p:nvSpPr>
          <p:cNvPr id="20" name="Shape 16"/>
          <p:cNvSpPr/>
          <p:nvPr/>
        </p:nvSpPr>
        <p:spPr>
          <a:xfrm>
            <a:off x="2362170" y="1110942"/>
            <a:ext cx="952530" cy="1721912"/>
          </a:xfrm>
          <a:prstGeom prst="roundRect">
            <a:avLst>
              <a:gd name="adj" fmla="val 7200"/>
            </a:avLst>
          </a:prstGeom>
          <a:solidFill>
            <a:srgbClr val="1F2A32">
              <a:alpha val="85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62170" y="1110942"/>
            <a:ext cx="94110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graphicFrame>
        <p:nvGraphicFramePr>
          <p:cNvPr id="22" name="Chart 2" descr=""/>
          <p:cNvGraphicFramePr/>
          <p:nvPr/>
        </p:nvGraphicFramePr>
        <p:xfrm>
          <a:off x="2472630" y="1506081"/>
          <a:ext cx="73152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 18"/>
          <p:cNvSpPr/>
          <p:nvPr/>
        </p:nvSpPr>
        <p:spPr>
          <a:xfrm>
            <a:off x="2735520" y="2237601"/>
            <a:ext cx="32575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&gt;90%</a:t>
            </a:r>
            <a:endParaRPr lang="en-US" sz="675" dirty="0"/>
          </a:p>
        </p:txBody>
      </p:sp>
      <p:sp>
        <p:nvSpPr>
          <p:cNvPr id="24" name="Text 19"/>
          <p:cNvSpPr/>
          <p:nvPr/>
        </p:nvSpPr>
        <p:spPr>
          <a:xfrm>
            <a:off x="2638365" y="2363331"/>
            <a:ext cx="45720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5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企业生产采用率</a:t>
            </a:r>
            <a:endParaRPr lang="en-US" sz="450" dirty="0"/>
          </a:p>
        </p:txBody>
      </p:sp>
      <p:sp>
        <p:nvSpPr>
          <p:cNvPr id="25" name="Shape 20"/>
          <p:cNvSpPr/>
          <p:nvPr/>
        </p:nvSpPr>
        <p:spPr>
          <a:xfrm>
            <a:off x="342900" y="2890004"/>
            <a:ext cx="952440" cy="1722001"/>
          </a:xfrm>
          <a:prstGeom prst="roundRect">
            <a:avLst>
              <a:gd name="adj" fmla="val 7200"/>
            </a:avLst>
          </a:prstGeom>
          <a:solidFill>
            <a:srgbClr val="1F2A32">
              <a:alpha val="85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42900" y="2890004"/>
            <a:ext cx="941009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graphicFrame>
        <p:nvGraphicFramePr>
          <p:cNvPr id="27" name="Chart 3" descr=""/>
          <p:cNvGraphicFramePr/>
          <p:nvPr/>
        </p:nvGraphicFramePr>
        <p:xfrm>
          <a:off x="453360" y="3282375"/>
          <a:ext cx="73152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 22"/>
          <p:cNvSpPr/>
          <p:nvPr/>
        </p:nvSpPr>
        <p:spPr>
          <a:xfrm>
            <a:off x="664815" y="4019610"/>
            <a:ext cx="39433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全球第3</a:t>
            </a:r>
            <a:endParaRPr lang="en-US" sz="675" dirty="0"/>
          </a:p>
        </p:txBody>
      </p:sp>
      <p:sp>
        <p:nvSpPr>
          <p:cNvPr id="29" name="Text 23"/>
          <p:cNvSpPr/>
          <p:nvPr/>
        </p:nvSpPr>
        <p:spPr>
          <a:xfrm>
            <a:off x="619095" y="4145340"/>
            <a:ext cx="45720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5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中国贡献者排名</a:t>
            </a:r>
            <a:endParaRPr lang="en-US" sz="450" dirty="0"/>
          </a:p>
        </p:txBody>
      </p:sp>
      <p:sp>
        <p:nvSpPr>
          <p:cNvPr id="30" name="Shape 24"/>
          <p:cNvSpPr/>
          <p:nvPr/>
        </p:nvSpPr>
        <p:spPr>
          <a:xfrm>
            <a:off x="1352490" y="2890004"/>
            <a:ext cx="952530" cy="1722001"/>
          </a:xfrm>
          <a:prstGeom prst="roundRect">
            <a:avLst>
              <a:gd name="adj" fmla="val 7200"/>
            </a:avLst>
          </a:prstGeom>
          <a:solidFill>
            <a:srgbClr val="1F2A32">
              <a:alpha val="85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352490" y="2890004"/>
            <a:ext cx="94110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graphicFrame>
        <p:nvGraphicFramePr>
          <p:cNvPr id="32" name="Chart 4" descr=""/>
          <p:cNvGraphicFramePr/>
          <p:nvPr/>
        </p:nvGraphicFramePr>
        <p:xfrm>
          <a:off x="1462951" y="3285232"/>
          <a:ext cx="73152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Text 26"/>
          <p:cNvSpPr/>
          <p:nvPr/>
        </p:nvSpPr>
        <p:spPr>
          <a:xfrm>
            <a:off x="1725841" y="4016752"/>
            <a:ext cx="32575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&gt;15%</a:t>
            </a:r>
            <a:endParaRPr lang="en-US" sz="675" dirty="0"/>
          </a:p>
        </p:txBody>
      </p:sp>
      <p:sp>
        <p:nvSpPr>
          <p:cNvPr id="34" name="Text 27"/>
          <p:cNvSpPr/>
          <p:nvPr/>
        </p:nvSpPr>
        <p:spPr>
          <a:xfrm>
            <a:off x="1657261" y="4142482"/>
            <a:ext cx="40005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5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岗位年增长率</a:t>
            </a:r>
            <a:endParaRPr lang="en-US" sz="450" dirty="0"/>
          </a:p>
        </p:txBody>
      </p:sp>
      <p:sp>
        <p:nvSpPr>
          <p:cNvPr id="35" name="Shape 28"/>
          <p:cNvSpPr/>
          <p:nvPr/>
        </p:nvSpPr>
        <p:spPr>
          <a:xfrm>
            <a:off x="2362170" y="2890004"/>
            <a:ext cx="952530" cy="1722001"/>
          </a:xfrm>
          <a:prstGeom prst="roundRect">
            <a:avLst>
              <a:gd name="adj" fmla="val 7200"/>
            </a:avLst>
          </a:prstGeom>
          <a:solidFill>
            <a:srgbClr val="1F2A32">
              <a:alpha val="85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2362170" y="2890004"/>
            <a:ext cx="94110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graphicFrame>
        <p:nvGraphicFramePr>
          <p:cNvPr id="37" name="Chart 5" descr=""/>
          <p:cNvGraphicFramePr/>
          <p:nvPr/>
        </p:nvGraphicFramePr>
        <p:xfrm>
          <a:off x="2472630" y="3282375"/>
          <a:ext cx="73152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8" name="Text 30"/>
          <p:cNvSpPr/>
          <p:nvPr/>
        </p:nvSpPr>
        <p:spPr>
          <a:xfrm>
            <a:off x="2692658" y="4019610"/>
            <a:ext cx="37719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100万+</a:t>
            </a:r>
            <a:endParaRPr lang="en-US" sz="675" dirty="0"/>
          </a:p>
        </p:txBody>
      </p:sp>
      <p:sp>
        <p:nvSpPr>
          <p:cNvPr id="39" name="Text 31"/>
          <p:cNvSpPr/>
          <p:nvPr/>
        </p:nvSpPr>
        <p:spPr>
          <a:xfrm>
            <a:off x="2609790" y="4145340"/>
            <a:ext cx="51435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5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Linux内核贡献者</a:t>
            </a:r>
            <a:endParaRPr lang="en-US" sz="450" dirty="0"/>
          </a:p>
        </p:txBody>
      </p:sp>
      <p:sp>
        <p:nvSpPr>
          <p:cNvPr id="40" name="Shape 32"/>
          <p:cNvSpPr/>
          <p:nvPr/>
        </p:nvSpPr>
        <p:spPr>
          <a:xfrm>
            <a:off x="3474720" y="933777"/>
            <a:ext cx="5326380" cy="2000250"/>
          </a:xfrm>
          <a:prstGeom prst="roundRect">
            <a:avLst>
              <a:gd name="adj" fmla="val 3429"/>
            </a:avLst>
          </a:prstGeom>
          <a:solidFill>
            <a:srgbClr val="1F2A32">
              <a:alpha val="85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3571875" y="996642"/>
            <a:ext cx="5132070" cy="120015"/>
          </a:xfrm>
          <a:prstGeom prst="rect">
            <a:avLst/>
          </a:prstGeom>
          <a:noFill/>
          <a:ln/>
        </p:spPr>
      </p:sp>
      <p:sp>
        <p:nvSpPr>
          <p:cNvPr id="42" name="Shape 34"/>
          <p:cNvSpPr/>
          <p:nvPr/>
        </p:nvSpPr>
        <p:spPr>
          <a:xfrm>
            <a:off x="3571875" y="996642"/>
            <a:ext cx="0" cy="120015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3657600" y="1039505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44" name="Text 36"/>
          <p:cNvSpPr/>
          <p:nvPr/>
        </p:nvSpPr>
        <p:spPr>
          <a:xfrm>
            <a:off x="3737610" y="996642"/>
            <a:ext cx="1152144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开源生态影响力多维度对比</a:t>
            </a:r>
            <a:endParaRPr lang="en-US" sz="675" dirty="0"/>
          </a:p>
        </p:txBody>
      </p:sp>
      <p:graphicFrame>
        <p:nvGraphicFramePr>
          <p:cNvPr id="45" name="Chart 6" descr=""/>
          <p:cNvGraphicFramePr/>
          <p:nvPr/>
        </p:nvGraphicFramePr>
        <p:xfrm>
          <a:off x="4537710" y="1170950"/>
          <a:ext cx="3200400" cy="16573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46" name="Shape 37"/>
          <p:cNvSpPr/>
          <p:nvPr/>
        </p:nvSpPr>
        <p:spPr>
          <a:xfrm>
            <a:off x="3474720" y="2991177"/>
            <a:ext cx="1737360" cy="781794"/>
          </a:xfrm>
          <a:prstGeom prst="roundRect">
            <a:avLst>
              <a:gd name="adj" fmla="val 7310"/>
            </a:avLst>
          </a:prstGeom>
          <a:solidFill>
            <a:srgbClr val="1F2A32">
              <a:alpha val="60000"/>
            </a:srgbClr>
          </a:soli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3474720" y="2991177"/>
            <a:ext cx="17145" cy="770365"/>
          </a:xfrm>
          <a:prstGeom prst="rect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48" name="Text 39"/>
          <p:cNvSpPr/>
          <p:nvPr/>
        </p:nvSpPr>
        <p:spPr>
          <a:xfrm>
            <a:off x="3549015" y="3048327"/>
            <a:ext cx="219456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20" dirty="0"/>
          </a:p>
        </p:txBody>
      </p:sp>
      <p:sp>
        <p:nvSpPr>
          <p:cNvPr id="49" name="Text 40"/>
          <p:cNvSpPr/>
          <p:nvPr/>
        </p:nvSpPr>
        <p:spPr>
          <a:xfrm>
            <a:off x="3549015" y="3179772"/>
            <a:ext cx="38576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18" b="1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内核</a:t>
            </a:r>
            <a:endParaRPr lang="en-US" sz="518" dirty="0"/>
          </a:p>
        </p:txBody>
      </p:sp>
      <p:sp>
        <p:nvSpPr>
          <p:cNvPr id="50" name="Text 41"/>
          <p:cNvSpPr/>
          <p:nvPr/>
        </p:nvSpPr>
        <p:spPr>
          <a:xfrm>
            <a:off x="3549015" y="3282285"/>
            <a:ext cx="140817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全球最广泛使用的操作系统内核，贡献者超过百万</a:t>
            </a:r>
            <a:endParaRPr lang="en-US" sz="428" dirty="0"/>
          </a:p>
        </p:txBody>
      </p:sp>
      <p:sp>
        <p:nvSpPr>
          <p:cNvPr id="51" name="Shape 42"/>
          <p:cNvSpPr/>
          <p:nvPr/>
        </p:nvSpPr>
        <p:spPr>
          <a:xfrm>
            <a:off x="5269230" y="2991177"/>
            <a:ext cx="1737360" cy="781794"/>
          </a:xfrm>
          <a:prstGeom prst="roundRect">
            <a:avLst>
              <a:gd name="adj" fmla="val 7310"/>
            </a:avLst>
          </a:prstGeom>
          <a:solidFill>
            <a:srgbClr val="1F2A32">
              <a:alpha val="60000"/>
            </a:srgbClr>
          </a:soli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5269230" y="2991177"/>
            <a:ext cx="17145" cy="770365"/>
          </a:xfrm>
          <a:prstGeom prst="rect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53" name="Text 44"/>
          <p:cNvSpPr/>
          <p:nvPr/>
        </p:nvSpPr>
        <p:spPr>
          <a:xfrm>
            <a:off x="5343525" y="3048327"/>
            <a:ext cx="22288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20" dirty="0"/>
          </a:p>
        </p:txBody>
      </p:sp>
      <p:sp>
        <p:nvSpPr>
          <p:cNvPr id="54" name="Text 45"/>
          <p:cNvSpPr/>
          <p:nvPr/>
        </p:nvSpPr>
        <p:spPr>
          <a:xfrm>
            <a:off x="5343525" y="3179772"/>
            <a:ext cx="44291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18" b="1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开源经济规模</a:t>
            </a:r>
            <a:endParaRPr lang="en-US" sz="518" dirty="0"/>
          </a:p>
        </p:txBody>
      </p:sp>
      <p:sp>
        <p:nvSpPr>
          <p:cNvPr id="55" name="Text 46"/>
          <p:cNvSpPr/>
          <p:nvPr/>
        </p:nvSpPr>
        <p:spPr>
          <a:xfrm>
            <a:off x="5343525" y="3282285"/>
            <a:ext cx="13569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全球开源软件市场预计2025年达500亿美元以上</a:t>
            </a:r>
            <a:endParaRPr lang="en-US" sz="428" dirty="0"/>
          </a:p>
        </p:txBody>
      </p:sp>
      <p:sp>
        <p:nvSpPr>
          <p:cNvPr id="56" name="Shape 47"/>
          <p:cNvSpPr/>
          <p:nvPr/>
        </p:nvSpPr>
        <p:spPr>
          <a:xfrm>
            <a:off x="7063740" y="2991177"/>
            <a:ext cx="1737360" cy="781794"/>
          </a:xfrm>
          <a:prstGeom prst="roundRect">
            <a:avLst>
              <a:gd name="adj" fmla="val 7310"/>
            </a:avLst>
          </a:prstGeom>
          <a:solidFill>
            <a:srgbClr val="1F2A32">
              <a:alpha val="60000"/>
            </a:srgbClr>
          </a:soli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7063740" y="2991177"/>
            <a:ext cx="17145" cy="770365"/>
          </a:xfrm>
          <a:prstGeom prst="rect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58" name="Text 49"/>
          <p:cNvSpPr/>
          <p:nvPr/>
        </p:nvSpPr>
        <p:spPr>
          <a:xfrm>
            <a:off x="7138035" y="3048327"/>
            <a:ext cx="22860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20" dirty="0"/>
          </a:p>
        </p:txBody>
      </p:sp>
      <p:sp>
        <p:nvSpPr>
          <p:cNvPr id="59" name="Text 50"/>
          <p:cNvSpPr/>
          <p:nvPr/>
        </p:nvSpPr>
        <p:spPr>
          <a:xfrm>
            <a:off x="7138035" y="3179772"/>
            <a:ext cx="43148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18" b="1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用户</a:t>
            </a:r>
            <a:endParaRPr lang="en-US" sz="518" dirty="0"/>
          </a:p>
        </p:txBody>
      </p:sp>
      <p:sp>
        <p:nvSpPr>
          <p:cNvPr id="60" name="Text 51"/>
          <p:cNvSpPr/>
          <p:nvPr/>
        </p:nvSpPr>
        <p:spPr>
          <a:xfrm>
            <a:off x="7138035" y="3282285"/>
            <a:ext cx="152339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全球开发者超过1.1亿，每周新增代码仓库数以百万计</a:t>
            </a:r>
            <a:endParaRPr lang="en-US" sz="428" dirty="0"/>
          </a:p>
        </p:txBody>
      </p:sp>
      <p:sp>
        <p:nvSpPr>
          <p:cNvPr id="61" name="Shape 52"/>
          <p:cNvSpPr/>
          <p:nvPr/>
        </p:nvSpPr>
        <p:spPr>
          <a:xfrm>
            <a:off x="3474720" y="3830122"/>
            <a:ext cx="1737360" cy="781883"/>
          </a:xfrm>
          <a:prstGeom prst="roundRect">
            <a:avLst>
              <a:gd name="adj" fmla="val 7309"/>
            </a:avLst>
          </a:prstGeom>
          <a:solidFill>
            <a:srgbClr val="1F2A32">
              <a:alpha val="60000"/>
            </a:srgbClr>
          </a:soli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62" name="Shape 53"/>
          <p:cNvSpPr/>
          <p:nvPr/>
        </p:nvSpPr>
        <p:spPr>
          <a:xfrm>
            <a:off x="3474720" y="3830122"/>
            <a:ext cx="17145" cy="770451"/>
          </a:xfrm>
          <a:prstGeom prst="rect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63" name="Text 54"/>
          <p:cNvSpPr/>
          <p:nvPr/>
        </p:nvSpPr>
        <p:spPr>
          <a:xfrm>
            <a:off x="3549015" y="3887272"/>
            <a:ext cx="22860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20" dirty="0"/>
          </a:p>
        </p:txBody>
      </p:sp>
      <p:sp>
        <p:nvSpPr>
          <p:cNvPr id="64" name="Text 55"/>
          <p:cNvSpPr/>
          <p:nvPr/>
        </p:nvSpPr>
        <p:spPr>
          <a:xfrm>
            <a:off x="3549015" y="4018717"/>
            <a:ext cx="38004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18" b="1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企业采用率</a:t>
            </a:r>
            <a:endParaRPr lang="en-US" sz="518" dirty="0"/>
          </a:p>
        </p:txBody>
      </p:sp>
      <p:sp>
        <p:nvSpPr>
          <p:cNvPr id="65" name="Text 56"/>
          <p:cNvSpPr/>
          <p:nvPr/>
        </p:nvSpPr>
        <p:spPr>
          <a:xfrm>
            <a:off x="3549015" y="4121229"/>
            <a:ext cx="1267358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超过90%的企业已在生产环境中使用开源软件</a:t>
            </a:r>
            <a:endParaRPr lang="en-US" sz="428" dirty="0"/>
          </a:p>
        </p:txBody>
      </p:sp>
      <p:sp>
        <p:nvSpPr>
          <p:cNvPr id="66" name="Shape 57"/>
          <p:cNvSpPr/>
          <p:nvPr/>
        </p:nvSpPr>
        <p:spPr>
          <a:xfrm>
            <a:off x="5269230" y="3830122"/>
            <a:ext cx="1737360" cy="781883"/>
          </a:xfrm>
          <a:prstGeom prst="roundRect">
            <a:avLst>
              <a:gd name="adj" fmla="val 7309"/>
            </a:avLst>
          </a:prstGeom>
          <a:solidFill>
            <a:srgbClr val="1F2A32">
              <a:alpha val="60000"/>
            </a:srgbClr>
          </a:soli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67" name="Shape 58"/>
          <p:cNvSpPr/>
          <p:nvPr/>
        </p:nvSpPr>
        <p:spPr>
          <a:xfrm>
            <a:off x="5269230" y="3830122"/>
            <a:ext cx="17145" cy="770451"/>
          </a:xfrm>
          <a:prstGeom prst="rect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68" name="Text 59"/>
          <p:cNvSpPr/>
          <p:nvPr/>
        </p:nvSpPr>
        <p:spPr>
          <a:xfrm>
            <a:off x="5343525" y="3887272"/>
            <a:ext cx="22288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20" dirty="0"/>
          </a:p>
        </p:txBody>
      </p:sp>
      <p:sp>
        <p:nvSpPr>
          <p:cNvPr id="69" name="Text 60"/>
          <p:cNvSpPr/>
          <p:nvPr/>
        </p:nvSpPr>
        <p:spPr>
          <a:xfrm>
            <a:off x="5343525" y="4018717"/>
            <a:ext cx="44291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18" b="1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中国开源贡献</a:t>
            </a:r>
            <a:endParaRPr lang="en-US" sz="518" dirty="0"/>
          </a:p>
        </p:txBody>
      </p:sp>
      <p:sp>
        <p:nvSpPr>
          <p:cNvPr id="70" name="Text 61"/>
          <p:cNvSpPr/>
          <p:nvPr/>
        </p:nvSpPr>
        <p:spPr>
          <a:xfrm>
            <a:off x="5343525" y="4121229"/>
            <a:ext cx="160020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中国贡献者数量持续增长，已成为全球第三大开源贡献国</a:t>
            </a:r>
            <a:endParaRPr lang="en-US" sz="428" dirty="0"/>
          </a:p>
        </p:txBody>
      </p:sp>
      <p:sp>
        <p:nvSpPr>
          <p:cNvPr id="71" name="Shape 62"/>
          <p:cNvSpPr/>
          <p:nvPr/>
        </p:nvSpPr>
        <p:spPr>
          <a:xfrm>
            <a:off x="7063740" y="3830122"/>
            <a:ext cx="1737360" cy="781883"/>
          </a:xfrm>
          <a:prstGeom prst="roundRect">
            <a:avLst>
              <a:gd name="adj" fmla="val 7309"/>
            </a:avLst>
          </a:prstGeom>
          <a:solidFill>
            <a:srgbClr val="1F2A32">
              <a:alpha val="60000"/>
            </a:srgbClr>
          </a:soli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72" name="Shape 63"/>
          <p:cNvSpPr/>
          <p:nvPr/>
        </p:nvSpPr>
        <p:spPr>
          <a:xfrm>
            <a:off x="7063740" y="3830122"/>
            <a:ext cx="17145" cy="770451"/>
          </a:xfrm>
          <a:prstGeom prst="rect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73" name="Text 64"/>
          <p:cNvSpPr/>
          <p:nvPr/>
        </p:nvSpPr>
        <p:spPr>
          <a:xfrm>
            <a:off x="7138035" y="3887272"/>
            <a:ext cx="22860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20" dirty="0"/>
          </a:p>
        </p:txBody>
      </p:sp>
      <p:sp>
        <p:nvSpPr>
          <p:cNvPr id="74" name="Text 65"/>
          <p:cNvSpPr/>
          <p:nvPr/>
        </p:nvSpPr>
        <p:spPr>
          <a:xfrm>
            <a:off x="7138035" y="4018717"/>
            <a:ext cx="44291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18" b="1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开源岗位需求</a:t>
            </a:r>
            <a:endParaRPr lang="en-US" sz="518" dirty="0"/>
          </a:p>
        </p:txBody>
      </p:sp>
      <p:sp>
        <p:nvSpPr>
          <p:cNvPr id="75" name="Text 66"/>
          <p:cNvSpPr/>
          <p:nvPr/>
        </p:nvSpPr>
        <p:spPr>
          <a:xfrm>
            <a:off x="7138035" y="4121229"/>
            <a:ext cx="145938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全球开源相关岗位年增长率超过15%，人才缺口明显</a:t>
            </a:r>
            <a:endParaRPr lang="en-US" sz="428" dirty="0"/>
          </a:p>
        </p:txBody>
      </p:sp>
      <p:sp>
        <p:nvSpPr>
          <p:cNvPr id="76" name="Shape 67"/>
          <p:cNvSpPr/>
          <p:nvPr/>
        </p:nvSpPr>
        <p:spPr>
          <a:xfrm>
            <a:off x="342900" y="4680585"/>
            <a:ext cx="8458200" cy="211455"/>
          </a:xfrm>
          <a:prstGeom prst="rect">
            <a:avLst/>
          </a:prstGeom>
          <a:noFill/>
          <a:ln/>
        </p:spPr>
      </p:sp>
      <p:sp>
        <p:nvSpPr>
          <p:cNvPr id="77" name="Shape 68"/>
          <p:cNvSpPr/>
          <p:nvPr/>
        </p:nvSpPr>
        <p:spPr>
          <a:xfrm>
            <a:off x="342900" y="4680585"/>
            <a:ext cx="8458200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78" name="Shape 69"/>
          <p:cNvSpPr/>
          <p:nvPr/>
        </p:nvSpPr>
        <p:spPr>
          <a:xfrm>
            <a:off x="2480310" y="4820603"/>
            <a:ext cx="1143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9" name="Text 70"/>
          <p:cNvSpPr/>
          <p:nvPr/>
        </p:nvSpPr>
        <p:spPr>
          <a:xfrm>
            <a:off x="3714750" y="4772025"/>
            <a:ext cx="19202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spc="180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开源已经成为数字世界的通用语言</a:t>
            </a:r>
            <a:endParaRPr lang="en-US" sz="720" dirty="0"/>
          </a:p>
        </p:txBody>
      </p:sp>
      <p:sp>
        <p:nvSpPr>
          <p:cNvPr id="80" name="Shape 71"/>
          <p:cNvSpPr/>
          <p:nvPr/>
        </p:nvSpPr>
        <p:spPr>
          <a:xfrm>
            <a:off x="5520690" y="4820603"/>
            <a:ext cx="1143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109585" y="0"/>
            <a:ext cx="5715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1028700" y="0"/>
            <a:ext cx="5715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342900" y="291465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0060" y="274320"/>
            <a:ext cx="211226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 04 · LIFELONG LEARNING</a:t>
            </a:r>
            <a:endParaRPr lang="en-US" sz="540" dirty="0"/>
          </a:p>
        </p:txBody>
      </p:sp>
      <p:sp>
        <p:nvSpPr>
          <p:cNvPr id="7" name="Text 5"/>
          <p:cNvSpPr/>
          <p:nvPr/>
        </p:nvSpPr>
        <p:spPr>
          <a:xfrm>
            <a:off x="342900" y="454164"/>
            <a:ext cx="2457450" cy="3120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40" b="1" spc="90" kern="0" dirty="0">
                <a:solidFill>
                  <a:srgbClr val="ECF0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阅读与</a:t>
            </a:r>
            <a:pPr algn="l" indent="0" marL="0">
              <a:lnSpc>
                <a:spcPct val="105000"/>
              </a:lnSpc>
              <a:buNone/>
            </a:pPr>
            <a:r>
              <a:rPr lang="en-US" sz="2340" b="1" spc="90" kern="0" dirty="0">
                <a:solidFill>
                  <a:srgbClr val="ECF0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持续学习</a:t>
            </a:r>
            <a:endParaRPr lang="en-US" sz="2340" dirty="0"/>
          </a:p>
        </p:txBody>
      </p:sp>
      <p:sp>
        <p:nvSpPr>
          <p:cNvPr id="8" name="Text 6"/>
          <p:cNvSpPr/>
          <p:nvPr/>
        </p:nvSpPr>
        <p:spPr>
          <a:xfrm>
            <a:off x="1268730" y="425589"/>
            <a:ext cx="1531620" cy="3600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持续学习</a:t>
            </a:r>
            <a:endParaRPr lang="en-US" sz="2340" dirty="0"/>
          </a:p>
        </p:txBody>
      </p:sp>
      <p:sp>
        <p:nvSpPr>
          <p:cNvPr id="9" name="Text 7"/>
          <p:cNvSpPr/>
          <p:nvPr/>
        </p:nvSpPr>
        <p:spPr>
          <a:xfrm>
            <a:off x="7252335" y="445770"/>
            <a:ext cx="1734617" cy="3203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495" b="1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· READING PATH</a:t>
            </a:r>
            <a:pPr algn="r" indent="0" marL="0">
              <a:lnSpc>
                <a:spcPct val="170000"/>
              </a:lnSpc>
              <a:buNone/>
            </a:pPr>
            <a:endParaRPr lang="en-US" sz="495" dirty="0"/>
          </a:p>
          <a:p>
            <a:pPr algn="r" indent="0" marL="0">
              <a:lnSpc>
                <a:spcPct val="170000"/>
              </a:lnSpc>
              <a:buNone/>
            </a:pPr>
            <a:r>
              <a:rPr lang="en-US" sz="495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FROM README TO GOVERNANCE</a:t>
            </a:r>
            <a:pPr algn="r" indent="0" marL="0">
              <a:lnSpc>
                <a:spcPct val="170000"/>
              </a:lnSpc>
              <a:buNone/>
            </a:pPr>
            <a:endParaRPr lang="en-US" sz="495" dirty="0"/>
          </a:p>
          <a:p>
            <a:pPr algn="r" indent="0" marL="0">
              <a:lnSpc>
                <a:spcPct val="170000"/>
              </a:lnSpc>
              <a:buNone/>
            </a:pPr>
            <a:r>
              <a:rPr lang="en-US" sz="495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开源即活教科书 · A Living Textbook </a:t>
            </a:r>
            <a:endParaRPr lang="en-US" sz="495" dirty="0"/>
          </a:p>
        </p:txBody>
      </p:sp>
      <p:sp>
        <p:nvSpPr>
          <p:cNvPr id="10" name="Shape 8"/>
          <p:cNvSpPr/>
          <p:nvPr/>
        </p:nvSpPr>
        <p:spPr>
          <a:xfrm>
            <a:off x="342900" y="846177"/>
            <a:ext cx="7886700" cy="371475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342900" y="846177"/>
            <a:ext cx="0" cy="371475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" y="846177"/>
            <a:ext cx="8833104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开源学习的最佳方式，就是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动手加阅读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——从读懂一篇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README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开始，到追踪一段代码的演变，再到理解一个社区的治理规则。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开源世界本身就是一部活教科书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，每一次阅读都是一次与世界级工程师的对话，每一次思考都在构筑属于自己的知识阶梯。</a:t>
            </a:r>
            <a:endParaRPr lang="en-US" sz="630" dirty="0"/>
          </a:p>
        </p:txBody>
      </p:sp>
      <p:sp>
        <p:nvSpPr>
          <p:cNvPr id="13" name="Shape 11"/>
          <p:cNvSpPr/>
          <p:nvPr/>
        </p:nvSpPr>
        <p:spPr>
          <a:xfrm>
            <a:off x="342900" y="1366242"/>
            <a:ext cx="4137660" cy="308610"/>
          </a:xfrm>
          <a:prstGeom prst="rect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4" name="Shape 12"/>
          <p:cNvSpPr/>
          <p:nvPr/>
        </p:nvSpPr>
        <p:spPr>
          <a:xfrm>
            <a:off x="342900" y="1366242"/>
            <a:ext cx="0" cy="308610"/>
          </a:xfrm>
          <a:prstGeom prst="line">
            <a:avLst/>
          </a:prstGeom>
          <a:noFill/>
          <a:ln w="22860">
            <a:solidFill>
              <a:srgbClr val="2196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423392"/>
            <a:ext cx="194310" cy="194310"/>
          </a:xfrm>
          <a:prstGeom prst="roundRect">
            <a:avLst>
              <a:gd name="adj" fmla="val 17647"/>
            </a:avLst>
          </a:prstGeom>
          <a:solidFill>
            <a:srgbClr val="2F3D44"/>
          </a:solidFill>
          <a:ln w="5715">
            <a:solidFill>
              <a:srgbClr val="2196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23392"/>
            <a:ext cx="28575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CF0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📚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720090" y="1469112"/>
            <a:ext cx="1190549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ECF0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书目卡片 · 四维阅读矩阵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3703320" y="1483400"/>
            <a:ext cx="76809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FOUR DIMENSIONS</a:t>
            </a:r>
            <a:endParaRPr lang="en-US" sz="450" dirty="0"/>
          </a:p>
        </p:txBody>
      </p:sp>
      <p:sp>
        <p:nvSpPr>
          <p:cNvPr id="19" name="Shape 17"/>
          <p:cNvSpPr/>
          <p:nvPr/>
        </p:nvSpPr>
        <p:spPr>
          <a:xfrm>
            <a:off x="342900" y="1754862"/>
            <a:ext cx="2034540" cy="675977"/>
          </a:xfrm>
          <a:prstGeom prst="roundRect">
            <a:avLst>
              <a:gd name="adj" fmla="val 8454"/>
            </a:avLst>
          </a:prstGeom>
          <a:solidFill>
            <a:srgbClr val="2F3D44"/>
          </a:solidFill>
          <a:ln w="5715">
            <a:solidFill>
              <a:srgbClr val="3747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" y="1754862"/>
            <a:ext cx="17145" cy="664546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1" name="Text 19"/>
          <p:cNvSpPr/>
          <p:nvPr/>
        </p:nvSpPr>
        <p:spPr>
          <a:xfrm>
            <a:off x="2108835" y="1806297"/>
            <a:ext cx="438912" cy="2228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2196F3">
                    <a:alpha val="1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440055" y="1840587"/>
            <a:ext cx="206105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CLASSIC · 经典著作</a:t>
            </a:r>
            <a:endParaRPr lang="en-US" sz="450" dirty="0"/>
          </a:p>
        </p:txBody>
      </p:sp>
      <p:sp>
        <p:nvSpPr>
          <p:cNvPr id="23" name="Text 21"/>
          <p:cNvSpPr/>
          <p:nvPr/>
        </p:nvSpPr>
        <p:spPr>
          <a:xfrm>
            <a:off x="440055" y="1972032"/>
            <a:ext cx="206105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ECF0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必读三部曲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40055" y="2137767"/>
            <a:ext cx="2061058" cy="207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《</a:t>
            </a:r>
            <a:pPr algn="l" indent="0" marL="0">
              <a:lnSpc>
                <a:spcPct val="165000"/>
              </a:lnSpc>
              <a:buNone/>
            </a:pPr>
            <a:r>
              <a:rPr lang="en-US" sz="49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开源攻略</a:t>
            </a:r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》《</a:t>
            </a:r>
            <a:pPr algn="l" indent="0" marL="0">
              <a:lnSpc>
                <a:spcPct val="165000"/>
              </a:lnSpc>
              <a:buNone/>
            </a:pPr>
            <a:r>
              <a:rPr lang="en-US" sz="49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大教堂与集市</a:t>
            </a:r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》《</a:t>
            </a:r>
            <a:pPr algn="l" indent="0" marL="0">
              <a:lnSpc>
                <a:spcPct val="165000"/>
              </a:lnSpc>
              <a:buNone/>
            </a:pPr>
            <a:r>
              <a:rPr lang="en-US" sz="49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我的开源宣言</a:t>
            </a:r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》</a:t>
            </a:r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是必读三部曲</a:t>
            </a:r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，构筑开源理念的精神地基。</a:t>
            </a:r>
            <a:endParaRPr lang="en-US" sz="495" dirty="0"/>
          </a:p>
        </p:txBody>
      </p:sp>
      <p:sp>
        <p:nvSpPr>
          <p:cNvPr id="25" name="Shape 23"/>
          <p:cNvSpPr/>
          <p:nvPr/>
        </p:nvSpPr>
        <p:spPr>
          <a:xfrm>
            <a:off x="2446020" y="1754862"/>
            <a:ext cx="2034540" cy="675977"/>
          </a:xfrm>
          <a:prstGeom prst="roundRect">
            <a:avLst>
              <a:gd name="adj" fmla="val 8454"/>
            </a:avLst>
          </a:prstGeom>
          <a:solidFill>
            <a:srgbClr val="2F3D44"/>
          </a:solidFill>
          <a:ln w="5715">
            <a:solidFill>
              <a:srgbClr val="3747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46020" y="1754862"/>
            <a:ext cx="17145" cy="664546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7" name="Text 25"/>
          <p:cNvSpPr/>
          <p:nvPr/>
        </p:nvSpPr>
        <p:spPr>
          <a:xfrm>
            <a:off x="4177665" y="1806297"/>
            <a:ext cx="438912" cy="2228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2196F3">
                    <a:alpha val="1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2543175" y="1840587"/>
            <a:ext cx="206105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DOCS · 文档即学习</a:t>
            </a:r>
            <a:endParaRPr lang="en-US" sz="450" dirty="0"/>
          </a:p>
        </p:txBody>
      </p:sp>
      <p:sp>
        <p:nvSpPr>
          <p:cNvPr id="29" name="Text 27"/>
          <p:cNvSpPr/>
          <p:nvPr/>
        </p:nvSpPr>
        <p:spPr>
          <a:xfrm>
            <a:off x="2543175" y="1972032"/>
            <a:ext cx="206105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ECF0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以文档为入口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2543175" y="2137767"/>
            <a:ext cx="2061058" cy="207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阅读开源项目的</a:t>
            </a:r>
            <a:pPr algn="l" indent="0" marL="0">
              <a:lnSpc>
                <a:spcPct val="165000"/>
              </a:lnSpc>
              <a:buNone/>
            </a:pPr>
            <a:r>
              <a:rPr lang="en-US" sz="49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README</a:t>
            </a:r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65000"/>
              </a:lnSpc>
              <a:buNone/>
            </a:pPr>
            <a:r>
              <a:rPr lang="en-US" sz="49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CONTRIBUTING</a:t>
            </a:r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65000"/>
              </a:lnSpc>
              <a:buNone/>
            </a:pPr>
            <a:r>
              <a:rPr lang="en-US" sz="49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DESIGN</a:t>
            </a:r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文档是</a:t>
            </a:r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最直接的入门方式</a:t>
            </a:r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，让代码会说话。</a:t>
            </a:r>
            <a:endParaRPr lang="en-US" sz="495" dirty="0"/>
          </a:p>
        </p:txBody>
      </p:sp>
      <p:sp>
        <p:nvSpPr>
          <p:cNvPr id="31" name="Shape 29"/>
          <p:cNvSpPr/>
          <p:nvPr/>
        </p:nvSpPr>
        <p:spPr>
          <a:xfrm>
            <a:off x="342900" y="2499420"/>
            <a:ext cx="2034540" cy="675977"/>
          </a:xfrm>
          <a:prstGeom prst="roundRect">
            <a:avLst>
              <a:gd name="adj" fmla="val 8454"/>
            </a:avLst>
          </a:prstGeom>
          <a:solidFill>
            <a:srgbClr val="2F3D44"/>
          </a:solidFill>
          <a:ln w="5715">
            <a:solidFill>
              <a:srgbClr val="3747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900" y="2499420"/>
            <a:ext cx="17145" cy="664546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3" name="Text 31"/>
          <p:cNvSpPr/>
          <p:nvPr/>
        </p:nvSpPr>
        <p:spPr>
          <a:xfrm>
            <a:off x="2068830" y="2550855"/>
            <a:ext cx="438912" cy="2228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2196F3">
                    <a:alpha val="1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40" dirty="0"/>
          </a:p>
        </p:txBody>
      </p:sp>
      <p:sp>
        <p:nvSpPr>
          <p:cNvPr id="34" name="Text 32"/>
          <p:cNvSpPr/>
          <p:nvPr/>
        </p:nvSpPr>
        <p:spPr>
          <a:xfrm>
            <a:off x="440055" y="2585145"/>
            <a:ext cx="206105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ARCHAEOLOGY · 代码考古</a:t>
            </a:r>
            <a:endParaRPr lang="en-US" sz="450" dirty="0"/>
          </a:p>
        </p:txBody>
      </p:sp>
      <p:sp>
        <p:nvSpPr>
          <p:cNvPr id="35" name="Text 33"/>
          <p:cNvSpPr/>
          <p:nvPr/>
        </p:nvSpPr>
        <p:spPr>
          <a:xfrm>
            <a:off x="440055" y="2716590"/>
            <a:ext cx="206105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ECF0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追踪代码演变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40055" y="2882325"/>
            <a:ext cx="2061058" cy="207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追踪一个功能从</a:t>
            </a:r>
            <a:pPr algn="l" indent="0" marL="0">
              <a:lnSpc>
                <a:spcPct val="165000"/>
              </a:lnSpc>
              <a:buNone/>
            </a:pPr>
            <a:r>
              <a:rPr lang="en-US" sz="49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Issue</a:t>
            </a:r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到</a:t>
            </a:r>
            <a:pPr algn="l" indent="0" marL="0">
              <a:lnSpc>
                <a:spcPct val="165000"/>
              </a:lnSpc>
              <a:buNone/>
            </a:pPr>
            <a:r>
              <a:rPr lang="en-US" sz="49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Merge</a:t>
            </a:r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的完整流程，</a:t>
            </a:r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理解工程协作</a:t>
            </a:r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的真实肌理与决策权衡。</a:t>
            </a:r>
            <a:endParaRPr lang="en-US" sz="495" dirty="0"/>
          </a:p>
        </p:txBody>
      </p:sp>
      <p:sp>
        <p:nvSpPr>
          <p:cNvPr id="37" name="Shape 35"/>
          <p:cNvSpPr/>
          <p:nvPr/>
        </p:nvSpPr>
        <p:spPr>
          <a:xfrm>
            <a:off x="2446020" y="2499420"/>
            <a:ext cx="2034540" cy="675977"/>
          </a:xfrm>
          <a:prstGeom prst="roundRect">
            <a:avLst>
              <a:gd name="adj" fmla="val 8454"/>
            </a:avLst>
          </a:prstGeom>
          <a:solidFill>
            <a:srgbClr val="2F3D44"/>
          </a:solidFill>
          <a:ln w="5715">
            <a:solidFill>
              <a:srgbClr val="37474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46020" y="2499420"/>
            <a:ext cx="17145" cy="664546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9" name="Text 37"/>
          <p:cNvSpPr/>
          <p:nvPr/>
        </p:nvSpPr>
        <p:spPr>
          <a:xfrm>
            <a:off x="4166235" y="2550855"/>
            <a:ext cx="438912" cy="2228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2196F3">
                    <a:alpha val="1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40" dirty="0"/>
          </a:p>
        </p:txBody>
      </p:sp>
      <p:sp>
        <p:nvSpPr>
          <p:cNvPr id="40" name="Text 38"/>
          <p:cNvSpPr/>
          <p:nvPr/>
        </p:nvSpPr>
        <p:spPr>
          <a:xfrm>
            <a:off x="2543175" y="2585145"/>
            <a:ext cx="206105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CROSSOVER · 跨界阅读</a:t>
            </a:r>
            <a:endParaRPr lang="en-US" sz="450" dirty="0"/>
          </a:p>
        </p:txBody>
      </p:sp>
      <p:sp>
        <p:nvSpPr>
          <p:cNvPr id="41" name="Text 39"/>
          <p:cNvSpPr/>
          <p:nvPr/>
        </p:nvSpPr>
        <p:spPr>
          <a:xfrm>
            <a:off x="2543175" y="2716590"/>
            <a:ext cx="206105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ECF0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建立系统认知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2543175" y="2882325"/>
            <a:ext cx="2061058" cy="207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涉猎</a:t>
            </a:r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社区治理 · 开源法务 · 商业模式</a:t>
            </a:r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，跳出纯技术视角，</a:t>
            </a:r>
            <a:pPr algn="l" indent="0" marL="0">
              <a:lnSpc>
                <a:spcPct val="165000"/>
              </a:lnSpc>
              <a:buNone/>
            </a:pPr>
            <a:r>
              <a:rPr lang="en-US" sz="49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建立系统性认知</a:t>
            </a:r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</a:t>
            </a:r>
            <a:endParaRPr lang="en-US" sz="495" dirty="0"/>
          </a:p>
        </p:txBody>
      </p:sp>
      <p:sp>
        <p:nvSpPr>
          <p:cNvPr id="43" name="Shape 41"/>
          <p:cNvSpPr/>
          <p:nvPr/>
        </p:nvSpPr>
        <p:spPr>
          <a:xfrm>
            <a:off x="342900" y="3278267"/>
            <a:ext cx="4137660" cy="34290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1A252B"/>
              </a:gs>
              <a:gs pos="100000">
                <a:srgbClr val="263238"/>
              </a:gs>
            </a:gsLst>
            <a:lin ang="5400000" scaled="0"/>
          </a:gradFill>
          <a:ln w="5715">
            <a:solidFill>
              <a:srgbClr val="3747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7195" y="3318272"/>
            <a:ext cx="45148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SHELF · 04</a:t>
            </a:r>
            <a:endParaRPr lang="en-US" sz="405" dirty="0"/>
          </a:p>
        </p:txBody>
      </p:sp>
      <p:sp>
        <p:nvSpPr>
          <p:cNvPr id="45" name="Shape 43"/>
          <p:cNvSpPr/>
          <p:nvPr/>
        </p:nvSpPr>
        <p:spPr>
          <a:xfrm>
            <a:off x="541139" y="3329702"/>
            <a:ext cx="80010" cy="240030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1976D2"/>
              </a:gs>
              <a:gs pos="100000">
                <a:srgbClr val="0D47A1"/>
              </a:gs>
            </a:gsLst>
            <a:lin ang="5400000" scaled="0"/>
          </a:gradFill>
          <a:ln/>
        </p:spPr>
      </p:sp>
      <p:sp>
        <p:nvSpPr>
          <p:cNvPr id="46" name="Shape 44"/>
          <p:cNvSpPr/>
          <p:nvPr/>
        </p:nvSpPr>
        <p:spPr>
          <a:xfrm>
            <a:off x="552569" y="3352562"/>
            <a:ext cx="57150" cy="571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6266" y="3358545"/>
            <a:ext cx="80010" cy="211187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0097A7"/>
              </a:gs>
              <a:gs pos="100000">
                <a:srgbClr val="006064"/>
              </a:gs>
            </a:gsLst>
            <a:lin ang="5400000" scaled="0"/>
          </a:gradFill>
          <a:ln/>
        </p:spPr>
      </p:sp>
      <p:sp>
        <p:nvSpPr>
          <p:cNvPr id="48" name="Shape 46"/>
          <p:cNvSpPr/>
          <p:nvPr/>
        </p:nvSpPr>
        <p:spPr>
          <a:xfrm>
            <a:off x="857696" y="3381405"/>
            <a:ext cx="57150" cy="571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51305" y="3341757"/>
            <a:ext cx="80010" cy="227975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1565C0"/>
              </a:gs>
              <a:gs pos="100000">
                <a:srgbClr val="0D47A1"/>
              </a:gs>
            </a:gsLst>
            <a:lin ang="5400000" scaled="0"/>
          </a:gradFill>
          <a:ln/>
        </p:spPr>
      </p:sp>
      <p:sp>
        <p:nvSpPr>
          <p:cNvPr id="50" name="Shape 48"/>
          <p:cNvSpPr/>
          <p:nvPr/>
        </p:nvSpPr>
        <p:spPr>
          <a:xfrm>
            <a:off x="1162735" y="3364617"/>
            <a:ext cx="57150" cy="571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456432" y="3377744"/>
            <a:ext cx="80010" cy="191988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00838F"/>
              </a:gs>
              <a:gs pos="100000">
                <a:srgbClr val="006064"/>
              </a:gs>
            </a:gsLst>
            <a:lin ang="5400000" scaled="0"/>
          </a:gradFill>
          <a:ln/>
        </p:spPr>
      </p:sp>
      <p:sp>
        <p:nvSpPr>
          <p:cNvPr id="52" name="Shape 50"/>
          <p:cNvSpPr/>
          <p:nvPr/>
        </p:nvSpPr>
        <p:spPr>
          <a:xfrm>
            <a:off x="1467862" y="3400604"/>
            <a:ext cx="57150" cy="571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761470" y="3334524"/>
            <a:ext cx="80010" cy="235208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2196F3"/>
              </a:gs>
              <a:gs pos="100000">
                <a:srgbClr val="1565C0"/>
              </a:gs>
            </a:gsLst>
            <a:lin ang="5400000" scaled="0"/>
          </a:gradFill>
          <a:ln/>
        </p:spPr>
      </p:sp>
      <p:sp>
        <p:nvSpPr>
          <p:cNvPr id="54" name="Shape 52"/>
          <p:cNvSpPr/>
          <p:nvPr/>
        </p:nvSpPr>
        <p:spPr>
          <a:xfrm>
            <a:off x="1772900" y="3357384"/>
            <a:ext cx="57150" cy="571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066598" y="3365778"/>
            <a:ext cx="80010" cy="203954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00BCD4"/>
              </a:gs>
              <a:gs pos="100000">
                <a:srgbClr val="00838F"/>
              </a:gs>
            </a:gsLst>
            <a:lin ang="5400000" scaled="0"/>
          </a:gradFill>
          <a:ln/>
        </p:spPr>
      </p:sp>
      <p:sp>
        <p:nvSpPr>
          <p:cNvPr id="56" name="Shape 54"/>
          <p:cNvSpPr/>
          <p:nvPr/>
        </p:nvSpPr>
        <p:spPr>
          <a:xfrm>
            <a:off x="2078028" y="3388638"/>
            <a:ext cx="57150" cy="571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2371725" y="3348990"/>
            <a:ext cx="80010" cy="220742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1976D2"/>
              </a:gs>
              <a:gs pos="100000">
                <a:srgbClr val="0D47A1"/>
              </a:gs>
            </a:gsLst>
            <a:lin ang="5400000" scaled="0"/>
          </a:gradFill>
          <a:ln/>
        </p:spPr>
      </p:sp>
      <p:sp>
        <p:nvSpPr>
          <p:cNvPr id="58" name="Shape 56"/>
          <p:cNvSpPr/>
          <p:nvPr/>
        </p:nvSpPr>
        <p:spPr>
          <a:xfrm>
            <a:off x="2383155" y="3371850"/>
            <a:ext cx="57150" cy="571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2676763" y="3382566"/>
            <a:ext cx="80010" cy="187166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0097A7"/>
              </a:gs>
              <a:gs pos="100000">
                <a:srgbClr val="006064"/>
              </a:gs>
            </a:gsLst>
            <a:lin ang="5400000" scaled="0"/>
          </a:gradFill>
          <a:ln/>
        </p:spPr>
      </p:sp>
      <p:sp>
        <p:nvSpPr>
          <p:cNvPr id="60" name="Shape 58"/>
          <p:cNvSpPr/>
          <p:nvPr/>
        </p:nvSpPr>
        <p:spPr>
          <a:xfrm>
            <a:off x="2688193" y="3405426"/>
            <a:ext cx="57150" cy="571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2981891" y="3339346"/>
            <a:ext cx="80010" cy="230386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1565C0"/>
              </a:gs>
              <a:gs pos="100000">
                <a:srgbClr val="0D47A1"/>
              </a:gs>
            </a:gsLst>
            <a:lin ang="5400000" scaled="0"/>
          </a:gradFill>
          <a:ln/>
        </p:spPr>
      </p:sp>
      <p:sp>
        <p:nvSpPr>
          <p:cNvPr id="62" name="Shape 60"/>
          <p:cNvSpPr/>
          <p:nvPr/>
        </p:nvSpPr>
        <p:spPr>
          <a:xfrm>
            <a:off x="2993321" y="3362206"/>
            <a:ext cx="57150" cy="571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3287018" y="3370511"/>
            <a:ext cx="80010" cy="199221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00838F"/>
              </a:gs>
              <a:gs pos="100000">
                <a:srgbClr val="006064"/>
              </a:gs>
            </a:gsLst>
            <a:lin ang="5400000" scaled="0"/>
          </a:gradFill>
          <a:ln/>
        </p:spPr>
      </p:sp>
      <p:sp>
        <p:nvSpPr>
          <p:cNvPr id="64" name="Shape 62"/>
          <p:cNvSpPr/>
          <p:nvPr/>
        </p:nvSpPr>
        <p:spPr>
          <a:xfrm>
            <a:off x="3298448" y="3393371"/>
            <a:ext cx="57150" cy="571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592056" y="3332113"/>
            <a:ext cx="80010" cy="237619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2196F3"/>
              </a:gs>
              <a:gs pos="100000">
                <a:srgbClr val="1565C0"/>
              </a:gs>
            </a:gsLst>
            <a:lin ang="5400000" scaled="0"/>
          </a:gradFill>
          <a:ln/>
        </p:spPr>
      </p:sp>
      <p:sp>
        <p:nvSpPr>
          <p:cNvPr id="66" name="Shape 64"/>
          <p:cNvSpPr/>
          <p:nvPr/>
        </p:nvSpPr>
        <p:spPr>
          <a:xfrm>
            <a:off x="3603486" y="3354973"/>
            <a:ext cx="57150" cy="571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897184" y="3363367"/>
            <a:ext cx="80010" cy="206365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00BCD4"/>
              </a:gs>
              <a:gs pos="100000">
                <a:srgbClr val="00838F"/>
              </a:gs>
            </a:gsLst>
            <a:lin ang="5400000" scaled="0"/>
          </a:gradFill>
          <a:ln/>
        </p:spPr>
      </p:sp>
      <p:sp>
        <p:nvSpPr>
          <p:cNvPr id="68" name="Shape 66"/>
          <p:cNvSpPr/>
          <p:nvPr/>
        </p:nvSpPr>
        <p:spPr>
          <a:xfrm>
            <a:off x="3908614" y="3386227"/>
            <a:ext cx="57150" cy="571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4202222" y="3346579"/>
            <a:ext cx="80010" cy="223153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1976D2"/>
              </a:gs>
              <a:gs pos="100000">
                <a:srgbClr val="0D47A1"/>
              </a:gs>
            </a:gsLst>
            <a:lin ang="5400000" scaled="0"/>
          </a:gradFill>
          <a:ln/>
        </p:spPr>
      </p:sp>
      <p:sp>
        <p:nvSpPr>
          <p:cNvPr id="70" name="Shape 68"/>
          <p:cNvSpPr/>
          <p:nvPr/>
        </p:nvSpPr>
        <p:spPr>
          <a:xfrm>
            <a:off x="4213652" y="3369439"/>
            <a:ext cx="57150" cy="571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4663440" y="1366242"/>
            <a:ext cx="4137660" cy="3234333"/>
          </a:xfrm>
          <a:prstGeom prst="roundRect">
            <a:avLst>
              <a:gd name="adj" fmla="val 2120"/>
            </a:avLst>
          </a:prstGeom>
          <a:solidFill>
            <a:srgbClr val="2F3D44"/>
          </a:solidFill>
          <a:ln w="5715">
            <a:solidFill>
              <a:srgbClr val="37474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63440" y="1366242"/>
            <a:ext cx="412623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73" name="Text 71"/>
          <p:cNvSpPr/>
          <p:nvPr/>
        </p:nvSpPr>
        <p:spPr>
          <a:xfrm>
            <a:off x="4806315" y="1503402"/>
            <a:ext cx="1734617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ECF0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阶梯式阅读路径 · 从入门到系统认知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7709535" y="1494830"/>
            <a:ext cx="948690" cy="120015"/>
          </a:xfrm>
          <a:prstGeom prst="roundRect">
            <a:avLst>
              <a:gd name="adj" fmla="val 47619"/>
            </a:avLst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09535" y="1494830"/>
            <a:ext cx="1062533" cy="12001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ASCENT · 05 STAGES</a:t>
            </a:r>
            <a:endParaRPr lang="en-US" sz="450" dirty="0"/>
          </a:p>
        </p:txBody>
      </p:sp>
      <p:sp>
        <p:nvSpPr>
          <p:cNvPr id="76" name="Shape 74"/>
          <p:cNvSpPr/>
          <p:nvPr/>
        </p:nvSpPr>
        <p:spPr>
          <a:xfrm>
            <a:off x="4920615" y="3219956"/>
            <a:ext cx="688032" cy="871984"/>
          </a:xfrm>
          <a:prstGeom prst="roundRect">
            <a:avLst>
              <a:gd name="adj" fmla="val 4984"/>
            </a:avLst>
          </a:prstGeom>
          <a:gradFill rotWithShape="1">
            <a:gsLst>
              <a:gs pos="0">
                <a:srgbClr val="2196F3"/>
              </a:gs>
              <a:gs pos="100000">
                <a:srgbClr val="1976D2"/>
              </a:gs>
            </a:gsLst>
            <a:lin ang="5400000" scaled="0"/>
          </a:gradFill>
          <a:ln/>
        </p:spPr>
      </p:sp>
      <p:sp>
        <p:nvSpPr>
          <p:cNvPr id="77" name="Shape 75"/>
          <p:cNvSpPr/>
          <p:nvPr/>
        </p:nvSpPr>
        <p:spPr>
          <a:xfrm>
            <a:off x="4920615" y="3219956"/>
            <a:ext cx="688032" cy="0"/>
          </a:xfrm>
          <a:prstGeom prst="line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608647" y="3219956"/>
            <a:ext cx="0" cy="871984"/>
          </a:xfrm>
          <a:prstGeom prst="line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920615" y="3219956"/>
            <a:ext cx="0" cy="871984"/>
          </a:xfrm>
          <a:prstGeom prst="line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920615" y="3219956"/>
            <a:ext cx="676605" cy="1143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4960620" y="3794760"/>
            <a:ext cx="68098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01</a:t>
            </a:r>
            <a:endParaRPr lang="en-US" sz="495" dirty="0"/>
          </a:p>
        </p:txBody>
      </p:sp>
      <p:sp>
        <p:nvSpPr>
          <p:cNvPr id="82" name="Text 80"/>
          <p:cNvSpPr/>
          <p:nvPr/>
        </p:nvSpPr>
        <p:spPr>
          <a:xfrm>
            <a:off x="4960620" y="3874770"/>
            <a:ext cx="68098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入门</a:t>
            </a:r>
            <a:endParaRPr lang="en-US" sz="540" dirty="0"/>
          </a:p>
        </p:txBody>
      </p:sp>
      <p:sp>
        <p:nvSpPr>
          <p:cNvPr id="83" name="Text 81"/>
          <p:cNvSpPr/>
          <p:nvPr/>
        </p:nvSpPr>
        <p:spPr>
          <a:xfrm>
            <a:off x="4960620" y="3983355"/>
            <a:ext cx="68098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05" spc="45" kern="0" dirty="0">
                <a:solidFill>
                  <a:srgbClr val="FFFFFF">
                    <a:alpha val="7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浏览 README</a:t>
            </a:r>
            <a:endParaRPr lang="en-US" sz="405" dirty="0"/>
          </a:p>
        </p:txBody>
      </p:sp>
      <p:sp>
        <p:nvSpPr>
          <p:cNvPr id="84" name="Shape 82"/>
          <p:cNvSpPr/>
          <p:nvPr/>
        </p:nvSpPr>
        <p:spPr>
          <a:xfrm>
            <a:off x="5654367" y="2796421"/>
            <a:ext cx="688122" cy="1295519"/>
          </a:xfrm>
          <a:prstGeom prst="roundRect">
            <a:avLst>
              <a:gd name="adj" fmla="val 4983"/>
            </a:avLst>
          </a:prstGeom>
          <a:gradFill rotWithShape="1">
            <a:gsLst>
              <a:gs pos="0">
                <a:srgbClr val="42A5F5"/>
              </a:gs>
              <a:gs pos="100000">
                <a:srgbClr val="1976D2"/>
              </a:gs>
            </a:gsLst>
            <a:lin ang="5400000" scaled="0"/>
          </a:gradFill>
          <a:ln/>
        </p:spPr>
      </p:sp>
      <p:sp>
        <p:nvSpPr>
          <p:cNvPr id="85" name="Shape 83"/>
          <p:cNvSpPr/>
          <p:nvPr/>
        </p:nvSpPr>
        <p:spPr>
          <a:xfrm>
            <a:off x="5654367" y="2796421"/>
            <a:ext cx="688122" cy="0"/>
          </a:xfrm>
          <a:prstGeom prst="line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342489" y="2796421"/>
            <a:ext cx="0" cy="1295519"/>
          </a:xfrm>
          <a:prstGeom prst="line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654367" y="2796421"/>
            <a:ext cx="0" cy="1295519"/>
          </a:xfrm>
          <a:prstGeom prst="line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654367" y="2796421"/>
            <a:ext cx="676690" cy="1143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5694372" y="3794760"/>
            <a:ext cx="68108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02</a:t>
            </a:r>
            <a:endParaRPr lang="en-US" sz="495" dirty="0"/>
          </a:p>
        </p:txBody>
      </p:sp>
      <p:sp>
        <p:nvSpPr>
          <p:cNvPr id="90" name="Text 88"/>
          <p:cNvSpPr/>
          <p:nvPr/>
        </p:nvSpPr>
        <p:spPr>
          <a:xfrm>
            <a:off x="5694372" y="3874770"/>
            <a:ext cx="68108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上手</a:t>
            </a:r>
            <a:endParaRPr lang="en-US" sz="540" dirty="0"/>
          </a:p>
        </p:txBody>
      </p:sp>
      <p:sp>
        <p:nvSpPr>
          <p:cNvPr id="91" name="Text 89"/>
          <p:cNvSpPr/>
          <p:nvPr/>
        </p:nvSpPr>
        <p:spPr>
          <a:xfrm>
            <a:off x="5694372" y="3983355"/>
            <a:ext cx="68108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05" spc="45" kern="0" dirty="0">
                <a:solidFill>
                  <a:srgbClr val="FFFFFF">
                    <a:alpha val="7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跑通 Hello World</a:t>
            </a:r>
            <a:endParaRPr lang="en-US" sz="405" dirty="0"/>
          </a:p>
        </p:txBody>
      </p:sp>
      <p:sp>
        <p:nvSpPr>
          <p:cNvPr id="92" name="Shape 90"/>
          <p:cNvSpPr/>
          <p:nvPr/>
        </p:nvSpPr>
        <p:spPr>
          <a:xfrm>
            <a:off x="6388209" y="2397800"/>
            <a:ext cx="688032" cy="1694140"/>
          </a:xfrm>
          <a:prstGeom prst="roundRect">
            <a:avLst>
              <a:gd name="adj" fmla="val 4984"/>
            </a:avLst>
          </a:prstGeom>
          <a:gradFill rotWithShape="1">
            <a:gsLst>
              <a:gs pos="0">
                <a:srgbClr val="64B5F6"/>
              </a:gs>
              <a:gs pos="100000">
                <a:srgbClr val="1E88E5"/>
              </a:gs>
            </a:gsLst>
            <a:lin ang="5400000" scaled="0"/>
          </a:gradFill>
          <a:ln/>
        </p:spPr>
      </p:sp>
      <p:sp>
        <p:nvSpPr>
          <p:cNvPr id="93" name="Shape 91"/>
          <p:cNvSpPr/>
          <p:nvPr/>
        </p:nvSpPr>
        <p:spPr>
          <a:xfrm>
            <a:off x="6388209" y="2397800"/>
            <a:ext cx="688032" cy="0"/>
          </a:xfrm>
          <a:prstGeom prst="line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76242" y="2397800"/>
            <a:ext cx="0" cy="1694140"/>
          </a:xfrm>
          <a:prstGeom prst="line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88209" y="2397800"/>
            <a:ext cx="0" cy="1694140"/>
          </a:xfrm>
          <a:prstGeom prst="line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88209" y="2397800"/>
            <a:ext cx="676605" cy="1143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7" name="Text 95"/>
          <p:cNvSpPr/>
          <p:nvPr/>
        </p:nvSpPr>
        <p:spPr>
          <a:xfrm>
            <a:off x="6428214" y="3794760"/>
            <a:ext cx="68098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03</a:t>
            </a:r>
            <a:endParaRPr lang="en-US" sz="495" dirty="0"/>
          </a:p>
        </p:txBody>
      </p:sp>
      <p:sp>
        <p:nvSpPr>
          <p:cNvPr id="98" name="Text 96"/>
          <p:cNvSpPr/>
          <p:nvPr/>
        </p:nvSpPr>
        <p:spPr>
          <a:xfrm>
            <a:off x="6428214" y="3874770"/>
            <a:ext cx="68098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深入</a:t>
            </a:r>
            <a:endParaRPr lang="en-US" sz="540" dirty="0"/>
          </a:p>
        </p:txBody>
      </p:sp>
      <p:sp>
        <p:nvSpPr>
          <p:cNvPr id="99" name="Text 97"/>
          <p:cNvSpPr/>
          <p:nvPr/>
        </p:nvSpPr>
        <p:spPr>
          <a:xfrm>
            <a:off x="6428214" y="3983355"/>
            <a:ext cx="68098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05" spc="45" kern="0" dirty="0">
                <a:solidFill>
                  <a:srgbClr val="FFFFFF">
                    <a:alpha val="7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追踪 Issue→PR</a:t>
            </a:r>
            <a:endParaRPr lang="en-US" sz="405" dirty="0"/>
          </a:p>
        </p:txBody>
      </p:sp>
      <p:sp>
        <p:nvSpPr>
          <p:cNvPr id="100" name="Shape 98"/>
          <p:cNvSpPr/>
          <p:nvPr/>
        </p:nvSpPr>
        <p:spPr>
          <a:xfrm>
            <a:off x="7121962" y="2049006"/>
            <a:ext cx="688122" cy="2042934"/>
          </a:xfrm>
          <a:prstGeom prst="roundRect">
            <a:avLst>
              <a:gd name="adj" fmla="val 4983"/>
            </a:avLst>
          </a:prstGeom>
          <a:gradFill rotWithShape="1">
            <a:gsLst>
              <a:gs pos="0">
                <a:srgbClr val="90CAF9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101" name="Shape 99"/>
          <p:cNvSpPr/>
          <p:nvPr/>
        </p:nvSpPr>
        <p:spPr>
          <a:xfrm>
            <a:off x="7121962" y="2049006"/>
            <a:ext cx="688122" cy="0"/>
          </a:xfrm>
          <a:prstGeom prst="line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810083" y="2049006"/>
            <a:ext cx="0" cy="2042934"/>
          </a:xfrm>
          <a:prstGeom prst="line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121962" y="2049006"/>
            <a:ext cx="0" cy="2042934"/>
          </a:xfrm>
          <a:prstGeom prst="line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121962" y="2049006"/>
            <a:ext cx="676690" cy="1143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5" name="Text 103"/>
          <p:cNvSpPr/>
          <p:nvPr/>
        </p:nvSpPr>
        <p:spPr>
          <a:xfrm>
            <a:off x="7161967" y="3794760"/>
            <a:ext cx="68108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04</a:t>
            </a:r>
            <a:endParaRPr lang="en-US" sz="495" dirty="0"/>
          </a:p>
        </p:txBody>
      </p:sp>
      <p:sp>
        <p:nvSpPr>
          <p:cNvPr id="106" name="Text 104"/>
          <p:cNvSpPr/>
          <p:nvPr/>
        </p:nvSpPr>
        <p:spPr>
          <a:xfrm>
            <a:off x="7161967" y="3874770"/>
            <a:ext cx="68108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参与</a:t>
            </a:r>
            <a:endParaRPr lang="en-US" sz="540" dirty="0"/>
          </a:p>
        </p:txBody>
      </p:sp>
      <p:sp>
        <p:nvSpPr>
          <p:cNvPr id="107" name="Text 105"/>
          <p:cNvSpPr/>
          <p:nvPr/>
        </p:nvSpPr>
        <p:spPr>
          <a:xfrm>
            <a:off x="7161967" y="3983355"/>
            <a:ext cx="68108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05" spc="45" kern="0" dirty="0">
                <a:solidFill>
                  <a:srgbClr val="FFFFFF">
                    <a:alpha val="7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提交首个贡献</a:t>
            </a:r>
            <a:endParaRPr lang="en-US" sz="405" dirty="0"/>
          </a:p>
        </p:txBody>
      </p:sp>
      <p:sp>
        <p:nvSpPr>
          <p:cNvPr id="108" name="Shape 106"/>
          <p:cNvSpPr/>
          <p:nvPr/>
        </p:nvSpPr>
        <p:spPr>
          <a:xfrm>
            <a:off x="7855803" y="1675299"/>
            <a:ext cx="688122" cy="2416641"/>
          </a:xfrm>
          <a:prstGeom prst="roundRect">
            <a:avLst>
              <a:gd name="adj" fmla="val 4983"/>
            </a:avLst>
          </a:prstGeom>
          <a:gradFill rotWithShape="1">
            <a:gsLst>
              <a:gs pos="0">
                <a:srgbClr val="00BCD4"/>
              </a:gs>
              <a:gs pos="100000">
                <a:srgbClr val="26C6DA"/>
              </a:gs>
            </a:gsLst>
            <a:lin ang="5400000" scaled="0"/>
          </a:gradFill>
          <a:ln/>
        </p:spPr>
      </p:sp>
      <p:sp>
        <p:nvSpPr>
          <p:cNvPr id="109" name="Shape 107"/>
          <p:cNvSpPr/>
          <p:nvPr/>
        </p:nvSpPr>
        <p:spPr>
          <a:xfrm>
            <a:off x="7855803" y="1675299"/>
            <a:ext cx="688122" cy="0"/>
          </a:xfrm>
          <a:prstGeom prst="line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543925" y="1675299"/>
            <a:ext cx="0" cy="2416641"/>
          </a:xfrm>
          <a:prstGeom prst="line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855803" y="1675299"/>
            <a:ext cx="0" cy="2416641"/>
          </a:xfrm>
          <a:prstGeom prst="line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855803" y="1675299"/>
            <a:ext cx="676690" cy="1143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8165574" y="1669584"/>
            <a:ext cx="68580" cy="34290"/>
          </a:xfrm>
          <a:prstGeom prst="rect">
            <a:avLst/>
          </a:prstGeom>
          <a:noFill/>
          <a:ln/>
        </p:spPr>
      </p:sp>
      <p:sp>
        <p:nvSpPr>
          <p:cNvPr id="114" name="Shape 112"/>
          <p:cNvSpPr/>
          <p:nvPr/>
        </p:nvSpPr>
        <p:spPr>
          <a:xfrm>
            <a:off x="8234154" y="1669584"/>
            <a:ext cx="0" cy="34290"/>
          </a:xfrm>
          <a:prstGeom prst="line">
            <a:avLst/>
          </a:prstGeom>
          <a:noFill/>
          <a:ln w="3429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165574" y="1703874"/>
            <a:ext cx="68580" cy="0"/>
          </a:xfrm>
          <a:prstGeom prst="line">
            <a:avLst/>
          </a:prstGeom>
          <a:noFill/>
          <a:ln w="3429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165574" y="1669584"/>
            <a:ext cx="0" cy="34290"/>
          </a:xfrm>
          <a:prstGeom prst="line">
            <a:avLst/>
          </a:prstGeom>
          <a:noFill/>
          <a:ln w="3429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895808" y="3794760"/>
            <a:ext cx="68108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05</a:t>
            </a:r>
            <a:endParaRPr lang="en-US" sz="495" dirty="0"/>
          </a:p>
        </p:txBody>
      </p:sp>
      <p:sp>
        <p:nvSpPr>
          <p:cNvPr id="118" name="Text 116"/>
          <p:cNvSpPr/>
          <p:nvPr/>
        </p:nvSpPr>
        <p:spPr>
          <a:xfrm>
            <a:off x="7895808" y="3874770"/>
            <a:ext cx="68108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系统认知</a:t>
            </a:r>
            <a:endParaRPr lang="en-US" sz="540" dirty="0"/>
          </a:p>
        </p:txBody>
      </p:sp>
      <p:sp>
        <p:nvSpPr>
          <p:cNvPr id="119" name="Text 117"/>
          <p:cNvSpPr/>
          <p:nvPr/>
        </p:nvSpPr>
        <p:spPr>
          <a:xfrm>
            <a:off x="7895808" y="3983355"/>
            <a:ext cx="68108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05" spc="45" kern="0" dirty="0">
                <a:solidFill>
                  <a:srgbClr val="FFFFFF">
                    <a:alpha val="7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治理 · 法务 · 生态</a:t>
            </a:r>
            <a:endParaRPr lang="en-US" sz="405" dirty="0"/>
          </a:p>
        </p:txBody>
      </p:sp>
      <p:sp>
        <p:nvSpPr>
          <p:cNvPr id="120" name="Shape 118"/>
          <p:cNvSpPr/>
          <p:nvPr/>
        </p:nvSpPr>
        <p:spPr>
          <a:xfrm>
            <a:off x="4920615" y="4086225"/>
            <a:ext cx="3623310" cy="5715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21" name="Shape 119"/>
          <p:cNvSpPr/>
          <p:nvPr/>
        </p:nvSpPr>
        <p:spPr>
          <a:xfrm>
            <a:off x="4806315" y="4217670"/>
            <a:ext cx="1253460" cy="285750"/>
          </a:xfrm>
          <a:prstGeom prst="roundRect">
            <a:avLst>
              <a:gd name="adj" fmla="val 12000"/>
            </a:avLst>
          </a:prstGeom>
          <a:solidFill>
            <a:srgbClr val="263238"/>
          </a:solidFill>
          <a:ln w="5715">
            <a:solidFill>
              <a:srgbClr val="37474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869180" y="4269105"/>
            <a:ext cx="1263058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STEPS</a:t>
            </a:r>
            <a:endParaRPr lang="en-US" sz="405" dirty="0"/>
          </a:p>
        </p:txBody>
      </p:sp>
      <p:sp>
        <p:nvSpPr>
          <p:cNvPr id="123" name="Text 121"/>
          <p:cNvSpPr/>
          <p:nvPr/>
        </p:nvSpPr>
        <p:spPr>
          <a:xfrm>
            <a:off x="4869180" y="4343400"/>
            <a:ext cx="126305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ECF0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阶递进</a:t>
            </a:r>
            <a:endParaRPr lang="en-US" sz="585" dirty="0"/>
          </a:p>
        </p:txBody>
      </p:sp>
      <p:sp>
        <p:nvSpPr>
          <p:cNvPr id="124" name="Shape 122"/>
          <p:cNvSpPr/>
          <p:nvPr/>
        </p:nvSpPr>
        <p:spPr>
          <a:xfrm>
            <a:off x="6105495" y="4217670"/>
            <a:ext cx="1253460" cy="285750"/>
          </a:xfrm>
          <a:prstGeom prst="roundRect">
            <a:avLst>
              <a:gd name="adj" fmla="val 12000"/>
            </a:avLst>
          </a:prstGeom>
          <a:solidFill>
            <a:srgbClr val="263238"/>
          </a:solidFill>
          <a:ln w="5715">
            <a:solidFill>
              <a:srgbClr val="37474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168360" y="4269105"/>
            <a:ext cx="1263058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METHOD</a:t>
            </a:r>
            <a:endParaRPr lang="en-US" sz="405" dirty="0"/>
          </a:p>
        </p:txBody>
      </p:sp>
      <p:sp>
        <p:nvSpPr>
          <p:cNvPr id="126" name="Text 124"/>
          <p:cNvSpPr/>
          <p:nvPr/>
        </p:nvSpPr>
        <p:spPr>
          <a:xfrm>
            <a:off x="6168360" y="4343400"/>
            <a:ext cx="126305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ECF0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动手 + 阅读</a:t>
            </a:r>
            <a:endParaRPr lang="en-US" sz="585" dirty="0"/>
          </a:p>
        </p:txBody>
      </p:sp>
      <p:sp>
        <p:nvSpPr>
          <p:cNvPr id="127" name="Shape 125"/>
          <p:cNvSpPr/>
          <p:nvPr/>
        </p:nvSpPr>
        <p:spPr>
          <a:xfrm>
            <a:off x="7404675" y="4217670"/>
            <a:ext cx="1253460" cy="285750"/>
          </a:xfrm>
          <a:prstGeom prst="roundRect">
            <a:avLst>
              <a:gd name="adj" fmla="val 12000"/>
            </a:avLst>
          </a:prstGeom>
          <a:solidFill>
            <a:srgbClr val="263238"/>
          </a:solidFill>
          <a:ln w="5715">
            <a:solidFill>
              <a:srgbClr val="37474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467540" y="4269105"/>
            <a:ext cx="1263058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GOAL</a:t>
            </a:r>
            <a:endParaRPr lang="en-US" sz="405" dirty="0"/>
          </a:p>
        </p:txBody>
      </p:sp>
      <p:sp>
        <p:nvSpPr>
          <p:cNvPr id="129" name="Text 127"/>
          <p:cNvSpPr/>
          <p:nvPr/>
        </p:nvSpPr>
        <p:spPr>
          <a:xfrm>
            <a:off x="7467540" y="4343400"/>
            <a:ext cx="126305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ECF0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系统性认知</a:t>
            </a:r>
            <a:endParaRPr lang="en-US" sz="585" dirty="0"/>
          </a:p>
        </p:txBody>
      </p:sp>
      <p:sp>
        <p:nvSpPr>
          <p:cNvPr id="130" name="Shape 128"/>
          <p:cNvSpPr/>
          <p:nvPr/>
        </p:nvSpPr>
        <p:spPr>
          <a:xfrm>
            <a:off x="342900" y="4680585"/>
            <a:ext cx="8458200" cy="234315"/>
          </a:xfrm>
          <a:prstGeom prst="roundRect">
            <a:avLst>
              <a:gd name="adj" fmla="val 19512"/>
            </a:avLst>
          </a:prstGeom>
          <a:solidFill>
            <a:srgbClr val="1A252B"/>
          </a:solidFill>
          <a:ln w="5715">
            <a:solidFill>
              <a:srgbClr val="37474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40055" y="4743450"/>
            <a:ext cx="594360" cy="108585"/>
          </a:xfrm>
          <a:prstGeom prst="roundRect">
            <a:avLst>
              <a:gd name="adj" fmla="val 52632"/>
            </a:avLst>
          </a:prstGeom>
          <a:solidFill>
            <a:srgbClr val="2196F3"/>
          </a:solidFill>
          <a:ln/>
        </p:spPr>
      </p:sp>
      <p:sp>
        <p:nvSpPr>
          <p:cNvPr id="132" name="Text 130"/>
          <p:cNvSpPr/>
          <p:nvPr/>
        </p:nvSpPr>
        <p:spPr>
          <a:xfrm>
            <a:off x="440055" y="4743450"/>
            <a:ext cx="665683" cy="108585"/>
          </a:xfrm>
          <a:prstGeom prst="rect">
            <a:avLst/>
          </a:prstGeom>
          <a:noFill/>
          <a:ln/>
        </p:spPr>
        <p:txBody>
          <a:bodyPr wrap="none" lIns="17145" tIns="57150" rIns="57150" bIns="17145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CORE INSIGHT</a:t>
            </a:r>
            <a:endParaRPr lang="en-US" sz="450" dirty="0"/>
          </a:p>
        </p:txBody>
      </p:sp>
      <p:sp>
        <p:nvSpPr>
          <p:cNvPr id="133" name="Text 131"/>
          <p:cNvSpPr/>
          <p:nvPr/>
        </p:nvSpPr>
        <p:spPr>
          <a:xfrm>
            <a:off x="1114425" y="4752023"/>
            <a:ext cx="375727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从读懂一篇</a:t>
            </a:r>
            <a:pPr algn="l" indent="0" marL="0">
              <a:buNone/>
            </a:pPr>
            <a:r>
              <a:rPr lang="en-US" sz="495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README</a:t>
            </a:r>
            <a:pPr algn="l" indent="0" marL="0"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开始，到追踪一段代码的演变，再到理解一个社区的治理规则——</a:t>
            </a:r>
            <a:pPr algn="l" indent="0" marL="0">
              <a:buNone/>
            </a:pPr>
            <a:r>
              <a:rPr lang="en-US" sz="49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开源世界本身就是一部活教科书</a:t>
            </a:r>
            <a:pPr algn="l" indent="0" marL="0">
              <a:buNone/>
            </a:pPr>
            <a:r>
              <a:rPr lang="en-US" sz="495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</a:t>
            </a:r>
            <a:endParaRPr lang="en-US" sz="495" dirty="0"/>
          </a:p>
        </p:txBody>
      </p:sp>
      <p:sp>
        <p:nvSpPr>
          <p:cNvPr id="134" name="Text 132"/>
          <p:cNvSpPr/>
          <p:nvPr/>
        </p:nvSpPr>
        <p:spPr>
          <a:xfrm>
            <a:off x="7092315" y="4752023"/>
            <a:ext cx="40576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维度的数量</a:t>
            </a:r>
            <a:endParaRPr lang="en-US" sz="495" dirty="0"/>
          </a:p>
        </p:txBody>
      </p:sp>
      <p:sp>
        <p:nvSpPr>
          <p:cNvPr id="135" name="Text 133"/>
          <p:cNvSpPr/>
          <p:nvPr/>
        </p:nvSpPr>
        <p:spPr>
          <a:xfrm>
            <a:off x="7469505" y="4754880"/>
            <a:ext cx="20002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×04</a:t>
            </a:r>
            <a:endParaRPr lang="en-US" sz="495" dirty="0"/>
          </a:p>
        </p:txBody>
      </p:sp>
      <p:sp>
        <p:nvSpPr>
          <p:cNvPr id="136" name="Text 134"/>
          <p:cNvSpPr/>
          <p:nvPr/>
        </p:nvSpPr>
        <p:spPr>
          <a:xfrm>
            <a:off x="7709535" y="4752023"/>
            <a:ext cx="3371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进阶阶梯</a:t>
            </a:r>
            <a:endParaRPr lang="en-US" sz="495" dirty="0"/>
          </a:p>
        </p:txBody>
      </p:sp>
      <p:sp>
        <p:nvSpPr>
          <p:cNvPr id="137" name="Text 135"/>
          <p:cNvSpPr/>
          <p:nvPr/>
        </p:nvSpPr>
        <p:spPr>
          <a:xfrm>
            <a:off x="8018145" y="4754880"/>
            <a:ext cx="20002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×05</a:t>
            </a:r>
            <a:endParaRPr lang="en-US" sz="495" dirty="0"/>
          </a:p>
        </p:txBody>
      </p:sp>
      <p:sp>
        <p:nvSpPr>
          <p:cNvPr id="138" name="Text 136"/>
          <p:cNvSpPr/>
          <p:nvPr/>
        </p:nvSpPr>
        <p:spPr>
          <a:xfrm>
            <a:off x="8258175" y="4752023"/>
            <a:ext cx="3371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必读经典</a:t>
            </a:r>
            <a:endParaRPr lang="en-US" sz="495" dirty="0"/>
          </a:p>
        </p:txBody>
      </p:sp>
      <p:sp>
        <p:nvSpPr>
          <p:cNvPr id="139" name="Text 137"/>
          <p:cNvSpPr/>
          <p:nvPr/>
        </p:nvSpPr>
        <p:spPr>
          <a:xfrm>
            <a:off x="8566785" y="4754880"/>
            <a:ext cx="20002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×03</a:t>
            </a:r>
            <a:endParaRPr lang="en-US" sz="49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4023360" y="1954530"/>
            <a:ext cx="1943100" cy="1943100"/>
          </a:xfrm>
          <a:prstGeom prst="ellipse">
            <a:avLst/>
          </a:prstGeom>
          <a:gradFill rotWithShape="1">
            <a:gsLst>
              <a:gs pos="0">
                <a:srgbClr val="2196F3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11480"/>
            <a:ext cx="17145" cy="1714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0" y="771525"/>
            <a:ext cx="17145" cy="1714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31570"/>
            <a:ext cx="17145" cy="17145"/>
          </a:xfrm>
          <a:prstGeom prst="ellipse">
            <a:avLst/>
          </a:prstGeom>
          <a:solidFill>
            <a:srgbClr val="2196F3">
              <a:alpha val="40000"/>
            </a:srgbClr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0" y="308610"/>
            <a:ext cx="17145" cy="17145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778240" y="1800225"/>
            <a:ext cx="17145" cy="17145"/>
          </a:xfrm>
          <a:prstGeom prst="ellipse">
            <a:avLst/>
          </a:prstGeom>
          <a:solidFill>
            <a:srgbClr val="2196F3">
              <a:alpha val="60000"/>
            </a:srgbClr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" y="2160270"/>
            <a:ext cx="17145" cy="17145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869680" y="2828925"/>
            <a:ext cx="17145" cy="17145"/>
          </a:xfrm>
          <a:prstGeom prst="ellipse">
            <a:avLst/>
          </a:prstGeom>
          <a:solidFill>
            <a:srgbClr val="2196F3">
              <a:alpha val="40000"/>
            </a:srgbClr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3600450"/>
            <a:ext cx="17145" cy="17145"/>
          </a:xfrm>
          <a:prstGeom prst="ellipse">
            <a:avLst/>
          </a:prstGeom>
          <a:solidFill>
            <a:srgbClr val="2196F3">
              <a:alpha val="50000"/>
            </a:srgbClr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0" y="4011930"/>
            <a:ext cx="17145" cy="17145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1520" y="4371975"/>
            <a:ext cx="17145" cy="17145"/>
          </a:xfrm>
          <a:prstGeom prst="ellipse">
            <a:avLst/>
          </a:prstGeom>
          <a:solidFill>
            <a:srgbClr val="2196F3">
              <a:alpha val="50000"/>
            </a:srgbClr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0" y="4629150"/>
            <a:ext cx="17145" cy="17145"/>
          </a:xfrm>
          <a:prstGeom prst="ellipse">
            <a:avLst/>
          </a:prstGeom>
          <a:solidFill>
            <a:srgbClr val="00BCD4">
              <a:alpha val="4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0" y="4526280"/>
            <a:ext cx="11430" cy="11430"/>
          </a:xfrm>
          <a:prstGeom prst="ellipse">
            <a:avLst/>
          </a:prstGeom>
          <a:solidFill>
            <a:srgbClr val="2196F3">
              <a:alpha val="50000"/>
            </a:srgbClr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89120" y="617220"/>
            <a:ext cx="17145" cy="17145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2468880"/>
            <a:ext cx="11430" cy="11430"/>
          </a:xfrm>
          <a:prstGeom prst="ellipse">
            <a:avLst/>
          </a:prstGeom>
          <a:solidFill>
            <a:srgbClr val="2196F3">
              <a:alpha val="50000"/>
            </a:srgbClr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82880" y="3343275"/>
            <a:ext cx="17145" cy="1714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961120" y="4217670"/>
            <a:ext cx="11430" cy="1143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0" y="5132070"/>
            <a:ext cx="91440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2196F3"/>
              </a:gs>
              <a:gs pos="50000">
                <a:srgbClr val="00BCD4"/>
              </a:gs>
              <a:gs pos="8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2" name="Shape 19"/>
          <p:cNvSpPr/>
          <p:nvPr/>
        </p:nvSpPr>
        <p:spPr>
          <a:xfrm>
            <a:off x="1143000" y="731520"/>
            <a:ext cx="342900" cy="342900"/>
          </a:xfrm>
          <a:prstGeom prst="ellipse">
            <a:avLst/>
          </a:prstGeom>
          <a:noFill/>
          <a:ln w="1143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303020" y="891540"/>
            <a:ext cx="68580" cy="6858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95250" dist="50800" dir="16200000">
              <a:srgbClr val="2196F3">
                <a:alpha val="10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658100" y="731520"/>
            <a:ext cx="342900" cy="342900"/>
          </a:xfrm>
          <a:prstGeom prst="ellipse">
            <a:avLst/>
          </a:prstGeom>
          <a:noFill/>
          <a:ln w="11430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18120" y="891540"/>
            <a:ext cx="68580" cy="6858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2628900" y="377190"/>
            <a:ext cx="4352544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54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OPENSOURCE · CHANGES · THE · WORLD</a:t>
            </a:r>
            <a:endParaRPr lang="en-US" sz="585" dirty="0"/>
          </a:p>
        </p:txBody>
      </p:sp>
      <p:sp>
        <p:nvSpPr>
          <p:cNvPr id="27" name="Text 24"/>
          <p:cNvSpPr/>
          <p:nvPr/>
        </p:nvSpPr>
        <p:spPr>
          <a:xfrm>
            <a:off x="457200" y="560070"/>
            <a:ext cx="9217152" cy="576054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320" b="1" spc="27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开源改变世界</a:t>
            </a:r>
            <a:endParaRPr lang="en-US" sz="4320" dirty="0"/>
          </a:p>
        </p:txBody>
      </p:sp>
      <p:sp>
        <p:nvSpPr>
          <p:cNvPr id="28" name="Shape 25"/>
          <p:cNvSpPr/>
          <p:nvPr/>
        </p:nvSpPr>
        <p:spPr>
          <a:xfrm>
            <a:off x="3771900" y="1238994"/>
            <a:ext cx="16002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9" name="Shape 26"/>
          <p:cNvSpPr/>
          <p:nvPr/>
        </p:nvSpPr>
        <p:spPr>
          <a:xfrm>
            <a:off x="4572000" y="1216134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429000" y="1353294"/>
            <a:ext cx="256032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spc="270" kern="0" dirty="0">
                <a:solidFill>
                  <a:srgbClr val="8F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感谢聆听 · 期待与你共建开源未来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572000" y="1587609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143000" y="1713339"/>
            <a:ext cx="7680960" cy="491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E8F4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不是少数人的技术选择，而是一场关于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协作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与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共享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全球运动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</a:t>
            </a:r>
            <a:pPr algn="ctr" indent="0" marL="0">
              <a:lnSpc>
                <a:spcPct val="200000"/>
              </a:lnSpc>
              <a:buNone/>
            </a:pPr>
            <a:endParaRPr lang="en-US" sz="630" dirty="0"/>
          </a:p>
          <a:p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每一次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E8F4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提交代码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、每一次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E8F4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分享知识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、每一次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E8F4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mentoring 新人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，都是在推动世界变得更好。</a:t>
            </a:r>
            <a:pPr algn="ctr" indent="0" marL="0">
              <a:lnSpc>
                <a:spcPct val="200000"/>
              </a:lnSpc>
              <a:buNone/>
            </a:pPr>
            <a:endParaRPr lang="en-US" sz="630" dirty="0"/>
          </a:p>
          <a:p>
            <a:pPr algn="ctr" indent="0" marL="0">
              <a:lnSpc>
                <a:spcPct val="200000"/>
              </a:lnSpc>
              <a:buNone/>
            </a:pPr>
            <a:r>
              <a:rPr lang="en-US" sz="675" spc="23" kern="0" dirty="0">
                <a:solidFill>
                  <a:srgbClr val="E8F4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感谢聆听，期待在开源道路上与你同行。 </a:t>
            </a:r>
            <a:endParaRPr lang="en-US" sz="630" dirty="0"/>
          </a:p>
        </p:txBody>
      </p:sp>
      <p:sp>
        <p:nvSpPr>
          <p:cNvPr id="33" name="Shape 30"/>
          <p:cNvSpPr/>
          <p:nvPr/>
        </p:nvSpPr>
        <p:spPr>
          <a:xfrm>
            <a:off x="457200" y="2364849"/>
            <a:ext cx="2659350" cy="1258729"/>
          </a:xfrm>
          <a:prstGeom prst="roundRect">
            <a:avLst>
              <a:gd name="adj" fmla="val 5448"/>
            </a:avLst>
          </a:prstGeom>
          <a:gradFill rotWithShape="1">
            <a:gsLst>
              <a:gs pos="0">
                <a:srgbClr val="2E3D44">
                  <a:alpha val="95000"/>
                </a:srgbClr>
              </a:gs>
              <a:gs pos="100000">
                <a:srgbClr val="263238">
                  <a:alpha val="95000"/>
                </a:srgbClr>
              </a:gs>
            </a:gsLst>
            <a:lin ang="42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364849"/>
            <a:ext cx="264792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5" name="Shape 32"/>
          <p:cNvSpPr/>
          <p:nvPr/>
        </p:nvSpPr>
        <p:spPr>
          <a:xfrm>
            <a:off x="2705070" y="2193399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6" name="Shape 33"/>
          <p:cNvSpPr/>
          <p:nvPr/>
        </p:nvSpPr>
        <p:spPr>
          <a:xfrm>
            <a:off x="2756505" y="2576304"/>
            <a:ext cx="34290" cy="34290"/>
          </a:xfrm>
          <a:prstGeom prst="ellipse">
            <a:avLst/>
          </a:prstGeom>
          <a:solidFill>
            <a:srgbClr val="2196F3">
              <a:alpha val="70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37235" y="3446413"/>
            <a:ext cx="34290" cy="34290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22935" y="2576304"/>
            <a:ext cx="342900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/>
        </p:spPr>
      </p:sp>
      <p:sp>
        <p:nvSpPr>
          <p:cNvPr id="39" name="Text 36"/>
          <p:cNvSpPr/>
          <p:nvPr/>
        </p:nvSpPr>
        <p:spPr>
          <a:xfrm>
            <a:off x="2733645" y="2450574"/>
            <a:ext cx="576072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dirty="0">
                <a:solidFill>
                  <a:srgbClr val="2196F3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90" dirty="0"/>
          </a:p>
        </p:txBody>
      </p:sp>
      <p:sp>
        <p:nvSpPr>
          <p:cNvPr id="40" name="Shape 37"/>
          <p:cNvSpPr/>
          <p:nvPr/>
        </p:nvSpPr>
        <p:spPr>
          <a:xfrm>
            <a:off x="588645" y="2507724"/>
            <a:ext cx="228600" cy="2286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" y="2559159"/>
            <a:ext cx="125730" cy="12573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588645" y="2804904"/>
            <a:ext cx="76809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TAKEAWAY</a:t>
            </a:r>
            <a:endParaRPr lang="en-US" sz="495" dirty="0"/>
          </a:p>
        </p:txBody>
      </p:sp>
      <p:sp>
        <p:nvSpPr>
          <p:cNvPr id="43" name="Text 39"/>
          <p:cNvSpPr/>
          <p:nvPr/>
        </p:nvSpPr>
        <p:spPr>
          <a:xfrm>
            <a:off x="588645" y="2924919"/>
            <a:ext cx="268403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8F4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核心收获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588645" y="3147804"/>
            <a:ext cx="228600" cy="1143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45" name="Text 41"/>
          <p:cNvSpPr/>
          <p:nvPr/>
        </p:nvSpPr>
        <p:spPr>
          <a:xfrm>
            <a:off x="588645" y="3227814"/>
            <a:ext cx="2684035" cy="264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红帽</a:t>
            </a:r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是</a:t>
            </a:r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E8F4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开源文化</a:t>
            </a:r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的最佳样本，</a:t>
            </a:r>
            <a:pPr algn="l" indent="0" marL="0">
              <a:lnSpc>
                <a:spcPct val="185000"/>
              </a:lnSpc>
              <a:buNone/>
            </a:pPr>
            <a:endParaRPr lang="en-US" sz="563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布道</a:t>
            </a:r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是让文化生长的力量。</a:t>
            </a:r>
            <a:endParaRPr lang="en-US" sz="563" dirty="0"/>
          </a:p>
        </p:txBody>
      </p:sp>
      <p:sp>
        <p:nvSpPr>
          <p:cNvPr id="46" name="Shape 42"/>
          <p:cNvSpPr/>
          <p:nvPr/>
        </p:nvSpPr>
        <p:spPr>
          <a:xfrm>
            <a:off x="3242280" y="2364849"/>
            <a:ext cx="2659440" cy="1258729"/>
          </a:xfrm>
          <a:prstGeom prst="roundRect">
            <a:avLst>
              <a:gd name="adj" fmla="val 5448"/>
            </a:avLst>
          </a:prstGeom>
          <a:gradFill rotWithShape="1">
            <a:gsLst>
              <a:gs pos="0">
                <a:srgbClr val="2E3D44">
                  <a:alpha val="95000"/>
                </a:srgbClr>
              </a:gs>
              <a:gs pos="100000">
                <a:srgbClr val="263238">
                  <a:alpha val="95000"/>
                </a:srgbClr>
              </a:gs>
            </a:gsLst>
            <a:lin ang="42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3242280" y="2364849"/>
            <a:ext cx="2648011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8" name="Shape 44"/>
          <p:cNvSpPr/>
          <p:nvPr/>
        </p:nvSpPr>
        <p:spPr>
          <a:xfrm>
            <a:off x="5490241" y="2193399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9" name="Shape 45"/>
          <p:cNvSpPr/>
          <p:nvPr/>
        </p:nvSpPr>
        <p:spPr>
          <a:xfrm>
            <a:off x="5541675" y="2576304"/>
            <a:ext cx="34290" cy="34290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50" name="Shape 46"/>
          <p:cNvSpPr/>
          <p:nvPr/>
        </p:nvSpPr>
        <p:spPr>
          <a:xfrm>
            <a:off x="3522315" y="3446413"/>
            <a:ext cx="34290" cy="34290"/>
          </a:xfrm>
          <a:prstGeom prst="ellipse">
            <a:avLst/>
          </a:prstGeom>
          <a:solidFill>
            <a:srgbClr val="2196F3">
              <a:alpha val="70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51" name="Shape 47"/>
          <p:cNvSpPr/>
          <p:nvPr/>
        </p:nvSpPr>
        <p:spPr>
          <a:xfrm>
            <a:off x="3408015" y="2576304"/>
            <a:ext cx="342900" cy="5715"/>
          </a:xfrm>
          <a:prstGeom prst="rect">
            <a:avLst/>
          </a:prstGeom>
          <a:gradFill rotWithShape="1">
            <a:gsLst>
              <a:gs pos="0">
                <a:srgbClr val="00BCD4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/>
        </p:spPr>
      </p:sp>
      <p:sp>
        <p:nvSpPr>
          <p:cNvPr id="52" name="Text 48"/>
          <p:cNvSpPr/>
          <p:nvPr/>
        </p:nvSpPr>
        <p:spPr>
          <a:xfrm>
            <a:off x="5473095" y="2450574"/>
            <a:ext cx="576072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dirty="0">
                <a:solidFill>
                  <a:srgbClr val="2196F3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90" dirty="0"/>
          </a:p>
        </p:txBody>
      </p:sp>
      <p:sp>
        <p:nvSpPr>
          <p:cNvPr id="53" name="Shape 49"/>
          <p:cNvSpPr/>
          <p:nvPr/>
        </p:nvSpPr>
        <p:spPr>
          <a:xfrm>
            <a:off x="3373725" y="2507724"/>
            <a:ext cx="228600" cy="2286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160" y="2559159"/>
            <a:ext cx="125730" cy="125730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3373725" y="2804904"/>
            <a:ext cx="89611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CALL TO ACTION</a:t>
            </a:r>
            <a:endParaRPr lang="en-US" sz="495" dirty="0"/>
          </a:p>
        </p:txBody>
      </p:sp>
      <p:sp>
        <p:nvSpPr>
          <p:cNvPr id="56" name="Text 51"/>
          <p:cNvSpPr/>
          <p:nvPr/>
        </p:nvSpPr>
        <p:spPr>
          <a:xfrm>
            <a:off x="3373725" y="2924919"/>
            <a:ext cx="268413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8F4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行动倡议</a:t>
            </a:r>
            <a:endParaRPr lang="en-US" sz="900" dirty="0"/>
          </a:p>
        </p:txBody>
      </p:sp>
      <p:sp>
        <p:nvSpPr>
          <p:cNvPr id="57" name="Shape 52"/>
          <p:cNvSpPr/>
          <p:nvPr/>
        </p:nvSpPr>
        <p:spPr>
          <a:xfrm>
            <a:off x="3373725" y="3147804"/>
            <a:ext cx="228600" cy="1143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58" name="Text 53"/>
          <p:cNvSpPr/>
          <p:nvPr/>
        </p:nvSpPr>
        <p:spPr>
          <a:xfrm>
            <a:off x="3373725" y="3227814"/>
            <a:ext cx="2684135" cy="264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</a:t>
            </a:r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E8F4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阅读一个开源项目</a:t>
            </a:r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开始，</a:t>
            </a:r>
            <a:pPr algn="l" indent="0" marL="0">
              <a:lnSpc>
                <a:spcPct val="185000"/>
              </a:lnSpc>
              <a:buNone/>
            </a:pPr>
            <a:endParaRPr lang="en-US" sz="563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成为</a:t>
            </a:r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开源生态</a:t>
            </a:r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的一部分。</a:t>
            </a:r>
            <a:endParaRPr lang="en-US" sz="563" dirty="0"/>
          </a:p>
        </p:txBody>
      </p:sp>
      <p:sp>
        <p:nvSpPr>
          <p:cNvPr id="59" name="Shape 54"/>
          <p:cNvSpPr/>
          <p:nvPr/>
        </p:nvSpPr>
        <p:spPr>
          <a:xfrm>
            <a:off x="6027450" y="2364849"/>
            <a:ext cx="2659350" cy="1258729"/>
          </a:xfrm>
          <a:prstGeom prst="roundRect">
            <a:avLst>
              <a:gd name="adj" fmla="val 5448"/>
            </a:avLst>
          </a:prstGeom>
          <a:gradFill rotWithShape="1">
            <a:gsLst>
              <a:gs pos="0">
                <a:srgbClr val="2E3D44">
                  <a:alpha val="95000"/>
                </a:srgbClr>
              </a:gs>
              <a:gs pos="100000">
                <a:srgbClr val="263238">
                  <a:alpha val="95000"/>
                </a:srgbClr>
              </a:gs>
            </a:gsLst>
            <a:lin ang="42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6027450" y="2364849"/>
            <a:ext cx="264792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61" name="Shape 56"/>
          <p:cNvSpPr/>
          <p:nvPr/>
        </p:nvSpPr>
        <p:spPr>
          <a:xfrm>
            <a:off x="8275319" y="2193399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2" name="Shape 57"/>
          <p:cNvSpPr/>
          <p:nvPr/>
        </p:nvSpPr>
        <p:spPr>
          <a:xfrm>
            <a:off x="8326755" y="2576304"/>
            <a:ext cx="34290" cy="34290"/>
          </a:xfrm>
          <a:prstGeom prst="ellipse">
            <a:avLst/>
          </a:prstGeom>
          <a:solidFill>
            <a:srgbClr val="2196F3">
              <a:alpha val="70000"/>
            </a:srgbClr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63" name="Shape 58"/>
          <p:cNvSpPr/>
          <p:nvPr/>
        </p:nvSpPr>
        <p:spPr>
          <a:xfrm>
            <a:off x="6307485" y="3446413"/>
            <a:ext cx="34290" cy="34290"/>
          </a:xfrm>
          <a:prstGeom prst="ellipse">
            <a:avLst/>
          </a:prstGeom>
          <a:solidFill>
            <a:srgbClr val="00BCD4">
              <a:alpha val="70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64" name="Shape 59"/>
          <p:cNvSpPr/>
          <p:nvPr/>
        </p:nvSpPr>
        <p:spPr>
          <a:xfrm>
            <a:off x="6193185" y="2576304"/>
            <a:ext cx="342900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/>
        </p:spPr>
      </p:sp>
      <p:sp>
        <p:nvSpPr>
          <p:cNvPr id="65" name="Text 60"/>
          <p:cNvSpPr/>
          <p:nvPr/>
        </p:nvSpPr>
        <p:spPr>
          <a:xfrm>
            <a:off x="8252460" y="2450574"/>
            <a:ext cx="576072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dirty="0">
                <a:solidFill>
                  <a:srgbClr val="2196F3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90" dirty="0"/>
          </a:p>
        </p:txBody>
      </p:sp>
      <p:sp>
        <p:nvSpPr>
          <p:cNvPr id="66" name="Shape 61"/>
          <p:cNvSpPr/>
          <p:nvPr/>
        </p:nvSpPr>
        <p:spPr>
          <a:xfrm>
            <a:off x="6158895" y="2507724"/>
            <a:ext cx="228600" cy="2286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pic>
        <p:nvPicPr>
          <p:cNvPr id="6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0330" y="2559159"/>
            <a:ext cx="125730" cy="125730"/>
          </a:xfrm>
          <a:prstGeom prst="rect">
            <a:avLst/>
          </a:prstGeom>
        </p:spPr>
      </p:pic>
      <p:sp>
        <p:nvSpPr>
          <p:cNvPr id="68" name="Text 62"/>
          <p:cNvSpPr/>
          <p:nvPr/>
        </p:nvSpPr>
        <p:spPr>
          <a:xfrm>
            <a:off x="6158895" y="2804904"/>
            <a:ext cx="89611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STAY CONNECTED</a:t>
            </a:r>
            <a:endParaRPr lang="en-US" sz="495" dirty="0"/>
          </a:p>
        </p:txBody>
      </p:sp>
      <p:sp>
        <p:nvSpPr>
          <p:cNvPr id="69" name="Text 63"/>
          <p:cNvSpPr/>
          <p:nvPr/>
        </p:nvSpPr>
        <p:spPr>
          <a:xfrm>
            <a:off x="6158895" y="2924919"/>
            <a:ext cx="268403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8F4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持续连接</a:t>
            </a:r>
            <a:endParaRPr lang="en-US" sz="900" dirty="0"/>
          </a:p>
        </p:txBody>
      </p:sp>
      <p:sp>
        <p:nvSpPr>
          <p:cNvPr id="70" name="Shape 64"/>
          <p:cNvSpPr/>
          <p:nvPr/>
        </p:nvSpPr>
        <p:spPr>
          <a:xfrm>
            <a:off x="6158895" y="3147804"/>
            <a:ext cx="228600" cy="1143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1" name="Text 65"/>
          <p:cNvSpPr/>
          <p:nvPr/>
        </p:nvSpPr>
        <p:spPr>
          <a:xfrm>
            <a:off x="6158895" y="3227814"/>
            <a:ext cx="2684035" cy="264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欢迎加入</a:t>
            </a:r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开源之书记录社区</a:t>
            </a:r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</a:t>
            </a:r>
            <a:pPr algn="l" indent="0" marL="0">
              <a:lnSpc>
                <a:spcPct val="185000"/>
              </a:lnSpc>
              <a:buNone/>
            </a:pPr>
            <a:endParaRPr lang="en-US" sz="563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分享你的</a:t>
            </a:r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E8F4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开源故事</a:t>
            </a:r>
            <a:pPr algn="l" indent="0" marL="0">
              <a:lnSpc>
                <a:spcPct val="185000"/>
              </a:lnSpc>
              <a:buNone/>
            </a:pPr>
            <a:r>
              <a:rPr lang="en-US" sz="563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</a:t>
            </a:r>
            <a:endParaRPr lang="en-US" sz="563" dirty="0"/>
          </a:p>
        </p:txBody>
      </p:sp>
      <p:sp>
        <p:nvSpPr>
          <p:cNvPr id="72" name="Shape 66"/>
          <p:cNvSpPr/>
          <p:nvPr/>
        </p:nvSpPr>
        <p:spPr>
          <a:xfrm>
            <a:off x="457200" y="4314825"/>
            <a:ext cx="8229600" cy="600075"/>
          </a:xfrm>
          <a:prstGeom prst="rect">
            <a:avLst/>
          </a:prstGeom>
          <a:noFill/>
          <a:ln/>
        </p:spPr>
      </p:sp>
      <p:sp>
        <p:nvSpPr>
          <p:cNvPr id="73" name="Shape 67"/>
          <p:cNvSpPr/>
          <p:nvPr/>
        </p:nvSpPr>
        <p:spPr>
          <a:xfrm>
            <a:off x="457200" y="4314825"/>
            <a:ext cx="8229600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457200" y="4551998"/>
            <a:ext cx="1508760" cy="222885"/>
          </a:xfrm>
          <a:prstGeom prst="roundRect">
            <a:avLst>
              <a:gd name="adj" fmla="val 51282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542925" y="4640580"/>
            <a:ext cx="45720" cy="4572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76" name="Text 70"/>
          <p:cNvSpPr/>
          <p:nvPr/>
        </p:nvSpPr>
        <p:spPr>
          <a:xfrm>
            <a:off x="634365" y="4617720"/>
            <a:ext cx="3371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分享主题</a:t>
            </a:r>
            <a:endParaRPr lang="en-US" sz="495" dirty="0"/>
          </a:p>
        </p:txBody>
      </p:sp>
      <p:sp>
        <p:nvSpPr>
          <p:cNvPr id="77" name="Text 71"/>
          <p:cNvSpPr/>
          <p:nvPr/>
        </p:nvSpPr>
        <p:spPr>
          <a:xfrm>
            <a:off x="954405" y="4609148"/>
            <a:ext cx="103693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E8F4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开源文化（以红帽为样本）</a:t>
            </a:r>
            <a:endParaRPr lang="en-US" sz="585" dirty="0"/>
          </a:p>
        </p:txBody>
      </p:sp>
      <p:sp>
        <p:nvSpPr>
          <p:cNvPr id="78" name="Shape 72"/>
          <p:cNvSpPr/>
          <p:nvPr/>
        </p:nvSpPr>
        <p:spPr>
          <a:xfrm>
            <a:off x="2045970" y="4551998"/>
            <a:ext cx="1200150" cy="222885"/>
          </a:xfrm>
          <a:prstGeom prst="roundRect">
            <a:avLst>
              <a:gd name="adj" fmla="val 51282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79" name="Shape 73"/>
          <p:cNvSpPr/>
          <p:nvPr/>
        </p:nvSpPr>
        <p:spPr>
          <a:xfrm>
            <a:off x="2131695" y="464058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80" name="Text 74"/>
          <p:cNvSpPr/>
          <p:nvPr/>
        </p:nvSpPr>
        <p:spPr>
          <a:xfrm>
            <a:off x="2223135" y="4617720"/>
            <a:ext cx="3371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下期预告</a:t>
            </a:r>
            <a:endParaRPr lang="en-US" sz="495" dirty="0"/>
          </a:p>
        </p:txBody>
      </p:sp>
      <p:sp>
        <p:nvSpPr>
          <p:cNvPr id="81" name="Text 75"/>
          <p:cNvSpPr/>
          <p:nvPr/>
        </p:nvSpPr>
        <p:spPr>
          <a:xfrm>
            <a:off x="2543175" y="4609148"/>
            <a:ext cx="69151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E8F4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待定（持续关注）</a:t>
            </a:r>
            <a:endParaRPr lang="en-US" sz="585" dirty="0"/>
          </a:p>
        </p:txBody>
      </p:sp>
      <p:sp>
        <p:nvSpPr>
          <p:cNvPr id="82" name="Shape 76"/>
          <p:cNvSpPr/>
          <p:nvPr/>
        </p:nvSpPr>
        <p:spPr>
          <a:xfrm>
            <a:off x="7063740" y="44119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196F3">
              <a:alpha val="5000"/>
            </a:srgbClr>
          </a:solidFill>
          <a:ln w="11430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83" name="Shape 77"/>
          <p:cNvSpPr/>
          <p:nvPr/>
        </p:nvSpPr>
        <p:spPr>
          <a:xfrm>
            <a:off x="7223760" y="4523423"/>
            <a:ext cx="53310" cy="5331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4" name="Shape 78"/>
          <p:cNvSpPr/>
          <p:nvPr/>
        </p:nvSpPr>
        <p:spPr>
          <a:xfrm>
            <a:off x="7353240" y="4523423"/>
            <a:ext cx="53310" cy="5331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5" name="Shape 79"/>
          <p:cNvSpPr/>
          <p:nvPr/>
        </p:nvSpPr>
        <p:spPr>
          <a:xfrm>
            <a:off x="7223760" y="4588163"/>
            <a:ext cx="53310" cy="5331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6" name="Shape 80"/>
          <p:cNvSpPr/>
          <p:nvPr/>
        </p:nvSpPr>
        <p:spPr>
          <a:xfrm>
            <a:off x="7288500" y="4588163"/>
            <a:ext cx="53310" cy="5331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7" name="Shape 81"/>
          <p:cNvSpPr/>
          <p:nvPr/>
        </p:nvSpPr>
        <p:spPr>
          <a:xfrm>
            <a:off x="7353240" y="4588163"/>
            <a:ext cx="53310" cy="5331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8" name="Shape 82"/>
          <p:cNvSpPr/>
          <p:nvPr/>
        </p:nvSpPr>
        <p:spPr>
          <a:xfrm>
            <a:off x="7223760" y="4652903"/>
            <a:ext cx="53310" cy="5331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9" name="Shape 83"/>
          <p:cNvSpPr/>
          <p:nvPr/>
        </p:nvSpPr>
        <p:spPr>
          <a:xfrm>
            <a:off x="7288500" y="4652903"/>
            <a:ext cx="53310" cy="5331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0" name="Shape 84"/>
          <p:cNvSpPr/>
          <p:nvPr/>
        </p:nvSpPr>
        <p:spPr>
          <a:xfrm>
            <a:off x="7353240" y="4652903"/>
            <a:ext cx="53310" cy="5331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1" name="Text 85"/>
          <p:cNvSpPr/>
          <p:nvPr/>
        </p:nvSpPr>
        <p:spPr>
          <a:xfrm>
            <a:off x="7212330" y="4740593"/>
            <a:ext cx="251460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" spc="45" kern="0" dirty="0">
                <a:solidFill>
                  <a:srgbClr val="8FB8D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扫码加入</a:t>
            </a:r>
            <a:endParaRPr lang="en-US" sz="360" dirty="0"/>
          </a:p>
        </p:txBody>
      </p:sp>
      <p:sp>
        <p:nvSpPr>
          <p:cNvPr id="92" name="Shape 86"/>
          <p:cNvSpPr/>
          <p:nvPr/>
        </p:nvSpPr>
        <p:spPr>
          <a:xfrm>
            <a:off x="7646670" y="4500563"/>
            <a:ext cx="1040130" cy="325755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93" name="Shape 87"/>
          <p:cNvSpPr/>
          <p:nvPr/>
        </p:nvSpPr>
        <p:spPr>
          <a:xfrm>
            <a:off x="8298180" y="4343400"/>
            <a:ext cx="685800" cy="685800"/>
          </a:xfrm>
          <a:prstGeom prst="ellipse">
            <a:avLst/>
          </a:prstGeom>
          <a:gradFill rotWithShape="1">
            <a:gsLst>
              <a:gs pos="0">
                <a:srgbClr val="00BCD4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94" name="Text 88"/>
          <p:cNvSpPr/>
          <p:nvPr/>
        </p:nvSpPr>
        <p:spPr>
          <a:xfrm>
            <a:off x="7755255" y="4563428"/>
            <a:ext cx="92171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JOIN THE COMMUNITY</a:t>
            </a:r>
            <a:endParaRPr lang="en-US" sz="450" dirty="0"/>
          </a:p>
        </p:txBody>
      </p:sp>
      <p:sp>
        <p:nvSpPr>
          <p:cNvPr id="95" name="Text 89"/>
          <p:cNvSpPr/>
          <p:nvPr/>
        </p:nvSpPr>
        <p:spPr>
          <a:xfrm>
            <a:off x="7755255" y="4654868"/>
            <a:ext cx="656689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b="1" spc="23" kern="0" dirty="0">
                <a:solidFill>
                  <a:srgbClr val="E8F4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加入开源社区</a:t>
            </a:r>
            <a:pPr algn="l" indent="0" marL="0">
              <a:buNone/>
            </a:pPr>
            <a:r>
              <a:rPr lang="en-US" sz="585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5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2026-08-27T19:11:50Z</dcterms:created>
  <dcterms:modified xsi:type="dcterms:W3CDTF">2026-08-27T19:11:50Z</dcterms:modified>
</cp:coreProperties>
</file>