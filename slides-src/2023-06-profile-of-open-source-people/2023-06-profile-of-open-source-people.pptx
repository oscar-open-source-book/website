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radarChart>
        <c:radarStyle val="standard"/>
        <c:varyColors val="0"/>
        <c:ser>
          <c:idx val="0"/>
          <c:order val="0"/>
          <c:tx>
            <c:strRef>
              <c:f>Sheet1!$B$1</c:f>
              <c:strCache>
                <c:ptCount val="1"/>
                <c:pt idx="0">
                  <c:v>全球整体</c:v>
                </c:pt>
              </c:strCache>
            </c:strRef>
          </c:tx>
          <c:spPr>
            <a:solidFill>
              <a:srgbClr val="C0504D"/>
            </a:solidFill>
            <a:ln w="25400" cap="flat">
              <a:solidFill>
                <a:srgbClr val="C0504D"/>
              </a:solidFill>
              <a:prstDash val="solid"/>
              <a:round/>
            </a:ln>
            <a:effectLst/>
          </c:spPr>
          <c:invertIfNegative val="0"/>
          <c:marker>
            <c:symbol val="circle"/>
            <c:size val="6"/>
            <c:spPr>
              <a:solidFill>
                <a:srgbClr val="C0504D"/>
              </a:solidFill>
              <a:ln w="9525" cap="flat">
                <a:solidFill>
                  <a:srgbClr val="C0504D"/>
                </a:solidFill>
                <a:prstDash val="solid"/>
                <a:round/>
              </a:ln>
              <a:effectLst/>
            </c:spPr>
          </c:marker>
          <c:cat>
            <c:multiLvlStrRef>
              <c:f>Sheet1!$A$2:$A$7</c:f>
              <c:multiLvlStrCache>
                <c:ptCount val="6"/>
                <c:lvl>
                  <c:pt idx="0">
                    <c:v>全球规模</c:v>
                  </c:pt>
                  <c:pt idx="1">
                    <c:v>职业多样性</c:v>
                  </c:pt>
                  <c:pt idx="2">
                    <c:v>技术栈丰富度</c:v>
                  </c:pt>
                  <c:pt idx="3">
                    <c:v>平台活跃度</c:v>
                  </c:pt>
                  <c:pt idx="4">
                    <c:v>中国增速</c:v>
                  </c:pt>
                  <c:pt idx="5">
                    <c:v>女性占比</c:v>
                  </c:pt>
                </c:lvl>
              </c:multiLvlStrCache>
            </c:multiLvlStrRef>
          </c:cat>
          <c:val>
            <c:numRef>
              <c:f>Sheet1!$B$2:$B$7</c:f>
              <c:numCache>
                <c:formatCode>General</c:formatCode>
                <c:ptCount val="6"/>
                <c:pt idx="0">
                  <c:v>92</c:v>
                </c:pt>
                <c:pt idx="1">
                  <c:v>70</c:v>
                </c:pt>
                <c:pt idx="2">
                  <c:v>88</c:v>
                </c:pt>
                <c:pt idx="3">
                  <c:v>90</c:v>
                </c:pt>
                <c:pt idx="4">
                  <c:v>55</c:v>
                </c:pt>
                <c:pt idx="5">
                  <c:v>30</c:v>
                </c:pt>
              </c:numCache>
            </c:numRef>
          </c:val>
        </c:ser>
        <c:ser>
          <c:idx val="1"/>
          <c:order val="1"/>
          <c:tx>
            <c:strRef>
              <c:f>Sheet1!$C$1</c:f>
              <c:strCache>
                <c:ptCount val="1"/>
                <c:pt idx="0">
                  <c:v>中国表现</c:v>
                </c:pt>
              </c:strCache>
            </c:strRef>
          </c:tx>
          <c:spPr>
            <a:solidFill>
              <a:srgbClr val="4F81BD"/>
            </a:solidFill>
            <a:ln w="25400" cap="flat">
              <a:solidFill>
                <a:srgbClr val="4F81BD"/>
              </a:solidFill>
              <a:prstDash val="solid"/>
              <a:round/>
            </a:ln>
            <a:effectLst/>
          </c:spPr>
          <c:invertIfNegative val="0"/>
          <c:marker>
            <c:symbol val="circle"/>
            <c:size val="6"/>
            <c:spPr>
              <a:solidFill>
                <a:srgbClr val="4F81BD"/>
              </a:solidFill>
              <a:ln w="9525" cap="flat">
                <a:solidFill>
                  <a:srgbClr val="4F81BD"/>
                </a:solidFill>
                <a:prstDash val="solid"/>
                <a:round/>
              </a:ln>
              <a:effectLst/>
            </c:spPr>
          </c:marker>
          <c:cat>
            <c:multiLvlStrRef>
              <c:f>Sheet1!$A$2:$A$7</c:f>
              <c:multiLvlStrCache>
                <c:ptCount val="6"/>
                <c:lvl>
                  <c:pt idx="0">
                    <c:v>全球规模</c:v>
                  </c:pt>
                  <c:pt idx="1">
                    <c:v>职业多样性</c:v>
                  </c:pt>
                  <c:pt idx="2">
                    <c:v>技术栈丰富度</c:v>
                  </c:pt>
                  <c:pt idx="3">
                    <c:v>平台活跃度</c:v>
                  </c:pt>
                  <c:pt idx="4">
                    <c:v>中国增速</c:v>
                  </c:pt>
                  <c:pt idx="5">
                    <c:v>女性占比</c:v>
                  </c:pt>
                </c:lvl>
              </c:multiLvlStrCache>
            </c:multiLvlStrRef>
          </c:cat>
          <c:val>
            <c:numRef>
              <c:f>Sheet1!$C$2:$C$7</c:f>
              <c:numCache>
                <c:formatCode>General</c:formatCode>
                <c:ptCount val="6"/>
                <c:pt idx="0">
                  <c:v>60</c:v>
                </c:pt>
                <c:pt idx="1">
                  <c:v>55</c:v>
                </c:pt>
                <c:pt idx="2">
                  <c:v>72</c:v>
                </c:pt>
                <c:pt idx="3">
                  <c:v>65</c:v>
                </c:pt>
                <c:pt idx="4">
                  <c:v>95</c:v>
                </c:pt>
                <c:pt idx="5">
                  <c:v>22</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axId val="2094734554"/>
        <c:axId val="2094734552"/>
        <c:axId val="2094734556"/>
      </c:rad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r"/>
      <c:overlay val="0"/>
      <c:txPr>
        <a:bodyPr/>
        <a:lstStyle/>
        <a:p>
          <a:pPr>
            <a:defRPr>
              <a:solidFill>
                <a:srgbClr val="B0BEC5"/>
              </a:solidFil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radarChart>
        <c:radarStyle val="standard"/>
        <c:varyColors val="0"/>
        <c:ser>
          <c:idx val="0"/>
          <c:order val="0"/>
          <c:tx>
            <c:strRef>
              <c:f>Sheet1!$B$1</c:f>
              <c:strCache>
                <c:ptCount val="1"/>
                <c:pt idx="0">
                  <c:v>Series</c:v>
                </c:pt>
              </c:strCache>
            </c:strRef>
          </c:tx>
          <c:spPr>
            <a:solidFill>
              <a:srgbClr val="2196F3"/>
            </a:solidFill>
            <a:ln w="25400" cap="flat">
              <a:solidFill>
                <a:srgbClr val="2196F3"/>
              </a:solidFill>
              <a:prstDash val="solid"/>
              <a:round/>
            </a:ln>
            <a:effectLst/>
          </c:spPr>
          <c:invertIfNegative val="0"/>
          <c:marker>
            <c:symbol val="circle"/>
            <c:size val="6"/>
            <c:spPr>
              <a:solidFill>
                <a:srgbClr val="2196F3"/>
              </a:solidFill>
              <a:ln w="9525" cap="flat">
                <a:solidFill>
                  <a:srgbClr val="2196F3"/>
                </a:solidFill>
                <a:prstDash val="solid"/>
                <a:round/>
              </a:ln>
              <a:effectLst/>
            </c:spPr>
          </c:marker>
          <c:cat>
            <c:multiLvlStrRef>
              <c:f>Sheet1!$A$2:$A$6</c:f>
              <c:multiLvlStrCache>
                <c:ptCount val="5"/>
                <c:lvl>
                  <c:pt idx="0">
                    <c:v>编程语言</c:v>
                  </c:pt>
                  <c:pt idx="1">
                    <c:v>Git版本控制</c:v>
                  </c:pt>
                  <c:pt idx="2">
                    <c:v>自动化工程</c:v>
                  </c:pt>
                  <c:pt idx="3">
                    <c:v>文档写作</c:v>
                  </c:pt>
                  <c:pt idx="4">
                    <c:v>协作沟通</c:v>
                  </c:pt>
                </c:lvl>
              </c:multiLvlStrCache>
            </c:multiLvlStrRef>
          </c:cat>
          <c:val>
            <c:numRef>
              <c:f>Sheet1!$B$2:$B$6</c:f>
              <c:numCache>
                <c:formatCode>General</c:formatCode>
                <c:ptCount val="5"/>
                <c:pt idx="0">
                  <c:v>90</c:v>
                </c:pt>
                <c:pt idx="1">
                  <c:v>92</c:v>
                </c:pt>
                <c:pt idx="2">
                  <c:v>78</c:v>
                </c:pt>
                <c:pt idx="3">
                  <c:v>72</c:v>
                </c:pt>
                <c:pt idx="4">
                  <c:v>85</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axId val="2094734554"/>
        <c:axId val="2094734552"/>
        <c:axId val="2094734556"/>
      </c:rad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image" Target="../media/image-6-3.png"/><Relationship Id="rId4" Type="http://schemas.openxmlformats.org/officeDocument/2006/relationships/image" Target="../media/image-6-4.svg"/><Relationship Id="rId5" Type="http://schemas.openxmlformats.org/officeDocument/2006/relationships/image" Target="../media/image-6-5.png"/><Relationship Id="rId6" Type="http://schemas.openxmlformats.org/officeDocument/2006/relationships/image" Target="../media/image-6-6.svg"/><Relationship Id="rId7" Type="http://schemas.openxmlformats.org/officeDocument/2006/relationships/image" Target="../media/image-6-7.png"/><Relationship Id="rId8" Type="http://schemas.openxmlformats.org/officeDocument/2006/relationships/image" Target="../media/image-6-8.svg"/><Relationship Id="rId9" Type="http://schemas.openxmlformats.org/officeDocument/2006/relationships/image" Target="../media/image-6-9.png"/><Relationship Id="rId10" Type="http://schemas.openxmlformats.org/officeDocument/2006/relationships/image" Target="../media/image-6-10.svg"/><Relationship Id="rId11" Type="http://schemas.openxmlformats.org/officeDocument/2006/relationships/image" Target="../media/image-6-11.png"/><Relationship Id="rId12" Type="http://schemas.openxmlformats.org/officeDocument/2006/relationships/image" Target="../media/image-6-12.svg"/><Relationship Id="rId13" Type="http://schemas.openxmlformats.org/officeDocument/2006/relationships/image" Target="../media/image-6-13.png"/><Relationship Id="rId14" Type="http://schemas.openxmlformats.org/officeDocument/2006/relationships/image" Target="../media/image-6-14.svg"/><Relationship Id="rId15" Type="http://schemas.openxmlformats.org/officeDocument/2006/relationships/slideLayout" Target="../slideLayouts/slideLayout1.xml"/><Relationship Id="rId1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image" Target="../media/image-9-3.png"/><Relationship Id="rId4" Type="http://schemas.openxmlformats.org/officeDocument/2006/relationships/image" Target="../media/image-9-4.svg"/><Relationship Id="rId5" Type="http://schemas.openxmlformats.org/officeDocument/2006/relationships/image" Target="../media/image-9-5.png"/><Relationship Id="rId6" Type="http://schemas.openxmlformats.org/officeDocument/2006/relationships/image" Target="../media/image-9-6.svg"/><Relationship Id="rId7" Type="http://schemas.openxmlformats.org/officeDocument/2006/relationships/image" Target="../media/image-9-7.png"/><Relationship Id="rId8" Type="http://schemas.openxmlformats.org/officeDocument/2006/relationships/image" Target="../media/image-9-8.svg"/><Relationship Id="rId9" Type="http://schemas.openxmlformats.org/officeDocument/2006/relationships/image" Target="../media/image-9-9.png"/><Relationship Id="rId10" Type="http://schemas.openxmlformats.org/officeDocument/2006/relationships/image" Target="../media/image-9-10.svg"/><Relationship Id="rId11" Type="http://schemas.openxmlformats.org/officeDocument/2006/relationships/slideLayout" Target="../slideLayouts/slideLayout1.xml"/><Relationship Id="rId1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image" Target="../media/image-10-3.png"/><Relationship Id="rId4" Type="http://schemas.openxmlformats.org/officeDocument/2006/relationships/image" Target="../media/image-10-4.svg"/><Relationship Id="rId5" Type="http://schemas.openxmlformats.org/officeDocument/2006/relationships/image" Target="../media/image-10-5.png"/><Relationship Id="rId6" Type="http://schemas.openxmlformats.org/officeDocument/2006/relationships/image" Target="../media/image-10-6.svg"/><Relationship Id="rId7" Type="http://schemas.openxmlformats.org/officeDocument/2006/relationships/image" Target="../media/image-10-7.png"/><Relationship Id="rId8" Type="http://schemas.openxmlformats.org/officeDocument/2006/relationships/image" Target="../media/image-10-8.svg"/><Relationship Id="rId9" Type="http://schemas.openxmlformats.org/officeDocument/2006/relationships/slideLayout" Target="../slideLayouts/slideLayout1.xml"/><Relationship Id="rId10"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lee/developing/oscar-open-source-book/website/slides-src/2023-06-profile-of-open-source-people/images/page_001_hero.png">    </p:cNvPr>
          <p:cNvPicPr>
            <a:picLocks noChangeAspect="1"/>
          </p:cNvPicPr>
          <p:nvPr/>
        </p:nvPicPr>
        <p:blipFill>
          <a:blip r:embed="rId2"/>
          <a:srcRect l="0" r="0" t="1" b="1"/>
          <a:stretch/>
        </p:blipFill>
        <p:spPr>
          <a:xfrm>
            <a:off x="0" y="0"/>
            <a:ext cx="9144000" cy="5103495"/>
          </a:xfrm>
          <a:prstGeom prst="rect">
            <a:avLst/>
          </a:prstGeom>
        </p:spPr>
      </p:pic>
      <p:sp>
        <p:nvSpPr>
          <p:cNvPr id="3" name="Shape 0"/>
          <p:cNvSpPr/>
          <p:nvPr/>
        </p:nvSpPr>
        <p:spPr>
          <a:xfrm>
            <a:off x="0" y="0"/>
            <a:ext cx="9144000" cy="5143500"/>
          </a:xfrm>
          <a:prstGeom prst="rect">
            <a:avLst/>
          </a:prstGeom>
          <a:gradFill rotWithShape="1">
            <a:gsLst>
              <a:gs pos="0">
                <a:srgbClr val="06101F">
                  <a:alpha val="96000"/>
                </a:srgbClr>
              </a:gs>
              <a:gs pos="35000">
                <a:srgbClr val="06101F">
                  <a:alpha val="88000"/>
                </a:srgbClr>
              </a:gs>
              <a:gs pos="65000">
                <a:srgbClr val="06101F">
                  <a:alpha val="55000"/>
                </a:srgbClr>
              </a:gs>
              <a:gs pos="100000">
                <a:srgbClr val="06101F">
                  <a:alpha val="25000"/>
                </a:srgbClr>
              </a:gs>
            </a:gsLst>
            <a:lin ang="0" scaled="0"/>
          </a:gradFill>
          <a:ln/>
        </p:spPr>
      </p:sp>
      <p:sp>
        <p:nvSpPr>
          <p:cNvPr id="4" name="Shape 1"/>
          <p:cNvSpPr/>
          <p:nvPr/>
        </p:nvSpPr>
        <p:spPr>
          <a:xfrm>
            <a:off x="0" y="4457700"/>
            <a:ext cx="9144000" cy="685800"/>
          </a:xfrm>
          <a:prstGeom prst="rect">
            <a:avLst/>
          </a:prstGeom>
          <a:gradFill rotWithShape="1">
            <a:gsLst>
              <a:gs pos="0">
                <a:srgbClr val="000000">
                  <a:alpha val="0"/>
                </a:srgbClr>
              </a:gs>
              <a:gs pos="100000">
                <a:srgbClr val="06101F">
                  <a:alpha val="95000"/>
                </a:srgbClr>
              </a:gs>
            </a:gsLst>
            <a:lin ang="5400000" scaled="0"/>
          </a:gradFill>
          <a:ln/>
        </p:spPr>
      </p:sp>
      <p:sp>
        <p:nvSpPr>
          <p:cNvPr id="5" name="Shape 2"/>
          <p:cNvSpPr/>
          <p:nvPr/>
        </p:nvSpPr>
        <p:spPr>
          <a:xfrm>
            <a:off x="457200" y="411480"/>
            <a:ext cx="68580" cy="68580"/>
          </a:xfrm>
          <a:prstGeom prst="ellipse">
            <a:avLst/>
          </a:prstGeom>
          <a:solidFill>
            <a:srgbClr val="00BCD4"/>
          </a:solidFill>
          <a:ln/>
          <a:effectLst>
            <a:outerShdw sx="100000" sy="100000" kx="0" ky="0" algn="bl" rotWithShape="0" blurRad="133350" dist="50800" dir="16200000">
              <a:srgbClr val="00BCD4">
                <a:alpha val="100000"/>
              </a:srgbClr>
            </a:outerShdw>
          </a:effectLst>
        </p:spPr>
      </p:sp>
      <p:sp>
        <p:nvSpPr>
          <p:cNvPr id="6" name="Text 3"/>
          <p:cNvSpPr/>
          <p:nvPr/>
        </p:nvSpPr>
        <p:spPr>
          <a:xfrm>
            <a:off x="605790" y="400050"/>
            <a:ext cx="2355494" cy="91440"/>
          </a:xfrm>
          <a:prstGeom prst="rect">
            <a:avLst/>
          </a:prstGeom>
          <a:noFill/>
          <a:ln/>
        </p:spPr>
        <p:txBody>
          <a:bodyPr wrap="none" rtlCol="0" anchor="ctr"/>
          <a:lstStyle/>
          <a:p>
            <a:pPr algn="l" indent="0" marL="0">
              <a:buNone/>
            </a:pPr>
            <a:r>
              <a:rPr lang="en-US" sz="585" spc="180" kern="0" dirty="0">
                <a:solidFill>
                  <a:srgbClr val="00BCD4"/>
                </a:solidFill>
                <a:latin typeface="Inter" pitchFamily="34" charset="0"/>
                <a:ea typeface="Inter" pitchFamily="34" charset="-122"/>
                <a:cs typeface="Inter" pitchFamily="34" charset="-120"/>
              </a:rPr>
              <a:t>OPEN SOURCE · COMMUNITY PROFILE</a:t>
            </a:r>
            <a:endParaRPr lang="en-US" sz="585" dirty="0"/>
          </a:p>
        </p:txBody>
      </p:sp>
      <p:sp>
        <p:nvSpPr>
          <p:cNvPr id="7" name="Text 4"/>
          <p:cNvSpPr/>
          <p:nvPr/>
        </p:nvSpPr>
        <p:spPr>
          <a:xfrm>
            <a:off x="457200" y="674370"/>
            <a:ext cx="9217152" cy="624007"/>
          </a:xfrm>
          <a:prstGeom prst="rect">
            <a:avLst/>
          </a:prstGeom>
          <a:noFill/>
          <a:ln/>
        </p:spPr>
        <p:txBody>
          <a:bodyPr wrap="none" rtlCol="0" anchor="ctr"/>
          <a:lstStyle/>
          <a:p>
            <a:pPr algn="l" indent="0" marL="0">
              <a:lnSpc>
                <a:spcPct val="105000"/>
              </a:lnSpc>
              <a:buNone/>
            </a:pPr>
            <a:r>
              <a:rPr lang="en-US" sz="4680" b="1" spc="90" kern="0" dirty="0">
                <a:solidFill>
                  <a:srgbClr val="FFFFFF"/>
                </a:solidFill>
                <a:latin typeface="Inter" pitchFamily="34" charset="0"/>
                <a:ea typeface="Inter" pitchFamily="34" charset="-122"/>
                <a:cs typeface="Inter" pitchFamily="34" charset="-120"/>
              </a:rPr>
              <a:t>开源人士画像</a:t>
            </a:r>
            <a:endParaRPr lang="en-US" sz="4680" dirty="0"/>
          </a:p>
        </p:txBody>
      </p:sp>
      <p:sp>
        <p:nvSpPr>
          <p:cNvPr id="8" name="Shape 5"/>
          <p:cNvSpPr/>
          <p:nvPr/>
        </p:nvSpPr>
        <p:spPr>
          <a:xfrm>
            <a:off x="457200" y="1424107"/>
            <a:ext cx="1028700" cy="22860"/>
          </a:xfrm>
          <a:prstGeom prst="roundRect">
            <a:avLst>
              <a:gd name="adj" fmla="val 50000"/>
            </a:avLst>
          </a:prstGeom>
          <a:gradFill rotWithShape="1">
            <a:gsLst>
              <a:gs pos="0">
                <a:srgbClr val="2196F3"/>
              </a:gs>
              <a:gs pos="100000">
                <a:srgbClr val="00BCD4"/>
              </a:gs>
            </a:gsLst>
            <a:lin ang="0" scaled="0"/>
          </a:gradFill>
          <a:ln/>
          <a:effectLst>
            <a:outerShdw sx="100000" sy="100000" kx="0" ky="0" algn="bl" rotWithShape="0" blurRad="171450" dist="50800" dir="16200000">
              <a:srgbClr val="2196F3">
                <a:alpha val="60000"/>
              </a:srgbClr>
            </a:outerShdw>
          </a:effectLst>
        </p:spPr>
      </p:sp>
      <p:sp>
        <p:nvSpPr>
          <p:cNvPr id="9" name="Text 6"/>
          <p:cNvSpPr/>
          <p:nvPr/>
        </p:nvSpPr>
        <p:spPr>
          <a:xfrm>
            <a:off x="457200" y="1595557"/>
            <a:ext cx="9217152" cy="182880"/>
          </a:xfrm>
          <a:prstGeom prst="rect">
            <a:avLst/>
          </a:prstGeom>
          <a:noFill/>
          <a:ln/>
        </p:spPr>
        <p:txBody>
          <a:bodyPr wrap="none" rtlCol="0" anchor="ctr"/>
          <a:lstStyle/>
          <a:p>
            <a:pPr algn="l" indent="0" marL="0">
              <a:buNone/>
            </a:pPr>
            <a:r>
              <a:rPr lang="en-US" sz="990" spc="45" kern="0" dirty="0">
                <a:solidFill>
                  <a:srgbClr val="B0BEC5"/>
                </a:solidFill>
                <a:latin typeface="Inter" pitchFamily="34" charset="0"/>
                <a:ea typeface="Inter" pitchFamily="34" charset="-122"/>
                <a:cs typeface="Inter" pitchFamily="34" charset="-120"/>
              </a:rPr>
              <a:t>2023年6月 · 开源之道阅读分享 · 适兕</a:t>
            </a:r>
            <a:endParaRPr lang="en-US" sz="990" dirty="0"/>
          </a:p>
        </p:txBody>
      </p:sp>
      <p:sp>
        <p:nvSpPr>
          <p:cNvPr id="10" name="Shape 7"/>
          <p:cNvSpPr/>
          <p:nvPr/>
        </p:nvSpPr>
        <p:spPr>
          <a:xfrm>
            <a:off x="457200" y="2012752"/>
            <a:ext cx="342900" cy="5715"/>
          </a:xfrm>
          <a:prstGeom prst="rect">
            <a:avLst/>
          </a:prstGeom>
          <a:solidFill>
            <a:srgbClr val="2196F3">
              <a:alpha val="60000"/>
            </a:srgbClr>
          </a:solidFill>
          <a:ln/>
        </p:spPr>
      </p:sp>
      <p:sp>
        <p:nvSpPr>
          <p:cNvPr id="11" name="Text 8"/>
          <p:cNvSpPr/>
          <p:nvPr/>
        </p:nvSpPr>
        <p:spPr>
          <a:xfrm>
            <a:off x="880110" y="1972747"/>
            <a:ext cx="1350569" cy="85725"/>
          </a:xfrm>
          <a:prstGeom prst="rect">
            <a:avLst/>
          </a:prstGeom>
          <a:noFill/>
          <a:ln/>
        </p:spPr>
        <p:txBody>
          <a:bodyPr wrap="none" rtlCol="0" anchor="ctr"/>
          <a:lstStyle/>
          <a:p>
            <a:pPr algn="l" indent="0" marL="0">
              <a:buNone/>
            </a:pPr>
            <a:r>
              <a:rPr lang="en-US" sz="540" spc="135" kern="0" dirty="0">
                <a:solidFill>
                  <a:srgbClr val="2196F3"/>
                </a:solidFill>
                <a:latin typeface="Inter" pitchFamily="34" charset="0"/>
                <a:ea typeface="Inter" pitchFamily="34" charset="-122"/>
                <a:cs typeface="Inter" pitchFamily="34" charset="-120"/>
              </a:rPr>
              <a:t>SHARING INTRODUCTION</a:t>
            </a:r>
            <a:endParaRPr lang="en-US" sz="540" dirty="0"/>
          </a:p>
        </p:txBody>
      </p:sp>
      <p:sp>
        <p:nvSpPr>
          <p:cNvPr id="12" name="Text 9"/>
          <p:cNvSpPr/>
          <p:nvPr/>
        </p:nvSpPr>
        <p:spPr>
          <a:xfrm>
            <a:off x="457200" y="2229922"/>
            <a:ext cx="5760720" cy="369153"/>
          </a:xfrm>
          <a:prstGeom prst="rect">
            <a:avLst/>
          </a:prstGeom>
          <a:noFill/>
          <a:ln/>
        </p:spPr>
        <p:txBody>
          <a:bodyPr wrap="square" rtlCol="0" anchor="ctr"/>
          <a:lstStyle/>
          <a:p>
            <a:pPr algn="l" indent="0" marL="0">
              <a:lnSpc>
                <a:spcPct val="190000"/>
              </a:lnSpc>
              <a:buNone/>
            </a:pPr>
            <a:r>
              <a:rPr lang="en-US" sz="765" spc="14" kern="0" dirty="0">
                <a:solidFill>
                  <a:srgbClr val="B0BEC5"/>
                </a:solidFill>
                <a:latin typeface="Inter" pitchFamily="34" charset="0"/>
                <a:ea typeface="Inter" pitchFamily="34" charset="-122"/>
                <a:cs typeface="Inter" pitchFamily="34" charset="-120"/>
              </a:rPr>
              <a:t>本期分享围绕2023年6月发布的开源人士画像报告展开，旨在帮助读者理解开源社区中那些默默贡献的技术人是谁、为何而来、如何协作，以及他们构成了怎样的多元群体。</a:t>
            </a:r>
            <a:endParaRPr lang="en-US" sz="765" dirty="0"/>
          </a:p>
        </p:txBody>
      </p:sp>
      <p:sp>
        <p:nvSpPr>
          <p:cNvPr id="13" name="Shape 10"/>
          <p:cNvSpPr/>
          <p:nvPr/>
        </p:nvSpPr>
        <p:spPr>
          <a:xfrm>
            <a:off x="457200" y="3944779"/>
            <a:ext cx="2659350" cy="718661"/>
          </a:xfrm>
          <a:prstGeom prst="roundRect">
            <a:avLst>
              <a:gd name="adj" fmla="val 7952"/>
            </a:avLst>
          </a:prstGeom>
          <a:solidFill>
            <a:srgbClr val="0D1F3C">
              <a:alpha val="55000"/>
            </a:srgbClr>
          </a:solidFill>
          <a:ln w="5715">
            <a:solidFill>
              <a:srgbClr val="2196F3">
                <a:alpha val="25000"/>
              </a:srgbClr>
            </a:solidFill>
            <a:prstDash val="solid"/>
          </a:ln>
        </p:spPr>
      </p:sp>
      <p:sp>
        <p:nvSpPr>
          <p:cNvPr id="14" name="Shape 11"/>
          <p:cNvSpPr/>
          <p:nvPr/>
        </p:nvSpPr>
        <p:spPr>
          <a:xfrm>
            <a:off x="457200" y="3944779"/>
            <a:ext cx="22860" cy="707231"/>
          </a:xfrm>
          <a:prstGeom prst="roundRect">
            <a:avLst>
              <a:gd name="adj" fmla="val 250000"/>
            </a:avLst>
          </a:prstGeom>
          <a:gradFill rotWithShape="1">
            <a:gsLst>
              <a:gs pos="0">
                <a:srgbClr val="2196F3"/>
              </a:gs>
              <a:gs pos="100000">
                <a:srgbClr val="00BCD4"/>
              </a:gs>
            </a:gsLst>
            <a:lin ang="5400000" scaled="0"/>
          </a:gradFill>
          <a:ln/>
        </p:spPr>
      </p:sp>
      <p:sp>
        <p:nvSpPr>
          <p:cNvPr id="15" name="Text 12"/>
          <p:cNvSpPr/>
          <p:nvPr/>
        </p:nvSpPr>
        <p:spPr>
          <a:xfrm>
            <a:off x="588645" y="4076224"/>
            <a:ext cx="2684035" cy="91440"/>
          </a:xfrm>
          <a:prstGeom prst="rect">
            <a:avLst/>
          </a:prstGeom>
          <a:noFill/>
          <a:ln/>
        </p:spPr>
        <p:txBody>
          <a:bodyPr wrap="none" rtlCol="0" anchor="ctr"/>
          <a:lstStyle/>
          <a:p>
            <a:pPr algn="l" indent="0" marL="0">
              <a:buNone/>
            </a:pPr>
            <a:r>
              <a:rPr lang="en-US" sz="585" b="1" spc="90" kern="0" dirty="0">
                <a:solidFill>
                  <a:srgbClr val="00BCD4"/>
                </a:solidFill>
                <a:latin typeface="Inter" pitchFamily="34" charset="0"/>
                <a:ea typeface="Inter" pitchFamily="34" charset="-122"/>
                <a:cs typeface="Inter" pitchFamily="34" charset="-120"/>
              </a:rPr>
              <a:t>01 / FOCUS</a:t>
            </a:r>
            <a:endParaRPr lang="en-US" sz="585" dirty="0"/>
          </a:p>
        </p:txBody>
      </p:sp>
      <p:sp>
        <p:nvSpPr>
          <p:cNvPr id="16" name="Text 13"/>
          <p:cNvSpPr/>
          <p:nvPr/>
        </p:nvSpPr>
        <p:spPr>
          <a:xfrm>
            <a:off x="588645" y="4213384"/>
            <a:ext cx="2684035" cy="142875"/>
          </a:xfrm>
          <a:prstGeom prst="rect">
            <a:avLst/>
          </a:prstGeom>
          <a:noFill/>
          <a:ln/>
        </p:spPr>
        <p:txBody>
          <a:bodyPr wrap="none" rtlCol="0" anchor="ctr"/>
          <a:lstStyle/>
          <a:p>
            <a:pPr algn="l" indent="0" marL="0">
              <a:buNone/>
            </a:pPr>
            <a:r>
              <a:rPr lang="en-US" sz="765" b="1" spc="23" kern="0" dirty="0">
                <a:solidFill>
                  <a:srgbClr val="FFFFFF"/>
                </a:solidFill>
                <a:latin typeface="Inter" pitchFamily="34" charset="0"/>
                <a:ea typeface="Inter" pitchFamily="34" charset="-122"/>
                <a:cs typeface="Inter" pitchFamily="34" charset="-120"/>
              </a:rPr>
              <a:t>主题聚焦</a:t>
            </a:r>
            <a:endParaRPr lang="en-US" sz="765" dirty="0"/>
          </a:p>
        </p:txBody>
      </p:sp>
      <p:sp>
        <p:nvSpPr>
          <p:cNvPr id="17" name="Text 14"/>
          <p:cNvSpPr/>
          <p:nvPr/>
        </p:nvSpPr>
        <p:spPr>
          <a:xfrm>
            <a:off x="588645" y="4413409"/>
            <a:ext cx="2684035" cy="130016"/>
          </a:xfrm>
          <a:prstGeom prst="rect">
            <a:avLst/>
          </a:prstGeom>
          <a:noFill/>
          <a:ln/>
        </p:spPr>
        <p:txBody>
          <a:bodyPr wrap="none" rtlCol="0" anchor="ctr"/>
          <a:lstStyle/>
          <a:p>
            <a:pPr algn="l" indent="0" marL="0">
              <a:lnSpc>
                <a:spcPct val="175000"/>
              </a:lnSpc>
              <a:buNone/>
            </a:pPr>
            <a:r>
              <a:rPr lang="en-US" sz="585" dirty="0">
                <a:solidFill>
                  <a:srgbClr val="B0BEC5"/>
                </a:solidFill>
                <a:latin typeface="Inter" pitchFamily="34" charset="0"/>
                <a:ea typeface="Inter" pitchFamily="34" charset="-122"/>
                <a:cs typeface="Inter" pitchFamily="34" charset="-120"/>
              </a:rPr>
              <a:t>聚焦2023年开源社区贡献者的群体特征、动机与行为模式</a:t>
            </a:r>
            <a:endParaRPr lang="en-US" sz="585" dirty="0"/>
          </a:p>
        </p:txBody>
      </p:sp>
      <p:sp>
        <p:nvSpPr>
          <p:cNvPr id="18" name="Shape 15"/>
          <p:cNvSpPr/>
          <p:nvPr/>
        </p:nvSpPr>
        <p:spPr>
          <a:xfrm>
            <a:off x="3242280" y="3944779"/>
            <a:ext cx="2659350" cy="718661"/>
          </a:xfrm>
          <a:prstGeom prst="roundRect">
            <a:avLst>
              <a:gd name="adj" fmla="val 7952"/>
            </a:avLst>
          </a:prstGeom>
          <a:solidFill>
            <a:srgbClr val="0D1F3C">
              <a:alpha val="55000"/>
            </a:srgbClr>
          </a:solidFill>
          <a:ln w="5715">
            <a:solidFill>
              <a:srgbClr val="2196F3">
                <a:alpha val="25000"/>
              </a:srgbClr>
            </a:solidFill>
            <a:prstDash val="solid"/>
          </a:ln>
        </p:spPr>
      </p:sp>
      <p:sp>
        <p:nvSpPr>
          <p:cNvPr id="19" name="Shape 16"/>
          <p:cNvSpPr/>
          <p:nvPr/>
        </p:nvSpPr>
        <p:spPr>
          <a:xfrm>
            <a:off x="3242280" y="3944779"/>
            <a:ext cx="22860" cy="707231"/>
          </a:xfrm>
          <a:prstGeom prst="roundRect">
            <a:avLst>
              <a:gd name="adj" fmla="val 250000"/>
            </a:avLst>
          </a:prstGeom>
          <a:gradFill rotWithShape="1">
            <a:gsLst>
              <a:gs pos="0">
                <a:srgbClr val="2196F3"/>
              </a:gs>
              <a:gs pos="100000">
                <a:srgbClr val="00BCD4"/>
              </a:gs>
            </a:gsLst>
            <a:lin ang="5400000" scaled="0"/>
          </a:gradFill>
          <a:ln/>
        </p:spPr>
      </p:sp>
      <p:sp>
        <p:nvSpPr>
          <p:cNvPr id="20" name="Text 17"/>
          <p:cNvSpPr/>
          <p:nvPr/>
        </p:nvSpPr>
        <p:spPr>
          <a:xfrm>
            <a:off x="3373725" y="4076224"/>
            <a:ext cx="2684035" cy="91440"/>
          </a:xfrm>
          <a:prstGeom prst="rect">
            <a:avLst/>
          </a:prstGeom>
          <a:noFill/>
          <a:ln/>
        </p:spPr>
        <p:txBody>
          <a:bodyPr wrap="none" rtlCol="0" anchor="ctr"/>
          <a:lstStyle/>
          <a:p>
            <a:pPr algn="l" indent="0" marL="0">
              <a:buNone/>
            </a:pPr>
            <a:r>
              <a:rPr lang="en-US" sz="585" b="1" spc="90" kern="0" dirty="0">
                <a:solidFill>
                  <a:srgbClr val="00BCD4"/>
                </a:solidFill>
                <a:latin typeface="Inter" pitchFamily="34" charset="0"/>
                <a:ea typeface="Inter" pitchFamily="34" charset="-122"/>
                <a:cs typeface="Inter" pitchFamily="34" charset="-120"/>
              </a:rPr>
              <a:t>02 / POSITIONING</a:t>
            </a:r>
            <a:endParaRPr lang="en-US" sz="585" dirty="0"/>
          </a:p>
        </p:txBody>
      </p:sp>
      <p:sp>
        <p:nvSpPr>
          <p:cNvPr id="21" name="Text 18"/>
          <p:cNvSpPr/>
          <p:nvPr/>
        </p:nvSpPr>
        <p:spPr>
          <a:xfrm>
            <a:off x="3373725" y="4213384"/>
            <a:ext cx="2684035" cy="142875"/>
          </a:xfrm>
          <a:prstGeom prst="rect">
            <a:avLst/>
          </a:prstGeom>
          <a:noFill/>
          <a:ln/>
        </p:spPr>
        <p:txBody>
          <a:bodyPr wrap="none" rtlCol="0" anchor="ctr"/>
          <a:lstStyle/>
          <a:p>
            <a:pPr algn="l" indent="0" marL="0">
              <a:buNone/>
            </a:pPr>
            <a:r>
              <a:rPr lang="en-US" sz="765" b="1" spc="23" kern="0" dirty="0">
                <a:solidFill>
                  <a:srgbClr val="FFFFFF"/>
                </a:solidFill>
                <a:latin typeface="Inter" pitchFamily="34" charset="0"/>
                <a:ea typeface="Inter" pitchFamily="34" charset="-122"/>
                <a:cs typeface="Inter" pitchFamily="34" charset="-120"/>
              </a:rPr>
              <a:t>分享定位</a:t>
            </a:r>
            <a:endParaRPr lang="en-US" sz="765" dirty="0"/>
          </a:p>
        </p:txBody>
      </p:sp>
      <p:sp>
        <p:nvSpPr>
          <p:cNvPr id="22" name="Text 19"/>
          <p:cNvSpPr/>
          <p:nvPr/>
        </p:nvSpPr>
        <p:spPr>
          <a:xfrm>
            <a:off x="3373725" y="4413409"/>
            <a:ext cx="2684035" cy="130016"/>
          </a:xfrm>
          <a:prstGeom prst="rect">
            <a:avLst/>
          </a:prstGeom>
          <a:noFill/>
          <a:ln/>
        </p:spPr>
        <p:txBody>
          <a:bodyPr wrap="none" rtlCol="0" anchor="ctr"/>
          <a:lstStyle/>
          <a:p>
            <a:pPr algn="l" indent="0" marL="0">
              <a:lnSpc>
                <a:spcPct val="175000"/>
              </a:lnSpc>
              <a:buNone/>
            </a:pPr>
            <a:r>
              <a:rPr lang="en-US" sz="585" dirty="0">
                <a:solidFill>
                  <a:srgbClr val="B0BEC5"/>
                </a:solidFill>
                <a:latin typeface="Inter" pitchFamily="34" charset="0"/>
                <a:ea typeface="Inter" pitchFamily="34" charset="-122"/>
                <a:cs typeface="Inter" pitchFamily="34" charset="-120"/>
              </a:rPr>
              <a:t>面向开源布道与阅读交流，梳理开源人士的核心画像要素</a:t>
            </a:r>
            <a:endParaRPr lang="en-US" sz="585" dirty="0"/>
          </a:p>
        </p:txBody>
      </p:sp>
      <p:sp>
        <p:nvSpPr>
          <p:cNvPr id="23" name="Shape 20"/>
          <p:cNvSpPr/>
          <p:nvPr/>
        </p:nvSpPr>
        <p:spPr>
          <a:xfrm>
            <a:off x="6027360" y="3944779"/>
            <a:ext cx="2659440" cy="718661"/>
          </a:xfrm>
          <a:prstGeom prst="roundRect">
            <a:avLst>
              <a:gd name="adj" fmla="val 7952"/>
            </a:avLst>
          </a:prstGeom>
          <a:solidFill>
            <a:srgbClr val="0D1F3C">
              <a:alpha val="55000"/>
            </a:srgbClr>
          </a:solidFill>
          <a:ln w="5715">
            <a:solidFill>
              <a:srgbClr val="2196F3">
                <a:alpha val="25000"/>
              </a:srgbClr>
            </a:solidFill>
            <a:prstDash val="solid"/>
          </a:ln>
        </p:spPr>
      </p:sp>
      <p:sp>
        <p:nvSpPr>
          <p:cNvPr id="24" name="Shape 21"/>
          <p:cNvSpPr/>
          <p:nvPr/>
        </p:nvSpPr>
        <p:spPr>
          <a:xfrm>
            <a:off x="6027360" y="3944779"/>
            <a:ext cx="22860" cy="707231"/>
          </a:xfrm>
          <a:prstGeom prst="roundRect">
            <a:avLst>
              <a:gd name="adj" fmla="val 250000"/>
            </a:avLst>
          </a:prstGeom>
          <a:gradFill rotWithShape="1">
            <a:gsLst>
              <a:gs pos="0">
                <a:srgbClr val="2196F3"/>
              </a:gs>
              <a:gs pos="100000">
                <a:srgbClr val="00BCD4"/>
              </a:gs>
            </a:gsLst>
            <a:lin ang="5400000" scaled="0"/>
          </a:gradFill>
          <a:ln/>
        </p:spPr>
      </p:sp>
      <p:sp>
        <p:nvSpPr>
          <p:cNvPr id="25" name="Text 22"/>
          <p:cNvSpPr/>
          <p:nvPr/>
        </p:nvSpPr>
        <p:spPr>
          <a:xfrm>
            <a:off x="6158805" y="4076224"/>
            <a:ext cx="2684135" cy="91440"/>
          </a:xfrm>
          <a:prstGeom prst="rect">
            <a:avLst/>
          </a:prstGeom>
          <a:noFill/>
          <a:ln/>
        </p:spPr>
        <p:txBody>
          <a:bodyPr wrap="none" rtlCol="0" anchor="ctr"/>
          <a:lstStyle/>
          <a:p>
            <a:pPr algn="l" indent="0" marL="0">
              <a:buNone/>
            </a:pPr>
            <a:r>
              <a:rPr lang="en-US" sz="585" b="1" spc="90" kern="0" dirty="0">
                <a:solidFill>
                  <a:srgbClr val="00BCD4"/>
                </a:solidFill>
                <a:latin typeface="Inter" pitchFamily="34" charset="0"/>
                <a:ea typeface="Inter" pitchFamily="34" charset="-122"/>
                <a:cs typeface="Inter" pitchFamily="34" charset="-120"/>
              </a:rPr>
              <a:t>03 / GUIDE</a:t>
            </a:r>
            <a:endParaRPr lang="en-US" sz="585" dirty="0"/>
          </a:p>
        </p:txBody>
      </p:sp>
      <p:sp>
        <p:nvSpPr>
          <p:cNvPr id="26" name="Text 23"/>
          <p:cNvSpPr/>
          <p:nvPr/>
        </p:nvSpPr>
        <p:spPr>
          <a:xfrm>
            <a:off x="6158805" y="4213384"/>
            <a:ext cx="2684135" cy="142875"/>
          </a:xfrm>
          <a:prstGeom prst="rect">
            <a:avLst/>
          </a:prstGeom>
          <a:noFill/>
          <a:ln/>
        </p:spPr>
        <p:txBody>
          <a:bodyPr wrap="none" rtlCol="0" anchor="ctr"/>
          <a:lstStyle/>
          <a:p>
            <a:pPr algn="l" indent="0" marL="0">
              <a:buNone/>
            </a:pPr>
            <a:r>
              <a:rPr lang="en-US" sz="765" b="1" spc="23" kern="0" dirty="0">
                <a:solidFill>
                  <a:srgbClr val="FFFFFF"/>
                </a:solidFill>
                <a:latin typeface="Inter" pitchFamily="34" charset="0"/>
                <a:ea typeface="Inter" pitchFamily="34" charset="-122"/>
                <a:cs typeface="Inter" pitchFamily="34" charset="-120"/>
              </a:rPr>
              <a:t>阅读导引</a:t>
            </a:r>
            <a:endParaRPr lang="en-US" sz="765" dirty="0"/>
          </a:p>
        </p:txBody>
      </p:sp>
      <p:sp>
        <p:nvSpPr>
          <p:cNvPr id="27" name="Text 24"/>
          <p:cNvSpPr/>
          <p:nvPr/>
        </p:nvSpPr>
        <p:spPr>
          <a:xfrm>
            <a:off x="6158805" y="4413409"/>
            <a:ext cx="2684135" cy="130016"/>
          </a:xfrm>
          <a:prstGeom prst="rect">
            <a:avLst/>
          </a:prstGeom>
          <a:noFill/>
          <a:ln/>
        </p:spPr>
        <p:txBody>
          <a:bodyPr wrap="none" rtlCol="0" anchor="ctr"/>
          <a:lstStyle/>
          <a:p>
            <a:pPr algn="l" indent="0" marL="0">
              <a:lnSpc>
                <a:spcPct val="175000"/>
              </a:lnSpc>
              <a:buNone/>
            </a:pPr>
            <a:r>
              <a:rPr lang="en-US" sz="585" dirty="0">
                <a:solidFill>
                  <a:srgbClr val="B0BEC5"/>
                </a:solidFill>
                <a:latin typeface="Inter" pitchFamily="34" charset="0"/>
                <a:ea typeface="Inter" pitchFamily="34" charset="-122"/>
                <a:cs typeface="Inter" pitchFamily="34" charset="-120"/>
              </a:rPr>
              <a:t>从报告数据到社区洞察，构建对开源参与者的立体认知</a:t>
            </a:r>
            <a:endParaRPr lang="en-US" sz="585" dirty="0"/>
          </a:p>
        </p:txBody>
      </p:sp>
      <p:sp>
        <p:nvSpPr>
          <p:cNvPr id="28" name="Text 25"/>
          <p:cNvSpPr/>
          <p:nvPr/>
        </p:nvSpPr>
        <p:spPr>
          <a:xfrm>
            <a:off x="7731234" y="3751540"/>
            <a:ext cx="1070234" cy="534710"/>
          </a:xfrm>
          <a:prstGeom prst="rect">
            <a:avLst/>
          </a:prstGeom>
          <a:noFill/>
          <a:ln/>
        </p:spPr>
        <p:txBody>
          <a:bodyPr wrap="square" rtlCol="0" anchor="ctr"/>
          <a:lstStyle/>
          <a:p>
            <a:pPr algn="r" indent="0" marL="0">
              <a:lnSpc>
                <a:spcPct val="180000"/>
              </a:lnSpc>
              <a:buNone/>
            </a:pPr>
            <a:r>
              <a:rPr lang="en-US" sz="585" spc="45" kern="0" dirty="0">
                <a:solidFill>
                  <a:srgbClr val="00BCD4">
                    <a:alpha val="45000"/>
                  </a:srgbClr>
                </a:solidFill>
                <a:latin typeface="Courier New" pitchFamily="34" charset="0"/>
                <a:ea typeface="Courier New" pitchFamily="34" charset="-122"/>
                <a:cs typeface="Courier New" pitchFamily="34" charset="-120"/>
              </a:rPr>
              <a:t>&lt;/&gt; open_source</a:t>
            </a:r>
            <a:pPr algn="r" indent="0" marL="0">
              <a:lnSpc>
                <a:spcPct val="180000"/>
              </a:lnSpc>
              <a:buNone/>
            </a:pPr>
            <a:endParaRPr lang="en-US" sz="585" dirty="0"/>
          </a:p>
          <a:p>
            <a:pPr algn="r" indent="0" marL="0">
              <a:lnSpc>
                <a:spcPct val="180000"/>
              </a:lnSpc>
              <a:buNone/>
            </a:pPr>
            <a:r>
              <a:rPr lang="en-US" sz="585" spc="45" kern="0" dirty="0">
                <a:solidFill>
                  <a:srgbClr val="00BCD4">
                    <a:alpha val="45000"/>
                  </a:srgbClr>
                </a:solidFill>
                <a:latin typeface="Courier New" pitchFamily="34" charset="0"/>
                <a:ea typeface="Courier New" pitchFamily="34" charset="-122"/>
                <a:cs typeface="Courier New" pitchFamily="34" charset="-120"/>
              </a:rPr>
              <a:t>{ contributors }</a:t>
            </a:r>
            <a:pPr algn="r" indent="0" marL="0">
              <a:lnSpc>
                <a:spcPct val="180000"/>
              </a:lnSpc>
              <a:buNone/>
            </a:pPr>
            <a:endParaRPr lang="en-US" sz="585" dirty="0"/>
          </a:p>
          <a:p>
            <a:pPr algn="r" indent="0" marL="0">
              <a:lnSpc>
                <a:spcPct val="180000"/>
              </a:lnSpc>
              <a:buNone/>
            </a:pPr>
            <a:r>
              <a:rPr lang="en-US" sz="585" spc="45" kern="0" dirty="0">
                <a:solidFill>
                  <a:srgbClr val="00BCD4">
                    <a:alpha val="45000"/>
                  </a:srgbClr>
                </a:solidFill>
                <a:latin typeface="Courier New" pitchFamily="34" charset="0"/>
                <a:ea typeface="Courier New" pitchFamily="34" charset="-122"/>
                <a:cs typeface="Courier New" pitchFamily="34" charset="-120"/>
              </a:rPr>
              <a:t>$ ./collab --global</a:t>
            </a:r>
            <a:pPr algn="r" indent="0" marL="0">
              <a:lnSpc>
                <a:spcPct val="180000"/>
              </a:lnSpc>
              <a:buNone/>
            </a:pPr>
            <a:endParaRPr lang="en-US" sz="585" dirty="0"/>
          </a:p>
          <a:p>
            <a:pPr algn="r" indent="0" marL="0">
              <a:lnSpc>
                <a:spcPct val="180000"/>
              </a:lnSpc>
              <a:buNone/>
            </a:pPr>
            <a:r>
              <a:rPr lang="en-US" sz="585" spc="45" kern="0" dirty="0">
                <a:solidFill>
                  <a:srgbClr val="00BCD4">
                    <a:alpha val="45000"/>
                  </a:srgbClr>
                </a:solidFill>
                <a:latin typeface="Courier New" pitchFamily="34" charset="0"/>
                <a:ea typeface="Courier New" pitchFamily="34" charset="-122"/>
                <a:cs typeface="Courier New" pitchFamily="34" charset="-120"/>
              </a:rPr>
              <a:t>commit &amp; push</a:t>
            </a:r>
            <a:endParaRPr lang="en-US" sz="585" dirty="0"/>
          </a:p>
        </p:txBody>
      </p:sp>
      <p:sp>
        <p:nvSpPr>
          <p:cNvPr id="29" name="Shape 26"/>
          <p:cNvSpPr/>
          <p:nvPr/>
        </p:nvSpPr>
        <p:spPr>
          <a:xfrm>
            <a:off x="8343900" y="342900"/>
            <a:ext cx="457200" cy="457200"/>
          </a:xfrm>
          <a:prstGeom prst="ellipse">
            <a:avLst/>
          </a:prstGeom>
          <a:noFill/>
          <a:ln w="11430">
            <a:solidFill>
              <a:srgbClr val="2196F3">
                <a:alpha val="30000"/>
              </a:srgbClr>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3071A"/>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gradFill rotWithShape="1">
            <a:gsLst>
              <a:gs pos="0">
                <a:srgbClr val="000000">
                  <a:alpha val="4000"/>
                </a:srgbClr>
              </a:gs>
              <a:gs pos="25000">
                <a:srgbClr val="000000">
                  <a:alpha val="0"/>
                </a:srgbClr>
              </a:gs>
              <a:gs pos="50000">
                <a:srgbClr val="000000"/>
              </a:gs>
              <a:gs pos="75000">
                <a:srgbClr val="000000">
                  <a:alpha val="4000"/>
                </a:srgbClr>
              </a:gs>
              <a:gs pos="100000">
                <a:srgbClr val="000000">
                  <a:alpha val="0"/>
                </a:srgbClr>
              </a:gs>
            </a:gsLst>
            <a:lin ang="5400000" scaled="0"/>
          </a:gradFill>
          <a:ln/>
        </p:spPr>
      </p:sp>
      <p:sp>
        <p:nvSpPr>
          <p:cNvPr id="3" name="Text 1"/>
          <p:cNvSpPr/>
          <p:nvPr/>
        </p:nvSpPr>
        <p:spPr>
          <a:xfrm>
            <a:off x="342900" y="-5003217"/>
            <a:ext cx="205740" cy="5143500"/>
          </a:xfrm>
          <a:prstGeom prst="rect">
            <a:avLst/>
          </a:prstGeom>
          <a:noFill/>
          <a:ln/>
        </p:spPr>
        <p:txBody>
          <a:bodyPr wrap="square" rtlCol="0" anchor="ctr"/>
          <a:lstStyle/>
          <a:p>
            <a:pPr algn="l" indent="0" marL="0">
              <a:lnSpc>
                <a:spcPct val="160000"/>
              </a:lnSpc>
              <a:buNone/>
            </a:pPr>
            <a:r>
              <a:rPr lang="en-US" sz="540" spc="45" kern="0" dirty="0">
                <a:solidFill>
                  <a:srgbClr val="00BCD4"/>
                </a:solidFill>
                <a:latin typeface="Inter" pitchFamily="34" charset="0"/>
                <a:ea typeface="Inter" pitchFamily="34" charset="-122"/>
                <a:cs typeface="Inter" pitchFamily="34" charset="-120"/>
              </a:rPr>
              <a:t>01001000 01100101 01101100 01101100 01101111</a:t>
            </a:r>
            <a:pPr algn="l" indent="0" marL="0">
              <a:lnSpc>
                <a:spcPct val="160000"/>
              </a:lnSpc>
              <a:buNone/>
            </a:pPr>
            <a:endParaRPr lang="en-US" sz="540" dirty="0"/>
          </a:p>
          <a:p>
            <a:pPr algn="l" indent="0" marL="0">
              <a:lnSpc>
                <a:spcPct val="160000"/>
              </a:lnSpc>
              <a:buNone/>
            </a:pPr>
            <a:r>
              <a:rPr lang="en-US" sz="540" spc="45" kern="0" dirty="0">
                <a:solidFill>
                  <a:srgbClr val="00BCD4"/>
                </a:solidFill>
                <a:latin typeface="Inter" pitchFamily="34" charset="0"/>
                <a:ea typeface="Inter" pitchFamily="34" charset="-122"/>
                <a:cs typeface="Inter" pitchFamily="34" charset="-120"/>
              </a:rPr>
              <a:t>var openSource = true;</a:t>
            </a:r>
            <a:pPr algn="l" indent="0" marL="0">
              <a:lnSpc>
                <a:spcPct val="160000"/>
              </a:lnSpc>
              <a:buNone/>
            </a:pPr>
            <a:endParaRPr lang="en-US" sz="540" dirty="0"/>
          </a:p>
          <a:p>
            <a:pPr algn="l" indent="0" marL="0">
              <a:lnSpc>
                <a:spcPct val="160000"/>
              </a:lnSpc>
              <a:buNone/>
            </a:pPr>
            <a:r>
              <a:rPr lang="en-US" sz="540" spc="45" kern="0" dirty="0">
                <a:solidFill>
                  <a:srgbClr val="00BCD4"/>
                </a:solidFill>
                <a:latin typeface="Inter" pitchFamily="34" charset="0"/>
                <a:ea typeface="Inter" pitchFamily="34" charset="-122"/>
                <a:cs typeface="Inter" pitchFamily="34" charset="-120"/>
              </a:rPr>
              <a:t>const community = new Map();</a:t>
            </a:r>
            <a:pPr algn="l" indent="0" marL="0">
              <a:lnSpc>
                <a:spcPct val="160000"/>
              </a:lnSpc>
              <a:buNone/>
            </a:pPr>
            <a:endParaRPr lang="en-US" sz="540" dirty="0"/>
          </a:p>
          <a:p>
            <a:pPr algn="l" indent="0" marL="0">
              <a:lnSpc>
                <a:spcPct val="160000"/>
              </a:lnSpc>
              <a:buNone/>
            </a:pPr>
            <a:r>
              <a:rPr lang="en-US" sz="540" spc="45" kern="0" dirty="0">
                <a:solidFill>
                  <a:srgbClr val="00BCD4"/>
                </a:solidFill>
                <a:latin typeface="Inter" pitchFamily="34" charset="0"/>
                <a:ea typeface="Inter" pitchFamily="34" charset="-122"/>
                <a:cs typeface="Inter" pitchFamily="34" charset="-120"/>
              </a:rPr>
              <a:t>import { contributors } from 'global';</a:t>
            </a:r>
            <a:pPr algn="l" indent="0" marL="0">
              <a:lnSpc>
                <a:spcPct val="160000"/>
              </a:lnSpc>
              <a:buNone/>
            </a:pPr>
            <a:endParaRPr lang="en-US" sz="540" dirty="0"/>
          </a:p>
          <a:p>
            <a:pPr algn="l" indent="0" marL="0">
              <a:lnSpc>
                <a:spcPct val="160000"/>
              </a:lnSpc>
              <a:buNone/>
            </a:pPr>
            <a:r>
              <a:rPr lang="en-US" sz="540" spc="45" kern="0" dirty="0">
                <a:solidFill>
                  <a:srgbClr val="00BCD4"/>
                </a:solidFill>
                <a:latin typeface="Inter" pitchFamily="34" charset="0"/>
                <a:ea typeface="Inter" pitchFamily="34" charset="-122"/>
                <a:cs typeface="Inter" pitchFamily="34" charset="-120"/>
              </a:rPr>
              <a:t>function analyze(people) {</a:t>
            </a:r>
            <a:pPr algn="l" indent="0" marL="0">
              <a:lnSpc>
                <a:spcPct val="160000"/>
              </a:lnSpc>
              <a:buNone/>
            </a:pPr>
            <a:endParaRPr lang="en-US" sz="540" dirty="0"/>
          </a:p>
          <a:p>
            <a:pPr algn="l" indent="0" marL="0">
              <a:lnSpc>
                <a:spcPct val="160000"/>
              </a:lnSpc>
              <a:buNone/>
            </a:pPr>
            <a:r>
              <a:rPr lang="en-US" sz="540" spc="45" kern="0" dirty="0">
                <a:solidFill>
                  <a:srgbClr val="00BCD4"/>
                </a:solidFill>
                <a:latin typeface="Inter" pitchFamily="34" charset="0"/>
                <a:ea typeface="Inter" pitchFamily="34" charset="-122"/>
                <a:cs typeface="Inter" pitchFamily="34" charset="-120"/>
              </a:rPr>
              <a:t>return people.filter(isActive);</a:t>
            </a:r>
            <a:pPr algn="l" indent="0" marL="0">
              <a:lnSpc>
                <a:spcPct val="160000"/>
              </a:lnSpc>
              <a:buNone/>
            </a:pPr>
            <a:endParaRPr lang="en-US" sz="540" dirty="0"/>
          </a:p>
          <a:p>
            <a:pPr algn="l" indent="0" marL="0">
              <a:lnSpc>
                <a:spcPct val="160000"/>
              </a:lnSpc>
              <a:buNone/>
            </a:pPr>
            <a:r>
              <a:rPr lang="en-US" sz="540" spc="45" kern="0" dirty="0">
                <a:solidFill>
                  <a:srgbClr val="00BCD4"/>
                </a:solidFill>
                <a:latin typeface="Inter" pitchFamily="34" charset="0"/>
                <a:ea typeface="Inter" pitchFamily="34" charset="-122"/>
                <a:cs typeface="Inter" pitchFamily="34" charset="-120"/>
              </a:rPr>
              <a:t>}</a:t>
            </a:r>
            <a:pPr algn="l" indent="0" marL="0">
              <a:lnSpc>
                <a:spcPct val="160000"/>
              </a:lnSpc>
              <a:buNone/>
            </a:pPr>
            <a:endParaRPr lang="en-US" sz="540" dirty="0"/>
          </a:p>
          <a:p>
            <a:pPr algn="l" indent="0" marL="0">
              <a:lnSpc>
                <a:spcPct val="160000"/>
              </a:lnSpc>
              <a:buNone/>
            </a:pPr>
            <a:r>
              <a:rPr lang="en-US" sz="540" spc="45" kern="0" dirty="0">
                <a:solidFill>
                  <a:srgbClr val="00BCD4"/>
                </a:solidFill>
                <a:latin typeface="Inter" pitchFamily="34" charset="0"/>
                <a:ea typeface="Inter" pitchFamily="34" charset="-122"/>
                <a:cs typeface="Inter" pitchFamily="34" charset="-120"/>
              </a:rPr>
              <a:t>git commit -m "part one"</a:t>
            </a:r>
            <a:pPr algn="l" indent="0" marL="0">
              <a:lnSpc>
                <a:spcPct val="160000"/>
              </a:lnSpc>
              <a:buNone/>
            </a:pPr>
            <a:endParaRPr lang="en-US" sz="540" dirty="0"/>
          </a:p>
          <a:p>
            <a:pPr algn="l" indent="0" marL="0">
              <a:lnSpc>
                <a:spcPct val="160000"/>
              </a:lnSpc>
              <a:buNone/>
            </a:pPr>
            <a:r>
              <a:rPr lang="en-US" sz="540" spc="45" kern="0" dirty="0">
                <a:solidFill>
                  <a:srgbClr val="00BCD4"/>
                </a:solidFill>
                <a:latin typeface="Inter" pitchFamily="34" charset="0"/>
                <a:ea typeface="Inter" pitchFamily="34" charset="-122"/>
                <a:cs typeface="Inter" pitchFamily="34" charset="-120"/>
              </a:rPr>
              <a:t>01110100 01010000</a:t>
            </a:r>
            <a:pPr algn="l" indent="0" marL="0">
              <a:lnSpc>
                <a:spcPct val="160000"/>
              </a:lnSpc>
              <a:buNone/>
            </a:pPr>
            <a:endParaRPr lang="en-US" sz="540" dirty="0"/>
          </a:p>
          <a:p>
            <a:pPr algn="l" indent="0" marL="0">
              <a:lnSpc>
                <a:spcPct val="160000"/>
              </a:lnSpc>
              <a:buNone/>
            </a:pPr>
            <a:r>
              <a:rPr lang="en-US" sz="540" spc="45" kern="0" dirty="0">
                <a:solidFill>
                  <a:srgbClr val="00BCD4"/>
                </a:solidFill>
                <a:latin typeface="Inter" pitchFamily="34" charset="0"/>
                <a:ea typeface="Inter" pitchFamily="34" charset="-122"/>
                <a:cs typeface="Inter" pitchFamily="34" charset="-120"/>
              </a:rPr>
              <a:t>SELECT * FROM committers</a:t>
            </a:r>
            <a:pPr algn="l" indent="0" marL="0">
              <a:lnSpc>
                <a:spcPct val="160000"/>
              </a:lnSpc>
              <a:buNone/>
            </a:pPr>
            <a:endParaRPr lang="en-US" sz="540" dirty="0"/>
          </a:p>
          <a:p>
            <a:pPr algn="l" indent="0" marL="0">
              <a:lnSpc>
                <a:spcPct val="160000"/>
              </a:lnSpc>
              <a:buNone/>
            </a:pPr>
            <a:r>
              <a:rPr lang="en-US" sz="540" spc="45" kern="0" dirty="0">
                <a:solidFill>
                  <a:srgbClr val="00BCD4"/>
                </a:solidFill>
                <a:latin typeface="Inter" pitchFamily="34" charset="0"/>
                <a:ea typeface="Inter" pitchFamily="34" charset="-122"/>
                <a:cs typeface="Inter" pitchFamily="34" charset="-120"/>
              </a:rPr>
              <a:t>WHERE region = 'global';</a:t>
            </a:r>
            <a:pPr algn="l" indent="0" marL="0">
              <a:lnSpc>
                <a:spcPct val="160000"/>
              </a:lnSpc>
              <a:buNone/>
            </a:pPr>
            <a:endParaRPr lang="en-US" sz="540" dirty="0"/>
          </a:p>
          <a:p>
            <a:pPr algn="l" indent="0" marL="0">
              <a:lnSpc>
                <a:spcPct val="160000"/>
              </a:lnSpc>
              <a:buNone/>
            </a:pPr>
            <a:r>
              <a:rPr lang="en-US" sz="540" spc="45" kern="0" dirty="0">
                <a:solidFill>
                  <a:srgbClr val="00BCD4"/>
                </a:solidFill>
                <a:latin typeface="Inter" pitchFamily="34" charset="0"/>
                <a:ea typeface="Inter" pitchFamily="34" charset="-122"/>
                <a:cs typeface="Inter" pitchFamily="34" charset="-120"/>
              </a:rPr>
              <a:t>package.json → dependencies</a:t>
            </a:r>
            <a:pPr algn="l" indent="0" marL="0">
              <a:lnSpc>
                <a:spcPct val="160000"/>
              </a:lnSpc>
              <a:buNone/>
            </a:pPr>
            <a:endParaRPr lang="en-US" sz="540" dirty="0"/>
          </a:p>
          <a:p>
            <a:pPr algn="l" indent="0" marL="0">
              <a:lnSpc>
                <a:spcPct val="160000"/>
              </a:lnSpc>
              <a:buNone/>
            </a:pPr>
            <a:r>
              <a:rPr lang="en-US" sz="540" spc="45" kern="0" dirty="0">
                <a:solidFill>
                  <a:srgbClr val="00BCD4"/>
                </a:solidFill>
                <a:latin typeface="Inter" pitchFamily="34" charset="0"/>
                <a:ea typeface="Inter" pitchFamily="34" charset="-122"/>
                <a:cs typeface="Inter" pitchFamily="34" charset="-120"/>
              </a:rPr>
              <a:t>npm install knowledge</a:t>
            </a:r>
            <a:pPr algn="l" indent="0" marL="0">
              <a:lnSpc>
                <a:spcPct val="160000"/>
              </a:lnSpc>
              <a:buNone/>
            </a:pPr>
            <a:endParaRPr lang="en-US" sz="540" dirty="0"/>
          </a:p>
          <a:p>
            <a:pPr algn="l" indent="0" marL="0">
              <a:lnSpc>
                <a:spcPct val="160000"/>
              </a:lnSpc>
              <a:buNone/>
            </a:pPr>
            <a:r>
              <a:rPr lang="en-US" sz="540" spc="45" kern="0" dirty="0">
                <a:solidFill>
                  <a:srgbClr val="00BCD4"/>
                </a:solidFill>
                <a:latin typeface="Inter" pitchFamily="34" charset="0"/>
                <a:ea typeface="Inter" pitchFamily="34" charset="-122"/>
                <a:cs typeface="Inter" pitchFamily="34" charset="-120"/>
              </a:rPr>
              <a:t>git push origin main</a:t>
            </a:r>
            <a:pPr algn="l" indent="0" marL="0">
              <a:lnSpc>
                <a:spcPct val="160000"/>
              </a:lnSpc>
              <a:buNone/>
            </a:pPr>
            <a:endParaRPr lang="en-US" sz="540" dirty="0"/>
          </a:p>
          <a:p>
            <a:pPr algn="l" indent="0" marL="0">
              <a:lnSpc>
                <a:spcPct val="160000"/>
              </a:lnSpc>
              <a:buNone/>
            </a:pPr>
            <a:r>
              <a:rPr lang="en-US" sz="540" spc="45" kern="0" dirty="0">
                <a:solidFill>
                  <a:srgbClr val="00BCD4"/>
                </a:solidFill>
                <a:latin typeface="Inter" pitchFamily="34" charset="0"/>
                <a:ea typeface="Inter" pitchFamily="34" charset="-122"/>
                <a:cs typeface="Inter" pitchFamily="34" charset="-120"/>
              </a:rPr>
              <a:t>01010011 01011001</a:t>
            </a:r>
            <a:pPr algn="l" indent="0" marL="0">
              <a:lnSpc>
                <a:spcPct val="160000"/>
              </a:lnSpc>
              <a:buNone/>
            </a:pPr>
            <a:endParaRPr lang="en-US" sz="540" dirty="0"/>
          </a:p>
          <a:p>
            <a:pPr algn="l" indent="0" marL="0">
              <a:lnSpc>
                <a:spcPct val="160000"/>
              </a:lnSpc>
              <a:buNone/>
            </a:pPr>
            <a:r>
              <a:rPr lang="en-US" sz="540" spc="45" kern="0" dirty="0">
                <a:solidFill>
                  <a:srgbClr val="00BCD4"/>
                </a:solidFill>
                <a:latin typeface="Inter" pitchFamily="34" charset="0"/>
                <a:ea typeface="Inter" pitchFamily="34" charset="-122"/>
                <a:cs typeface="Inter" pitchFamily="34" charset="-120"/>
              </a:rPr>
              <a:t>const roles = ['core','participant','observer'];</a:t>
            </a:r>
            <a:pPr algn="l" indent="0" marL="0">
              <a:lnSpc>
                <a:spcPct val="160000"/>
              </a:lnSpc>
              <a:buNone/>
            </a:pPr>
            <a:endParaRPr lang="en-US" sz="540" dirty="0"/>
          </a:p>
          <a:p>
            <a:pPr algn="l" indent="0" marL="0">
              <a:lnSpc>
                <a:spcPct val="160000"/>
              </a:lnSpc>
              <a:buNone/>
            </a:pPr>
            <a:r>
              <a:rPr lang="en-US" sz="540" spc="45" kern="0" dirty="0">
                <a:solidFill>
                  <a:srgbClr val="00BCD4"/>
                </a:solidFill>
                <a:latin typeface="Inter" pitchFamily="34" charset="0"/>
                <a:ea typeface="Inter" pitchFamily="34" charset="-122"/>
                <a:cs typeface="Inter" pitchFamily="34" charset="-120"/>
              </a:rPr>
              <a:t>export default community;</a:t>
            </a:r>
            <a:pPr algn="l" indent="0" marL="0">
              <a:lnSpc>
                <a:spcPct val="160000"/>
              </a:lnSpc>
              <a:buNone/>
            </a:pPr>
            <a:endParaRPr lang="en-US" sz="540" dirty="0"/>
          </a:p>
          <a:p>
            <a:pPr algn="l" indent="0" marL="0">
              <a:lnSpc>
                <a:spcPct val="160000"/>
              </a:lnSpc>
              <a:buNone/>
            </a:pPr>
            <a:r>
              <a:rPr lang="en-US" sz="540" spc="45" kern="0" dirty="0">
                <a:solidFill>
                  <a:srgbClr val="00BCD4"/>
                </a:solidFill>
                <a:latin typeface="Inter" pitchFamily="34" charset="0"/>
                <a:ea typeface="Inter" pitchFamily="34" charset="-122"/>
                <a:cs typeface="Inter" pitchFamily="34" charset="-120"/>
              </a:rPr>
              <a:t>01100111 01000100 01101001 01100010 01100001 01110011 01100101 01110101 01100011 01110100</a:t>
            </a:r>
            <a:endParaRPr lang="en-US" sz="540" dirty="0"/>
          </a:p>
        </p:txBody>
      </p:sp>
      <p:sp>
        <p:nvSpPr>
          <p:cNvPr id="4" name="Text 2"/>
          <p:cNvSpPr/>
          <p:nvPr/>
        </p:nvSpPr>
        <p:spPr>
          <a:xfrm>
            <a:off x="1143000" y="-5033278"/>
            <a:ext cx="200025" cy="5143500"/>
          </a:xfrm>
          <a:prstGeom prst="rect">
            <a:avLst/>
          </a:prstGeom>
          <a:noFill/>
          <a:ln/>
        </p:spPr>
        <p:txBody>
          <a:bodyPr wrap="square" rtlCol="0" anchor="ctr"/>
          <a:lstStyle/>
          <a:p>
            <a:pPr algn="l" indent="0" marL="0">
              <a:lnSpc>
                <a:spcPct val="160000"/>
              </a:lnSpc>
              <a:buNone/>
            </a:pPr>
            <a:r>
              <a:rPr lang="en-US" sz="495" spc="45" kern="0" dirty="0">
                <a:solidFill>
                  <a:srgbClr val="00BCD4"/>
                </a:solidFill>
                <a:latin typeface="Inter" pitchFamily="34" charset="0"/>
                <a:ea typeface="Inter" pitchFamily="34" charset="-122"/>
                <a:cs typeface="Inter" pitchFamily="34" charset="-120"/>
              </a:rPr>
              <a:t># Part I — Who Opens Source</a:t>
            </a:r>
            <a:pPr algn="l" indent="0" marL="0">
              <a:lnSpc>
                <a:spcPct val="160000"/>
              </a:lnSpc>
              <a:buNone/>
            </a:pPr>
            <a:endParaRPr lang="en-US" sz="495" dirty="0"/>
          </a:p>
          <a:p>
            <a:pPr algn="l" indent="0" marL="0">
              <a:lnSpc>
                <a:spcPct val="160000"/>
              </a:lnSpc>
              <a:buNone/>
            </a:pPr>
            <a:r>
              <a:rPr lang="en-US" sz="495" spc="45" kern="0" dirty="0">
                <a:solidFill>
                  <a:srgbClr val="00BCD4"/>
                </a:solidFill>
                <a:latin typeface="Inter" pitchFamily="34" charset="0"/>
                <a:ea typeface="Inter" pitchFamily="34" charset="-122"/>
                <a:cs typeface="Inter" pitchFamily="34" charset="-120"/>
              </a:rPr>
              <a:t>// defining the participants</a:t>
            </a:r>
            <a:pPr algn="l" indent="0" marL="0">
              <a:lnSpc>
                <a:spcPct val="160000"/>
              </a:lnSpc>
              <a:buNone/>
            </a:pPr>
            <a:endParaRPr lang="en-US" sz="495" dirty="0"/>
          </a:p>
          <a:p>
            <a:pPr algn="l" indent="0" marL="0">
              <a:lnSpc>
                <a:spcPct val="160000"/>
              </a:lnSpc>
              <a:buNone/>
            </a:pPr>
            <a:r>
              <a:rPr lang="en-US" sz="495" spc="45" kern="0" dirty="0">
                <a:solidFill>
                  <a:srgbClr val="00BCD4"/>
                </a:solidFill>
                <a:latin typeface="Inter" pitchFamily="34" charset="0"/>
                <a:ea typeface="Inter" pitchFamily="34" charset="-122"/>
                <a:cs typeface="Inter" pitchFamily="34" charset="-120"/>
              </a:rPr>
              <a:t>typedef struct OSSContributor {</a:t>
            </a:r>
            <a:pPr algn="l" indent="0" marL="0">
              <a:lnSpc>
                <a:spcPct val="160000"/>
              </a:lnSpc>
              <a:buNone/>
            </a:pPr>
            <a:endParaRPr lang="en-US" sz="495" dirty="0"/>
          </a:p>
          <a:p>
            <a:pPr algn="l" indent="0" marL="0">
              <a:lnSpc>
                <a:spcPct val="160000"/>
              </a:lnSpc>
              <a:buNone/>
            </a:pPr>
            <a:r>
              <a:rPr lang="en-US" sz="495" spc="45" kern="0" dirty="0">
                <a:solidFill>
                  <a:srgbClr val="00BCD4"/>
                </a:solidFill>
                <a:latin typeface="Inter" pitchFamily="34" charset="0"/>
                <a:ea typeface="Inter" pitchFamily="34" charset="-122"/>
                <a:cs typeface="Inter" pitchFamily="34" charset="-120"/>
              </a:rPr>
              <a:t>char* profession;</a:t>
            </a:r>
            <a:pPr algn="l" indent="0" marL="0">
              <a:lnSpc>
                <a:spcPct val="160000"/>
              </a:lnSpc>
              <a:buNone/>
            </a:pPr>
            <a:endParaRPr lang="en-US" sz="495" dirty="0"/>
          </a:p>
          <a:p>
            <a:pPr algn="l" indent="0" marL="0">
              <a:lnSpc>
                <a:spcPct val="160000"/>
              </a:lnSpc>
              <a:buNone/>
            </a:pPr>
            <a:r>
              <a:rPr lang="en-US" sz="495" spc="45" kern="0" dirty="0">
                <a:solidFill>
                  <a:srgbClr val="00BCD4"/>
                </a:solidFill>
                <a:latin typeface="Inter" pitchFamily="34" charset="0"/>
                <a:ea typeface="Inter" pitchFamily="34" charset="-122"/>
                <a:cs typeface="Inter" pitchFamily="34" charset="-120"/>
              </a:rPr>
              <a:t>char* techStack;</a:t>
            </a:r>
            <a:pPr algn="l" indent="0" marL="0">
              <a:lnSpc>
                <a:spcPct val="160000"/>
              </a:lnSpc>
              <a:buNone/>
            </a:pPr>
            <a:endParaRPr lang="en-US" sz="495" dirty="0"/>
          </a:p>
          <a:p>
            <a:pPr algn="l" indent="0" marL="0">
              <a:lnSpc>
                <a:spcPct val="160000"/>
              </a:lnSpc>
              <a:buNone/>
            </a:pPr>
            <a:r>
              <a:rPr lang="en-US" sz="495" spc="45" kern="0" dirty="0">
                <a:solidFill>
                  <a:srgbClr val="00BCD4"/>
                </a:solidFill>
                <a:latin typeface="Inter" pitchFamily="34" charset="0"/>
                <a:ea typeface="Inter" pitchFamily="34" charset="-122"/>
                <a:cs typeface="Inter" pitchFamily="34" charset="-120"/>
              </a:rPr>
              <a:t>int commitCount;</a:t>
            </a:r>
            <a:pPr algn="l" indent="0" marL="0">
              <a:lnSpc>
                <a:spcPct val="160000"/>
              </a:lnSpc>
              <a:buNone/>
            </a:pPr>
            <a:endParaRPr lang="en-US" sz="495" dirty="0"/>
          </a:p>
          <a:p>
            <a:pPr algn="l" indent="0" marL="0">
              <a:lnSpc>
                <a:spcPct val="160000"/>
              </a:lnSpc>
              <a:buNone/>
            </a:pPr>
            <a:r>
              <a:rPr lang="en-US" sz="495" spc="45" kern="0" dirty="0">
                <a:solidFill>
                  <a:srgbClr val="00BCD4"/>
                </a:solidFill>
                <a:latin typeface="Inter" pitchFamily="34" charset="0"/>
                <a:ea typeface="Inter" pitchFamily="34" charset="-122"/>
                <a:cs typeface="Inter" pitchFamily="34" charset="-120"/>
              </a:rPr>
              <a:t>enum Role role;</a:t>
            </a:r>
            <a:pPr algn="l" indent="0" marL="0">
              <a:lnSpc>
                <a:spcPct val="160000"/>
              </a:lnSpc>
              <a:buNone/>
            </a:pPr>
            <a:endParaRPr lang="en-US" sz="495" dirty="0"/>
          </a:p>
          <a:p>
            <a:pPr algn="l" indent="0" marL="0">
              <a:lnSpc>
                <a:spcPct val="160000"/>
              </a:lnSpc>
              <a:buNone/>
            </a:pPr>
            <a:r>
              <a:rPr lang="en-US" sz="495" spc="45" kern="0" dirty="0">
                <a:solidFill>
                  <a:srgbClr val="00BCD4"/>
                </a:solidFill>
                <a:latin typeface="Inter" pitchFamily="34" charset="0"/>
                <a:ea typeface="Inter" pitchFamily="34" charset="-122"/>
                <a:cs typeface="Inter" pitchFamily="34" charset="-120"/>
              </a:rPr>
              <a:t>} contributor_t;</a:t>
            </a:r>
            <a:pPr algn="l" indent="0" marL="0">
              <a:lnSpc>
                <a:spcPct val="160000"/>
              </a:lnSpc>
              <a:buNone/>
            </a:pPr>
            <a:endParaRPr lang="en-US" sz="495" dirty="0"/>
          </a:p>
          <a:p>
            <a:pPr algn="l" indent="0" marL="0">
              <a:lnSpc>
                <a:spcPct val="160000"/>
              </a:lnSpc>
              <a:buNone/>
            </a:pPr>
            <a:endParaRPr lang="en-US" sz="495" dirty="0"/>
          </a:p>
          <a:p>
            <a:pPr algn="l" indent="0" marL="0">
              <a:lnSpc>
                <a:spcPct val="160000"/>
              </a:lnSpc>
              <a:buNone/>
            </a:pPr>
            <a:r>
              <a:rPr lang="en-US" sz="495" spc="45" kern="0" dirty="0">
                <a:solidFill>
                  <a:srgbClr val="00BCD4"/>
                </a:solidFill>
                <a:latin typeface="Inter" pitchFamily="34" charset="0"/>
                <a:ea typeface="Inter" pitchFamily="34" charset="-122"/>
                <a:cs typeface="Inter" pitchFamily="34" charset="-120"/>
              </a:rPr>
              <a:t>enum Role { CORE, PARTICIPANT, OBSERVER };</a:t>
            </a:r>
            <a:pPr algn="l" indent="0" marL="0">
              <a:lnSpc>
                <a:spcPct val="160000"/>
              </a:lnSpc>
              <a:buNone/>
            </a:pPr>
            <a:endParaRPr lang="en-US" sz="495" dirty="0"/>
          </a:p>
          <a:p>
            <a:pPr algn="l" indent="0" marL="0">
              <a:lnSpc>
                <a:spcPct val="160000"/>
              </a:lnSpc>
              <a:buNone/>
            </a:pPr>
            <a:r>
              <a:rPr lang="en-US" sz="495" spc="45" kern="0" dirty="0">
                <a:solidFill>
                  <a:srgbClr val="00BCD4"/>
                </a:solidFill>
                <a:latin typeface="Inter" pitchFamily="34" charset="0"/>
                <a:ea typeface="Inter" pitchFamily="34" charset="-122"/>
                <a:cs typeface="Inter" pitchFamily="34" charset="-120"/>
              </a:rPr>
              <a:t>const int globalScale = 110000000;</a:t>
            </a:r>
            <a:pPr algn="l" indent="0" marL="0">
              <a:lnSpc>
                <a:spcPct val="160000"/>
              </a:lnSpc>
              <a:buNone/>
            </a:pPr>
            <a:endParaRPr lang="en-US" sz="495" dirty="0"/>
          </a:p>
          <a:p>
            <a:pPr algn="l" indent="0" marL="0">
              <a:lnSpc>
                <a:spcPct val="160000"/>
              </a:lnSpc>
              <a:buNone/>
            </a:pPr>
            <a:r>
              <a:rPr lang="en-US" sz="495" spc="45" kern="0" dirty="0">
                <a:solidFill>
                  <a:srgbClr val="00BCD4"/>
                </a:solidFill>
                <a:latin typeface="Inter" pitchFamily="34" charset="0"/>
                <a:ea typeface="Inter" pitchFamily="34" charset="-122"/>
                <a:cs typeface="Inter" pitchFamily="34" charset="-120"/>
              </a:rPr>
              <a:t>// 110M+ developers worldwide</a:t>
            </a:r>
            <a:pPr algn="l" indent="0" marL="0">
              <a:lnSpc>
                <a:spcPct val="160000"/>
              </a:lnSpc>
              <a:buNone/>
            </a:pPr>
            <a:endParaRPr lang="en-US" sz="495" dirty="0"/>
          </a:p>
          <a:p>
            <a:pPr algn="l" indent="0" marL="0">
              <a:lnSpc>
                <a:spcPct val="160000"/>
              </a:lnSpc>
              <a:buNone/>
            </a:pPr>
            <a:r>
              <a:rPr lang="en-US" sz="495" spc="45" kern="0" dirty="0">
                <a:solidFill>
                  <a:srgbClr val="00BCD4"/>
                </a:solidFill>
                <a:latin typeface="Inter" pitchFamily="34" charset="0"/>
                <a:ea typeface="Inter" pitchFamily="34" charset="-122"/>
                <a:cs typeface="Inter" pitchFamily="34" charset="-120"/>
              </a:rPr>
              <a:t>float adoptionRate = 0.92;</a:t>
            </a:r>
            <a:pPr algn="l" indent="0" marL="0">
              <a:lnSpc>
                <a:spcPct val="160000"/>
              </a:lnSpc>
              <a:buNone/>
            </a:pPr>
            <a:endParaRPr lang="en-US" sz="495" dirty="0"/>
          </a:p>
          <a:p>
            <a:pPr algn="l" indent="0" marL="0">
              <a:lnSpc>
                <a:spcPct val="160000"/>
              </a:lnSpc>
              <a:buNone/>
            </a:pPr>
            <a:r>
              <a:rPr lang="en-US" sz="495" spc="45" kern="0" dirty="0">
                <a:solidFill>
                  <a:srgbClr val="00BCD4"/>
                </a:solidFill>
                <a:latin typeface="Inter" pitchFamily="34" charset="0"/>
                <a:ea typeface="Inter" pitchFamily="34" charset="-122"/>
                <a:cs typeface="Inter" pitchFamily="34" charset="-120"/>
              </a:rPr>
              <a:t>return {scale, adoption, trend};</a:t>
            </a:r>
            <a:pPr algn="l" indent="0" marL="0">
              <a:lnSpc>
                <a:spcPct val="160000"/>
              </a:lnSpc>
              <a:buNone/>
            </a:pPr>
            <a:endParaRPr lang="en-US" sz="495" dirty="0"/>
          </a:p>
          <a:p>
            <a:pPr algn="l" indent="0" marL="0">
              <a:lnSpc>
                <a:spcPct val="160000"/>
              </a:lnSpc>
              <a:buNone/>
            </a:pPr>
            <a:r>
              <a:rPr lang="en-US" sz="495" spc="45" kern="0" dirty="0">
                <a:solidFill>
                  <a:srgbClr val="00BCD4"/>
                </a:solidFill>
                <a:latin typeface="Inter" pitchFamily="34" charset="0"/>
                <a:ea typeface="Inter" pitchFamily="34" charset="-122"/>
                <a:cs typeface="Inter" pitchFamily="34" charset="-120"/>
              </a:rPr>
              <a:t>2023 — new career patterns</a:t>
            </a:r>
            <a:pPr algn="l" indent="0" marL="0">
              <a:lnSpc>
                <a:spcPct val="160000"/>
              </a:lnSpc>
              <a:buNone/>
            </a:pPr>
            <a:endParaRPr lang="en-US" sz="495" dirty="0"/>
          </a:p>
          <a:p>
            <a:pPr algn="l" indent="0" marL="0">
              <a:lnSpc>
                <a:spcPct val="160000"/>
              </a:lnSpc>
              <a:buNone/>
            </a:pPr>
            <a:r>
              <a:rPr lang="en-US" sz="495" spc="45" kern="0" dirty="0">
                <a:solidFill>
                  <a:srgbClr val="00BCD4"/>
                </a:solidFill>
                <a:latin typeface="Inter" pitchFamily="34" charset="0"/>
                <a:ea typeface="Inter" pitchFamily="34" charset="-122"/>
                <a:cs typeface="Inter" pitchFamily="34" charset="-120"/>
              </a:rPr>
              <a:t>01011110 01100011 01100001 01110100 01100100 01100001</a:t>
            </a:r>
            <a:pPr algn="l" indent="0" marL="0">
              <a:lnSpc>
                <a:spcPct val="160000"/>
              </a:lnSpc>
              <a:buNone/>
            </a:pPr>
            <a:endParaRPr lang="en-US" sz="495" dirty="0"/>
          </a:p>
          <a:p>
            <a:pPr algn="l" indent="0" marL="0">
              <a:lnSpc>
                <a:spcPct val="160000"/>
              </a:lnSpc>
              <a:buNone/>
            </a:pPr>
            <a:r>
              <a:rPr lang="en-US" sz="495" spc="45" kern="0" dirty="0">
                <a:solidFill>
                  <a:srgbClr val="00BCD4"/>
                </a:solidFill>
                <a:latin typeface="Inter" pitchFamily="34" charset="0"/>
                <a:ea typeface="Inter" pitchFamily="34" charset="-122"/>
                <a:cs typeface="Inter" pitchFamily="34" charset="-120"/>
              </a:rPr>
              <a:t>data.pipeline(oss_people).flow()</a:t>
            </a:r>
            <a:pPr algn="l" indent="0" marL="0">
              <a:lnSpc>
                <a:spcPct val="160000"/>
              </a:lnSpc>
              <a:buNone/>
            </a:pPr>
            <a:endParaRPr lang="en-US" sz="495" dirty="0"/>
          </a:p>
          <a:p>
            <a:pPr algn="l" indent="0" marL="0">
              <a:lnSpc>
                <a:spcPct val="160000"/>
              </a:lnSpc>
              <a:buNone/>
            </a:pPr>
            <a:r>
              <a:rPr lang="en-US" sz="495" spc="45" kern="0" dirty="0">
                <a:solidFill>
                  <a:srgbClr val="00BCD4"/>
                </a:solidFill>
                <a:latin typeface="Inter" pitchFamily="34" charset="0"/>
                <a:ea typeface="Inter" pitchFamily="34" charset="-122"/>
                <a:cs typeface="Inter" pitchFamily="34" charset="-120"/>
              </a:rPr>
              <a:t>SELECT role, count(*) FROM profiles</a:t>
            </a:r>
            <a:pPr algn="l" indent="0" marL="0">
              <a:lnSpc>
                <a:spcPct val="160000"/>
              </a:lnSpc>
              <a:buNone/>
            </a:pPr>
            <a:endParaRPr lang="en-US" sz="495" dirty="0"/>
          </a:p>
          <a:p>
            <a:pPr algn="l" indent="0" marL="0">
              <a:lnSpc>
                <a:spcPct val="160000"/>
              </a:lnSpc>
              <a:buNone/>
            </a:pPr>
            <a:r>
              <a:rPr lang="en-US" sz="495" spc="45" kern="0" dirty="0">
                <a:solidFill>
                  <a:srgbClr val="00BCD4"/>
                </a:solidFill>
                <a:latin typeface="Inter" pitchFamily="34" charset="0"/>
                <a:ea typeface="Inter" pitchFamily="34" charset="-122"/>
                <a:cs typeface="Inter" pitchFamily="34" charset="-120"/>
              </a:rPr>
              <a:t>GROUP BY role;</a:t>
            </a:r>
            <a:pPr algn="l" indent="0" marL="0">
              <a:lnSpc>
                <a:spcPct val="160000"/>
              </a:lnSpc>
              <a:buNone/>
            </a:pPr>
            <a:endParaRPr lang="en-US" sz="495" dirty="0"/>
          </a:p>
          <a:p>
            <a:pPr algn="l" indent="0" marL="0">
              <a:lnSpc>
                <a:spcPct val="160000"/>
              </a:lnSpc>
              <a:buNone/>
            </a:pPr>
            <a:r>
              <a:rPr lang="en-US" sz="495" spc="45" kern="0" dirty="0">
                <a:solidFill>
                  <a:srgbClr val="00BCD4"/>
                </a:solidFill>
                <a:latin typeface="Inter" pitchFamily="34" charset="0"/>
                <a:ea typeface="Inter" pitchFamily="34" charset="-122"/>
                <a:cs typeface="Inter" pitchFamily="34" charset="-120"/>
              </a:rPr>
              <a:t>01001000 01000001 01001110 01010101 01000100 01000101 01000011 01001010</a:t>
            </a:r>
            <a:endParaRPr lang="en-US" sz="495" dirty="0"/>
          </a:p>
        </p:txBody>
      </p:sp>
      <p:sp>
        <p:nvSpPr>
          <p:cNvPr id="5" name="Text 3"/>
          <p:cNvSpPr/>
          <p:nvPr/>
        </p:nvSpPr>
        <p:spPr>
          <a:xfrm>
            <a:off x="8549640" y="5024799"/>
            <a:ext cx="200025" cy="5143500"/>
          </a:xfrm>
          <a:prstGeom prst="rect">
            <a:avLst/>
          </a:prstGeom>
          <a:noFill/>
          <a:ln/>
        </p:spPr>
        <p:txBody>
          <a:bodyPr wrap="square" rtlCol="0" anchor="ctr"/>
          <a:lstStyle/>
          <a:p>
            <a:pPr algn="l" indent="0" marL="0">
              <a:lnSpc>
                <a:spcPct val="160000"/>
              </a:lnSpc>
              <a:buNone/>
            </a:pPr>
            <a:r>
              <a:rPr lang="en-US" sz="495" spc="45" kern="0" dirty="0">
                <a:solidFill>
                  <a:srgbClr val="00BCD4"/>
                </a:solidFill>
                <a:latin typeface="Inter" pitchFamily="34" charset="0"/>
                <a:ea typeface="Inter" pitchFamily="34" charset="-122"/>
                <a:cs typeface="Inter" pitchFamily="34" charset="-120"/>
              </a:rPr>
              <a:t># data particles stream</a:t>
            </a:r>
            <a:pPr algn="l" indent="0" marL="0">
              <a:lnSpc>
                <a:spcPct val="160000"/>
              </a:lnSpc>
              <a:buNone/>
            </a:pPr>
            <a:endParaRPr lang="en-US" sz="495" dirty="0"/>
          </a:p>
          <a:p>
            <a:pPr algn="l" indent="0" marL="0">
              <a:lnSpc>
                <a:spcPct val="160000"/>
              </a:lnSpc>
              <a:buNone/>
            </a:pPr>
            <a:r>
              <a:rPr lang="en-US" sz="495" spc="45" kern="0" dirty="0">
                <a:solidFill>
                  <a:srgbClr val="00BCD4"/>
                </a:solidFill>
                <a:latin typeface="Inter" pitchFamily="34" charset="0"/>
                <a:ea typeface="Inter" pitchFamily="34" charset="-122"/>
                <a:cs typeface="Inter" pitchFamily="34" charset="-120"/>
              </a:rPr>
              <a:t>particle.flow(x=0.7, y=0.3)</a:t>
            </a:r>
            <a:pPr algn="l" indent="0" marL="0">
              <a:lnSpc>
                <a:spcPct val="160000"/>
              </a:lnSpc>
              <a:buNone/>
            </a:pPr>
            <a:endParaRPr lang="en-US" sz="495" dirty="0"/>
          </a:p>
          <a:p>
            <a:pPr algn="l" indent="0" marL="0">
              <a:lnSpc>
                <a:spcPct val="160000"/>
              </a:lnSpc>
              <a:buNone/>
            </a:pPr>
            <a:r>
              <a:rPr lang="en-US" sz="495" spc="45" kern="0" dirty="0">
                <a:solidFill>
                  <a:srgbClr val="00BCD4"/>
                </a:solidFill>
                <a:latin typeface="Inter" pitchFamily="34" charset="0"/>
                <a:ea typeface="Inter" pitchFamily="34" charset="-122"/>
                <a:cs typeface="Inter" pitchFamily="34" charset="-120"/>
              </a:rPr>
              <a:t>stream.emit('signal', payload)</a:t>
            </a:r>
            <a:pPr algn="l" indent="0" marL="0">
              <a:lnSpc>
                <a:spcPct val="160000"/>
              </a:lnSpc>
              <a:buNone/>
            </a:pPr>
            <a:endParaRPr lang="en-US" sz="495" dirty="0"/>
          </a:p>
          <a:p>
            <a:pPr algn="l" indent="0" marL="0">
              <a:lnSpc>
                <a:spcPct val="160000"/>
              </a:lnSpc>
              <a:buNone/>
            </a:pPr>
            <a:r>
              <a:rPr lang="en-US" sz="495" spc="45" kern="0" dirty="0">
                <a:solidFill>
                  <a:srgbClr val="00BCD4"/>
                </a:solidFill>
                <a:latin typeface="Inter" pitchFamily="34" charset="0"/>
                <a:ea typeface="Inter" pitchFamily="34" charset="-122"/>
                <a:cs typeface="Inter" pitchFamily="34" charset="-120"/>
              </a:rPr>
              <a:t>while(active) { render(); }</a:t>
            </a:r>
            <a:endParaRPr lang="en-US" sz="495" dirty="0"/>
          </a:p>
        </p:txBody>
      </p:sp>
      <p:sp>
        <p:nvSpPr>
          <p:cNvPr id="6" name="Shape 4"/>
          <p:cNvSpPr/>
          <p:nvPr/>
        </p:nvSpPr>
        <p:spPr>
          <a:xfrm>
            <a:off x="914902" y="770772"/>
            <a:ext cx="17145" cy="17145"/>
          </a:xfrm>
          <a:prstGeom prst="ellipse">
            <a:avLst/>
          </a:prstGeom>
          <a:solidFill>
            <a:srgbClr val="00BCD4">
              <a:alpha val="50000"/>
            </a:srgbClr>
          </a:solidFill>
          <a:ln/>
        </p:spPr>
      </p:sp>
      <p:sp>
        <p:nvSpPr>
          <p:cNvPr id="7" name="Shape 5"/>
          <p:cNvSpPr/>
          <p:nvPr/>
        </p:nvSpPr>
        <p:spPr>
          <a:xfrm>
            <a:off x="2286000" y="3600450"/>
            <a:ext cx="17145" cy="17145"/>
          </a:xfrm>
          <a:prstGeom prst="ellipse">
            <a:avLst/>
          </a:prstGeom>
          <a:solidFill>
            <a:srgbClr val="2196F3">
              <a:alpha val="50000"/>
            </a:srgbClr>
          </a:solidFill>
          <a:ln/>
        </p:spPr>
      </p:sp>
      <p:sp>
        <p:nvSpPr>
          <p:cNvPr id="8" name="Shape 6"/>
          <p:cNvSpPr/>
          <p:nvPr/>
        </p:nvSpPr>
        <p:spPr>
          <a:xfrm>
            <a:off x="4114800" y="1543050"/>
            <a:ext cx="17145" cy="17145"/>
          </a:xfrm>
          <a:prstGeom prst="ellipse">
            <a:avLst/>
          </a:prstGeom>
          <a:solidFill>
            <a:srgbClr val="00BCD4">
              <a:alpha val="50000"/>
            </a:srgbClr>
          </a:solidFill>
          <a:ln/>
        </p:spPr>
      </p:sp>
      <p:sp>
        <p:nvSpPr>
          <p:cNvPr id="9" name="Shape 7"/>
          <p:cNvSpPr/>
          <p:nvPr/>
        </p:nvSpPr>
        <p:spPr>
          <a:xfrm>
            <a:off x="5486400" y="4371975"/>
            <a:ext cx="17145" cy="17145"/>
          </a:xfrm>
          <a:prstGeom prst="ellipse">
            <a:avLst/>
          </a:prstGeom>
          <a:solidFill>
            <a:srgbClr val="2196F3">
              <a:alpha val="50000"/>
            </a:srgbClr>
          </a:solidFill>
          <a:ln/>
        </p:spPr>
      </p:sp>
      <p:sp>
        <p:nvSpPr>
          <p:cNvPr id="10" name="Shape 8"/>
          <p:cNvSpPr/>
          <p:nvPr/>
        </p:nvSpPr>
        <p:spPr>
          <a:xfrm>
            <a:off x="7315200" y="1028700"/>
            <a:ext cx="17145" cy="17145"/>
          </a:xfrm>
          <a:prstGeom prst="ellipse">
            <a:avLst/>
          </a:prstGeom>
          <a:solidFill>
            <a:srgbClr val="00BCD4">
              <a:alpha val="50000"/>
            </a:srgbClr>
          </a:solidFill>
          <a:ln/>
        </p:spPr>
      </p:sp>
      <p:sp>
        <p:nvSpPr>
          <p:cNvPr id="11" name="Shape 9"/>
          <p:cNvSpPr/>
          <p:nvPr/>
        </p:nvSpPr>
        <p:spPr>
          <a:xfrm>
            <a:off x="1371600" y="2828925"/>
            <a:ext cx="17145" cy="17145"/>
          </a:xfrm>
          <a:prstGeom prst="ellipse">
            <a:avLst/>
          </a:prstGeom>
          <a:solidFill>
            <a:srgbClr val="2196F3">
              <a:alpha val="50000"/>
            </a:srgbClr>
          </a:solidFill>
          <a:ln/>
        </p:spPr>
      </p:sp>
      <p:sp>
        <p:nvSpPr>
          <p:cNvPr id="12" name="Shape 10"/>
          <p:cNvSpPr/>
          <p:nvPr/>
        </p:nvSpPr>
        <p:spPr>
          <a:xfrm>
            <a:off x="6400800" y="2314575"/>
            <a:ext cx="17145" cy="17145"/>
          </a:xfrm>
          <a:prstGeom prst="ellipse">
            <a:avLst/>
          </a:prstGeom>
          <a:solidFill>
            <a:srgbClr val="00BCD4">
              <a:alpha val="50000"/>
            </a:srgbClr>
          </a:solidFill>
          <a:ln/>
        </p:spPr>
      </p:sp>
      <p:sp>
        <p:nvSpPr>
          <p:cNvPr id="13" name="Shape 11"/>
          <p:cNvSpPr/>
          <p:nvPr/>
        </p:nvSpPr>
        <p:spPr>
          <a:xfrm>
            <a:off x="8229600" y="3343275"/>
            <a:ext cx="17145" cy="17145"/>
          </a:xfrm>
          <a:prstGeom prst="ellipse">
            <a:avLst/>
          </a:prstGeom>
          <a:solidFill>
            <a:srgbClr val="2196F3">
              <a:alpha val="50000"/>
            </a:srgbClr>
          </a:solidFill>
          <a:ln/>
        </p:spPr>
      </p:sp>
      <p:sp>
        <p:nvSpPr>
          <p:cNvPr id="14" name="Shape 12"/>
          <p:cNvSpPr/>
          <p:nvPr/>
        </p:nvSpPr>
        <p:spPr>
          <a:xfrm>
            <a:off x="457200" y="4629150"/>
            <a:ext cx="17145" cy="17145"/>
          </a:xfrm>
          <a:prstGeom prst="ellipse">
            <a:avLst/>
          </a:prstGeom>
          <a:solidFill>
            <a:srgbClr val="00BCD4">
              <a:alpha val="50000"/>
            </a:srgbClr>
          </a:solidFill>
          <a:ln/>
        </p:spPr>
      </p:sp>
      <p:sp>
        <p:nvSpPr>
          <p:cNvPr id="15" name="Shape 13"/>
          <p:cNvSpPr/>
          <p:nvPr/>
        </p:nvSpPr>
        <p:spPr>
          <a:xfrm>
            <a:off x="4572000" y="514350"/>
            <a:ext cx="17145" cy="17145"/>
          </a:xfrm>
          <a:prstGeom prst="ellipse">
            <a:avLst/>
          </a:prstGeom>
          <a:solidFill>
            <a:srgbClr val="2196F3">
              <a:alpha val="50000"/>
            </a:srgbClr>
          </a:solidFill>
          <a:ln/>
        </p:spPr>
      </p:sp>
      <p:sp>
        <p:nvSpPr>
          <p:cNvPr id="16" name="Shape 14"/>
          <p:cNvSpPr/>
          <p:nvPr/>
        </p:nvSpPr>
        <p:spPr>
          <a:xfrm>
            <a:off x="3200400" y="2314575"/>
            <a:ext cx="17145" cy="17145"/>
          </a:xfrm>
          <a:prstGeom prst="ellipse">
            <a:avLst/>
          </a:prstGeom>
          <a:solidFill>
            <a:srgbClr val="00BCD4">
              <a:alpha val="50000"/>
            </a:srgbClr>
          </a:solidFill>
          <a:ln/>
        </p:spPr>
      </p:sp>
      <p:sp>
        <p:nvSpPr>
          <p:cNvPr id="17" name="Shape 15"/>
          <p:cNvSpPr/>
          <p:nvPr/>
        </p:nvSpPr>
        <p:spPr>
          <a:xfrm>
            <a:off x="7772400" y="4629150"/>
            <a:ext cx="17145" cy="17145"/>
          </a:xfrm>
          <a:prstGeom prst="ellipse">
            <a:avLst/>
          </a:prstGeom>
          <a:solidFill>
            <a:srgbClr val="00BCD4">
              <a:alpha val="50000"/>
            </a:srgbClr>
          </a:solidFill>
          <a:ln/>
        </p:spPr>
      </p:sp>
      <p:sp>
        <p:nvSpPr>
          <p:cNvPr id="18" name="Shape 16"/>
          <p:cNvSpPr/>
          <p:nvPr/>
        </p:nvSpPr>
        <p:spPr>
          <a:xfrm>
            <a:off x="171450" y="171450"/>
            <a:ext cx="228600" cy="228600"/>
          </a:xfrm>
          <a:prstGeom prst="rect">
            <a:avLst/>
          </a:prstGeom>
          <a:noFill/>
          <a:ln/>
        </p:spPr>
      </p:sp>
      <p:sp>
        <p:nvSpPr>
          <p:cNvPr id="19" name="Shape 17"/>
          <p:cNvSpPr/>
          <p:nvPr/>
        </p:nvSpPr>
        <p:spPr>
          <a:xfrm>
            <a:off x="171450" y="171450"/>
            <a:ext cx="228600" cy="0"/>
          </a:xfrm>
          <a:prstGeom prst="line">
            <a:avLst/>
          </a:prstGeom>
          <a:noFill/>
          <a:ln w="11430">
            <a:solidFill>
              <a:srgbClr val="00BCD4"/>
            </a:solidFill>
            <a:prstDash val="solid"/>
          </a:ln>
        </p:spPr>
      </p:sp>
      <p:sp>
        <p:nvSpPr>
          <p:cNvPr id="20" name="Shape 18"/>
          <p:cNvSpPr/>
          <p:nvPr/>
        </p:nvSpPr>
        <p:spPr>
          <a:xfrm>
            <a:off x="171450" y="171450"/>
            <a:ext cx="0" cy="228600"/>
          </a:xfrm>
          <a:prstGeom prst="line">
            <a:avLst/>
          </a:prstGeom>
          <a:noFill/>
          <a:ln w="11430">
            <a:solidFill>
              <a:srgbClr val="00BCD4"/>
            </a:solidFill>
            <a:prstDash val="solid"/>
          </a:ln>
        </p:spPr>
      </p:sp>
      <p:sp>
        <p:nvSpPr>
          <p:cNvPr id="21" name="Shape 19"/>
          <p:cNvSpPr/>
          <p:nvPr/>
        </p:nvSpPr>
        <p:spPr>
          <a:xfrm>
            <a:off x="8743950" y="171450"/>
            <a:ext cx="228600" cy="228600"/>
          </a:xfrm>
          <a:prstGeom prst="rect">
            <a:avLst/>
          </a:prstGeom>
          <a:noFill/>
          <a:ln/>
        </p:spPr>
      </p:sp>
      <p:sp>
        <p:nvSpPr>
          <p:cNvPr id="22" name="Shape 20"/>
          <p:cNvSpPr/>
          <p:nvPr/>
        </p:nvSpPr>
        <p:spPr>
          <a:xfrm>
            <a:off x="8743950" y="171450"/>
            <a:ext cx="228600" cy="0"/>
          </a:xfrm>
          <a:prstGeom prst="line">
            <a:avLst/>
          </a:prstGeom>
          <a:noFill/>
          <a:ln w="11430">
            <a:solidFill>
              <a:srgbClr val="00BCD4"/>
            </a:solidFill>
            <a:prstDash val="solid"/>
          </a:ln>
        </p:spPr>
      </p:sp>
      <p:sp>
        <p:nvSpPr>
          <p:cNvPr id="23" name="Shape 21"/>
          <p:cNvSpPr/>
          <p:nvPr/>
        </p:nvSpPr>
        <p:spPr>
          <a:xfrm>
            <a:off x="8972550" y="171450"/>
            <a:ext cx="0" cy="228600"/>
          </a:xfrm>
          <a:prstGeom prst="line">
            <a:avLst/>
          </a:prstGeom>
          <a:noFill/>
          <a:ln w="11430">
            <a:solidFill>
              <a:srgbClr val="00BCD4"/>
            </a:solidFill>
            <a:prstDash val="solid"/>
          </a:ln>
        </p:spPr>
      </p:sp>
      <p:sp>
        <p:nvSpPr>
          <p:cNvPr id="24" name="Shape 22"/>
          <p:cNvSpPr/>
          <p:nvPr/>
        </p:nvSpPr>
        <p:spPr>
          <a:xfrm>
            <a:off x="171450" y="4743450"/>
            <a:ext cx="228600" cy="228600"/>
          </a:xfrm>
          <a:prstGeom prst="rect">
            <a:avLst/>
          </a:prstGeom>
          <a:noFill/>
          <a:ln/>
        </p:spPr>
      </p:sp>
      <p:sp>
        <p:nvSpPr>
          <p:cNvPr id="25" name="Shape 23"/>
          <p:cNvSpPr/>
          <p:nvPr/>
        </p:nvSpPr>
        <p:spPr>
          <a:xfrm>
            <a:off x="171450" y="4972050"/>
            <a:ext cx="228600" cy="0"/>
          </a:xfrm>
          <a:prstGeom prst="line">
            <a:avLst/>
          </a:prstGeom>
          <a:noFill/>
          <a:ln w="11430">
            <a:solidFill>
              <a:srgbClr val="00BCD4"/>
            </a:solidFill>
            <a:prstDash val="solid"/>
          </a:ln>
        </p:spPr>
      </p:sp>
      <p:sp>
        <p:nvSpPr>
          <p:cNvPr id="26" name="Shape 24"/>
          <p:cNvSpPr/>
          <p:nvPr/>
        </p:nvSpPr>
        <p:spPr>
          <a:xfrm>
            <a:off x="171450" y="4743450"/>
            <a:ext cx="0" cy="228600"/>
          </a:xfrm>
          <a:prstGeom prst="line">
            <a:avLst/>
          </a:prstGeom>
          <a:noFill/>
          <a:ln w="11430">
            <a:solidFill>
              <a:srgbClr val="00BCD4"/>
            </a:solidFill>
            <a:prstDash val="solid"/>
          </a:ln>
        </p:spPr>
      </p:sp>
      <p:sp>
        <p:nvSpPr>
          <p:cNvPr id="27" name="Shape 25"/>
          <p:cNvSpPr/>
          <p:nvPr/>
        </p:nvSpPr>
        <p:spPr>
          <a:xfrm>
            <a:off x="8743950" y="4743450"/>
            <a:ext cx="228600" cy="228600"/>
          </a:xfrm>
          <a:prstGeom prst="rect">
            <a:avLst/>
          </a:prstGeom>
          <a:noFill/>
          <a:ln/>
        </p:spPr>
      </p:sp>
      <p:sp>
        <p:nvSpPr>
          <p:cNvPr id="28" name="Shape 26"/>
          <p:cNvSpPr/>
          <p:nvPr/>
        </p:nvSpPr>
        <p:spPr>
          <a:xfrm>
            <a:off x="8972550" y="4743450"/>
            <a:ext cx="0" cy="228600"/>
          </a:xfrm>
          <a:prstGeom prst="line">
            <a:avLst/>
          </a:prstGeom>
          <a:noFill/>
          <a:ln w="11430">
            <a:solidFill>
              <a:srgbClr val="00BCD4"/>
            </a:solidFill>
            <a:prstDash val="solid"/>
          </a:ln>
        </p:spPr>
      </p:sp>
      <p:sp>
        <p:nvSpPr>
          <p:cNvPr id="29" name="Shape 27"/>
          <p:cNvSpPr/>
          <p:nvPr/>
        </p:nvSpPr>
        <p:spPr>
          <a:xfrm>
            <a:off x="8743950" y="4972050"/>
            <a:ext cx="228600" cy="0"/>
          </a:xfrm>
          <a:prstGeom prst="line">
            <a:avLst/>
          </a:prstGeom>
          <a:noFill/>
          <a:ln w="11430">
            <a:solidFill>
              <a:srgbClr val="00BCD4"/>
            </a:solidFill>
            <a:prstDash val="solid"/>
          </a:ln>
        </p:spPr>
      </p:sp>
      <p:sp>
        <p:nvSpPr>
          <p:cNvPr id="30" name="Text 28"/>
          <p:cNvSpPr/>
          <p:nvPr/>
        </p:nvSpPr>
        <p:spPr>
          <a:xfrm>
            <a:off x="7223760" y="228600"/>
            <a:ext cx="1766621" cy="85725"/>
          </a:xfrm>
          <a:prstGeom prst="rect">
            <a:avLst/>
          </a:prstGeom>
          <a:noFill/>
          <a:ln/>
        </p:spPr>
        <p:txBody>
          <a:bodyPr wrap="none" rtlCol="0" anchor="ctr"/>
          <a:lstStyle/>
          <a:p>
            <a:pPr algn="l" indent="0" marL="0">
              <a:buNone/>
            </a:pPr>
            <a:r>
              <a:rPr lang="en-US" sz="540" spc="180" kern="0" dirty="0">
                <a:solidFill>
                  <a:srgbClr val="B0BEC5"/>
                </a:solidFill>
                <a:latin typeface="Inter" pitchFamily="34" charset="0"/>
                <a:ea typeface="Inter" pitchFamily="34" charset="-122"/>
                <a:cs typeface="Inter" pitchFamily="34" charset="-120"/>
              </a:rPr>
              <a:t>OPEN SOURCE REPORT · 2024</a:t>
            </a:r>
            <a:endParaRPr lang="en-US" sz="540" dirty="0"/>
          </a:p>
        </p:txBody>
      </p:sp>
      <p:sp>
        <p:nvSpPr>
          <p:cNvPr id="31" name="Shape 29"/>
          <p:cNvSpPr/>
          <p:nvPr/>
        </p:nvSpPr>
        <p:spPr>
          <a:xfrm>
            <a:off x="0" y="5126355"/>
            <a:ext cx="9144000" cy="17145"/>
          </a:xfrm>
          <a:prstGeom prst="rect">
            <a:avLst/>
          </a:prstGeom>
          <a:gradFill rotWithShape="1">
            <a:gsLst>
              <a:gs pos="0">
                <a:srgbClr val="2196F3"/>
              </a:gs>
              <a:gs pos="50000">
                <a:srgbClr val="00BCD4"/>
              </a:gs>
              <a:gs pos="100000">
                <a:srgbClr val="2196F3"/>
              </a:gs>
            </a:gsLst>
            <a:lin ang="0" scaled="0"/>
          </a:gradFill>
          <a:ln/>
        </p:spPr>
      </p:sp>
      <p:sp>
        <p:nvSpPr>
          <p:cNvPr id="32" name="Text 30"/>
          <p:cNvSpPr/>
          <p:nvPr/>
        </p:nvSpPr>
        <p:spPr>
          <a:xfrm>
            <a:off x="8481060" y="4892040"/>
            <a:ext cx="382905" cy="80010"/>
          </a:xfrm>
          <a:prstGeom prst="rect">
            <a:avLst/>
          </a:prstGeom>
          <a:noFill/>
          <a:ln/>
        </p:spPr>
        <p:txBody>
          <a:bodyPr wrap="none" rtlCol="0" anchor="ctr"/>
          <a:lstStyle/>
          <a:p>
            <a:pPr algn="l" indent="0" marL="0">
              <a:buNone/>
            </a:pPr>
            <a:r>
              <a:rPr lang="en-US" sz="495" spc="135" kern="0" dirty="0">
                <a:solidFill>
                  <a:srgbClr val="B0BEC5"/>
                </a:solidFill>
                <a:latin typeface="Inter" pitchFamily="34" charset="0"/>
                <a:ea typeface="Inter" pitchFamily="34" charset="-122"/>
                <a:cs typeface="Inter" pitchFamily="34" charset="-120"/>
              </a:rPr>
              <a:t>02 / 18</a:t>
            </a:r>
            <a:endParaRPr lang="en-US" sz="495" dirty="0"/>
          </a:p>
        </p:txBody>
      </p:sp>
      <p:sp>
        <p:nvSpPr>
          <p:cNvPr id="33" name="Shape 31"/>
          <p:cNvSpPr/>
          <p:nvPr/>
        </p:nvSpPr>
        <p:spPr>
          <a:xfrm>
            <a:off x="457200" y="400050"/>
            <a:ext cx="3785562" cy="4343400"/>
          </a:xfrm>
          <a:prstGeom prst="rect">
            <a:avLst/>
          </a:prstGeom>
          <a:noFill/>
          <a:ln/>
        </p:spPr>
      </p:sp>
      <p:sp>
        <p:nvSpPr>
          <p:cNvPr id="34" name="Shape 32"/>
          <p:cNvSpPr/>
          <p:nvPr/>
        </p:nvSpPr>
        <p:spPr>
          <a:xfrm>
            <a:off x="4242762" y="400050"/>
            <a:ext cx="0" cy="4343400"/>
          </a:xfrm>
          <a:prstGeom prst="line">
            <a:avLst/>
          </a:prstGeom>
          <a:noFill/>
          <a:ln w="5715">
            <a:solidFill>
              <a:srgbClr val="1B2A55"/>
            </a:solidFill>
            <a:prstDash val="solid"/>
          </a:ln>
        </p:spPr>
      </p:sp>
      <p:sp>
        <p:nvSpPr>
          <p:cNvPr id="35" name="Text 33"/>
          <p:cNvSpPr/>
          <p:nvPr/>
        </p:nvSpPr>
        <p:spPr>
          <a:xfrm>
            <a:off x="457200" y="1148715"/>
            <a:ext cx="1024128" cy="91440"/>
          </a:xfrm>
          <a:prstGeom prst="rect">
            <a:avLst/>
          </a:prstGeom>
          <a:noFill/>
          <a:ln/>
        </p:spPr>
        <p:txBody>
          <a:bodyPr wrap="none" rtlCol="0" anchor="ctr"/>
          <a:lstStyle/>
          <a:p>
            <a:pPr algn="l" indent="0" marL="0">
              <a:buNone/>
            </a:pPr>
            <a:r>
              <a:rPr lang="en-US" sz="585" spc="270" kern="0" dirty="0">
                <a:solidFill>
                  <a:srgbClr val="00BCD4"/>
                </a:solidFill>
                <a:latin typeface="Inter" pitchFamily="34" charset="0"/>
                <a:ea typeface="Inter" pitchFamily="34" charset="-122"/>
                <a:cs typeface="Inter" pitchFamily="34" charset="-120"/>
              </a:rPr>
              <a:t>PART · 章节过渡</a:t>
            </a:r>
            <a:endParaRPr lang="en-US" sz="585" dirty="0"/>
          </a:p>
        </p:txBody>
      </p:sp>
      <p:sp>
        <p:nvSpPr>
          <p:cNvPr id="36" name="Text 34"/>
          <p:cNvSpPr/>
          <p:nvPr/>
        </p:nvSpPr>
        <p:spPr>
          <a:xfrm>
            <a:off x="457200" y="1383030"/>
            <a:ext cx="5722947" cy="1845945"/>
          </a:xfrm>
          <a:prstGeom prst="rect">
            <a:avLst/>
          </a:prstGeom>
          <a:noFill/>
          <a:ln/>
          <a:effectLst>
            <a:outerShdw sx="100000" sy="100000" kx="0" ky="0" algn="bl" rotWithShape="0" blurRad="457200" dist="50800" dir="5400000">
              <a:srgbClr val="2196F3">
                <a:alpha val="25000"/>
              </a:srgbClr>
            </a:outerShdw>
          </a:effectLst>
        </p:spPr>
        <p:txBody>
          <a:bodyPr wrap="none" rtlCol="0" anchor="ctr"/>
          <a:lstStyle/>
          <a:p>
            <a:pPr algn="l" indent="0" marL="0">
              <a:lnSpc>
                <a:spcPct val="85000"/>
              </a:lnSpc>
              <a:buNone/>
            </a:pPr>
            <a:r>
              <a:rPr lang="en-US" sz="17100" b="1" spc="-450" kern="0" dirty="0">
                <a:solidFill>
                  <a:srgbClr val="00BCD4"/>
                </a:solidFill>
                <a:latin typeface="Inter" pitchFamily="34" charset="0"/>
                <a:ea typeface="Inter" pitchFamily="34" charset="-122"/>
                <a:cs typeface="Inter" pitchFamily="34" charset="-120"/>
              </a:rPr>
              <a:t>01</a:t>
            </a:r>
            <a:endParaRPr lang="en-US" sz="17100" dirty="0"/>
          </a:p>
        </p:txBody>
      </p:sp>
      <p:sp>
        <p:nvSpPr>
          <p:cNvPr id="37" name="Shape 35"/>
          <p:cNvSpPr/>
          <p:nvPr/>
        </p:nvSpPr>
        <p:spPr>
          <a:xfrm>
            <a:off x="457200" y="3571875"/>
            <a:ext cx="594360" cy="434340"/>
          </a:xfrm>
          <a:prstGeom prst="rect">
            <a:avLst/>
          </a:prstGeom>
          <a:solidFill>
            <a:srgbClr val="2196F3">
              <a:alpha val="5000"/>
            </a:srgbClr>
          </a:solidFill>
          <a:ln w="17145">
            <a:solidFill>
              <a:srgbClr val="2196F3"/>
            </a:solidFill>
            <a:prstDash val="solid"/>
          </a:ln>
        </p:spPr>
      </p:sp>
      <p:sp>
        <p:nvSpPr>
          <p:cNvPr id="38" name="Text 36"/>
          <p:cNvSpPr/>
          <p:nvPr/>
        </p:nvSpPr>
        <p:spPr>
          <a:xfrm>
            <a:off x="577215" y="3657600"/>
            <a:ext cx="428625" cy="91440"/>
          </a:xfrm>
          <a:prstGeom prst="rect">
            <a:avLst/>
          </a:prstGeom>
          <a:noFill/>
          <a:ln/>
        </p:spPr>
        <p:txBody>
          <a:bodyPr wrap="none" rtlCol="0" anchor="ctr"/>
          <a:lstStyle/>
          <a:p>
            <a:pPr algn="l" indent="0" marL="0">
              <a:buNone/>
            </a:pPr>
            <a:r>
              <a:rPr lang="en-US" sz="495" spc="135" kern="0" dirty="0">
                <a:solidFill>
                  <a:srgbClr val="B0BEC5"/>
                </a:solidFill>
                <a:latin typeface="Inter" pitchFamily="34" charset="0"/>
                <a:ea typeface="Inter" pitchFamily="34" charset="-122"/>
                <a:cs typeface="Inter" pitchFamily="34" charset="-120"/>
              </a:rPr>
              <a:t>章节</a:t>
            </a:r>
            <a:endParaRPr lang="en-US" sz="495" dirty="0"/>
          </a:p>
        </p:txBody>
      </p:sp>
      <p:sp>
        <p:nvSpPr>
          <p:cNvPr id="39" name="Text 37"/>
          <p:cNvSpPr/>
          <p:nvPr/>
        </p:nvSpPr>
        <p:spPr>
          <a:xfrm>
            <a:off x="577215" y="3783330"/>
            <a:ext cx="457200" cy="137160"/>
          </a:xfrm>
          <a:prstGeom prst="rect">
            <a:avLst/>
          </a:prstGeom>
          <a:noFill/>
          <a:ln/>
        </p:spPr>
        <p:txBody>
          <a:bodyPr wrap="none" rtlCol="0" anchor="ctr"/>
          <a:lstStyle/>
          <a:p>
            <a:pPr algn="l" indent="0" marL="0">
              <a:buNone/>
            </a:pPr>
            <a:r>
              <a:rPr lang="en-US" sz="720" dirty="0">
                <a:solidFill>
                  <a:srgbClr val="EAF2FF"/>
                </a:solidFill>
                <a:latin typeface="Inter" pitchFamily="34" charset="0"/>
                <a:ea typeface="Inter" pitchFamily="34" charset="-122"/>
                <a:cs typeface="Inter" pitchFamily="34" charset="-120"/>
              </a:rPr>
              <a:t>第一部分</a:t>
            </a:r>
            <a:endParaRPr lang="en-US" sz="720" dirty="0"/>
          </a:p>
        </p:txBody>
      </p:sp>
      <p:sp>
        <p:nvSpPr>
          <p:cNvPr id="40" name="Shape 38"/>
          <p:cNvSpPr/>
          <p:nvPr/>
        </p:nvSpPr>
        <p:spPr>
          <a:xfrm>
            <a:off x="1188720" y="3571875"/>
            <a:ext cx="594360" cy="434340"/>
          </a:xfrm>
          <a:prstGeom prst="rect">
            <a:avLst/>
          </a:prstGeom>
          <a:solidFill>
            <a:srgbClr val="2196F3">
              <a:alpha val="5000"/>
            </a:srgbClr>
          </a:solidFill>
          <a:ln w="17145">
            <a:solidFill>
              <a:srgbClr val="2196F3"/>
            </a:solidFill>
            <a:prstDash val="solid"/>
          </a:ln>
        </p:spPr>
      </p:sp>
      <p:sp>
        <p:nvSpPr>
          <p:cNvPr id="41" name="Text 39"/>
          <p:cNvSpPr/>
          <p:nvPr/>
        </p:nvSpPr>
        <p:spPr>
          <a:xfrm>
            <a:off x="1308735" y="3657600"/>
            <a:ext cx="428625" cy="91440"/>
          </a:xfrm>
          <a:prstGeom prst="rect">
            <a:avLst/>
          </a:prstGeom>
          <a:noFill/>
          <a:ln/>
        </p:spPr>
        <p:txBody>
          <a:bodyPr wrap="none" rtlCol="0" anchor="ctr"/>
          <a:lstStyle/>
          <a:p>
            <a:pPr algn="l" indent="0" marL="0">
              <a:buNone/>
            </a:pPr>
            <a:r>
              <a:rPr lang="en-US" sz="495" spc="135" kern="0" dirty="0">
                <a:solidFill>
                  <a:srgbClr val="B0BEC5"/>
                </a:solidFill>
                <a:latin typeface="Inter" pitchFamily="34" charset="0"/>
                <a:ea typeface="Inter" pitchFamily="34" charset="-122"/>
                <a:cs typeface="Inter" pitchFamily="34" charset="-120"/>
              </a:rPr>
              <a:t>主题</a:t>
            </a:r>
            <a:endParaRPr lang="en-US" sz="495" dirty="0"/>
          </a:p>
        </p:txBody>
      </p:sp>
      <p:sp>
        <p:nvSpPr>
          <p:cNvPr id="42" name="Text 40"/>
          <p:cNvSpPr/>
          <p:nvPr/>
        </p:nvSpPr>
        <p:spPr>
          <a:xfrm>
            <a:off x="1308735" y="3783330"/>
            <a:ext cx="457200" cy="137160"/>
          </a:xfrm>
          <a:prstGeom prst="rect">
            <a:avLst/>
          </a:prstGeom>
          <a:noFill/>
          <a:ln/>
        </p:spPr>
        <p:txBody>
          <a:bodyPr wrap="none" rtlCol="0" anchor="ctr"/>
          <a:lstStyle/>
          <a:p>
            <a:pPr algn="l" indent="0" marL="0">
              <a:buNone/>
            </a:pPr>
            <a:r>
              <a:rPr lang="en-US" sz="720" dirty="0">
                <a:solidFill>
                  <a:srgbClr val="EAF2FF"/>
                </a:solidFill>
                <a:latin typeface="Inter" pitchFamily="34" charset="0"/>
                <a:ea typeface="Inter" pitchFamily="34" charset="-122"/>
                <a:cs typeface="Inter" pitchFamily="34" charset="-120"/>
              </a:rPr>
              <a:t>谁在开源</a:t>
            </a:r>
            <a:endParaRPr lang="en-US" sz="720" dirty="0"/>
          </a:p>
        </p:txBody>
      </p:sp>
      <p:sp>
        <p:nvSpPr>
          <p:cNvPr id="43" name="Shape 41"/>
          <p:cNvSpPr/>
          <p:nvPr/>
        </p:nvSpPr>
        <p:spPr>
          <a:xfrm>
            <a:off x="1920240" y="3571875"/>
            <a:ext cx="588645" cy="434340"/>
          </a:xfrm>
          <a:prstGeom prst="rect">
            <a:avLst/>
          </a:prstGeom>
          <a:solidFill>
            <a:srgbClr val="2196F3">
              <a:alpha val="5000"/>
            </a:srgbClr>
          </a:solidFill>
          <a:ln w="17145">
            <a:solidFill>
              <a:srgbClr val="2196F3"/>
            </a:solidFill>
            <a:prstDash val="solid"/>
          </a:ln>
        </p:spPr>
      </p:sp>
      <p:sp>
        <p:nvSpPr>
          <p:cNvPr id="44" name="Text 42"/>
          <p:cNvSpPr/>
          <p:nvPr/>
        </p:nvSpPr>
        <p:spPr>
          <a:xfrm>
            <a:off x="2040255" y="3657600"/>
            <a:ext cx="422910" cy="91440"/>
          </a:xfrm>
          <a:prstGeom prst="rect">
            <a:avLst/>
          </a:prstGeom>
          <a:noFill/>
          <a:ln/>
        </p:spPr>
        <p:txBody>
          <a:bodyPr wrap="none" rtlCol="0" anchor="ctr"/>
          <a:lstStyle/>
          <a:p>
            <a:pPr algn="l" indent="0" marL="0">
              <a:buNone/>
            </a:pPr>
            <a:r>
              <a:rPr lang="en-US" sz="495" spc="135" kern="0" dirty="0">
                <a:solidFill>
                  <a:srgbClr val="B0BEC5"/>
                </a:solidFill>
                <a:latin typeface="Inter" pitchFamily="34" charset="0"/>
                <a:ea typeface="Inter" pitchFamily="34" charset="-122"/>
                <a:cs typeface="Inter" pitchFamily="34" charset="-120"/>
              </a:rPr>
              <a:t>关键议题</a:t>
            </a:r>
            <a:endParaRPr lang="en-US" sz="495" dirty="0"/>
          </a:p>
        </p:txBody>
      </p:sp>
      <p:sp>
        <p:nvSpPr>
          <p:cNvPr id="45" name="Text 43"/>
          <p:cNvSpPr/>
          <p:nvPr/>
        </p:nvSpPr>
        <p:spPr>
          <a:xfrm>
            <a:off x="2040255" y="3783330"/>
            <a:ext cx="451485" cy="137160"/>
          </a:xfrm>
          <a:prstGeom prst="rect">
            <a:avLst/>
          </a:prstGeom>
          <a:noFill/>
          <a:ln/>
        </p:spPr>
        <p:txBody>
          <a:bodyPr wrap="none" rtlCol="0" anchor="ctr"/>
          <a:lstStyle/>
          <a:p>
            <a:pPr algn="l" indent="0" marL="0">
              <a:buNone/>
            </a:pPr>
            <a:r>
              <a:rPr lang="en-US" sz="720" dirty="0">
                <a:solidFill>
                  <a:srgbClr val="EAF2FF"/>
                </a:solidFill>
                <a:latin typeface="Inter" pitchFamily="34" charset="0"/>
                <a:ea typeface="Inter" pitchFamily="34" charset="-122"/>
                <a:cs typeface="Inter" pitchFamily="34" charset="-120"/>
              </a:rPr>
              <a:t>4 个维度</a:t>
            </a:r>
            <a:endParaRPr lang="en-US" sz="720" dirty="0"/>
          </a:p>
        </p:txBody>
      </p:sp>
      <p:sp>
        <p:nvSpPr>
          <p:cNvPr id="46" name="Shape 44"/>
          <p:cNvSpPr/>
          <p:nvPr/>
        </p:nvSpPr>
        <p:spPr>
          <a:xfrm>
            <a:off x="4585662" y="533995"/>
            <a:ext cx="1331595" cy="188595"/>
          </a:xfrm>
          <a:prstGeom prst="roundRect">
            <a:avLst>
              <a:gd name="adj" fmla="val 60606"/>
            </a:avLst>
          </a:prstGeom>
          <a:solidFill>
            <a:srgbClr val="00BCD4">
              <a:alpha val="6000"/>
            </a:srgbClr>
          </a:solidFill>
          <a:ln w="5715">
            <a:solidFill>
              <a:srgbClr val="00BCD4"/>
            </a:solidFill>
            <a:prstDash val="solid"/>
          </a:ln>
        </p:spPr>
      </p:sp>
      <p:sp>
        <p:nvSpPr>
          <p:cNvPr id="47" name="Shape 45"/>
          <p:cNvSpPr/>
          <p:nvPr/>
        </p:nvSpPr>
        <p:spPr>
          <a:xfrm>
            <a:off x="4585662" y="533995"/>
            <a:ext cx="34290" cy="34290"/>
          </a:xfrm>
          <a:prstGeom prst="ellipse">
            <a:avLst/>
          </a:prstGeom>
          <a:solidFill>
            <a:srgbClr val="00BCD4"/>
          </a:solidFill>
          <a:ln/>
          <a:effectLst>
            <a:outerShdw sx="100000" sy="100000" kx="0" ky="0" algn="bl" rotWithShape="0" blurRad="95250" dist="50800" dir="16200000">
              <a:srgbClr val="00BCD4">
                <a:alpha val="100000"/>
              </a:srgbClr>
            </a:outerShdw>
          </a:effectLst>
        </p:spPr>
      </p:sp>
      <p:sp>
        <p:nvSpPr>
          <p:cNvPr id="48" name="Text 46"/>
          <p:cNvSpPr/>
          <p:nvPr/>
        </p:nvSpPr>
        <p:spPr>
          <a:xfrm>
            <a:off x="4774257" y="585430"/>
            <a:ext cx="1171346" cy="85725"/>
          </a:xfrm>
          <a:prstGeom prst="rect">
            <a:avLst/>
          </a:prstGeom>
          <a:noFill/>
          <a:ln/>
        </p:spPr>
        <p:txBody>
          <a:bodyPr wrap="none" rtlCol="0" anchor="ctr"/>
          <a:lstStyle/>
          <a:p>
            <a:pPr algn="l" indent="0" marL="0">
              <a:buNone/>
            </a:pPr>
            <a:r>
              <a:rPr lang="en-US" sz="540" spc="135" kern="0" dirty="0">
                <a:solidFill>
                  <a:srgbClr val="00BCD4"/>
                </a:solidFill>
                <a:latin typeface="Inter" pitchFamily="34" charset="0"/>
                <a:ea typeface="Inter" pitchFamily="34" charset="-122"/>
                <a:cs typeface="Inter" pitchFamily="34" charset="-120"/>
              </a:rPr>
              <a:t>SECTION TRANSITION</a:t>
            </a:r>
            <a:endParaRPr lang="en-US" sz="540" dirty="0"/>
          </a:p>
        </p:txBody>
      </p:sp>
      <p:sp>
        <p:nvSpPr>
          <p:cNvPr id="49" name="Text 47"/>
          <p:cNvSpPr/>
          <p:nvPr/>
        </p:nvSpPr>
        <p:spPr>
          <a:xfrm>
            <a:off x="4585662" y="871180"/>
            <a:ext cx="4593274" cy="352008"/>
          </a:xfrm>
          <a:prstGeom prst="rect">
            <a:avLst/>
          </a:prstGeom>
          <a:noFill/>
          <a:ln/>
        </p:spPr>
        <p:txBody>
          <a:bodyPr wrap="square" rtlCol="0" anchor="ctr"/>
          <a:lstStyle/>
          <a:p>
            <a:pPr algn="l" indent="0" marL="0">
              <a:lnSpc>
                <a:spcPct val="110000"/>
              </a:lnSpc>
              <a:buNone/>
            </a:pPr>
            <a:r>
              <a:rPr lang="en-US" sz="2520" b="1" spc="-45" kern="0" dirty="0">
                <a:solidFill>
                  <a:srgbClr val="EAF2FF"/>
                </a:solidFill>
                <a:latin typeface="Inter" pitchFamily="34" charset="0"/>
                <a:ea typeface="Inter" pitchFamily="34" charset="-122"/>
                <a:cs typeface="Inter" pitchFamily="34" charset="-120"/>
              </a:rPr>
              <a:t>第一部分：</a:t>
            </a:r>
            <a:pPr algn="l" indent="0" marL="0">
              <a:lnSpc>
                <a:spcPct val="110000"/>
              </a:lnSpc>
              <a:buNone/>
            </a:pPr>
            <a:r>
              <a:rPr lang="en-US" sz="2520" b="1" spc="-45" kern="0" dirty="0">
                <a:solidFill>
                  <a:srgbClr val="2196F3"/>
                </a:solidFill>
                <a:latin typeface="Inter" pitchFamily="34" charset="0"/>
                <a:ea typeface="Inter" pitchFamily="34" charset="-122"/>
                <a:cs typeface="Inter" pitchFamily="34" charset="-120"/>
              </a:rPr>
              <a:t>谁在开源</a:t>
            </a:r>
            <a:endParaRPr lang="en-US" sz="2520" dirty="0"/>
          </a:p>
        </p:txBody>
      </p:sp>
      <p:sp>
        <p:nvSpPr>
          <p:cNvPr id="50" name="Shape 48"/>
          <p:cNvSpPr/>
          <p:nvPr/>
        </p:nvSpPr>
        <p:spPr>
          <a:xfrm>
            <a:off x="4585662" y="1326059"/>
            <a:ext cx="4101138" cy="317718"/>
          </a:xfrm>
          <a:prstGeom prst="rect">
            <a:avLst/>
          </a:prstGeom>
          <a:noFill/>
          <a:ln/>
        </p:spPr>
      </p:sp>
      <p:sp>
        <p:nvSpPr>
          <p:cNvPr id="51" name="Shape 49"/>
          <p:cNvSpPr/>
          <p:nvPr/>
        </p:nvSpPr>
        <p:spPr>
          <a:xfrm>
            <a:off x="4585662" y="1643777"/>
            <a:ext cx="4101138" cy="0"/>
          </a:xfrm>
          <a:prstGeom prst="line">
            <a:avLst/>
          </a:prstGeom>
          <a:noFill/>
          <a:ln w="5715">
            <a:solidFill>
              <a:srgbClr val="1B2A55"/>
            </a:solidFill>
            <a:prstDash val="solid"/>
          </a:ln>
        </p:spPr>
      </p:sp>
      <p:sp>
        <p:nvSpPr>
          <p:cNvPr id="52" name="Text 50"/>
          <p:cNvSpPr/>
          <p:nvPr/>
        </p:nvSpPr>
        <p:spPr>
          <a:xfrm>
            <a:off x="4585662" y="1326059"/>
            <a:ext cx="4593274" cy="317718"/>
          </a:xfrm>
          <a:prstGeom prst="rect">
            <a:avLst/>
          </a:prstGeom>
          <a:noFill/>
          <a:ln/>
        </p:spPr>
        <p:txBody>
          <a:bodyPr wrap="square" rtlCol="0" anchor="ctr"/>
          <a:lstStyle/>
          <a:p>
            <a:pPr algn="l" indent="0" marL="0">
              <a:lnSpc>
                <a:spcPct val="170000"/>
              </a:lnSpc>
              <a:buNone/>
            </a:pPr>
            <a:r>
              <a:rPr lang="en-US" sz="810" dirty="0">
                <a:solidFill>
                  <a:srgbClr val="B0BEC5"/>
                </a:solidFill>
                <a:latin typeface="Inter" pitchFamily="34" charset="0"/>
                <a:ea typeface="Inter" pitchFamily="34" charset="-122"/>
                <a:cs typeface="Inter" pitchFamily="34" charset="-120"/>
              </a:rPr>
              <a:t>定义、类型与分布 ——</a:t>
            </a:r>
            <a:pPr algn="l" indent="0" marL="0">
              <a:lnSpc>
                <a:spcPct val="170000"/>
              </a:lnSpc>
              <a:buNone/>
            </a:pPr>
            <a:r>
              <a:rPr lang="en-US" sz="810" b="1" dirty="0">
                <a:solidFill>
                  <a:srgbClr val="00BCD4"/>
                </a:solidFill>
                <a:latin typeface="Inter" pitchFamily="34" charset="0"/>
                <a:ea typeface="Inter" pitchFamily="34" charset="-122"/>
                <a:cs typeface="Inter" pitchFamily="34" charset="-120"/>
              </a:rPr>
              <a:t>认识开源社区的真实参与者</a:t>
            </a:r>
            <a:endParaRPr lang="en-US" sz="810" dirty="0"/>
          </a:p>
        </p:txBody>
      </p:sp>
      <p:sp>
        <p:nvSpPr>
          <p:cNvPr id="53" name="Shape 51"/>
          <p:cNvSpPr/>
          <p:nvPr/>
        </p:nvSpPr>
        <p:spPr>
          <a:xfrm>
            <a:off x="4585662" y="1838087"/>
            <a:ext cx="4101138" cy="450324"/>
          </a:xfrm>
          <a:prstGeom prst="rect">
            <a:avLst/>
          </a:prstGeom>
          <a:solidFill>
            <a:srgbClr val="2196F3">
              <a:alpha val="4000"/>
            </a:srgbClr>
          </a:solidFill>
          <a:ln w="17145">
            <a:solidFill>
              <a:srgbClr val="2196F3"/>
            </a:solidFill>
            <a:prstDash val="solid"/>
          </a:ln>
        </p:spPr>
      </p:sp>
      <p:sp>
        <p:nvSpPr>
          <p:cNvPr id="54" name="Text 52"/>
          <p:cNvSpPr/>
          <p:nvPr/>
        </p:nvSpPr>
        <p:spPr>
          <a:xfrm>
            <a:off x="4705677" y="1923812"/>
            <a:ext cx="331470" cy="114300"/>
          </a:xfrm>
          <a:prstGeom prst="rect">
            <a:avLst/>
          </a:prstGeom>
          <a:noFill/>
          <a:ln/>
        </p:spPr>
        <p:txBody>
          <a:bodyPr wrap="none" rtlCol="0" anchor="ctr"/>
          <a:lstStyle/>
          <a:p>
            <a:pPr algn="l" indent="0" marL="0">
              <a:lnSpc>
                <a:spcPct val="100000"/>
              </a:lnSpc>
              <a:buNone/>
            </a:pPr>
            <a:r>
              <a:rPr lang="en-US" sz="900" b="1" dirty="0">
                <a:solidFill>
                  <a:srgbClr val="2196F3"/>
                </a:solidFill>
                <a:latin typeface="Inter" pitchFamily="34" charset="0"/>
                <a:ea typeface="Inter" pitchFamily="34" charset="-122"/>
                <a:cs typeface="Inter" pitchFamily="34" charset="-120"/>
              </a:rPr>
              <a:t>01</a:t>
            </a:r>
            <a:endParaRPr lang="en-US" sz="900" dirty="0"/>
          </a:p>
        </p:txBody>
      </p:sp>
      <p:sp>
        <p:nvSpPr>
          <p:cNvPr id="55" name="Text 53"/>
          <p:cNvSpPr/>
          <p:nvPr/>
        </p:nvSpPr>
        <p:spPr>
          <a:xfrm>
            <a:off x="5025717" y="1923812"/>
            <a:ext cx="3978797" cy="137160"/>
          </a:xfrm>
          <a:prstGeom prst="rect">
            <a:avLst/>
          </a:prstGeom>
          <a:noFill/>
          <a:ln/>
        </p:spPr>
        <p:txBody>
          <a:bodyPr wrap="none" rtlCol="0" anchor="ctr"/>
          <a:lstStyle/>
          <a:p>
            <a:pPr algn="l" indent="0" marL="0">
              <a:buNone/>
            </a:pPr>
            <a:r>
              <a:rPr lang="en-US" sz="720" b="1" dirty="0">
                <a:solidFill>
                  <a:srgbClr val="EAF2FF"/>
                </a:solidFill>
                <a:latin typeface="Inter" pitchFamily="34" charset="0"/>
                <a:ea typeface="Inter" pitchFamily="34" charset="-122"/>
                <a:cs typeface="Inter" pitchFamily="34" charset="-120"/>
              </a:rPr>
              <a:t>画像构建</a:t>
            </a:r>
            <a:endParaRPr lang="en-US" sz="720" dirty="0"/>
          </a:p>
        </p:txBody>
      </p:sp>
      <p:sp>
        <p:nvSpPr>
          <p:cNvPr id="56" name="Text 54"/>
          <p:cNvSpPr/>
          <p:nvPr/>
        </p:nvSpPr>
        <p:spPr>
          <a:xfrm>
            <a:off x="5025717" y="2083832"/>
            <a:ext cx="3978797" cy="118854"/>
          </a:xfrm>
          <a:prstGeom prst="rect">
            <a:avLst/>
          </a:prstGeom>
          <a:noFill/>
          <a:ln/>
        </p:spPr>
        <p:txBody>
          <a:bodyPr wrap="none" rtlCol="0" anchor="ctr"/>
          <a:lstStyle/>
          <a:p>
            <a:pPr algn="l" indent="0" marL="0">
              <a:lnSpc>
                <a:spcPct val="160000"/>
              </a:lnSpc>
              <a:buNone/>
            </a:pPr>
            <a:r>
              <a:rPr lang="en-US" sz="585" dirty="0">
                <a:solidFill>
                  <a:srgbClr val="B0BEC5"/>
                </a:solidFill>
                <a:latin typeface="Inter" pitchFamily="34" charset="0"/>
                <a:ea typeface="Inter" pitchFamily="34" charset="-122"/>
                <a:cs typeface="Inter" pitchFamily="34" charset="-120"/>
              </a:rPr>
              <a:t>从职业背景到技术栈，多维勾勒开源人士的基本轮廓</a:t>
            </a:r>
            <a:endParaRPr lang="en-US" sz="585" dirty="0"/>
          </a:p>
        </p:txBody>
      </p:sp>
      <p:sp>
        <p:nvSpPr>
          <p:cNvPr id="57" name="Shape 55"/>
          <p:cNvSpPr/>
          <p:nvPr/>
        </p:nvSpPr>
        <p:spPr>
          <a:xfrm>
            <a:off x="4585662" y="2356991"/>
            <a:ext cx="4101138" cy="450324"/>
          </a:xfrm>
          <a:prstGeom prst="rect">
            <a:avLst/>
          </a:prstGeom>
          <a:solidFill>
            <a:srgbClr val="00BCD4">
              <a:alpha val="4000"/>
            </a:srgbClr>
          </a:solidFill>
          <a:ln w="17145">
            <a:solidFill>
              <a:srgbClr val="00BCD4"/>
            </a:solidFill>
            <a:prstDash val="solid"/>
          </a:ln>
        </p:spPr>
      </p:sp>
      <p:sp>
        <p:nvSpPr>
          <p:cNvPr id="58" name="Text 56"/>
          <p:cNvSpPr/>
          <p:nvPr/>
        </p:nvSpPr>
        <p:spPr>
          <a:xfrm>
            <a:off x="4705677" y="2442716"/>
            <a:ext cx="331470" cy="114300"/>
          </a:xfrm>
          <a:prstGeom prst="rect">
            <a:avLst/>
          </a:prstGeom>
          <a:noFill/>
          <a:ln/>
        </p:spPr>
        <p:txBody>
          <a:bodyPr wrap="none" rtlCol="0" anchor="ctr"/>
          <a:lstStyle/>
          <a:p>
            <a:pPr algn="l" indent="0" marL="0">
              <a:lnSpc>
                <a:spcPct val="100000"/>
              </a:lnSpc>
              <a:buNone/>
            </a:pPr>
            <a:r>
              <a:rPr lang="en-US" sz="900" b="1" dirty="0">
                <a:solidFill>
                  <a:srgbClr val="00BCD4"/>
                </a:solidFill>
                <a:latin typeface="Inter" pitchFamily="34" charset="0"/>
                <a:ea typeface="Inter" pitchFamily="34" charset="-122"/>
                <a:cs typeface="Inter" pitchFamily="34" charset="-120"/>
              </a:rPr>
              <a:t>02</a:t>
            </a:r>
            <a:endParaRPr lang="en-US" sz="900" dirty="0"/>
          </a:p>
        </p:txBody>
      </p:sp>
      <p:sp>
        <p:nvSpPr>
          <p:cNvPr id="59" name="Text 57"/>
          <p:cNvSpPr/>
          <p:nvPr/>
        </p:nvSpPr>
        <p:spPr>
          <a:xfrm>
            <a:off x="5025717" y="2442716"/>
            <a:ext cx="3978797" cy="137160"/>
          </a:xfrm>
          <a:prstGeom prst="rect">
            <a:avLst/>
          </a:prstGeom>
          <a:noFill/>
          <a:ln/>
        </p:spPr>
        <p:txBody>
          <a:bodyPr wrap="none" rtlCol="0" anchor="ctr"/>
          <a:lstStyle/>
          <a:p>
            <a:pPr algn="l" indent="0" marL="0">
              <a:buNone/>
            </a:pPr>
            <a:r>
              <a:rPr lang="en-US" sz="720" b="1" dirty="0">
                <a:solidFill>
                  <a:srgbClr val="EAF2FF"/>
                </a:solidFill>
                <a:latin typeface="Inter" pitchFamily="34" charset="0"/>
                <a:ea typeface="Inter" pitchFamily="34" charset="-122"/>
                <a:cs typeface="Inter" pitchFamily="34" charset="-120"/>
              </a:rPr>
              <a:t>贡献图谱</a:t>
            </a:r>
            <a:endParaRPr lang="en-US" sz="720" dirty="0"/>
          </a:p>
        </p:txBody>
      </p:sp>
      <p:sp>
        <p:nvSpPr>
          <p:cNvPr id="60" name="Text 58"/>
          <p:cNvSpPr/>
          <p:nvPr/>
        </p:nvSpPr>
        <p:spPr>
          <a:xfrm>
            <a:off x="5025717" y="2602736"/>
            <a:ext cx="3978797" cy="118854"/>
          </a:xfrm>
          <a:prstGeom prst="rect">
            <a:avLst/>
          </a:prstGeom>
          <a:noFill/>
          <a:ln/>
        </p:spPr>
        <p:txBody>
          <a:bodyPr wrap="none" rtlCol="0" anchor="ctr"/>
          <a:lstStyle/>
          <a:p>
            <a:pPr algn="l" indent="0" marL="0">
              <a:lnSpc>
                <a:spcPct val="160000"/>
              </a:lnSpc>
              <a:buNone/>
            </a:pPr>
            <a:r>
              <a:rPr lang="en-US" sz="585" dirty="0">
                <a:solidFill>
                  <a:srgbClr val="B0BEC5"/>
                </a:solidFill>
                <a:latin typeface="Inter" pitchFamily="34" charset="0"/>
                <a:ea typeface="Inter" pitchFamily="34" charset="-122"/>
                <a:cs typeface="Inter" pitchFamily="34" charset="-120"/>
              </a:rPr>
              <a:t>区分核心贡献者、参与者与观察者的不同角色定位</a:t>
            </a:r>
            <a:endParaRPr lang="en-US" sz="585" dirty="0"/>
          </a:p>
        </p:txBody>
      </p:sp>
      <p:sp>
        <p:nvSpPr>
          <p:cNvPr id="61" name="Shape 59"/>
          <p:cNvSpPr/>
          <p:nvPr/>
        </p:nvSpPr>
        <p:spPr>
          <a:xfrm>
            <a:off x="4585662" y="2875895"/>
            <a:ext cx="4101138" cy="450324"/>
          </a:xfrm>
          <a:prstGeom prst="rect">
            <a:avLst/>
          </a:prstGeom>
          <a:solidFill>
            <a:srgbClr val="2196F3">
              <a:alpha val="4000"/>
            </a:srgbClr>
          </a:solidFill>
          <a:ln w="17145">
            <a:solidFill>
              <a:srgbClr val="4FC3F7"/>
            </a:solidFill>
            <a:prstDash val="solid"/>
          </a:ln>
        </p:spPr>
      </p:sp>
      <p:sp>
        <p:nvSpPr>
          <p:cNvPr id="62" name="Text 60"/>
          <p:cNvSpPr/>
          <p:nvPr/>
        </p:nvSpPr>
        <p:spPr>
          <a:xfrm>
            <a:off x="4705677" y="2961620"/>
            <a:ext cx="331470" cy="114300"/>
          </a:xfrm>
          <a:prstGeom prst="rect">
            <a:avLst/>
          </a:prstGeom>
          <a:noFill/>
          <a:ln/>
        </p:spPr>
        <p:txBody>
          <a:bodyPr wrap="none" rtlCol="0" anchor="ctr"/>
          <a:lstStyle/>
          <a:p>
            <a:pPr algn="l" indent="0" marL="0">
              <a:lnSpc>
                <a:spcPct val="100000"/>
              </a:lnSpc>
              <a:buNone/>
            </a:pPr>
            <a:r>
              <a:rPr lang="en-US" sz="900" b="1" dirty="0">
                <a:solidFill>
                  <a:srgbClr val="2196F3"/>
                </a:solidFill>
                <a:latin typeface="Inter" pitchFamily="34" charset="0"/>
                <a:ea typeface="Inter" pitchFamily="34" charset="-122"/>
                <a:cs typeface="Inter" pitchFamily="34" charset="-120"/>
              </a:rPr>
              <a:t>03</a:t>
            </a:r>
            <a:endParaRPr lang="en-US" sz="900" dirty="0"/>
          </a:p>
        </p:txBody>
      </p:sp>
      <p:sp>
        <p:nvSpPr>
          <p:cNvPr id="63" name="Text 61"/>
          <p:cNvSpPr/>
          <p:nvPr/>
        </p:nvSpPr>
        <p:spPr>
          <a:xfrm>
            <a:off x="5025717" y="2961620"/>
            <a:ext cx="3978797" cy="137160"/>
          </a:xfrm>
          <a:prstGeom prst="rect">
            <a:avLst/>
          </a:prstGeom>
          <a:noFill/>
          <a:ln/>
        </p:spPr>
        <p:txBody>
          <a:bodyPr wrap="none" rtlCol="0" anchor="ctr"/>
          <a:lstStyle/>
          <a:p>
            <a:pPr algn="l" indent="0" marL="0">
              <a:buNone/>
            </a:pPr>
            <a:r>
              <a:rPr lang="en-US" sz="720" b="1" dirty="0">
                <a:solidFill>
                  <a:srgbClr val="EAF2FF"/>
                </a:solidFill>
                <a:latin typeface="Inter" pitchFamily="34" charset="0"/>
                <a:ea typeface="Inter" pitchFamily="34" charset="-122"/>
                <a:cs typeface="Inter" pitchFamily="34" charset="-120"/>
              </a:rPr>
              <a:t>数据透视</a:t>
            </a:r>
            <a:endParaRPr lang="en-US" sz="720" dirty="0"/>
          </a:p>
        </p:txBody>
      </p:sp>
      <p:sp>
        <p:nvSpPr>
          <p:cNvPr id="64" name="Text 62"/>
          <p:cNvSpPr/>
          <p:nvPr/>
        </p:nvSpPr>
        <p:spPr>
          <a:xfrm>
            <a:off x="5025717" y="3121640"/>
            <a:ext cx="3978797" cy="118854"/>
          </a:xfrm>
          <a:prstGeom prst="rect">
            <a:avLst/>
          </a:prstGeom>
          <a:noFill/>
          <a:ln/>
        </p:spPr>
        <p:txBody>
          <a:bodyPr wrap="none" rtlCol="0" anchor="ctr"/>
          <a:lstStyle/>
          <a:p>
            <a:pPr algn="l" indent="0" marL="0">
              <a:lnSpc>
                <a:spcPct val="160000"/>
              </a:lnSpc>
              <a:buNone/>
            </a:pPr>
            <a:r>
              <a:rPr lang="en-US" sz="585" dirty="0">
                <a:solidFill>
                  <a:srgbClr val="B0BEC5"/>
                </a:solidFill>
                <a:latin typeface="Inter" pitchFamily="34" charset="0"/>
                <a:ea typeface="Inter" pitchFamily="34" charset="-122"/>
                <a:cs typeface="Inter" pitchFamily="34" charset="-120"/>
              </a:rPr>
              <a:t>用报告关键指标呈现全球开源人群的规模与结构</a:t>
            </a:r>
            <a:endParaRPr lang="en-US" sz="585" dirty="0"/>
          </a:p>
        </p:txBody>
      </p:sp>
      <p:sp>
        <p:nvSpPr>
          <p:cNvPr id="65" name="Shape 63"/>
          <p:cNvSpPr/>
          <p:nvPr/>
        </p:nvSpPr>
        <p:spPr>
          <a:xfrm>
            <a:off x="4585662" y="3394799"/>
            <a:ext cx="4101138" cy="450324"/>
          </a:xfrm>
          <a:prstGeom prst="rect">
            <a:avLst/>
          </a:prstGeom>
          <a:solidFill>
            <a:srgbClr val="00BCD4">
              <a:alpha val="4000"/>
            </a:srgbClr>
          </a:solidFill>
          <a:ln w="17145">
            <a:solidFill>
              <a:srgbClr val="00BCD4"/>
            </a:solidFill>
            <a:prstDash val="solid"/>
          </a:ln>
        </p:spPr>
      </p:sp>
      <p:sp>
        <p:nvSpPr>
          <p:cNvPr id="66" name="Text 64"/>
          <p:cNvSpPr/>
          <p:nvPr/>
        </p:nvSpPr>
        <p:spPr>
          <a:xfrm>
            <a:off x="4705677" y="3480524"/>
            <a:ext cx="331470" cy="114300"/>
          </a:xfrm>
          <a:prstGeom prst="rect">
            <a:avLst/>
          </a:prstGeom>
          <a:noFill/>
          <a:ln/>
        </p:spPr>
        <p:txBody>
          <a:bodyPr wrap="none" rtlCol="0" anchor="ctr"/>
          <a:lstStyle/>
          <a:p>
            <a:pPr algn="l" indent="0" marL="0">
              <a:lnSpc>
                <a:spcPct val="100000"/>
              </a:lnSpc>
              <a:buNone/>
            </a:pPr>
            <a:r>
              <a:rPr lang="en-US" sz="900" b="1" dirty="0">
                <a:solidFill>
                  <a:srgbClr val="00BCD4"/>
                </a:solidFill>
                <a:latin typeface="Inter" pitchFamily="34" charset="0"/>
                <a:ea typeface="Inter" pitchFamily="34" charset="-122"/>
                <a:cs typeface="Inter" pitchFamily="34" charset="-120"/>
              </a:rPr>
              <a:t>04</a:t>
            </a:r>
            <a:endParaRPr lang="en-US" sz="900" dirty="0"/>
          </a:p>
        </p:txBody>
      </p:sp>
      <p:sp>
        <p:nvSpPr>
          <p:cNvPr id="67" name="Text 65"/>
          <p:cNvSpPr/>
          <p:nvPr/>
        </p:nvSpPr>
        <p:spPr>
          <a:xfrm>
            <a:off x="5025717" y="3480524"/>
            <a:ext cx="3978797" cy="137160"/>
          </a:xfrm>
          <a:prstGeom prst="rect">
            <a:avLst/>
          </a:prstGeom>
          <a:noFill/>
          <a:ln/>
        </p:spPr>
        <p:txBody>
          <a:bodyPr wrap="none" rtlCol="0" anchor="ctr"/>
          <a:lstStyle/>
          <a:p>
            <a:pPr algn="l" indent="0" marL="0">
              <a:buNone/>
            </a:pPr>
            <a:r>
              <a:rPr lang="en-US" sz="720" b="1" dirty="0">
                <a:solidFill>
                  <a:srgbClr val="EAF2FF"/>
                </a:solidFill>
                <a:latin typeface="Inter" pitchFamily="34" charset="0"/>
                <a:ea typeface="Inter" pitchFamily="34" charset="-122"/>
                <a:cs typeface="Inter" pitchFamily="34" charset="-120"/>
              </a:rPr>
              <a:t>群体趋势</a:t>
            </a:r>
            <a:endParaRPr lang="en-US" sz="720" dirty="0"/>
          </a:p>
        </p:txBody>
      </p:sp>
      <p:sp>
        <p:nvSpPr>
          <p:cNvPr id="68" name="Text 66"/>
          <p:cNvSpPr/>
          <p:nvPr/>
        </p:nvSpPr>
        <p:spPr>
          <a:xfrm>
            <a:off x="5025717" y="3640544"/>
            <a:ext cx="3978797" cy="118854"/>
          </a:xfrm>
          <a:prstGeom prst="rect">
            <a:avLst/>
          </a:prstGeom>
          <a:noFill/>
          <a:ln/>
        </p:spPr>
        <p:txBody>
          <a:bodyPr wrap="none" rtlCol="0" anchor="ctr"/>
          <a:lstStyle/>
          <a:p>
            <a:pPr algn="l" indent="0" marL="0">
              <a:lnSpc>
                <a:spcPct val="160000"/>
              </a:lnSpc>
              <a:buNone/>
            </a:pPr>
            <a:r>
              <a:rPr lang="en-US" sz="585" dirty="0">
                <a:solidFill>
                  <a:srgbClr val="B0BEC5"/>
                </a:solidFill>
                <a:latin typeface="Inter" pitchFamily="34" charset="0"/>
                <a:ea typeface="Inter" pitchFamily="34" charset="-122"/>
                <a:cs typeface="Inter" pitchFamily="34" charset="-120"/>
              </a:rPr>
              <a:t>观察2023年开源人群在职业构成上的新变化方向</a:t>
            </a:r>
            <a:endParaRPr lang="en-US" sz="585" dirty="0"/>
          </a:p>
        </p:txBody>
      </p:sp>
      <p:sp>
        <p:nvSpPr>
          <p:cNvPr id="69" name="Shape 67"/>
          <p:cNvSpPr/>
          <p:nvPr/>
        </p:nvSpPr>
        <p:spPr>
          <a:xfrm>
            <a:off x="4585662" y="3993713"/>
            <a:ext cx="4101138" cy="615791"/>
          </a:xfrm>
          <a:prstGeom prst="roundRect">
            <a:avLst>
              <a:gd name="adj" fmla="val 3712"/>
            </a:avLst>
          </a:prstGeom>
          <a:gradFill rotWithShape="1">
            <a:gsLst>
              <a:gs pos="0">
                <a:srgbClr val="2196F3">
                  <a:alpha val="10000"/>
                </a:srgbClr>
              </a:gs>
              <a:gs pos="100000">
                <a:srgbClr val="00BCD4">
                  <a:alpha val="6000"/>
                </a:srgbClr>
              </a:gs>
            </a:gsLst>
            <a:lin ang="2700000" scaled="0"/>
          </a:gradFill>
          <a:ln w="5715">
            <a:solidFill>
              <a:srgbClr val="2196F3">
                <a:alpha val="25000"/>
              </a:srgbClr>
            </a:solidFill>
            <a:prstDash val="solid"/>
          </a:ln>
        </p:spPr>
      </p:sp>
      <p:sp>
        <p:nvSpPr>
          <p:cNvPr id="70" name="Text 68"/>
          <p:cNvSpPr/>
          <p:nvPr/>
        </p:nvSpPr>
        <p:spPr>
          <a:xfrm>
            <a:off x="4705677" y="4108013"/>
            <a:ext cx="1344168" cy="110014"/>
          </a:xfrm>
          <a:prstGeom prst="rect">
            <a:avLst/>
          </a:prstGeom>
          <a:noFill/>
          <a:ln/>
        </p:spPr>
        <p:txBody>
          <a:bodyPr wrap="none" rtlCol="0" anchor="ctr"/>
          <a:lstStyle/>
          <a:p>
            <a:pPr algn="l" indent="0" marL="0">
              <a:lnSpc>
                <a:spcPct val="175000"/>
              </a:lnSpc>
              <a:buNone/>
            </a:pPr>
            <a:r>
              <a:rPr lang="en-US" sz="495" spc="135" kern="0" dirty="0">
                <a:solidFill>
                  <a:srgbClr val="00BCD4"/>
                </a:solidFill>
                <a:latin typeface="Inter" pitchFamily="34" charset="0"/>
                <a:ea typeface="Inter" pitchFamily="34" charset="-122"/>
                <a:cs typeface="Inter" pitchFamily="34" charset="-120"/>
              </a:rPr>
              <a:t>PART NARRATIVE · 章节叙事</a:t>
            </a:r>
            <a:endParaRPr lang="en-US" sz="495" dirty="0"/>
          </a:p>
        </p:txBody>
      </p:sp>
      <p:sp>
        <p:nvSpPr>
          <p:cNvPr id="71" name="Text 69"/>
          <p:cNvSpPr/>
          <p:nvPr/>
        </p:nvSpPr>
        <p:spPr>
          <a:xfrm>
            <a:off x="4705677" y="4252317"/>
            <a:ext cx="4324440" cy="260033"/>
          </a:xfrm>
          <a:prstGeom prst="rect">
            <a:avLst/>
          </a:prstGeom>
          <a:noFill/>
          <a:ln/>
        </p:spPr>
        <p:txBody>
          <a:bodyPr wrap="square" rtlCol="0" anchor="ctr"/>
          <a:lstStyle/>
          <a:p>
            <a:pPr algn="l" indent="0" marL="0">
              <a:lnSpc>
                <a:spcPct val="175000"/>
              </a:lnSpc>
              <a:buNone/>
            </a:pPr>
            <a:r>
              <a:rPr lang="en-US" sz="585" dirty="0">
                <a:solidFill>
                  <a:srgbClr val="EAF2FF"/>
                </a:solidFill>
                <a:latin typeface="Inter" pitchFamily="34" charset="0"/>
                <a:ea typeface="Inter" pitchFamily="34" charset="-122"/>
                <a:cs typeface="Inter" pitchFamily="34" charset="-120"/>
              </a:rPr>
              <a:t>本部分将系统性介绍开源人士的定义边界、常见类型划分以及全球范围内的数据分布，为后续深入讨论动机与文化奠定事实基础。</a:t>
            </a:r>
            <a:endParaRPr lang="en-US" sz="58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914400" y="-1543050"/>
            <a:ext cx="10972800" cy="6172200"/>
          </a:xfrm>
          <a:prstGeom prst="ellipse">
            <a:avLst/>
          </a:prstGeom>
          <a:gradFill rotWithShape="1">
            <a:gsLst>
              <a:gs pos="0">
                <a:srgbClr val="2196F3">
                  <a:alpha val="6400"/>
                </a:srgbClr>
              </a:gs>
              <a:gs pos="100000">
                <a:srgbClr val="2196F3">
                  <a:alpha val="0"/>
                </a:srgbClr>
              </a:gs>
            </a:gsLst>
            <a:path path="circle">
              <a:fillToRect l="50000" t="50000" r="50000" b="50000"/>
            </a:path>
          </a:gradFill>
          <a:ln/>
        </p:spPr>
      </p:sp>
      <p:sp>
        <p:nvSpPr>
          <p:cNvPr id="3" name="Shape 1"/>
          <p:cNvSpPr/>
          <p:nvPr/>
        </p:nvSpPr>
        <p:spPr>
          <a:xfrm>
            <a:off x="-1828800" y="1543050"/>
            <a:ext cx="9144000" cy="5143500"/>
          </a:xfrm>
          <a:prstGeom prst="ellipse">
            <a:avLst/>
          </a:prstGeom>
          <a:gradFill rotWithShape="1">
            <a:gsLst>
              <a:gs pos="0">
                <a:srgbClr val="00BCD4">
                  <a:alpha val="4000"/>
                </a:srgbClr>
              </a:gs>
              <a:gs pos="100000">
                <a:srgbClr val="00BCD4">
                  <a:alpha val="0"/>
                </a:srgbClr>
              </a:gs>
            </a:gsLst>
            <a:path path="circle">
              <a:fillToRect l="50000" t="50000" r="50000" b="50000"/>
            </a:path>
          </a:gradFill>
          <a:ln/>
        </p:spPr>
      </p:sp>
      <p:sp>
        <p:nvSpPr>
          <p:cNvPr id="4" name="Text 2"/>
          <p:cNvSpPr/>
          <p:nvPr/>
        </p:nvSpPr>
        <p:spPr>
          <a:xfrm>
            <a:off x="342900" y="285750"/>
            <a:ext cx="9473184" cy="246817"/>
          </a:xfrm>
          <a:prstGeom prst="rect">
            <a:avLst/>
          </a:prstGeom>
          <a:noFill/>
          <a:ln/>
        </p:spPr>
        <p:txBody>
          <a:bodyPr wrap="none" rtlCol="0" anchor="ctr"/>
          <a:lstStyle/>
          <a:p>
            <a:pPr algn="l" indent="0" marL="0">
              <a:lnSpc>
                <a:spcPct val="120000"/>
              </a:lnSpc>
              <a:buNone/>
            </a:pPr>
            <a:r>
              <a:rPr lang="en-US" sz="1620" b="1" spc="45" kern="0" dirty="0">
                <a:solidFill>
                  <a:srgbClr val="00BCD4"/>
                </a:solidFill>
                <a:latin typeface="Inter" pitchFamily="34" charset="0"/>
                <a:ea typeface="Inter" pitchFamily="34" charset="-122"/>
                <a:cs typeface="Inter" pitchFamily="34" charset="-120"/>
              </a:rPr>
              <a:t>开源人士的定义与特征</a:t>
            </a:r>
            <a:endParaRPr lang="en-US" sz="1620" dirty="0"/>
          </a:p>
        </p:txBody>
      </p:sp>
      <p:sp>
        <p:nvSpPr>
          <p:cNvPr id="5" name="Shape 3"/>
          <p:cNvSpPr/>
          <p:nvPr/>
        </p:nvSpPr>
        <p:spPr>
          <a:xfrm>
            <a:off x="342900" y="624007"/>
            <a:ext cx="45720" cy="45720"/>
          </a:xfrm>
          <a:prstGeom prst="ellipse">
            <a:avLst/>
          </a:prstGeom>
          <a:solidFill>
            <a:srgbClr val="00BCD4"/>
          </a:solidFill>
          <a:ln/>
          <a:effectLst>
            <a:outerShdw sx="100000" sy="100000" kx="0" ky="0" algn="bl" rotWithShape="0" blurRad="95250" dist="50800" dir="16200000">
              <a:srgbClr val="00BCD4">
                <a:alpha val="100000"/>
              </a:srgbClr>
            </a:outerShdw>
          </a:effectLst>
        </p:spPr>
      </p:sp>
      <p:sp>
        <p:nvSpPr>
          <p:cNvPr id="6" name="Text 4"/>
          <p:cNvSpPr/>
          <p:nvPr/>
        </p:nvSpPr>
        <p:spPr>
          <a:xfrm>
            <a:off x="468630" y="601147"/>
            <a:ext cx="2048256" cy="91440"/>
          </a:xfrm>
          <a:prstGeom prst="rect">
            <a:avLst/>
          </a:prstGeom>
          <a:noFill/>
          <a:ln/>
        </p:spPr>
        <p:txBody>
          <a:bodyPr wrap="none" rtlCol="0" anchor="ctr"/>
          <a:lstStyle/>
          <a:p>
            <a:pPr algn="l" indent="0" marL="0">
              <a:buNone/>
            </a:pPr>
            <a:r>
              <a:rPr lang="en-US" sz="585" spc="90" kern="0" dirty="0">
                <a:solidFill>
                  <a:srgbClr val="B0BEC5"/>
                </a:solidFill>
                <a:latin typeface="Inter" pitchFamily="34" charset="0"/>
                <a:ea typeface="Inter" pitchFamily="34" charset="-122"/>
                <a:cs typeface="Inter" pitchFamily="34" charset="-120"/>
              </a:rPr>
              <a:t>OPEN SOURCE CONTRIBUTOR · PROFILE</a:t>
            </a:r>
            <a:endParaRPr lang="en-US" sz="585" dirty="0"/>
          </a:p>
        </p:txBody>
      </p:sp>
      <p:sp>
        <p:nvSpPr>
          <p:cNvPr id="7" name="Shape 5"/>
          <p:cNvSpPr/>
          <p:nvPr/>
        </p:nvSpPr>
        <p:spPr>
          <a:xfrm>
            <a:off x="342900" y="852607"/>
            <a:ext cx="4126230" cy="523458"/>
          </a:xfrm>
          <a:prstGeom prst="roundRect">
            <a:avLst>
              <a:gd name="adj" fmla="val 13101"/>
            </a:avLst>
          </a:prstGeom>
          <a:solidFill>
            <a:srgbClr val="0F2038"/>
          </a:solidFill>
          <a:ln w="5715">
            <a:solidFill>
              <a:srgbClr val="1E3A5F"/>
            </a:solidFill>
            <a:prstDash val="solid"/>
          </a:ln>
        </p:spPr>
      </p:sp>
      <p:sp>
        <p:nvSpPr>
          <p:cNvPr id="8" name="Shape 6"/>
          <p:cNvSpPr/>
          <p:nvPr/>
        </p:nvSpPr>
        <p:spPr>
          <a:xfrm>
            <a:off x="342900" y="852607"/>
            <a:ext cx="17145" cy="512029"/>
          </a:xfrm>
          <a:prstGeom prst="rect">
            <a:avLst/>
          </a:prstGeom>
          <a:gradFill rotWithShape="1">
            <a:gsLst>
              <a:gs pos="0">
                <a:srgbClr val="2196F3"/>
              </a:gs>
              <a:gs pos="100000">
                <a:srgbClr val="00BCD4"/>
              </a:gs>
            </a:gsLst>
            <a:lin ang="5400000" scaled="0"/>
          </a:gradFill>
          <a:ln/>
        </p:spPr>
      </p:sp>
      <p:sp>
        <p:nvSpPr>
          <p:cNvPr id="9" name="Shape 7"/>
          <p:cNvSpPr/>
          <p:nvPr/>
        </p:nvSpPr>
        <p:spPr>
          <a:xfrm>
            <a:off x="4229100" y="738307"/>
            <a:ext cx="342900" cy="342900"/>
          </a:xfrm>
          <a:prstGeom prst="ellipse">
            <a:avLst/>
          </a:prstGeom>
          <a:gradFill rotWithShape="1">
            <a:gsLst>
              <a:gs pos="0">
                <a:srgbClr val="2196F3">
                  <a:alpha val="6000"/>
                </a:srgbClr>
              </a:gs>
              <a:gs pos="70000">
                <a:srgbClr val="000000">
                  <a:alpha val="0"/>
                </a:srgbClr>
              </a:gs>
            </a:gsLst>
            <a:path path="circle">
              <a:fillToRect l="50000" t="50000" r="50000" b="50000"/>
            </a:path>
          </a:gradFill>
          <a:ln/>
        </p:spPr>
      </p:sp>
      <p:sp>
        <p:nvSpPr>
          <p:cNvPr id="10" name="Text 8"/>
          <p:cNvSpPr/>
          <p:nvPr/>
        </p:nvSpPr>
        <p:spPr>
          <a:xfrm>
            <a:off x="485775" y="961192"/>
            <a:ext cx="400050" cy="171450"/>
          </a:xfrm>
          <a:prstGeom prst="rect">
            <a:avLst/>
          </a:prstGeom>
          <a:noFill/>
          <a:ln/>
        </p:spPr>
        <p:txBody>
          <a:bodyPr wrap="none" lIns="11430" tIns="0" rIns="0" bIns="0" rtlCol="0" anchor="ctr"/>
          <a:lstStyle/>
          <a:p>
            <a:pPr algn="l" indent="0" marL="0">
              <a:lnSpc>
                <a:spcPct val="100000"/>
              </a:lnSpc>
              <a:buNone/>
            </a:pPr>
            <a:r>
              <a:rPr lang="en-US" sz="1260" b="1" dirty="0">
                <a:solidFill>
                  <a:srgbClr val="2196F3">
                    <a:alpha val="15000"/>
                  </a:srgbClr>
                </a:solidFill>
                <a:latin typeface="Inter" pitchFamily="34" charset="0"/>
                <a:ea typeface="Inter" pitchFamily="34" charset="-122"/>
                <a:cs typeface="Inter" pitchFamily="34" charset="-120"/>
              </a:rPr>
              <a:t>01</a:t>
            </a:r>
            <a:endParaRPr lang="en-US" sz="1260" dirty="0"/>
          </a:p>
        </p:txBody>
      </p:sp>
      <p:sp>
        <p:nvSpPr>
          <p:cNvPr id="11" name="Text 9"/>
          <p:cNvSpPr/>
          <p:nvPr/>
        </p:nvSpPr>
        <p:spPr>
          <a:xfrm>
            <a:off x="828675" y="984052"/>
            <a:ext cx="525780" cy="120015"/>
          </a:xfrm>
          <a:prstGeom prst="rect">
            <a:avLst/>
          </a:prstGeom>
          <a:noFill/>
          <a:ln/>
        </p:spPr>
        <p:txBody>
          <a:bodyPr wrap="none" rtlCol="0" anchor="ctr"/>
          <a:lstStyle/>
          <a:p>
            <a:pPr algn="l" indent="0" marL="0">
              <a:buNone/>
            </a:pPr>
            <a:r>
              <a:rPr lang="en-US" sz="810" b="1" spc="23" kern="0" dirty="0">
                <a:solidFill>
                  <a:srgbClr val="2196F3"/>
                </a:solidFill>
                <a:latin typeface="Inter" pitchFamily="34" charset="0"/>
                <a:ea typeface="Inter" pitchFamily="34" charset="-122"/>
                <a:cs typeface="Inter" pitchFamily="34" charset="-120"/>
              </a:rPr>
              <a:t>核心定义</a:t>
            </a:r>
            <a:endParaRPr lang="en-US" sz="810" dirty="0"/>
          </a:p>
        </p:txBody>
      </p:sp>
      <p:sp>
        <p:nvSpPr>
          <p:cNvPr id="12" name="Text 10"/>
          <p:cNvSpPr/>
          <p:nvPr/>
        </p:nvSpPr>
        <p:spPr>
          <a:xfrm>
            <a:off x="828675" y="1144072"/>
            <a:ext cx="3917290" cy="123408"/>
          </a:xfrm>
          <a:prstGeom prst="rect">
            <a:avLst/>
          </a:prstGeom>
          <a:noFill/>
          <a:ln/>
        </p:spPr>
        <p:txBody>
          <a:bodyPr wrap="none" rtlCol="0" anchor="ctr"/>
          <a:lstStyle/>
          <a:p>
            <a:pPr algn="l" indent="0" marL="0">
              <a:lnSpc>
                <a:spcPct val="160000"/>
              </a:lnSpc>
              <a:buNone/>
            </a:pPr>
            <a:r>
              <a:rPr lang="en-US" sz="608" dirty="0">
                <a:solidFill>
                  <a:srgbClr val="B0BEC5"/>
                </a:solidFill>
                <a:latin typeface="Inter" pitchFamily="34" charset="0"/>
                <a:ea typeface="Inter" pitchFamily="34" charset="-122"/>
                <a:cs typeface="Inter" pitchFamily="34" charset="-120"/>
              </a:rPr>
              <a:t>在开源项目中持续贡献代码、文档、社区管理或设计工作的技术参与者。</a:t>
            </a:r>
            <a:endParaRPr lang="en-US" sz="608" dirty="0"/>
          </a:p>
        </p:txBody>
      </p:sp>
      <p:sp>
        <p:nvSpPr>
          <p:cNvPr id="13" name="Shape 11"/>
          <p:cNvSpPr/>
          <p:nvPr/>
        </p:nvSpPr>
        <p:spPr>
          <a:xfrm>
            <a:off x="342900" y="1876038"/>
            <a:ext cx="4126230" cy="523458"/>
          </a:xfrm>
          <a:prstGeom prst="roundRect">
            <a:avLst>
              <a:gd name="adj" fmla="val 13101"/>
            </a:avLst>
          </a:prstGeom>
          <a:solidFill>
            <a:srgbClr val="0F2038"/>
          </a:solidFill>
          <a:ln w="5715">
            <a:solidFill>
              <a:srgbClr val="1E3A5F"/>
            </a:solidFill>
            <a:prstDash val="solid"/>
          </a:ln>
        </p:spPr>
      </p:sp>
      <p:sp>
        <p:nvSpPr>
          <p:cNvPr id="14" name="Shape 12"/>
          <p:cNvSpPr/>
          <p:nvPr/>
        </p:nvSpPr>
        <p:spPr>
          <a:xfrm>
            <a:off x="342900" y="1876038"/>
            <a:ext cx="17145" cy="512029"/>
          </a:xfrm>
          <a:prstGeom prst="rect">
            <a:avLst/>
          </a:prstGeom>
          <a:gradFill rotWithShape="1">
            <a:gsLst>
              <a:gs pos="0">
                <a:srgbClr val="2196F3"/>
              </a:gs>
              <a:gs pos="100000">
                <a:srgbClr val="00BCD4"/>
              </a:gs>
            </a:gsLst>
            <a:lin ang="5400000" scaled="0"/>
          </a:gradFill>
          <a:ln/>
        </p:spPr>
      </p:sp>
      <p:sp>
        <p:nvSpPr>
          <p:cNvPr id="15" name="Shape 13"/>
          <p:cNvSpPr/>
          <p:nvPr/>
        </p:nvSpPr>
        <p:spPr>
          <a:xfrm>
            <a:off x="4229100" y="1761738"/>
            <a:ext cx="342900" cy="342900"/>
          </a:xfrm>
          <a:prstGeom prst="ellipse">
            <a:avLst/>
          </a:prstGeom>
          <a:gradFill rotWithShape="1">
            <a:gsLst>
              <a:gs pos="0">
                <a:srgbClr val="2196F3">
                  <a:alpha val="6000"/>
                </a:srgbClr>
              </a:gs>
              <a:gs pos="70000">
                <a:srgbClr val="000000">
                  <a:alpha val="0"/>
                </a:srgbClr>
              </a:gs>
            </a:gsLst>
            <a:path path="circle">
              <a:fillToRect l="50000" t="50000" r="50000" b="50000"/>
            </a:path>
          </a:gradFill>
          <a:ln/>
        </p:spPr>
      </p:sp>
      <p:sp>
        <p:nvSpPr>
          <p:cNvPr id="16" name="Text 14"/>
          <p:cNvSpPr/>
          <p:nvPr/>
        </p:nvSpPr>
        <p:spPr>
          <a:xfrm>
            <a:off x="485775" y="1984623"/>
            <a:ext cx="400050" cy="171450"/>
          </a:xfrm>
          <a:prstGeom prst="rect">
            <a:avLst/>
          </a:prstGeom>
          <a:noFill/>
          <a:ln/>
        </p:spPr>
        <p:txBody>
          <a:bodyPr wrap="none" lIns="11430" tIns="0" rIns="0" bIns="0" rtlCol="0" anchor="ctr"/>
          <a:lstStyle/>
          <a:p>
            <a:pPr algn="l" indent="0" marL="0">
              <a:lnSpc>
                <a:spcPct val="100000"/>
              </a:lnSpc>
              <a:buNone/>
            </a:pPr>
            <a:r>
              <a:rPr lang="en-US" sz="1260" b="1" dirty="0">
                <a:solidFill>
                  <a:srgbClr val="2196F3">
                    <a:alpha val="15000"/>
                  </a:srgbClr>
                </a:solidFill>
                <a:latin typeface="Inter" pitchFamily="34" charset="0"/>
                <a:ea typeface="Inter" pitchFamily="34" charset="-122"/>
                <a:cs typeface="Inter" pitchFamily="34" charset="-120"/>
              </a:rPr>
              <a:t>02</a:t>
            </a:r>
            <a:endParaRPr lang="en-US" sz="1260" dirty="0"/>
          </a:p>
        </p:txBody>
      </p:sp>
      <p:sp>
        <p:nvSpPr>
          <p:cNvPr id="17" name="Text 15"/>
          <p:cNvSpPr/>
          <p:nvPr/>
        </p:nvSpPr>
        <p:spPr>
          <a:xfrm>
            <a:off x="828675" y="2007483"/>
            <a:ext cx="737235" cy="120015"/>
          </a:xfrm>
          <a:prstGeom prst="rect">
            <a:avLst/>
          </a:prstGeom>
          <a:noFill/>
          <a:ln/>
        </p:spPr>
        <p:txBody>
          <a:bodyPr wrap="none" rtlCol="0" anchor="ctr"/>
          <a:lstStyle/>
          <a:p>
            <a:pPr algn="l" indent="0" marL="0">
              <a:buNone/>
            </a:pPr>
            <a:r>
              <a:rPr lang="en-US" sz="810" b="1" spc="23" kern="0" dirty="0">
                <a:solidFill>
                  <a:srgbClr val="2196F3"/>
                </a:solidFill>
                <a:latin typeface="Inter" pitchFamily="34" charset="0"/>
                <a:ea typeface="Inter" pitchFamily="34" charset="-122"/>
                <a:cs typeface="Inter" pitchFamily="34" charset="-120"/>
              </a:rPr>
              <a:t>参与方式多元</a:t>
            </a:r>
            <a:endParaRPr lang="en-US" sz="810" dirty="0"/>
          </a:p>
        </p:txBody>
      </p:sp>
      <p:sp>
        <p:nvSpPr>
          <p:cNvPr id="18" name="Text 16"/>
          <p:cNvSpPr/>
          <p:nvPr/>
        </p:nvSpPr>
        <p:spPr>
          <a:xfrm>
            <a:off x="828675" y="2167503"/>
            <a:ext cx="3917290" cy="123408"/>
          </a:xfrm>
          <a:prstGeom prst="rect">
            <a:avLst/>
          </a:prstGeom>
          <a:noFill/>
          <a:ln/>
        </p:spPr>
        <p:txBody>
          <a:bodyPr wrap="none" rtlCol="0" anchor="ctr"/>
          <a:lstStyle/>
          <a:p>
            <a:pPr algn="l" indent="0" marL="0">
              <a:lnSpc>
                <a:spcPct val="160000"/>
              </a:lnSpc>
              <a:buNone/>
            </a:pPr>
            <a:r>
              <a:rPr lang="en-US" sz="608" dirty="0">
                <a:solidFill>
                  <a:srgbClr val="B0BEC5"/>
                </a:solidFill>
                <a:latin typeface="Inter" pitchFamily="34" charset="0"/>
                <a:ea typeface="Inter" pitchFamily="34" charset="-122"/>
                <a:cs typeface="Inter" pitchFamily="34" charset="-120"/>
              </a:rPr>
              <a:t>涵盖提交 PR、报告 Issue、撰写文档、翻译本地化、社区运营等多种形态。</a:t>
            </a:r>
            <a:endParaRPr lang="en-US" sz="608" dirty="0"/>
          </a:p>
        </p:txBody>
      </p:sp>
      <p:sp>
        <p:nvSpPr>
          <p:cNvPr id="19" name="Shape 17"/>
          <p:cNvSpPr/>
          <p:nvPr/>
        </p:nvSpPr>
        <p:spPr>
          <a:xfrm>
            <a:off x="342900" y="2899380"/>
            <a:ext cx="4126230" cy="523458"/>
          </a:xfrm>
          <a:prstGeom prst="roundRect">
            <a:avLst>
              <a:gd name="adj" fmla="val 13101"/>
            </a:avLst>
          </a:prstGeom>
          <a:solidFill>
            <a:srgbClr val="0F2038"/>
          </a:solidFill>
          <a:ln w="5715">
            <a:solidFill>
              <a:srgbClr val="1E3A5F"/>
            </a:solidFill>
            <a:prstDash val="solid"/>
          </a:ln>
        </p:spPr>
      </p:sp>
      <p:sp>
        <p:nvSpPr>
          <p:cNvPr id="20" name="Shape 18"/>
          <p:cNvSpPr/>
          <p:nvPr/>
        </p:nvSpPr>
        <p:spPr>
          <a:xfrm>
            <a:off x="342900" y="2899380"/>
            <a:ext cx="17145" cy="512029"/>
          </a:xfrm>
          <a:prstGeom prst="rect">
            <a:avLst/>
          </a:prstGeom>
          <a:gradFill rotWithShape="1">
            <a:gsLst>
              <a:gs pos="0">
                <a:srgbClr val="2196F3"/>
              </a:gs>
              <a:gs pos="100000">
                <a:srgbClr val="00BCD4"/>
              </a:gs>
            </a:gsLst>
            <a:lin ang="5400000" scaled="0"/>
          </a:gradFill>
          <a:ln/>
        </p:spPr>
      </p:sp>
      <p:sp>
        <p:nvSpPr>
          <p:cNvPr id="21" name="Shape 19"/>
          <p:cNvSpPr/>
          <p:nvPr/>
        </p:nvSpPr>
        <p:spPr>
          <a:xfrm>
            <a:off x="4229100" y="2785080"/>
            <a:ext cx="342900" cy="342900"/>
          </a:xfrm>
          <a:prstGeom prst="ellipse">
            <a:avLst/>
          </a:prstGeom>
          <a:gradFill rotWithShape="1">
            <a:gsLst>
              <a:gs pos="0">
                <a:srgbClr val="2196F3">
                  <a:alpha val="6000"/>
                </a:srgbClr>
              </a:gs>
              <a:gs pos="70000">
                <a:srgbClr val="000000">
                  <a:alpha val="0"/>
                </a:srgbClr>
              </a:gs>
            </a:gsLst>
            <a:path path="circle">
              <a:fillToRect l="50000" t="50000" r="50000" b="50000"/>
            </a:path>
          </a:gradFill>
          <a:ln/>
        </p:spPr>
      </p:sp>
      <p:sp>
        <p:nvSpPr>
          <p:cNvPr id="22" name="Text 20"/>
          <p:cNvSpPr/>
          <p:nvPr/>
        </p:nvSpPr>
        <p:spPr>
          <a:xfrm>
            <a:off x="485775" y="3007965"/>
            <a:ext cx="400050" cy="171450"/>
          </a:xfrm>
          <a:prstGeom prst="rect">
            <a:avLst/>
          </a:prstGeom>
          <a:noFill/>
          <a:ln/>
        </p:spPr>
        <p:txBody>
          <a:bodyPr wrap="none" lIns="11430" tIns="0" rIns="0" bIns="0" rtlCol="0" anchor="ctr"/>
          <a:lstStyle/>
          <a:p>
            <a:pPr algn="l" indent="0" marL="0">
              <a:lnSpc>
                <a:spcPct val="100000"/>
              </a:lnSpc>
              <a:buNone/>
            </a:pPr>
            <a:r>
              <a:rPr lang="en-US" sz="1260" b="1" dirty="0">
                <a:solidFill>
                  <a:srgbClr val="2196F3">
                    <a:alpha val="15000"/>
                  </a:srgbClr>
                </a:solidFill>
                <a:latin typeface="Inter" pitchFamily="34" charset="0"/>
                <a:ea typeface="Inter" pitchFamily="34" charset="-122"/>
                <a:cs typeface="Inter" pitchFamily="34" charset="-120"/>
              </a:rPr>
              <a:t>03</a:t>
            </a:r>
            <a:endParaRPr lang="en-US" sz="1260" dirty="0"/>
          </a:p>
        </p:txBody>
      </p:sp>
      <p:sp>
        <p:nvSpPr>
          <p:cNvPr id="23" name="Text 21"/>
          <p:cNvSpPr/>
          <p:nvPr/>
        </p:nvSpPr>
        <p:spPr>
          <a:xfrm>
            <a:off x="828675" y="3030825"/>
            <a:ext cx="525780" cy="120015"/>
          </a:xfrm>
          <a:prstGeom prst="rect">
            <a:avLst/>
          </a:prstGeom>
          <a:noFill/>
          <a:ln/>
        </p:spPr>
        <p:txBody>
          <a:bodyPr wrap="none" rtlCol="0" anchor="ctr"/>
          <a:lstStyle/>
          <a:p>
            <a:pPr algn="l" indent="0" marL="0">
              <a:buNone/>
            </a:pPr>
            <a:r>
              <a:rPr lang="en-US" sz="810" b="1" spc="23" kern="0" dirty="0">
                <a:solidFill>
                  <a:srgbClr val="2196F3"/>
                </a:solidFill>
                <a:latin typeface="Inter" pitchFamily="34" charset="0"/>
                <a:ea typeface="Inter" pitchFamily="34" charset="-122"/>
                <a:cs typeface="Inter" pitchFamily="34" charset="-120"/>
              </a:rPr>
              <a:t>技术驱动</a:t>
            </a:r>
            <a:endParaRPr lang="en-US" sz="810" dirty="0"/>
          </a:p>
        </p:txBody>
      </p:sp>
      <p:sp>
        <p:nvSpPr>
          <p:cNvPr id="24" name="Text 22"/>
          <p:cNvSpPr/>
          <p:nvPr/>
        </p:nvSpPr>
        <p:spPr>
          <a:xfrm>
            <a:off x="828675" y="3190845"/>
            <a:ext cx="3917290" cy="123408"/>
          </a:xfrm>
          <a:prstGeom prst="rect">
            <a:avLst/>
          </a:prstGeom>
          <a:noFill/>
          <a:ln/>
        </p:spPr>
        <p:txBody>
          <a:bodyPr wrap="none" rtlCol="0" anchor="ctr"/>
          <a:lstStyle/>
          <a:p>
            <a:pPr algn="l" indent="0" marL="0">
              <a:lnSpc>
                <a:spcPct val="160000"/>
              </a:lnSpc>
              <a:buNone/>
            </a:pPr>
            <a:r>
              <a:rPr lang="en-US" sz="608" dirty="0">
                <a:solidFill>
                  <a:srgbClr val="B0BEC5"/>
                </a:solidFill>
                <a:latin typeface="Inter" pitchFamily="34" charset="0"/>
                <a:ea typeface="Inter" pitchFamily="34" charset="-122"/>
                <a:cs typeface="Inter" pitchFamily="34" charset="-120"/>
              </a:rPr>
              <a:t>以编程能力为基础，同时兼具协作意识与开源精神认同。</a:t>
            </a:r>
            <a:endParaRPr lang="en-US" sz="608" dirty="0"/>
          </a:p>
        </p:txBody>
      </p:sp>
      <p:sp>
        <p:nvSpPr>
          <p:cNvPr id="25" name="Shape 23"/>
          <p:cNvSpPr/>
          <p:nvPr/>
        </p:nvSpPr>
        <p:spPr>
          <a:xfrm>
            <a:off x="342900" y="3922812"/>
            <a:ext cx="4126230" cy="523458"/>
          </a:xfrm>
          <a:prstGeom prst="roundRect">
            <a:avLst>
              <a:gd name="adj" fmla="val 13101"/>
            </a:avLst>
          </a:prstGeom>
          <a:solidFill>
            <a:srgbClr val="0F2038"/>
          </a:solidFill>
          <a:ln w="5715">
            <a:solidFill>
              <a:srgbClr val="1E3A5F"/>
            </a:solidFill>
            <a:prstDash val="solid"/>
          </a:ln>
        </p:spPr>
      </p:sp>
      <p:sp>
        <p:nvSpPr>
          <p:cNvPr id="26" name="Shape 24"/>
          <p:cNvSpPr/>
          <p:nvPr/>
        </p:nvSpPr>
        <p:spPr>
          <a:xfrm>
            <a:off x="342900" y="3922812"/>
            <a:ext cx="17145" cy="512029"/>
          </a:xfrm>
          <a:prstGeom prst="rect">
            <a:avLst/>
          </a:prstGeom>
          <a:gradFill rotWithShape="1">
            <a:gsLst>
              <a:gs pos="0">
                <a:srgbClr val="2196F3"/>
              </a:gs>
              <a:gs pos="100000">
                <a:srgbClr val="00BCD4"/>
              </a:gs>
            </a:gsLst>
            <a:lin ang="5400000" scaled="0"/>
          </a:gradFill>
          <a:ln/>
        </p:spPr>
      </p:sp>
      <p:sp>
        <p:nvSpPr>
          <p:cNvPr id="27" name="Shape 25"/>
          <p:cNvSpPr/>
          <p:nvPr/>
        </p:nvSpPr>
        <p:spPr>
          <a:xfrm>
            <a:off x="4229100" y="3808512"/>
            <a:ext cx="342900" cy="342900"/>
          </a:xfrm>
          <a:prstGeom prst="ellipse">
            <a:avLst/>
          </a:prstGeom>
          <a:gradFill rotWithShape="1">
            <a:gsLst>
              <a:gs pos="0">
                <a:srgbClr val="2196F3">
                  <a:alpha val="6000"/>
                </a:srgbClr>
              </a:gs>
              <a:gs pos="70000">
                <a:srgbClr val="000000">
                  <a:alpha val="0"/>
                </a:srgbClr>
              </a:gs>
            </a:gsLst>
            <a:path path="circle">
              <a:fillToRect l="50000" t="50000" r="50000" b="50000"/>
            </a:path>
          </a:gradFill>
          <a:ln/>
        </p:spPr>
      </p:sp>
      <p:sp>
        <p:nvSpPr>
          <p:cNvPr id="28" name="Text 26"/>
          <p:cNvSpPr/>
          <p:nvPr/>
        </p:nvSpPr>
        <p:spPr>
          <a:xfrm>
            <a:off x="485775" y="4031397"/>
            <a:ext cx="400050" cy="171450"/>
          </a:xfrm>
          <a:prstGeom prst="rect">
            <a:avLst/>
          </a:prstGeom>
          <a:noFill/>
          <a:ln/>
        </p:spPr>
        <p:txBody>
          <a:bodyPr wrap="none" lIns="11430" tIns="0" rIns="0" bIns="0" rtlCol="0" anchor="ctr"/>
          <a:lstStyle/>
          <a:p>
            <a:pPr algn="l" indent="0" marL="0">
              <a:lnSpc>
                <a:spcPct val="100000"/>
              </a:lnSpc>
              <a:buNone/>
            </a:pPr>
            <a:r>
              <a:rPr lang="en-US" sz="1260" b="1" dirty="0">
                <a:solidFill>
                  <a:srgbClr val="2196F3">
                    <a:alpha val="15000"/>
                  </a:srgbClr>
                </a:solidFill>
                <a:latin typeface="Inter" pitchFamily="34" charset="0"/>
                <a:ea typeface="Inter" pitchFamily="34" charset="-122"/>
                <a:cs typeface="Inter" pitchFamily="34" charset="-120"/>
              </a:rPr>
              <a:t>04</a:t>
            </a:r>
            <a:endParaRPr lang="en-US" sz="1260" dirty="0"/>
          </a:p>
        </p:txBody>
      </p:sp>
      <p:sp>
        <p:nvSpPr>
          <p:cNvPr id="29" name="Text 27"/>
          <p:cNvSpPr/>
          <p:nvPr/>
        </p:nvSpPr>
        <p:spPr>
          <a:xfrm>
            <a:off x="828675" y="4054257"/>
            <a:ext cx="631508" cy="120015"/>
          </a:xfrm>
          <a:prstGeom prst="rect">
            <a:avLst/>
          </a:prstGeom>
          <a:noFill/>
          <a:ln/>
        </p:spPr>
        <p:txBody>
          <a:bodyPr wrap="none" rtlCol="0" anchor="ctr"/>
          <a:lstStyle/>
          <a:p>
            <a:pPr algn="l" indent="0" marL="0">
              <a:buNone/>
            </a:pPr>
            <a:r>
              <a:rPr lang="en-US" sz="810" b="1" spc="23" kern="0" dirty="0">
                <a:solidFill>
                  <a:srgbClr val="2196F3"/>
                </a:solidFill>
                <a:latin typeface="Inter" pitchFamily="34" charset="0"/>
                <a:ea typeface="Inter" pitchFamily="34" charset="-122"/>
                <a:cs typeface="Inter" pitchFamily="34" charset="-120"/>
              </a:rPr>
              <a:t>非全职常态</a:t>
            </a:r>
            <a:endParaRPr lang="en-US" sz="810" dirty="0"/>
          </a:p>
        </p:txBody>
      </p:sp>
      <p:sp>
        <p:nvSpPr>
          <p:cNvPr id="30" name="Text 28"/>
          <p:cNvSpPr/>
          <p:nvPr/>
        </p:nvSpPr>
        <p:spPr>
          <a:xfrm>
            <a:off x="828675" y="4214277"/>
            <a:ext cx="3917290" cy="123408"/>
          </a:xfrm>
          <a:prstGeom prst="rect">
            <a:avLst/>
          </a:prstGeom>
          <a:noFill/>
          <a:ln/>
        </p:spPr>
        <p:txBody>
          <a:bodyPr wrap="none" rtlCol="0" anchor="ctr"/>
          <a:lstStyle/>
          <a:p>
            <a:pPr algn="l" indent="0" marL="0">
              <a:lnSpc>
                <a:spcPct val="160000"/>
              </a:lnSpc>
              <a:buNone/>
            </a:pPr>
            <a:r>
              <a:rPr lang="en-US" sz="608" dirty="0">
                <a:solidFill>
                  <a:srgbClr val="B0BEC5"/>
                </a:solidFill>
                <a:latin typeface="Inter" pitchFamily="34" charset="0"/>
                <a:ea typeface="Inter" pitchFamily="34" charset="-122"/>
                <a:cs typeface="Inter" pitchFamily="34" charset="-120"/>
              </a:rPr>
              <a:t>大多数开源贡献者并非全职从事开源，而是将其作为职业之外的延伸实践。</a:t>
            </a:r>
            <a:endParaRPr lang="en-US" sz="608" dirty="0"/>
          </a:p>
        </p:txBody>
      </p:sp>
      <p:sp>
        <p:nvSpPr>
          <p:cNvPr id="31" name="Shape 29"/>
          <p:cNvSpPr/>
          <p:nvPr/>
        </p:nvSpPr>
        <p:spPr>
          <a:xfrm>
            <a:off x="4674870" y="852607"/>
            <a:ext cx="4126230" cy="3593663"/>
          </a:xfrm>
          <a:prstGeom prst="roundRect">
            <a:avLst>
              <a:gd name="adj" fmla="val 1908"/>
            </a:avLst>
          </a:prstGeom>
          <a:solidFill>
            <a:srgbClr val="0F2038"/>
          </a:solidFill>
          <a:ln w="5715">
            <a:solidFill>
              <a:srgbClr val="1E3A5F"/>
            </a:solidFill>
            <a:prstDash val="solid"/>
          </a:ln>
        </p:spPr>
      </p:sp>
      <p:sp>
        <p:nvSpPr>
          <p:cNvPr id="32" name="Shape 30"/>
          <p:cNvSpPr/>
          <p:nvPr/>
        </p:nvSpPr>
        <p:spPr>
          <a:xfrm>
            <a:off x="4680585" y="858322"/>
            <a:ext cx="4114800" cy="3582233"/>
          </a:xfrm>
          <a:prstGeom prst="rect">
            <a:avLst/>
          </a:prstGeom>
          <a:gradFill rotWithShape="1">
            <a:gsLst>
              <a:gs pos="0">
                <a:srgbClr val="000000">
                  <a:alpha val="4000"/>
                </a:srgbClr>
              </a:gs>
              <a:gs pos="25000">
                <a:srgbClr val="000000">
                  <a:alpha val="0"/>
                </a:srgbClr>
              </a:gs>
              <a:gs pos="50000">
                <a:srgbClr val="000000"/>
              </a:gs>
              <a:gs pos="75000">
                <a:srgbClr val="000000">
                  <a:alpha val="4000"/>
                </a:srgbClr>
              </a:gs>
              <a:gs pos="100000">
                <a:srgbClr val="000000">
                  <a:alpha val="0"/>
                </a:srgbClr>
              </a:gs>
            </a:gsLst>
            <a:lin ang="5400000" scaled="0"/>
          </a:gradFill>
          <a:ln/>
        </p:spPr>
      </p:sp>
      <p:sp>
        <p:nvSpPr>
          <p:cNvPr id="33" name="Text 31"/>
          <p:cNvSpPr/>
          <p:nvPr/>
        </p:nvSpPr>
        <p:spPr>
          <a:xfrm>
            <a:off x="5009733" y="1144875"/>
            <a:ext cx="384048" cy="194310"/>
          </a:xfrm>
          <a:prstGeom prst="rect">
            <a:avLst/>
          </a:prstGeom>
          <a:noFill/>
          <a:ln/>
        </p:spPr>
        <p:txBody>
          <a:bodyPr wrap="none" rtlCol="0" anchor="ctr"/>
          <a:lstStyle/>
          <a:p>
            <a:pPr algn="l" indent="0" marL="0">
              <a:buNone/>
            </a:pPr>
            <a:r>
              <a:rPr lang="en-US" sz="1260" b="1" dirty="0">
                <a:solidFill>
                  <a:srgbClr val="2196F3">
                    <a:alpha val="60000"/>
                  </a:srgbClr>
                </a:solidFill>
                <a:latin typeface="Courier New" pitchFamily="34" charset="0"/>
                <a:ea typeface="Courier New" pitchFamily="34" charset="-122"/>
                <a:cs typeface="Courier New" pitchFamily="34" charset="-120"/>
              </a:rPr>
              <a:t>{'</a:t>
            </a:r>
            <a:endParaRPr lang="en-US" sz="1260" dirty="0"/>
          </a:p>
        </p:txBody>
      </p:sp>
      <p:sp>
        <p:nvSpPr>
          <p:cNvPr id="34" name="Text 32"/>
          <p:cNvSpPr/>
          <p:nvPr/>
        </p:nvSpPr>
        <p:spPr>
          <a:xfrm>
            <a:off x="8198793" y="1395621"/>
            <a:ext cx="301752" cy="148590"/>
          </a:xfrm>
          <a:prstGeom prst="rect">
            <a:avLst/>
          </a:prstGeom>
          <a:noFill/>
          <a:ln/>
        </p:spPr>
        <p:txBody>
          <a:bodyPr wrap="none" rtlCol="0" anchor="ctr"/>
          <a:lstStyle/>
          <a:p>
            <a:pPr algn="l" indent="0" marL="0">
              <a:buNone/>
            </a:pPr>
            <a:r>
              <a:rPr lang="en-US" sz="990" b="1" dirty="0">
                <a:solidFill>
                  <a:srgbClr val="00BCD4">
                    <a:alpha val="50000"/>
                  </a:srgbClr>
                </a:solidFill>
                <a:latin typeface="Courier New" pitchFamily="34" charset="0"/>
                <a:ea typeface="Courier New" pitchFamily="34" charset="-122"/>
                <a:cs typeface="Courier New" pitchFamily="34" charset="-120"/>
              </a:rPr>
              <a:t>//</a:t>
            </a:r>
            <a:endParaRPr lang="en-US" sz="990" dirty="0"/>
          </a:p>
        </p:txBody>
      </p:sp>
      <p:sp>
        <p:nvSpPr>
          <p:cNvPr id="35" name="Text 33"/>
          <p:cNvSpPr/>
          <p:nvPr/>
        </p:nvSpPr>
        <p:spPr>
          <a:xfrm>
            <a:off x="4886325" y="1932920"/>
            <a:ext cx="566928" cy="222885"/>
          </a:xfrm>
          <a:prstGeom prst="rect">
            <a:avLst/>
          </a:prstGeom>
          <a:noFill/>
          <a:ln/>
        </p:spPr>
        <p:txBody>
          <a:bodyPr wrap="none" rtlCol="0" anchor="ctr"/>
          <a:lstStyle/>
          <a:p>
            <a:pPr algn="l" indent="0" marL="0">
              <a:buNone/>
            </a:pPr>
            <a:r>
              <a:rPr lang="en-US" sz="1440" b="1" dirty="0">
                <a:solidFill>
                  <a:srgbClr val="2196F3">
                    <a:alpha val="35000"/>
                  </a:srgbClr>
                </a:solidFill>
                <a:latin typeface="Courier New" pitchFamily="34" charset="0"/>
                <a:ea typeface="Courier New" pitchFamily="34" charset="-122"/>
                <a:cs typeface="Courier New" pitchFamily="34" charset="-120"/>
              </a:rPr>
              <a:t>#!/</a:t>
            </a:r>
            <a:endParaRPr lang="en-US" sz="1440" dirty="0"/>
          </a:p>
        </p:txBody>
      </p:sp>
      <p:sp>
        <p:nvSpPr>
          <p:cNvPr id="36" name="Text 34"/>
          <p:cNvSpPr/>
          <p:nvPr/>
        </p:nvSpPr>
        <p:spPr>
          <a:xfrm>
            <a:off x="8203347" y="3546961"/>
            <a:ext cx="460629" cy="177165"/>
          </a:xfrm>
          <a:prstGeom prst="rect">
            <a:avLst/>
          </a:prstGeom>
          <a:noFill/>
          <a:ln/>
        </p:spPr>
        <p:txBody>
          <a:bodyPr wrap="none" rtlCol="0" anchor="ctr"/>
          <a:lstStyle/>
          <a:p>
            <a:pPr algn="l" indent="0" marL="0">
              <a:buNone/>
            </a:pPr>
            <a:r>
              <a:rPr lang="en-US" sz="1170" b="1" dirty="0">
                <a:solidFill>
                  <a:srgbClr val="00BCD4">
                    <a:alpha val="45000"/>
                  </a:srgbClr>
                </a:solidFill>
                <a:latin typeface="Courier New" pitchFamily="34" charset="0"/>
                <a:ea typeface="Courier New" pitchFamily="34" charset="-122"/>
                <a:cs typeface="Courier New" pitchFamily="34" charset="-120"/>
              </a:rPr>
              <a:t>&lt;/&gt;</a:t>
            </a:r>
            <a:endParaRPr lang="en-US" sz="1170" dirty="0"/>
          </a:p>
        </p:txBody>
      </p:sp>
      <p:sp>
        <p:nvSpPr>
          <p:cNvPr id="37" name="Text 35"/>
          <p:cNvSpPr/>
          <p:nvPr/>
        </p:nvSpPr>
        <p:spPr>
          <a:xfrm>
            <a:off x="5092065" y="3916650"/>
            <a:ext cx="425196" cy="165735"/>
          </a:xfrm>
          <a:prstGeom prst="rect">
            <a:avLst/>
          </a:prstGeom>
          <a:noFill/>
          <a:ln/>
        </p:spPr>
        <p:txBody>
          <a:bodyPr wrap="none" rtlCol="0" anchor="ctr"/>
          <a:lstStyle/>
          <a:p>
            <a:pPr algn="l" indent="0" marL="0">
              <a:buNone/>
            </a:pPr>
            <a:r>
              <a:rPr lang="en-US" sz="1080" b="1" dirty="0">
                <a:solidFill>
                  <a:srgbClr val="2196F3">
                    <a:alpha val="50000"/>
                  </a:srgbClr>
                </a:solidFill>
                <a:latin typeface="Courier New" pitchFamily="34" charset="0"/>
                <a:ea typeface="Courier New" pitchFamily="34" charset="-122"/>
                <a:cs typeface="Courier New" pitchFamily="34" charset="-120"/>
              </a:rPr>
              <a:t>{ }</a:t>
            </a:r>
            <a:endParaRPr lang="en-US" sz="1080" dirty="0"/>
          </a:p>
        </p:txBody>
      </p:sp>
      <p:sp>
        <p:nvSpPr>
          <p:cNvPr id="38" name="Text 36"/>
          <p:cNvSpPr/>
          <p:nvPr/>
        </p:nvSpPr>
        <p:spPr>
          <a:xfrm>
            <a:off x="8452485" y="2470309"/>
            <a:ext cx="274320" cy="137160"/>
          </a:xfrm>
          <a:prstGeom prst="rect">
            <a:avLst/>
          </a:prstGeom>
          <a:noFill/>
          <a:ln/>
        </p:spPr>
        <p:txBody>
          <a:bodyPr wrap="none" rtlCol="0" anchor="ctr"/>
          <a:lstStyle/>
          <a:p>
            <a:pPr algn="l" indent="0" marL="0">
              <a:buNone/>
            </a:pPr>
            <a:r>
              <a:rPr lang="en-US" sz="900" b="1" dirty="0">
                <a:solidFill>
                  <a:srgbClr val="00BCD4">
                    <a:alpha val="40000"/>
                  </a:srgbClr>
                </a:solidFill>
                <a:latin typeface="Courier New" pitchFamily="34" charset="0"/>
                <a:ea typeface="Courier New" pitchFamily="34" charset="-122"/>
                <a:cs typeface="Courier New" pitchFamily="34" charset="-120"/>
              </a:rPr>
              <a:t>&gt;_</a:t>
            </a:r>
            <a:endParaRPr lang="en-US" sz="900" dirty="0"/>
          </a:p>
        </p:txBody>
      </p:sp>
      <p:sp>
        <p:nvSpPr>
          <p:cNvPr id="39" name="Text 37"/>
          <p:cNvSpPr/>
          <p:nvPr/>
        </p:nvSpPr>
        <p:spPr>
          <a:xfrm>
            <a:off x="5297805" y="2828479"/>
            <a:ext cx="502920" cy="120015"/>
          </a:xfrm>
          <a:prstGeom prst="rect">
            <a:avLst/>
          </a:prstGeom>
          <a:noFill/>
          <a:ln/>
        </p:spPr>
        <p:txBody>
          <a:bodyPr wrap="none" rtlCol="0" anchor="ctr"/>
          <a:lstStyle/>
          <a:p>
            <a:pPr algn="l" indent="0" marL="0">
              <a:buNone/>
            </a:pPr>
            <a:r>
              <a:rPr lang="en-US" sz="810" b="1" dirty="0">
                <a:solidFill>
                  <a:srgbClr val="2196F3">
                    <a:alpha val="35000"/>
                  </a:srgbClr>
                </a:solidFill>
                <a:latin typeface="Courier New" pitchFamily="34" charset="0"/>
                <a:ea typeface="Courier New" pitchFamily="34" charset="-122"/>
                <a:cs typeface="Courier New" pitchFamily="34" charset="-120"/>
              </a:rPr>
              <a:t>git push</a:t>
            </a:r>
            <a:endParaRPr lang="en-US" sz="810" dirty="0"/>
          </a:p>
        </p:txBody>
      </p:sp>
      <p:sp>
        <p:nvSpPr>
          <p:cNvPr id="40" name="Text 38"/>
          <p:cNvSpPr/>
          <p:nvPr/>
        </p:nvSpPr>
        <p:spPr>
          <a:xfrm>
            <a:off x="5709285" y="3038237"/>
            <a:ext cx="477774" cy="148590"/>
          </a:xfrm>
          <a:prstGeom prst="rect">
            <a:avLst/>
          </a:prstGeom>
          <a:noFill/>
          <a:ln/>
        </p:spPr>
        <p:txBody>
          <a:bodyPr wrap="none" rtlCol="0" anchor="ctr"/>
          <a:lstStyle/>
          <a:p>
            <a:pPr algn="l" indent="0" marL="0">
              <a:buNone/>
            </a:pPr>
            <a:r>
              <a:rPr lang="en-US" sz="990" b="1" dirty="0">
                <a:solidFill>
                  <a:srgbClr val="00BCD4">
                    <a:alpha val="30000"/>
                  </a:srgbClr>
                </a:solidFill>
                <a:latin typeface="Courier New" pitchFamily="34" charset="0"/>
                <a:ea typeface="Courier New" pitchFamily="34" charset="-122"/>
                <a:cs typeface="Courier New" pitchFamily="34" charset="-120"/>
              </a:rPr>
              <a:t>fn()</a:t>
            </a:r>
            <a:endParaRPr lang="en-US" sz="990" dirty="0"/>
          </a:p>
        </p:txBody>
      </p:sp>
      <p:sp>
        <p:nvSpPr>
          <p:cNvPr id="41" name="Shape 39"/>
          <p:cNvSpPr/>
          <p:nvPr/>
        </p:nvSpPr>
        <p:spPr>
          <a:xfrm>
            <a:off x="5880735" y="1792188"/>
            <a:ext cx="1714500" cy="1714500"/>
          </a:xfrm>
          <a:prstGeom prst="ellipse">
            <a:avLst/>
          </a:prstGeom>
          <a:noFill/>
          <a:ln w="5715">
            <a:solidFill>
              <a:srgbClr val="2196F3">
                <a:alpha val="15000"/>
              </a:srgbClr>
            </a:solidFill>
            <a:prstDash val="solid"/>
          </a:ln>
        </p:spPr>
      </p:sp>
      <p:sp>
        <p:nvSpPr>
          <p:cNvPr id="42" name="Shape 40"/>
          <p:cNvSpPr/>
          <p:nvPr/>
        </p:nvSpPr>
        <p:spPr>
          <a:xfrm>
            <a:off x="6166485" y="2077938"/>
            <a:ext cx="1143000" cy="1143000"/>
          </a:xfrm>
          <a:prstGeom prst="ellipse">
            <a:avLst/>
          </a:prstGeom>
          <a:noFill/>
          <a:ln w="5715">
            <a:solidFill>
              <a:srgbClr val="00BCD4">
                <a:alpha val="12000"/>
              </a:srgbClr>
            </a:solidFill>
            <a:prstDash val="solid"/>
          </a:ln>
        </p:spPr>
      </p:sp>
      <p:sp>
        <p:nvSpPr>
          <p:cNvPr id="43" name="Shape 41"/>
          <p:cNvSpPr/>
          <p:nvPr/>
        </p:nvSpPr>
        <p:spPr>
          <a:xfrm>
            <a:off x="4680585" y="2112050"/>
            <a:ext cx="4114800" cy="5715"/>
          </a:xfrm>
          <a:prstGeom prst="rect">
            <a:avLst/>
          </a:prstGeom>
          <a:gradFill rotWithShape="1">
            <a:gsLst>
              <a:gs pos="0">
                <a:srgbClr val="000000">
                  <a:alpha val="0"/>
                </a:srgbClr>
              </a:gs>
              <a:gs pos="50000">
                <a:srgbClr val="2196F3"/>
              </a:gs>
              <a:gs pos="100000">
                <a:srgbClr val="000000">
                  <a:alpha val="0"/>
                </a:srgbClr>
              </a:gs>
            </a:gsLst>
            <a:lin ang="0" scaled="0"/>
          </a:gradFill>
          <a:ln/>
        </p:spPr>
      </p:sp>
      <p:sp>
        <p:nvSpPr>
          <p:cNvPr id="44" name="Shape 42"/>
          <p:cNvSpPr/>
          <p:nvPr/>
        </p:nvSpPr>
        <p:spPr>
          <a:xfrm>
            <a:off x="4680585" y="3186738"/>
            <a:ext cx="4114800" cy="5715"/>
          </a:xfrm>
          <a:prstGeom prst="rect">
            <a:avLst/>
          </a:prstGeom>
          <a:gradFill rotWithShape="1">
            <a:gsLst>
              <a:gs pos="0">
                <a:srgbClr val="000000">
                  <a:alpha val="0"/>
                </a:srgbClr>
              </a:gs>
              <a:gs pos="50000">
                <a:srgbClr val="2196F3"/>
              </a:gs>
              <a:gs pos="100000">
                <a:srgbClr val="000000">
                  <a:alpha val="0"/>
                </a:srgbClr>
              </a:gs>
            </a:gsLst>
            <a:lin ang="0" scaled="0"/>
          </a:gradFill>
          <a:ln/>
        </p:spPr>
      </p:sp>
      <p:sp>
        <p:nvSpPr>
          <p:cNvPr id="45" name="Shape 43"/>
          <p:cNvSpPr/>
          <p:nvPr/>
        </p:nvSpPr>
        <p:spPr>
          <a:xfrm>
            <a:off x="4680585" y="2649438"/>
            <a:ext cx="4114800" cy="5715"/>
          </a:xfrm>
          <a:prstGeom prst="rect">
            <a:avLst/>
          </a:prstGeom>
          <a:gradFill rotWithShape="1">
            <a:gsLst>
              <a:gs pos="0">
                <a:srgbClr val="000000">
                  <a:alpha val="0"/>
                </a:srgbClr>
              </a:gs>
              <a:gs pos="50000">
                <a:srgbClr val="00BCD4"/>
              </a:gs>
              <a:gs pos="100000">
                <a:srgbClr val="000000">
                  <a:alpha val="0"/>
                </a:srgbClr>
              </a:gs>
            </a:gsLst>
            <a:lin ang="0" scaled="0"/>
          </a:gradFill>
          <a:ln/>
        </p:spPr>
      </p:sp>
      <p:sp>
        <p:nvSpPr>
          <p:cNvPr id="46" name="Shape 44"/>
          <p:cNvSpPr/>
          <p:nvPr/>
        </p:nvSpPr>
        <p:spPr>
          <a:xfrm>
            <a:off x="6212205" y="3664744"/>
            <a:ext cx="182880" cy="274320"/>
          </a:xfrm>
          <a:prstGeom prst="roundRect">
            <a:avLst>
              <a:gd name="adj" fmla="val 50000"/>
            </a:avLst>
          </a:prstGeom>
          <a:gradFill rotWithShape="1">
            <a:gsLst>
              <a:gs pos="0">
                <a:srgbClr val="2196F3">
                  <a:alpha val="40000"/>
                </a:srgbClr>
              </a:gs>
              <a:gs pos="100000">
                <a:srgbClr val="2196F3">
                  <a:alpha val="10000"/>
                </a:srgbClr>
              </a:gs>
            </a:gsLst>
            <a:lin ang="5400000" scaled="0"/>
          </a:gradFill>
          <a:ln w="5715">
            <a:solidFill>
              <a:srgbClr val="2196F3">
                <a:alpha val="30000"/>
              </a:srgbClr>
            </a:solidFill>
            <a:prstDash val="solid"/>
          </a:ln>
        </p:spPr>
      </p:sp>
      <p:sp>
        <p:nvSpPr>
          <p:cNvPr id="47" name="Shape 45"/>
          <p:cNvSpPr/>
          <p:nvPr/>
        </p:nvSpPr>
        <p:spPr>
          <a:xfrm>
            <a:off x="6297930" y="3596164"/>
            <a:ext cx="91440" cy="91440"/>
          </a:xfrm>
          <a:prstGeom prst="ellipse">
            <a:avLst/>
          </a:prstGeom>
          <a:solidFill>
            <a:srgbClr val="2196F3">
              <a:alpha val="40000"/>
            </a:srgbClr>
          </a:solidFill>
          <a:ln w="5715">
            <a:solidFill>
              <a:srgbClr val="2196F3">
                <a:alpha val="50000"/>
              </a:srgbClr>
            </a:solidFill>
            <a:prstDash val="solid"/>
          </a:ln>
        </p:spPr>
      </p:sp>
      <p:sp>
        <p:nvSpPr>
          <p:cNvPr id="48" name="Shape 46"/>
          <p:cNvSpPr/>
          <p:nvPr/>
        </p:nvSpPr>
        <p:spPr>
          <a:xfrm>
            <a:off x="6429375" y="3584734"/>
            <a:ext cx="182880" cy="354330"/>
          </a:xfrm>
          <a:prstGeom prst="roundRect">
            <a:avLst>
              <a:gd name="adj" fmla="val 50000"/>
            </a:avLst>
          </a:prstGeom>
          <a:gradFill rotWithShape="1">
            <a:gsLst>
              <a:gs pos="0">
                <a:srgbClr val="2196F3">
                  <a:alpha val="40000"/>
                </a:srgbClr>
              </a:gs>
              <a:gs pos="100000">
                <a:srgbClr val="2196F3">
                  <a:alpha val="10000"/>
                </a:srgbClr>
              </a:gs>
            </a:gsLst>
            <a:lin ang="5400000" scaled="0"/>
          </a:gradFill>
          <a:ln w="5715">
            <a:solidFill>
              <a:srgbClr val="2196F3">
                <a:alpha val="30000"/>
              </a:srgbClr>
            </a:solidFill>
            <a:prstDash val="solid"/>
          </a:ln>
        </p:spPr>
      </p:sp>
      <p:sp>
        <p:nvSpPr>
          <p:cNvPr id="49" name="Shape 47"/>
          <p:cNvSpPr/>
          <p:nvPr/>
        </p:nvSpPr>
        <p:spPr>
          <a:xfrm>
            <a:off x="6515100" y="3516154"/>
            <a:ext cx="91440" cy="91440"/>
          </a:xfrm>
          <a:prstGeom prst="ellipse">
            <a:avLst/>
          </a:prstGeom>
          <a:solidFill>
            <a:srgbClr val="2196F3">
              <a:alpha val="40000"/>
            </a:srgbClr>
          </a:solidFill>
          <a:ln w="5715">
            <a:solidFill>
              <a:srgbClr val="2196F3">
                <a:alpha val="50000"/>
              </a:srgbClr>
            </a:solidFill>
            <a:prstDash val="solid"/>
          </a:ln>
        </p:spPr>
      </p:sp>
      <p:sp>
        <p:nvSpPr>
          <p:cNvPr id="50" name="Shape 48"/>
          <p:cNvSpPr/>
          <p:nvPr/>
        </p:nvSpPr>
        <p:spPr>
          <a:xfrm>
            <a:off x="6646545" y="3539014"/>
            <a:ext cx="182880" cy="400050"/>
          </a:xfrm>
          <a:prstGeom prst="roundRect">
            <a:avLst>
              <a:gd name="adj" fmla="val 50000"/>
            </a:avLst>
          </a:prstGeom>
          <a:gradFill rotWithShape="1">
            <a:gsLst>
              <a:gs pos="0">
                <a:srgbClr val="00BCD4">
                  <a:alpha val="50000"/>
                </a:srgbClr>
              </a:gs>
              <a:gs pos="100000">
                <a:srgbClr val="00BCD4">
                  <a:alpha val="10000"/>
                </a:srgbClr>
              </a:gs>
            </a:gsLst>
            <a:lin ang="5400000" scaled="0"/>
          </a:gradFill>
          <a:ln w="5715">
            <a:solidFill>
              <a:srgbClr val="00BCD4">
                <a:alpha val="40000"/>
              </a:srgbClr>
            </a:solidFill>
            <a:prstDash val="solid"/>
          </a:ln>
        </p:spPr>
      </p:sp>
      <p:sp>
        <p:nvSpPr>
          <p:cNvPr id="51" name="Shape 49"/>
          <p:cNvSpPr/>
          <p:nvPr/>
        </p:nvSpPr>
        <p:spPr>
          <a:xfrm>
            <a:off x="6732270" y="3470434"/>
            <a:ext cx="91440" cy="91440"/>
          </a:xfrm>
          <a:prstGeom prst="ellipse">
            <a:avLst/>
          </a:prstGeom>
          <a:solidFill>
            <a:srgbClr val="00BCD4">
              <a:alpha val="50000"/>
            </a:srgbClr>
          </a:solidFill>
          <a:ln w="5715">
            <a:solidFill>
              <a:srgbClr val="00BCD4">
                <a:alpha val="60000"/>
              </a:srgbClr>
            </a:solidFill>
            <a:prstDash val="solid"/>
          </a:ln>
        </p:spPr>
      </p:sp>
      <p:sp>
        <p:nvSpPr>
          <p:cNvPr id="52" name="Shape 50"/>
          <p:cNvSpPr/>
          <p:nvPr/>
        </p:nvSpPr>
        <p:spPr>
          <a:xfrm>
            <a:off x="6863715" y="3596164"/>
            <a:ext cx="182880" cy="342900"/>
          </a:xfrm>
          <a:prstGeom prst="roundRect">
            <a:avLst>
              <a:gd name="adj" fmla="val 50000"/>
            </a:avLst>
          </a:prstGeom>
          <a:gradFill rotWithShape="1">
            <a:gsLst>
              <a:gs pos="0">
                <a:srgbClr val="2196F3">
                  <a:alpha val="40000"/>
                </a:srgbClr>
              </a:gs>
              <a:gs pos="100000">
                <a:srgbClr val="2196F3">
                  <a:alpha val="10000"/>
                </a:srgbClr>
              </a:gs>
            </a:gsLst>
            <a:lin ang="5400000" scaled="0"/>
          </a:gradFill>
          <a:ln w="5715">
            <a:solidFill>
              <a:srgbClr val="2196F3">
                <a:alpha val="30000"/>
              </a:srgbClr>
            </a:solidFill>
            <a:prstDash val="solid"/>
          </a:ln>
        </p:spPr>
      </p:sp>
      <p:sp>
        <p:nvSpPr>
          <p:cNvPr id="53" name="Shape 51"/>
          <p:cNvSpPr/>
          <p:nvPr/>
        </p:nvSpPr>
        <p:spPr>
          <a:xfrm>
            <a:off x="6949440" y="3527584"/>
            <a:ext cx="91440" cy="91440"/>
          </a:xfrm>
          <a:prstGeom prst="ellipse">
            <a:avLst/>
          </a:prstGeom>
          <a:solidFill>
            <a:srgbClr val="2196F3">
              <a:alpha val="40000"/>
            </a:srgbClr>
          </a:solidFill>
          <a:ln w="5715">
            <a:solidFill>
              <a:srgbClr val="2196F3">
                <a:alpha val="50000"/>
              </a:srgbClr>
            </a:solidFill>
            <a:prstDash val="solid"/>
          </a:ln>
        </p:spPr>
      </p:sp>
      <p:sp>
        <p:nvSpPr>
          <p:cNvPr id="54" name="Shape 52"/>
          <p:cNvSpPr/>
          <p:nvPr/>
        </p:nvSpPr>
        <p:spPr>
          <a:xfrm>
            <a:off x="7080885" y="3641884"/>
            <a:ext cx="182880" cy="297180"/>
          </a:xfrm>
          <a:prstGeom prst="roundRect">
            <a:avLst>
              <a:gd name="adj" fmla="val 50000"/>
            </a:avLst>
          </a:prstGeom>
          <a:gradFill rotWithShape="1">
            <a:gsLst>
              <a:gs pos="0">
                <a:srgbClr val="2196F3">
                  <a:alpha val="40000"/>
                </a:srgbClr>
              </a:gs>
              <a:gs pos="100000">
                <a:srgbClr val="2196F3">
                  <a:alpha val="10000"/>
                </a:srgbClr>
              </a:gs>
            </a:gsLst>
            <a:lin ang="5400000" scaled="0"/>
          </a:gradFill>
          <a:ln w="5715">
            <a:solidFill>
              <a:srgbClr val="2196F3">
                <a:alpha val="30000"/>
              </a:srgbClr>
            </a:solidFill>
            <a:prstDash val="solid"/>
          </a:ln>
        </p:spPr>
      </p:sp>
      <p:sp>
        <p:nvSpPr>
          <p:cNvPr id="55" name="Shape 53"/>
          <p:cNvSpPr/>
          <p:nvPr/>
        </p:nvSpPr>
        <p:spPr>
          <a:xfrm>
            <a:off x="7166610" y="3573304"/>
            <a:ext cx="91440" cy="91440"/>
          </a:xfrm>
          <a:prstGeom prst="ellipse">
            <a:avLst/>
          </a:prstGeom>
          <a:solidFill>
            <a:srgbClr val="2196F3">
              <a:alpha val="40000"/>
            </a:srgbClr>
          </a:solidFill>
          <a:ln w="5715">
            <a:solidFill>
              <a:srgbClr val="2196F3">
                <a:alpha val="50000"/>
              </a:srgbClr>
            </a:solidFill>
            <a:prstDash val="solid"/>
          </a:ln>
        </p:spPr>
      </p:sp>
      <p:sp>
        <p:nvSpPr>
          <p:cNvPr id="56" name="Text 54"/>
          <p:cNvSpPr/>
          <p:nvPr/>
        </p:nvSpPr>
        <p:spPr>
          <a:xfrm>
            <a:off x="6052185" y="2437983"/>
            <a:ext cx="1536192" cy="80010"/>
          </a:xfrm>
          <a:prstGeom prst="rect">
            <a:avLst/>
          </a:prstGeom>
          <a:noFill/>
          <a:ln/>
        </p:spPr>
        <p:txBody>
          <a:bodyPr wrap="none" rtlCol="0" anchor="ctr"/>
          <a:lstStyle/>
          <a:p>
            <a:pPr algn="ctr" indent="0" marL="0">
              <a:buNone/>
            </a:pPr>
            <a:r>
              <a:rPr lang="en-US" sz="495" spc="135" kern="0" dirty="0">
                <a:solidFill>
                  <a:srgbClr val="00BCD4"/>
                </a:solidFill>
                <a:latin typeface="Inter" pitchFamily="34" charset="0"/>
                <a:ea typeface="Inter" pitchFamily="34" charset="-122"/>
                <a:cs typeface="Inter" pitchFamily="34" charset="-120"/>
              </a:rPr>
              <a:t>OPEN · SOURCE · COMMUNITY</a:t>
            </a:r>
            <a:endParaRPr lang="en-US" sz="495" dirty="0"/>
          </a:p>
        </p:txBody>
      </p:sp>
      <p:sp>
        <p:nvSpPr>
          <p:cNvPr id="57" name="Shape 55"/>
          <p:cNvSpPr/>
          <p:nvPr/>
        </p:nvSpPr>
        <p:spPr>
          <a:xfrm>
            <a:off x="6016734" y="2575143"/>
            <a:ext cx="1442502" cy="285750"/>
          </a:xfrm>
          <a:prstGeom prst="roundRect">
            <a:avLst>
              <a:gd name="adj" fmla="val 16000"/>
            </a:avLst>
          </a:prstGeom>
          <a:solidFill>
            <a:srgbClr val="0F2038">
              <a:alpha val="80000"/>
            </a:srgbClr>
          </a:solidFill>
          <a:ln w="5715">
            <a:solidFill>
              <a:srgbClr val="2196F3">
                <a:alpha val="30000"/>
              </a:srgbClr>
            </a:solidFill>
            <a:prstDash val="solid"/>
          </a:ln>
        </p:spPr>
      </p:sp>
      <p:sp>
        <p:nvSpPr>
          <p:cNvPr id="58" name="Text 56"/>
          <p:cNvSpPr/>
          <p:nvPr/>
        </p:nvSpPr>
        <p:spPr>
          <a:xfrm>
            <a:off x="6148179" y="2638008"/>
            <a:ext cx="1321165" cy="160020"/>
          </a:xfrm>
          <a:prstGeom prst="rect">
            <a:avLst/>
          </a:prstGeom>
          <a:noFill/>
          <a:ln/>
        </p:spPr>
        <p:txBody>
          <a:bodyPr wrap="none" rtlCol="0" anchor="ctr"/>
          <a:lstStyle/>
          <a:p>
            <a:pPr algn="ctr" indent="0" marL="0">
              <a:buNone/>
            </a:pPr>
            <a:r>
              <a:rPr lang="en-US" sz="990" b="1" spc="180" kern="0" dirty="0">
                <a:solidFill>
                  <a:srgbClr val="ECEFF1"/>
                </a:solidFill>
                <a:latin typeface="Courier New" pitchFamily="34" charset="0"/>
                <a:ea typeface="Courier New" pitchFamily="34" charset="-122"/>
                <a:cs typeface="Courier New" pitchFamily="34" charset="-120"/>
              </a:rPr>
              <a:t>&lt;/&gt; { } # //</a:t>
            </a:r>
            <a:endParaRPr lang="en-US" sz="990" dirty="0"/>
          </a:p>
        </p:txBody>
      </p:sp>
      <p:sp>
        <p:nvSpPr>
          <p:cNvPr id="59" name="Shape 57"/>
          <p:cNvSpPr/>
          <p:nvPr/>
        </p:nvSpPr>
        <p:spPr>
          <a:xfrm>
            <a:off x="342900" y="4560570"/>
            <a:ext cx="8458200" cy="354330"/>
          </a:xfrm>
          <a:prstGeom prst="roundRect">
            <a:avLst>
              <a:gd name="adj" fmla="val 12903"/>
            </a:avLst>
          </a:prstGeom>
          <a:solidFill>
            <a:srgbClr val="0F2038"/>
          </a:solidFill>
          <a:ln w="5715">
            <a:solidFill>
              <a:srgbClr val="1E3A5F"/>
            </a:solidFill>
            <a:prstDash val="solid"/>
          </a:ln>
        </p:spPr>
      </p:sp>
      <p:sp>
        <p:nvSpPr>
          <p:cNvPr id="60" name="Shape 58"/>
          <p:cNvSpPr/>
          <p:nvPr/>
        </p:nvSpPr>
        <p:spPr>
          <a:xfrm>
            <a:off x="1830229" y="4646295"/>
            <a:ext cx="182880" cy="182880"/>
          </a:xfrm>
          <a:prstGeom prst="ellipse">
            <a:avLst/>
          </a:prstGeom>
          <a:solidFill>
            <a:srgbClr val="2196F3">
              <a:alpha val="12000"/>
            </a:srgbClr>
          </a:solidFill>
          <a:ln w="5715">
            <a:solidFill>
              <a:srgbClr val="2196F3">
                <a:alpha val="30000"/>
              </a:srgbClr>
            </a:solidFill>
            <a:prstDash val="solid"/>
          </a:ln>
        </p:spPr>
      </p:sp>
      <p:sp>
        <p:nvSpPr>
          <p:cNvPr id="61" name="Text 59"/>
          <p:cNvSpPr/>
          <p:nvPr/>
        </p:nvSpPr>
        <p:spPr>
          <a:xfrm>
            <a:off x="1867376" y="4689158"/>
            <a:ext cx="192024" cy="97155"/>
          </a:xfrm>
          <a:prstGeom prst="rect">
            <a:avLst/>
          </a:prstGeom>
          <a:noFill/>
          <a:ln/>
        </p:spPr>
        <p:txBody>
          <a:bodyPr wrap="none" rtlCol="0" anchor="ctr"/>
          <a:lstStyle/>
          <a:p>
            <a:pPr algn="l" indent="0" marL="0">
              <a:buNone/>
            </a:pPr>
            <a:r>
              <a:rPr lang="en-US" sz="630" b="1" dirty="0">
                <a:solidFill>
                  <a:srgbClr val="2196F3"/>
                </a:solidFill>
                <a:latin typeface="Inter" pitchFamily="34" charset="0"/>
                <a:ea typeface="Inter" pitchFamily="34" charset="-122"/>
                <a:cs typeface="Inter" pitchFamily="34" charset="-120"/>
              </a:rPr>
              <a:t>5+</a:t>
            </a:r>
            <a:endParaRPr lang="en-US" sz="630" dirty="0"/>
          </a:p>
        </p:txBody>
      </p:sp>
      <p:sp>
        <p:nvSpPr>
          <p:cNvPr id="62" name="Text 60"/>
          <p:cNvSpPr/>
          <p:nvPr/>
        </p:nvSpPr>
        <p:spPr>
          <a:xfrm>
            <a:off x="2081689" y="4634865"/>
            <a:ext cx="1152144" cy="205740"/>
          </a:xfrm>
          <a:prstGeom prst="rect">
            <a:avLst/>
          </a:prstGeom>
          <a:noFill/>
          <a:ln/>
        </p:spPr>
        <p:txBody>
          <a:bodyPr wrap="square" rtlCol="0" anchor="ctr"/>
          <a:lstStyle/>
          <a:p>
            <a:pPr algn="l" indent="0" marL="0">
              <a:lnSpc>
                <a:spcPct val="150000"/>
              </a:lnSpc>
              <a:buNone/>
            </a:pPr>
            <a:r>
              <a:rPr lang="en-US" sz="540" b="1" dirty="0">
                <a:solidFill>
                  <a:srgbClr val="ECEFF1"/>
                </a:solidFill>
                <a:latin typeface="Inter" pitchFamily="34" charset="0"/>
                <a:ea typeface="Inter" pitchFamily="34" charset="-122"/>
                <a:cs typeface="Inter" pitchFamily="34" charset="-120"/>
              </a:rPr>
              <a:t>贡献形式达 5+ 种</a:t>
            </a:r>
            <a:pPr algn="l" indent="0" marL="0">
              <a:lnSpc>
                <a:spcPct val="150000"/>
              </a:lnSpc>
              <a:buNone/>
            </a:pPr>
            <a:endParaRPr lang="en-US" sz="540" dirty="0"/>
          </a:p>
          <a:p>
            <a:pPr algn="l" indent="0" marL="0">
              <a:lnSpc>
                <a:spcPct val="150000"/>
              </a:lnSpc>
              <a:buNone/>
            </a:pPr>
            <a:r>
              <a:rPr lang="en-US" sz="540" dirty="0">
                <a:solidFill>
                  <a:srgbClr val="B0BEC5"/>
                </a:solidFill>
                <a:latin typeface="Inter" pitchFamily="34" charset="0"/>
                <a:ea typeface="Inter" pitchFamily="34" charset="-122"/>
                <a:cs typeface="Inter" pitchFamily="34" charset="-120"/>
              </a:rPr>
              <a:t>代码、文档、翻译、运营、设计等</a:t>
            </a:r>
            <a:endParaRPr lang="en-US" sz="540" dirty="0"/>
          </a:p>
        </p:txBody>
      </p:sp>
      <p:sp>
        <p:nvSpPr>
          <p:cNvPr id="63" name="Shape 61"/>
          <p:cNvSpPr/>
          <p:nvPr/>
        </p:nvSpPr>
        <p:spPr>
          <a:xfrm>
            <a:off x="4569143" y="4657725"/>
            <a:ext cx="5715" cy="160020"/>
          </a:xfrm>
          <a:prstGeom prst="rect">
            <a:avLst/>
          </a:prstGeom>
          <a:solidFill>
            <a:srgbClr val="1E3A5F"/>
          </a:solidFill>
          <a:ln/>
        </p:spPr>
      </p:sp>
      <p:sp>
        <p:nvSpPr>
          <p:cNvPr id="64" name="Shape 62"/>
          <p:cNvSpPr/>
          <p:nvPr/>
        </p:nvSpPr>
        <p:spPr>
          <a:xfrm>
            <a:off x="6170771" y="4646295"/>
            <a:ext cx="182880" cy="182880"/>
          </a:xfrm>
          <a:prstGeom prst="ellipse">
            <a:avLst/>
          </a:prstGeom>
          <a:solidFill>
            <a:srgbClr val="2196F3">
              <a:alpha val="12000"/>
            </a:srgbClr>
          </a:solidFill>
          <a:ln w="5715">
            <a:solidFill>
              <a:srgbClr val="2196F3">
                <a:alpha val="30000"/>
              </a:srgbClr>
            </a:solidFill>
            <a:prstDash val="solid"/>
          </a:ln>
        </p:spPr>
      </p:sp>
      <p:sp>
        <p:nvSpPr>
          <p:cNvPr id="65" name="Text 63"/>
          <p:cNvSpPr/>
          <p:nvPr/>
        </p:nvSpPr>
        <p:spPr>
          <a:xfrm>
            <a:off x="6222206" y="4680585"/>
            <a:ext cx="160020" cy="114300"/>
          </a:xfrm>
          <a:prstGeom prst="rect">
            <a:avLst/>
          </a:prstGeom>
          <a:noFill/>
          <a:ln/>
        </p:spPr>
        <p:txBody>
          <a:bodyPr wrap="none" rtlCol="0" anchor="ctr"/>
          <a:lstStyle/>
          <a:p>
            <a:pPr algn="l" indent="0" marL="0">
              <a:buNone/>
            </a:pPr>
            <a:r>
              <a:rPr lang="en-US" sz="630" b="1" dirty="0">
                <a:solidFill>
                  <a:srgbClr val="2196F3"/>
                </a:solidFill>
                <a:latin typeface="Inter" pitchFamily="34" charset="0"/>
                <a:ea typeface="Inter" pitchFamily="34" charset="-122"/>
                <a:cs typeface="Inter" pitchFamily="34" charset="-120"/>
              </a:rPr>
              <a:t>少</a:t>
            </a:r>
            <a:endParaRPr lang="en-US" sz="630" dirty="0"/>
          </a:p>
        </p:txBody>
      </p:sp>
      <p:sp>
        <p:nvSpPr>
          <p:cNvPr id="66" name="Text 64"/>
          <p:cNvSpPr/>
          <p:nvPr/>
        </p:nvSpPr>
        <p:spPr>
          <a:xfrm>
            <a:off x="6422231" y="4634865"/>
            <a:ext cx="844906" cy="205740"/>
          </a:xfrm>
          <a:prstGeom prst="rect">
            <a:avLst/>
          </a:prstGeom>
          <a:noFill/>
          <a:ln/>
        </p:spPr>
        <p:txBody>
          <a:bodyPr wrap="square" rtlCol="0" anchor="ctr"/>
          <a:lstStyle/>
          <a:p>
            <a:pPr algn="l" indent="0" marL="0">
              <a:lnSpc>
                <a:spcPct val="150000"/>
              </a:lnSpc>
              <a:buNone/>
            </a:pPr>
            <a:r>
              <a:rPr lang="en-US" sz="540" b="1" dirty="0">
                <a:solidFill>
                  <a:srgbClr val="ECEFF1"/>
                </a:solidFill>
                <a:latin typeface="Inter" pitchFamily="34" charset="0"/>
                <a:ea typeface="Inter" pitchFamily="34" charset="-122"/>
                <a:cs typeface="Inter" pitchFamily="34" charset="-120"/>
              </a:rPr>
              <a:t>全职占比为少数</a:t>
            </a:r>
            <a:pPr algn="l" indent="0" marL="0">
              <a:lnSpc>
                <a:spcPct val="150000"/>
              </a:lnSpc>
              <a:buNone/>
            </a:pPr>
            <a:endParaRPr lang="en-US" sz="540" dirty="0"/>
          </a:p>
          <a:p>
            <a:pPr algn="l" indent="0" marL="0">
              <a:lnSpc>
                <a:spcPct val="150000"/>
              </a:lnSpc>
              <a:buNone/>
            </a:pPr>
            <a:r>
              <a:rPr lang="en-US" sz="540" dirty="0">
                <a:solidFill>
                  <a:srgbClr val="B0BEC5"/>
                </a:solidFill>
                <a:latin typeface="Inter" pitchFamily="34" charset="0"/>
                <a:ea typeface="Inter" pitchFamily="34" charset="-122"/>
                <a:cs typeface="Inter" pitchFamily="34" charset="-120"/>
              </a:rPr>
              <a:t>多数为业余或半业余参与</a:t>
            </a:r>
            <a:endParaRPr lang="en-US" sz="54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196F3">
              <a:alpha val="18000"/>
            </a:srgbClr>
          </a:solidFill>
          <a:ln/>
        </p:spPr>
      </p:sp>
      <p:sp>
        <p:nvSpPr>
          <p:cNvPr id="3" name="Shape 1"/>
          <p:cNvSpPr/>
          <p:nvPr/>
        </p:nvSpPr>
        <p:spPr>
          <a:xfrm>
            <a:off x="0" y="0"/>
            <a:ext cx="9144000" cy="5143500"/>
          </a:xfrm>
          <a:prstGeom prst="rect">
            <a:avLst/>
          </a:prstGeom>
          <a:gradFill rotWithShape="1">
            <a:gsLst>
              <a:gs pos="0">
                <a:srgbClr val="000000">
                  <a:alpha val="5000"/>
                </a:srgbClr>
              </a:gs>
              <a:gs pos="25000">
                <a:srgbClr val="000000">
                  <a:alpha val="0"/>
                </a:srgbClr>
              </a:gs>
              <a:gs pos="50000">
                <a:srgbClr val="000000"/>
              </a:gs>
              <a:gs pos="75000">
                <a:srgbClr val="000000">
                  <a:alpha val="5000"/>
                </a:srgbClr>
              </a:gs>
              <a:gs pos="100000">
                <a:srgbClr val="000000">
                  <a:alpha val="0"/>
                </a:srgbClr>
              </a:gs>
            </a:gsLst>
            <a:lin ang="5400000" scaled="0"/>
          </a:gradFill>
          <a:ln/>
        </p:spPr>
      </p:sp>
      <p:sp>
        <p:nvSpPr>
          <p:cNvPr id="4" name="Shape 2"/>
          <p:cNvSpPr/>
          <p:nvPr/>
        </p:nvSpPr>
        <p:spPr>
          <a:xfrm>
            <a:off x="320040" y="251460"/>
            <a:ext cx="28575" cy="205740"/>
          </a:xfrm>
          <a:prstGeom prst="roundRect">
            <a:avLst>
              <a:gd name="adj" fmla="val 60000"/>
            </a:avLst>
          </a:prstGeom>
          <a:gradFill rotWithShape="1">
            <a:gsLst>
              <a:gs pos="0">
                <a:srgbClr val="2196F3"/>
              </a:gs>
              <a:gs pos="100000">
                <a:srgbClr val="00BCD4"/>
              </a:gs>
            </a:gsLst>
            <a:lin ang="5400000" scaled="0"/>
          </a:gradFill>
          <a:ln/>
        </p:spPr>
      </p:sp>
      <p:sp>
        <p:nvSpPr>
          <p:cNvPr id="5" name="Text 3"/>
          <p:cNvSpPr/>
          <p:nvPr/>
        </p:nvSpPr>
        <p:spPr>
          <a:xfrm>
            <a:off x="440055" y="240030"/>
            <a:ext cx="1320165" cy="228600"/>
          </a:xfrm>
          <a:prstGeom prst="rect">
            <a:avLst/>
          </a:prstGeom>
          <a:noFill/>
          <a:ln/>
        </p:spPr>
        <p:txBody>
          <a:bodyPr wrap="none" rtlCol="0" anchor="ctr"/>
          <a:lstStyle/>
          <a:p>
            <a:pPr algn="l" indent="0" marL="0">
              <a:buNone/>
            </a:pPr>
            <a:r>
              <a:rPr lang="en-US" sz="1260" b="1" spc="45" kern="0" dirty="0">
                <a:solidFill>
                  <a:srgbClr val="E8F0FA"/>
                </a:solidFill>
                <a:latin typeface="Inter" pitchFamily="34" charset="0"/>
                <a:ea typeface="Inter" pitchFamily="34" charset="-122"/>
                <a:cs typeface="Inter" pitchFamily="34" charset="-120"/>
              </a:rPr>
              <a:t>贡献者类型分层</a:t>
            </a:r>
            <a:endParaRPr lang="en-US" sz="1260" dirty="0"/>
          </a:p>
        </p:txBody>
      </p:sp>
      <p:sp>
        <p:nvSpPr>
          <p:cNvPr id="6" name="Shape 4"/>
          <p:cNvSpPr/>
          <p:nvPr/>
        </p:nvSpPr>
        <p:spPr>
          <a:xfrm>
            <a:off x="7338060" y="331470"/>
            <a:ext cx="45720" cy="45720"/>
          </a:xfrm>
          <a:prstGeom prst="ellipse">
            <a:avLst/>
          </a:prstGeom>
          <a:solidFill>
            <a:srgbClr val="00BCD4"/>
          </a:solidFill>
          <a:ln/>
          <a:effectLst>
            <a:outerShdw sx="100000" sy="100000" kx="0" ky="0" algn="bl" rotWithShape="0" blurRad="114300" dist="50800" dir="16200000">
              <a:srgbClr val="00BCD4">
                <a:alpha val="100000"/>
              </a:srgbClr>
            </a:outerShdw>
          </a:effectLst>
        </p:spPr>
      </p:sp>
      <p:sp>
        <p:nvSpPr>
          <p:cNvPr id="7" name="Text 5"/>
          <p:cNvSpPr/>
          <p:nvPr/>
        </p:nvSpPr>
        <p:spPr>
          <a:xfrm>
            <a:off x="7440930" y="311468"/>
            <a:ext cx="1548994" cy="85725"/>
          </a:xfrm>
          <a:prstGeom prst="rect">
            <a:avLst/>
          </a:prstGeom>
          <a:noFill/>
          <a:ln/>
        </p:spPr>
        <p:txBody>
          <a:bodyPr wrap="none" rtlCol="0" anchor="ctr"/>
          <a:lstStyle/>
          <a:p>
            <a:pPr algn="l" indent="0" marL="0">
              <a:buNone/>
            </a:pPr>
            <a:r>
              <a:rPr lang="en-US" sz="540" spc="90" kern="0" dirty="0">
                <a:solidFill>
                  <a:srgbClr val="5A7A9E"/>
                </a:solidFill>
                <a:latin typeface="Inter" pitchFamily="34" charset="0"/>
                <a:ea typeface="Inter" pitchFamily="34" charset="-122"/>
                <a:cs typeface="Inter" pitchFamily="34" charset="-120"/>
              </a:rPr>
              <a:t>CONTRIBUTOR STRATIFICATION</a:t>
            </a:r>
            <a:endParaRPr lang="en-US" sz="540" dirty="0"/>
          </a:p>
        </p:txBody>
      </p:sp>
      <p:sp>
        <p:nvSpPr>
          <p:cNvPr id="8" name="Shape 6"/>
          <p:cNvSpPr/>
          <p:nvPr/>
        </p:nvSpPr>
        <p:spPr>
          <a:xfrm>
            <a:off x="320040" y="582930"/>
            <a:ext cx="2514600" cy="4183380"/>
          </a:xfrm>
          <a:prstGeom prst="roundRect">
            <a:avLst>
              <a:gd name="adj" fmla="val 2727"/>
            </a:avLst>
          </a:prstGeom>
          <a:gradFill rotWithShape="1">
            <a:gsLst>
              <a:gs pos="0">
                <a:srgbClr val="0D2240"/>
              </a:gs>
              <a:gs pos="100000">
                <a:srgbClr val="0B1A30"/>
              </a:gs>
            </a:gsLst>
            <a:lin ang="5400000" scaled="0"/>
          </a:gradFill>
          <a:ln w="5715">
            <a:solidFill>
              <a:srgbClr val="1C3558"/>
            </a:solidFill>
            <a:prstDash val="solid"/>
          </a:ln>
        </p:spPr>
      </p:sp>
      <p:sp>
        <p:nvSpPr>
          <p:cNvPr id="9" name="Shape 7"/>
          <p:cNvSpPr/>
          <p:nvPr/>
        </p:nvSpPr>
        <p:spPr>
          <a:xfrm>
            <a:off x="320040" y="582930"/>
            <a:ext cx="2503170" cy="5715"/>
          </a:xfrm>
          <a:prstGeom prst="rect">
            <a:avLst/>
          </a:prstGeom>
          <a:gradFill rotWithShape="1">
            <a:gsLst>
              <a:gs pos="0">
                <a:srgbClr val="000000">
                  <a:alpha val="0"/>
                </a:srgbClr>
              </a:gs>
              <a:gs pos="50000">
                <a:srgbClr val="2196F3"/>
              </a:gs>
              <a:gs pos="100000">
                <a:srgbClr val="000000">
                  <a:alpha val="0"/>
                </a:srgbClr>
              </a:gs>
            </a:gsLst>
            <a:lin ang="0" scaled="0"/>
          </a:gradFill>
          <a:ln/>
        </p:spPr>
      </p:sp>
      <p:sp>
        <p:nvSpPr>
          <p:cNvPr id="10" name="Text 8"/>
          <p:cNvSpPr/>
          <p:nvPr/>
        </p:nvSpPr>
        <p:spPr>
          <a:xfrm>
            <a:off x="428625" y="694373"/>
            <a:ext cx="567750" cy="108585"/>
          </a:xfrm>
          <a:prstGeom prst="rect">
            <a:avLst/>
          </a:prstGeom>
          <a:noFill/>
          <a:ln/>
        </p:spPr>
        <p:txBody>
          <a:bodyPr wrap="none" rtlCol="0" anchor="ctr"/>
          <a:lstStyle/>
          <a:p>
            <a:pPr algn="l" indent="0" marL="0">
              <a:buNone/>
            </a:pPr>
            <a:r>
              <a:rPr lang="en-US" sz="585" spc="45" kern="0" dirty="0">
                <a:solidFill>
                  <a:srgbClr val="00BCD4"/>
                </a:solidFill>
                <a:latin typeface="Inter" pitchFamily="34" charset="0"/>
                <a:ea typeface="Inter" pitchFamily="34" charset="-122"/>
                <a:cs typeface="Inter" pitchFamily="34" charset="-120"/>
              </a:rPr>
              <a:t>● 金字塔结构</a:t>
            </a:r>
            <a:endParaRPr lang="en-US" sz="585" dirty="0"/>
          </a:p>
        </p:txBody>
      </p:sp>
      <p:sp>
        <p:nvSpPr>
          <p:cNvPr id="11" name="Shape 9"/>
          <p:cNvSpPr/>
          <p:nvPr/>
        </p:nvSpPr>
        <p:spPr>
          <a:xfrm>
            <a:off x="2314575" y="691515"/>
            <a:ext cx="411480" cy="114300"/>
          </a:xfrm>
          <a:prstGeom prst="roundRect">
            <a:avLst>
              <a:gd name="adj" fmla="val 50000"/>
            </a:avLst>
          </a:prstGeom>
          <a:noFill/>
          <a:ln w="5715">
            <a:solidFill>
              <a:srgbClr val="00BCD4"/>
            </a:solidFill>
            <a:prstDash val="solid"/>
          </a:ln>
        </p:spPr>
      </p:sp>
      <p:sp>
        <p:nvSpPr>
          <p:cNvPr id="12" name="Text 10"/>
          <p:cNvSpPr/>
          <p:nvPr/>
        </p:nvSpPr>
        <p:spPr>
          <a:xfrm>
            <a:off x="2314575" y="691515"/>
            <a:ext cx="468630" cy="114300"/>
          </a:xfrm>
          <a:prstGeom prst="rect">
            <a:avLst/>
          </a:prstGeom>
          <a:noFill/>
          <a:ln/>
        </p:spPr>
        <p:txBody>
          <a:bodyPr wrap="square" lIns="17145" tIns="51435" rIns="51435" bIns="17145" rtlCol="0" anchor="ctr"/>
          <a:lstStyle/>
          <a:p>
            <a:pPr algn="l" indent="0" marL="0">
              <a:buNone/>
            </a:pPr>
            <a:r>
              <a:rPr lang="en-US" sz="450" spc="45" kern="0" dirty="0">
                <a:solidFill>
                  <a:srgbClr val="00BCD4"/>
                </a:solidFill>
                <a:latin typeface="Inter" pitchFamily="34" charset="0"/>
                <a:ea typeface="Inter" pitchFamily="34" charset="-122"/>
                <a:cs typeface="Inter" pitchFamily="34" charset="-120"/>
              </a:rPr>
              <a:t>PYRAMID</a:t>
            </a:r>
            <a:endParaRPr lang="en-US" sz="450" dirty="0"/>
          </a:p>
        </p:txBody>
      </p:sp>
      <p:sp>
        <p:nvSpPr>
          <p:cNvPr id="13" name="Shape 11"/>
          <p:cNvSpPr/>
          <p:nvPr/>
        </p:nvSpPr>
        <p:spPr>
          <a:xfrm>
            <a:off x="1148715" y="1983105"/>
            <a:ext cx="857250" cy="320040"/>
          </a:xfrm>
          <a:prstGeom prst="rect">
            <a:avLst/>
          </a:prstGeom>
          <a:gradFill rotWithShape="1">
            <a:gsLst>
              <a:gs pos="0">
                <a:srgbClr val="E040FB"/>
              </a:gs>
              <a:gs pos="100000">
                <a:srgbClr val="2196F3"/>
              </a:gs>
            </a:gsLst>
            <a:lin ang="2700000" scaled="0"/>
          </a:gradFill>
          <a:ln/>
        </p:spPr>
      </p:sp>
      <p:sp>
        <p:nvSpPr>
          <p:cNvPr id="14" name="Text 12"/>
          <p:cNvSpPr/>
          <p:nvPr/>
        </p:nvSpPr>
        <p:spPr>
          <a:xfrm>
            <a:off x="1384459" y="2128838"/>
            <a:ext cx="460058" cy="108585"/>
          </a:xfrm>
          <a:prstGeom prst="rect">
            <a:avLst/>
          </a:prstGeom>
          <a:noFill/>
          <a:ln/>
        </p:spPr>
        <p:txBody>
          <a:bodyPr wrap="none" rtlCol="0" anchor="ctr"/>
          <a:lstStyle/>
          <a:p>
            <a:pPr algn="l" indent="0" marL="0">
              <a:buNone/>
            </a:pPr>
            <a:r>
              <a:rPr lang="en-US" sz="585" spc="23" kern="0" dirty="0">
                <a:solidFill>
                  <a:srgbClr val="FFFFFF"/>
                </a:solidFill>
                <a:latin typeface="Inter" pitchFamily="34" charset="0"/>
                <a:ea typeface="Inter" pitchFamily="34" charset="-122"/>
                <a:cs typeface="Inter" pitchFamily="34" charset="-120"/>
              </a:rPr>
              <a:t>核心维护者</a:t>
            </a:r>
            <a:endParaRPr lang="en-US" sz="585" dirty="0"/>
          </a:p>
        </p:txBody>
      </p:sp>
      <p:sp>
        <p:nvSpPr>
          <p:cNvPr id="15" name="Shape 13"/>
          <p:cNvSpPr/>
          <p:nvPr/>
        </p:nvSpPr>
        <p:spPr>
          <a:xfrm>
            <a:off x="920115" y="2343150"/>
            <a:ext cx="1314450" cy="342900"/>
          </a:xfrm>
          <a:prstGeom prst="rect">
            <a:avLst/>
          </a:prstGeom>
          <a:gradFill rotWithShape="1">
            <a:gsLst>
              <a:gs pos="0">
                <a:srgbClr val="42A5F5"/>
              </a:gs>
              <a:gs pos="100000">
                <a:srgbClr val="1565C0"/>
              </a:gs>
            </a:gsLst>
            <a:lin ang="2700000" scaled="0"/>
          </a:gradFill>
          <a:ln/>
        </p:spPr>
      </p:sp>
      <p:sp>
        <p:nvSpPr>
          <p:cNvPr id="16" name="Text 14"/>
          <p:cNvSpPr/>
          <p:nvPr/>
        </p:nvSpPr>
        <p:spPr>
          <a:xfrm>
            <a:off x="1370171" y="2457450"/>
            <a:ext cx="494348" cy="114300"/>
          </a:xfrm>
          <a:prstGeom prst="rect">
            <a:avLst/>
          </a:prstGeom>
          <a:noFill/>
          <a:ln/>
        </p:spPr>
        <p:txBody>
          <a:bodyPr wrap="none" rtlCol="0" anchor="ctr"/>
          <a:lstStyle/>
          <a:p>
            <a:pPr algn="l" indent="0" marL="0">
              <a:buNone/>
            </a:pPr>
            <a:r>
              <a:rPr lang="en-US" sz="630" spc="23" kern="0" dirty="0">
                <a:solidFill>
                  <a:srgbClr val="FFFFFF"/>
                </a:solidFill>
                <a:latin typeface="Inter" pitchFamily="34" charset="0"/>
                <a:ea typeface="Inter" pitchFamily="34" charset="-122"/>
                <a:cs typeface="Inter" pitchFamily="34" charset="-120"/>
              </a:rPr>
              <a:t>活跃贡献者</a:t>
            </a:r>
            <a:endParaRPr lang="en-US" sz="630" dirty="0"/>
          </a:p>
        </p:txBody>
      </p:sp>
      <p:sp>
        <p:nvSpPr>
          <p:cNvPr id="17" name="Shape 15"/>
          <p:cNvSpPr/>
          <p:nvPr/>
        </p:nvSpPr>
        <p:spPr>
          <a:xfrm>
            <a:off x="691515" y="2714625"/>
            <a:ext cx="1771650" cy="342900"/>
          </a:xfrm>
          <a:prstGeom prst="rect">
            <a:avLst/>
          </a:prstGeom>
          <a:gradFill rotWithShape="1">
            <a:gsLst>
              <a:gs pos="0">
                <a:srgbClr val="00BCD4"/>
              </a:gs>
              <a:gs pos="100000">
                <a:srgbClr val="00778A"/>
              </a:gs>
            </a:gsLst>
            <a:lin ang="2700000" scaled="0"/>
          </a:gradFill>
          <a:ln/>
        </p:spPr>
      </p:sp>
      <p:sp>
        <p:nvSpPr>
          <p:cNvPr id="18" name="Text 16"/>
          <p:cNvSpPr/>
          <p:nvPr/>
        </p:nvSpPr>
        <p:spPr>
          <a:xfrm>
            <a:off x="1370171" y="2828925"/>
            <a:ext cx="494348" cy="114300"/>
          </a:xfrm>
          <a:prstGeom prst="rect">
            <a:avLst/>
          </a:prstGeom>
          <a:noFill/>
          <a:ln/>
        </p:spPr>
        <p:txBody>
          <a:bodyPr wrap="none" rtlCol="0" anchor="ctr"/>
          <a:lstStyle/>
          <a:p>
            <a:pPr algn="l" indent="0" marL="0">
              <a:buNone/>
            </a:pPr>
            <a:r>
              <a:rPr lang="en-US" sz="630" spc="23" kern="0" dirty="0">
                <a:solidFill>
                  <a:srgbClr val="FFFFFF"/>
                </a:solidFill>
                <a:latin typeface="Inter" pitchFamily="34" charset="0"/>
                <a:ea typeface="Inter" pitchFamily="34" charset="-122"/>
                <a:cs typeface="Inter" pitchFamily="34" charset="-120"/>
              </a:rPr>
              <a:t>偶尔参与者</a:t>
            </a:r>
            <a:endParaRPr lang="en-US" sz="630" dirty="0"/>
          </a:p>
        </p:txBody>
      </p:sp>
      <p:sp>
        <p:nvSpPr>
          <p:cNvPr id="19" name="Shape 17"/>
          <p:cNvSpPr/>
          <p:nvPr/>
        </p:nvSpPr>
        <p:spPr>
          <a:xfrm>
            <a:off x="462915" y="3086100"/>
            <a:ext cx="2228850" cy="342900"/>
          </a:xfrm>
          <a:prstGeom prst="rect">
            <a:avLst/>
          </a:prstGeom>
          <a:gradFill rotWithShape="1">
            <a:gsLst>
              <a:gs pos="0">
                <a:srgbClr val="1A3A5C"/>
              </a:gs>
              <a:gs pos="100000">
                <a:srgbClr val="0D2240"/>
              </a:gs>
            </a:gsLst>
            <a:lin ang="2700000" scaled="0"/>
          </a:gradFill>
          <a:ln w="5715">
            <a:solidFill>
              <a:srgbClr val="254066"/>
            </a:solidFill>
            <a:prstDash val="solid"/>
          </a:ln>
        </p:spPr>
      </p:sp>
      <p:sp>
        <p:nvSpPr>
          <p:cNvPr id="20" name="Text 18"/>
          <p:cNvSpPr/>
          <p:nvPr/>
        </p:nvSpPr>
        <p:spPr>
          <a:xfrm>
            <a:off x="1391603" y="3203258"/>
            <a:ext cx="442913" cy="108585"/>
          </a:xfrm>
          <a:prstGeom prst="rect">
            <a:avLst/>
          </a:prstGeom>
          <a:noFill/>
          <a:ln/>
        </p:spPr>
        <p:txBody>
          <a:bodyPr wrap="none" rtlCol="0" anchor="ctr"/>
          <a:lstStyle/>
          <a:p>
            <a:pPr algn="l" indent="0" marL="0">
              <a:buNone/>
            </a:pPr>
            <a:r>
              <a:rPr lang="en-US" sz="563" dirty="0">
                <a:solidFill>
                  <a:srgbClr val="8AA4C4"/>
                </a:solidFill>
                <a:latin typeface="Inter" pitchFamily="34" charset="0"/>
                <a:ea typeface="Inter" pitchFamily="34" charset="-122"/>
                <a:cs typeface="Inter" pitchFamily="34" charset="-120"/>
              </a:rPr>
              <a:t>社区观察者</a:t>
            </a:r>
            <a:endParaRPr lang="en-US" sz="563" dirty="0"/>
          </a:p>
        </p:txBody>
      </p:sp>
      <p:sp>
        <p:nvSpPr>
          <p:cNvPr id="21" name="Text 19"/>
          <p:cNvSpPr/>
          <p:nvPr/>
        </p:nvSpPr>
        <p:spPr>
          <a:xfrm>
            <a:off x="462915" y="4583430"/>
            <a:ext cx="300038" cy="85725"/>
          </a:xfrm>
          <a:prstGeom prst="rect">
            <a:avLst/>
          </a:prstGeom>
          <a:noFill/>
          <a:ln/>
        </p:spPr>
        <p:txBody>
          <a:bodyPr wrap="none" rtlCol="0" anchor="ctr"/>
          <a:lstStyle/>
          <a:p>
            <a:pPr algn="l" indent="0" marL="0">
              <a:buNone/>
            </a:pPr>
            <a:r>
              <a:rPr lang="en-US" sz="473" dirty="0">
                <a:solidFill>
                  <a:srgbClr val="5A7A9E"/>
                </a:solidFill>
                <a:latin typeface="Inter" pitchFamily="34" charset="0"/>
                <a:ea typeface="Inter" pitchFamily="34" charset="-122"/>
                <a:cs typeface="Inter" pitchFamily="34" charset="-120"/>
              </a:rPr>
              <a:t>↑ 影响力</a:t>
            </a:r>
            <a:endParaRPr lang="en-US" sz="473" dirty="0"/>
          </a:p>
        </p:txBody>
      </p:sp>
      <p:sp>
        <p:nvSpPr>
          <p:cNvPr id="22" name="Shape 20"/>
          <p:cNvSpPr/>
          <p:nvPr/>
        </p:nvSpPr>
        <p:spPr>
          <a:xfrm>
            <a:off x="771525" y="4623435"/>
            <a:ext cx="1669852" cy="5715"/>
          </a:xfrm>
          <a:prstGeom prst="rect">
            <a:avLst/>
          </a:prstGeom>
          <a:gradFill rotWithShape="1">
            <a:gsLst>
              <a:gs pos="0">
                <a:srgbClr val="2196F3"/>
              </a:gs>
              <a:gs pos="100000">
                <a:srgbClr val="00BCD4"/>
              </a:gs>
            </a:gsLst>
            <a:lin ang="0" scaled="0"/>
          </a:gradFill>
          <a:ln/>
        </p:spPr>
      </p:sp>
      <p:sp>
        <p:nvSpPr>
          <p:cNvPr id="23" name="Text 21"/>
          <p:cNvSpPr/>
          <p:nvPr/>
        </p:nvSpPr>
        <p:spPr>
          <a:xfrm>
            <a:off x="2509957" y="4583430"/>
            <a:ext cx="241816" cy="85725"/>
          </a:xfrm>
          <a:prstGeom prst="rect">
            <a:avLst/>
          </a:prstGeom>
          <a:noFill/>
          <a:ln/>
        </p:spPr>
        <p:txBody>
          <a:bodyPr wrap="none" rtlCol="0" anchor="ctr"/>
          <a:lstStyle/>
          <a:p>
            <a:pPr algn="l" indent="0" marL="0">
              <a:buNone/>
            </a:pPr>
            <a:r>
              <a:rPr lang="en-US" sz="473" dirty="0">
                <a:solidFill>
                  <a:srgbClr val="5A7A9E"/>
                </a:solidFill>
                <a:latin typeface="Inter" pitchFamily="34" charset="0"/>
                <a:ea typeface="Inter" pitchFamily="34" charset="-122"/>
                <a:cs typeface="Inter" pitchFamily="34" charset="-120"/>
              </a:rPr>
              <a:t>数量 →</a:t>
            </a:r>
            <a:endParaRPr lang="en-US" sz="473" dirty="0"/>
          </a:p>
        </p:txBody>
      </p:sp>
      <p:sp>
        <p:nvSpPr>
          <p:cNvPr id="24" name="Shape 22"/>
          <p:cNvSpPr/>
          <p:nvPr/>
        </p:nvSpPr>
        <p:spPr>
          <a:xfrm>
            <a:off x="2994660" y="582930"/>
            <a:ext cx="5829300" cy="456128"/>
          </a:xfrm>
          <a:prstGeom prst="roundRect">
            <a:avLst>
              <a:gd name="adj" fmla="val 10024"/>
            </a:avLst>
          </a:prstGeom>
          <a:solidFill>
            <a:srgbClr val="0F1F38"/>
          </a:solidFill>
          <a:ln w="17145">
            <a:solidFill>
              <a:srgbClr val="2196F3"/>
            </a:solidFill>
            <a:prstDash val="solid"/>
          </a:ln>
        </p:spPr>
      </p:sp>
      <p:sp>
        <p:nvSpPr>
          <p:cNvPr id="25" name="Shape 23"/>
          <p:cNvSpPr/>
          <p:nvPr/>
        </p:nvSpPr>
        <p:spPr>
          <a:xfrm>
            <a:off x="3091815" y="634365"/>
            <a:ext cx="240030" cy="240030"/>
          </a:xfrm>
          <a:prstGeom prst="roundRect">
            <a:avLst>
              <a:gd name="adj" fmla="val 19048"/>
            </a:avLst>
          </a:prstGeom>
          <a:gradFill rotWithShape="1">
            <a:gsLst>
              <a:gs pos="0">
                <a:srgbClr val="2196F3"/>
              </a:gs>
              <a:gs pos="100000">
                <a:srgbClr val="00BCD4"/>
              </a:gs>
            </a:gsLst>
            <a:lin ang="2700000" scaled="0"/>
          </a:gradFill>
          <a:ln/>
        </p:spPr>
      </p:sp>
      <p:sp>
        <p:nvSpPr>
          <p:cNvPr id="26" name="Shape 24"/>
          <p:cNvSpPr/>
          <p:nvPr/>
        </p:nvSpPr>
        <p:spPr>
          <a:xfrm>
            <a:off x="3091815" y="634365"/>
            <a:ext cx="240030" cy="240030"/>
          </a:xfrm>
          <a:prstGeom prst="roundRect">
            <a:avLst>
              <a:gd name="adj" fmla="val 19048"/>
            </a:avLst>
          </a:prstGeom>
          <a:gradFill rotWithShape="1">
            <a:gsLst>
              <a:gs pos="50000">
                <a:srgbClr val="000000">
                  <a:alpha val="0"/>
                </a:srgbClr>
              </a:gs>
              <a:gs pos="100000">
                <a:srgbClr val="FFFFFF">
                  <a:alpha val="10000"/>
                </a:srgbClr>
              </a:gs>
            </a:gsLst>
            <a:lin ang="2700000" scaled="0"/>
          </a:gradFill>
          <a:ln/>
        </p:spPr>
      </p:sp>
      <p:sp>
        <p:nvSpPr>
          <p:cNvPr id="27" name="Text 25"/>
          <p:cNvSpPr/>
          <p:nvPr/>
        </p:nvSpPr>
        <p:spPr>
          <a:xfrm>
            <a:off x="3160395" y="697230"/>
            <a:ext cx="219456" cy="114300"/>
          </a:xfrm>
          <a:prstGeom prst="rect">
            <a:avLst/>
          </a:prstGeom>
          <a:noFill/>
          <a:ln/>
        </p:spPr>
        <p:txBody>
          <a:bodyPr wrap="none" rtlCol="0" anchor="ctr"/>
          <a:lstStyle/>
          <a:p>
            <a:pPr algn="l" indent="0" marL="0">
              <a:buNone/>
            </a:pPr>
            <a:r>
              <a:rPr lang="en-US" sz="720" b="1" dirty="0">
                <a:solidFill>
                  <a:srgbClr val="FFFFFF"/>
                </a:solidFill>
                <a:latin typeface="Inter" pitchFamily="34" charset="0"/>
                <a:ea typeface="Inter" pitchFamily="34" charset="-122"/>
                <a:cs typeface="Inter" pitchFamily="34" charset="-120"/>
              </a:rPr>
              <a:t>01</a:t>
            </a:r>
            <a:endParaRPr lang="en-US" sz="720" dirty="0"/>
          </a:p>
        </p:txBody>
      </p:sp>
      <p:sp>
        <p:nvSpPr>
          <p:cNvPr id="28" name="Text 26"/>
          <p:cNvSpPr/>
          <p:nvPr/>
        </p:nvSpPr>
        <p:spPr>
          <a:xfrm>
            <a:off x="3400425" y="634365"/>
            <a:ext cx="482918" cy="120015"/>
          </a:xfrm>
          <a:prstGeom prst="rect">
            <a:avLst/>
          </a:prstGeom>
          <a:noFill/>
          <a:ln/>
        </p:spPr>
        <p:txBody>
          <a:bodyPr wrap="none" rtlCol="0" anchor="ctr"/>
          <a:lstStyle/>
          <a:p>
            <a:pPr algn="l" indent="0" marL="0">
              <a:buNone/>
            </a:pPr>
            <a:r>
              <a:rPr lang="en-US" sz="653" dirty="0">
                <a:solidFill>
                  <a:srgbClr val="E8F0FA"/>
                </a:solidFill>
                <a:latin typeface="Inter" pitchFamily="34" charset="0"/>
                <a:ea typeface="Inter" pitchFamily="34" charset="-122"/>
                <a:cs typeface="Inter" pitchFamily="34" charset="-120"/>
              </a:rPr>
              <a:t>核心维护者</a:t>
            </a:r>
            <a:endParaRPr lang="en-US" sz="653" dirty="0"/>
          </a:p>
        </p:txBody>
      </p:sp>
      <p:sp>
        <p:nvSpPr>
          <p:cNvPr id="29" name="Shape 27"/>
          <p:cNvSpPr/>
          <p:nvPr/>
        </p:nvSpPr>
        <p:spPr>
          <a:xfrm>
            <a:off x="3846195" y="662940"/>
            <a:ext cx="480060" cy="91440"/>
          </a:xfrm>
          <a:prstGeom prst="roundRect">
            <a:avLst>
              <a:gd name="adj" fmla="val 25000"/>
            </a:avLst>
          </a:prstGeom>
          <a:solidFill>
            <a:srgbClr val="00BCD4">
              <a:alpha val="8000"/>
            </a:srgbClr>
          </a:solidFill>
          <a:ln w="5715">
            <a:solidFill>
              <a:srgbClr val="004D5E"/>
            </a:solidFill>
            <a:prstDash val="solid"/>
          </a:ln>
        </p:spPr>
      </p:sp>
      <p:sp>
        <p:nvSpPr>
          <p:cNvPr id="30" name="Text 28"/>
          <p:cNvSpPr/>
          <p:nvPr/>
        </p:nvSpPr>
        <p:spPr>
          <a:xfrm>
            <a:off x="3846195" y="662940"/>
            <a:ext cx="537667" cy="91440"/>
          </a:xfrm>
          <a:prstGeom prst="rect">
            <a:avLst/>
          </a:prstGeom>
          <a:noFill/>
          <a:ln/>
        </p:spPr>
        <p:txBody>
          <a:bodyPr wrap="none" lIns="5715" tIns="40005" rIns="40005" bIns="5715" rtlCol="0" anchor="ctr"/>
          <a:lstStyle/>
          <a:p>
            <a:pPr algn="l" indent="0" marL="0">
              <a:buNone/>
            </a:pPr>
            <a:r>
              <a:rPr lang="en-US" sz="450" spc="23" kern="0" dirty="0">
                <a:solidFill>
                  <a:srgbClr val="00BCD4"/>
                </a:solidFill>
                <a:latin typeface="Inter" pitchFamily="34" charset="0"/>
                <a:ea typeface="Inter" pitchFamily="34" charset="-122"/>
                <a:cs typeface="Inter" pitchFamily="34" charset="-120"/>
              </a:rPr>
              <a:t>MAINTAINER</a:t>
            </a:r>
            <a:endParaRPr lang="en-US" sz="450" dirty="0"/>
          </a:p>
        </p:txBody>
      </p:sp>
      <p:sp>
        <p:nvSpPr>
          <p:cNvPr id="31" name="Text 29"/>
          <p:cNvSpPr/>
          <p:nvPr/>
        </p:nvSpPr>
        <p:spPr>
          <a:xfrm>
            <a:off x="3400425" y="771525"/>
            <a:ext cx="5978347" cy="101798"/>
          </a:xfrm>
          <a:prstGeom prst="rect">
            <a:avLst/>
          </a:prstGeom>
          <a:noFill/>
          <a:ln/>
        </p:spPr>
        <p:txBody>
          <a:bodyPr wrap="none" rtlCol="0" anchor="ctr"/>
          <a:lstStyle/>
          <a:p>
            <a:pPr algn="l" indent="0" marL="0">
              <a:lnSpc>
                <a:spcPct val="155000"/>
              </a:lnSpc>
              <a:buNone/>
            </a:pPr>
            <a:r>
              <a:rPr lang="en-US" sz="518" dirty="0">
                <a:solidFill>
                  <a:srgbClr val="8AA4C4"/>
                </a:solidFill>
                <a:latin typeface="Inter" pitchFamily="34" charset="0"/>
                <a:ea typeface="Inter" pitchFamily="34" charset="-122"/>
                <a:cs typeface="Inter" pitchFamily="34" charset="-120"/>
              </a:rPr>
              <a:t>项目 Owner 或核心 Committer，负责架构决策与方向把控，数量少但影响力大。</a:t>
            </a:r>
            <a:endParaRPr lang="en-US" sz="518" dirty="0"/>
          </a:p>
        </p:txBody>
      </p:sp>
      <p:sp>
        <p:nvSpPr>
          <p:cNvPr id="32" name="Text 30"/>
          <p:cNvSpPr/>
          <p:nvPr/>
        </p:nvSpPr>
        <p:spPr>
          <a:xfrm>
            <a:off x="3400425" y="901898"/>
            <a:ext cx="522923" cy="85725"/>
          </a:xfrm>
          <a:prstGeom prst="rect">
            <a:avLst/>
          </a:prstGeom>
          <a:noFill/>
          <a:ln/>
        </p:spPr>
        <p:txBody>
          <a:bodyPr wrap="square" rtlCol="0" anchor="ctr"/>
          <a:lstStyle/>
          <a:p>
            <a:pPr algn="l" indent="0" marL="0">
              <a:buNone/>
            </a:pPr>
            <a:r>
              <a:rPr lang="en-US" sz="450" spc="23" kern="0" dirty="0">
                <a:solidFill>
                  <a:srgbClr val="5A7A9E"/>
                </a:solidFill>
                <a:latin typeface="Inter" pitchFamily="34" charset="0"/>
                <a:ea typeface="Inter" pitchFamily="34" charset="-122"/>
                <a:cs typeface="Inter" pitchFamily="34" charset="-120"/>
              </a:rPr>
              <a:t>角色权重：极高</a:t>
            </a:r>
            <a:endParaRPr lang="en-US" sz="450" dirty="0"/>
          </a:p>
        </p:txBody>
      </p:sp>
      <p:sp>
        <p:nvSpPr>
          <p:cNvPr id="33" name="Shape 31"/>
          <p:cNvSpPr/>
          <p:nvPr/>
        </p:nvSpPr>
        <p:spPr>
          <a:xfrm>
            <a:off x="3400425" y="933331"/>
            <a:ext cx="22860" cy="22860"/>
          </a:xfrm>
          <a:prstGeom prst="ellipse">
            <a:avLst/>
          </a:prstGeom>
          <a:solidFill>
            <a:srgbClr val="2196F3"/>
          </a:solidFill>
          <a:ln/>
        </p:spPr>
      </p:sp>
      <p:sp>
        <p:nvSpPr>
          <p:cNvPr id="34" name="Text 32"/>
          <p:cNvSpPr/>
          <p:nvPr/>
        </p:nvSpPr>
        <p:spPr>
          <a:xfrm>
            <a:off x="3946208" y="901898"/>
            <a:ext cx="723290" cy="85725"/>
          </a:xfrm>
          <a:prstGeom prst="rect">
            <a:avLst/>
          </a:prstGeom>
          <a:noFill/>
          <a:ln/>
        </p:spPr>
        <p:txBody>
          <a:bodyPr wrap="square" rtlCol="0" anchor="ctr"/>
          <a:lstStyle/>
          <a:p>
            <a:pPr algn="l" indent="0" marL="0">
              <a:buNone/>
            </a:pPr>
            <a:r>
              <a:rPr lang="en-US" sz="450" spc="23" kern="0" dirty="0">
                <a:solidFill>
                  <a:srgbClr val="5A7A9E"/>
                </a:solidFill>
                <a:latin typeface="Inter" pitchFamily="34" charset="0"/>
                <a:ea typeface="Inter" pitchFamily="34" charset="-122"/>
                <a:cs typeface="Inter" pitchFamily="34" charset="-120"/>
              </a:rPr>
              <a:t>决策权限：架构 · 方向</a:t>
            </a:r>
            <a:endParaRPr lang="en-US" sz="450" dirty="0"/>
          </a:p>
        </p:txBody>
      </p:sp>
      <p:sp>
        <p:nvSpPr>
          <p:cNvPr id="35" name="Shape 33"/>
          <p:cNvSpPr/>
          <p:nvPr/>
        </p:nvSpPr>
        <p:spPr>
          <a:xfrm>
            <a:off x="3946208" y="933331"/>
            <a:ext cx="22860" cy="22860"/>
          </a:xfrm>
          <a:prstGeom prst="ellipse">
            <a:avLst/>
          </a:prstGeom>
          <a:solidFill>
            <a:srgbClr val="2196F3"/>
          </a:solidFill>
          <a:ln/>
        </p:spPr>
      </p:sp>
      <p:sp>
        <p:nvSpPr>
          <p:cNvPr id="36" name="Shape 34"/>
          <p:cNvSpPr/>
          <p:nvPr/>
        </p:nvSpPr>
        <p:spPr>
          <a:xfrm>
            <a:off x="2994660" y="1090493"/>
            <a:ext cx="5829300" cy="456128"/>
          </a:xfrm>
          <a:prstGeom prst="roundRect">
            <a:avLst>
              <a:gd name="adj" fmla="val 10024"/>
            </a:avLst>
          </a:prstGeom>
          <a:solidFill>
            <a:srgbClr val="0F1F38"/>
          </a:solidFill>
          <a:ln w="17145">
            <a:solidFill>
              <a:srgbClr val="42A5F5"/>
            </a:solidFill>
            <a:prstDash val="solid"/>
          </a:ln>
        </p:spPr>
      </p:sp>
      <p:sp>
        <p:nvSpPr>
          <p:cNvPr id="37" name="Shape 35"/>
          <p:cNvSpPr/>
          <p:nvPr/>
        </p:nvSpPr>
        <p:spPr>
          <a:xfrm>
            <a:off x="3091815" y="1141928"/>
            <a:ext cx="240030" cy="240030"/>
          </a:xfrm>
          <a:prstGeom prst="roundRect">
            <a:avLst>
              <a:gd name="adj" fmla="val 19048"/>
            </a:avLst>
          </a:prstGeom>
          <a:gradFill rotWithShape="1">
            <a:gsLst>
              <a:gs pos="0">
                <a:srgbClr val="42A5F5"/>
              </a:gs>
              <a:gs pos="100000">
                <a:srgbClr val="1565C0"/>
              </a:gs>
            </a:gsLst>
            <a:lin ang="2700000" scaled="0"/>
          </a:gradFill>
          <a:ln/>
        </p:spPr>
      </p:sp>
      <p:sp>
        <p:nvSpPr>
          <p:cNvPr id="38" name="Shape 36"/>
          <p:cNvSpPr/>
          <p:nvPr/>
        </p:nvSpPr>
        <p:spPr>
          <a:xfrm>
            <a:off x="3091815" y="1141928"/>
            <a:ext cx="240030" cy="240030"/>
          </a:xfrm>
          <a:prstGeom prst="roundRect">
            <a:avLst>
              <a:gd name="adj" fmla="val 19048"/>
            </a:avLst>
          </a:prstGeom>
          <a:gradFill rotWithShape="1">
            <a:gsLst>
              <a:gs pos="50000">
                <a:srgbClr val="000000">
                  <a:alpha val="0"/>
                </a:srgbClr>
              </a:gs>
              <a:gs pos="100000">
                <a:srgbClr val="FFFFFF">
                  <a:alpha val="10000"/>
                </a:srgbClr>
              </a:gs>
            </a:gsLst>
            <a:lin ang="2700000" scaled="0"/>
          </a:gradFill>
          <a:ln/>
        </p:spPr>
      </p:sp>
      <p:sp>
        <p:nvSpPr>
          <p:cNvPr id="39" name="Text 37"/>
          <p:cNvSpPr/>
          <p:nvPr/>
        </p:nvSpPr>
        <p:spPr>
          <a:xfrm>
            <a:off x="3151823" y="1204793"/>
            <a:ext cx="219456" cy="114300"/>
          </a:xfrm>
          <a:prstGeom prst="rect">
            <a:avLst/>
          </a:prstGeom>
          <a:noFill/>
          <a:ln/>
        </p:spPr>
        <p:txBody>
          <a:bodyPr wrap="none" rtlCol="0" anchor="ctr"/>
          <a:lstStyle/>
          <a:p>
            <a:pPr algn="l" indent="0" marL="0">
              <a:buNone/>
            </a:pPr>
            <a:r>
              <a:rPr lang="en-US" sz="720" b="1" dirty="0">
                <a:solidFill>
                  <a:srgbClr val="FFFFFF"/>
                </a:solidFill>
                <a:latin typeface="Inter" pitchFamily="34" charset="0"/>
                <a:ea typeface="Inter" pitchFamily="34" charset="-122"/>
                <a:cs typeface="Inter" pitchFamily="34" charset="-120"/>
              </a:rPr>
              <a:t>02</a:t>
            </a:r>
            <a:endParaRPr lang="en-US" sz="720" dirty="0"/>
          </a:p>
        </p:txBody>
      </p:sp>
      <p:sp>
        <p:nvSpPr>
          <p:cNvPr id="40" name="Text 38"/>
          <p:cNvSpPr/>
          <p:nvPr/>
        </p:nvSpPr>
        <p:spPr>
          <a:xfrm>
            <a:off x="3400425" y="1141928"/>
            <a:ext cx="482918" cy="120015"/>
          </a:xfrm>
          <a:prstGeom prst="rect">
            <a:avLst/>
          </a:prstGeom>
          <a:noFill/>
          <a:ln/>
        </p:spPr>
        <p:txBody>
          <a:bodyPr wrap="none" rtlCol="0" anchor="ctr"/>
          <a:lstStyle/>
          <a:p>
            <a:pPr algn="l" indent="0" marL="0">
              <a:buNone/>
            </a:pPr>
            <a:r>
              <a:rPr lang="en-US" sz="653" dirty="0">
                <a:solidFill>
                  <a:srgbClr val="E8F0FA"/>
                </a:solidFill>
                <a:latin typeface="Inter" pitchFamily="34" charset="0"/>
                <a:ea typeface="Inter" pitchFamily="34" charset="-122"/>
                <a:cs typeface="Inter" pitchFamily="34" charset="-120"/>
              </a:rPr>
              <a:t>活跃贡献者</a:t>
            </a:r>
            <a:endParaRPr lang="en-US" sz="653" dirty="0"/>
          </a:p>
        </p:txBody>
      </p:sp>
      <p:sp>
        <p:nvSpPr>
          <p:cNvPr id="41" name="Shape 39"/>
          <p:cNvSpPr/>
          <p:nvPr/>
        </p:nvSpPr>
        <p:spPr>
          <a:xfrm>
            <a:off x="3846195" y="1170503"/>
            <a:ext cx="320040" cy="91440"/>
          </a:xfrm>
          <a:prstGeom prst="roundRect">
            <a:avLst>
              <a:gd name="adj" fmla="val 25000"/>
            </a:avLst>
          </a:prstGeom>
          <a:solidFill>
            <a:srgbClr val="42A5F5">
              <a:alpha val="8000"/>
            </a:srgbClr>
          </a:solidFill>
          <a:ln w="5715">
            <a:solidFill>
              <a:srgbClr val="1A3A5C"/>
            </a:solidFill>
            <a:prstDash val="solid"/>
          </a:ln>
        </p:spPr>
      </p:sp>
      <p:sp>
        <p:nvSpPr>
          <p:cNvPr id="42" name="Text 40"/>
          <p:cNvSpPr/>
          <p:nvPr/>
        </p:nvSpPr>
        <p:spPr>
          <a:xfrm>
            <a:off x="3846195" y="1170503"/>
            <a:ext cx="377190" cy="91440"/>
          </a:xfrm>
          <a:prstGeom prst="rect">
            <a:avLst/>
          </a:prstGeom>
          <a:noFill/>
          <a:ln/>
        </p:spPr>
        <p:txBody>
          <a:bodyPr wrap="none" lIns="5715" tIns="40005" rIns="40005" bIns="5715" rtlCol="0" anchor="ctr"/>
          <a:lstStyle/>
          <a:p>
            <a:pPr algn="l" indent="0" marL="0">
              <a:buNone/>
            </a:pPr>
            <a:r>
              <a:rPr lang="en-US" sz="450" spc="23" kern="0" dirty="0">
                <a:solidFill>
                  <a:srgbClr val="42A5F5"/>
                </a:solidFill>
                <a:latin typeface="Inter" pitchFamily="34" charset="0"/>
                <a:ea typeface="Inter" pitchFamily="34" charset="-122"/>
                <a:cs typeface="Inter" pitchFamily="34" charset="-120"/>
              </a:rPr>
              <a:t>ACTIVE</a:t>
            </a:r>
            <a:endParaRPr lang="en-US" sz="450" dirty="0"/>
          </a:p>
        </p:txBody>
      </p:sp>
      <p:sp>
        <p:nvSpPr>
          <p:cNvPr id="43" name="Text 41"/>
          <p:cNvSpPr/>
          <p:nvPr/>
        </p:nvSpPr>
        <p:spPr>
          <a:xfrm>
            <a:off x="3400425" y="1279088"/>
            <a:ext cx="5978347" cy="101798"/>
          </a:xfrm>
          <a:prstGeom prst="rect">
            <a:avLst/>
          </a:prstGeom>
          <a:noFill/>
          <a:ln/>
        </p:spPr>
        <p:txBody>
          <a:bodyPr wrap="none" rtlCol="0" anchor="ctr"/>
          <a:lstStyle/>
          <a:p>
            <a:pPr algn="l" indent="0" marL="0">
              <a:lnSpc>
                <a:spcPct val="155000"/>
              </a:lnSpc>
              <a:buNone/>
            </a:pPr>
            <a:r>
              <a:rPr lang="en-US" sz="518" dirty="0">
                <a:solidFill>
                  <a:srgbClr val="8AA4C4"/>
                </a:solidFill>
                <a:latin typeface="Inter" pitchFamily="34" charset="0"/>
                <a:ea typeface="Inter" pitchFamily="34" charset="-122"/>
                <a:cs typeface="Inter" pitchFamily="34" charset="-120"/>
              </a:rPr>
              <a:t>定期提交代码或文档，有稳定的项目参与度，构成社区的中坚力量。</a:t>
            </a:r>
            <a:endParaRPr lang="en-US" sz="518" dirty="0"/>
          </a:p>
        </p:txBody>
      </p:sp>
      <p:sp>
        <p:nvSpPr>
          <p:cNvPr id="44" name="Text 42"/>
          <p:cNvSpPr/>
          <p:nvPr/>
        </p:nvSpPr>
        <p:spPr>
          <a:xfrm>
            <a:off x="3400425" y="1409462"/>
            <a:ext cx="462915" cy="85725"/>
          </a:xfrm>
          <a:prstGeom prst="rect">
            <a:avLst/>
          </a:prstGeom>
          <a:noFill/>
          <a:ln/>
        </p:spPr>
        <p:txBody>
          <a:bodyPr wrap="square" rtlCol="0" anchor="ctr"/>
          <a:lstStyle/>
          <a:p>
            <a:pPr algn="l" indent="0" marL="0">
              <a:buNone/>
            </a:pPr>
            <a:r>
              <a:rPr lang="en-US" sz="450" spc="23" kern="0" dirty="0">
                <a:solidFill>
                  <a:srgbClr val="5A7A9E"/>
                </a:solidFill>
                <a:latin typeface="Inter" pitchFamily="34" charset="0"/>
                <a:ea typeface="Inter" pitchFamily="34" charset="-122"/>
                <a:cs typeface="Inter" pitchFamily="34" charset="-120"/>
              </a:rPr>
              <a:t>角色权重：高</a:t>
            </a:r>
            <a:endParaRPr lang="en-US" sz="450" dirty="0"/>
          </a:p>
        </p:txBody>
      </p:sp>
      <p:sp>
        <p:nvSpPr>
          <p:cNvPr id="45" name="Shape 43"/>
          <p:cNvSpPr/>
          <p:nvPr/>
        </p:nvSpPr>
        <p:spPr>
          <a:xfrm>
            <a:off x="3400425" y="1440894"/>
            <a:ext cx="22860" cy="22860"/>
          </a:xfrm>
          <a:prstGeom prst="ellipse">
            <a:avLst/>
          </a:prstGeom>
          <a:solidFill>
            <a:srgbClr val="2196F3"/>
          </a:solidFill>
          <a:ln/>
        </p:spPr>
      </p:sp>
      <p:sp>
        <p:nvSpPr>
          <p:cNvPr id="46" name="Text 44"/>
          <p:cNvSpPr/>
          <p:nvPr/>
        </p:nvSpPr>
        <p:spPr>
          <a:xfrm>
            <a:off x="3886200" y="1409462"/>
            <a:ext cx="522923" cy="85725"/>
          </a:xfrm>
          <a:prstGeom prst="rect">
            <a:avLst/>
          </a:prstGeom>
          <a:noFill/>
          <a:ln/>
        </p:spPr>
        <p:txBody>
          <a:bodyPr wrap="square" rtlCol="0" anchor="ctr"/>
          <a:lstStyle/>
          <a:p>
            <a:pPr algn="l" indent="0" marL="0">
              <a:buNone/>
            </a:pPr>
            <a:r>
              <a:rPr lang="en-US" sz="450" spc="23" kern="0" dirty="0">
                <a:solidFill>
                  <a:srgbClr val="5A7A9E"/>
                </a:solidFill>
                <a:latin typeface="Inter" pitchFamily="34" charset="0"/>
                <a:ea typeface="Inter" pitchFamily="34" charset="-122"/>
                <a:cs typeface="Inter" pitchFamily="34" charset="-120"/>
              </a:rPr>
              <a:t>参与频次：定期</a:t>
            </a:r>
            <a:endParaRPr lang="en-US" sz="450" dirty="0"/>
          </a:p>
        </p:txBody>
      </p:sp>
      <p:sp>
        <p:nvSpPr>
          <p:cNvPr id="47" name="Shape 45"/>
          <p:cNvSpPr/>
          <p:nvPr/>
        </p:nvSpPr>
        <p:spPr>
          <a:xfrm>
            <a:off x="3886200" y="1440894"/>
            <a:ext cx="22860" cy="22860"/>
          </a:xfrm>
          <a:prstGeom prst="ellipse">
            <a:avLst/>
          </a:prstGeom>
          <a:solidFill>
            <a:srgbClr val="2196F3"/>
          </a:solidFill>
          <a:ln/>
        </p:spPr>
      </p:sp>
      <p:sp>
        <p:nvSpPr>
          <p:cNvPr id="48" name="Shape 46"/>
          <p:cNvSpPr/>
          <p:nvPr/>
        </p:nvSpPr>
        <p:spPr>
          <a:xfrm>
            <a:off x="2994660" y="1598057"/>
            <a:ext cx="5829300" cy="456128"/>
          </a:xfrm>
          <a:prstGeom prst="roundRect">
            <a:avLst>
              <a:gd name="adj" fmla="val 10024"/>
            </a:avLst>
          </a:prstGeom>
          <a:solidFill>
            <a:srgbClr val="0F1F38"/>
          </a:solidFill>
          <a:ln w="17145">
            <a:solidFill>
              <a:srgbClr val="00BCD4"/>
            </a:solidFill>
            <a:prstDash val="solid"/>
          </a:ln>
        </p:spPr>
      </p:sp>
      <p:sp>
        <p:nvSpPr>
          <p:cNvPr id="49" name="Shape 47"/>
          <p:cNvSpPr/>
          <p:nvPr/>
        </p:nvSpPr>
        <p:spPr>
          <a:xfrm>
            <a:off x="3091815" y="1649492"/>
            <a:ext cx="240030" cy="240030"/>
          </a:xfrm>
          <a:prstGeom prst="roundRect">
            <a:avLst>
              <a:gd name="adj" fmla="val 19048"/>
            </a:avLst>
          </a:prstGeom>
          <a:gradFill rotWithShape="1">
            <a:gsLst>
              <a:gs pos="0">
                <a:srgbClr val="00BCD4"/>
              </a:gs>
              <a:gs pos="100000">
                <a:srgbClr val="00778A"/>
              </a:gs>
            </a:gsLst>
            <a:lin ang="2700000" scaled="0"/>
          </a:gradFill>
          <a:ln/>
        </p:spPr>
      </p:sp>
      <p:sp>
        <p:nvSpPr>
          <p:cNvPr id="50" name="Shape 48"/>
          <p:cNvSpPr/>
          <p:nvPr/>
        </p:nvSpPr>
        <p:spPr>
          <a:xfrm>
            <a:off x="3091815" y="1649492"/>
            <a:ext cx="240030" cy="240030"/>
          </a:xfrm>
          <a:prstGeom prst="roundRect">
            <a:avLst>
              <a:gd name="adj" fmla="val 19048"/>
            </a:avLst>
          </a:prstGeom>
          <a:gradFill rotWithShape="1">
            <a:gsLst>
              <a:gs pos="50000">
                <a:srgbClr val="000000">
                  <a:alpha val="0"/>
                </a:srgbClr>
              </a:gs>
              <a:gs pos="100000">
                <a:srgbClr val="FFFFFF">
                  <a:alpha val="10000"/>
                </a:srgbClr>
              </a:gs>
            </a:gsLst>
            <a:lin ang="2700000" scaled="0"/>
          </a:gradFill>
          <a:ln/>
        </p:spPr>
      </p:sp>
      <p:sp>
        <p:nvSpPr>
          <p:cNvPr id="51" name="Text 49"/>
          <p:cNvSpPr/>
          <p:nvPr/>
        </p:nvSpPr>
        <p:spPr>
          <a:xfrm>
            <a:off x="3151823" y="1712357"/>
            <a:ext cx="219456" cy="114300"/>
          </a:xfrm>
          <a:prstGeom prst="rect">
            <a:avLst/>
          </a:prstGeom>
          <a:noFill/>
          <a:ln/>
        </p:spPr>
        <p:txBody>
          <a:bodyPr wrap="none" rtlCol="0" anchor="ctr"/>
          <a:lstStyle/>
          <a:p>
            <a:pPr algn="l" indent="0" marL="0">
              <a:buNone/>
            </a:pPr>
            <a:r>
              <a:rPr lang="en-US" sz="720" b="1" dirty="0">
                <a:solidFill>
                  <a:srgbClr val="FFFFFF"/>
                </a:solidFill>
                <a:latin typeface="Inter" pitchFamily="34" charset="0"/>
                <a:ea typeface="Inter" pitchFamily="34" charset="-122"/>
                <a:cs typeface="Inter" pitchFamily="34" charset="-120"/>
              </a:rPr>
              <a:t>03</a:t>
            </a:r>
            <a:endParaRPr lang="en-US" sz="720" dirty="0"/>
          </a:p>
        </p:txBody>
      </p:sp>
      <p:sp>
        <p:nvSpPr>
          <p:cNvPr id="52" name="Text 50"/>
          <p:cNvSpPr/>
          <p:nvPr/>
        </p:nvSpPr>
        <p:spPr>
          <a:xfrm>
            <a:off x="3400425" y="1649492"/>
            <a:ext cx="482918" cy="120015"/>
          </a:xfrm>
          <a:prstGeom prst="rect">
            <a:avLst/>
          </a:prstGeom>
          <a:noFill/>
          <a:ln/>
        </p:spPr>
        <p:txBody>
          <a:bodyPr wrap="none" rtlCol="0" anchor="ctr"/>
          <a:lstStyle/>
          <a:p>
            <a:pPr algn="l" indent="0" marL="0">
              <a:buNone/>
            </a:pPr>
            <a:r>
              <a:rPr lang="en-US" sz="653" dirty="0">
                <a:solidFill>
                  <a:srgbClr val="E8F0FA"/>
                </a:solidFill>
                <a:latin typeface="Inter" pitchFamily="34" charset="0"/>
                <a:ea typeface="Inter" pitchFamily="34" charset="-122"/>
                <a:cs typeface="Inter" pitchFamily="34" charset="-120"/>
              </a:rPr>
              <a:t>偶尔参与者</a:t>
            </a:r>
            <a:endParaRPr lang="en-US" sz="653" dirty="0"/>
          </a:p>
        </p:txBody>
      </p:sp>
      <p:sp>
        <p:nvSpPr>
          <p:cNvPr id="53" name="Shape 51"/>
          <p:cNvSpPr/>
          <p:nvPr/>
        </p:nvSpPr>
        <p:spPr>
          <a:xfrm>
            <a:off x="3846195" y="1678067"/>
            <a:ext cx="337185" cy="91440"/>
          </a:xfrm>
          <a:prstGeom prst="roundRect">
            <a:avLst>
              <a:gd name="adj" fmla="val 25000"/>
            </a:avLst>
          </a:prstGeom>
          <a:solidFill>
            <a:srgbClr val="00BCD4">
              <a:alpha val="8000"/>
            </a:srgbClr>
          </a:solidFill>
          <a:ln w="5715">
            <a:solidFill>
              <a:srgbClr val="004D5E"/>
            </a:solidFill>
            <a:prstDash val="solid"/>
          </a:ln>
        </p:spPr>
      </p:sp>
      <p:sp>
        <p:nvSpPr>
          <p:cNvPr id="54" name="Text 52"/>
          <p:cNvSpPr/>
          <p:nvPr/>
        </p:nvSpPr>
        <p:spPr>
          <a:xfrm>
            <a:off x="3846195" y="1678067"/>
            <a:ext cx="394335" cy="91440"/>
          </a:xfrm>
          <a:prstGeom prst="rect">
            <a:avLst/>
          </a:prstGeom>
          <a:noFill/>
          <a:ln/>
        </p:spPr>
        <p:txBody>
          <a:bodyPr wrap="none" lIns="5715" tIns="40005" rIns="40005" bIns="5715" rtlCol="0" anchor="ctr"/>
          <a:lstStyle/>
          <a:p>
            <a:pPr algn="l" indent="0" marL="0">
              <a:buNone/>
            </a:pPr>
            <a:r>
              <a:rPr lang="en-US" sz="450" spc="23" kern="0" dirty="0">
                <a:solidFill>
                  <a:srgbClr val="00BCD4"/>
                </a:solidFill>
                <a:latin typeface="Inter" pitchFamily="34" charset="0"/>
                <a:ea typeface="Inter" pitchFamily="34" charset="-122"/>
                <a:cs typeface="Inter" pitchFamily="34" charset="-120"/>
              </a:rPr>
              <a:t>CASUAL</a:t>
            </a:r>
            <a:endParaRPr lang="en-US" sz="450" dirty="0"/>
          </a:p>
        </p:txBody>
      </p:sp>
      <p:sp>
        <p:nvSpPr>
          <p:cNvPr id="55" name="Text 53"/>
          <p:cNvSpPr/>
          <p:nvPr/>
        </p:nvSpPr>
        <p:spPr>
          <a:xfrm>
            <a:off x="3400425" y="1786652"/>
            <a:ext cx="5978347" cy="101798"/>
          </a:xfrm>
          <a:prstGeom prst="rect">
            <a:avLst/>
          </a:prstGeom>
          <a:noFill/>
          <a:ln/>
        </p:spPr>
        <p:txBody>
          <a:bodyPr wrap="none" rtlCol="0" anchor="ctr"/>
          <a:lstStyle/>
          <a:p>
            <a:pPr algn="l" indent="0" marL="0">
              <a:lnSpc>
                <a:spcPct val="155000"/>
              </a:lnSpc>
              <a:buNone/>
            </a:pPr>
            <a:r>
              <a:rPr lang="en-US" sz="518" dirty="0">
                <a:solidFill>
                  <a:srgbClr val="8AA4C4"/>
                </a:solidFill>
                <a:latin typeface="Inter" pitchFamily="34" charset="0"/>
                <a:ea typeface="Inter" pitchFamily="34" charset="-122"/>
                <a:cs typeface="Inter" pitchFamily="34" charset="-120"/>
              </a:rPr>
              <a:t>间歇性提交 Issue 或小型 PR，多为学习驱动或特定需求触发。</a:t>
            </a:r>
            <a:endParaRPr lang="en-US" sz="518" dirty="0"/>
          </a:p>
        </p:txBody>
      </p:sp>
      <p:sp>
        <p:nvSpPr>
          <p:cNvPr id="56" name="Text 54"/>
          <p:cNvSpPr/>
          <p:nvPr/>
        </p:nvSpPr>
        <p:spPr>
          <a:xfrm>
            <a:off x="3400425" y="1917025"/>
            <a:ext cx="462915" cy="85725"/>
          </a:xfrm>
          <a:prstGeom prst="rect">
            <a:avLst/>
          </a:prstGeom>
          <a:noFill/>
          <a:ln/>
        </p:spPr>
        <p:txBody>
          <a:bodyPr wrap="square" rtlCol="0" anchor="ctr"/>
          <a:lstStyle/>
          <a:p>
            <a:pPr algn="l" indent="0" marL="0">
              <a:buNone/>
            </a:pPr>
            <a:r>
              <a:rPr lang="en-US" sz="450" spc="23" kern="0" dirty="0">
                <a:solidFill>
                  <a:srgbClr val="5A7A9E"/>
                </a:solidFill>
                <a:latin typeface="Inter" pitchFamily="34" charset="0"/>
                <a:ea typeface="Inter" pitchFamily="34" charset="-122"/>
                <a:cs typeface="Inter" pitchFamily="34" charset="-120"/>
              </a:rPr>
              <a:t>角色权重：中</a:t>
            </a:r>
            <a:endParaRPr lang="en-US" sz="450" dirty="0"/>
          </a:p>
        </p:txBody>
      </p:sp>
      <p:sp>
        <p:nvSpPr>
          <p:cNvPr id="57" name="Shape 55"/>
          <p:cNvSpPr/>
          <p:nvPr/>
        </p:nvSpPr>
        <p:spPr>
          <a:xfrm>
            <a:off x="3400425" y="1948458"/>
            <a:ext cx="22860" cy="22860"/>
          </a:xfrm>
          <a:prstGeom prst="ellipse">
            <a:avLst/>
          </a:prstGeom>
          <a:solidFill>
            <a:srgbClr val="2196F3"/>
          </a:solidFill>
          <a:ln/>
        </p:spPr>
      </p:sp>
      <p:sp>
        <p:nvSpPr>
          <p:cNvPr id="58" name="Text 56"/>
          <p:cNvSpPr/>
          <p:nvPr/>
        </p:nvSpPr>
        <p:spPr>
          <a:xfrm>
            <a:off x="3886200" y="1917025"/>
            <a:ext cx="656082" cy="85725"/>
          </a:xfrm>
          <a:prstGeom prst="rect">
            <a:avLst/>
          </a:prstGeom>
          <a:noFill/>
          <a:ln/>
        </p:spPr>
        <p:txBody>
          <a:bodyPr wrap="square" rtlCol="0" anchor="ctr"/>
          <a:lstStyle/>
          <a:p>
            <a:pPr algn="l" indent="0" marL="0">
              <a:buNone/>
            </a:pPr>
            <a:r>
              <a:rPr lang="en-US" sz="450" spc="23" kern="0" dirty="0">
                <a:solidFill>
                  <a:srgbClr val="5A7A9E"/>
                </a:solidFill>
                <a:latin typeface="Inter" pitchFamily="34" charset="0"/>
                <a:ea typeface="Inter" pitchFamily="34" charset="-122"/>
                <a:cs typeface="Inter" pitchFamily="34" charset="-120"/>
              </a:rPr>
              <a:t>触发方式：需求驱动</a:t>
            </a:r>
            <a:endParaRPr lang="en-US" sz="450" dirty="0"/>
          </a:p>
        </p:txBody>
      </p:sp>
      <p:sp>
        <p:nvSpPr>
          <p:cNvPr id="59" name="Shape 57"/>
          <p:cNvSpPr/>
          <p:nvPr/>
        </p:nvSpPr>
        <p:spPr>
          <a:xfrm>
            <a:off x="3886200" y="1948458"/>
            <a:ext cx="22860" cy="22860"/>
          </a:xfrm>
          <a:prstGeom prst="ellipse">
            <a:avLst/>
          </a:prstGeom>
          <a:solidFill>
            <a:srgbClr val="2196F3"/>
          </a:solidFill>
          <a:ln/>
        </p:spPr>
      </p:sp>
      <p:sp>
        <p:nvSpPr>
          <p:cNvPr id="60" name="Shape 58"/>
          <p:cNvSpPr/>
          <p:nvPr/>
        </p:nvSpPr>
        <p:spPr>
          <a:xfrm>
            <a:off x="2994660" y="2105620"/>
            <a:ext cx="5829300" cy="456128"/>
          </a:xfrm>
          <a:prstGeom prst="roundRect">
            <a:avLst>
              <a:gd name="adj" fmla="val 10024"/>
            </a:avLst>
          </a:prstGeom>
          <a:solidFill>
            <a:srgbClr val="0F1F38"/>
          </a:solidFill>
          <a:ln w="17145">
            <a:solidFill>
              <a:srgbClr val="5A7A9E"/>
            </a:solidFill>
            <a:prstDash val="solid"/>
          </a:ln>
        </p:spPr>
      </p:sp>
      <p:sp>
        <p:nvSpPr>
          <p:cNvPr id="61" name="Shape 59"/>
          <p:cNvSpPr/>
          <p:nvPr/>
        </p:nvSpPr>
        <p:spPr>
          <a:xfrm>
            <a:off x="3091815" y="2157055"/>
            <a:ext cx="240030" cy="240030"/>
          </a:xfrm>
          <a:prstGeom prst="roundRect">
            <a:avLst>
              <a:gd name="adj" fmla="val 19048"/>
            </a:avLst>
          </a:prstGeom>
          <a:gradFill rotWithShape="1">
            <a:gsLst>
              <a:gs pos="0">
                <a:srgbClr val="5A7A9E"/>
              </a:gs>
              <a:gs pos="100000">
                <a:srgbClr val="2C4060"/>
              </a:gs>
            </a:gsLst>
            <a:lin ang="2700000" scaled="0"/>
          </a:gradFill>
          <a:ln/>
        </p:spPr>
      </p:sp>
      <p:sp>
        <p:nvSpPr>
          <p:cNvPr id="62" name="Shape 60"/>
          <p:cNvSpPr/>
          <p:nvPr/>
        </p:nvSpPr>
        <p:spPr>
          <a:xfrm>
            <a:off x="3091815" y="2157055"/>
            <a:ext cx="240030" cy="240030"/>
          </a:xfrm>
          <a:prstGeom prst="roundRect">
            <a:avLst>
              <a:gd name="adj" fmla="val 19048"/>
            </a:avLst>
          </a:prstGeom>
          <a:gradFill rotWithShape="1">
            <a:gsLst>
              <a:gs pos="50000">
                <a:srgbClr val="000000">
                  <a:alpha val="0"/>
                </a:srgbClr>
              </a:gs>
              <a:gs pos="100000">
                <a:srgbClr val="FFFFFF">
                  <a:alpha val="10000"/>
                </a:srgbClr>
              </a:gs>
            </a:gsLst>
            <a:lin ang="2700000" scaled="0"/>
          </a:gradFill>
          <a:ln/>
        </p:spPr>
      </p:sp>
      <p:sp>
        <p:nvSpPr>
          <p:cNvPr id="63" name="Text 61"/>
          <p:cNvSpPr/>
          <p:nvPr/>
        </p:nvSpPr>
        <p:spPr>
          <a:xfrm>
            <a:off x="3148965" y="2219920"/>
            <a:ext cx="219456" cy="114300"/>
          </a:xfrm>
          <a:prstGeom prst="rect">
            <a:avLst/>
          </a:prstGeom>
          <a:noFill/>
          <a:ln/>
        </p:spPr>
        <p:txBody>
          <a:bodyPr wrap="none" rtlCol="0" anchor="ctr"/>
          <a:lstStyle/>
          <a:p>
            <a:pPr algn="l" indent="0" marL="0">
              <a:buNone/>
            </a:pPr>
            <a:r>
              <a:rPr lang="en-US" sz="720" b="1" dirty="0">
                <a:solidFill>
                  <a:srgbClr val="FFFFFF"/>
                </a:solidFill>
                <a:latin typeface="Inter" pitchFamily="34" charset="0"/>
                <a:ea typeface="Inter" pitchFamily="34" charset="-122"/>
                <a:cs typeface="Inter" pitchFamily="34" charset="-120"/>
              </a:rPr>
              <a:t>04</a:t>
            </a:r>
            <a:endParaRPr lang="en-US" sz="720" dirty="0"/>
          </a:p>
        </p:txBody>
      </p:sp>
      <p:sp>
        <p:nvSpPr>
          <p:cNvPr id="64" name="Text 62"/>
          <p:cNvSpPr/>
          <p:nvPr/>
        </p:nvSpPr>
        <p:spPr>
          <a:xfrm>
            <a:off x="3400425" y="2157055"/>
            <a:ext cx="482918" cy="120015"/>
          </a:xfrm>
          <a:prstGeom prst="rect">
            <a:avLst/>
          </a:prstGeom>
          <a:noFill/>
          <a:ln/>
        </p:spPr>
        <p:txBody>
          <a:bodyPr wrap="none" rtlCol="0" anchor="ctr"/>
          <a:lstStyle/>
          <a:p>
            <a:pPr algn="l" indent="0" marL="0">
              <a:buNone/>
            </a:pPr>
            <a:r>
              <a:rPr lang="en-US" sz="653" dirty="0">
                <a:solidFill>
                  <a:srgbClr val="E8F0FA"/>
                </a:solidFill>
                <a:latin typeface="Inter" pitchFamily="34" charset="0"/>
                <a:ea typeface="Inter" pitchFamily="34" charset="-122"/>
                <a:cs typeface="Inter" pitchFamily="34" charset="-120"/>
              </a:rPr>
              <a:t>社区观察者</a:t>
            </a:r>
            <a:endParaRPr lang="en-US" sz="653" dirty="0"/>
          </a:p>
        </p:txBody>
      </p:sp>
      <p:sp>
        <p:nvSpPr>
          <p:cNvPr id="65" name="Shape 63"/>
          <p:cNvSpPr/>
          <p:nvPr/>
        </p:nvSpPr>
        <p:spPr>
          <a:xfrm>
            <a:off x="3846195" y="2185630"/>
            <a:ext cx="411480" cy="91440"/>
          </a:xfrm>
          <a:prstGeom prst="roundRect">
            <a:avLst>
              <a:gd name="adj" fmla="val 25000"/>
            </a:avLst>
          </a:prstGeom>
          <a:solidFill>
            <a:srgbClr val="5A7A9E">
              <a:alpha val="8000"/>
            </a:srgbClr>
          </a:solidFill>
          <a:ln w="5715">
            <a:solidFill>
              <a:srgbClr val="2C4060"/>
            </a:solidFill>
            <a:prstDash val="solid"/>
          </a:ln>
        </p:spPr>
      </p:sp>
      <p:sp>
        <p:nvSpPr>
          <p:cNvPr id="66" name="Text 64"/>
          <p:cNvSpPr/>
          <p:nvPr/>
        </p:nvSpPr>
        <p:spPr>
          <a:xfrm>
            <a:off x="3846195" y="2185630"/>
            <a:ext cx="468630" cy="91440"/>
          </a:xfrm>
          <a:prstGeom prst="rect">
            <a:avLst/>
          </a:prstGeom>
          <a:noFill/>
          <a:ln/>
        </p:spPr>
        <p:txBody>
          <a:bodyPr wrap="none" lIns="5715" tIns="40005" rIns="40005" bIns="5715" rtlCol="0" anchor="ctr"/>
          <a:lstStyle/>
          <a:p>
            <a:pPr algn="l" indent="0" marL="0">
              <a:buNone/>
            </a:pPr>
            <a:r>
              <a:rPr lang="en-US" sz="450" spc="23" kern="0" dirty="0">
                <a:solidFill>
                  <a:srgbClr val="8AA4C4"/>
                </a:solidFill>
                <a:latin typeface="Inter" pitchFamily="34" charset="0"/>
                <a:ea typeface="Inter" pitchFamily="34" charset="-122"/>
                <a:cs typeface="Inter" pitchFamily="34" charset="-120"/>
              </a:rPr>
              <a:t>OBSERVER</a:t>
            </a:r>
            <a:endParaRPr lang="en-US" sz="450" dirty="0"/>
          </a:p>
        </p:txBody>
      </p:sp>
      <p:sp>
        <p:nvSpPr>
          <p:cNvPr id="67" name="Text 65"/>
          <p:cNvSpPr/>
          <p:nvPr/>
        </p:nvSpPr>
        <p:spPr>
          <a:xfrm>
            <a:off x="3400425" y="2294215"/>
            <a:ext cx="5978347" cy="101798"/>
          </a:xfrm>
          <a:prstGeom prst="rect">
            <a:avLst/>
          </a:prstGeom>
          <a:noFill/>
          <a:ln/>
        </p:spPr>
        <p:txBody>
          <a:bodyPr wrap="none" rtlCol="0" anchor="ctr"/>
          <a:lstStyle/>
          <a:p>
            <a:pPr algn="l" indent="0" marL="0">
              <a:lnSpc>
                <a:spcPct val="155000"/>
              </a:lnSpc>
              <a:buNone/>
            </a:pPr>
            <a:r>
              <a:rPr lang="en-US" sz="518" dirty="0">
                <a:solidFill>
                  <a:srgbClr val="8AA4C4"/>
                </a:solidFill>
                <a:latin typeface="Inter" pitchFamily="34" charset="0"/>
                <a:ea typeface="Inter" pitchFamily="34" charset="-122"/>
                <a:cs typeface="Inter" pitchFamily="34" charset="-120"/>
              </a:rPr>
              <a:t>使用并关注开源项目，参与讨论但不频繁提交，是潜在的未来贡献者。</a:t>
            </a:r>
            <a:endParaRPr lang="en-US" sz="518" dirty="0"/>
          </a:p>
        </p:txBody>
      </p:sp>
      <p:sp>
        <p:nvSpPr>
          <p:cNvPr id="68" name="Text 66"/>
          <p:cNvSpPr/>
          <p:nvPr/>
        </p:nvSpPr>
        <p:spPr>
          <a:xfrm>
            <a:off x="3400425" y="2424589"/>
            <a:ext cx="522923" cy="85725"/>
          </a:xfrm>
          <a:prstGeom prst="rect">
            <a:avLst/>
          </a:prstGeom>
          <a:noFill/>
          <a:ln/>
        </p:spPr>
        <p:txBody>
          <a:bodyPr wrap="square" rtlCol="0" anchor="ctr"/>
          <a:lstStyle/>
          <a:p>
            <a:pPr algn="l" indent="0" marL="0">
              <a:buNone/>
            </a:pPr>
            <a:r>
              <a:rPr lang="en-US" sz="450" spc="23" kern="0" dirty="0">
                <a:solidFill>
                  <a:srgbClr val="5A7A9E"/>
                </a:solidFill>
                <a:latin typeface="Inter" pitchFamily="34" charset="0"/>
                <a:ea typeface="Inter" pitchFamily="34" charset="-122"/>
                <a:cs typeface="Inter" pitchFamily="34" charset="-120"/>
              </a:rPr>
              <a:t>角色权重：基础</a:t>
            </a:r>
            <a:endParaRPr lang="en-US" sz="450" dirty="0"/>
          </a:p>
        </p:txBody>
      </p:sp>
      <p:sp>
        <p:nvSpPr>
          <p:cNvPr id="69" name="Shape 67"/>
          <p:cNvSpPr/>
          <p:nvPr/>
        </p:nvSpPr>
        <p:spPr>
          <a:xfrm>
            <a:off x="3400425" y="2456021"/>
            <a:ext cx="22860" cy="22860"/>
          </a:xfrm>
          <a:prstGeom prst="ellipse">
            <a:avLst/>
          </a:prstGeom>
          <a:solidFill>
            <a:srgbClr val="2196F3"/>
          </a:solidFill>
          <a:ln/>
        </p:spPr>
      </p:sp>
      <p:sp>
        <p:nvSpPr>
          <p:cNvPr id="70" name="Text 68"/>
          <p:cNvSpPr/>
          <p:nvPr/>
        </p:nvSpPr>
        <p:spPr>
          <a:xfrm>
            <a:off x="3946208" y="2424589"/>
            <a:ext cx="462915" cy="85725"/>
          </a:xfrm>
          <a:prstGeom prst="rect">
            <a:avLst/>
          </a:prstGeom>
          <a:noFill/>
          <a:ln/>
        </p:spPr>
        <p:txBody>
          <a:bodyPr wrap="square" rtlCol="0" anchor="ctr"/>
          <a:lstStyle/>
          <a:p>
            <a:pPr algn="l" indent="0" marL="0">
              <a:buNone/>
            </a:pPr>
            <a:r>
              <a:rPr lang="en-US" sz="450" spc="23" kern="0" dirty="0">
                <a:solidFill>
                  <a:srgbClr val="5A7A9E"/>
                </a:solidFill>
                <a:latin typeface="Inter" pitchFamily="34" charset="0"/>
                <a:ea typeface="Inter" pitchFamily="34" charset="-122"/>
                <a:cs typeface="Inter" pitchFamily="34" charset="-120"/>
              </a:rPr>
              <a:t>转化潜力：高</a:t>
            </a:r>
            <a:endParaRPr lang="en-US" sz="450" dirty="0"/>
          </a:p>
        </p:txBody>
      </p:sp>
      <p:sp>
        <p:nvSpPr>
          <p:cNvPr id="71" name="Shape 69"/>
          <p:cNvSpPr/>
          <p:nvPr/>
        </p:nvSpPr>
        <p:spPr>
          <a:xfrm>
            <a:off x="3946208" y="2456021"/>
            <a:ext cx="22860" cy="22860"/>
          </a:xfrm>
          <a:prstGeom prst="ellipse">
            <a:avLst/>
          </a:prstGeom>
          <a:solidFill>
            <a:srgbClr val="2196F3"/>
          </a:solidFill>
          <a:ln/>
        </p:spPr>
      </p:sp>
      <p:sp>
        <p:nvSpPr>
          <p:cNvPr id="72" name="Shape 70"/>
          <p:cNvSpPr/>
          <p:nvPr/>
        </p:nvSpPr>
        <p:spPr>
          <a:xfrm>
            <a:off x="2994660" y="2613184"/>
            <a:ext cx="5829300" cy="456128"/>
          </a:xfrm>
          <a:prstGeom prst="roundRect">
            <a:avLst>
              <a:gd name="adj" fmla="val 10024"/>
            </a:avLst>
          </a:prstGeom>
          <a:solidFill>
            <a:srgbClr val="0F1F38"/>
          </a:solidFill>
          <a:ln w="17145">
            <a:solidFill>
              <a:srgbClr val="E040FB"/>
            </a:solidFill>
            <a:prstDash val="solid"/>
          </a:ln>
        </p:spPr>
      </p:sp>
      <p:sp>
        <p:nvSpPr>
          <p:cNvPr id="73" name="Shape 71"/>
          <p:cNvSpPr/>
          <p:nvPr/>
        </p:nvSpPr>
        <p:spPr>
          <a:xfrm>
            <a:off x="3091815" y="2664619"/>
            <a:ext cx="240030" cy="240030"/>
          </a:xfrm>
          <a:prstGeom prst="roundRect">
            <a:avLst>
              <a:gd name="adj" fmla="val 19048"/>
            </a:avLst>
          </a:prstGeom>
          <a:gradFill rotWithShape="1">
            <a:gsLst>
              <a:gs pos="0">
                <a:srgbClr val="E040FB"/>
              </a:gs>
              <a:gs pos="100000">
                <a:srgbClr val="9C27B0"/>
              </a:gs>
            </a:gsLst>
            <a:lin ang="2700000" scaled="0"/>
          </a:gradFill>
          <a:ln/>
        </p:spPr>
      </p:sp>
      <p:sp>
        <p:nvSpPr>
          <p:cNvPr id="74" name="Shape 72"/>
          <p:cNvSpPr/>
          <p:nvPr/>
        </p:nvSpPr>
        <p:spPr>
          <a:xfrm>
            <a:off x="3091815" y="2664619"/>
            <a:ext cx="240030" cy="240030"/>
          </a:xfrm>
          <a:prstGeom prst="roundRect">
            <a:avLst>
              <a:gd name="adj" fmla="val 19048"/>
            </a:avLst>
          </a:prstGeom>
          <a:gradFill rotWithShape="1">
            <a:gsLst>
              <a:gs pos="50000">
                <a:srgbClr val="000000">
                  <a:alpha val="0"/>
                </a:srgbClr>
              </a:gs>
              <a:gs pos="100000">
                <a:srgbClr val="FFFFFF">
                  <a:alpha val="10000"/>
                </a:srgbClr>
              </a:gs>
            </a:gsLst>
            <a:lin ang="2700000" scaled="0"/>
          </a:gradFill>
          <a:ln/>
        </p:spPr>
      </p:sp>
      <p:sp>
        <p:nvSpPr>
          <p:cNvPr id="75" name="Text 73"/>
          <p:cNvSpPr/>
          <p:nvPr/>
        </p:nvSpPr>
        <p:spPr>
          <a:xfrm>
            <a:off x="3151823" y="2727484"/>
            <a:ext cx="219456" cy="114300"/>
          </a:xfrm>
          <a:prstGeom prst="rect">
            <a:avLst/>
          </a:prstGeom>
          <a:noFill/>
          <a:ln/>
        </p:spPr>
        <p:txBody>
          <a:bodyPr wrap="none" rtlCol="0" anchor="ctr"/>
          <a:lstStyle/>
          <a:p>
            <a:pPr algn="l" indent="0" marL="0">
              <a:buNone/>
            </a:pPr>
            <a:r>
              <a:rPr lang="en-US" sz="720" b="1" dirty="0">
                <a:solidFill>
                  <a:srgbClr val="FFFFFF"/>
                </a:solidFill>
                <a:latin typeface="Inter" pitchFamily="34" charset="0"/>
                <a:ea typeface="Inter" pitchFamily="34" charset="-122"/>
                <a:cs typeface="Inter" pitchFamily="34" charset="-120"/>
              </a:rPr>
              <a:t>05</a:t>
            </a:r>
            <a:endParaRPr lang="en-US" sz="720" dirty="0"/>
          </a:p>
        </p:txBody>
      </p:sp>
      <p:sp>
        <p:nvSpPr>
          <p:cNvPr id="76" name="Text 74"/>
          <p:cNvSpPr/>
          <p:nvPr/>
        </p:nvSpPr>
        <p:spPr>
          <a:xfrm>
            <a:off x="3400425" y="2664619"/>
            <a:ext cx="562928" cy="120015"/>
          </a:xfrm>
          <a:prstGeom prst="rect">
            <a:avLst/>
          </a:prstGeom>
          <a:noFill/>
          <a:ln/>
        </p:spPr>
        <p:txBody>
          <a:bodyPr wrap="none" rtlCol="0" anchor="ctr"/>
          <a:lstStyle/>
          <a:p>
            <a:pPr algn="l" indent="0" marL="0">
              <a:buNone/>
            </a:pPr>
            <a:r>
              <a:rPr lang="en-US" sz="653" dirty="0">
                <a:solidFill>
                  <a:srgbClr val="E8F0FA"/>
                </a:solidFill>
                <a:latin typeface="Inter" pitchFamily="34" charset="0"/>
                <a:ea typeface="Inter" pitchFamily="34" charset="-122"/>
                <a:cs typeface="Inter" pitchFamily="34" charset="-120"/>
              </a:rPr>
              <a:t>非代码贡献者</a:t>
            </a:r>
            <a:endParaRPr lang="en-US" sz="653" dirty="0"/>
          </a:p>
        </p:txBody>
      </p:sp>
      <p:sp>
        <p:nvSpPr>
          <p:cNvPr id="77" name="Shape 75"/>
          <p:cNvSpPr/>
          <p:nvPr/>
        </p:nvSpPr>
        <p:spPr>
          <a:xfrm>
            <a:off x="3926205" y="2693194"/>
            <a:ext cx="440055" cy="91440"/>
          </a:xfrm>
          <a:prstGeom prst="roundRect">
            <a:avLst>
              <a:gd name="adj" fmla="val 25000"/>
            </a:avLst>
          </a:prstGeom>
          <a:solidFill>
            <a:srgbClr val="E040FB">
              <a:alpha val="8000"/>
            </a:srgbClr>
          </a:solidFill>
          <a:ln w="5715">
            <a:solidFill>
              <a:srgbClr val="4A1E5A"/>
            </a:solidFill>
            <a:prstDash val="solid"/>
          </a:ln>
        </p:spPr>
      </p:sp>
      <p:sp>
        <p:nvSpPr>
          <p:cNvPr id="78" name="Text 76"/>
          <p:cNvSpPr/>
          <p:nvPr/>
        </p:nvSpPr>
        <p:spPr>
          <a:xfrm>
            <a:off x="3926205" y="2693194"/>
            <a:ext cx="497205" cy="91440"/>
          </a:xfrm>
          <a:prstGeom prst="rect">
            <a:avLst/>
          </a:prstGeom>
          <a:noFill/>
          <a:ln/>
        </p:spPr>
        <p:txBody>
          <a:bodyPr wrap="none" lIns="5715" tIns="40005" rIns="40005" bIns="5715" rtlCol="0" anchor="ctr"/>
          <a:lstStyle/>
          <a:p>
            <a:pPr algn="l" indent="0" marL="0">
              <a:buNone/>
            </a:pPr>
            <a:r>
              <a:rPr lang="en-US" sz="450" spc="23" kern="0" dirty="0">
                <a:solidFill>
                  <a:srgbClr val="E040FB"/>
                </a:solidFill>
                <a:latin typeface="Inter" pitchFamily="34" charset="0"/>
                <a:ea typeface="Inter" pitchFamily="34" charset="-122"/>
                <a:cs typeface="Inter" pitchFamily="34" charset="-120"/>
              </a:rPr>
              <a:t>NON-CODE</a:t>
            </a:r>
            <a:endParaRPr lang="en-US" sz="450" dirty="0"/>
          </a:p>
        </p:txBody>
      </p:sp>
      <p:sp>
        <p:nvSpPr>
          <p:cNvPr id="79" name="Text 77"/>
          <p:cNvSpPr/>
          <p:nvPr/>
        </p:nvSpPr>
        <p:spPr>
          <a:xfrm>
            <a:off x="3400425" y="2801779"/>
            <a:ext cx="5978347" cy="101798"/>
          </a:xfrm>
          <a:prstGeom prst="rect">
            <a:avLst/>
          </a:prstGeom>
          <a:noFill/>
          <a:ln/>
        </p:spPr>
        <p:txBody>
          <a:bodyPr wrap="none" rtlCol="0" anchor="ctr"/>
          <a:lstStyle/>
          <a:p>
            <a:pPr algn="l" indent="0" marL="0">
              <a:lnSpc>
                <a:spcPct val="155000"/>
              </a:lnSpc>
              <a:buNone/>
            </a:pPr>
            <a:r>
              <a:rPr lang="en-US" sz="518" dirty="0">
                <a:solidFill>
                  <a:srgbClr val="8AA4C4"/>
                </a:solidFill>
                <a:latin typeface="Inter" pitchFamily="34" charset="0"/>
                <a:ea typeface="Inter" pitchFamily="34" charset="-122"/>
                <a:cs typeface="Inter" pitchFamily="34" charset="-120"/>
              </a:rPr>
              <a:t>通过文档撰写、社区翻译、活动组织等方式贡献，形式灵活且门槛较低。</a:t>
            </a:r>
            <a:endParaRPr lang="en-US" sz="518" dirty="0"/>
          </a:p>
        </p:txBody>
      </p:sp>
      <p:sp>
        <p:nvSpPr>
          <p:cNvPr id="80" name="Text 78"/>
          <p:cNvSpPr/>
          <p:nvPr/>
        </p:nvSpPr>
        <p:spPr>
          <a:xfrm>
            <a:off x="3400425" y="2932152"/>
            <a:ext cx="522923" cy="85725"/>
          </a:xfrm>
          <a:prstGeom prst="rect">
            <a:avLst/>
          </a:prstGeom>
          <a:noFill/>
          <a:ln/>
        </p:spPr>
        <p:txBody>
          <a:bodyPr wrap="square" rtlCol="0" anchor="ctr"/>
          <a:lstStyle/>
          <a:p>
            <a:pPr algn="l" indent="0" marL="0">
              <a:buNone/>
            </a:pPr>
            <a:r>
              <a:rPr lang="en-US" sz="450" spc="23" kern="0" dirty="0">
                <a:solidFill>
                  <a:srgbClr val="5A7A9E"/>
                </a:solidFill>
                <a:latin typeface="Inter" pitchFamily="34" charset="0"/>
                <a:ea typeface="Inter" pitchFamily="34" charset="-122"/>
                <a:cs typeface="Inter" pitchFamily="34" charset="-120"/>
              </a:rPr>
              <a:t>角色权重：新兴</a:t>
            </a:r>
            <a:endParaRPr lang="en-US" sz="450" dirty="0"/>
          </a:p>
        </p:txBody>
      </p:sp>
      <p:sp>
        <p:nvSpPr>
          <p:cNvPr id="81" name="Shape 79"/>
          <p:cNvSpPr/>
          <p:nvPr/>
        </p:nvSpPr>
        <p:spPr>
          <a:xfrm>
            <a:off x="3400425" y="2963585"/>
            <a:ext cx="22860" cy="22860"/>
          </a:xfrm>
          <a:prstGeom prst="ellipse">
            <a:avLst/>
          </a:prstGeom>
          <a:solidFill>
            <a:srgbClr val="E040FB"/>
          </a:solidFill>
          <a:ln/>
        </p:spPr>
      </p:sp>
      <p:sp>
        <p:nvSpPr>
          <p:cNvPr id="82" name="Text 80"/>
          <p:cNvSpPr/>
          <p:nvPr/>
        </p:nvSpPr>
        <p:spPr>
          <a:xfrm>
            <a:off x="3946208" y="2932152"/>
            <a:ext cx="522923" cy="85725"/>
          </a:xfrm>
          <a:prstGeom prst="rect">
            <a:avLst/>
          </a:prstGeom>
          <a:noFill/>
          <a:ln/>
        </p:spPr>
        <p:txBody>
          <a:bodyPr wrap="square" rtlCol="0" anchor="ctr"/>
          <a:lstStyle/>
          <a:p>
            <a:pPr algn="l" indent="0" marL="0">
              <a:buNone/>
            </a:pPr>
            <a:r>
              <a:rPr lang="en-US" sz="450" spc="23" kern="0" dirty="0">
                <a:solidFill>
                  <a:srgbClr val="5A7A9E"/>
                </a:solidFill>
                <a:latin typeface="Inter" pitchFamily="34" charset="0"/>
                <a:ea typeface="Inter" pitchFamily="34" charset="-122"/>
                <a:cs typeface="Inter" pitchFamily="34" charset="-120"/>
              </a:rPr>
              <a:t>趋势：显著增长</a:t>
            </a:r>
            <a:endParaRPr lang="en-US" sz="450" dirty="0"/>
          </a:p>
        </p:txBody>
      </p:sp>
      <p:sp>
        <p:nvSpPr>
          <p:cNvPr id="83" name="Shape 81"/>
          <p:cNvSpPr/>
          <p:nvPr/>
        </p:nvSpPr>
        <p:spPr>
          <a:xfrm>
            <a:off x="3946208" y="2963585"/>
            <a:ext cx="22860" cy="22860"/>
          </a:xfrm>
          <a:prstGeom prst="ellipse">
            <a:avLst/>
          </a:prstGeom>
          <a:solidFill>
            <a:srgbClr val="E040FB"/>
          </a:solidFill>
          <a:ln/>
        </p:spPr>
      </p:sp>
      <p:sp>
        <p:nvSpPr>
          <p:cNvPr id="84" name="Shape 82"/>
          <p:cNvSpPr/>
          <p:nvPr/>
        </p:nvSpPr>
        <p:spPr>
          <a:xfrm>
            <a:off x="2994660" y="4239458"/>
            <a:ext cx="2868930" cy="526852"/>
          </a:xfrm>
          <a:prstGeom prst="roundRect">
            <a:avLst>
              <a:gd name="adj" fmla="val 8678"/>
            </a:avLst>
          </a:prstGeom>
          <a:gradFill rotWithShape="1">
            <a:gsLst>
              <a:gs pos="0">
                <a:srgbClr val="0D2240"/>
              </a:gs>
              <a:gs pos="100000">
                <a:srgbClr val="0B1A30"/>
              </a:gs>
            </a:gsLst>
            <a:lin ang="2700000" scaled="0"/>
          </a:gradFill>
          <a:ln w="5715">
            <a:solidFill>
              <a:srgbClr val="1C3558"/>
            </a:solidFill>
            <a:prstDash val="solid"/>
          </a:ln>
        </p:spPr>
      </p:sp>
      <p:sp>
        <p:nvSpPr>
          <p:cNvPr id="85" name="Shape 83"/>
          <p:cNvSpPr/>
          <p:nvPr/>
        </p:nvSpPr>
        <p:spPr>
          <a:xfrm>
            <a:off x="2994660" y="4239458"/>
            <a:ext cx="17145" cy="515422"/>
          </a:xfrm>
          <a:prstGeom prst="rect">
            <a:avLst/>
          </a:prstGeom>
          <a:gradFill rotWithShape="1">
            <a:gsLst>
              <a:gs pos="0">
                <a:srgbClr val="2196F3"/>
              </a:gs>
              <a:gs pos="100000">
                <a:srgbClr val="00BCD4"/>
              </a:gs>
            </a:gsLst>
            <a:lin ang="5400000" scaled="0"/>
          </a:gradFill>
          <a:ln/>
        </p:spPr>
      </p:sp>
      <p:sp>
        <p:nvSpPr>
          <p:cNvPr id="86" name="Shape 84"/>
          <p:cNvSpPr/>
          <p:nvPr/>
        </p:nvSpPr>
        <p:spPr>
          <a:xfrm>
            <a:off x="3103245" y="4365724"/>
            <a:ext cx="274320" cy="274320"/>
          </a:xfrm>
          <a:prstGeom prst="ellipse">
            <a:avLst/>
          </a:prstGeom>
          <a:noFill/>
          <a:ln w="11430">
            <a:solidFill>
              <a:srgbClr val="2196F3"/>
            </a:solidFill>
            <a:prstDash val="solid"/>
          </a:ln>
        </p:spPr>
      </p:sp>
      <p:sp>
        <p:nvSpPr>
          <p:cNvPr id="87" name="Shape 85"/>
          <p:cNvSpPr/>
          <p:nvPr/>
        </p:nvSpPr>
        <p:spPr>
          <a:xfrm>
            <a:off x="3126105" y="4388584"/>
            <a:ext cx="205740" cy="205740"/>
          </a:xfrm>
          <a:prstGeom prst="ellipse">
            <a:avLst/>
          </a:prstGeom>
          <a:solidFill>
            <a:srgbClr val="2196F3">
              <a:alpha val="10000"/>
            </a:srgbClr>
          </a:solidFill>
          <a:ln/>
        </p:spPr>
      </p:sp>
      <p:sp>
        <p:nvSpPr>
          <p:cNvPr id="88" name="Text 86"/>
          <p:cNvSpPr/>
          <p:nvPr/>
        </p:nvSpPr>
        <p:spPr>
          <a:xfrm>
            <a:off x="3174683" y="4442877"/>
            <a:ext cx="246888" cy="120015"/>
          </a:xfrm>
          <a:prstGeom prst="rect">
            <a:avLst/>
          </a:prstGeom>
          <a:noFill/>
          <a:ln/>
        </p:spPr>
        <p:txBody>
          <a:bodyPr wrap="none" rtlCol="0" anchor="ctr"/>
          <a:lstStyle/>
          <a:p>
            <a:pPr algn="l" indent="0" marL="0">
              <a:buNone/>
            </a:pPr>
            <a:r>
              <a:rPr lang="en-US" sz="810" b="1" dirty="0">
                <a:solidFill>
                  <a:srgbClr val="2196F3"/>
                </a:solidFill>
                <a:latin typeface="Inter" pitchFamily="34" charset="0"/>
                <a:ea typeface="Inter" pitchFamily="34" charset="-122"/>
                <a:cs typeface="Inter" pitchFamily="34" charset="-120"/>
              </a:rPr>
              <a:t>20</a:t>
            </a:r>
            <a:endParaRPr lang="en-US" sz="810" dirty="0"/>
          </a:p>
        </p:txBody>
      </p:sp>
      <p:sp>
        <p:nvSpPr>
          <p:cNvPr id="89" name="Text 87"/>
          <p:cNvSpPr/>
          <p:nvPr/>
        </p:nvSpPr>
        <p:spPr>
          <a:xfrm>
            <a:off x="3469005" y="4376886"/>
            <a:ext cx="1228954" cy="148590"/>
          </a:xfrm>
          <a:prstGeom prst="rect">
            <a:avLst/>
          </a:prstGeom>
          <a:noFill/>
          <a:ln/>
        </p:spPr>
        <p:txBody>
          <a:bodyPr wrap="square" rtlCol="0" anchor="ctr"/>
          <a:lstStyle/>
          <a:p>
            <a:pPr algn="l" indent="0" marL="0">
              <a:buNone/>
            </a:pPr>
            <a:r>
              <a:rPr lang="en-US" sz="990" b="1" spc="23" kern="0" dirty="0">
                <a:solidFill>
                  <a:srgbClr val="FFFFFF"/>
                </a:solidFill>
                <a:latin typeface="Inter" pitchFamily="34" charset="0"/>
                <a:ea typeface="Inter" pitchFamily="34" charset="-122"/>
                <a:cs typeface="Inter" pitchFamily="34" charset="-120"/>
              </a:rPr>
              <a:t>≈ 20</a:t>
            </a:r>
            <a:pPr algn="l" indent="0" marL="0">
              <a:buNone/>
            </a:pPr>
            <a:r>
              <a:rPr lang="en-US" sz="585" b="1" spc="23" kern="0" dirty="0">
                <a:solidFill>
                  <a:srgbClr val="00BCD4"/>
                </a:solidFill>
                <a:latin typeface="Inter" pitchFamily="34" charset="0"/>
                <a:ea typeface="Inter" pitchFamily="34" charset="-122"/>
                <a:cs typeface="Inter" pitchFamily="34" charset="-120"/>
              </a:rPr>
              <a:t>%</a:t>
            </a:r>
            <a:endParaRPr lang="en-US" sz="990" dirty="0"/>
          </a:p>
        </p:txBody>
      </p:sp>
      <p:sp>
        <p:nvSpPr>
          <p:cNvPr id="90" name="Text 88"/>
          <p:cNvSpPr/>
          <p:nvPr/>
        </p:nvSpPr>
        <p:spPr>
          <a:xfrm>
            <a:off x="3469005" y="4536906"/>
            <a:ext cx="1228954" cy="91976"/>
          </a:xfrm>
          <a:prstGeom prst="rect">
            <a:avLst/>
          </a:prstGeom>
          <a:noFill/>
          <a:ln/>
        </p:spPr>
        <p:txBody>
          <a:bodyPr wrap="none" rtlCol="0" anchor="ctr"/>
          <a:lstStyle/>
          <a:p>
            <a:pPr algn="l" indent="0" marL="0">
              <a:lnSpc>
                <a:spcPct val="140000"/>
              </a:lnSpc>
              <a:buNone/>
            </a:pPr>
            <a:r>
              <a:rPr lang="en-US" sz="518" dirty="0">
                <a:solidFill>
                  <a:srgbClr val="8AA4C4"/>
                </a:solidFill>
                <a:latin typeface="Inter" pitchFamily="34" charset="0"/>
                <a:ea typeface="Inter" pitchFamily="34" charset="-122"/>
                <a:cs typeface="Inter" pitchFamily="34" charset="-120"/>
              </a:rPr>
              <a:t>核心贡献者占比，遵循 20/80 法则</a:t>
            </a:r>
            <a:endParaRPr lang="en-US" sz="518" dirty="0"/>
          </a:p>
        </p:txBody>
      </p:sp>
      <p:sp>
        <p:nvSpPr>
          <p:cNvPr id="91" name="Shape 89"/>
          <p:cNvSpPr/>
          <p:nvPr/>
        </p:nvSpPr>
        <p:spPr>
          <a:xfrm>
            <a:off x="4657725" y="4494312"/>
            <a:ext cx="1097280" cy="17145"/>
          </a:xfrm>
          <a:prstGeom prst="roundRect">
            <a:avLst>
              <a:gd name="adj" fmla="val 66667"/>
            </a:avLst>
          </a:prstGeom>
          <a:solidFill>
            <a:srgbClr val="1A3050"/>
          </a:solidFill>
          <a:ln/>
        </p:spPr>
      </p:sp>
      <p:sp>
        <p:nvSpPr>
          <p:cNvPr id="92" name="Shape 90"/>
          <p:cNvSpPr/>
          <p:nvPr/>
        </p:nvSpPr>
        <p:spPr>
          <a:xfrm>
            <a:off x="4657725" y="4494312"/>
            <a:ext cx="219402" cy="17145"/>
          </a:xfrm>
          <a:prstGeom prst="roundRect">
            <a:avLst>
              <a:gd name="adj" fmla="val 66667"/>
            </a:avLst>
          </a:prstGeom>
          <a:gradFill rotWithShape="1">
            <a:gsLst>
              <a:gs pos="0">
                <a:srgbClr val="2196F3"/>
              </a:gs>
              <a:gs pos="100000">
                <a:srgbClr val="00BCD4"/>
              </a:gs>
            </a:gsLst>
            <a:lin ang="0" scaled="0"/>
          </a:gradFill>
          <a:ln/>
        </p:spPr>
      </p:sp>
      <p:sp>
        <p:nvSpPr>
          <p:cNvPr id="93" name="Shape 91"/>
          <p:cNvSpPr/>
          <p:nvPr/>
        </p:nvSpPr>
        <p:spPr>
          <a:xfrm>
            <a:off x="5955030" y="4239458"/>
            <a:ext cx="2868930" cy="526852"/>
          </a:xfrm>
          <a:prstGeom prst="roundRect">
            <a:avLst>
              <a:gd name="adj" fmla="val 8678"/>
            </a:avLst>
          </a:prstGeom>
          <a:gradFill rotWithShape="1">
            <a:gsLst>
              <a:gs pos="0">
                <a:srgbClr val="0D2240"/>
              </a:gs>
              <a:gs pos="100000">
                <a:srgbClr val="0B1A30"/>
              </a:gs>
            </a:gsLst>
            <a:lin ang="2700000" scaled="0"/>
          </a:gradFill>
          <a:ln w="5715">
            <a:solidFill>
              <a:srgbClr val="1C3558"/>
            </a:solidFill>
            <a:prstDash val="solid"/>
          </a:ln>
        </p:spPr>
      </p:sp>
      <p:sp>
        <p:nvSpPr>
          <p:cNvPr id="94" name="Shape 92"/>
          <p:cNvSpPr/>
          <p:nvPr/>
        </p:nvSpPr>
        <p:spPr>
          <a:xfrm>
            <a:off x="5955030" y="4239458"/>
            <a:ext cx="17145" cy="515422"/>
          </a:xfrm>
          <a:prstGeom prst="rect">
            <a:avLst/>
          </a:prstGeom>
          <a:gradFill rotWithShape="1">
            <a:gsLst>
              <a:gs pos="0">
                <a:srgbClr val="2196F3"/>
              </a:gs>
              <a:gs pos="100000">
                <a:srgbClr val="00BCD4"/>
              </a:gs>
            </a:gsLst>
            <a:lin ang="5400000" scaled="0"/>
          </a:gradFill>
          <a:ln/>
        </p:spPr>
      </p:sp>
      <p:sp>
        <p:nvSpPr>
          <p:cNvPr id="95" name="Shape 93"/>
          <p:cNvSpPr/>
          <p:nvPr/>
        </p:nvSpPr>
        <p:spPr>
          <a:xfrm>
            <a:off x="6063615" y="4365724"/>
            <a:ext cx="274320" cy="274320"/>
          </a:xfrm>
          <a:prstGeom prst="ellipse">
            <a:avLst/>
          </a:prstGeom>
          <a:noFill/>
          <a:ln w="11430">
            <a:solidFill>
              <a:srgbClr val="00BCD4"/>
            </a:solidFill>
            <a:prstDash val="solid"/>
          </a:ln>
        </p:spPr>
      </p:sp>
      <p:sp>
        <p:nvSpPr>
          <p:cNvPr id="96" name="Shape 94"/>
          <p:cNvSpPr/>
          <p:nvPr/>
        </p:nvSpPr>
        <p:spPr>
          <a:xfrm>
            <a:off x="6086475" y="4388584"/>
            <a:ext cx="205740" cy="205740"/>
          </a:xfrm>
          <a:prstGeom prst="ellipse">
            <a:avLst/>
          </a:prstGeom>
          <a:solidFill>
            <a:srgbClr val="2196F3">
              <a:alpha val="10000"/>
            </a:srgbClr>
          </a:solidFill>
          <a:ln/>
        </p:spPr>
      </p:sp>
      <p:sp>
        <p:nvSpPr>
          <p:cNvPr id="97" name="Text 95"/>
          <p:cNvSpPr/>
          <p:nvPr/>
        </p:nvSpPr>
        <p:spPr>
          <a:xfrm>
            <a:off x="6155055" y="4442877"/>
            <a:ext cx="194310" cy="120015"/>
          </a:xfrm>
          <a:prstGeom prst="rect">
            <a:avLst/>
          </a:prstGeom>
          <a:noFill/>
          <a:ln/>
        </p:spPr>
        <p:txBody>
          <a:bodyPr wrap="none" rtlCol="0" anchor="ctr"/>
          <a:lstStyle/>
          <a:p>
            <a:pPr algn="l" indent="0" marL="0">
              <a:buNone/>
            </a:pPr>
            <a:r>
              <a:rPr lang="en-US" sz="810" b="1" dirty="0">
                <a:solidFill>
                  <a:srgbClr val="00BCD4"/>
                </a:solidFill>
                <a:latin typeface="Inter" pitchFamily="34" charset="0"/>
                <a:ea typeface="Inter" pitchFamily="34" charset="-122"/>
                <a:cs typeface="Inter" pitchFamily="34" charset="-120"/>
              </a:rPr>
              <a:t>↑</a:t>
            </a:r>
            <a:endParaRPr lang="en-US" sz="810" dirty="0"/>
          </a:p>
        </p:txBody>
      </p:sp>
      <p:sp>
        <p:nvSpPr>
          <p:cNvPr id="98" name="Text 96"/>
          <p:cNvSpPr/>
          <p:nvPr/>
        </p:nvSpPr>
        <p:spPr>
          <a:xfrm>
            <a:off x="6429375" y="4313753"/>
            <a:ext cx="1228954" cy="182880"/>
          </a:xfrm>
          <a:prstGeom prst="rect">
            <a:avLst/>
          </a:prstGeom>
          <a:noFill/>
          <a:ln/>
        </p:spPr>
        <p:txBody>
          <a:bodyPr wrap="square" rtlCol="0" anchor="ctr"/>
          <a:lstStyle/>
          <a:p>
            <a:pPr algn="l" indent="0" marL="0">
              <a:buNone/>
            </a:pPr>
            <a:r>
              <a:rPr lang="en-US" sz="990" b="1" spc="23" kern="0" dirty="0">
                <a:solidFill>
                  <a:srgbClr val="00BCD4"/>
                </a:solidFill>
                <a:latin typeface="Inter" pitchFamily="34" charset="0"/>
                <a:ea typeface="Inter" pitchFamily="34" charset="-122"/>
                <a:cs typeface="Inter" pitchFamily="34" charset="-120"/>
              </a:rPr>
              <a:t>显著</a:t>
            </a:r>
            <a:pPr algn="l" indent="0" marL="0">
              <a:buNone/>
            </a:pPr>
            <a:r>
              <a:rPr lang="en-US" sz="585" b="1" spc="23" kern="0" dirty="0">
                <a:solidFill>
                  <a:srgbClr val="00BCD4"/>
                </a:solidFill>
                <a:latin typeface="Inter" pitchFamily="34" charset="0"/>
                <a:ea typeface="Inter" pitchFamily="34" charset="-122"/>
                <a:cs typeface="Inter" pitchFamily="34" charset="-120"/>
              </a:rPr>
              <a:t>↑</a:t>
            </a:r>
            <a:endParaRPr lang="en-US" sz="990" dirty="0"/>
          </a:p>
        </p:txBody>
      </p:sp>
      <p:sp>
        <p:nvSpPr>
          <p:cNvPr id="99" name="Text 97"/>
          <p:cNvSpPr/>
          <p:nvPr/>
        </p:nvSpPr>
        <p:spPr>
          <a:xfrm>
            <a:off x="6429375" y="4508063"/>
            <a:ext cx="1228954" cy="183952"/>
          </a:xfrm>
          <a:prstGeom prst="rect">
            <a:avLst/>
          </a:prstGeom>
          <a:noFill/>
          <a:ln/>
        </p:spPr>
        <p:txBody>
          <a:bodyPr wrap="square" rtlCol="0" anchor="ctr"/>
          <a:lstStyle/>
          <a:p>
            <a:pPr algn="l" indent="0" marL="0">
              <a:lnSpc>
                <a:spcPct val="140000"/>
              </a:lnSpc>
              <a:buNone/>
            </a:pPr>
            <a:r>
              <a:rPr lang="en-US" sz="518" dirty="0">
                <a:solidFill>
                  <a:srgbClr val="8AA4C4"/>
                </a:solidFill>
                <a:latin typeface="Inter" pitchFamily="34" charset="0"/>
                <a:ea typeface="Inter" pitchFamily="34" charset="-122"/>
                <a:cs typeface="Inter" pitchFamily="34" charset="-120"/>
              </a:rPr>
              <a:t>非代码贡献增长，集中于文档与社区运营</a:t>
            </a:r>
            <a:endParaRPr lang="en-US" sz="518" dirty="0"/>
          </a:p>
        </p:txBody>
      </p:sp>
      <p:sp>
        <p:nvSpPr>
          <p:cNvPr id="100" name="Shape 98"/>
          <p:cNvSpPr/>
          <p:nvPr/>
        </p:nvSpPr>
        <p:spPr>
          <a:xfrm>
            <a:off x="7618095" y="4494312"/>
            <a:ext cx="1097280" cy="17145"/>
          </a:xfrm>
          <a:prstGeom prst="roundRect">
            <a:avLst>
              <a:gd name="adj" fmla="val 66667"/>
            </a:avLst>
          </a:prstGeom>
          <a:solidFill>
            <a:srgbClr val="1A3050"/>
          </a:solidFill>
          <a:ln/>
        </p:spPr>
      </p:sp>
      <p:sp>
        <p:nvSpPr>
          <p:cNvPr id="101" name="Shape 99"/>
          <p:cNvSpPr/>
          <p:nvPr/>
        </p:nvSpPr>
        <p:spPr>
          <a:xfrm>
            <a:off x="7618095" y="4494312"/>
            <a:ext cx="855821" cy="17145"/>
          </a:xfrm>
          <a:prstGeom prst="roundRect">
            <a:avLst>
              <a:gd name="adj" fmla="val 66667"/>
            </a:avLst>
          </a:prstGeom>
          <a:gradFill rotWithShape="1">
            <a:gsLst>
              <a:gs pos="0">
                <a:srgbClr val="2196F3"/>
              </a:gs>
              <a:gs pos="100000">
                <a:srgbClr val="00BCD4"/>
              </a:gs>
            </a:gsLst>
            <a:lin ang="0" scaled="0"/>
          </a:gradFill>
          <a:ln/>
        </p:spPr>
      </p:sp>
      <p:sp>
        <p:nvSpPr>
          <p:cNvPr id="102" name="Text 100"/>
          <p:cNvSpPr/>
          <p:nvPr/>
        </p:nvSpPr>
        <p:spPr>
          <a:xfrm>
            <a:off x="320040" y="4834890"/>
            <a:ext cx="1152144" cy="68580"/>
          </a:xfrm>
          <a:prstGeom prst="rect">
            <a:avLst/>
          </a:prstGeom>
          <a:noFill/>
          <a:ln/>
        </p:spPr>
        <p:txBody>
          <a:bodyPr wrap="none" rtlCol="0" anchor="ctr"/>
          <a:lstStyle/>
          <a:p>
            <a:pPr algn="l" indent="0" marL="0">
              <a:buNone/>
            </a:pPr>
            <a:r>
              <a:rPr lang="en-US" sz="450" spc="90" kern="0" dirty="0">
                <a:solidFill>
                  <a:srgbClr val="5A7A9E"/>
                </a:solidFill>
                <a:latin typeface="Inter" pitchFamily="34" charset="0"/>
                <a:ea typeface="Inter" pitchFamily="34" charset="-122"/>
                <a:cs typeface="Inter" pitchFamily="34" charset="-120"/>
              </a:rPr>
              <a:t>OPEN SOURCE COMMUNITY</a:t>
            </a:r>
            <a:endParaRPr lang="en-US" sz="450" dirty="0"/>
          </a:p>
        </p:txBody>
      </p:sp>
      <p:sp>
        <p:nvSpPr>
          <p:cNvPr id="103" name="Shape 101"/>
          <p:cNvSpPr/>
          <p:nvPr/>
        </p:nvSpPr>
        <p:spPr>
          <a:xfrm>
            <a:off x="1440180" y="4866323"/>
            <a:ext cx="6446520" cy="5715"/>
          </a:xfrm>
          <a:prstGeom prst="rect">
            <a:avLst/>
          </a:prstGeom>
          <a:gradFill rotWithShape="1">
            <a:gsLst>
              <a:gs pos="0">
                <a:srgbClr val="000000">
                  <a:alpha val="0"/>
                </a:srgbClr>
              </a:gs>
              <a:gs pos="50000">
                <a:srgbClr val="1C3558"/>
              </a:gs>
              <a:gs pos="100000">
                <a:srgbClr val="000000">
                  <a:alpha val="0"/>
                </a:srgbClr>
              </a:gs>
            </a:gsLst>
            <a:lin ang="0" scaled="0"/>
          </a:gradFill>
          <a:ln/>
        </p:spPr>
      </p:sp>
      <p:sp>
        <p:nvSpPr>
          <p:cNvPr id="104" name="Text 102"/>
          <p:cNvSpPr/>
          <p:nvPr/>
        </p:nvSpPr>
        <p:spPr>
          <a:xfrm>
            <a:off x="7978140" y="4834890"/>
            <a:ext cx="947318" cy="68580"/>
          </a:xfrm>
          <a:prstGeom prst="rect">
            <a:avLst/>
          </a:prstGeom>
          <a:noFill/>
          <a:ln/>
        </p:spPr>
        <p:txBody>
          <a:bodyPr wrap="none" rtlCol="0" anchor="ctr"/>
          <a:lstStyle/>
          <a:p>
            <a:pPr algn="l" indent="0" marL="0">
              <a:buNone/>
            </a:pPr>
            <a:r>
              <a:rPr lang="en-US" sz="450" spc="90" kern="0" dirty="0">
                <a:solidFill>
                  <a:srgbClr val="5A7A9E"/>
                </a:solidFill>
                <a:latin typeface="Inter" pitchFamily="34" charset="0"/>
                <a:ea typeface="Inter" pitchFamily="34" charset="-122"/>
                <a:cs typeface="Inter" pitchFamily="34" charset="-120"/>
              </a:rPr>
              <a:t>CSS GEOMETRY · 2024</a:t>
            </a:r>
            <a:endParaRPr lang="en-US" sz="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5081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gradFill rotWithShape="1">
            <a:gsLst>
              <a:gs pos="0">
                <a:srgbClr val="060B17"/>
              </a:gs>
              <a:gs pos="45000">
                <a:srgbClr val="0B1220"/>
              </a:gs>
              <a:gs pos="100000">
                <a:srgbClr val="0E1A2E"/>
              </a:gs>
            </a:gsLst>
            <a:lin ang="2700000" scaled="0"/>
          </a:gradFill>
          <a:ln/>
        </p:spPr>
      </p:sp>
      <p:sp>
        <p:nvSpPr>
          <p:cNvPr id="3" name="Shape 1"/>
          <p:cNvSpPr/>
          <p:nvPr/>
        </p:nvSpPr>
        <p:spPr>
          <a:xfrm>
            <a:off x="0" y="0"/>
            <a:ext cx="9144000" cy="5143500"/>
          </a:xfrm>
          <a:prstGeom prst="rect">
            <a:avLst/>
          </a:prstGeom>
          <a:solidFill>
            <a:srgbClr val="2196F3">
              <a:alpha val="10000"/>
            </a:srgbClr>
          </a:solidFill>
          <a:ln/>
        </p:spPr>
      </p:sp>
      <p:sp>
        <p:nvSpPr>
          <p:cNvPr id="4" name="Shape 2"/>
          <p:cNvSpPr/>
          <p:nvPr/>
        </p:nvSpPr>
        <p:spPr>
          <a:xfrm>
            <a:off x="0" y="0"/>
            <a:ext cx="9144000" cy="5143500"/>
          </a:xfrm>
          <a:prstGeom prst="rect">
            <a:avLst/>
          </a:prstGeom>
          <a:gradFill rotWithShape="1">
            <a:gsLst>
              <a:gs pos="0">
                <a:srgbClr val="000000">
                  <a:alpha val="4000"/>
                </a:srgbClr>
              </a:gs>
              <a:gs pos="25000">
                <a:srgbClr val="000000">
                  <a:alpha val="0"/>
                </a:srgbClr>
              </a:gs>
              <a:gs pos="50000">
                <a:srgbClr val="000000"/>
              </a:gs>
              <a:gs pos="75000">
                <a:srgbClr val="000000">
                  <a:alpha val="4000"/>
                </a:srgbClr>
              </a:gs>
              <a:gs pos="100000">
                <a:srgbClr val="000000">
                  <a:alpha val="0"/>
                </a:srgbClr>
              </a:gs>
            </a:gsLst>
            <a:lin ang="5400000" scaled="0"/>
          </a:gradFill>
          <a:ln/>
        </p:spPr>
      </p:sp>
      <p:sp>
        <p:nvSpPr>
          <p:cNvPr id="5" name="Shape 3"/>
          <p:cNvSpPr/>
          <p:nvPr/>
        </p:nvSpPr>
        <p:spPr>
          <a:xfrm>
            <a:off x="320040" y="214313"/>
            <a:ext cx="28575" cy="262890"/>
          </a:xfrm>
          <a:prstGeom prst="roundRect">
            <a:avLst>
              <a:gd name="adj" fmla="val 60000"/>
            </a:avLst>
          </a:prstGeom>
          <a:gradFill rotWithShape="1">
            <a:gsLst>
              <a:gs pos="0">
                <a:srgbClr val="2196F3"/>
              </a:gs>
              <a:gs pos="100000">
                <a:srgbClr val="00BCD4"/>
              </a:gs>
            </a:gsLst>
            <a:lin ang="5400000" scaled="0"/>
          </a:gradFill>
          <a:ln/>
        </p:spPr>
      </p:sp>
      <p:sp>
        <p:nvSpPr>
          <p:cNvPr id="6" name="Text 4"/>
          <p:cNvSpPr/>
          <p:nvPr/>
        </p:nvSpPr>
        <p:spPr>
          <a:xfrm>
            <a:off x="440055" y="205740"/>
            <a:ext cx="1705928" cy="280035"/>
          </a:xfrm>
          <a:prstGeom prst="rect">
            <a:avLst/>
          </a:prstGeom>
          <a:noFill/>
          <a:ln/>
        </p:spPr>
        <p:txBody>
          <a:bodyPr wrap="none" rtlCol="0" anchor="ctr"/>
          <a:lstStyle/>
          <a:p>
            <a:pPr algn="l" indent="0" marL="0">
              <a:buNone/>
            </a:pPr>
            <a:r>
              <a:rPr lang="en-US" sz="1530" b="1" spc="23" kern="0" dirty="0">
                <a:solidFill>
                  <a:srgbClr val="E8EEF5"/>
                </a:solidFill>
                <a:latin typeface="Inter" pitchFamily="34" charset="0"/>
                <a:ea typeface="Inter" pitchFamily="34" charset="-122"/>
                <a:cs typeface="Inter" pitchFamily="34" charset="-120"/>
              </a:rPr>
              <a:t>2023年数据透视</a:t>
            </a:r>
            <a:endParaRPr lang="en-US" sz="1530" dirty="0"/>
          </a:p>
        </p:txBody>
      </p:sp>
      <p:sp>
        <p:nvSpPr>
          <p:cNvPr id="7" name="Text 5"/>
          <p:cNvSpPr/>
          <p:nvPr/>
        </p:nvSpPr>
        <p:spPr>
          <a:xfrm>
            <a:off x="320040" y="531495"/>
            <a:ext cx="9524390" cy="126266"/>
          </a:xfrm>
          <a:prstGeom prst="rect">
            <a:avLst/>
          </a:prstGeom>
          <a:noFill/>
          <a:ln/>
        </p:spPr>
        <p:txBody>
          <a:bodyPr wrap="square" rtlCol="0" anchor="ctr"/>
          <a:lstStyle/>
          <a:p>
            <a:pPr algn="l" indent="0" marL="0">
              <a:lnSpc>
                <a:spcPct val="170000"/>
              </a:lnSpc>
              <a:buNone/>
            </a:pPr>
            <a:r>
              <a:rPr lang="en-US" sz="585" dirty="0">
                <a:solidFill>
                  <a:srgbClr val="B0BEC5"/>
                </a:solidFill>
                <a:latin typeface="Inter" pitchFamily="34" charset="0"/>
                <a:ea typeface="Inter" pitchFamily="34" charset="-122"/>
                <a:cs typeface="Inter" pitchFamily="34" charset="-120"/>
              </a:rPr>
              <a:t>2023年数据显示全球开源社区规模持续</a:t>
            </a:r>
            <a:pPr algn="l" indent="0" marL="0">
              <a:lnSpc>
                <a:spcPct val="170000"/>
              </a:lnSpc>
              <a:buNone/>
            </a:pPr>
            <a:r>
              <a:rPr lang="en-US" sz="585" b="1" dirty="0">
                <a:solidFill>
                  <a:srgbClr val="00BCD4"/>
                </a:solidFill>
                <a:latin typeface="Inter" pitchFamily="34" charset="0"/>
                <a:ea typeface="Inter" pitchFamily="34" charset="-122"/>
                <a:cs typeface="Inter" pitchFamily="34" charset="-120"/>
              </a:rPr>
              <a:t>扩张</a:t>
            </a:r>
            <a:pPr algn="l" indent="0" marL="0">
              <a:lnSpc>
                <a:spcPct val="170000"/>
              </a:lnSpc>
              <a:buNone/>
            </a:pPr>
            <a:r>
              <a:rPr lang="en-US" sz="585" dirty="0">
                <a:solidFill>
                  <a:srgbClr val="B0BEC5"/>
                </a:solidFill>
                <a:latin typeface="Inter" pitchFamily="34" charset="0"/>
                <a:ea typeface="Inter" pitchFamily="34" charset="-122"/>
                <a:cs typeface="Inter" pitchFamily="34" charset="-120"/>
              </a:rPr>
              <a:t>，贡献者地理分布更加</a:t>
            </a:r>
            <a:pPr algn="l" indent="0" marL="0">
              <a:lnSpc>
                <a:spcPct val="170000"/>
              </a:lnSpc>
              <a:buNone/>
            </a:pPr>
            <a:r>
              <a:rPr lang="en-US" sz="585" b="1" dirty="0">
                <a:solidFill>
                  <a:srgbClr val="00BCD4"/>
                </a:solidFill>
                <a:latin typeface="Inter" pitchFamily="34" charset="0"/>
                <a:ea typeface="Inter" pitchFamily="34" charset="-122"/>
                <a:cs typeface="Inter" pitchFamily="34" charset="-120"/>
              </a:rPr>
              <a:t>多元</a:t>
            </a:r>
            <a:pPr algn="l" indent="0" marL="0">
              <a:lnSpc>
                <a:spcPct val="170000"/>
              </a:lnSpc>
              <a:buNone/>
            </a:pPr>
            <a:r>
              <a:rPr lang="en-US" sz="585" dirty="0">
                <a:solidFill>
                  <a:srgbClr val="B0BEC5"/>
                </a:solidFill>
                <a:latin typeface="Inter" pitchFamily="34" charset="0"/>
                <a:ea typeface="Inter" pitchFamily="34" charset="-122"/>
                <a:cs typeface="Inter" pitchFamily="34" charset="-120"/>
              </a:rPr>
              <a:t>，中国贡献者增速亮眼但</a:t>
            </a:r>
            <a:pPr algn="l" indent="0" marL="0">
              <a:lnSpc>
                <a:spcPct val="170000"/>
              </a:lnSpc>
              <a:buNone/>
            </a:pPr>
            <a:r>
              <a:rPr lang="en-US" sz="585" b="1" dirty="0">
                <a:solidFill>
                  <a:srgbClr val="00BCD4"/>
                </a:solidFill>
                <a:latin typeface="Inter" pitchFamily="34" charset="0"/>
                <a:ea typeface="Inter" pitchFamily="34" charset="-122"/>
                <a:cs typeface="Inter" pitchFamily="34" charset="-120"/>
              </a:rPr>
              <a:t>女性参与度</a:t>
            </a:r>
            <a:pPr algn="l" indent="0" marL="0">
              <a:lnSpc>
                <a:spcPct val="170000"/>
              </a:lnSpc>
              <a:buNone/>
            </a:pPr>
            <a:r>
              <a:rPr lang="en-US" sz="585" dirty="0">
                <a:solidFill>
                  <a:srgbClr val="B0BEC5"/>
                </a:solidFill>
                <a:latin typeface="Inter" pitchFamily="34" charset="0"/>
                <a:ea typeface="Inter" pitchFamily="34" charset="-122"/>
                <a:cs typeface="Inter" pitchFamily="34" charset="-120"/>
              </a:rPr>
              <a:t>仍需提升，新兴语言如</a:t>
            </a:r>
            <a:pPr algn="l" indent="0" marL="0">
              <a:lnSpc>
                <a:spcPct val="170000"/>
              </a:lnSpc>
              <a:buNone/>
            </a:pPr>
            <a:r>
              <a:rPr lang="en-US" sz="585" b="1" dirty="0">
                <a:solidFill>
                  <a:srgbClr val="00BCD4"/>
                </a:solidFill>
                <a:latin typeface="Inter" pitchFamily="34" charset="0"/>
                <a:ea typeface="Inter" pitchFamily="34" charset="-122"/>
                <a:cs typeface="Inter" pitchFamily="34" charset="-120"/>
              </a:rPr>
              <a:t>Rust</a:t>
            </a:r>
            <a:pPr algn="l" indent="0" marL="0">
              <a:lnSpc>
                <a:spcPct val="170000"/>
              </a:lnSpc>
              <a:buNone/>
            </a:pPr>
            <a:r>
              <a:rPr lang="en-US" sz="585" dirty="0">
                <a:solidFill>
                  <a:srgbClr val="B0BEC5"/>
                </a:solidFill>
                <a:latin typeface="Inter" pitchFamily="34" charset="0"/>
                <a:ea typeface="Inter" pitchFamily="34" charset="-122"/>
                <a:cs typeface="Inter" pitchFamily="34" charset="-120"/>
              </a:rPr>
              <a:t>持续获得关注，而 JS 与 Python 生态依然占据</a:t>
            </a:r>
            <a:pPr algn="l" indent="0" marL="0">
              <a:lnSpc>
                <a:spcPct val="170000"/>
              </a:lnSpc>
              <a:buNone/>
            </a:pPr>
            <a:r>
              <a:rPr lang="en-US" sz="585" b="1" dirty="0">
                <a:solidFill>
                  <a:srgbClr val="00BCD4"/>
                </a:solidFill>
                <a:latin typeface="Inter" pitchFamily="34" charset="0"/>
                <a:ea typeface="Inter" pitchFamily="34" charset="-122"/>
                <a:cs typeface="Inter" pitchFamily="34" charset="-120"/>
              </a:rPr>
              <a:t>主流</a:t>
            </a:r>
            <a:pPr algn="l" indent="0" marL="0">
              <a:lnSpc>
                <a:spcPct val="170000"/>
              </a:lnSpc>
              <a:buNone/>
            </a:pPr>
            <a:r>
              <a:rPr lang="en-US" sz="585" dirty="0">
                <a:solidFill>
                  <a:srgbClr val="B0BEC5"/>
                </a:solidFill>
                <a:latin typeface="Inter" pitchFamily="34" charset="0"/>
                <a:ea typeface="Inter" pitchFamily="34" charset="-122"/>
                <a:cs typeface="Inter" pitchFamily="34" charset="-120"/>
              </a:rPr>
              <a:t>。</a:t>
            </a:r>
            <a:endParaRPr lang="en-US" sz="585" dirty="0"/>
          </a:p>
        </p:txBody>
      </p:sp>
      <p:sp>
        <p:nvSpPr>
          <p:cNvPr id="8" name="Shape 6"/>
          <p:cNvSpPr/>
          <p:nvPr/>
        </p:nvSpPr>
        <p:spPr>
          <a:xfrm>
            <a:off x="320040" y="760631"/>
            <a:ext cx="2057400" cy="754291"/>
          </a:xfrm>
          <a:prstGeom prst="roundRect">
            <a:avLst>
              <a:gd name="adj" fmla="val 9092"/>
            </a:avLst>
          </a:prstGeom>
          <a:solidFill>
            <a:srgbClr val="111C2E"/>
          </a:solidFill>
          <a:ln w="5715">
            <a:solidFill>
              <a:srgbClr val="B0BEC5">
                <a:alpha val="15000"/>
              </a:srgbClr>
            </a:solidFill>
            <a:prstDash val="solid"/>
          </a:ln>
        </p:spPr>
      </p:sp>
      <p:sp>
        <p:nvSpPr>
          <p:cNvPr id="9" name="Shape 7"/>
          <p:cNvSpPr/>
          <p:nvPr/>
        </p:nvSpPr>
        <p:spPr>
          <a:xfrm>
            <a:off x="320040" y="760631"/>
            <a:ext cx="2045970" cy="11430"/>
          </a:xfrm>
          <a:prstGeom prst="rect">
            <a:avLst/>
          </a:prstGeom>
          <a:gradFill rotWithShape="1">
            <a:gsLst>
              <a:gs pos="0">
                <a:srgbClr val="2196F3"/>
              </a:gs>
              <a:gs pos="100000">
                <a:srgbClr val="00BCD4"/>
              </a:gs>
            </a:gsLst>
            <a:lin ang="0" scaled="0"/>
          </a:gradFill>
          <a:ln/>
        </p:spPr>
      </p:sp>
      <p:sp>
        <p:nvSpPr>
          <p:cNvPr id="10" name="Shape 8"/>
          <p:cNvSpPr/>
          <p:nvPr/>
        </p:nvSpPr>
        <p:spPr>
          <a:xfrm>
            <a:off x="2023110" y="1160592"/>
            <a:ext cx="514350" cy="514350"/>
          </a:xfrm>
          <a:prstGeom prst="ellipse">
            <a:avLst/>
          </a:prstGeom>
          <a:gradFill rotWithShape="1">
            <a:gsLst>
              <a:gs pos="0">
                <a:srgbClr val="2196F3">
                  <a:alpha val="12000"/>
                </a:srgbClr>
              </a:gs>
              <a:gs pos="70000">
                <a:srgbClr val="000000">
                  <a:alpha val="0"/>
                </a:srgbClr>
              </a:gs>
            </a:gsLst>
            <a:path path="circle">
              <a:fillToRect l="50000" t="50000" r="50000" b="50000"/>
            </a:path>
          </a:gradFill>
          <a:ln/>
        </p:spPr>
      </p:sp>
      <p:sp>
        <p:nvSpPr>
          <p:cNvPr id="11" name="Shape 9"/>
          <p:cNvSpPr/>
          <p:nvPr/>
        </p:nvSpPr>
        <p:spPr>
          <a:xfrm>
            <a:off x="2131695" y="846356"/>
            <a:ext cx="160020" cy="160020"/>
          </a:xfrm>
          <a:prstGeom prst="roundRect">
            <a:avLst>
              <a:gd name="adj" fmla="val 21429"/>
            </a:avLst>
          </a:prstGeom>
          <a:solidFill>
            <a:srgbClr val="2196F3">
              <a:alpha val="12000"/>
            </a:srgbClr>
          </a:solidFill>
          <a:ln w="5715">
            <a:solidFill>
              <a:srgbClr val="2196F3">
                <a:alpha val="30000"/>
              </a:srgbClr>
            </a:solidFill>
            <a:prstDash val="solid"/>
          </a:ln>
        </p:spPr>
      </p:sp>
      <p:sp>
        <p:nvSpPr>
          <p:cNvPr id="12" name="Text 10"/>
          <p:cNvSpPr/>
          <p:nvPr/>
        </p:nvSpPr>
        <p:spPr>
          <a:xfrm>
            <a:off x="2131695" y="846356"/>
            <a:ext cx="234315" cy="160020"/>
          </a:xfrm>
          <a:prstGeom prst="rect">
            <a:avLst/>
          </a:prstGeom>
          <a:noFill/>
          <a:ln/>
        </p:spPr>
        <p:txBody>
          <a:bodyPr wrap="none" rtlCol="0" anchor="ctr"/>
          <a:lstStyle/>
          <a:p>
            <a:pPr algn="l" indent="0" marL="0">
              <a:buNone/>
            </a:pPr>
            <a:r>
              <a:rPr lang="en-US" sz="585" b="1" dirty="0">
                <a:solidFill>
                  <a:srgbClr val="2196F3"/>
                </a:solidFill>
                <a:latin typeface="Inter" pitchFamily="34" charset="0"/>
                <a:ea typeface="Inter" pitchFamily="34" charset="-122"/>
                <a:cs typeface="Inter" pitchFamily="34" charset="-120"/>
              </a:rPr>
              <a:t>G</a:t>
            </a:r>
            <a:endParaRPr lang="en-US" sz="585" dirty="0"/>
          </a:p>
        </p:txBody>
      </p:sp>
      <p:sp>
        <p:nvSpPr>
          <p:cNvPr id="13" name="Text 11"/>
          <p:cNvSpPr/>
          <p:nvPr/>
        </p:nvSpPr>
        <p:spPr>
          <a:xfrm>
            <a:off x="440055" y="880646"/>
            <a:ext cx="562928" cy="80010"/>
          </a:xfrm>
          <a:prstGeom prst="rect">
            <a:avLst/>
          </a:prstGeom>
          <a:noFill/>
          <a:ln/>
        </p:spPr>
        <p:txBody>
          <a:bodyPr wrap="none" rtlCol="0" anchor="ctr"/>
          <a:lstStyle/>
          <a:p>
            <a:pPr algn="l" indent="0" marL="0">
              <a:buNone/>
            </a:pPr>
            <a:r>
              <a:rPr lang="en-US" sz="495" spc="68" kern="0" dirty="0">
                <a:solidFill>
                  <a:srgbClr val="B0BEC5"/>
                </a:solidFill>
                <a:latin typeface="Inter" pitchFamily="34" charset="0"/>
                <a:ea typeface="Inter" pitchFamily="34" charset="-122"/>
                <a:cs typeface="Inter" pitchFamily="34" charset="-120"/>
              </a:rPr>
              <a:t>全球贡献者覆盖</a:t>
            </a:r>
            <a:endParaRPr lang="en-US" sz="495" dirty="0"/>
          </a:p>
        </p:txBody>
      </p:sp>
      <p:sp>
        <p:nvSpPr>
          <p:cNvPr id="14" name="Text 12"/>
          <p:cNvSpPr/>
          <p:nvPr/>
        </p:nvSpPr>
        <p:spPr>
          <a:xfrm>
            <a:off x="440055" y="1017806"/>
            <a:ext cx="2035454" cy="226278"/>
          </a:xfrm>
          <a:prstGeom prst="rect">
            <a:avLst/>
          </a:prstGeom>
          <a:noFill/>
          <a:ln/>
        </p:spPr>
        <p:txBody>
          <a:bodyPr wrap="square" rtlCol="0" anchor="ctr"/>
          <a:lstStyle/>
          <a:p>
            <a:pPr algn="l" indent="0" marL="0">
              <a:lnSpc>
                <a:spcPct val="110000"/>
              </a:lnSpc>
              <a:buNone/>
            </a:pPr>
            <a:r>
              <a:rPr lang="en-US" sz="1620" b="1" dirty="0">
                <a:solidFill>
                  <a:srgbClr val="FFFFFF"/>
                </a:solidFill>
                <a:latin typeface="Inter" pitchFamily="34" charset="0"/>
                <a:ea typeface="Inter" pitchFamily="34" charset="-122"/>
                <a:cs typeface="Inter" pitchFamily="34" charset="-120"/>
              </a:rPr>
              <a:t>180</a:t>
            </a:r>
            <a:pPr algn="l" indent="0" marL="0">
              <a:lnSpc>
                <a:spcPct val="110000"/>
              </a:lnSpc>
              <a:buNone/>
            </a:pPr>
            <a:r>
              <a:rPr lang="en-US" sz="630" b="1" dirty="0">
                <a:solidFill>
                  <a:srgbClr val="2196F3"/>
                </a:solidFill>
                <a:latin typeface="Inter" pitchFamily="34" charset="0"/>
                <a:ea typeface="Inter" pitchFamily="34" charset="-122"/>
                <a:cs typeface="Inter" pitchFamily="34" charset="-120"/>
              </a:rPr>
              <a:t>+ 国家</a:t>
            </a:r>
            <a:endParaRPr lang="en-US" sz="1620" dirty="0"/>
          </a:p>
        </p:txBody>
      </p:sp>
      <p:sp>
        <p:nvSpPr>
          <p:cNvPr id="15" name="Text 13"/>
          <p:cNvSpPr/>
          <p:nvPr/>
        </p:nvSpPr>
        <p:spPr>
          <a:xfrm>
            <a:off x="440055" y="1301234"/>
            <a:ext cx="2035454" cy="105102"/>
          </a:xfrm>
          <a:prstGeom prst="rect">
            <a:avLst/>
          </a:prstGeom>
          <a:noFill/>
          <a:ln/>
        </p:spPr>
        <p:txBody>
          <a:bodyPr wrap="none" rtlCol="0" anchor="ctr"/>
          <a:lstStyle/>
          <a:p>
            <a:pPr algn="l" indent="0" marL="0">
              <a:lnSpc>
                <a:spcPct val="160000"/>
              </a:lnSpc>
              <a:buNone/>
            </a:pPr>
            <a:r>
              <a:rPr lang="en-US" sz="518" dirty="0">
                <a:solidFill>
                  <a:srgbClr val="7F8C9B"/>
                </a:solidFill>
                <a:latin typeface="Inter" pitchFamily="34" charset="0"/>
                <a:ea typeface="Inter" pitchFamily="34" charset="-122"/>
                <a:cs typeface="Inter" pitchFamily="34" charset="-120"/>
              </a:rPr>
              <a:t>覆盖全球绝大多数有互联网接入的地区，开源影响力持续外延。</a:t>
            </a:r>
            <a:endParaRPr lang="en-US" sz="518" dirty="0"/>
          </a:p>
        </p:txBody>
      </p:sp>
      <p:sp>
        <p:nvSpPr>
          <p:cNvPr id="16" name="Shape 14"/>
          <p:cNvSpPr/>
          <p:nvPr/>
        </p:nvSpPr>
        <p:spPr>
          <a:xfrm>
            <a:off x="2468880" y="760631"/>
            <a:ext cx="2057400" cy="754291"/>
          </a:xfrm>
          <a:prstGeom prst="roundRect">
            <a:avLst>
              <a:gd name="adj" fmla="val 9092"/>
            </a:avLst>
          </a:prstGeom>
          <a:solidFill>
            <a:srgbClr val="111C2E"/>
          </a:solidFill>
          <a:ln w="5715">
            <a:solidFill>
              <a:srgbClr val="B0BEC5">
                <a:alpha val="15000"/>
              </a:srgbClr>
            </a:solidFill>
            <a:prstDash val="solid"/>
          </a:ln>
        </p:spPr>
      </p:sp>
      <p:sp>
        <p:nvSpPr>
          <p:cNvPr id="17" name="Shape 15"/>
          <p:cNvSpPr/>
          <p:nvPr/>
        </p:nvSpPr>
        <p:spPr>
          <a:xfrm>
            <a:off x="2468880" y="760631"/>
            <a:ext cx="2045970" cy="11430"/>
          </a:xfrm>
          <a:prstGeom prst="rect">
            <a:avLst/>
          </a:prstGeom>
          <a:gradFill rotWithShape="1">
            <a:gsLst>
              <a:gs pos="0">
                <a:srgbClr val="2196F3"/>
              </a:gs>
              <a:gs pos="100000">
                <a:srgbClr val="00BCD4"/>
              </a:gs>
            </a:gsLst>
            <a:lin ang="0" scaled="0"/>
          </a:gradFill>
          <a:ln/>
        </p:spPr>
      </p:sp>
      <p:sp>
        <p:nvSpPr>
          <p:cNvPr id="18" name="Shape 16"/>
          <p:cNvSpPr/>
          <p:nvPr/>
        </p:nvSpPr>
        <p:spPr>
          <a:xfrm>
            <a:off x="4171950" y="1160592"/>
            <a:ext cx="514350" cy="514350"/>
          </a:xfrm>
          <a:prstGeom prst="ellipse">
            <a:avLst/>
          </a:prstGeom>
          <a:gradFill rotWithShape="1">
            <a:gsLst>
              <a:gs pos="0">
                <a:srgbClr val="2196F3">
                  <a:alpha val="12000"/>
                </a:srgbClr>
              </a:gs>
              <a:gs pos="70000">
                <a:srgbClr val="000000">
                  <a:alpha val="0"/>
                </a:srgbClr>
              </a:gs>
            </a:gsLst>
            <a:path path="circle">
              <a:fillToRect l="50000" t="50000" r="50000" b="50000"/>
            </a:path>
          </a:gradFill>
          <a:ln/>
        </p:spPr>
      </p:sp>
      <p:sp>
        <p:nvSpPr>
          <p:cNvPr id="19" name="Shape 17"/>
          <p:cNvSpPr/>
          <p:nvPr/>
        </p:nvSpPr>
        <p:spPr>
          <a:xfrm>
            <a:off x="4280535" y="846356"/>
            <a:ext cx="160020" cy="160020"/>
          </a:xfrm>
          <a:prstGeom prst="roundRect">
            <a:avLst>
              <a:gd name="adj" fmla="val 21429"/>
            </a:avLst>
          </a:prstGeom>
          <a:solidFill>
            <a:srgbClr val="2196F3">
              <a:alpha val="12000"/>
            </a:srgbClr>
          </a:solidFill>
          <a:ln w="5715">
            <a:solidFill>
              <a:srgbClr val="2196F3">
                <a:alpha val="30000"/>
              </a:srgbClr>
            </a:solidFill>
            <a:prstDash val="solid"/>
          </a:ln>
        </p:spPr>
      </p:sp>
      <p:sp>
        <p:nvSpPr>
          <p:cNvPr id="20" name="Text 18"/>
          <p:cNvSpPr/>
          <p:nvPr/>
        </p:nvSpPr>
        <p:spPr>
          <a:xfrm>
            <a:off x="4280535" y="846356"/>
            <a:ext cx="234315" cy="160020"/>
          </a:xfrm>
          <a:prstGeom prst="rect">
            <a:avLst/>
          </a:prstGeom>
          <a:noFill/>
          <a:ln/>
        </p:spPr>
        <p:txBody>
          <a:bodyPr wrap="none" rtlCol="0" anchor="ctr"/>
          <a:lstStyle/>
          <a:p>
            <a:pPr algn="l" indent="0" marL="0">
              <a:buNone/>
            </a:pPr>
            <a:r>
              <a:rPr lang="en-US" sz="585" b="1" dirty="0">
                <a:solidFill>
                  <a:srgbClr val="2196F3"/>
                </a:solidFill>
                <a:latin typeface="Inter" pitchFamily="34" charset="0"/>
                <a:ea typeface="Inter" pitchFamily="34" charset="-122"/>
                <a:cs typeface="Inter" pitchFamily="34" charset="-120"/>
              </a:rPr>
              <a:t>C</a:t>
            </a:r>
            <a:endParaRPr lang="en-US" sz="585" dirty="0"/>
          </a:p>
        </p:txBody>
      </p:sp>
      <p:sp>
        <p:nvSpPr>
          <p:cNvPr id="21" name="Text 19"/>
          <p:cNvSpPr/>
          <p:nvPr/>
        </p:nvSpPr>
        <p:spPr>
          <a:xfrm>
            <a:off x="2588895" y="880646"/>
            <a:ext cx="562928" cy="80010"/>
          </a:xfrm>
          <a:prstGeom prst="rect">
            <a:avLst/>
          </a:prstGeom>
          <a:noFill/>
          <a:ln/>
        </p:spPr>
        <p:txBody>
          <a:bodyPr wrap="none" rtlCol="0" anchor="ctr"/>
          <a:lstStyle/>
          <a:p>
            <a:pPr algn="l" indent="0" marL="0">
              <a:buNone/>
            </a:pPr>
            <a:r>
              <a:rPr lang="en-US" sz="495" spc="68" kern="0" dirty="0">
                <a:solidFill>
                  <a:srgbClr val="B0BEC5"/>
                </a:solidFill>
                <a:latin typeface="Inter" pitchFamily="34" charset="0"/>
                <a:ea typeface="Inter" pitchFamily="34" charset="-122"/>
                <a:cs typeface="Inter" pitchFamily="34" charset="-120"/>
              </a:rPr>
              <a:t>中国贡献者增速</a:t>
            </a:r>
            <a:endParaRPr lang="en-US" sz="495" dirty="0"/>
          </a:p>
        </p:txBody>
      </p:sp>
      <p:sp>
        <p:nvSpPr>
          <p:cNvPr id="22" name="Text 20"/>
          <p:cNvSpPr/>
          <p:nvPr/>
        </p:nvSpPr>
        <p:spPr>
          <a:xfrm>
            <a:off x="2588895" y="1017806"/>
            <a:ext cx="2035454" cy="226278"/>
          </a:xfrm>
          <a:prstGeom prst="rect">
            <a:avLst/>
          </a:prstGeom>
          <a:noFill/>
          <a:ln/>
        </p:spPr>
        <p:txBody>
          <a:bodyPr wrap="square" rtlCol="0" anchor="ctr"/>
          <a:lstStyle/>
          <a:p>
            <a:pPr algn="l" indent="0" marL="0">
              <a:lnSpc>
                <a:spcPct val="110000"/>
              </a:lnSpc>
              <a:buNone/>
            </a:pPr>
            <a:r>
              <a:rPr lang="en-US" sz="1620" b="1" dirty="0">
                <a:solidFill>
                  <a:srgbClr val="FFFFFF"/>
                </a:solidFill>
                <a:latin typeface="Inter" pitchFamily="34" charset="0"/>
                <a:ea typeface="Inter" pitchFamily="34" charset="-122"/>
                <a:cs typeface="Inter" pitchFamily="34" charset="-120"/>
              </a:rPr>
              <a:t>领先</a:t>
            </a:r>
            <a:pPr algn="l" indent="0" marL="0">
              <a:lnSpc>
                <a:spcPct val="110000"/>
              </a:lnSpc>
              <a:buNone/>
            </a:pPr>
            <a:r>
              <a:rPr lang="en-US" sz="630" b="1" dirty="0">
                <a:solidFill>
                  <a:srgbClr val="2196F3"/>
                </a:solidFill>
                <a:latin typeface="Inter" pitchFamily="34" charset="0"/>
                <a:ea typeface="Inter" pitchFamily="34" charset="-122"/>
                <a:cs typeface="Inter" pitchFamily="34" charset="-120"/>
              </a:rPr>
              <a:t>全球</a:t>
            </a:r>
            <a:endParaRPr lang="en-US" sz="1620" dirty="0"/>
          </a:p>
        </p:txBody>
      </p:sp>
      <p:sp>
        <p:nvSpPr>
          <p:cNvPr id="23" name="Text 21"/>
          <p:cNvSpPr/>
          <p:nvPr/>
        </p:nvSpPr>
        <p:spPr>
          <a:xfrm>
            <a:off x="2588895" y="1301234"/>
            <a:ext cx="2035454" cy="105102"/>
          </a:xfrm>
          <a:prstGeom prst="rect">
            <a:avLst/>
          </a:prstGeom>
          <a:noFill/>
          <a:ln/>
        </p:spPr>
        <p:txBody>
          <a:bodyPr wrap="none" rtlCol="0" anchor="ctr"/>
          <a:lstStyle/>
          <a:p>
            <a:pPr algn="l" indent="0" marL="0">
              <a:lnSpc>
                <a:spcPct val="160000"/>
              </a:lnSpc>
              <a:buNone/>
            </a:pPr>
            <a:r>
              <a:rPr lang="en-US" sz="518" dirty="0">
                <a:solidFill>
                  <a:srgbClr val="7F8C9B"/>
                </a:solidFill>
                <a:latin typeface="Inter" pitchFamily="34" charset="0"/>
                <a:ea typeface="Inter" pitchFamily="34" charset="-122"/>
                <a:cs typeface="Inter" pitchFamily="34" charset="-120"/>
              </a:rPr>
              <a:t>企业级项目参与度快速上升，成为开源生态增长的重要引擎。</a:t>
            </a:r>
            <a:endParaRPr lang="en-US" sz="518" dirty="0"/>
          </a:p>
        </p:txBody>
      </p:sp>
      <p:sp>
        <p:nvSpPr>
          <p:cNvPr id="24" name="Shape 22"/>
          <p:cNvSpPr/>
          <p:nvPr/>
        </p:nvSpPr>
        <p:spPr>
          <a:xfrm>
            <a:off x="4617720" y="760631"/>
            <a:ext cx="2057400" cy="754291"/>
          </a:xfrm>
          <a:prstGeom prst="roundRect">
            <a:avLst>
              <a:gd name="adj" fmla="val 9092"/>
            </a:avLst>
          </a:prstGeom>
          <a:solidFill>
            <a:srgbClr val="111C2E"/>
          </a:solidFill>
          <a:ln w="5715">
            <a:solidFill>
              <a:srgbClr val="B0BEC5">
                <a:alpha val="15000"/>
              </a:srgbClr>
            </a:solidFill>
            <a:prstDash val="solid"/>
          </a:ln>
        </p:spPr>
      </p:sp>
      <p:sp>
        <p:nvSpPr>
          <p:cNvPr id="25" name="Shape 23"/>
          <p:cNvSpPr/>
          <p:nvPr/>
        </p:nvSpPr>
        <p:spPr>
          <a:xfrm>
            <a:off x="4617720" y="760631"/>
            <a:ext cx="2045970" cy="11430"/>
          </a:xfrm>
          <a:prstGeom prst="rect">
            <a:avLst/>
          </a:prstGeom>
          <a:gradFill rotWithShape="1">
            <a:gsLst>
              <a:gs pos="0">
                <a:srgbClr val="2196F3"/>
              </a:gs>
              <a:gs pos="100000">
                <a:srgbClr val="00BCD4"/>
              </a:gs>
            </a:gsLst>
            <a:lin ang="0" scaled="0"/>
          </a:gradFill>
          <a:ln/>
        </p:spPr>
      </p:sp>
      <p:sp>
        <p:nvSpPr>
          <p:cNvPr id="26" name="Shape 24"/>
          <p:cNvSpPr/>
          <p:nvPr/>
        </p:nvSpPr>
        <p:spPr>
          <a:xfrm>
            <a:off x="6320790" y="1160592"/>
            <a:ext cx="514350" cy="514350"/>
          </a:xfrm>
          <a:prstGeom prst="ellipse">
            <a:avLst/>
          </a:prstGeom>
          <a:gradFill rotWithShape="1">
            <a:gsLst>
              <a:gs pos="0">
                <a:srgbClr val="2196F3">
                  <a:alpha val="12000"/>
                </a:srgbClr>
              </a:gs>
              <a:gs pos="70000">
                <a:srgbClr val="000000">
                  <a:alpha val="0"/>
                </a:srgbClr>
              </a:gs>
            </a:gsLst>
            <a:path path="circle">
              <a:fillToRect l="50000" t="50000" r="50000" b="50000"/>
            </a:path>
          </a:gradFill>
          <a:ln/>
        </p:spPr>
      </p:sp>
      <p:sp>
        <p:nvSpPr>
          <p:cNvPr id="27" name="Shape 25"/>
          <p:cNvSpPr/>
          <p:nvPr/>
        </p:nvSpPr>
        <p:spPr>
          <a:xfrm>
            <a:off x="6429375" y="846356"/>
            <a:ext cx="160020" cy="160020"/>
          </a:xfrm>
          <a:prstGeom prst="roundRect">
            <a:avLst>
              <a:gd name="adj" fmla="val 21429"/>
            </a:avLst>
          </a:prstGeom>
          <a:solidFill>
            <a:srgbClr val="2196F3">
              <a:alpha val="12000"/>
            </a:srgbClr>
          </a:solidFill>
          <a:ln w="5715">
            <a:solidFill>
              <a:srgbClr val="2196F3">
                <a:alpha val="30000"/>
              </a:srgbClr>
            </a:solidFill>
            <a:prstDash val="solid"/>
          </a:ln>
        </p:spPr>
      </p:sp>
      <p:sp>
        <p:nvSpPr>
          <p:cNvPr id="28" name="Text 26"/>
          <p:cNvSpPr/>
          <p:nvPr/>
        </p:nvSpPr>
        <p:spPr>
          <a:xfrm>
            <a:off x="6429375" y="846356"/>
            <a:ext cx="234315" cy="160020"/>
          </a:xfrm>
          <a:prstGeom prst="rect">
            <a:avLst/>
          </a:prstGeom>
          <a:noFill/>
          <a:ln/>
        </p:spPr>
        <p:txBody>
          <a:bodyPr wrap="none" rtlCol="0" anchor="ctr"/>
          <a:lstStyle/>
          <a:p>
            <a:pPr algn="l" indent="0" marL="0">
              <a:buNone/>
            </a:pPr>
            <a:r>
              <a:rPr lang="en-US" sz="585" b="1" dirty="0">
                <a:solidFill>
                  <a:srgbClr val="2196F3"/>
                </a:solidFill>
                <a:latin typeface="Inter" pitchFamily="34" charset="0"/>
                <a:ea typeface="Inter" pitchFamily="34" charset="-122"/>
                <a:cs typeface="Inter" pitchFamily="34" charset="-120"/>
              </a:rPr>
              <a:t>L</a:t>
            </a:r>
            <a:endParaRPr lang="en-US" sz="585" dirty="0"/>
          </a:p>
        </p:txBody>
      </p:sp>
      <p:sp>
        <p:nvSpPr>
          <p:cNvPr id="29" name="Text 27"/>
          <p:cNvSpPr/>
          <p:nvPr/>
        </p:nvSpPr>
        <p:spPr>
          <a:xfrm>
            <a:off x="4737735" y="880646"/>
            <a:ext cx="574358" cy="80010"/>
          </a:xfrm>
          <a:prstGeom prst="rect">
            <a:avLst/>
          </a:prstGeom>
          <a:noFill/>
          <a:ln/>
        </p:spPr>
        <p:txBody>
          <a:bodyPr wrap="none" rtlCol="0" anchor="ctr"/>
          <a:lstStyle/>
          <a:p>
            <a:pPr algn="l" indent="0" marL="0">
              <a:buNone/>
            </a:pPr>
            <a:r>
              <a:rPr lang="en-US" sz="495" spc="68" kern="0" dirty="0">
                <a:solidFill>
                  <a:srgbClr val="B0BEC5"/>
                </a:solidFill>
                <a:latin typeface="Inter" pitchFamily="34" charset="0"/>
                <a:ea typeface="Inter" pitchFamily="34" charset="-122"/>
                <a:cs typeface="Inter" pitchFamily="34" charset="-120"/>
              </a:rPr>
              <a:t>主流语言 TOP3</a:t>
            </a:r>
            <a:endParaRPr lang="en-US" sz="495" dirty="0"/>
          </a:p>
        </p:txBody>
      </p:sp>
      <p:sp>
        <p:nvSpPr>
          <p:cNvPr id="30" name="Text 28"/>
          <p:cNvSpPr/>
          <p:nvPr/>
        </p:nvSpPr>
        <p:spPr>
          <a:xfrm>
            <a:off x="4737735" y="1017806"/>
            <a:ext cx="2035454" cy="226278"/>
          </a:xfrm>
          <a:prstGeom prst="rect">
            <a:avLst/>
          </a:prstGeom>
          <a:noFill/>
          <a:ln/>
        </p:spPr>
        <p:txBody>
          <a:bodyPr wrap="square" rtlCol="0" anchor="ctr"/>
          <a:lstStyle/>
          <a:p>
            <a:pPr algn="l" indent="0" marL="0">
              <a:lnSpc>
                <a:spcPct val="110000"/>
              </a:lnSpc>
              <a:buNone/>
            </a:pPr>
            <a:r>
              <a:rPr lang="en-US" sz="1620" b="1" dirty="0">
                <a:solidFill>
                  <a:srgbClr val="FFFFFF"/>
                </a:solidFill>
                <a:latin typeface="Inter" pitchFamily="34" charset="0"/>
                <a:ea typeface="Inter" pitchFamily="34" charset="-122"/>
                <a:cs typeface="Inter" pitchFamily="34" charset="-120"/>
              </a:rPr>
              <a:t>JS</a:t>
            </a:r>
            <a:pPr algn="l" indent="0" marL="0">
              <a:lnSpc>
                <a:spcPct val="110000"/>
              </a:lnSpc>
              <a:buNone/>
            </a:pPr>
            <a:r>
              <a:rPr lang="en-US" sz="630" b="1" dirty="0">
                <a:solidFill>
                  <a:srgbClr val="2196F3"/>
                </a:solidFill>
                <a:latin typeface="Inter" pitchFamily="34" charset="0"/>
                <a:ea typeface="Inter" pitchFamily="34" charset="-122"/>
                <a:cs typeface="Inter" pitchFamily="34" charset="-120"/>
              </a:rPr>
              <a:t>·Py·Go</a:t>
            </a:r>
            <a:endParaRPr lang="en-US" sz="1620" dirty="0"/>
          </a:p>
        </p:txBody>
      </p:sp>
      <p:sp>
        <p:nvSpPr>
          <p:cNvPr id="31" name="Text 29"/>
          <p:cNvSpPr/>
          <p:nvPr/>
        </p:nvSpPr>
        <p:spPr>
          <a:xfrm>
            <a:off x="4737735" y="1301234"/>
            <a:ext cx="2035454" cy="105102"/>
          </a:xfrm>
          <a:prstGeom prst="rect">
            <a:avLst/>
          </a:prstGeom>
          <a:noFill/>
          <a:ln/>
        </p:spPr>
        <p:txBody>
          <a:bodyPr wrap="none" rtlCol="0" anchor="ctr"/>
          <a:lstStyle/>
          <a:p>
            <a:pPr algn="l" indent="0" marL="0">
              <a:lnSpc>
                <a:spcPct val="160000"/>
              </a:lnSpc>
              <a:buNone/>
            </a:pPr>
            <a:r>
              <a:rPr lang="en-US" sz="518" dirty="0">
                <a:solidFill>
                  <a:srgbClr val="7F8C9B"/>
                </a:solidFill>
                <a:latin typeface="Inter" pitchFamily="34" charset="0"/>
                <a:ea typeface="Inter" pitchFamily="34" charset="-122"/>
                <a:cs typeface="Inter" pitchFamily="34" charset="-120"/>
              </a:rPr>
              <a:t>JavaScript / Python / Go 三大语言生态覆盖大多数开源项目。</a:t>
            </a:r>
            <a:endParaRPr lang="en-US" sz="518" dirty="0"/>
          </a:p>
        </p:txBody>
      </p:sp>
      <p:sp>
        <p:nvSpPr>
          <p:cNvPr id="32" name="Shape 30"/>
          <p:cNvSpPr/>
          <p:nvPr/>
        </p:nvSpPr>
        <p:spPr>
          <a:xfrm>
            <a:off x="6766560" y="760631"/>
            <a:ext cx="2057400" cy="754291"/>
          </a:xfrm>
          <a:prstGeom prst="roundRect">
            <a:avLst>
              <a:gd name="adj" fmla="val 9092"/>
            </a:avLst>
          </a:prstGeom>
          <a:solidFill>
            <a:srgbClr val="111C2E"/>
          </a:solidFill>
          <a:ln w="5715">
            <a:solidFill>
              <a:srgbClr val="B0BEC5">
                <a:alpha val="15000"/>
              </a:srgbClr>
            </a:solidFill>
            <a:prstDash val="solid"/>
          </a:ln>
        </p:spPr>
      </p:sp>
      <p:sp>
        <p:nvSpPr>
          <p:cNvPr id="33" name="Shape 31"/>
          <p:cNvSpPr/>
          <p:nvPr/>
        </p:nvSpPr>
        <p:spPr>
          <a:xfrm>
            <a:off x="6766560" y="760631"/>
            <a:ext cx="2045970" cy="11430"/>
          </a:xfrm>
          <a:prstGeom prst="rect">
            <a:avLst/>
          </a:prstGeom>
          <a:gradFill rotWithShape="1">
            <a:gsLst>
              <a:gs pos="0">
                <a:srgbClr val="2196F3"/>
              </a:gs>
              <a:gs pos="100000">
                <a:srgbClr val="00BCD4"/>
              </a:gs>
            </a:gsLst>
            <a:lin ang="0" scaled="0"/>
          </a:gradFill>
          <a:ln/>
        </p:spPr>
      </p:sp>
      <p:sp>
        <p:nvSpPr>
          <p:cNvPr id="34" name="Shape 32"/>
          <p:cNvSpPr/>
          <p:nvPr/>
        </p:nvSpPr>
        <p:spPr>
          <a:xfrm>
            <a:off x="8469630" y="1160592"/>
            <a:ext cx="514350" cy="514350"/>
          </a:xfrm>
          <a:prstGeom prst="ellipse">
            <a:avLst/>
          </a:prstGeom>
          <a:gradFill rotWithShape="1">
            <a:gsLst>
              <a:gs pos="0">
                <a:srgbClr val="2196F3">
                  <a:alpha val="12000"/>
                </a:srgbClr>
              </a:gs>
              <a:gs pos="70000">
                <a:srgbClr val="000000">
                  <a:alpha val="0"/>
                </a:srgbClr>
              </a:gs>
            </a:gsLst>
            <a:path path="circle">
              <a:fillToRect l="50000" t="50000" r="50000" b="50000"/>
            </a:path>
          </a:gradFill>
          <a:ln/>
        </p:spPr>
      </p:sp>
      <p:sp>
        <p:nvSpPr>
          <p:cNvPr id="35" name="Shape 33"/>
          <p:cNvSpPr/>
          <p:nvPr/>
        </p:nvSpPr>
        <p:spPr>
          <a:xfrm>
            <a:off x="8578215" y="846356"/>
            <a:ext cx="160020" cy="160020"/>
          </a:xfrm>
          <a:prstGeom prst="roundRect">
            <a:avLst>
              <a:gd name="adj" fmla="val 21429"/>
            </a:avLst>
          </a:prstGeom>
          <a:solidFill>
            <a:srgbClr val="2196F3">
              <a:alpha val="12000"/>
            </a:srgbClr>
          </a:solidFill>
          <a:ln w="5715">
            <a:solidFill>
              <a:srgbClr val="2196F3">
                <a:alpha val="30000"/>
              </a:srgbClr>
            </a:solidFill>
            <a:prstDash val="solid"/>
          </a:ln>
        </p:spPr>
      </p:sp>
      <p:sp>
        <p:nvSpPr>
          <p:cNvPr id="36" name="Text 34"/>
          <p:cNvSpPr/>
          <p:nvPr/>
        </p:nvSpPr>
        <p:spPr>
          <a:xfrm>
            <a:off x="8578215" y="846356"/>
            <a:ext cx="234315" cy="160020"/>
          </a:xfrm>
          <a:prstGeom prst="rect">
            <a:avLst/>
          </a:prstGeom>
          <a:noFill/>
          <a:ln/>
        </p:spPr>
        <p:txBody>
          <a:bodyPr wrap="none" rtlCol="0" anchor="ctr"/>
          <a:lstStyle/>
          <a:p>
            <a:pPr algn="l" indent="0" marL="0">
              <a:buNone/>
            </a:pPr>
            <a:r>
              <a:rPr lang="en-US" sz="585" b="1" dirty="0">
                <a:solidFill>
                  <a:srgbClr val="2196F3"/>
                </a:solidFill>
                <a:latin typeface="Inter" pitchFamily="34" charset="0"/>
                <a:ea typeface="Inter" pitchFamily="34" charset="-122"/>
                <a:cs typeface="Inter" pitchFamily="34" charset="-120"/>
              </a:rPr>
              <a:t>P</a:t>
            </a:r>
            <a:endParaRPr lang="en-US" sz="585" dirty="0"/>
          </a:p>
        </p:txBody>
      </p:sp>
      <p:sp>
        <p:nvSpPr>
          <p:cNvPr id="37" name="Text 35"/>
          <p:cNvSpPr/>
          <p:nvPr/>
        </p:nvSpPr>
        <p:spPr>
          <a:xfrm>
            <a:off x="6886575" y="880646"/>
            <a:ext cx="277178" cy="80010"/>
          </a:xfrm>
          <a:prstGeom prst="rect">
            <a:avLst/>
          </a:prstGeom>
          <a:noFill/>
          <a:ln/>
        </p:spPr>
        <p:txBody>
          <a:bodyPr wrap="none" rtlCol="0" anchor="ctr"/>
          <a:lstStyle/>
          <a:p>
            <a:pPr algn="l" indent="0" marL="0">
              <a:buNone/>
            </a:pPr>
            <a:r>
              <a:rPr lang="en-US" sz="495" spc="68" kern="0" dirty="0">
                <a:solidFill>
                  <a:srgbClr val="B0BEC5"/>
                </a:solidFill>
                <a:latin typeface="Inter" pitchFamily="34" charset="0"/>
                <a:ea typeface="Inter" pitchFamily="34" charset="-122"/>
                <a:cs typeface="Inter" pitchFamily="34" charset="-120"/>
              </a:rPr>
              <a:t>主平台</a:t>
            </a:r>
            <a:endParaRPr lang="en-US" sz="495" dirty="0"/>
          </a:p>
        </p:txBody>
      </p:sp>
      <p:sp>
        <p:nvSpPr>
          <p:cNvPr id="38" name="Text 36"/>
          <p:cNvSpPr/>
          <p:nvPr/>
        </p:nvSpPr>
        <p:spPr>
          <a:xfrm>
            <a:off x="6886575" y="1017806"/>
            <a:ext cx="2035454" cy="226278"/>
          </a:xfrm>
          <a:prstGeom prst="rect">
            <a:avLst/>
          </a:prstGeom>
          <a:noFill/>
          <a:ln/>
        </p:spPr>
        <p:txBody>
          <a:bodyPr wrap="none" rtlCol="0" anchor="ctr"/>
          <a:lstStyle/>
          <a:p>
            <a:pPr algn="l" indent="0" marL="0">
              <a:lnSpc>
                <a:spcPct val="110000"/>
              </a:lnSpc>
              <a:buNone/>
            </a:pPr>
            <a:r>
              <a:rPr lang="en-US" sz="1620" b="1" dirty="0">
                <a:solidFill>
                  <a:srgbClr val="FFFFFF"/>
                </a:solidFill>
                <a:latin typeface="Inter" pitchFamily="34" charset="0"/>
                <a:ea typeface="Inter" pitchFamily="34" charset="-122"/>
                <a:cs typeface="Inter" pitchFamily="34" charset="-120"/>
              </a:rPr>
              <a:t>GitHub</a:t>
            </a:r>
            <a:endParaRPr lang="en-US" sz="1620" dirty="0"/>
          </a:p>
        </p:txBody>
      </p:sp>
      <p:sp>
        <p:nvSpPr>
          <p:cNvPr id="39" name="Text 37"/>
          <p:cNvSpPr/>
          <p:nvPr/>
        </p:nvSpPr>
        <p:spPr>
          <a:xfrm>
            <a:off x="6886575" y="1301234"/>
            <a:ext cx="2035454" cy="105102"/>
          </a:xfrm>
          <a:prstGeom prst="rect">
            <a:avLst/>
          </a:prstGeom>
          <a:noFill/>
          <a:ln/>
        </p:spPr>
        <p:txBody>
          <a:bodyPr wrap="none" rtlCol="0" anchor="ctr"/>
          <a:lstStyle/>
          <a:p>
            <a:pPr algn="l" indent="0" marL="0">
              <a:lnSpc>
                <a:spcPct val="160000"/>
              </a:lnSpc>
              <a:buNone/>
            </a:pPr>
            <a:r>
              <a:rPr lang="en-US" sz="518" dirty="0">
                <a:solidFill>
                  <a:srgbClr val="7F8C9B"/>
                </a:solidFill>
                <a:latin typeface="Inter" pitchFamily="34" charset="0"/>
                <a:ea typeface="Inter" pitchFamily="34" charset="-122"/>
                <a:cs typeface="Inter" pitchFamily="34" charset="-120"/>
              </a:rPr>
              <a:t>仍为最大代码托管与协作平台，生态壁垒持续巩固。</a:t>
            </a:r>
            <a:endParaRPr lang="en-US" sz="518" dirty="0"/>
          </a:p>
        </p:txBody>
      </p:sp>
      <p:sp>
        <p:nvSpPr>
          <p:cNvPr id="40" name="Shape 38"/>
          <p:cNvSpPr/>
          <p:nvPr/>
        </p:nvSpPr>
        <p:spPr>
          <a:xfrm>
            <a:off x="320040" y="1617791"/>
            <a:ext cx="4206240" cy="405765"/>
          </a:xfrm>
          <a:prstGeom prst="roundRect">
            <a:avLst>
              <a:gd name="adj" fmla="val 16901"/>
            </a:avLst>
          </a:prstGeom>
          <a:solidFill>
            <a:srgbClr val="0F1828"/>
          </a:solidFill>
          <a:ln w="5715">
            <a:solidFill>
              <a:srgbClr val="B0BEC5">
                <a:alpha val="15000"/>
              </a:srgbClr>
            </a:solidFill>
            <a:prstDash val="solid"/>
          </a:ln>
        </p:spPr>
      </p:sp>
      <p:sp>
        <p:nvSpPr>
          <p:cNvPr id="41" name="Shape 39"/>
          <p:cNvSpPr/>
          <p:nvPr/>
        </p:nvSpPr>
        <p:spPr>
          <a:xfrm>
            <a:off x="440055" y="1792099"/>
            <a:ext cx="57150" cy="57150"/>
          </a:xfrm>
          <a:prstGeom prst="ellipse">
            <a:avLst/>
          </a:prstGeom>
          <a:solidFill>
            <a:srgbClr val="FF7043"/>
          </a:solidFill>
          <a:ln/>
          <a:effectLst>
            <a:outerShdw sx="100000" sy="100000" kx="0" ky="0" algn="bl" rotWithShape="0" blurRad="114300" dist="50800" dir="16200000">
              <a:srgbClr val="FF7043">
                <a:alpha val="100000"/>
              </a:srgbClr>
            </a:outerShdw>
          </a:effectLst>
        </p:spPr>
      </p:sp>
      <p:sp>
        <p:nvSpPr>
          <p:cNvPr id="42" name="Text 40"/>
          <p:cNvSpPr/>
          <p:nvPr/>
        </p:nvSpPr>
        <p:spPr>
          <a:xfrm>
            <a:off x="588645" y="1714946"/>
            <a:ext cx="806501" cy="97155"/>
          </a:xfrm>
          <a:prstGeom prst="rect">
            <a:avLst/>
          </a:prstGeom>
          <a:noFill/>
          <a:ln/>
        </p:spPr>
        <p:txBody>
          <a:bodyPr wrap="none" rtlCol="0" anchor="ctr"/>
          <a:lstStyle/>
          <a:p>
            <a:pPr algn="l" indent="0" marL="0">
              <a:buNone/>
            </a:pPr>
            <a:r>
              <a:rPr lang="en-US" sz="630" b="1" dirty="0">
                <a:solidFill>
                  <a:srgbClr val="E8EEF5"/>
                </a:solidFill>
                <a:latin typeface="Inter" pitchFamily="34" charset="0"/>
                <a:ea typeface="Inter" pitchFamily="34" charset="-122"/>
                <a:cs typeface="Inter" pitchFamily="34" charset="-120"/>
              </a:rPr>
              <a:t>女性贡献者比例偏低</a:t>
            </a:r>
            <a:endParaRPr lang="en-US" sz="630" dirty="0"/>
          </a:p>
        </p:txBody>
      </p:sp>
      <p:sp>
        <p:nvSpPr>
          <p:cNvPr id="43" name="Text 41"/>
          <p:cNvSpPr/>
          <p:nvPr/>
        </p:nvSpPr>
        <p:spPr>
          <a:xfrm>
            <a:off x="588645" y="1834961"/>
            <a:ext cx="3680460" cy="102870"/>
          </a:xfrm>
          <a:prstGeom prst="rect">
            <a:avLst/>
          </a:prstGeom>
          <a:noFill/>
          <a:ln/>
        </p:spPr>
        <p:txBody>
          <a:bodyPr wrap="none" rtlCol="0" anchor="ctr"/>
          <a:lstStyle/>
          <a:p>
            <a:pPr algn="l" indent="0" marL="0">
              <a:lnSpc>
                <a:spcPct val="150000"/>
              </a:lnSpc>
              <a:buNone/>
            </a:pPr>
            <a:r>
              <a:rPr lang="en-US" sz="540" dirty="0">
                <a:solidFill>
                  <a:srgbClr val="B0BEC5"/>
                </a:solidFill>
                <a:latin typeface="Inter" pitchFamily="34" charset="0"/>
                <a:ea typeface="Inter" pitchFamily="34" charset="-122"/>
                <a:cs typeface="Inter" pitchFamily="34" charset="-120"/>
              </a:rPr>
              <a:t>社区正推动包容性改进，多元人才引入仍是长期议题。</a:t>
            </a:r>
            <a:endParaRPr lang="en-US" sz="540" dirty="0"/>
          </a:p>
        </p:txBody>
      </p:sp>
      <p:sp>
        <p:nvSpPr>
          <p:cNvPr id="44" name="Shape 42"/>
          <p:cNvSpPr/>
          <p:nvPr/>
        </p:nvSpPr>
        <p:spPr>
          <a:xfrm>
            <a:off x="3966210" y="1749236"/>
            <a:ext cx="440055" cy="142875"/>
          </a:xfrm>
          <a:prstGeom prst="roundRect">
            <a:avLst>
              <a:gd name="adj" fmla="val 80000"/>
            </a:avLst>
          </a:prstGeom>
          <a:solidFill>
            <a:srgbClr val="FF7043">
              <a:alpha val="6000"/>
            </a:srgbClr>
          </a:solidFill>
          <a:ln w="5715">
            <a:solidFill>
              <a:srgbClr val="FF7043">
                <a:alpha val="40000"/>
              </a:srgbClr>
            </a:solidFill>
            <a:prstDash val="solid"/>
          </a:ln>
        </p:spPr>
      </p:sp>
      <p:sp>
        <p:nvSpPr>
          <p:cNvPr id="45" name="Text 43"/>
          <p:cNvSpPr/>
          <p:nvPr/>
        </p:nvSpPr>
        <p:spPr>
          <a:xfrm>
            <a:off x="3966210" y="1749236"/>
            <a:ext cx="497205" cy="142875"/>
          </a:xfrm>
          <a:prstGeom prst="rect">
            <a:avLst/>
          </a:prstGeom>
          <a:noFill/>
          <a:ln/>
        </p:spPr>
        <p:txBody>
          <a:bodyPr wrap="none" lIns="22860" tIns="57150" rIns="57150" bIns="22860" rtlCol="0" anchor="ctr"/>
          <a:lstStyle/>
          <a:p>
            <a:pPr algn="l" indent="0" marL="0">
              <a:buNone/>
            </a:pPr>
            <a:r>
              <a:rPr lang="en-US" sz="450" spc="45" kern="0" dirty="0">
                <a:solidFill>
                  <a:srgbClr val="FF7043"/>
                </a:solidFill>
                <a:latin typeface="Inter" pitchFamily="34" charset="0"/>
                <a:ea typeface="Inter" pitchFamily="34" charset="-122"/>
                <a:cs typeface="Inter" pitchFamily="34" charset="-120"/>
              </a:rPr>
              <a:t>包容性改进</a:t>
            </a:r>
            <a:endParaRPr lang="en-US" sz="450" dirty="0"/>
          </a:p>
        </p:txBody>
      </p:sp>
      <p:sp>
        <p:nvSpPr>
          <p:cNvPr id="46" name="Shape 44"/>
          <p:cNvSpPr/>
          <p:nvPr/>
        </p:nvSpPr>
        <p:spPr>
          <a:xfrm>
            <a:off x="4617720" y="1617791"/>
            <a:ext cx="4206240" cy="405765"/>
          </a:xfrm>
          <a:prstGeom prst="roundRect">
            <a:avLst>
              <a:gd name="adj" fmla="val 16901"/>
            </a:avLst>
          </a:prstGeom>
          <a:solidFill>
            <a:srgbClr val="0F1828"/>
          </a:solidFill>
          <a:ln w="5715">
            <a:solidFill>
              <a:srgbClr val="B0BEC5">
                <a:alpha val="15000"/>
              </a:srgbClr>
            </a:solidFill>
            <a:prstDash val="solid"/>
          </a:ln>
        </p:spPr>
      </p:sp>
      <p:sp>
        <p:nvSpPr>
          <p:cNvPr id="47" name="Shape 45"/>
          <p:cNvSpPr/>
          <p:nvPr/>
        </p:nvSpPr>
        <p:spPr>
          <a:xfrm>
            <a:off x="4737735" y="1792099"/>
            <a:ext cx="57150" cy="57150"/>
          </a:xfrm>
          <a:prstGeom prst="ellipse">
            <a:avLst/>
          </a:prstGeom>
          <a:solidFill>
            <a:srgbClr val="00BCD4"/>
          </a:solidFill>
          <a:ln/>
          <a:effectLst>
            <a:outerShdw sx="100000" sy="100000" kx="0" ky="0" algn="bl" rotWithShape="0" blurRad="114300" dist="50800" dir="16200000">
              <a:srgbClr val="00BCD4">
                <a:alpha val="100000"/>
              </a:srgbClr>
            </a:outerShdw>
          </a:effectLst>
        </p:spPr>
      </p:sp>
      <p:sp>
        <p:nvSpPr>
          <p:cNvPr id="48" name="Text 46"/>
          <p:cNvSpPr/>
          <p:nvPr/>
        </p:nvSpPr>
        <p:spPr>
          <a:xfrm>
            <a:off x="4886325" y="1714946"/>
            <a:ext cx="640080" cy="97155"/>
          </a:xfrm>
          <a:prstGeom prst="rect">
            <a:avLst/>
          </a:prstGeom>
          <a:noFill/>
          <a:ln/>
        </p:spPr>
        <p:txBody>
          <a:bodyPr wrap="none" rtlCol="0" anchor="ctr"/>
          <a:lstStyle/>
          <a:p>
            <a:pPr algn="l" indent="0" marL="0">
              <a:buNone/>
            </a:pPr>
            <a:r>
              <a:rPr lang="en-US" sz="630" b="1" dirty="0">
                <a:solidFill>
                  <a:srgbClr val="E8EEF5"/>
                </a:solidFill>
                <a:latin typeface="Inter" pitchFamily="34" charset="0"/>
                <a:ea typeface="Inter" pitchFamily="34" charset="-122"/>
                <a:cs typeface="Inter" pitchFamily="34" charset="-120"/>
              </a:rPr>
              <a:t>平台集中度仍高</a:t>
            </a:r>
            <a:endParaRPr lang="en-US" sz="630" dirty="0"/>
          </a:p>
        </p:txBody>
      </p:sp>
      <p:sp>
        <p:nvSpPr>
          <p:cNvPr id="49" name="Text 47"/>
          <p:cNvSpPr/>
          <p:nvPr/>
        </p:nvSpPr>
        <p:spPr>
          <a:xfrm>
            <a:off x="4886325" y="1834961"/>
            <a:ext cx="3680460" cy="102870"/>
          </a:xfrm>
          <a:prstGeom prst="rect">
            <a:avLst/>
          </a:prstGeom>
          <a:noFill/>
          <a:ln/>
        </p:spPr>
        <p:txBody>
          <a:bodyPr wrap="none" rtlCol="0" anchor="ctr"/>
          <a:lstStyle/>
          <a:p>
            <a:pPr algn="l" indent="0" marL="0">
              <a:lnSpc>
                <a:spcPct val="150000"/>
              </a:lnSpc>
              <a:buNone/>
            </a:pPr>
            <a:r>
              <a:rPr lang="en-US" sz="540" dirty="0">
                <a:solidFill>
                  <a:srgbClr val="B0BEC5"/>
                </a:solidFill>
                <a:latin typeface="Inter" pitchFamily="34" charset="0"/>
                <a:ea typeface="Inter" pitchFamily="34" charset="-122"/>
                <a:cs typeface="Inter" pitchFamily="34" charset="-120"/>
              </a:rPr>
              <a:t>GitHub 仍是最大贡献平台，GitLab 与 Gitee 亦不可忽视。</a:t>
            </a:r>
            <a:endParaRPr lang="en-US" sz="540" dirty="0"/>
          </a:p>
        </p:txBody>
      </p:sp>
      <p:sp>
        <p:nvSpPr>
          <p:cNvPr id="50" name="Shape 48"/>
          <p:cNvSpPr/>
          <p:nvPr/>
        </p:nvSpPr>
        <p:spPr>
          <a:xfrm>
            <a:off x="8263890" y="1749236"/>
            <a:ext cx="440055" cy="142875"/>
          </a:xfrm>
          <a:prstGeom prst="roundRect">
            <a:avLst>
              <a:gd name="adj" fmla="val 80000"/>
            </a:avLst>
          </a:prstGeom>
          <a:solidFill>
            <a:srgbClr val="00BCD4">
              <a:alpha val="6000"/>
            </a:srgbClr>
          </a:solidFill>
          <a:ln w="5715">
            <a:solidFill>
              <a:srgbClr val="00BCD4">
                <a:alpha val="40000"/>
              </a:srgbClr>
            </a:solidFill>
            <a:prstDash val="solid"/>
          </a:ln>
        </p:spPr>
      </p:sp>
      <p:sp>
        <p:nvSpPr>
          <p:cNvPr id="51" name="Text 49"/>
          <p:cNvSpPr/>
          <p:nvPr/>
        </p:nvSpPr>
        <p:spPr>
          <a:xfrm>
            <a:off x="8263890" y="1749236"/>
            <a:ext cx="497205" cy="142875"/>
          </a:xfrm>
          <a:prstGeom prst="rect">
            <a:avLst/>
          </a:prstGeom>
          <a:noFill/>
          <a:ln/>
        </p:spPr>
        <p:txBody>
          <a:bodyPr wrap="none" lIns="22860" tIns="57150" rIns="57150" bIns="22860" rtlCol="0" anchor="ctr"/>
          <a:lstStyle/>
          <a:p>
            <a:pPr algn="l" indent="0" marL="0">
              <a:buNone/>
            </a:pPr>
            <a:r>
              <a:rPr lang="en-US" sz="450" spc="45" kern="0" dirty="0">
                <a:solidFill>
                  <a:srgbClr val="00BCD4"/>
                </a:solidFill>
                <a:latin typeface="Inter" pitchFamily="34" charset="0"/>
                <a:ea typeface="Inter" pitchFamily="34" charset="-122"/>
                <a:cs typeface="Inter" pitchFamily="34" charset="-120"/>
              </a:rPr>
              <a:t>多平台协同</a:t>
            </a:r>
            <a:endParaRPr lang="en-US" sz="450" dirty="0"/>
          </a:p>
        </p:txBody>
      </p:sp>
      <p:sp>
        <p:nvSpPr>
          <p:cNvPr id="52" name="Shape 50"/>
          <p:cNvSpPr/>
          <p:nvPr/>
        </p:nvSpPr>
        <p:spPr>
          <a:xfrm>
            <a:off x="320040" y="2126426"/>
            <a:ext cx="5440680" cy="2474149"/>
          </a:xfrm>
          <a:prstGeom prst="roundRect">
            <a:avLst>
              <a:gd name="adj" fmla="val 2772"/>
            </a:avLst>
          </a:prstGeom>
          <a:solidFill>
            <a:srgbClr val="111C2E"/>
          </a:solidFill>
          <a:ln w="5715">
            <a:solidFill>
              <a:srgbClr val="B0BEC5">
                <a:alpha val="15000"/>
              </a:srgbClr>
            </a:solidFill>
            <a:prstDash val="solid"/>
          </a:ln>
        </p:spPr>
      </p:sp>
      <p:sp>
        <p:nvSpPr>
          <p:cNvPr id="53" name="Shape 51"/>
          <p:cNvSpPr/>
          <p:nvPr/>
        </p:nvSpPr>
        <p:spPr>
          <a:xfrm>
            <a:off x="320040" y="2126426"/>
            <a:ext cx="5429250" cy="11430"/>
          </a:xfrm>
          <a:prstGeom prst="rect">
            <a:avLst/>
          </a:prstGeom>
          <a:gradFill rotWithShape="1">
            <a:gsLst>
              <a:gs pos="0">
                <a:srgbClr val="2196F3"/>
              </a:gs>
              <a:gs pos="100000">
                <a:srgbClr val="00BCD4"/>
              </a:gs>
            </a:gsLst>
            <a:lin ang="0" scaled="0"/>
          </a:gradFill>
          <a:ln/>
        </p:spPr>
      </p:sp>
      <p:sp>
        <p:nvSpPr>
          <p:cNvPr id="54" name="Text 52"/>
          <p:cNvSpPr/>
          <p:nvPr/>
        </p:nvSpPr>
        <p:spPr>
          <a:xfrm>
            <a:off x="451485" y="2246441"/>
            <a:ext cx="720090" cy="97155"/>
          </a:xfrm>
          <a:prstGeom prst="rect">
            <a:avLst/>
          </a:prstGeom>
          <a:noFill/>
          <a:ln/>
        </p:spPr>
        <p:txBody>
          <a:bodyPr wrap="none" rtlCol="0" anchor="ctr"/>
          <a:lstStyle/>
          <a:p>
            <a:pPr algn="l" indent="0" marL="0">
              <a:buNone/>
            </a:pPr>
            <a:r>
              <a:rPr lang="en-US" sz="630" b="1" dirty="0">
                <a:solidFill>
                  <a:srgbClr val="E8EEF5"/>
                </a:solidFill>
                <a:latin typeface="Inter" pitchFamily="34" charset="0"/>
                <a:ea typeface="Inter" pitchFamily="34" charset="-122"/>
                <a:cs typeface="Inter" pitchFamily="34" charset="-120"/>
              </a:rPr>
              <a:t>六大维度分布雷达</a:t>
            </a:r>
            <a:endParaRPr lang="en-US" sz="630" dirty="0"/>
          </a:p>
        </p:txBody>
      </p:sp>
      <p:sp>
        <p:nvSpPr>
          <p:cNvPr id="55" name="Shape 53"/>
          <p:cNvSpPr/>
          <p:nvPr/>
        </p:nvSpPr>
        <p:spPr>
          <a:xfrm>
            <a:off x="5037773" y="2235011"/>
            <a:ext cx="591503" cy="114300"/>
          </a:xfrm>
          <a:prstGeom prst="roundRect">
            <a:avLst>
              <a:gd name="adj" fmla="val 60000"/>
            </a:avLst>
          </a:prstGeom>
          <a:solidFill>
            <a:srgbClr val="00BCD4">
              <a:alpha val="10000"/>
            </a:srgbClr>
          </a:solidFill>
          <a:ln w="5715">
            <a:solidFill>
              <a:srgbClr val="00BCD4">
                <a:alpha val="30000"/>
              </a:srgbClr>
            </a:solidFill>
            <a:prstDash val="solid"/>
          </a:ln>
        </p:spPr>
      </p:sp>
      <p:sp>
        <p:nvSpPr>
          <p:cNvPr id="56" name="Text 54"/>
          <p:cNvSpPr/>
          <p:nvPr/>
        </p:nvSpPr>
        <p:spPr>
          <a:xfrm>
            <a:off x="5037773" y="2235011"/>
            <a:ext cx="662483" cy="114300"/>
          </a:xfrm>
          <a:prstGeom prst="rect">
            <a:avLst/>
          </a:prstGeom>
          <a:noFill/>
          <a:ln/>
        </p:spPr>
        <p:txBody>
          <a:bodyPr wrap="square" lIns="17145" tIns="57150" rIns="57150" bIns="17145" rtlCol="0" anchor="ctr"/>
          <a:lstStyle/>
          <a:p>
            <a:pPr algn="l" indent="0" marL="0">
              <a:buNone/>
            </a:pPr>
            <a:r>
              <a:rPr lang="en-US" sz="450" spc="23" kern="0" dirty="0">
                <a:solidFill>
                  <a:srgbClr val="00BCD4"/>
                </a:solidFill>
                <a:latin typeface="Inter" pitchFamily="34" charset="0"/>
                <a:ea typeface="Inter" pitchFamily="34" charset="-122"/>
                <a:cs typeface="Inter" pitchFamily="34" charset="-120"/>
              </a:rPr>
              <a:t>GLOBAL · 2023</a:t>
            </a:r>
            <a:endParaRPr lang="en-US" sz="450" dirty="0"/>
          </a:p>
        </p:txBody>
      </p:sp>
      <p:graphicFrame>
        <p:nvGraphicFramePr>
          <p:cNvPr id="57" name="Chart 0" descr=""/>
          <p:cNvGraphicFramePr/>
          <p:nvPr/>
        </p:nvGraphicFramePr>
        <p:xfrm>
          <a:off x="451485" y="2395031"/>
          <a:ext cx="5177790" cy="2119819"/>
        </p:xfrm>
        <a:graphic xmlns:a="http://schemas.openxmlformats.org/drawingml/2006/main">
          <a:graphicData uri="http://schemas.openxmlformats.org/drawingml/2006/chart">
            <c:chart xmlns:c="http://schemas.openxmlformats.org/drawingml/2006/chart" r:id="rId1"/>
          </a:graphicData>
        </a:graphic>
      </p:graphicFrame>
      <p:sp>
        <p:nvSpPr>
          <p:cNvPr id="58" name="Shape 55"/>
          <p:cNvSpPr/>
          <p:nvPr/>
        </p:nvSpPr>
        <p:spPr>
          <a:xfrm>
            <a:off x="5852160" y="2126426"/>
            <a:ext cx="2971800" cy="2474149"/>
          </a:xfrm>
          <a:prstGeom prst="roundRect">
            <a:avLst>
              <a:gd name="adj" fmla="val 2772"/>
            </a:avLst>
          </a:prstGeom>
          <a:solidFill>
            <a:srgbClr val="111C2E"/>
          </a:solidFill>
          <a:ln w="5715">
            <a:solidFill>
              <a:srgbClr val="B0BEC5">
                <a:alpha val="15000"/>
              </a:srgbClr>
            </a:solidFill>
            <a:prstDash val="solid"/>
          </a:ln>
        </p:spPr>
      </p:sp>
      <p:sp>
        <p:nvSpPr>
          <p:cNvPr id="59" name="Shape 56"/>
          <p:cNvSpPr/>
          <p:nvPr/>
        </p:nvSpPr>
        <p:spPr>
          <a:xfrm>
            <a:off x="5852160" y="2126426"/>
            <a:ext cx="2960370" cy="11430"/>
          </a:xfrm>
          <a:prstGeom prst="rect">
            <a:avLst/>
          </a:prstGeom>
          <a:gradFill rotWithShape="1">
            <a:gsLst>
              <a:gs pos="0">
                <a:srgbClr val="00BCD4"/>
              </a:gs>
              <a:gs pos="100000">
                <a:srgbClr val="2196F3"/>
              </a:gs>
            </a:gsLst>
            <a:lin ang="0" scaled="0"/>
          </a:gradFill>
          <a:ln/>
        </p:spPr>
      </p:sp>
      <p:sp>
        <p:nvSpPr>
          <p:cNvPr id="60" name="Text 57"/>
          <p:cNvSpPr/>
          <p:nvPr/>
        </p:nvSpPr>
        <p:spPr>
          <a:xfrm>
            <a:off x="5972175" y="2246441"/>
            <a:ext cx="560070" cy="97155"/>
          </a:xfrm>
          <a:prstGeom prst="rect">
            <a:avLst/>
          </a:prstGeom>
          <a:noFill/>
          <a:ln/>
        </p:spPr>
        <p:txBody>
          <a:bodyPr wrap="none" rtlCol="0" anchor="ctr"/>
          <a:lstStyle/>
          <a:p>
            <a:pPr algn="l" indent="0" marL="0">
              <a:buNone/>
            </a:pPr>
            <a:r>
              <a:rPr lang="en-US" sz="630" b="1" dirty="0">
                <a:solidFill>
                  <a:srgbClr val="E8EEF5"/>
                </a:solidFill>
                <a:latin typeface="Inter" pitchFamily="34" charset="0"/>
                <a:ea typeface="Inter" pitchFamily="34" charset="-122"/>
                <a:cs typeface="Inter" pitchFamily="34" charset="-120"/>
              </a:rPr>
              <a:t>核心指标一览</a:t>
            </a:r>
            <a:endParaRPr lang="en-US" sz="630" dirty="0"/>
          </a:p>
        </p:txBody>
      </p:sp>
      <p:sp>
        <p:nvSpPr>
          <p:cNvPr id="61" name="Text 58"/>
          <p:cNvSpPr/>
          <p:nvPr/>
        </p:nvSpPr>
        <p:spPr>
          <a:xfrm>
            <a:off x="5972175" y="2429321"/>
            <a:ext cx="761695" cy="80010"/>
          </a:xfrm>
          <a:prstGeom prst="rect">
            <a:avLst/>
          </a:prstGeom>
          <a:noFill/>
          <a:ln/>
        </p:spPr>
        <p:txBody>
          <a:bodyPr wrap="none" rtlCol="0" anchor="ctr"/>
          <a:lstStyle/>
          <a:p>
            <a:pPr algn="l" indent="0" marL="0">
              <a:buNone/>
            </a:pPr>
            <a:r>
              <a:rPr lang="en-US" sz="495" dirty="0">
                <a:solidFill>
                  <a:srgbClr val="7F8C9B"/>
                </a:solidFill>
                <a:latin typeface="Inter" pitchFamily="34" charset="0"/>
                <a:ea typeface="Inter" pitchFamily="34" charset="-122"/>
                <a:cs typeface="Inter" pitchFamily="34" charset="-120"/>
              </a:rPr>
              <a:t>2023 年度关键数据速览</a:t>
            </a:r>
            <a:endParaRPr lang="en-US" sz="495" dirty="0"/>
          </a:p>
        </p:txBody>
      </p:sp>
      <p:sp>
        <p:nvSpPr>
          <p:cNvPr id="62" name="Shape 59"/>
          <p:cNvSpPr/>
          <p:nvPr/>
        </p:nvSpPr>
        <p:spPr>
          <a:xfrm>
            <a:off x="5972175" y="2589341"/>
            <a:ext cx="2731770" cy="194310"/>
          </a:xfrm>
          <a:prstGeom prst="rect">
            <a:avLst/>
          </a:prstGeom>
          <a:noFill/>
          <a:ln/>
        </p:spPr>
      </p:sp>
      <p:sp>
        <p:nvSpPr>
          <p:cNvPr id="63" name="Shape 60"/>
          <p:cNvSpPr/>
          <p:nvPr/>
        </p:nvSpPr>
        <p:spPr>
          <a:xfrm>
            <a:off x="5972175" y="2783651"/>
            <a:ext cx="2731770" cy="0"/>
          </a:xfrm>
          <a:prstGeom prst="line">
            <a:avLst/>
          </a:prstGeom>
          <a:noFill/>
          <a:ln w="5715">
            <a:solidFill>
              <a:srgbClr val="B0BEC5">
                <a:alpha val="10000"/>
              </a:srgbClr>
            </a:solidFill>
            <a:prstDash val="dash"/>
          </a:ln>
        </p:spPr>
      </p:sp>
      <p:sp>
        <p:nvSpPr>
          <p:cNvPr id="64" name="Text 61"/>
          <p:cNvSpPr/>
          <p:nvPr/>
        </p:nvSpPr>
        <p:spPr>
          <a:xfrm>
            <a:off x="5972175" y="2646491"/>
            <a:ext cx="342900" cy="85725"/>
          </a:xfrm>
          <a:prstGeom prst="rect">
            <a:avLst/>
          </a:prstGeom>
          <a:noFill/>
          <a:ln/>
        </p:spPr>
        <p:txBody>
          <a:bodyPr wrap="none" rtlCol="0" anchor="ctr"/>
          <a:lstStyle/>
          <a:p>
            <a:pPr algn="l" indent="0" marL="0">
              <a:buNone/>
            </a:pPr>
            <a:r>
              <a:rPr lang="en-US" sz="540" dirty="0">
                <a:solidFill>
                  <a:srgbClr val="B0BEC5"/>
                </a:solidFill>
                <a:latin typeface="Inter" pitchFamily="34" charset="0"/>
                <a:ea typeface="Inter" pitchFamily="34" charset="-122"/>
                <a:cs typeface="Inter" pitchFamily="34" charset="-120"/>
              </a:rPr>
              <a:t>全球规模</a:t>
            </a:r>
            <a:endParaRPr lang="en-US" sz="540" dirty="0"/>
          </a:p>
        </p:txBody>
      </p:sp>
      <p:sp>
        <p:nvSpPr>
          <p:cNvPr id="65" name="Shape 62"/>
          <p:cNvSpPr/>
          <p:nvPr/>
        </p:nvSpPr>
        <p:spPr>
          <a:xfrm>
            <a:off x="6326505" y="2666494"/>
            <a:ext cx="2057400" cy="34290"/>
          </a:xfrm>
          <a:prstGeom prst="roundRect">
            <a:avLst>
              <a:gd name="adj" fmla="val 50000"/>
            </a:avLst>
          </a:prstGeom>
          <a:solidFill>
            <a:srgbClr val="B0BEC5">
              <a:alpha val="12000"/>
            </a:srgbClr>
          </a:solidFill>
          <a:ln/>
        </p:spPr>
      </p:sp>
      <p:sp>
        <p:nvSpPr>
          <p:cNvPr id="66" name="Shape 63"/>
          <p:cNvSpPr/>
          <p:nvPr/>
        </p:nvSpPr>
        <p:spPr>
          <a:xfrm>
            <a:off x="6326505" y="2666494"/>
            <a:ext cx="1954530" cy="34290"/>
          </a:xfrm>
          <a:prstGeom prst="roundRect">
            <a:avLst>
              <a:gd name="adj" fmla="val 50000"/>
            </a:avLst>
          </a:prstGeom>
          <a:gradFill rotWithShape="1">
            <a:gsLst>
              <a:gs pos="0">
                <a:srgbClr val="2196F3"/>
              </a:gs>
              <a:gs pos="100000">
                <a:srgbClr val="00BCD4"/>
              </a:gs>
            </a:gsLst>
            <a:lin ang="0" scaled="0"/>
          </a:gradFill>
          <a:ln/>
        </p:spPr>
      </p:sp>
      <p:sp>
        <p:nvSpPr>
          <p:cNvPr id="67" name="Text 64"/>
          <p:cNvSpPr/>
          <p:nvPr/>
        </p:nvSpPr>
        <p:spPr>
          <a:xfrm>
            <a:off x="8463915" y="2640776"/>
            <a:ext cx="308610" cy="85725"/>
          </a:xfrm>
          <a:prstGeom prst="rect">
            <a:avLst/>
          </a:prstGeom>
          <a:noFill/>
          <a:ln/>
        </p:spPr>
        <p:txBody>
          <a:bodyPr wrap="none" rtlCol="0" anchor="ctr"/>
          <a:lstStyle/>
          <a:p>
            <a:pPr algn="r" indent="0" marL="0">
              <a:buNone/>
            </a:pPr>
            <a:r>
              <a:rPr lang="en-US" sz="540" b="1" dirty="0">
                <a:solidFill>
                  <a:srgbClr val="E8EEF5"/>
                </a:solidFill>
                <a:latin typeface="Inter" pitchFamily="34" charset="0"/>
                <a:ea typeface="Inter" pitchFamily="34" charset="-122"/>
                <a:cs typeface="Inter" pitchFamily="34" charset="-120"/>
              </a:rPr>
              <a:t>180+</a:t>
            </a:r>
            <a:endParaRPr lang="en-US" sz="540" dirty="0"/>
          </a:p>
        </p:txBody>
      </p:sp>
      <p:sp>
        <p:nvSpPr>
          <p:cNvPr id="68" name="Shape 65"/>
          <p:cNvSpPr/>
          <p:nvPr/>
        </p:nvSpPr>
        <p:spPr>
          <a:xfrm>
            <a:off x="5972175" y="2840801"/>
            <a:ext cx="2731770" cy="194310"/>
          </a:xfrm>
          <a:prstGeom prst="rect">
            <a:avLst/>
          </a:prstGeom>
          <a:noFill/>
          <a:ln/>
        </p:spPr>
      </p:sp>
      <p:sp>
        <p:nvSpPr>
          <p:cNvPr id="69" name="Shape 66"/>
          <p:cNvSpPr/>
          <p:nvPr/>
        </p:nvSpPr>
        <p:spPr>
          <a:xfrm>
            <a:off x="5972175" y="3035111"/>
            <a:ext cx="2731770" cy="0"/>
          </a:xfrm>
          <a:prstGeom prst="line">
            <a:avLst/>
          </a:prstGeom>
          <a:noFill/>
          <a:ln w="5715">
            <a:solidFill>
              <a:srgbClr val="B0BEC5">
                <a:alpha val="10000"/>
              </a:srgbClr>
            </a:solidFill>
            <a:prstDash val="dash"/>
          </a:ln>
        </p:spPr>
      </p:sp>
      <p:sp>
        <p:nvSpPr>
          <p:cNvPr id="70" name="Text 67"/>
          <p:cNvSpPr/>
          <p:nvPr/>
        </p:nvSpPr>
        <p:spPr>
          <a:xfrm>
            <a:off x="5972175" y="2897951"/>
            <a:ext cx="548640" cy="85725"/>
          </a:xfrm>
          <a:prstGeom prst="rect">
            <a:avLst/>
          </a:prstGeom>
          <a:noFill/>
          <a:ln/>
        </p:spPr>
        <p:txBody>
          <a:bodyPr wrap="none" rtlCol="0" anchor="ctr"/>
          <a:lstStyle/>
          <a:p>
            <a:pPr algn="l" indent="0" marL="0">
              <a:buNone/>
            </a:pPr>
            <a:r>
              <a:rPr lang="en-US" sz="540" dirty="0">
                <a:solidFill>
                  <a:srgbClr val="B0BEC5"/>
                </a:solidFill>
                <a:latin typeface="Inter" pitchFamily="34" charset="0"/>
                <a:ea typeface="Inter" pitchFamily="34" charset="-122"/>
                <a:cs typeface="Inter" pitchFamily="34" charset="-120"/>
              </a:rPr>
              <a:t>软件工程师占比</a:t>
            </a:r>
            <a:endParaRPr lang="en-US" sz="540" dirty="0"/>
          </a:p>
        </p:txBody>
      </p:sp>
      <p:sp>
        <p:nvSpPr>
          <p:cNvPr id="71" name="Shape 68"/>
          <p:cNvSpPr/>
          <p:nvPr/>
        </p:nvSpPr>
        <p:spPr>
          <a:xfrm>
            <a:off x="6532245" y="2917954"/>
            <a:ext cx="1851660" cy="34290"/>
          </a:xfrm>
          <a:prstGeom prst="roundRect">
            <a:avLst>
              <a:gd name="adj" fmla="val 50000"/>
            </a:avLst>
          </a:prstGeom>
          <a:solidFill>
            <a:srgbClr val="B0BEC5">
              <a:alpha val="12000"/>
            </a:srgbClr>
          </a:solidFill>
          <a:ln/>
        </p:spPr>
      </p:sp>
      <p:sp>
        <p:nvSpPr>
          <p:cNvPr id="72" name="Shape 69"/>
          <p:cNvSpPr/>
          <p:nvPr/>
        </p:nvSpPr>
        <p:spPr>
          <a:xfrm>
            <a:off x="6532245" y="2917954"/>
            <a:ext cx="1333113" cy="34290"/>
          </a:xfrm>
          <a:prstGeom prst="roundRect">
            <a:avLst>
              <a:gd name="adj" fmla="val 50000"/>
            </a:avLst>
          </a:prstGeom>
          <a:gradFill rotWithShape="1">
            <a:gsLst>
              <a:gs pos="0">
                <a:srgbClr val="2196F3"/>
              </a:gs>
              <a:gs pos="100000">
                <a:srgbClr val="00BCD4"/>
              </a:gs>
            </a:gsLst>
            <a:lin ang="0" scaled="0"/>
          </a:gradFill>
          <a:ln/>
        </p:spPr>
      </p:sp>
      <p:sp>
        <p:nvSpPr>
          <p:cNvPr id="73" name="Text 70"/>
          <p:cNvSpPr/>
          <p:nvPr/>
        </p:nvSpPr>
        <p:spPr>
          <a:xfrm>
            <a:off x="8463915" y="2886521"/>
            <a:ext cx="308610" cy="97155"/>
          </a:xfrm>
          <a:prstGeom prst="rect">
            <a:avLst/>
          </a:prstGeom>
          <a:noFill/>
          <a:ln/>
        </p:spPr>
        <p:txBody>
          <a:bodyPr wrap="none" rtlCol="0" anchor="ctr"/>
          <a:lstStyle/>
          <a:p>
            <a:pPr algn="r" indent="0" marL="0">
              <a:buNone/>
            </a:pPr>
            <a:r>
              <a:rPr lang="en-US" sz="540" b="1" dirty="0">
                <a:solidFill>
                  <a:srgbClr val="E8EEF5"/>
                </a:solidFill>
                <a:latin typeface="Inter" pitchFamily="34" charset="0"/>
                <a:ea typeface="Inter" pitchFamily="34" charset="-122"/>
                <a:cs typeface="Inter" pitchFamily="34" charset="-120"/>
              </a:rPr>
              <a:t>最高</a:t>
            </a:r>
            <a:endParaRPr lang="en-US" sz="540" dirty="0"/>
          </a:p>
        </p:txBody>
      </p:sp>
      <p:sp>
        <p:nvSpPr>
          <p:cNvPr id="74" name="Shape 71"/>
          <p:cNvSpPr/>
          <p:nvPr/>
        </p:nvSpPr>
        <p:spPr>
          <a:xfrm>
            <a:off x="5972175" y="3092261"/>
            <a:ext cx="2731770" cy="194310"/>
          </a:xfrm>
          <a:prstGeom prst="rect">
            <a:avLst/>
          </a:prstGeom>
          <a:noFill/>
          <a:ln/>
        </p:spPr>
      </p:sp>
      <p:sp>
        <p:nvSpPr>
          <p:cNvPr id="75" name="Shape 72"/>
          <p:cNvSpPr/>
          <p:nvPr/>
        </p:nvSpPr>
        <p:spPr>
          <a:xfrm>
            <a:off x="5972175" y="3286571"/>
            <a:ext cx="2731770" cy="0"/>
          </a:xfrm>
          <a:prstGeom prst="line">
            <a:avLst/>
          </a:prstGeom>
          <a:noFill/>
          <a:ln w="5715">
            <a:solidFill>
              <a:srgbClr val="B0BEC5">
                <a:alpha val="10000"/>
              </a:srgbClr>
            </a:solidFill>
            <a:prstDash val="dash"/>
          </a:ln>
        </p:spPr>
      </p:sp>
      <p:sp>
        <p:nvSpPr>
          <p:cNvPr id="76" name="Text 73"/>
          <p:cNvSpPr/>
          <p:nvPr/>
        </p:nvSpPr>
        <p:spPr>
          <a:xfrm>
            <a:off x="5972175" y="3149411"/>
            <a:ext cx="594360" cy="85725"/>
          </a:xfrm>
          <a:prstGeom prst="rect">
            <a:avLst/>
          </a:prstGeom>
          <a:noFill/>
          <a:ln/>
        </p:spPr>
        <p:txBody>
          <a:bodyPr wrap="none" rtlCol="0" anchor="ctr"/>
          <a:lstStyle/>
          <a:p>
            <a:pPr algn="l" indent="0" marL="0">
              <a:buNone/>
            </a:pPr>
            <a:r>
              <a:rPr lang="en-US" sz="540" dirty="0">
                <a:solidFill>
                  <a:srgbClr val="B0BEC5"/>
                </a:solidFill>
                <a:latin typeface="Inter" pitchFamily="34" charset="0"/>
                <a:ea typeface="Inter" pitchFamily="34" charset="-122"/>
                <a:cs typeface="Inter" pitchFamily="34" charset="-120"/>
              </a:rPr>
              <a:t>JS / Python 活跃</a:t>
            </a:r>
            <a:endParaRPr lang="en-US" sz="540" dirty="0"/>
          </a:p>
        </p:txBody>
      </p:sp>
      <p:sp>
        <p:nvSpPr>
          <p:cNvPr id="77" name="Shape 74"/>
          <p:cNvSpPr/>
          <p:nvPr/>
        </p:nvSpPr>
        <p:spPr>
          <a:xfrm>
            <a:off x="6577965" y="3169414"/>
            <a:ext cx="1805940" cy="34290"/>
          </a:xfrm>
          <a:prstGeom prst="roundRect">
            <a:avLst>
              <a:gd name="adj" fmla="val 50000"/>
            </a:avLst>
          </a:prstGeom>
          <a:solidFill>
            <a:srgbClr val="B0BEC5">
              <a:alpha val="12000"/>
            </a:srgbClr>
          </a:solidFill>
          <a:ln/>
        </p:spPr>
      </p:sp>
      <p:sp>
        <p:nvSpPr>
          <p:cNvPr id="78" name="Shape 75"/>
          <p:cNvSpPr/>
          <p:nvPr/>
        </p:nvSpPr>
        <p:spPr>
          <a:xfrm>
            <a:off x="6577965" y="3169414"/>
            <a:ext cx="1589216" cy="34290"/>
          </a:xfrm>
          <a:prstGeom prst="roundRect">
            <a:avLst>
              <a:gd name="adj" fmla="val 50000"/>
            </a:avLst>
          </a:prstGeom>
          <a:gradFill rotWithShape="1">
            <a:gsLst>
              <a:gs pos="0">
                <a:srgbClr val="2196F3"/>
              </a:gs>
              <a:gs pos="100000">
                <a:srgbClr val="00BCD4"/>
              </a:gs>
            </a:gsLst>
            <a:lin ang="0" scaled="0"/>
          </a:gradFill>
          <a:ln/>
        </p:spPr>
      </p:sp>
      <p:sp>
        <p:nvSpPr>
          <p:cNvPr id="79" name="Text 76"/>
          <p:cNvSpPr/>
          <p:nvPr/>
        </p:nvSpPr>
        <p:spPr>
          <a:xfrm>
            <a:off x="8463915" y="3143696"/>
            <a:ext cx="308610" cy="85725"/>
          </a:xfrm>
          <a:prstGeom prst="rect">
            <a:avLst/>
          </a:prstGeom>
          <a:noFill/>
          <a:ln/>
        </p:spPr>
        <p:txBody>
          <a:bodyPr wrap="none" rtlCol="0" anchor="ctr"/>
          <a:lstStyle/>
          <a:p>
            <a:pPr algn="r" indent="0" marL="0">
              <a:buNone/>
            </a:pPr>
            <a:r>
              <a:rPr lang="en-US" sz="540" b="1" dirty="0">
                <a:solidFill>
                  <a:srgbClr val="E8EEF5"/>
                </a:solidFill>
                <a:latin typeface="Inter" pitchFamily="34" charset="0"/>
                <a:ea typeface="Inter" pitchFamily="34" charset="-122"/>
                <a:cs typeface="Inter" pitchFamily="34" charset="-120"/>
              </a:rPr>
              <a:t>TOP1</a:t>
            </a:r>
            <a:endParaRPr lang="en-US" sz="540" dirty="0"/>
          </a:p>
        </p:txBody>
      </p:sp>
      <p:sp>
        <p:nvSpPr>
          <p:cNvPr id="80" name="Shape 77"/>
          <p:cNvSpPr/>
          <p:nvPr/>
        </p:nvSpPr>
        <p:spPr>
          <a:xfrm>
            <a:off x="5972175" y="3343721"/>
            <a:ext cx="2731770" cy="194310"/>
          </a:xfrm>
          <a:prstGeom prst="rect">
            <a:avLst/>
          </a:prstGeom>
          <a:noFill/>
          <a:ln/>
        </p:spPr>
      </p:sp>
      <p:sp>
        <p:nvSpPr>
          <p:cNvPr id="81" name="Shape 78"/>
          <p:cNvSpPr/>
          <p:nvPr/>
        </p:nvSpPr>
        <p:spPr>
          <a:xfrm>
            <a:off x="5972175" y="3538031"/>
            <a:ext cx="2731770" cy="0"/>
          </a:xfrm>
          <a:prstGeom prst="line">
            <a:avLst/>
          </a:prstGeom>
          <a:noFill/>
          <a:ln w="5715">
            <a:solidFill>
              <a:srgbClr val="B0BEC5">
                <a:alpha val="10000"/>
              </a:srgbClr>
            </a:solidFill>
            <a:prstDash val="dash"/>
          </a:ln>
        </p:spPr>
      </p:sp>
      <p:sp>
        <p:nvSpPr>
          <p:cNvPr id="82" name="Text 79"/>
          <p:cNvSpPr/>
          <p:nvPr/>
        </p:nvSpPr>
        <p:spPr>
          <a:xfrm>
            <a:off x="5972175" y="3400871"/>
            <a:ext cx="514350" cy="85725"/>
          </a:xfrm>
          <a:prstGeom prst="rect">
            <a:avLst/>
          </a:prstGeom>
          <a:noFill/>
          <a:ln/>
        </p:spPr>
        <p:txBody>
          <a:bodyPr wrap="none" rtlCol="0" anchor="ctr"/>
          <a:lstStyle/>
          <a:p>
            <a:pPr algn="l" indent="0" marL="0">
              <a:buNone/>
            </a:pPr>
            <a:r>
              <a:rPr lang="en-US" sz="540" dirty="0">
                <a:solidFill>
                  <a:srgbClr val="B0BEC5"/>
                </a:solidFill>
                <a:latin typeface="Inter" pitchFamily="34" charset="0"/>
                <a:ea typeface="Inter" pitchFamily="34" charset="-122"/>
                <a:cs typeface="Inter" pitchFamily="34" charset="-120"/>
              </a:rPr>
              <a:t>GitHub 集中度</a:t>
            </a:r>
            <a:endParaRPr lang="en-US" sz="540" dirty="0"/>
          </a:p>
        </p:txBody>
      </p:sp>
      <p:sp>
        <p:nvSpPr>
          <p:cNvPr id="83" name="Shape 80"/>
          <p:cNvSpPr/>
          <p:nvPr/>
        </p:nvSpPr>
        <p:spPr>
          <a:xfrm>
            <a:off x="6497955" y="3420874"/>
            <a:ext cx="1885950" cy="34290"/>
          </a:xfrm>
          <a:prstGeom prst="roundRect">
            <a:avLst>
              <a:gd name="adj" fmla="val 50000"/>
            </a:avLst>
          </a:prstGeom>
          <a:solidFill>
            <a:srgbClr val="B0BEC5">
              <a:alpha val="12000"/>
            </a:srgbClr>
          </a:solidFill>
          <a:ln/>
        </p:spPr>
      </p:sp>
      <p:sp>
        <p:nvSpPr>
          <p:cNvPr id="84" name="Shape 81"/>
          <p:cNvSpPr/>
          <p:nvPr/>
        </p:nvSpPr>
        <p:spPr>
          <a:xfrm>
            <a:off x="6497955" y="3420874"/>
            <a:ext cx="1546443" cy="34290"/>
          </a:xfrm>
          <a:prstGeom prst="roundRect">
            <a:avLst>
              <a:gd name="adj" fmla="val 50000"/>
            </a:avLst>
          </a:prstGeom>
          <a:gradFill rotWithShape="1">
            <a:gsLst>
              <a:gs pos="0">
                <a:srgbClr val="2196F3"/>
              </a:gs>
              <a:gs pos="100000">
                <a:srgbClr val="00BCD4"/>
              </a:gs>
            </a:gsLst>
            <a:lin ang="0" scaled="0"/>
          </a:gradFill>
          <a:ln/>
        </p:spPr>
      </p:sp>
      <p:sp>
        <p:nvSpPr>
          <p:cNvPr id="85" name="Text 82"/>
          <p:cNvSpPr/>
          <p:nvPr/>
        </p:nvSpPr>
        <p:spPr>
          <a:xfrm>
            <a:off x="8463915" y="3389441"/>
            <a:ext cx="308610" cy="97155"/>
          </a:xfrm>
          <a:prstGeom prst="rect">
            <a:avLst/>
          </a:prstGeom>
          <a:noFill/>
          <a:ln/>
        </p:spPr>
        <p:txBody>
          <a:bodyPr wrap="none" rtlCol="0" anchor="ctr"/>
          <a:lstStyle/>
          <a:p>
            <a:pPr algn="r" indent="0" marL="0">
              <a:buNone/>
            </a:pPr>
            <a:r>
              <a:rPr lang="en-US" sz="540" b="1" dirty="0">
                <a:solidFill>
                  <a:srgbClr val="E8EEF5"/>
                </a:solidFill>
                <a:latin typeface="Inter" pitchFamily="34" charset="0"/>
                <a:ea typeface="Inter" pitchFamily="34" charset="-122"/>
                <a:cs typeface="Inter" pitchFamily="34" charset="-120"/>
              </a:rPr>
              <a:t>主导</a:t>
            </a:r>
            <a:endParaRPr lang="en-US" sz="540" dirty="0"/>
          </a:p>
        </p:txBody>
      </p:sp>
      <p:sp>
        <p:nvSpPr>
          <p:cNvPr id="86" name="Shape 83"/>
          <p:cNvSpPr/>
          <p:nvPr/>
        </p:nvSpPr>
        <p:spPr>
          <a:xfrm>
            <a:off x="5972175" y="3595181"/>
            <a:ext cx="2731770" cy="194310"/>
          </a:xfrm>
          <a:prstGeom prst="rect">
            <a:avLst/>
          </a:prstGeom>
          <a:noFill/>
          <a:ln/>
        </p:spPr>
      </p:sp>
      <p:sp>
        <p:nvSpPr>
          <p:cNvPr id="87" name="Shape 84"/>
          <p:cNvSpPr/>
          <p:nvPr/>
        </p:nvSpPr>
        <p:spPr>
          <a:xfrm>
            <a:off x="5972175" y="3789491"/>
            <a:ext cx="2731770" cy="0"/>
          </a:xfrm>
          <a:prstGeom prst="line">
            <a:avLst/>
          </a:prstGeom>
          <a:noFill/>
          <a:ln w="5715">
            <a:solidFill>
              <a:srgbClr val="B0BEC5">
                <a:alpha val="10000"/>
              </a:srgbClr>
            </a:solidFill>
            <a:prstDash val="dash"/>
          </a:ln>
        </p:spPr>
      </p:sp>
      <p:sp>
        <p:nvSpPr>
          <p:cNvPr id="88" name="Text 85"/>
          <p:cNvSpPr/>
          <p:nvPr/>
        </p:nvSpPr>
        <p:spPr>
          <a:xfrm>
            <a:off x="5972175" y="3652331"/>
            <a:ext cx="548640" cy="85725"/>
          </a:xfrm>
          <a:prstGeom prst="rect">
            <a:avLst/>
          </a:prstGeom>
          <a:noFill/>
          <a:ln/>
        </p:spPr>
        <p:txBody>
          <a:bodyPr wrap="none" rtlCol="0" anchor="ctr"/>
          <a:lstStyle/>
          <a:p>
            <a:pPr algn="l" indent="0" marL="0">
              <a:buNone/>
            </a:pPr>
            <a:r>
              <a:rPr lang="en-US" sz="540" dirty="0">
                <a:solidFill>
                  <a:srgbClr val="B0BEC5"/>
                </a:solidFill>
                <a:latin typeface="Inter" pitchFamily="34" charset="0"/>
                <a:ea typeface="Inter" pitchFamily="34" charset="-122"/>
                <a:cs typeface="Inter" pitchFamily="34" charset="-120"/>
              </a:rPr>
              <a:t>中国企业级参与</a:t>
            </a:r>
            <a:endParaRPr lang="en-US" sz="540" dirty="0"/>
          </a:p>
        </p:txBody>
      </p:sp>
      <p:sp>
        <p:nvSpPr>
          <p:cNvPr id="89" name="Shape 86"/>
          <p:cNvSpPr/>
          <p:nvPr/>
        </p:nvSpPr>
        <p:spPr>
          <a:xfrm>
            <a:off x="6532245" y="3672334"/>
            <a:ext cx="1851660" cy="34290"/>
          </a:xfrm>
          <a:prstGeom prst="roundRect">
            <a:avLst>
              <a:gd name="adj" fmla="val 50000"/>
            </a:avLst>
          </a:prstGeom>
          <a:solidFill>
            <a:srgbClr val="B0BEC5">
              <a:alpha val="12000"/>
            </a:srgbClr>
          </a:solidFill>
          <a:ln/>
        </p:spPr>
      </p:sp>
      <p:sp>
        <p:nvSpPr>
          <p:cNvPr id="90" name="Shape 87"/>
          <p:cNvSpPr/>
          <p:nvPr/>
        </p:nvSpPr>
        <p:spPr>
          <a:xfrm>
            <a:off x="6532245" y="3672334"/>
            <a:ext cx="1444288" cy="34290"/>
          </a:xfrm>
          <a:prstGeom prst="roundRect">
            <a:avLst>
              <a:gd name="adj" fmla="val 50000"/>
            </a:avLst>
          </a:prstGeom>
          <a:gradFill rotWithShape="1">
            <a:gsLst>
              <a:gs pos="0">
                <a:srgbClr val="2196F3"/>
              </a:gs>
              <a:gs pos="100000">
                <a:srgbClr val="00BCD4"/>
              </a:gs>
            </a:gsLst>
            <a:lin ang="0" scaled="0"/>
          </a:gradFill>
          <a:ln/>
        </p:spPr>
      </p:sp>
      <p:sp>
        <p:nvSpPr>
          <p:cNvPr id="91" name="Text 88"/>
          <p:cNvSpPr/>
          <p:nvPr/>
        </p:nvSpPr>
        <p:spPr>
          <a:xfrm>
            <a:off x="8463915" y="3646616"/>
            <a:ext cx="308610" cy="85725"/>
          </a:xfrm>
          <a:prstGeom prst="rect">
            <a:avLst/>
          </a:prstGeom>
          <a:noFill/>
          <a:ln/>
        </p:spPr>
        <p:txBody>
          <a:bodyPr wrap="none" rtlCol="0" anchor="ctr"/>
          <a:lstStyle/>
          <a:p>
            <a:pPr algn="r" indent="0" marL="0">
              <a:buNone/>
            </a:pPr>
            <a:r>
              <a:rPr lang="en-US" sz="540" b="1" dirty="0">
                <a:solidFill>
                  <a:srgbClr val="E8EEF5"/>
                </a:solidFill>
                <a:latin typeface="Inter" pitchFamily="34" charset="0"/>
                <a:ea typeface="Inter" pitchFamily="34" charset="-122"/>
                <a:cs typeface="Inter" pitchFamily="34" charset="-120"/>
              </a:rPr>
              <a:t>↑↑</a:t>
            </a:r>
            <a:endParaRPr lang="en-US" sz="540" dirty="0"/>
          </a:p>
        </p:txBody>
      </p:sp>
      <p:sp>
        <p:nvSpPr>
          <p:cNvPr id="92" name="Text 89"/>
          <p:cNvSpPr/>
          <p:nvPr/>
        </p:nvSpPr>
        <p:spPr>
          <a:xfrm>
            <a:off x="5972175" y="3903791"/>
            <a:ext cx="548640" cy="85725"/>
          </a:xfrm>
          <a:prstGeom prst="rect">
            <a:avLst/>
          </a:prstGeom>
          <a:noFill/>
          <a:ln/>
        </p:spPr>
        <p:txBody>
          <a:bodyPr wrap="none" rtlCol="0" anchor="ctr"/>
          <a:lstStyle/>
          <a:p>
            <a:pPr algn="l" indent="0" marL="0">
              <a:buNone/>
            </a:pPr>
            <a:r>
              <a:rPr lang="en-US" sz="540" dirty="0">
                <a:solidFill>
                  <a:srgbClr val="B0BEC5"/>
                </a:solidFill>
                <a:latin typeface="Inter" pitchFamily="34" charset="0"/>
                <a:ea typeface="Inter" pitchFamily="34" charset="-122"/>
                <a:cs typeface="Inter" pitchFamily="34" charset="-120"/>
              </a:rPr>
              <a:t>女性贡献者占比</a:t>
            </a:r>
            <a:endParaRPr lang="en-US" sz="540" dirty="0"/>
          </a:p>
        </p:txBody>
      </p:sp>
      <p:sp>
        <p:nvSpPr>
          <p:cNvPr id="93" name="Shape 90"/>
          <p:cNvSpPr/>
          <p:nvPr/>
        </p:nvSpPr>
        <p:spPr>
          <a:xfrm>
            <a:off x="6532245" y="3923794"/>
            <a:ext cx="1851660" cy="34290"/>
          </a:xfrm>
          <a:prstGeom prst="roundRect">
            <a:avLst>
              <a:gd name="adj" fmla="val 50000"/>
            </a:avLst>
          </a:prstGeom>
          <a:solidFill>
            <a:srgbClr val="B0BEC5">
              <a:alpha val="12000"/>
            </a:srgbClr>
          </a:solidFill>
          <a:ln/>
        </p:spPr>
      </p:sp>
      <p:sp>
        <p:nvSpPr>
          <p:cNvPr id="94" name="Shape 91"/>
          <p:cNvSpPr/>
          <p:nvPr/>
        </p:nvSpPr>
        <p:spPr>
          <a:xfrm>
            <a:off x="6532245" y="3923794"/>
            <a:ext cx="407283" cy="34290"/>
          </a:xfrm>
          <a:prstGeom prst="roundRect">
            <a:avLst>
              <a:gd name="adj" fmla="val 50000"/>
            </a:avLst>
          </a:prstGeom>
          <a:gradFill rotWithShape="1">
            <a:gsLst>
              <a:gs pos="0">
                <a:srgbClr val="FF7043"/>
              </a:gs>
              <a:gs pos="100000">
                <a:srgbClr val="FF8A65"/>
              </a:gs>
            </a:gsLst>
            <a:lin ang="0" scaled="0"/>
          </a:gradFill>
          <a:ln/>
        </p:spPr>
      </p:sp>
      <p:sp>
        <p:nvSpPr>
          <p:cNvPr id="95" name="Text 92"/>
          <p:cNvSpPr/>
          <p:nvPr/>
        </p:nvSpPr>
        <p:spPr>
          <a:xfrm>
            <a:off x="8463915" y="3892361"/>
            <a:ext cx="308610" cy="97155"/>
          </a:xfrm>
          <a:prstGeom prst="rect">
            <a:avLst/>
          </a:prstGeom>
          <a:noFill/>
          <a:ln/>
        </p:spPr>
        <p:txBody>
          <a:bodyPr wrap="none" rtlCol="0" anchor="ctr"/>
          <a:lstStyle/>
          <a:p>
            <a:pPr algn="r" indent="0" marL="0">
              <a:buNone/>
            </a:pPr>
            <a:r>
              <a:rPr lang="en-US" sz="540" b="1" dirty="0">
                <a:solidFill>
                  <a:srgbClr val="FF7043"/>
                </a:solidFill>
                <a:latin typeface="Inter" pitchFamily="34" charset="0"/>
                <a:ea typeface="Inter" pitchFamily="34" charset="-122"/>
                <a:cs typeface="Inter" pitchFamily="34" charset="-120"/>
              </a:rPr>
              <a:t>偏低</a:t>
            </a:r>
            <a:endParaRPr lang="en-US" sz="540" dirty="0"/>
          </a:p>
        </p:txBody>
      </p:sp>
      <p:sp>
        <p:nvSpPr>
          <p:cNvPr id="96" name="Shape 93"/>
          <p:cNvSpPr/>
          <p:nvPr/>
        </p:nvSpPr>
        <p:spPr>
          <a:xfrm>
            <a:off x="320040" y="4703445"/>
            <a:ext cx="8503920" cy="234315"/>
          </a:xfrm>
          <a:prstGeom prst="roundRect">
            <a:avLst>
              <a:gd name="adj" fmla="val 24390"/>
            </a:avLst>
          </a:prstGeom>
          <a:gradFill rotWithShape="1">
            <a:gsLst>
              <a:gs pos="0">
                <a:srgbClr val="2196F3">
                  <a:alpha val="8000"/>
                </a:srgbClr>
              </a:gs>
              <a:gs pos="100000">
                <a:srgbClr val="00BCD4">
                  <a:alpha val="8000"/>
                </a:srgbClr>
              </a:gs>
            </a:gsLst>
            <a:lin ang="0" scaled="0"/>
          </a:gradFill>
          <a:ln w="5715">
            <a:solidFill>
              <a:srgbClr val="B0BEC5">
                <a:alpha val="15000"/>
              </a:srgbClr>
            </a:solidFill>
            <a:prstDash val="solid"/>
          </a:ln>
        </p:spPr>
      </p:sp>
      <p:sp>
        <p:nvSpPr>
          <p:cNvPr id="97" name="Text 94"/>
          <p:cNvSpPr/>
          <p:nvPr/>
        </p:nvSpPr>
        <p:spPr>
          <a:xfrm>
            <a:off x="428625" y="4777740"/>
            <a:ext cx="394335" cy="91440"/>
          </a:xfrm>
          <a:prstGeom prst="rect">
            <a:avLst/>
          </a:prstGeom>
          <a:noFill/>
          <a:ln/>
        </p:spPr>
        <p:txBody>
          <a:bodyPr wrap="none" rtlCol="0" anchor="ctr"/>
          <a:lstStyle/>
          <a:p>
            <a:pPr algn="l" indent="0" marL="0">
              <a:buNone/>
            </a:pPr>
            <a:r>
              <a:rPr lang="en-US" sz="585" spc="45" kern="0" dirty="0">
                <a:solidFill>
                  <a:srgbClr val="E8EEF5"/>
                </a:solidFill>
                <a:latin typeface="Inter" pitchFamily="34" charset="0"/>
                <a:ea typeface="Inter" pitchFamily="34" charset="-122"/>
                <a:cs typeface="Inter" pitchFamily="34" charset="-120"/>
              </a:rPr>
              <a:t>全球扩张</a:t>
            </a:r>
            <a:endParaRPr lang="en-US" sz="585" dirty="0"/>
          </a:p>
        </p:txBody>
      </p:sp>
      <p:sp>
        <p:nvSpPr>
          <p:cNvPr id="98" name="Text 95"/>
          <p:cNvSpPr/>
          <p:nvPr/>
        </p:nvSpPr>
        <p:spPr>
          <a:xfrm>
            <a:off x="817245" y="4777740"/>
            <a:ext cx="126302" cy="91440"/>
          </a:xfrm>
          <a:prstGeom prst="rect">
            <a:avLst/>
          </a:prstGeom>
          <a:noFill/>
          <a:ln/>
        </p:spPr>
        <p:txBody>
          <a:bodyPr wrap="none" rtlCol="0" anchor="ctr"/>
          <a:lstStyle/>
          <a:p>
            <a:pPr algn="l" indent="0" marL="0">
              <a:buNone/>
            </a:pPr>
            <a:r>
              <a:rPr lang="en-US" sz="585" b="1" spc="45" kern="0" dirty="0">
                <a:solidFill>
                  <a:srgbClr val="2196F3"/>
                </a:solidFill>
                <a:latin typeface="Inter" pitchFamily="34" charset="0"/>
                <a:ea typeface="Inter" pitchFamily="34" charset="-122"/>
                <a:cs typeface="Inter" pitchFamily="34" charset="-120"/>
              </a:rPr>
              <a:t>·</a:t>
            </a:r>
            <a:endParaRPr lang="en-US" sz="585" dirty="0"/>
          </a:p>
        </p:txBody>
      </p:sp>
      <p:sp>
        <p:nvSpPr>
          <p:cNvPr id="99" name="Text 96"/>
          <p:cNvSpPr/>
          <p:nvPr/>
        </p:nvSpPr>
        <p:spPr>
          <a:xfrm>
            <a:off x="914400" y="4777740"/>
            <a:ext cx="394335" cy="91440"/>
          </a:xfrm>
          <a:prstGeom prst="rect">
            <a:avLst/>
          </a:prstGeom>
          <a:noFill/>
          <a:ln/>
        </p:spPr>
        <p:txBody>
          <a:bodyPr wrap="none" rtlCol="0" anchor="ctr"/>
          <a:lstStyle/>
          <a:p>
            <a:pPr algn="l" indent="0" marL="0">
              <a:buNone/>
            </a:pPr>
            <a:r>
              <a:rPr lang="en-US" sz="585" spc="45" kern="0" dirty="0">
                <a:solidFill>
                  <a:srgbClr val="E8EEF5"/>
                </a:solidFill>
                <a:latin typeface="Inter" pitchFamily="34" charset="0"/>
                <a:ea typeface="Inter" pitchFamily="34" charset="-122"/>
                <a:cs typeface="Inter" pitchFamily="34" charset="-120"/>
              </a:rPr>
              <a:t>中国领跑</a:t>
            </a:r>
            <a:endParaRPr lang="en-US" sz="585" dirty="0"/>
          </a:p>
        </p:txBody>
      </p:sp>
      <p:sp>
        <p:nvSpPr>
          <p:cNvPr id="100" name="Text 97"/>
          <p:cNvSpPr/>
          <p:nvPr/>
        </p:nvSpPr>
        <p:spPr>
          <a:xfrm>
            <a:off x="1303020" y="4777740"/>
            <a:ext cx="126302" cy="91440"/>
          </a:xfrm>
          <a:prstGeom prst="rect">
            <a:avLst/>
          </a:prstGeom>
          <a:noFill/>
          <a:ln/>
        </p:spPr>
        <p:txBody>
          <a:bodyPr wrap="none" rtlCol="0" anchor="ctr"/>
          <a:lstStyle/>
          <a:p>
            <a:pPr algn="l" indent="0" marL="0">
              <a:buNone/>
            </a:pPr>
            <a:r>
              <a:rPr lang="en-US" sz="585" b="1" spc="45" kern="0" dirty="0">
                <a:solidFill>
                  <a:srgbClr val="2196F3"/>
                </a:solidFill>
                <a:latin typeface="Inter" pitchFamily="34" charset="0"/>
                <a:ea typeface="Inter" pitchFamily="34" charset="-122"/>
                <a:cs typeface="Inter" pitchFamily="34" charset="-120"/>
              </a:rPr>
              <a:t>·</a:t>
            </a:r>
            <a:endParaRPr lang="en-US" sz="585" dirty="0"/>
          </a:p>
        </p:txBody>
      </p:sp>
      <p:sp>
        <p:nvSpPr>
          <p:cNvPr id="101" name="Text 98"/>
          <p:cNvSpPr/>
          <p:nvPr/>
        </p:nvSpPr>
        <p:spPr>
          <a:xfrm>
            <a:off x="1400175" y="4777740"/>
            <a:ext cx="554355" cy="91440"/>
          </a:xfrm>
          <a:prstGeom prst="rect">
            <a:avLst/>
          </a:prstGeom>
          <a:noFill/>
          <a:ln/>
        </p:spPr>
        <p:txBody>
          <a:bodyPr wrap="none" rtlCol="0" anchor="ctr"/>
          <a:lstStyle/>
          <a:p>
            <a:pPr algn="l" indent="0" marL="0">
              <a:buNone/>
            </a:pPr>
            <a:r>
              <a:rPr lang="en-US" sz="585" spc="45" kern="0" dirty="0">
                <a:solidFill>
                  <a:srgbClr val="00BCD4"/>
                </a:solidFill>
                <a:latin typeface="Inter" pitchFamily="34" charset="0"/>
                <a:ea typeface="Inter" pitchFamily="34" charset="-122"/>
                <a:cs typeface="Inter" pitchFamily="34" charset="-120"/>
              </a:rPr>
              <a:t>女性短板待补</a:t>
            </a:r>
            <a:endParaRPr lang="en-US" sz="585" dirty="0"/>
          </a:p>
        </p:txBody>
      </p:sp>
      <p:sp>
        <p:nvSpPr>
          <p:cNvPr id="102" name="Text 99"/>
          <p:cNvSpPr/>
          <p:nvPr/>
        </p:nvSpPr>
        <p:spPr>
          <a:xfrm>
            <a:off x="7498080" y="4786313"/>
            <a:ext cx="1363370" cy="68580"/>
          </a:xfrm>
          <a:prstGeom prst="rect">
            <a:avLst/>
          </a:prstGeom>
          <a:noFill/>
          <a:ln/>
        </p:spPr>
        <p:txBody>
          <a:bodyPr wrap="none" rtlCol="0" anchor="ctr"/>
          <a:lstStyle/>
          <a:p>
            <a:pPr algn="l" indent="0" marL="0">
              <a:buNone/>
            </a:pPr>
            <a:r>
              <a:rPr lang="en-US" sz="450" spc="45" kern="0" dirty="0">
                <a:solidFill>
                  <a:srgbClr val="7F8C9B"/>
                </a:solidFill>
                <a:latin typeface="Inter" pitchFamily="34" charset="0"/>
                <a:ea typeface="Inter" pitchFamily="34" charset="-122"/>
                <a:cs typeface="Inter" pitchFamily="34" charset="-120"/>
              </a:rPr>
              <a:t>OPEN SOURCE · DATA INSIGHTS 2023</a:t>
            </a:r>
            <a:endParaRPr lang="en-US" sz="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743200" y="-2057400"/>
            <a:ext cx="9144000" cy="5143500"/>
          </a:xfrm>
          <a:prstGeom prst="ellipse">
            <a:avLst/>
          </a:prstGeom>
          <a:gradFill rotWithShape="1">
            <a:gsLst>
              <a:gs pos="0">
                <a:srgbClr val="2196F3">
                  <a:alpha val="8000"/>
                </a:srgbClr>
              </a:gs>
              <a:gs pos="100000">
                <a:srgbClr val="2196F3">
                  <a:alpha val="0"/>
                </a:srgbClr>
              </a:gs>
            </a:gsLst>
            <a:path path="circle">
              <a:fillToRect l="50000" t="50000" r="50000" b="50000"/>
            </a:path>
          </a:gradFill>
          <a:ln/>
        </p:spPr>
      </p:sp>
      <p:sp>
        <p:nvSpPr>
          <p:cNvPr id="3" name="Shape 1"/>
          <p:cNvSpPr/>
          <p:nvPr/>
        </p:nvSpPr>
        <p:spPr>
          <a:xfrm>
            <a:off x="2743200" y="2057400"/>
            <a:ext cx="9144000" cy="5143500"/>
          </a:xfrm>
          <a:prstGeom prst="ellipse">
            <a:avLst/>
          </a:prstGeom>
          <a:gradFill rotWithShape="1">
            <a:gsLst>
              <a:gs pos="0">
                <a:srgbClr val="00BCD4">
                  <a:alpha val="6400"/>
                </a:srgbClr>
              </a:gs>
              <a:gs pos="100000">
                <a:srgbClr val="00BCD4">
                  <a:alpha val="0"/>
                </a:srgbClr>
              </a:gs>
            </a:gsLst>
            <a:path path="circle">
              <a:fillToRect l="50000" t="50000" r="50000" b="50000"/>
            </a:path>
          </a:gradFill>
          <a:ln/>
        </p:spPr>
      </p:sp>
      <p:sp>
        <p:nvSpPr>
          <p:cNvPr id="4" name="Shape 2"/>
          <p:cNvSpPr/>
          <p:nvPr/>
        </p:nvSpPr>
        <p:spPr>
          <a:xfrm>
            <a:off x="0" y="0"/>
            <a:ext cx="9144000" cy="5143500"/>
          </a:xfrm>
          <a:prstGeom prst="rect">
            <a:avLst/>
          </a:prstGeom>
          <a:gradFill rotWithShape="1">
            <a:gsLst>
              <a:gs pos="0">
                <a:srgbClr val="000000">
                  <a:alpha val="5000"/>
                </a:srgbClr>
              </a:gs>
              <a:gs pos="25000">
                <a:srgbClr val="000000">
                  <a:alpha val="0"/>
                </a:srgbClr>
              </a:gs>
              <a:gs pos="50000">
                <a:srgbClr val="000000"/>
              </a:gs>
              <a:gs pos="75000">
                <a:srgbClr val="000000">
                  <a:alpha val="5000"/>
                </a:srgbClr>
              </a:gs>
              <a:gs pos="100000">
                <a:srgbClr val="000000">
                  <a:alpha val="0"/>
                </a:srgbClr>
              </a:gs>
            </a:gsLst>
            <a:lin ang="5400000" scaled="0"/>
          </a:gradFill>
          <a:ln/>
        </p:spPr>
      </p:sp>
      <p:sp>
        <p:nvSpPr>
          <p:cNvPr id="5" name="Shape 3"/>
          <p:cNvSpPr/>
          <p:nvPr/>
        </p:nvSpPr>
        <p:spPr>
          <a:xfrm>
            <a:off x="342900" y="262890"/>
            <a:ext cx="34290" cy="274320"/>
          </a:xfrm>
          <a:prstGeom prst="roundRect">
            <a:avLst>
              <a:gd name="adj" fmla="val 50000"/>
            </a:avLst>
          </a:prstGeom>
          <a:gradFill rotWithShape="1">
            <a:gsLst>
              <a:gs pos="0">
                <a:srgbClr val="2196F3"/>
              </a:gs>
              <a:gs pos="100000">
                <a:srgbClr val="00BCD4"/>
              </a:gs>
            </a:gsLst>
            <a:lin ang="5400000" scaled="0"/>
          </a:gradFill>
          <a:ln/>
          <a:effectLst>
            <a:outerShdw sx="100000" sy="100000" kx="0" ky="0" algn="bl" rotWithShape="0" blurRad="152400" dist="50800" dir="16200000">
              <a:srgbClr val="2196F3">
                <a:alpha val="25000"/>
              </a:srgbClr>
            </a:outerShdw>
          </a:effectLst>
        </p:spPr>
      </p:sp>
      <p:sp>
        <p:nvSpPr>
          <p:cNvPr id="6" name="Text 4"/>
          <p:cNvSpPr/>
          <p:nvPr/>
        </p:nvSpPr>
        <p:spPr>
          <a:xfrm>
            <a:off x="468630" y="251460"/>
            <a:ext cx="1897380" cy="297180"/>
          </a:xfrm>
          <a:prstGeom prst="rect">
            <a:avLst/>
          </a:prstGeom>
          <a:noFill/>
          <a:ln/>
        </p:spPr>
        <p:txBody>
          <a:bodyPr wrap="none" rtlCol="0" anchor="ctr"/>
          <a:lstStyle/>
          <a:p>
            <a:pPr algn="l" indent="0" marL="0">
              <a:buNone/>
            </a:pPr>
            <a:r>
              <a:rPr lang="en-US" sz="1620" b="1" spc="45" kern="0" dirty="0">
                <a:solidFill>
                  <a:srgbClr val="FFFFFF"/>
                </a:solidFill>
                <a:latin typeface="Inter" pitchFamily="34" charset="0"/>
                <a:ea typeface="Inter" pitchFamily="34" charset="-122"/>
                <a:cs typeface="Inter" pitchFamily="34" charset="-120"/>
              </a:rPr>
              <a:t>参与动机与驱动力</a:t>
            </a:r>
            <a:endParaRPr lang="en-US" sz="1620" dirty="0"/>
          </a:p>
        </p:txBody>
      </p:sp>
      <p:sp>
        <p:nvSpPr>
          <p:cNvPr id="7" name="Text 5"/>
          <p:cNvSpPr/>
          <p:nvPr/>
        </p:nvSpPr>
        <p:spPr>
          <a:xfrm>
            <a:off x="342900" y="605790"/>
            <a:ext cx="7680960" cy="291465"/>
          </a:xfrm>
          <a:prstGeom prst="rect">
            <a:avLst/>
          </a:prstGeom>
          <a:noFill/>
          <a:ln/>
        </p:spPr>
        <p:txBody>
          <a:bodyPr wrap="square" rtlCol="0" anchor="ctr"/>
          <a:lstStyle/>
          <a:p>
            <a:pPr algn="l" indent="0" marL="0">
              <a:lnSpc>
                <a:spcPct val="170000"/>
              </a:lnSpc>
              <a:buNone/>
            </a:pPr>
            <a:r>
              <a:rPr lang="en-US" sz="675" dirty="0">
                <a:solidFill>
                  <a:srgbClr val="90A4C4"/>
                </a:solidFill>
                <a:latin typeface="Inter" pitchFamily="34" charset="0"/>
                <a:ea typeface="Inter" pitchFamily="34" charset="-122"/>
                <a:cs typeface="Inter" pitchFamily="34" charset="-120"/>
              </a:rPr>
              <a:t>开源人士的参与动机远比"免费打工"的刻板印象复杂 ——</a:t>
            </a:r>
            <a:pPr algn="l" indent="0" marL="0">
              <a:lnSpc>
                <a:spcPct val="170000"/>
              </a:lnSpc>
              <a:buNone/>
            </a:pPr>
            <a:r>
              <a:rPr lang="en-US" sz="675" b="1" dirty="0">
                <a:solidFill>
                  <a:srgbClr val="00BCD4"/>
                </a:solidFill>
                <a:latin typeface="Inter" pitchFamily="34" charset="0"/>
                <a:ea typeface="Inter" pitchFamily="34" charset="-122"/>
                <a:cs typeface="Inter" pitchFamily="34" charset="-120"/>
              </a:rPr>
              <a:t>技能提升与职业发展</a:t>
            </a:r>
            <a:pPr algn="l" indent="0" marL="0">
              <a:lnSpc>
                <a:spcPct val="170000"/>
              </a:lnSpc>
              <a:buNone/>
            </a:pPr>
            <a:r>
              <a:rPr lang="en-US" sz="675" dirty="0">
                <a:solidFill>
                  <a:srgbClr val="90A4C4"/>
                </a:solidFill>
                <a:latin typeface="Inter" pitchFamily="34" charset="0"/>
                <a:ea typeface="Inter" pitchFamily="34" charset="-122"/>
                <a:cs typeface="Inter" pitchFamily="34" charset="-120"/>
              </a:rPr>
              <a:t>是最直接的驱动因素，</a:t>
            </a:r>
            <a:pPr algn="l" indent="0" marL="0">
              <a:lnSpc>
                <a:spcPct val="170000"/>
              </a:lnSpc>
              <a:buNone/>
            </a:pPr>
            <a:r>
              <a:rPr lang="en-US" sz="675" b="1" dirty="0">
                <a:solidFill>
                  <a:srgbClr val="00BCD4"/>
                </a:solidFill>
                <a:latin typeface="Inter" pitchFamily="34" charset="0"/>
                <a:ea typeface="Inter" pitchFamily="34" charset="-122"/>
                <a:cs typeface="Inter" pitchFamily="34" charset="-120"/>
              </a:rPr>
              <a:t>社区归属感与回馈精神</a:t>
            </a:r>
            <a:pPr algn="l" indent="0" marL="0">
              <a:lnSpc>
                <a:spcPct val="170000"/>
              </a:lnSpc>
              <a:buNone/>
            </a:pPr>
            <a:r>
              <a:rPr lang="en-US" sz="675" dirty="0">
                <a:solidFill>
                  <a:srgbClr val="90A4C4"/>
                </a:solidFill>
                <a:latin typeface="Inter" pitchFamily="34" charset="0"/>
                <a:ea typeface="Inter" pitchFamily="34" charset="-122"/>
                <a:cs typeface="Inter" pitchFamily="34" charset="-120"/>
              </a:rPr>
              <a:t>同样占据重要位置，这些动机相互交织，共同推动个人持续投入时间与精力到开源项目中。</a:t>
            </a:r>
            <a:endParaRPr lang="en-US" sz="675" dirty="0"/>
          </a:p>
        </p:txBody>
      </p:sp>
      <p:sp>
        <p:nvSpPr>
          <p:cNvPr id="8" name="Shape 6"/>
          <p:cNvSpPr/>
          <p:nvPr/>
        </p:nvSpPr>
        <p:spPr>
          <a:xfrm>
            <a:off x="342900" y="1000125"/>
            <a:ext cx="6172200" cy="3434715"/>
          </a:xfrm>
          <a:prstGeom prst="roundRect">
            <a:avLst>
              <a:gd name="adj" fmla="val 2662"/>
            </a:avLst>
          </a:prstGeom>
          <a:gradFill rotWithShape="1">
            <a:gsLst>
              <a:gs pos="0">
                <a:srgbClr val="0F2240"/>
              </a:gs>
              <a:gs pos="100000">
                <a:srgbClr val="0D1E38"/>
              </a:gs>
            </a:gsLst>
            <a:lin ang="2700000" scaled="0"/>
          </a:gradFill>
          <a:ln w="5715">
            <a:solidFill>
              <a:srgbClr val="2196F3">
                <a:alpha val="20000"/>
              </a:srgbClr>
            </a:solidFill>
            <a:prstDash val="solid"/>
          </a:ln>
          <a:effectLst>
            <a:outerShdw sx="100000" sy="100000" kx="0" ky="0" algn="bl" rotWithShape="0" blurRad="381000" dist="50800" dir="16200000">
              <a:srgbClr val="2196F3">
                <a:alpha val="6000"/>
              </a:srgbClr>
            </a:outerShdw>
          </a:effectLst>
        </p:spPr>
      </p:sp>
      <p:sp>
        <p:nvSpPr>
          <p:cNvPr id="9" name="Text 7"/>
          <p:cNvSpPr/>
          <p:nvPr/>
        </p:nvSpPr>
        <p:spPr>
          <a:xfrm>
            <a:off x="3000375" y="1074420"/>
            <a:ext cx="603504" cy="308610"/>
          </a:xfrm>
          <a:prstGeom prst="rect">
            <a:avLst/>
          </a:prstGeom>
          <a:noFill/>
          <a:ln/>
        </p:spPr>
        <p:txBody>
          <a:bodyPr wrap="none" rtlCol="0" anchor="ctr"/>
          <a:lstStyle/>
          <a:p>
            <a:pPr algn="l" indent="0" marL="0">
              <a:buNone/>
            </a:pPr>
            <a:r>
              <a:rPr lang="en-US" sz="1980" b="1" spc="90" kern="0" dirty="0">
                <a:solidFill>
                  <a:srgbClr val="2196F3">
                    <a:alpha val="7000"/>
                  </a:srgbClr>
                </a:solidFill>
                <a:latin typeface="Inter" pitchFamily="34" charset="0"/>
                <a:ea typeface="Inter" pitchFamily="34" charset="-122"/>
                <a:cs typeface="Inter" pitchFamily="34" charset="-120"/>
              </a:rPr>
              <a:t>01</a:t>
            </a:r>
            <a:endParaRPr lang="en-US" sz="1980" dirty="0"/>
          </a:p>
        </p:txBody>
      </p:sp>
      <p:sp>
        <p:nvSpPr>
          <p:cNvPr id="10" name="Shape 8"/>
          <p:cNvSpPr/>
          <p:nvPr/>
        </p:nvSpPr>
        <p:spPr>
          <a:xfrm>
            <a:off x="497205" y="1131570"/>
            <a:ext cx="274320" cy="274320"/>
          </a:xfrm>
          <a:prstGeom prst="roundRect">
            <a:avLst>
              <a:gd name="adj" fmla="val 25000"/>
            </a:avLst>
          </a:prstGeom>
          <a:gradFill rotWithShape="1">
            <a:gsLst>
              <a:gs pos="0">
                <a:srgbClr val="2196F3">
                  <a:alpha val="20000"/>
                </a:srgbClr>
              </a:gs>
              <a:gs pos="100000">
                <a:srgbClr val="00BCD4">
                  <a:alpha val="10000"/>
                </a:srgbClr>
              </a:gs>
            </a:gsLst>
            <a:lin ang="2700000" scaled="0"/>
          </a:gradFill>
          <a:ln w="5715">
            <a:solidFill>
              <a:srgbClr val="2196F3">
                <a:alpha val="35000"/>
              </a:srgbClr>
            </a:solidFill>
            <a:prstDash val="solid"/>
          </a:ln>
          <a:effectLst>
            <a:outerShdw sx="100000" sy="100000" kx="0" ky="0" algn="bl" rotWithShape="0" blurRad="190500" dist="50800" dir="16200000">
              <a:srgbClr val="2196F3">
                <a:alpha val="15000"/>
              </a:srgbClr>
            </a:outerShdw>
          </a:effectLst>
        </p:spPr>
      </p:sp>
      <p:pic>
        <p:nvPicPr>
          <p:cNvPr id="11"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60070" y="1194435"/>
            <a:ext cx="148590" cy="148590"/>
          </a:xfrm>
          <a:prstGeom prst="rect">
            <a:avLst/>
          </a:prstGeom>
        </p:spPr>
      </p:pic>
      <p:sp>
        <p:nvSpPr>
          <p:cNvPr id="12" name="Text 9"/>
          <p:cNvSpPr/>
          <p:nvPr/>
        </p:nvSpPr>
        <p:spPr>
          <a:xfrm>
            <a:off x="497205" y="1463040"/>
            <a:ext cx="3117190" cy="154305"/>
          </a:xfrm>
          <a:prstGeom prst="rect">
            <a:avLst/>
          </a:prstGeom>
          <a:noFill/>
          <a:ln/>
        </p:spPr>
        <p:txBody>
          <a:bodyPr wrap="none" rtlCol="0" anchor="ctr"/>
          <a:lstStyle/>
          <a:p>
            <a:pPr algn="l" indent="0" marL="0">
              <a:buNone/>
            </a:pPr>
            <a:r>
              <a:rPr lang="en-US" sz="855" b="1" dirty="0">
                <a:solidFill>
                  <a:srgbClr val="FFFFFF"/>
                </a:solidFill>
                <a:latin typeface="Inter" pitchFamily="34" charset="0"/>
                <a:ea typeface="Inter" pitchFamily="34" charset="-122"/>
                <a:cs typeface="Inter" pitchFamily="34" charset="-120"/>
              </a:rPr>
              <a:t>技能成长</a:t>
            </a:r>
            <a:endParaRPr lang="en-US" sz="855" dirty="0"/>
          </a:p>
        </p:txBody>
      </p:sp>
      <p:sp>
        <p:nvSpPr>
          <p:cNvPr id="13" name="Text 10"/>
          <p:cNvSpPr/>
          <p:nvPr/>
        </p:nvSpPr>
        <p:spPr>
          <a:xfrm>
            <a:off x="497205" y="1674495"/>
            <a:ext cx="3117190" cy="235744"/>
          </a:xfrm>
          <a:prstGeom prst="rect">
            <a:avLst/>
          </a:prstGeom>
          <a:noFill/>
          <a:ln/>
        </p:spPr>
        <p:txBody>
          <a:bodyPr wrap="square" rtlCol="0" anchor="ctr"/>
          <a:lstStyle/>
          <a:p>
            <a:pPr algn="l" indent="0" marL="0">
              <a:lnSpc>
                <a:spcPct val="165000"/>
              </a:lnSpc>
              <a:buNone/>
            </a:pPr>
            <a:r>
              <a:rPr lang="en-US" sz="563" dirty="0">
                <a:solidFill>
                  <a:srgbClr val="90A4C4"/>
                </a:solidFill>
                <a:latin typeface="Inter" pitchFamily="34" charset="0"/>
                <a:ea typeface="Inter" pitchFamily="34" charset="-122"/>
                <a:cs typeface="Inter" pitchFamily="34" charset="-120"/>
              </a:rPr>
              <a:t>通过真实项目锻炼技术能力，提升代码质量与协作水平，是最普遍的个人动机。在实践中学习，在学习中蜕变。</a:t>
            </a:r>
            <a:endParaRPr lang="en-US" sz="563" dirty="0"/>
          </a:p>
        </p:txBody>
      </p:sp>
      <p:sp>
        <p:nvSpPr>
          <p:cNvPr id="14" name="Text 11"/>
          <p:cNvSpPr/>
          <p:nvPr/>
        </p:nvSpPr>
        <p:spPr>
          <a:xfrm>
            <a:off x="3554730" y="1074420"/>
            <a:ext cx="605790" cy="308610"/>
          </a:xfrm>
          <a:prstGeom prst="rect">
            <a:avLst/>
          </a:prstGeom>
          <a:noFill/>
          <a:ln/>
        </p:spPr>
        <p:txBody>
          <a:bodyPr wrap="none" rtlCol="0" anchor="ctr"/>
          <a:lstStyle/>
          <a:p>
            <a:pPr algn="l" indent="0" marL="0">
              <a:buNone/>
            </a:pPr>
            <a:r>
              <a:rPr lang="en-US" sz="1980" b="1" spc="90" kern="0" dirty="0">
                <a:solidFill>
                  <a:srgbClr val="2196F3">
                    <a:alpha val="7000"/>
                  </a:srgbClr>
                </a:solidFill>
                <a:latin typeface="Inter" pitchFamily="34" charset="0"/>
                <a:ea typeface="Inter" pitchFamily="34" charset="-122"/>
                <a:cs typeface="Inter" pitchFamily="34" charset="-120"/>
              </a:rPr>
              <a:t>02</a:t>
            </a:r>
            <a:endParaRPr lang="en-US" sz="1980" dirty="0"/>
          </a:p>
        </p:txBody>
      </p:sp>
      <p:sp>
        <p:nvSpPr>
          <p:cNvPr id="15" name="Shape 12"/>
          <p:cNvSpPr/>
          <p:nvPr/>
        </p:nvSpPr>
        <p:spPr>
          <a:xfrm>
            <a:off x="3577590" y="1131570"/>
            <a:ext cx="274320" cy="274320"/>
          </a:xfrm>
          <a:prstGeom prst="roundRect">
            <a:avLst>
              <a:gd name="adj" fmla="val 25000"/>
            </a:avLst>
          </a:prstGeom>
          <a:gradFill rotWithShape="1">
            <a:gsLst>
              <a:gs pos="0">
                <a:srgbClr val="2196F3">
                  <a:alpha val="20000"/>
                </a:srgbClr>
              </a:gs>
              <a:gs pos="100000">
                <a:srgbClr val="00BCD4">
                  <a:alpha val="10000"/>
                </a:srgbClr>
              </a:gs>
            </a:gsLst>
            <a:lin ang="2700000" scaled="0"/>
          </a:gradFill>
          <a:ln w="5715">
            <a:solidFill>
              <a:srgbClr val="2196F3">
                <a:alpha val="35000"/>
              </a:srgbClr>
            </a:solidFill>
            <a:prstDash val="solid"/>
          </a:ln>
          <a:effectLst>
            <a:outerShdw sx="100000" sy="100000" kx="0" ky="0" algn="bl" rotWithShape="0" blurRad="190500" dist="50800" dir="16200000">
              <a:srgbClr val="2196F3">
                <a:alpha val="15000"/>
              </a:srgbClr>
            </a:outerShdw>
          </a:effectLst>
        </p:spPr>
      </p:sp>
      <p:pic>
        <p:nvPicPr>
          <p:cNvPr id="1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640455" y="1194435"/>
            <a:ext cx="148590" cy="148590"/>
          </a:xfrm>
          <a:prstGeom prst="rect">
            <a:avLst/>
          </a:prstGeom>
        </p:spPr>
      </p:pic>
      <p:sp>
        <p:nvSpPr>
          <p:cNvPr id="17" name="Text 13"/>
          <p:cNvSpPr/>
          <p:nvPr/>
        </p:nvSpPr>
        <p:spPr>
          <a:xfrm>
            <a:off x="3577590" y="1463040"/>
            <a:ext cx="3117190" cy="154305"/>
          </a:xfrm>
          <a:prstGeom prst="rect">
            <a:avLst/>
          </a:prstGeom>
          <a:noFill/>
          <a:ln/>
        </p:spPr>
        <p:txBody>
          <a:bodyPr wrap="none" rtlCol="0" anchor="ctr"/>
          <a:lstStyle/>
          <a:p>
            <a:pPr algn="l" indent="0" marL="0">
              <a:buNone/>
            </a:pPr>
            <a:r>
              <a:rPr lang="en-US" sz="855" b="1" dirty="0">
                <a:solidFill>
                  <a:srgbClr val="FFFFFF"/>
                </a:solidFill>
                <a:latin typeface="Inter" pitchFamily="34" charset="0"/>
                <a:ea typeface="Inter" pitchFamily="34" charset="-122"/>
                <a:cs typeface="Inter" pitchFamily="34" charset="-120"/>
              </a:rPr>
              <a:t>职业发展</a:t>
            </a:r>
            <a:endParaRPr lang="en-US" sz="855" dirty="0"/>
          </a:p>
        </p:txBody>
      </p:sp>
      <p:sp>
        <p:nvSpPr>
          <p:cNvPr id="18" name="Text 14"/>
          <p:cNvSpPr/>
          <p:nvPr/>
        </p:nvSpPr>
        <p:spPr>
          <a:xfrm>
            <a:off x="3577590" y="1674495"/>
            <a:ext cx="3117190" cy="235744"/>
          </a:xfrm>
          <a:prstGeom prst="rect">
            <a:avLst/>
          </a:prstGeom>
          <a:noFill/>
          <a:ln/>
        </p:spPr>
        <p:txBody>
          <a:bodyPr wrap="square" rtlCol="0" anchor="ctr"/>
          <a:lstStyle/>
          <a:p>
            <a:pPr algn="l" indent="0" marL="0">
              <a:lnSpc>
                <a:spcPct val="165000"/>
              </a:lnSpc>
              <a:buNone/>
            </a:pPr>
            <a:r>
              <a:rPr lang="en-US" sz="563" dirty="0">
                <a:solidFill>
                  <a:srgbClr val="90A4C4"/>
                </a:solidFill>
                <a:latin typeface="Inter" pitchFamily="34" charset="0"/>
                <a:ea typeface="Inter" pitchFamily="34" charset="-122"/>
                <a:cs typeface="Inter" pitchFamily="34" charset="-120"/>
              </a:rPr>
              <a:t>开源贡献记录成为求职与晋升的重要加分项，企业越来越看重 GitHub 活跃度，贡献即履历。</a:t>
            </a:r>
            <a:endParaRPr lang="en-US" sz="563" dirty="0"/>
          </a:p>
        </p:txBody>
      </p:sp>
      <p:sp>
        <p:nvSpPr>
          <p:cNvPr id="19" name="Text 15"/>
          <p:cNvSpPr/>
          <p:nvPr/>
        </p:nvSpPr>
        <p:spPr>
          <a:xfrm>
            <a:off x="2943225" y="4051935"/>
            <a:ext cx="611505" cy="308610"/>
          </a:xfrm>
          <a:prstGeom prst="rect">
            <a:avLst/>
          </a:prstGeom>
          <a:noFill/>
          <a:ln/>
        </p:spPr>
        <p:txBody>
          <a:bodyPr wrap="none" rtlCol="0" anchor="ctr"/>
          <a:lstStyle/>
          <a:p>
            <a:pPr algn="l" indent="0" marL="0">
              <a:buNone/>
            </a:pPr>
            <a:r>
              <a:rPr lang="en-US" sz="1980" b="1" spc="90" kern="0" dirty="0">
                <a:solidFill>
                  <a:srgbClr val="2196F3">
                    <a:alpha val="7000"/>
                  </a:srgbClr>
                </a:solidFill>
                <a:latin typeface="Inter" pitchFamily="34" charset="0"/>
                <a:ea typeface="Inter" pitchFamily="34" charset="-122"/>
                <a:cs typeface="Inter" pitchFamily="34" charset="-120"/>
              </a:rPr>
              <a:t>03</a:t>
            </a:r>
            <a:endParaRPr lang="en-US" sz="1980" dirty="0"/>
          </a:p>
        </p:txBody>
      </p:sp>
      <p:sp>
        <p:nvSpPr>
          <p:cNvPr id="20" name="Shape 16"/>
          <p:cNvSpPr/>
          <p:nvPr/>
        </p:nvSpPr>
        <p:spPr>
          <a:xfrm>
            <a:off x="497205" y="2843213"/>
            <a:ext cx="274320" cy="274320"/>
          </a:xfrm>
          <a:prstGeom prst="roundRect">
            <a:avLst>
              <a:gd name="adj" fmla="val 25000"/>
            </a:avLst>
          </a:prstGeom>
          <a:gradFill rotWithShape="1">
            <a:gsLst>
              <a:gs pos="0">
                <a:srgbClr val="2196F3">
                  <a:alpha val="20000"/>
                </a:srgbClr>
              </a:gs>
              <a:gs pos="100000">
                <a:srgbClr val="00BCD4">
                  <a:alpha val="10000"/>
                </a:srgbClr>
              </a:gs>
            </a:gsLst>
            <a:lin ang="2700000" scaled="0"/>
          </a:gradFill>
          <a:ln w="5715">
            <a:solidFill>
              <a:srgbClr val="2196F3">
                <a:alpha val="35000"/>
              </a:srgbClr>
            </a:solidFill>
            <a:prstDash val="solid"/>
          </a:ln>
          <a:effectLst>
            <a:outerShdw sx="100000" sy="100000" kx="0" ky="0" algn="bl" rotWithShape="0" blurRad="190500" dist="50800" dir="16200000">
              <a:srgbClr val="2196F3">
                <a:alpha val="15000"/>
              </a:srgbClr>
            </a:outerShdw>
          </a:effectLst>
        </p:spPr>
      </p:sp>
      <p:pic>
        <p:nvPicPr>
          <p:cNvPr id="2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60070" y="2906078"/>
            <a:ext cx="148590" cy="148590"/>
          </a:xfrm>
          <a:prstGeom prst="rect">
            <a:avLst/>
          </a:prstGeom>
        </p:spPr>
      </p:pic>
      <p:sp>
        <p:nvSpPr>
          <p:cNvPr id="22" name="Text 17"/>
          <p:cNvSpPr/>
          <p:nvPr/>
        </p:nvSpPr>
        <p:spPr>
          <a:xfrm>
            <a:off x="497205" y="3174683"/>
            <a:ext cx="3117190" cy="154305"/>
          </a:xfrm>
          <a:prstGeom prst="rect">
            <a:avLst/>
          </a:prstGeom>
          <a:noFill/>
          <a:ln/>
        </p:spPr>
        <p:txBody>
          <a:bodyPr wrap="none" rtlCol="0" anchor="ctr"/>
          <a:lstStyle/>
          <a:p>
            <a:pPr algn="l" indent="0" marL="0">
              <a:buNone/>
            </a:pPr>
            <a:r>
              <a:rPr lang="en-US" sz="855" b="1" dirty="0">
                <a:solidFill>
                  <a:srgbClr val="FFFFFF"/>
                </a:solidFill>
                <a:latin typeface="Inter" pitchFamily="34" charset="0"/>
                <a:ea typeface="Inter" pitchFamily="34" charset="-122"/>
                <a:cs typeface="Inter" pitchFamily="34" charset="-120"/>
              </a:rPr>
              <a:t>社区归属</a:t>
            </a:r>
            <a:endParaRPr lang="en-US" sz="855" dirty="0"/>
          </a:p>
        </p:txBody>
      </p:sp>
      <p:sp>
        <p:nvSpPr>
          <p:cNvPr id="23" name="Text 18"/>
          <p:cNvSpPr/>
          <p:nvPr/>
        </p:nvSpPr>
        <p:spPr>
          <a:xfrm>
            <a:off x="497205" y="3386138"/>
            <a:ext cx="3117190" cy="235744"/>
          </a:xfrm>
          <a:prstGeom prst="rect">
            <a:avLst/>
          </a:prstGeom>
          <a:noFill/>
          <a:ln/>
        </p:spPr>
        <p:txBody>
          <a:bodyPr wrap="square" rtlCol="0" anchor="ctr"/>
          <a:lstStyle/>
          <a:p>
            <a:pPr algn="l" indent="0" marL="0">
              <a:lnSpc>
                <a:spcPct val="165000"/>
              </a:lnSpc>
              <a:buNone/>
            </a:pPr>
            <a:r>
              <a:rPr lang="en-US" sz="563" dirty="0">
                <a:solidFill>
                  <a:srgbClr val="90A4C4"/>
                </a:solidFill>
                <a:latin typeface="Inter" pitchFamily="34" charset="0"/>
                <a:ea typeface="Inter" pitchFamily="34" charset="-122"/>
                <a:cs typeface="Inter" pitchFamily="34" charset="-120"/>
              </a:rPr>
              <a:t>加入志同道合的社群，获得认同感与归属感，形成跨地域的专业人脉网络，让孤独编码变成协作交响。</a:t>
            </a:r>
            <a:endParaRPr lang="en-US" sz="563" dirty="0"/>
          </a:p>
        </p:txBody>
      </p:sp>
      <p:sp>
        <p:nvSpPr>
          <p:cNvPr id="24" name="Text 19"/>
          <p:cNvSpPr/>
          <p:nvPr/>
        </p:nvSpPr>
        <p:spPr>
          <a:xfrm>
            <a:off x="3554730" y="4051935"/>
            <a:ext cx="617220" cy="308610"/>
          </a:xfrm>
          <a:prstGeom prst="rect">
            <a:avLst/>
          </a:prstGeom>
          <a:noFill/>
          <a:ln/>
        </p:spPr>
        <p:txBody>
          <a:bodyPr wrap="none" rtlCol="0" anchor="ctr"/>
          <a:lstStyle/>
          <a:p>
            <a:pPr algn="l" indent="0" marL="0">
              <a:buNone/>
            </a:pPr>
            <a:r>
              <a:rPr lang="en-US" sz="1980" b="1" spc="90" kern="0" dirty="0">
                <a:solidFill>
                  <a:srgbClr val="2196F3">
                    <a:alpha val="7000"/>
                  </a:srgbClr>
                </a:solidFill>
                <a:latin typeface="Inter" pitchFamily="34" charset="0"/>
                <a:ea typeface="Inter" pitchFamily="34" charset="-122"/>
                <a:cs typeface="Inter" pitchFamily="34" charset="-120"/>
              </a:rPr>
              <a:t>04</a:t>
            </a:r>
            <a:endParaRPr lang="en-US" sz="1980" dirty="0"/>
          </a:p>
        </p:txBody>
      </p:sp>
      <p:sp>
        <p:nvSpPr>
          <p:cNvPr id="25" name="Shape 20"/>
          <p:cNvSpPr/>
          <p:nvPr/>
        </p:nvSpPr>
        <p:spPr>
          <a:xfrm>
            <a:off x="3577590" y="2843213"/>
            <a:ext cx="274320" cy="274320"/>
          </a:xfrm>
          <a:prstGeom prst="roundRect">
            <a:avLst>
              <a:gd name="adj" fmla="val 25000"/>
            </a:avLst>
          </a:prstGeom>
          <a:gradFill rotWithShape="1">
            <a:gsLst>
              <a:gs pos="0">
                <a:srgbClr val="2196F3">
                  <a:alpha val="20000"/>
                </a:srgbClr>
              </a:gs>
              <a:gs pos="100000">
                <a:srgbClr val="00BCD4">
                  <a:alpha val="10000"/>
                </a:srgbClr>
              </a:gs>
            </a:gsLst>
            <a:lin ang="2700000" scaled="0"/>
          </a:gradFill>
          <a:ln w="5715">
            <a:solidFill>
              <a:srgbClr val="2196F3">
                <a:alpha val="35000"/>
              </a:srgbClr>
            </a:solidFill>
            <a:prstDash val="solid"/>
          </a:ln>
          <a:effectLst>
            <a:outerShdw sx="100000" sy="100000" kx="0" ky="0" algn="bl" rotWithShape="0" blurRad="190500" dist="50800" dir="16200000">
              <a:srgbClr val="2196F3">
                <a:alpha val="15000"/>
              </a:srgbClr>
            </a:outerShdw>
          </a:effectLst>
        </p:spPr>
      </p:sp>
      <p:pic>
        <p:nvPicPr>
          <p:cNvPr id="26"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640455" y="2906078"/>
            <a:ext cx="148590" cy="148590"/>
          </a:xfrm>
          <a:prstGeom prst="rect">
            <a:avLst/>
          </a:prstGeom>
        </p:spPr>
      </p:pic>
      <p:sp>
        <p:nvSpPr>
          <p:cNvPr id="27" name="Text 21"/>
          <p:cNvSpPr/>
          <p:nvPr/>
        </p:nvSpPr>
        <p:spPr>
          <a:xfrm>
            <a:off x="3577590" y="3174683"/>
            <a:ext cx="3117190" cy="154305"/>
          </a:xfrm>
          <a:prstGeom prst="rect">
            <a:avLst/>
          </a:prstGeom>
          <a:noFill/>
          <a:ln/>
        </p:spPr>
        <p:txBody>
          <a:bodyPr wrap="none" rtlCol="0" anchor="ctr"/>
          <a:lstStyle/>
          <a:p>
            <a:pPr algn="l" indent="0" marL="0">
              <a:buNone/>
            </a:pPr>
            <a:r>
              <a:rPr lang="en-US" sz="855" b="1" dirty="0">
                <a:solidFill>
                  <a:srgbClr val="FFFFFF"/>
                </a:solidFill>
                <a:latin typeface="Inter" pitchFamily="34" charset="0"/>
                <a:ea typeface="Inter" pitchFamily="34" charset="-122"/>
                <a:cs typeface="Inter" pitchFamily="34" charset="-120"/>
              </a:rPr>
              <a:t>回馈精神</a:t>
            </a:r>
            <a:endParaRPr lang="en-US" sz="855" dirty="0"/>
          </a:p>
        </p:txBody>
      </p:sp>
      <p:sp>
        <p:nvSpPr>
          <p:cNvPr id="28" name="Text 22"/>
          <p:cNvSpPr/>
          <p:nvPr/>
        </p:nvSpPr>
        <p:spPr>
          <a:xfrm>
            <a:off x="3577590" y="3386138"/>
            <a:ext cx="3117190" cy="235744"/>
          </a:xfrm>
          <a:prstGeom prst="rect">
            <a:avLst/>
          </a:prstGeom>
          <a:noFill/>
          <a:ln/>
        </p:spPr>
        <p:txBody>
          <a:bodyPr wrap="square" rtlCol="0" anchor="ctr"/>
          <a:lstStyle/>
          <a:p>
            <a:pPr algn="l" indent="0" marL="0">
              <a:lnSpc>
                <a:spcPct val="165000"/>
              </a:lnSpc>
              <a:buNone/>
            </a:pPr>
            <a:r>
              <a:rPr lang="en-US" sz="563" dirty="0">
                <a:solidFill>
                  <a:srgbClr val="90A4C4"/>
                </a:solidFill>
                <a:latin typeface="Inter" pitchFamily="34" charset="0"/>
                <a:ea typeface="Inter" pitchFamily="34" charset="-122"/>
                <a:cs typeface="Inter" pitchFamily="34" charset="-120"/>
              </a:rPr>
              <a:t>受益于开源生态后愿意回馈社区，体现技术人的利他与共享价值观，以心传心，薪火相传。</a:t>
            </a:r>
            <a:endParaRPr lang="en-US" sz="563" dirty="0"/>
          </a:p>
        </p:txBody>
      </p:sp>
      <p:sp>
        <p:nvSpPr>
          <p:cNvPr id="29" name="Shape 23"/>
          <p:cNvSpPr/>
          <p:nvPr/>
        </p:nvSpPr>
        <p:spPr>
          <a:xfrm>
            <a:off x="3423285" y="1000125"/>
            <a:ext cx="5715" cy="3423285"/>
          </a:xfrm>
          <a:prstGeom prst="rect">
            <a:avLst/>
          </a:prstGeom>
          <a:gradFill rotWithShape="1">
            <a:gsLst>
              <a:gs pos="0">
                <a:srgbClr val="000000">
                  <a:alpha val="0"/>
                </a:srgbClr>
              </a:gs>
              <a:gs pos="50000">
                <a:srgbClr val="2196F3">
                  <a:alpha val="35000"/>
                </a:srgbClr>
              </a:gs>
              <a:gs pos="100000">
                <a:srgbClr val="000000">
                  <a:alpha val="0"/>
                </a:srgbClr>
              </a:gs>
            </a:gsLst>
            <a:lin ang="5400000" scaled="0"/>
          </a:gradFill>
          <a:ln/>
        </p:spPr>
      </p:sp>
      <p:sp>
        <p:nvSpPr>
          <p:cNvPr id="30" name="Shape 24"/>
          <p:cNvSpPr/>
          <p:nvPr/>
        </p:nvSpPr>
        <p:spPr>
          <a:xfrm>
            <a:off x="342900" y="2711768"/>
            <a:ext cx="6160770" cy="5715"/>
          </a:xfrm>
          <a:prstGeom prst="rect">
            <a:avLst/>
          </a:prstGeom>
          <a:gradFill rotWithShape="1">
            <a:gsLst>
              <a:gs pos="0">
                <a:srgbClr val="000000">
                  <a:alpha val="0"/>
                </a:srgbClr>
              </a:gs>
              <a:gs pos="50000">
                <a:srgbClr val="2196F3">
                  <a:alpha val="35000"/>
                </a:srgbClr>
              </a:gs>
              <a:gs pos="100000">
                <a:srgbClr val="000000">
                  <a:alpha val="0"/>
                </a:srgbClr>
              </a:gs>
            </a:gsLst>
            <a:lin ang="0" scaled="0"/>
          </a:gradFill>
          <a:ln/>
        </p:spPr>
      </p:sp>
      <p:sp>
        <p:nvSpPr>
          <p:cNvPr id="31" name="Shape 25"/>
          <p:cNvSpPr/>
          <p:nvPr/>
        </p:nvSpPr>
        <p:spPr>
          <a:xfrm>
            <a:off x="3154680" y="2443163"/>
            <a:ext cx="548640" cy="548640"/>
          </a:xfrm>
          <a:prstGeom prst="ellipse">
            <a:avLst/>
          </a:prstGeom>
          <a:gradFill rotWithShape="1">
            <a:gsLst>
              <a:gs pos="0">
                <a:srgbClr val="2196F3"/>
              </a:gs>
              <a:gs pos="100000">
                <a:srgbClr val="0D47A1"/>
              </a:gs>
            </a:gsLst>
            <a:path path="circle">
              <a:fillToRect l="50000" t="50000" r="50000" b="50000"/>
            </a:path>
          </a:gradFill>
          <a:ln w="11430">
            <a:solidFill>
              <a:srgbClr val="00BCD4">
                <a:alpha val="40000"/>
              </a:srgbClr>
            </a:solidFill>
            <a:prstDash val="solid"/>
          </a:ln>
          <a:effectLst>
            <a:outerShdw sx="100000" sy="100000" kx="0" ky="0" algn="bl" rotWithShape="0" blurRad="285750" dist="50800" dir="16200000">
              <a:srgbClr val="2196F3">
                <a:alpha val="50000"/>
              </a:srgbClr>
            </a:outerShdw>
          </a:effectLst>
        </p:spPr>
      </p:sp>
      <p:pic>
        <p:nvPicPr>
          <p:cNvPr id="32"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268980" y="2557463"/>
            <a:ext cx="320040" cy="320040"/>
          </a:xfrm>
          <a:prstGeom prst="rect">
            <a:avLst/>
          </a:prstGeom>
        </p:spPr>
      </p:pic>
      <p:sp>
        <p:nvSpPr>
          <p:cNvPr id="33" name="Text 26"/>
          <p:cNvSpPr/>
          <p:nvPr/>
        </p:nvSpPr>
        <p:spPr>
          <a:xfrm>
            <a:off x="2860358" y="3253710"/>
            <a:ext cx="1273759" cy="80010"/>
          </a:xfrm>
          <a:prstGeom prst="rect">
            <a:avLst/>
          </a:prstGeom>
          <a:noFill/>
          <a:ln/>
        </p:spPr>
        <p:txBody>
          <a:bodyPr wrap="none" rtlCol="0" anchor="ctr"/>
          <a:lstStyle/>
          <a:p>
            <a:pPr algn="l" indent="0" marL="0">
              <a:buNone/>
            </a:pPr>
            <a:r>
              <a:rPr lang="en-US" sz="495" spc="90" kern="0" dirty="0">
                <a:solidFill>
                  <a:srgbClr val="00BCD4"/>
                </a:solidFill>
                <a:latin typeface="Inter" pitchFamily="34" charset="0"/>
                <a:ea typeface="Inter" pitchFamily="34" charset="-122"/>
                <a:cs typeface="Inter" pitchFamily="34" charset="-120"/>
              </a:rPr>
              <a:t>OPENSOURCE · MOTIVATION</a:t>
            </a:r>
            <a:endParaRPr lang="en-US" sz="495" dirty="0"/>
          </a:p>
        </p:txBody>
      </p:sp>
      <p:sp>
        <p:nvSpPr>
          <p:cNvPr id="34" name="Shape 27"/>
          <p:cNvSpPr/>
          <p:nvPr/>
        </p:nvSpPr>
        <p:spPr>
          <a:xfrm>
            <a:off x="6629400" y="1000125"/>
            <a:ext cx="2171700" cy="842248"/>
          </a:xfrm>
          <a:prstGeom prst="roundRect">
            <a:avLst>
              <a:gd name="adj" fmla="val 9500"/>
            </a:avLst>
          </a:prstGeom>
          <a:gradFill rotWithShape="1">
            <a:gsLst>
              <a:gs pos="0">
                <a:srgbClr val="0F2240"/>
              </a:gs>
              <a:gs pos="100000">
                <a:srgbClr val="132A4A"/>
              </a:gs>
            </a:gsLst>
            <a:lin ang="2700000" scaled="0"/>
          </a:gradFill>
          <a:ln w="5715">
            <a:solidFill>
              <a:srgbClr val="2196F3">
                <a:alpha val="18000"/>
              </a:srgbClr>
            </a:solidFill>
            <a:prstDash val="solid"/>
          </a:ln>
        </p:spPr>
      </p:sp>
      <p:sp>
        <p:nvSpPr>
          <p:cNvPr id="35" name="Shape 28"/>
          <p:cNvSpPr/>
          <p:nvPr/>
        </p:nvSpPr>
        <p:spPr>
          <a:xfrm>
            <a:off x="6629400" y="1000125"/>
            <a:ext cx="17145" cy="830818"/>
          </a:xfrm>
          <a:prstGeom prst="rect">
            <a:avLst/>
          </a:prstGeom>
          <a:gradFill rotWithShape="1">
            <a:gsLst>
              <a:gs pos="0">
                <a:srgbClr val="2196F3"/>
              </a:gs>
              <a:gs pos="100000">
                <a:srgbClr val="00BCD4"/>
              </a:gs>
            </a:gsLst>
            <a:lin ang="5400000" scaled="0"/>
          </a:gradFill>
          <a:ln/>
        </p:spPr>
      </p:sp>
      <p:sp>
        <p:nvSpPr>
          <p:cNvPr id="36" name="Text 29"/>
          <p:cNvSpPr/>
          <p:nvPr/>
        </p:nvSpPr>
        <p:spPr>
          <a:xfrm>
            <a:off x="6760845" y="1131570"/>
            <a:ext cx="394335" cy="108585"/>
          </a:xfrm>
          <a:prstGeom prst="rect">
            <a:avLst/>
          </a:prstGeom>
          <a:noFill/>
          <a:ln/>
        </p:spPr>
        <p:txBody>
          <a:bodyPr wrap="none" rtlCol="0" anchor="ctr"/>
          <a:lstStyle/>
          <a:p>
            <a:pPr algn="l" indent="0" marL="0">
              <a:buNone/>
            </a:pPr>
            <a:r>
              <a:rPr lang="en-US" sz="585" spc="45" kern="0" dirty="0">
                <a:solidFill>
                  <a:srgbClr val="B0BEC5"/>
                </a:solidFill>
                <a:latin typeface="Inter" pitchFamily="34" charset="0"/>
                <a:ea typeface="Inter" pitchFamily="34" charset="-122"/>
                <a:cs typeface="Inter" pitchFamily="34" charset="-120"/>
              </a:rPr>
              <a:t>动机层次</a:t>
            </a:r>
            <a:endParaRPr lang="en-US" sz="585" dirty="0"/>
          </a:p>
        </p:txBody>
      </p:sp>
      <p:sp>
        <p:nvSpPr>
          <p:cNvPr id="37" name="Shape 30"/>
          <p:cNvSpPr/>
          <p:nvPr/>
        </p:nvSpPr>
        <p:spPr>
          <a:xfrm>
            <a:off x="8255943" y="1120140"/>
            <a:ext cx="413712" cy="131445"/>
          </a:xfrm>
          <a:prstGeom prst="roundRect">
            <a:avLst>
              <a:gd name="adj" fmla="val 43478"/>
            </a:avLst>
          </a:prstGeom>
          <a:noFill/>
          <a:ln w="5715">
            <a:solidFill>
              <a:srgbClr val="00BCD4">
                <a:alpha val="35000"/>
              </a:srgbClr>
            </a:solidFill>
            <a:prstDash val="solid"/>
          </a:ln>
        </p:spPr>
      </p:sp>
      <p:sp>
        <p:nvSpPr>
          <p:cNvPr id="38" name="Text 31"/>
          <p:cNvSpPr/>
          <p:nvPr/>
        </p:nvSpPr>
        <p:spPr>
          <a:xfrm>
            <a:off x="8255943" y="1120140"/>
            <a:ext cx="470862" cy="131445"/>
          </a:xfrm>
          <a:prstGeom prst="rect">
            <a:avLst/>
          </a:prstGeom>
          <a:noFill/>
          <a:ln/>
        </p:spPr>
        <p:txBody>
          <a:bodyPr wrap="square" lIns="17145" tIns="45720" rIns="45720" bIns="17145" rtlCol="0" anchor="ctr"/>
          <a:lstStyle/>
          <a:p>
            <a:pPr algn="l" indent="0" marL="0">
              <a:buNone/>
            </a:pPr>
            <a:r>
              <a:rPr lang="en-US" sz="450" dirty="0">
                <a:solidFill>
                  <a:srgbClr val="00BCD4"/>
                </a:solidFill>
                <a:latin typeface="Inter" pitchFamily="34" charset="0"/>
                <a:ea typeface="Inter" pitchFamily="34" charset="-122"/>
                <a:cs typeface="Inter" pitchFamily="34" charset="-120"/>
              </a:rPr>
              <a:t>个人 → 社会</a:t>
            </a:r>
            <a:endParaRPr lang="en-US" sz="450" dirty="0"/>
          </a:p>
        </p:txBody>
      </p:sp>
      <p:sp>
        <p:nvSpPr>
          <p:cNvPr id="39" name="Text 32"/>
          <p:cNvSpPr/>
          <p:nvPr/>
        </p:nvSpPr>
        <p:spPr>
          <a:xfrm>
            <a:off x="6760845" y="1297305"/>
            <a:ext cx="2137867" cy="178237"/>
          </a:xfrm>
          <a:prstGeom prst="rect">
            <a:avLst/>
          </a:prstGeom>
          <a:noFill/>
          <a:ln/>
        </p:spPr>
        <p:txBody>
          <a:bodyPr wrap="square" rtlCol="0" anchor="ctr"/>
          <a:lstStyle/>
          <a:p>
            <a:pPr algn="l" indent="0" marL="0">
              <a:lnSpc>
                <a:spcPct val="120000"/>
              </a:lnSpc>
              <a:buNone/>
            </a:pPr>
            <a:r>
              <a:rPr lang="en-US" sz="1170" b="1" dirty="0">
                <a:solidFill>
                  <a:srgbClr val="FFFFFF"/>
                </a:solidFill>
                <a:latin typeface="Inter" pitchFamily="34" charset="0"/>
                <a:ea typeface="Inter" pitchFamily="34" charset="-122"/>
                <a:cs typeface="Inter" pitchFamily="34" charset="-120"/>
              </a:rPr>
              <a:t>由</a:t>
            </a:r>
            <a:pPr algn="l" indent="0" marL="0">
              <a:lnSpc>
                <a:spcPct val="120000"/>
              </a:lnSpc>
              <a:buNone/>
            </a:pPr>
            <a:r>
              <a:rPr lang="en-US" sz="1170" b="1" dirty="0">
                <a:solidFill>
                  <a:srgbClr val="2196F3"/>
                </a:solidFill>
                <a:latin typeface="Inter" pitchFamily="34" charset="0"/>
                <a:ea typeface="Inter" pitchFamily="34" charset="-122"/>
                <a:cs typeface="Inter" pitchFamily="34" charset="-120"/>
              </a:rPr>
              <a:t>内驱力</a:t>
            </a:r>
            <a:pPr algn="l" indent="0" marL="0">
              <a:lnSpc>
                <a:spcPct val="120000"/>
              </a:lnSpc>
              <a:buNone/>
            </a:pPr>
            <a:r>
              <a:rPr lang="en-US" sz="1170" b="1" dirty="0">
                <a:solidFill>
                  <a:srgbClr val="FFFFFF"/>
                </a:solidFill>
                <a:latin typeface="Inter" pitchFamily="34" charset="0"/>
                <a:ea typeface="Inter" pitchFamily="34" charset="-122"/>
                <a:cs typeface="Inter" pitchFamily="34" charset="-120"/>
              </a:rPr>
              <a:t>走向</a:t>
            </a:r>
            <a:pPr algn="l" indent="0" marL="0">
              <a:lnSpc>
                <a:spcPct val="120000"/>
              </a:lnSpc>
              <a:buNone/>
            </a:pPr>
            <a:r>
              <a:rPr lang="en-US" sz="1170" b="1" dirty="0">
                <a:solidFill>
                  <a:srgbClr val="2196F3"/>
                </a:solidFill>
                <a:latin typeface="Inter" pitchFamily="34" charset="0"/>
                <a:ea typeface="Inter" pitchFamily="34" charset="-122"/>
                <a:cs typeface="Inter" pitchFamily="34" charset="-120"/>
              </a:rPr>
              <a:t>利他精神</a:t>
            </a:r>
            <a:endParaRPr lang="en-US" sz="1170" dirty="0"/>
          </a:p>
        </p:txBody>
      </p:sp>
      <p:sp>
        <p:nvSpPr>
          <p:cNvPr id="40" name="Text 33"/>
          <p:cNvSpPr/>
          <p:nvPr/>
        </p:nvSpPr>
        <p:spPr>
          <a:xfrm>
            <a:off x="6760845" y="1509832"/>
            <a:ext cx="2137867" cy="212527"/>
          </a:xfrm>
          <a:prstGeom prst="rect">
            <a:avLst/>
          </a:prstGeom>
          <a:noFill/>
          <a:ln/>
        </p:spPr>
        <p:txBody>
          <a:bodyPr wrap="square" rtlCol="0" anchor="ctr"/>
          <a:lstStyle/>
          <a:p>
            <a:pPr algn="l" indent="0" marL="0">
              <a:lnSpc>
                <a:spcPct val="155000"/>
              </a:lnSpc>
              <a:buNone/>
            </a:pPr>
            <a:r>
              <a:rPr lang="en-US" sz="540" dirty="0">
                <a:solidFill>
                  <a:srgbClr val="90A4C4"/>
                </a:solidFill>
                <a:latin typeface="Inter" pitchFamily="34" charset="0"/>
                <a:ea typeface="Inter" pitchFamily="34" charset="-122"/>
                <a:cs typeface="Inter" pitchFamily="34" charset="-120"/>
              </a:rPr>
              <a:t>四种动机并非孤立存在，而是形成从"自我成长"到"回馈社区"的递进光谱。</a:t>
            </a:r>
            <a:endParaRPr lang="en-US" sz="540" dirty="0"/>
          </a:p>
        </p:txBody>
      </p:sp>
      <p:sp>
        <p:nvSpPr>
          <p:cNvPr id="41" name="Shape 34"/>
          <p:cNvSpPr/>
          <p:nvPr/>
        </p:nvSpPr>
        <p:spPr>
          <a:xfrm>
            <a:off x="6629400" y="1922383"/>
            <a:ext cx="2171700" cy="2512457"/>
          </a:xfrm>
          <a:prstGeom prst="roundRect">
            <a:avLst>
              <a:gd name="adj" fmla="val 3684"/>
            </a:avLst>
          </a:prstGeom>
          <a:gradFill rotWithShape="1">
            <a:gsLst>
              <a:gs pos="0">
                <a:srgbClr val="0F2240"/>
              </a:gs>
              <a:gs pos="100000">
                <a:srgbClr val="0D1E38"/>
              </a:gs>
            </a:gsLst>
            <a:lin ang="2700000" scaled="0"/>
          </a:gradFill>
          <a:ln w="5715">
            <a:solidFill>
              <a:srgbClr val="2196F3">
                <a:alpha val="18000"/>
              </a:srgbClr>
            </a:solidFill>
            <a:prstDash val="solid"/>
          </a:ln>
        </p:spPr>
      </p:sp>
      <p:sp>
        <p:nvSpPr>
          <p:cNvPr id="42" name="Shape 35"/>
          <p:cNvSpPr/>
          <p:nvPr/>
        </p:nvSpPr>
        <p:spPr>
          <a:xfrm>
            <a:off x="6749415" y="2065258"/>
            <a:ext cx="45720" cy="45720"/>
          </a:xfrm>
          <a:prstGeom prst="ellipse">
            <a:avLst/>
          </a:prstGeom>
          <a:solidFill>
            <a:srgbClr val="00BCD4"/>
          </a:solidFill>
          <a:ln/>
          <a:effectLst>
            <a:outerShdw sx="100000" sy="100000" kx="0" ky="0" algn="bl" rotWithShape="0" blurRad="95250" dist="50800" dir="16200000">
              <a:srgbClr val="00BCD4">
                <a:alpha val="100000"/>
              </a:srgbClr>
            </a:outerShdw>
          </a:effectLst>
        </p:spPr>
      </p:sp>
      <p:sp>
        <p:nvSpPr>
          <p:cNvPr id="43" name="Text 36"/>
          <p:cNvSpPr/>
          <p:nvPr/>
        </p:nvSpPr>
        <p:spPr>
          <a:xfrm>
            <a:off x="6852285" y="2030968"/>
            <a:ext cx="560070" cy="114300"/>
          </a:xfrm>
          <a:prstGeom prst="rect">
            <a:avLst/>
          </a:prstGeom>
          <a:noFill/>
          <a:ln/>
        </p:spPr>
        <p:txBody>
          <a:bodyPr wrap="none" rtlCol="0" anchor="ctr"/>
          <a:lstStyle/>
          <a:p>
            <a:pPr algn="l" indent="0" marL="0">
              <a:buNone/>
            </a:pPr>
            <a:r>
              <a:rPr lang="en-US" sz="630" b="1" dirty="0">
                <a:solidFill>
                  <a:srgbClr val="FFFFFF"/>
                </a:solidFill>
                <a:latin typeface="Inter" pitchFamily="34" charset="0"/>
                <a:ea typeface="Inter" pitchFamily="34" charset="-122"/>
                <a:cs typeface="Inter" pitchFamily="34" charset="-120"/>
              </a:rPr>
              <a:t>动机强度分布</a:t>
            </a:r>
            <a:endParaRPr lang="en-US" sz="630" dirty="0"/>
          </a:p>
        </p:txBody>
      </p:sp>
      <p:sp>
        <p:nvSpPr>
          <p:cNvPr id="44" name="Text 37"/>
          <p:cNvSpPr/>
          <p:nvPr/>
        </p:nvSpPr>
        <p:spPr>
          <a:xfrm>
            <a:off x="8303895" y="2042398"/>
            <a:ext cx="440055" cy="91440"/>
          </a:xfrm>
          <a:prstGeom prst="rect">
            <a:avLst/>
          </a:prstGeom>
          <a:noFill/>
          <a:ln/>
        </p:spPr>
        <p:txBody>
          <a:bodyPr wrap="none" rtlCol="0" anchor="ctr"/>
          <a:lstStyle/>
          <a:p>
            <a:pPr algn="l" indent="0" marL="0">
              <a:buNone/>
            </a:pPr>
            <a:r>
              <a:rPr lang="en-US" sz="495" dirty="0">
                <a:solidFill>
                  <a:srgbClr val="90A4C4"/>
                </a:solidFill>
                <a:latin typeface="Inter" pitchFamily="34" charset="0"/>
                <a:ea typeface="Inter" pitchFamily="34" charset="-122"/>
                <a:cs typeface="Inter" pitchFamily="34" charset="-120"/>
              </a:rPr>
              <a:t>综合调研数据</a:t>
            </a:r>
            <a:endParaRPr lang="en-US" sz="495" dirty="0"/>
          </a:p>
        </p:txBody>
      </p:sp>
      <p:sp>
        <p:nvSpPr>
          <p:cNvPr id="45" name="Text 38"/>
          <p:cNvSpPr/>
          <p:nvPr/>
        </p:nvSpPr>
        <p:spPr>
          <a:xfrm>
            <a:off x="6749415" y="2867144"/>
            <a:ext cx="342900" cy="97155"/>
          </a:xfrm>
          <a:prstGeom prst="rect">
            <a:avLst/>
          </a:prstGeom>
          <a:noFill/>
          <a:ln/>
        </p:spPr>
        <p:txBody>
          <a:bodyPr wrap="none" rtlCol="0" anchor="ctr"/>
          <a:lstStyle/>
          <a:p>
            <a:pPr algn="l" indent="0" marL="0">
              <a:buNone/>
            </a:pPr>
            <a:r>
              <a:rPr lang="en-US" sz="540" dirty="0">
                <a:solidFill>
                  <a:srgbClr val="E8EDF5"/>
                </a:solidFill>
                <a:latin typeface="Inter" pitchFamily="34" charset="0"/>
                <a:ea typeface="Inter" pitchFamily="34" charset="-122"/>
                <a:cs typeface="Inter" pitchFamily="34" charset="-120"/>
              </a:rPr>
              <a:t>技能成长</a:t>
            </a:r>
            <a:endParaRPr lang="en-US" sz="540" dirty="0"/>
          </a:p>
        </p:txBody>
      </p:sp>
      <p:sp>
        <p:nvSpPr>
          <p:cNvPr id="46" name="Text 39"/>
          <p:cNvSpPr/>
          <p:nvPr/>
        </p:nvSpPr>
        <p:spPr>
          <a:xfrm>
            <a:off x="8526780" y="2872859"/>
            <a:ext cx="222885" cy="85725"/>
          </a:xfrm>
          <a:prstGeom prst="rect">
            <a:avLst/>
          </a:prstGeom>
          <a:noFill/>
          <a:ln/>
        </p:spPr>
        <p:txBody>
          <a:bodyPr wrap="none" rtlCol="0" anchor="ctr"/>
          <a:lstStyle/>
          <a:p>
            <a:pPr algn="l" indent="0" marL="0">
              <a:buNone/>
            </a:pPr>
            <a:r>
              <a:rPr lang="en-US" sz="540" dirty="0">
                <a:solidFill>
                  <a:srgbClr val="00BCD4"/>
                </a:solidFill>
                <a:latin typeface="Inter" pitchFamily="34" charset="0"/>
                <a:ea typeface="Inter" pitchFamily="34" charset="-122"/>
                <a:cs typeface="Inter" pitchFamily="34" charset="-120"/>
              </a:rPr>
              <a:t>87%</a:t>
            </a:r>
            <a:endParaRPr lang="en-US" sz="540" dirty="0"/>
          </a:p>
        </p:txBody>
      </p:sp>
      <p:sp>
        <p:nvSpPr>
          <p:cNvPr id="47" name="Shape 40"/>
          <p:cNvSpPr/>
          <p:nvPr/>
        </p:nvSpPr>
        <p:spPr>
          <a:xfrm>
            <a:off x="6749415" y="2987159"/>
            <a:ext cx="1931670" cy="34290"/>
          </a:xfrm>
          <a:prstGeom prst="roundRect">
            <a:avLst>
              <a:gd name="adj" fmla="val 50000"/>
            </a:avLst>
          </a:prstGeom>
          <a:solidFill>
            <a:srgbClr val="2196F3">
              <a:alpha val="10000"/>
            </a:srgbClr>
          </a:solidFill>
          <a:ln/>
        </p:spPr>
      </p:sp>
      <p:sp>
        <p:nvSpPr>
          <p:cNvPr id="48" name="Shape 41"/>
          <p:cNvSpPr/>
          <p:nvPr/>
        </p:nvSpPr>
        <p:spPr>
          <a:xfrm>
            <a:off x="6749415" y="2987159"/>
            <a:ext cx="1680478" cy="34290"/>
          </a:xfrm>
          <a:prstGeom prst="roundRect">
            <a:avLst>
              <a:gd name="adj" fmla="val 50000"/>
            </a:avLst>
          </a:prstGeom>
          <a:gradFill rotWithShape="1">
            <a:gsLst>
              <a:gs pos="0">
                <a:srgbClr val="2196F3"/>
              </a:gs>
              <a:gs pos="100000">
                <a:srgbClr val="00BCD4"/>
              </a:gs>
            </a:gsLst>
            <a:lin ang="0" scaled="0"/>
          </a:gradFill>
          <a:ln/>
          <a:effectLst>
            <a:outerShdw sx="100000" sy="100000" kx="0" ky="0" algn="bl" rotWithShape="0" blurRad="76200" dist="50800" dir="16200000">
              <a:srgbClr val="2196F3">
                <a:alpha val="40000"/>
              </a:srgbClr>
            </a:outerShdw>
          </a:effectLst>
        </p:spPr>
      </p:sp>
      <p:sp>
        <p:nvSpPr>
          <p:cNvPr id="49" name="Text 42"/>
          <p:cNvSpPr/>
          <p:nvPr/>
        </p:nvSpPr>
        <p:spPr>
          <a:xfrm>
            <a:off x="6749415" y="3084314"/>
            <a:ext cx="342900" cy="97155"/>
          </a:xfrm>
          <a:prstGeom prst="rect">
            <a:avLst/>
          </a:prstGeom>
          <a:noFill/>
          <a:ln/>
        </p:spPr>
        <p:txBody>
          <a:bodyPr wrap="none" rtlCol="0" anchor="ctr"/>
          <a:lstStyle/>
          <a:p>
            <a:pPr algn="l" indent="0" marL="0">
              <a:buNone/>
            </a:pPr>
            <a:r>
              <a:rPr lang="en-US" sz="540" dirty="0">
                <a:solidFill>
                  <a:srgbClr val="E8EDF5"/>
                </a:solidFill>
                <a:latin typeface="Inter" pitchFamily="34" charset="0"/>
                <a:ea typeface="Inter" pitchFamily="34" charset="-122"/>
                <a:cs typeface="Inter" pitchFamily="34" charset="-120"/>
              </a:rPr>
              <a:t>职业发展</a:t>
            </a:r>
            <a:endParaRPr lang="en-US" sz="540" dirty="0"/>
          </a:p>
        </p:txBody>
      </p:sp>
      <p:sp>
        <p:nvSpPr>
          <p:cNvPr id="50" name="Text 43"/>
          <p:cNvSpPr/>
          <p:nvPr/>
        </p:nvSpPr>
        <p:spPr>
          <a:xfrm>
            <a:off x="8532495" y="3090029"/>
            <a:ext cx="217170" cy="85725"/>
          </a:xfrm>
          <a:prstGeom prst="rect">
            <a:avLst/>
          </a:prstGeom>
          <a:noFill/>
          <a:ln/>
        </p:spPr>
        <p:txBody>
          <a:bodyPr wrap="none" rtlCol="0" anchor="ctr"/>
          <a:lstStyle/>
          <a:p>
            <a:pPr algn="l" indent="0" marL="0">
              <a:buNone/>
            </a:pPr>
            <a:r>
              <a:rPr lang="en-US" sz="540" dirty="0">
                <a:solidFill>
                  <a:srgbClr val="00BCD4"/>
                </a:solidFill>
                <a:latin typeface="Inter" pitchFamily="34" charset="0"/>
                <a:ea typeface="Inter" pitchFamily="34" charset="-122"/>
                <a:cs typeface="Inter" pitchFamily="34" charset="-120"/>
              </a:rPr>
              <a:t>72%</a:t>
            </a:r>
            <a:endParaRPr lang="en-US" sz="540" dirty="0"/>
          </a:p>
        </p:txBody>
      </p:sp>
      <p:sp>
        <p:nvSpPr>
          <p:cNvPr id="51" name="Shape 44"/>
          <p:cNvSpPr/>
          <p:nvPr/>
        </p:nvSpPr>
        <p:spPr>
          <a:xfrm>
            <a:off x="6749415" y="3204329"/>
            <a:ext cx="1931670" cy="34290"/>
          </a:xfrm>
          <a:prstGeom prst="roundRect">
            <a:avLst>
              <a:gd name="adj" fmla="val 50000"/>
            </a:avLst>
          </a:prstGeom>
          <a:solidFill>
            <a:srgbClr val="2196F3">
              <a:alpha val="10000"/>
            </a:srgbClr>
          </a:solidFill>
          <a:ln/>
        </p:spPr>
      </p:sp>
      <p:sp>
        <p:nvSpPr>
          <p:cNvPr id="52" name="Shape 45"/>
          <p:cNvSpPr/>
          <p:nvPr/>
        </p:nvSpPr>
        <p:spPr>
          <a:xfrm>
            <a:off x="6749415" y="3204329"/>
            <a:ext cx="1390799" cy="34290"/>
          </a:xfrm>
          <a:prstGeom prst="roundRect">
            <a:avLst>
              <a:gd name="adj" fmla="val 50000"/>
            </a:avLst>
          </a:prstGeom>
          <a:gradFill rotWithShape="1">
            <a:gsLst>
              <a:gs pos="0">
                <a:srgbClr val="2196F3"/>
              </a:gs>
              <a:gs pos="100000">
                <a:srgbClr val="00BCD4"/>
              </a:gs>
            </a:gsLst>
            <a:lin ang="0" scaled="0"/>
          </a:gradFill>
          <a:ln/>
          <a:effectLst>
            <a:outerShdw sx="100000" sy="100000" kx="0" ky="0" algn="bl" rotWithShape="0" blurRad="76200" dist="50800" dir="16200000">
              <a:srgbClr val="2196F3">
                <a:alpha val="40000"/>
              </a:srgbClr>
            </a:outerShdw>
          </a:effectLst>
        </p:spPr>
      </p:sp>
      <p:sp>
        <p:nvSpPr>
          <p:cNvPr id="53" name="Text 46"/>
          <p:cNvSpPr/>
          <p:nvPr/>
        </p:nvSpPr>
        <p:spPr>
          <a:xfrm>
            <a:off x="6749415" y="3301484"/>
            <a:ext cx="342900" cy="97155"/>
          </a:xfrm>
          <a:prstGeom prst="rect">
            <a:avLst/>
          </a:prstGeom>
          <a:noFill/>
          <a:ln/>
        </p:spPr>
        <p:txBody>
          <a:bodyPr wrap="none" rtlCol="0" anchor="ctr"/>
          <a:lstStyle/>
          <a:p>
            <a:pPr algn="l" indent="0" marL="0">
              <a:buNone/>
            </a:pPr>
            <a:r>
              <a:rPr lang="en-US" sz="540" dirty="0">
                <a:solidFill>
                  <a:srgbClr val="E8EDF5"/>
                </a:solidFill>
                <a:latin typeface="Inter" pitchFamily="34" charset="0"/>
                <a:ea typeface="Inter" pitchFamily="34" charset="-122"/>
                <a:cs typeface="Inter" pitchFamily="34" charset="-120"/>
              </a:rPr>
              <a:t>社区归属</a:t>
            </a:r>
            <a:endParaRPr lang="en-US" sz="540" dirty="0"/>
          </a:p>
        </p:txBody>
      </p:sp>
      <p:sp>
        <p:nvSpPr>
          <p:cNvPr id="54" name="Text 47"/>
          <p:cNvSpPr/>
          <p:nvPr/>
        </p:nvSpPr>
        <p:spPr>
          <a:xfrm>
            <a:off x="8526780" y="3307199"/>
            <a:ext cx="222885" cy="85725"/>
          </a:xfrm>
          <a:prstGeom prst="rect">
            <a:avLst/>
          </a:prstGeom>
          <a:noFill/>
          <a:ln/>
        </p:spPr>
        <p:txBody>
          <a:bodyPr wrap="none" rtlCol="0" anchor="ctr"/>
          <a:lstStyle/>
          <a:p>
            <a:pPr algn="l" indent="0" marL="0">
              <a:buNone/>
            </a:pPr>
            <a:r>
              <a:rPr lang="en-US" sz="540" dirty="0">
                <a:solidFill>
                  <a:srgbClr val="00BCD4"/>
                </a:solidFill>
                <a:latin typeface="Inter" pitchFamily="34" charset="0"/>
                <a:ea typeface="Inter" pitchFamily="34" charset="-122"/>
                <a:cs typeface="Inter" pitchFamily="34" charset="-120"/>
              </a:rPr>
              <a:t>58%</a:t>
            </a:r>
            <a:endParaRPr lang="en-US" sz="540" dirty="0"/>
          </a:p>
        </p:txBody>
      </p:sp>
      <p:sp>
        <p:nvSpPr>
          <p:cNvPr id="55" name="Shape 48"/>
          <p:cNvSpPr/>
          <p:nvPr/>
        </p:nvSpPr>
        <p:spPr>
          <a:xfrm>
            <a:off x="6749415" y="3421499"/>
            <a:ext cx="1931670" cy="34290"/>
          </a:xfrm>
          <a:prstGeom prst="roundRect">
            <a:avLst>
              <a:gd name="adj" fmla="val 50000"/>
            </a:avLst>
          </a:prstGeom>
          <a:solidFill>
            <a:srgbClr val="2196F3">
              <a:alpha val="10000"/>
            </a:srgbClr>
          </a:solidFill>
          <a:ln/>
        </p:spPr>
      </p:sp>
      <p:sp>
        <p:nvSpPr>
          <p:cNvPr id="56" name="Shape 49"/>
          <p:cNvSpPr/>
          <p:nvPr/>
        </p:nvSpPr>
        <p:spPr>
          <a:xfrm>
            <a:off x="6749415" y="3421499"/>
            <a:ext cx="1120319" cy="34290"/>
          </a:xfrm>
          <a:prstGeom prst="roundRect">
            <a:avLst>
              <a:gd name="adj" fmla="val 50000"/>
            </a:avLst>
          </a:prstGeom>
          <a:gradFill rotWithShape="1">
            <a:gsLst>
              <a:gs pos="0">
                <a:srgbClr val="2196F3"/>
              </a:gs>
              <a:gs pos="100000">
                <a:srgbClr val="00BCD4"/>
              </a:gs>
            </a:gsLst>
            <a:lin ang="0" scaled="0"/>
          </a:gradFill>
          <a:ln/>
          <a:effectLst>
            <a:outerShdw sx="100000" sy="100000" kx="0" ky="0" algn="bl" rotWithShape="0" blurRad="76200" dist="50800" dir="16200000">
              <a:srgbClr val="2196F3">
                <a:alpha val="40000"/>
              </a:srgbClr>
            </a:outerShdw>
          </a:effectLst>
        </p:spPr>
      </p:sp>
      <p:sp>
        <p:nvSpPr>
          <p:cNvPr id="57" name="Text 50"/>
          <p:cNvSpPr/>
          <p:nvPr/>
        </p:nvSpPr>
        <p:spPr>
          <a:xfrm>
            <a:off x="6749415" y="3518654"/>
            <a:ext cx="342900" cy="97155"/>
          </a:xfrm>
          <a:prstGeom prst="rect">
            <a:avLst/>
          </a:prstGeom>
          <a:noFill/>
          <a:ln/>
        </p:spPr>
        <p:txBody>
          <a:bodyPr wrap="none" rtlCol="0" anchor="ctr"/>
          <a:lstStyle/>
          <a:p>
            <a:pPr algn="l" indent="0" marL="0">
              <a:buNone/>
            </a:pPr>
            <a:r>
              <a:rPr lang="en-US" sz="540" dirty="0">
                <a:solidFill>
                  <a:srgbClr val="E8EDF5"/>
                </a:solidFill>
                <a:latin typeface="Inter" pitchFamily="34" charset="0"/>
                <a:ea typeface="Inter" pitchFamily="34" charset="-122"/>
                <a:cs typeface="Inter" pitchFamily="34" charset="-120"/>
              </a:rPr>
              <a:t>回馈精神</a:t>
            </a:r>
            <a:endParaRPr lang="en-US" sz="540" dirty="0"/>
          </a:p>
        </p:txBody>
      </p:sp>
      <p:sp>
        <p:nvSpPr>
          <p:cNvPr id="58" name="Text 51"/>
          <p:cNvSpPr/>
          <p:nvPr/>
        </p:nvSpPr>
        <p:spPr>
          <a:xfrm>
            <a:off x="8526780" y="3524369"/>
            <a:ext cx="222885" cy="85725"/>
          </a:xfrm>
          <a:prstGeom prst="rect">
            <a:avLst/>
          </a:prstGeom>
          <a:noFill/>
          <a:ln/>
        </p:spPr>
        <p:txBody>
          <a:bodyPr wrap="none" rtlCol="0" anchor="ctr"/>
          <a:lstStyle/>
          <a:p>
            <a:pPr algn="l" indent="0" marL="0">
              <a:buNone/>
            </a:pPr>
            <a:r>
              <a:rPr lang="en-US" sz="540" dirty="0">
                <a:solidFill>
                  <a:srgbClr val="00BCD4"/>
                </a:solidFill>
                <a:latin typeface="Inter" pitchFamily="34" charset="0"/>
                <a:ea typeface="Inter" pitchFamily="34" charset="-122"/>
                <a:cs typeface="Inter" pitchFamily="34" charset="-120"/>
              </a:rPr>
              <a:t>45%</a:t>
            </a:r>
            <a:endParaRPr lang="en-US" sz="540" dirty="0"/>
          </a:p>
        </p:txBody>
      </p:sp>
      <p:sp>
        <p:nvSpPr>
          <p:cNvPr id="59" name="Shape 52"/>
          <p:cNvSpPr/>
          <p:nvPr/>
        </p:nvSpPr>
        <p:spPr>
          <a:xfrm>
            <a:off x="6749415" y="3638669"/>
            <a:ext cx="1931670" cy="34290"/>
          </a:xfrm>
          <a:prstGeom prst="roundRect">
            <a:avLst>
              <a:gd name="adj" fmla="val 50000"/>
            </a:avLst>
          </a:prstGeom>
          <a:solidFill>
            <a:srgbClr val="2196F3">
              <a:alpha val="10000"/>
            </a:srgbClr>
          </a:solidFill>
          <a:ln/>
        </p:spPr>
      </p:sp>
      <p:sp>
        <p:nvSpPr>
          <p:cNvPr id="60" name="Shape 53"/>
          <p:cNvSpPr/>
          <p:nvPr/>
        </p:nvSpPr>
        <p:spPr>
          <a:xfrm>
            <a:off x="6749415" y="3638669"/>
            <a:ext cx="869216" cy="34290"/>
          </a:xfrm>
          <a:prstGeom prst="roundRect">
            <a:avLst>
              <a:gd name="adj" fmla="val 50000"/>
            </a:avLst>
          </a:prstGeom>
          <a:gradFill rotWithShape="1">
            <a:gsLst>
              <a:gs pos="0">
                <a:srgbClr val="2196F3"/>
              </a:gs>
              <a:gs pos="100000">
                <a:srgbClr val="00BCD4"/>
              </a:gs>
            </a:gsLst>
            <a:lin ang="0" scaled="0"/>
          </a:gradFill>
          <a:ln/>
          <a:effectLst>
            <a:outerShdw sx="100000" sy="100000" kx="0" ky="0" algn="bl" rotWithShape="0" blurRad="76200" dist="50800" dir="16200000">
              <a:srgbClr val="2196F3">
                <a:alpha val="40000"/>
              </a:srgbClr>
            </a:outerShdw>
          </a:effectLst>
        </p:spPr>
      </p:sp>
      <p:sp>
        <p:nvSpPr>
          <p:cNvPr id="61" name="Shape 54"/>
          <p:cNvSpPr/>
          <p:nvPr/>
        </p:nvSpPr>
        <p:spPr>
          <a:xfrm>
            <a:off x="342900" y="4514850"/>
            <a:ext cx="4183380" cy="422910"/>
          </a:xfrm>
          <a:prstGeom prst="roundRect">
            <a:avLst>
              <a:gd name="adj" fmla="val 16216"/>
            </a:avLst>
          </a:prstGeom>
          <a:gradFill rotWithShape="1">
            <a:gsLst>
              <a:gs pos="0">
                <a:srgbClr val="0F2240"/>
              </a:gs>
              <a:gs pos="100000">
                <a:srgbClr val="132A4A"/>
              </a:gs>
            </a:gsLst>
            <a:lin ang="2700000" scaled="0"/>
          </a:gradFill>
          <a:ln w="5715">
            <a:solidFill>
              <a:srgbClr val="2196F3">
                <a:alpha val="20000"/>
              </a:srgbClr>
            </a:solidFill>
            <a:prstDash val="solid"/>
          </a:ln>
        </p:spPr>
      </p:sp>
      <p:sp>
        <p:nvSpPr>
          <p:cNvPr id="62" name="Shape 55"/>
          <p:cNvSpPr/>
          <p:nvPr/>
        </p:nvSpPr>
        <p:spPr>
          <a:xfrm>
            <a:off x="3829050" y="4514850"/>
            <a:ext cx="685800" cy="411480"/>
          </a:xfrm>
          <a:prstGeom prst="rect">
            <a:avLst/>
          </a:prstGeom>
          <a:solidFill>
            <a:srgbClr val="00BCD4">
              <a:alpha val="8000"/>
            </a:srgbClr>
          </a:solidFill>
          <a:ln/>
        </p:spPr>
      </p:sp>
      <p:sp>
        <p:nvSpPr>
          <p:cNvPr id="63" name="Shape 56"/>
          <p:cNvSpPr/>
          <p:nvPr/>
        </p:nvSpPr>
        <p:spPr>
          <a:xfrm>
            <a:off x="474345" y="4600575"/>
            <a:ext cx="251460" cy="251460"/>
          </a:xfrm>
          <a:prstGeom prst="roundRect">
            <a:avLst>
              <a:gd name="adj" fmla="val 22727"/>
            </a:avLst>
          </a:prstGeom>
          <a:solidFill>
            <a:srgbClr val="2196F3">
              <a:alpha val="12000"/>
            </a:srgbClr>
          </a:solidFill>
          <a:ln w="5715">
            <a:solidFill>
              <a:srgbClr val="2196F3">
                <a:alpha val="30000"/>
              </a:srgbClr>
            </a:solidFill>
            <a:prstDash val="solid"/>
          </a:ln>
        </p:spPr>
      </p:sp>
      <p:pic>
        <p:nvPicPr>
          <p:cNvPr id="64"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37210" y="4663440"/>
            <a:ext cx="125730" cy="125730"/>
          </a:xfrm>
          <a:prstGeom prst="rect">
            <a:avLst/>
          </a:prstGeom>
        </p:spPr>
      </p:pic>
      <p:sp>
        <p:nvSpPr>
          <p:cNvPr id="65" name="Text 57"/>
          <p:cNvSpPr/>
          <p:nvPr/>
        </p:nvSpPr>
        <p:spPr>
          <a:xfrm>
            <a:off x="817245" y="4612541"/>
            <a:ext cx="3245206" cy="91440"/>
          </a:xfrm>
          <a:prstGeom prst="rect">
            <a:avLst/>
          </a:prstGeom>
          <a:noFill/>
          <a:ln/>
        </p:spPr>
        <p:txBody>
          <a:bodyPr wrap="none" rtlCol="0" anchor="ctr"/>
          <a:lstStyle/>
          <a:p>
            <a:pPr algn="l" indent="0" marL="0">
              <a:buNone/>
            </a:pPr>
            <a:r>
              <a:rPr lang="en-US" sz="495" spc="45" kern="0" dirty="0">
                <a:solidFill>
                  <a:srgbClr val="B0BEC5"/>
                </a:solidFill>
                <a:latin typeface="Inter" pitchFamily="34" charset="0"/>
                <a:ea typeface="Inter" pitchFamily="34" charset="-122"/>
                <a:cs typeface="Inter" pitchFamily="34" charset="-120"/>
              </a:rPr>
              <a:t>首要动机</a:t>
            </a:r>
            <a:endParaRPr lang="en-US" sz="495" dirty="0"/>
          </a:p>
        </p:txBody>
      </p:sp>
      <p:sp>
        <p:nvSpPr>
          <p:cNvPr id="66" name="Text 58"/>
          <p:cNvSpPr/>
          <p:nvPr/>
        </p:nvSpPr>
        <p:spPr>
          <a:xfrm>
            <a:off x="817245" y="4721126"/>
            <a:ext cx="3245206" cy="118854"/>
          </a:xfrm>
          <a:prstGeom prst="rect">
            <a:avLst/>
          </a:prstGeom>
          <a:noFill/>
          <a:ln/>
        </p:spPr>
        <p:txBody>
          <a:bodyPr wrap="square" rtlCol="0" anchor="ctr"/>
          <a:lstStyle/>
          <a:p>
            <a:pPr algn="l" indent="0" marL="0">
              <a:lnSpc>
                <a:spcPct val="130000"/>
              </a:lnSpc>
              <a:buNone/>
            </a:pPr>
            <a:r>
              <a:rPr lang="en-US" sz="720" b="1" dirty="0">
                <a:solidFill>
                  <a:srgbClr val="FFFFFF"/>
                </a:solidFill>
                <a:latin typeface="Inter" pitchFamily="34" charset="0"/>
                <a:ea typeface="Inter" pitchFamily="34" charset="-122"/>
                <a:cs typeface="Inter" pitchFamily="34" charset="-120"/>
              </a:rPr>
              <a:t>技能成长</a:t>
            </a:r>
            <a:pPr algn="l" indent="0" marL="0">
              <a:lnSpc>
                <a:spcPct val="130000"/>
              </a:lnSpc>
              <a:buNone/>
            </a:pPr>
            <a:r>
              <a:rPr lang="en-US" sz="720" b="1" dirty="0">
                <a:solidFill>
                  <a:srgbClr val="00BCD4"/>
                </a:solidFill>
                <a:latin typeface="Inter" pitchFamily="34" charset="0"/>
                <a:ea typeface="Inter" pitchFamily="34" charset="-122"/>
                <a:cs typeface="Inter" pitchFamily="34" charset="-120"/>
              </a:rPr>
              <a:t>排名第一</a:t>
            </a:r>
            <a:endParaRPr lang="en-US" sz="720" dirty="0"/>
          </a:p>
        </p:txBody>
      </p:sp>
      <p:sp>
        <p:nvSpPr>
          <p:cNvPr id="67" name="Text 59"/>
          <p:cNvSpPr/>
          <p:nvPr/>
        </p:nvSpPr>
        <p:spPr>
          <a:xfrm>
            <a:off x="3806190" y="4620578"/>
            <a:ext cx="725805" cy="211455"/>
          </a:xfrm>
          <a:prstGeom prst="rect">
            <a:avLst/>
          </a:prstGeom>
          <a:noFill/>
          <a:ln/>
        </p:spPr>
        <p:txBody>
          <a:bodyPr wrap="square" rtlCol="0" anchor="ctr"/>
          <a:lstStyle/>
          <a:p>
            <a:pPr algn="r" indent="0" marL="0">
              <a:lnSpc>
                <a:spcPct val="100000"/>
              </a:lnSpc>
              <a:buNone/>
            </a:pPr>
            <a:r>
              <a:rPr lang="en-US" sz="1080" b="1" dirty="0">
                <a:solidFill>
                  <a:srgbClr val="2196F3"/>
                </a:solidFill>
                <a:latin typeface="Inter" pitchFamily="34" charset="0"/>
                <a:ea typeface="Inter" pitchFamily="34" charset="-122"/>
                <a:cs typeface="Inter" pitchFamily="34" charset="-120"/>
              </a:rPr>
              <a:t>#1</a:t>
            </a:r>
            <a:pPr algn="r" indent="0" marL="0">
              <a:lnSpc>
                <a:spcPct val="100000"/>
              </a:lnSpc>
              <a:buNone/>
            </a:pPr>
            <a:r>
              <a:rPr lang="en-US" sz="450" b="1" dirty="0">
                <a:solidFill>
                  <a:srgbClr val="B0BEC5"/>
                </a:solidFill>
                <a:latin typeface="Inter" pitchFamily="34" charset="0"/>
                <a:ea typeface="Inter" pitchFamily="34" charset="-122"/>
                <a:cs typeface="Inter" pitchFamily="34" charset="-120"/>
              </a:rPr>
              <a:t>TOP MOTIVATION</a:t>
            </a:r>
            <a:endParaRPr lang="en-US" sz="1080" dirty="0"/>
          </a:p>
        </p:txBody>
      </p:sp>
      <p:sp>
        <p:nvSpPr>
          <p:cNvPr id="68" name="Shape 60"/>
          <p:cNvSpPr/>
          <p:nvPr/>
        </p:nvSpPr>
        <p:spPr>
          <a:xfrm>
            <a:off x="4617720" y="4514850"/>
            <a:ext cx="4183380" cy="422910"/>
          </a:xfrm>
          <a:prstGeom prst="roundRect">
            <a:avLst>
              <a:gd name="adj" fmla="val 16216"/>
            </a:avLst>
          </a:prstGeom>
          <a:gradFill rotWithShape="1">
            <a:gsLst>
              <a:gs pos="0">
                <a:srgbClr val="0F2240"/>
              </a:gs>
              <a:gs pos="100000">
                <a:srgbClr val="132A4A"/>
              </a:gs>
            </a:gsLst>
            <a:lin ang="2700000" scaled="0"/>
          </a:gradFill>
          <a:ln w="5715">
            <a:solidFill>
              <a:srgbClr val="2196F3">
                <a:alpha val="20000"/>
              </a:srgbClr>
            </a:solidFill>
            <a:prstDash val="solid"/>
          </a:ln>
        </p:spPr>
      </p:sp>
      <p:sp>
        <p:nvSpPr>
          <p:cNvPr id="69" name="Shape 61"/>
          <p:cNvSpPr/>
          <p:nvPr/>
        </p:nvSpPr>
        <p:spPr>
          <a:xfrm>
            <a:off x="8103870" y="4514850"/>
            <a:ext cx="685800" cy="411480"/>
          </a:xfrm>
          <a:prstGeom prst="rect">
            <a:avLst/>
          </a:prstGeom>
          <a:solidFill>
            <a:srgbClr val="00BCD4">
              <a:alpha val="8000"/>
            </a:srgbClr>
          </a:solidFill>
          <a:ln/>
        </p:spPr>
      </p:sp>
      <p:sp>
        <p:nvSpPr>
          <p:cNvPr id="70" name="Shape 62"/>
          <p:cNvSpPr/>
          <p:nvPr/>
        </p:nvSpPr>
        <p:spPr>
          <a:xfrm>
            <a:off x="4749165" y="4600575"/>
            <a:ext cx="251460" cy="251460"/>
          </a:xfrm>
          <a:prstGeom prst="roundRect">
            <a:avLst>
              <a:gd name="adj" fmla="val 22727"/>
            </a:avLst>
          </a:prstGeom>
          <a:solidFill>
            <a:srgbClr val="2196F3">
              <a:alpha val="12000"/>
            </a:srgbClr>
          </a:solidFill>
          <a:ln w="5715">
            <a:solidFill>
              <a:srgbClr val="2196F3">
                <a:alpha val="30000"/>
              </a:srgbClr>
            </a:solidFill>
            <a:prstDash val="solid"/>
          </a:ln>
        </p:spPr>
      </p:sp>
      <p:pic>
        <p:nvPicPr>
          <p:cNvPr id="71"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812030" y="4663440"/>
            <a:ext cx="125730" cy="125730"/>
          </a:xfrm>
          <a:prstGeom prst="rect">
            <a:avLst/>
          </a:prstGeom>
        </p:spPr>
      </p:pic>
      <p:sp>
        <p:nvSpPr>
          <p:cNvPr id="72" name="Text 63"/>
          <p:cNvSpPr/>
          <p:nvPr/>
        </p:nvSpPr>
        <p:spPr>
          <a:xfrm>
            <a:off x="5092065" y="4612541"/>
            <a:ext cx="3546043" cy="91440"/>
          </a:xfrm>
          <a:prstGeom prst="rect">
            <a:avLst/>
          </a:prstGeom>
          <a:noFill/>
          <a:ln/>
        </p:spPr>
        <p:txBody>
          <a:bodyPr wrap="none" rtlCol="0" anchor="ctr"/>
          <a:lstStyle/>
          <a:p>
            <a:pPr algn="l" indent="0" marL="0">
              <a:buNone/>
            </a:pPr>
            <a:r>
              <a:rPr lang="en-US" sz="495" spc="45" kern="0" dirty="0">
                <a:solidFill>
                  <a:srgbClr val="B0BEC5"/>
                </a:solidFill>
                <a:latin typeface="Inter" pitchFamily="34" charset="0"/>
                <a:ea typeface="Inter" pitchFamily="34" charset="-122"/>
                <a:cs typeface="Inter" pitchFamily="34" charset="-120"/>
              </a:rPr>
              <a:t>企业认可度</a:t>
            </a:r>
            <a:endParaRPr lang="en-US" sz="495" dirty="0"/>
          </a:p>
        </p:txBody>
      </p:sp>
      <p:sp>
        <p:nvSpPr>
          <p:cNvPr id="73" name="Text 64"/>
          <p:cNvSpPr/>
          <p:nvPr/>
        </p:nvSpPr>
        <p:spPr>
          <a:xfrm>
            <a:off x="5092065" y="4721126"/>
            <a:ext cx="3546043" cy="118854"/>
          </a:xfrm>
          <a:prstGeom prst="rect">
            <a:avLst/>
          </a:prstGeom>
          <a:noFill/>
          <a:ln/>
        </p:spPr>
        <p:txBody>
          <a:bodyPr wrap="square" rtlCol="0" anchor="ctr"/>
          <a:lstStyle/>
          <a:p>
            <a:pPr algn="l" indent="0" marL="0">
              <a:lnSpc>
                <a:spcPct val="130000"/>
              </a:lnSpc>
              <a:buNone/>
            </a:pPr>
            <a:r>
              <a:rPr lang="en-US" sz="720" b="1" dirty="0">
                <a:solidFill>
                  <a:srgbClr val="FFFFFF"/>
                </a:solidFill>
                <a:latin typeface="Inter" pitchFamily="34" charset="0"/>
                <a:ea typeface="Inter" pitchFamily="34" charset="-122"/>
                <a:cs typeface="Inter" pitchFamily="34" charset="-120"/>
              </a:rPr>
              <a:t>开源履历</a:t>
            </a:r>
            <a:pPr algn="l" indent="0" marL="0">
              <a:lnSpc>
                <a:spcPct val="130000"/>
              </a:lnSpc>
              <a:buNone/>
            </a:pPr>
            <a:r>
              <a:rPr lang="en-US" sz="720" b="1" dirty="0">
                <a:solidFill>
                  <a:srgbClr val="00BCD4"/>
                </a:solidFill>
                <a:latin typeface="Inter" pitchFamily="34" charset="0"/>
                <a:ea typeface="Inter" pitchFamily="34" charset="-122"/>
                <a:cs typeface="Inter" pitchFamily="34" charset="-120"/>
              </a:rPr>
              <a:t>持续纳入招聘考量</a:t>
            </a:r>
            <a:endParaRPr lang="en-US" sz="720" dirty="0"/>
          </a:p>
        </p:txBody>
      </p:sp>
      <p:sp>
        <p:nvSpPr>
          <p:cNvPr id="74" name="Text 65"/>
          <p:cNvSpPr/>
          <p:nvPr/>
        </p:nvSpPr>
        <p:spPr>
          <a:xfrm>
            <a:off x="8349615" y="4620578"/>
            <a:ext cx="457200" cy="211455"/>
          </a:xfrm>
          <a:prstGeom prst="rect">
            <a:avLst/>
          </a:prstGeom>
          <a:noFill/>
          <a:ln/>
        </p:spPr>
        <p:txBody>
          <a:bodyPr wrap="square" rtlCol="0" anchor="ctr"/>
          <a:lstStyle/>
          <a:p>
            <a:pPr algn="r" indent="0" marL="0">
              <a:lnSpc>
                <a:spcPct val="100000"/>
              </a:lnSpc>
              <a:buNone/>
            </a:pPr>
            <a:r>
              <a:rPr lang="en-US" sz="1080" b="1" dirty="0">
                <a:solidFill>
                  <a:srgbClr val="2196F3"/>
                </a:solidFill>
                <a:latin typeface="Inter" pitchFamily="34" charset="0"/>
                <a:ea typeface="Inter" pitchFamily="34" charset="-122"/>
                <a:cs typeface="Inter" pitchFamily="34" charset="-120"/>
              </a:rPr>
              <a:t>↑</a:t>
            </a:r>
            <a:pPr algn="r" indent="0" marL="0">
              <a:lnSpc>
                <a:spcPct val="100000"/>
              </a:lnSpc>
              <a:buNone/>
            </a:pPr>
            <a:r>
              <a:rPr lang="en-US" sz="450" b="1" dirty="0">
                <a:solidFill>
                  <a:srgbClr val="B0BEC5"/>
                </a:solidFill>
                <a:latin typeface="Inter" pitchFamily="34" charset="0"/>
                <a:ea typeface="Inter" pitchFamily="34" charset="-122"/>
                <a:cs typeface="Inter" pitchFamily="34" charset="-120"/>
              </a:rPr>
              <a:t>GROWING</a:t>
            </a:r>
            <a:endParaRPr lang="en-US" sz="1080" dirty="0"/>
          </a:p>
        </p:txBody>
      </p:sp>
      <p:sp>
        <p:nvSpPr>
          <p:cNvPr id="75" name="Shape 66"/>
          <p:cNvSpPr/>
          <p:nvPr/>
        </p:nvSpPr>
        <p:spPr>
          <a:xfrm>
            <a:off x="91440" y="91440"/>
            <a:ext cx="342900" cy="342900"/>
          </a:xfrm>
          <a:prstGeom prst="rect">
            <a:avLst/>
          </a:prstGeom>
          <a:noFill/>
          <a:ln/>
        </p:spPr>
      </p:sp>
      <p:sp>
        <p:nvSpPr>
          <p:cNvPr id="76" name="Shape 67"/>
          <p:cNvSpPr/>
          <p:nvPr/>
        </p:nvSpPr>
        <p:spPr>
          <a:xfrm>
            <a:off x="91440" y="91440"/>
            <a:ext cx="342900" cy="0"/>
          </a:xfrm>
          <a:prstGeom prst="line">
            <a:avLst/>
          </a:prstGeom>
          <a:noFill/>
          <a:ln w="5715">
            <a:solidFill>
              <a:srgbClr val="2196F3">
                <a:alpha val="25000"/>
              </a:srgbClr>
            </a:solidFill>
            <a:prstDash val="solid"/>
          </a:ln>
        </p:spPr>
      </p:sp>
      <p:sp>
        <p:nvSpPr>
          <p:cNvPr id="77" name="Shape 68"/>
          <p:cNvSpPr/>
          <p:nvPr/>
        </p:nvSpPr>
        <p:spPr>
          <a:xfrm>
            <a:off x="91440" y="91440"/>
            <a:ext cx="0" cy="342900"/>
          </a:xfrm>
          <a:prstGeom prst="line">
            <a:avLst/>
          </a:prstGeom>
          <a:noFill/>
          <a:ln w="5715">
            <a:solidFill>
              <a:srgbClr val="2196F3">
                <a:alpha val="25000"/>
              </a:srgbClr>
            </a:solidFill>
            <a:prstDash val="solid"/>
          </a:ln>
        </p:spPr>
      </p:sp>
      <p:sp>
        <p:nvSpPr>
          <p:cNvPr id="78" name="Shape 69"/>
          <p:cNvSpPr/>
          <p:nvPr/>
        </p:nvSpPr>
        <p:spPr>
          <a:xfrm>
            <a:off x="8709660" y="91440"/>
            <a:ext cx="342900" cy="342900"/>
          </a:xfrm>
          <a:prstGeom prst="rect">
            <a:avLst/>
          </a:prstGeom>
          <a:noFill/>
          <a:ln/>
        </p:spPr>
      </p:sp>
      <p:sp>
        <p:nvSpPr>
          <p:cNvPr id="79" name="Shape 70"/>
          <p:cNvSpPr/>
          <p:nvPr/>
        </p:nvSpPr>
        <p:spPr>
          <a:xfrm>
            <a:off x="8709660" y="91440"/>
            <a:ext cx="342900" cy="0"/>
          </a:xfrm>
          <a:prstGeom prst="line">
            <a:avLst/>
          </a:prstGeom>
          <a:noFill/>
          <a:ln w="5715">
            <a:solidFill>
              <a:srgbClr val="2196F3">
                <a:alpha val="25000"/>
              </a:srgbClr>
            </a:solidFill>
            <a:prstDash val="solid"/>
          </a:ln>
        </p:spPr>
      </p:sp>
      <p:sp>
        <p:nvSpPr>
          <p:cNvPr id="80" name="Shape 71"/>
          <p:cNvSpPr/>
          <p:nvPr/>
        </p:nvSpPr>
        <p:spPr>
          <a:xfrm>
            <a:off x="9052560" y="91440"/>
            <a:ext cx="0" cy="342900"/>
          </a:xfrm>
          <a:prstGeom prst="line">
            <a:avLst/>
          </a:prstGeom>
          <a:noFill/>
          <a:ln w="5715">
            <a:solidFill>
              <a:srgbClr val="2196F3">
                <a:alpha val="25000"/>
              </a:srgbClr>
            </a:solidFill>
            <a:prstDash val="solid"/>
          </a:ln>
        </p:spPr>
      </p:sp>
      <p:sp>
        <p:nvSpPr>
          <p:cNvPr id="81" name="Shape 72"/>
          <p:cNvSpPr/>
          <p:nvPr/>
        </p:nvSpPr>
        <p:spPr>
          <a:xfrm>
            <a:off x="91440" y="4709160"/>
            <a:ext cx="342900" cy="342900"/>
          </a:xfrm>
          <a:prstGeom prst="rect">
            <a:avLst/>
          </a:prstGeom>
          <a:noFill/>
          <a:ln/>
        </p:spPr>
      </p:sp>
      <p:sp>
        <p:nvSpPr>
          <p:cNvPr id="82" name="Shape 73"/>
          <p:cNvSpPr/>
          <p:nvPr/>
        </p:nvSpPr>
        <p:spPr>
          <a:xfrm>
            <a:off x="91440" y="5052060"/>
            <a:ext cx="342900" cy="0"/>
          </a:xfrm>
          <a:prstGeom prst="line">
            <a:avLst/>
          </a:prstGeom>
          <a:noFill/>
          <a:ln w="5715">
            <a:solidFill>
              <a:srgbClr val="2196F3">
                <a:alpha val="25000"/>
              </a:srgbClr>
            </a:solidFill>
            <a:prstDash val="solid"/>
          </a:ln>
        </p:spPr>
      </p:sp>
      <p:sp>
        <p:nvSpPr>
          <p:cNvPr id="83" name="Shape 74"/>
          <p:cNvSpPr/>
          <p:nvPr/>
        </p:nvSpPr>
        <p:spPr>
          <a:xfrm>
            <a:off x="91440" y="4709160"/>
            <a:ext cx="0" cy="342900"/>
          </a:xfrm>
          <a:prstGeom prst="line">
            <a:avLst/>
          </a:prstGeom>
          <a:noFill/>
          <a:ln w="5715">
            <a:solidFill>
              <a:srgbClr val="2196F3">
                <a:alpha val="25000"/>
              </a:srgbClr>
            </a:solidFill>
            <a:prstDash val="solid"/>
          </a:ln>
        </p:spPr>
      </p:sp>
      <p:sp>
        <p:nvSpPr>
          <p:cNvPr id="84" name="Shape 75"/>
          <p:cNvSpPr/>
          <p:nvPr/>
        </p:nvSpPr>
        <p:spPr>
          <a:xfrm>
            <a:off x="8709660" y="4709160"/>
            <a:ext cx="342900" cy="342900"/>
          </a:xfrm>
          <a:prstGeom prst="rect">
            <a:avLst/>
          </a:prstGeom>
          <a:noFill/>
          <a:ln/>
        </p:spPr>
      </p:sp>
      <p:sp>
        <p:nvSpPr>
          <p:cNvPr id="85" name="Shape 76"/>
          <p:cNvSpPr/>
          <p:nvPr/>
        </p:nvSpPr>
        <p:spPr>
          <a:xfrm>
            <a:off x="9052560" y="4709160"/>
            <a:ext cx="0" cy="342900"/>
          </a:xfrm>
          <a:prstGeom prst="line">
            <a:avLst/>
          </a:prstGeom>
          <a:noFill/>
          <a:ln w="5715">
            <a:solidFill>
              <a:srgbClr val="2196F3">
                <a:alpha val="25000"/>
              </a:srgbClr>
            </a:solidFill>
            <a:prstDash val="solid"/>
          </a:ln>
        </p:spPr>
      </p:sp>
      <p:sp>
        <p:nvSpPr>
          <p:cNvPr id="86" name="Shape 77"/>
          <p:cNvSpPr/>
          <p:nvPr/>
        </p:nvSpPr>
        <p:spPr>
          <a:xfrm>
            <a:off x="8709660" y="5052060"/>
            <a:ext cx="342900" cy="0"/>
          </a:xfrm>
          <a:prstGeom prst="line">
            <a:avLst/>
          </a:prstGeom>
          <a:noFill/>
          <a:ln w="5715">
            <a:solidFill>
              <a:srgbClr val="2196F3">
                <a:alpha val="25000"/>
              </a:srgbClr>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2743200" y="-2057400"/>
            <a:ext cx="9144000" cy="5143500"/>
          </a:xfrm>
          <a:prstGeom prst="ellipse">
            <a:avLst/>
          </a:prstGeom>
          <a:gradFill rotWithShape="1">
            <a:gsLst>
              <a:gs pos="0">
                <a:srgbClr val="2196F3">
                  <a:alpha val="9600"/>
                </a:srgbClr>
              </a:gs>
              <a:gs pos="100000">
                <a:srgbClr val="2196F3">
                  <a:alpha val="0"/>
                </a:srgbClr>
              </a:gs>
            </a:gsLst>
            <a:path path="circle">
              <a:fillToRect l="50000" t="50000" r="50000" b="50000"/>
            </a:path>
          </a:gradFill>
          <a:ln/>
        </p:spPr>
      </p:sp>
      <p:sp>
        <p:nvSpPr>
          <p:cNvPr id="3" name="Shape 1"/>
          <p:cNvSpPr/>
          <p:nvPr/>
        </p:nvSpPr>
        <p:spPr>
          <a:xfrm>
            <a:off x="3200400" y="2057400"/>
            <a:ext cx="9144000" cy="5143500"/>
          </a:xfrm>
          <a:prstGeom prst="ellipse">
            <a:avLst/>
          </a:prstGeom>
          <a:gradFill rotWithShape="1">
            <a:gsLst>
              <a:gs pos="0">
                <a:srgbClr val="00BCD4">
                  <a:alpha val="8000"/>
                </a:srgbClr>
              </a:gs>
              <a:gs pos="100000">
                <a:srgbClr val="00BCD4">
                  <a:alpha val="0"/>
                </a:srgbClr>
              </a:gs>
            </a:gsLst>
            <a:path path="circle">
              <a:fillToRect l="50000" t="50000" r="50000" b="50000"/>
            </a:path>
          </a:gradFill>
          <a:ln/>
        </p:spPr>
      </p:sp>
      <p:sp>
        <p:nvSpPr>
          <p:cNvPr id="4" name="Text 2"/>
          <p:cNvSpPr/>
          <p:nvPr/>
        </p:nvSpPr>
        <p:spPr>
          <a:xfrm>
            <a:off x="342900" y="274320"/>
            <a:ext cx="9473184" cy="331470"/>
          </a:xfrm>
          <a:prstGeom prst="rect">
            <a:avLst/>
          </a:prstGeom>
          <a:noFill/>
          <a:ln/>
          <a:effectLst>
            <a:outerShdw sx="100000" sy="100000" kx="0" ky="0" algn="bl" rotWithShape="0" blurRad="228600" dist="50800" dir="5400000">
              <a:srgbClr val="2196F3">
                <a:alpha val="30000"/>
              </a:srgbClr>
            </a:outerShdw>
          </a:effectLst>
        </p:spPr>
        <p:txBody>
          <a:bodyPr wrap="none" rtlCol="0" anchor="ctr"/>
          <a:lstStyle/>
          <a:p>
            <a:pPr algn="ctr" indent="0" marL="0">
              <a:buNone/>
            </a:pPr>
            <a:r>
              <a:rPr lang="en-US" sz="1800" b="1" spc="90" kern="0" dirty="0">
                <a:solidFill>
                  <a:srgbClr val="00BCD4"/>
                </a:solidFill>
                <a:latin typeface="Inter" pitchFamily="34" charset="0"/>
                <a:ea typeface="Inter" pitchFamily="34" charset="-122"/>
                <a:cs typeface="Inter" pitchFamily="34" charset="-120"/>
              </a:rPr>
              <a:t>技能画像与工具栈</a:t>
            </a:r>
            <a:endParaRPr lang="en-US" sz="1800" dirty="0"/>
          </a:p>
        </p:txBody>
      </p:sp>
      <p:sp>
        <p:nvSpPr>
          <p:cNvPr id="5" name="Text 3"/>
          <p:cNvSpPr/>
          <p:nvPr/>
        </p:nvSpPr>
        <p:spPr>
          <a:xfrm>
            <a:off x="1428750" y="674370"/>
            <a:ext cx="7040880" cy="135999"/>
          </a:xfrm>
          <a:prstGeom prst="rect">
            <a:avLst/>
          </a:prstGeom>
          <a:noFill/>
          <a:ln/>
        </p:spPr>
        <p:txBody>
          <a:bodyPr wrap="none" rtlCol="0" anchor="ctr"/>
          <a:lstStyle/>
          <a:p>
            <a:pPr algn="ctr" indent="0" marL="0">
              <a:lnSpc>
                <a:spcPct val="170000"/>
              </a:lnSpc>
              <a:buNone/>
            </a:pPr>
            <a:r>
              <a:rPr lang="en-US" sz="630" spc="14" kern="0" dirty="0">
                <a:solidFill>
                  <a:srgbClr val="90A4C4"/>
                </a:solidFill>
                <a:latin typeface="Inter" pitchFamily="34" charset="0"/>
                <a:ea typeface="Inter" pitchFamily="34" charset="-122"/>
                <a:cs typeface="Inter" pitchFamily="34" charset="-120"/>
              </a:rPr>
              <a:t>现代开源贡献者的技能画像正从单一编程能力向工程化全栈方向演进，版本控制、自动化流水线、容器化部署等工程化能力已成为标配。</a:t>
            </a:r>
            <a:endParaRPr lang="en-US" sz="630" dirty="0"/>
          </a:p>
        </p:txBody>
      </p:sp>
      <p:sp>
        <p:nvSpPr>
          <p:cNvPr id="6" name="Shape 4"/>
          <p:cNvSpPr/>
          <p:nvPr/>
        </p:nvSpPr>
        <p:spPr>
          <a:xfrm>
            <a:off x="342900" y="947529"/>
            <a:ext cx="3200400" cy="2806065"/>
          </a:xfrm>
          <a:prstGeom prst="roundRect">
            <a:avLst>
              <a:gd name="adj" fmla="val 2851"/>
            </a:avLst>
          </a:prstGeom>
          <a:solidFill>
            <a:srgbClr val="0F1E36"/>
          </a:solidFill>
          <a:ln w="5715">
            <a:solidFill>
              <a:srgbClr val="2196F3">
                <a:alpha val="45000"/>
              </a:srgbClr>
            </a:solidFill>
            <a:prstDash val="solid"/>
          </a:ln>
          <a:effectLst>
            <a:outerShdw sx="100000" sy="100000" kx="0" ky="0" algn="bl" rotWithShape="0" blurRad="228600" dist="50800" dir="16200000">
              <a:srgbClr val="2196F3">
                <a:alpha val="15000"/>
              </a:srgbClr>
            </a:outerShdw>
          </a:effectLst>
        </p:spPr>
      </p:sp>
      <p:sp>
        <p:nvSpPr>
          <p:cNvPr id="7" name="Text 5"/>
          <p:cNvSpPr/>
          <p:nvPr/>
        </p:nvSpPr>
        <p:spPr>
          <a:xfrm>
            <a:off x="1440180" y="1067544"/>
            <a:ext cx="1126541" cy="108585"/>
          </a:xfrm>
          <a:prstGeom prst="rect">
            <a:avLst/>
          </a:prstGeom>
          <a:noFill/>
          <a:ln/>
        </p:spPr>
        <p:txBody>
          <a:bodyPr wrap="none" rtlCol="0" anchor="ctr"/>
          <a:lstStyle/>
          <a:p>
            <a:pPr algn="ctr" indent="0" marL="0">
              <a:buNone/>
            </a:pPr>
            <a:r>
              <a:rPr lang="en-US" sz="675" spc="45" kern="0" dirty="0">
                <a:solidFill>
                  <a:srgbClr val="2196F3"/>
                </a:solidFill>
                <a:latin typeface="Inter" pitchFamily="34" charset="0"/>
                <a:ea typeface="Inter" pitchFamily="34" charset="-122"/>
                <a:cs typeface="Inter" pitchFamily="34" charset="-120"/>
              </a:rPr>
              <a:t>开源贡献者多维能力画像</a:t>
            </a:r>
            <a:endParaRPr lang="en-US" sz="675" dirty="0"/>
          </a:p>
        </p:txBody>
      </p:sp>
      <p:sp>
        <p:nvSpPr>
          <p:cNvPr id="8" name="Text 6"/>
          <p:cNvSpPr/>
          <p:nvPr/>
        </p:nvSpPr>
        <p:spPr>
          <a:xfrm>
            <a:off x="1428750" y="1210419"/>
            <a:ext cx="1152144" cy="85725"/>
          </a:xfrm>
          <a:prstGeom prst="rect">
            <a:avLst/>
          </a:prstGeom>
          <a:noFill/>
          <a:ln/>
        </p:spPr>
        <p:txBody>
          <a:bodyPr wrap="none" rtlCol="0" anchor="ctr"/>
          <a:lstStyle/>
          <a:p>
            <a:pPr algn="ctr" indent="0" marL="0">
              <a:buNone/>
            </a:pPr>
            <a:r>
              <a:rPr lang="en-US" sz="540" dirty="0">
                <a:solidFill>
                  <a:srgbClr val="90A4C4"/>
                </a:solidFill>
                <a:latin typeface="Inter" pitchFamily="34" charset="0"/>
                <a:ea typeface="Inter" pitchFamily="34" charset="-122"/>
                <a:cs typeface="Inter" pitchFamily="34" charset="-120"/>
              </a:rPr>
              <a:t>基于社区调研数据的五维技能分布</a:t>
            </a:r>
            <a:endParaRPr lang="en-US" sz="540" dirty="0"/>
          </a:p>
        </p:txBody>
      </p:sp>
      <p:graphicFrame>
        <p:nvGraphicFramePr>
          <p:cNvPr id="9" name="Chart 0" descr=""/>
          <p:cNvGraphicFramePr/>
          <p:nvPr/>
        </p:nvGraphicFramePr>
        <p:xfrm>
          <a:off x="457200" y="1341864"/>
          <a:ext cx="2971800" cy="2286000"/>
        </p:xfrm>
        <a:graphic xmlns:a="http://schemas.openxmlformats.org/drawingml/2006/main">
          <a:graphicData uri="http://schemas.openxmlformats.org/drawingml/2006/chart">
            <c:chart xmlns:c="http://schemas.openxmlformats.org/drawingml/2006/chart" r:id="rId1"/>
          </a:graphicData>
        </a:graphic>
      </p:graphicFrame>
      <p:sp>
        <p:nvSpPr>
          <p:cNvPr id="10" name="Shape 7"/>
          <p:cNvSpPr/>
          <p:nvPr/>
        </p:nvSpPr>
        <p:spPr>
          <a:xfrm>
            <a:off x="1371600" y="3602147"/>
            <a:ext cx="57150" cy="57150"/>
          </a:xfrm>
          <a:prstGeom prst="ellipse">
            <a:avLst/>
          </a:prstGeom>
          <a:solidFill>
            <a:srgbClr val="2196F3"/>
          </a:solidFill>
          <a:ln/>
        </p:spPr>
      </p:sp>
      <p:sp>
        <p:nvSpPr>
          <p:cNvPr id="11" name="Text 8"/>
          <p:cNvSpPr/>
          <p:nvPr/>
        </p:nvSpPr>
        <p:spPr>
          <a:xfrm>
            <a:off x="1463040" y="3582144"/>
            <a:ext cx="548640" cy="97155"/>
          </a:xfrm>
          <a:prstGeom prst="rect">
            <a:avLst/>
          </a:prstGeom>
          <a:noFill/>
          <a:ln/>
        </p:spPr>
        <p:txBody>
          <a:bodyPr wrap="none" rtlCol="0" anchor="ctr"/>
          <a:lstStyle/>
          <a:p>
            <a:pPr algn="l" indent="0" marL="0">
              <a:buNone/>
            </a:pPr>
            <a:r>
              <a:rPr lang="en-US" sz="540" dirty="0">
                <a:solidFill>
                  <a:srgbClr val="B0BEC5"/>
                </a:solidFill>
                <a:latin typeface="Inter" pitchFamily="34" charset="0"/>
                <a:ea typeface="Inter" pitchFamily="34" charset="-122"/>
                <a:cs typeface="Inter" pitchFamily="34" charset="-120"/>
              </a:rPr>
              <a:t>现代开源贡献者</a:t>
            </a:r>
            <a:endParaRPr lang="en-US" sz="540" dirty="0"/>
          </a:p>
        </p:txBody>
      </p:sp>
      <p:sp>
        <p:nvSpPr>
          <p:cNvPr id="12" name="Shape 9"/>
          <p:cNvSpPr/>
          <p:nvPr/>
        </p:nvSpPr>
        <p:spPr>
          <a:xfrm>
            <a:off x="2080260" y="3602147"/>
            <a:ext cx="57150" cy="57150"/>
          </a:xfrm>
          <a:prstGeom prst="ellipse">
            <a:avLst/>
          </a:prstGeom>
          <a:solidFill>
            <a:srgbClr val="00BCD4"/>
          </a:solidFill>
          <a:ln/>
        </p:spPr>
      </p:sp>
      <p:sp>
        <p:nvSpPr>
          <p:cNvPr id="13" name="Text 10"/>
          <p:cNvSpPr/>
          <p:nvPr/>
        </p:nvSpPr>
        <p:spPr>
          <a:xfrm>
            <a:off x="2171700" y="3582144"/>
            <a:ext cx="411480" cy="97155"/>
          </a:xfrm>
          <a:prstGeom prst="rect">
            <a:avLst/>
          </a:prstGeom>
          <a:noFill/>
          <a:ln/>
        </p:spPr>
        <p:txBody>
          <a:bodyPr wrap="none" rtlCol="0" anchor="ctr"/>
          <a:lstStyle/>
          <a:p>
            <a:pPr algn="l" indent="0" marL="0">
              <a:buNone/>
            </a:pPr>
            <a:r>
              <a:rPr lang="en-US" sz="540" dirty="0">
                <a:solidFill>
                  <a:srgbClr val="B0BEC5"/>
                </a:solidFill>
                <a:latin typeface="Inter" pitchFamily="34" charset="0"/>
                <a:ea typeface="Inter" pitchFamily="34" charset="-122"/>
                <a:cs typeface="Inter" pitchFamily="34" charset="-120"/>
              </a:rPr>
              <a:t>传统开发者</a:t>
            </a:r>
            <a:endParaRPr lang="en-US" sz="540" dirty="0"/>
          </a:p>
        </p:txBody>
      </p:sp>
      <p:sp>
        <p:nvSpPr>
          <p:cNvPr id="14" name="Shape 11"/>
          <p:cNvSpPr/>
          <p:nvPr/>
        </p:nvSpPr>
        <p:spPr>
          <a:xfrm>
            <a:off x="3703320" y="947529"/>
            <a:ext cx="2508885" cy="1051024"/>
          </a:xfrm>
          <a:prstGeom prst="roundRect">
            <a:avLst>
              <a:gd name="adj" fmla="val 6525"/>
            </a:avLst>
          </a:prstGeom>
          <a:gradFill rotWithShape="1">
            <a:gsLst>
              <a:gs pos="0">
                <a:srgbClr val="13294A"/>
              </a:gs>
              <a:gs pos="100000">
                <a:srgbClr val="0F1E36"/>
              </a:gs>
            </a:gsLst>
            <a:lin ang="2700000" scaled="0"/>
          </a:gradFill>
          <a:ln w="5715">
            <a:solidFill>
              <a:srgbClr val="2196F3">
                <a:alpha val="25000"/>
              </a:srgbClr>
            </a:solidFill>
            <a:prstDash val="solid"/>
          </a:ln>
        </p:spPr>
      </p:sp>
      <p:sp>
        <p:nvSpPr>
          <p:cNvPr id="15" name="Shape 12"/>
          <p:cNvSpPr/>
          <p:nvPr/>
        </p:nvSpPr>
        <p:spPr>
          <a:xfrm>
            <a:off x="3703320" y="947529"/>
            <a:ext cx="22860" cy="1039593"/>
          </a:xfrm>
          <a:prstGeom prst="roundRect">
            <a:avLst>
              <a:gd name="adj" fmla="val 50000"/>
            </a:avLst>
          </a:prstGeom>
          <a:gradFill rotWithShape="1">
            <a:gsLst>
              <a:gs pos="0">
                <a:srgbClr val="2196F3"/>
              </a:gs>
              <a:gs pos="100000">
                <a:srgbClr val="00BCD4"/>
              </a:gs>
            </a:gsLst>
            <a:lin ang="5400000" scaled="0"/>
          </a:gradFill>
          <a:ln/>
          <a:effectLst>
            <a:outerShdw sx="100000" sy="100000" kx="0" ky="0" algn="bl" rotWithShape="0" blurRad="114300" dist="50800" dir="16200000">
              <a:srgbClr val="2196F3">
                <a:alpha val="100000"/>
              </a:srgbClr>
            </a:outerShdw>
          </a:effectLst>
        </p:spPr>
      </p:sp>
      <p:sp>
        <p:nvSpPr>
          <p:cNvPr id="16" name="Text 13"/>
          <p:cNvSpPr/>
          <p:nvPr/>
        </p:nvSpPr>
        <p:spPr>
          <a:xfrm>
            <a:off x="3811905" y="1044684"/>
            <a:ext cx="154305" cy="80010"/>
          </a:xfrm>
          <a:prstGeom prst="rect">
            <a:avLst/>
          </a:prstGeom>
          <a:noFill/>
          <a:ln/>
        </p:spPr>
        <p:txBody>
          <a:bodyPr wrap="none" rtlCol="0" anchor="ctr"/>
          <a:lstStyle/>
          <a:p>
            <a:pPr algn="l" indent="0" marL="0">
              <a:buNone/>
            </a:pPr>
            <a:r>
              <a:rPr lang="en-US" sz="495" b="1" spc="90" kern="0" dirty="0">
                <a:solidFill>
                  <a:srgbClr val="00BCD4"/>
                </a:solidFill>
                <a:latin typeface="Inter" pitchFamily="34" charset="0"/>
                <a:ea typeface="Inter" pitchFamily="34" charset="-122"/>
                <a:cs typeface="Inter" pitchFamily="34" charset="-120"/>
              </a:rPr>
              <a:t>01</a:t>
            </a:r>
            <a:endParaRPr lang="en-US" sz="495" dirty="0"/>
          </a:p>
        </p:txBody>
      </p:sp>
      <p:sp>
        <p:nvSpPr>
          <p:cNvPr id="17" name="Shape 14"/>
          <p:cNvSpPr/>
          <p:nvPr/>
        </p:nvSpPr>
        <p:spPr>
          <a:xfrm>
            <a:off x="3811905" y="1193274"/>
            <a:ext cx="45720" cy="45720"/>
          </a:xfrm>
          <a:prstGeom prst="ellipse">
            <a:avLst/>
          </a:prstGeom>
          <a:solidFill>
            <a:srgbClr val="2196F3"/>
          </a:solidFill>
          <a:ln/>
          <a:effectLst>
            <a:outerShdw sx="100000" sy="100000" kx="0" ky="0" algn="bl" rotWithShape="0" blurRad="76200" dist="50800" dir="16200000">
              <a:srgbClr val="2196F3">
                <a:alpha val="100000"/>
              </a:srgbClr>
            </a:outerShdw>
          </a:effectLst>
        </p:spPr>
      </p:sp>
      <p:sp>
        <p:nvSpPr>
          <p:cNvPr id="18" name="Text 15"/>
          <p:cNvSpPr/>
          <p:nvPr/>
        </p:nvSpPr>
        <p:spPr>
          <a:xfrm>
            <a:off x="3903345" y="1147554"/>
            <a:ext cx="457200" cy="137160"/>
          </a:xfrm>
          <a:prstGeom prst="rect">
            <a:avLst/>
          </a:prstGeom>
          <a:noFill/>
          <a:ln/>
        </p:spPr>
        <p:txBody>
          <a:bodyPr wrap="none" rtlCol="0" anchor="ctr"/>
          <a:lstStyle/>
          <a:p>
            <a:pPr algn="l" indent="0" marL="0">
              <a:buNone/>
            </a:pPr>
            <a:r>
              <a:rPr lang="en-US" sz="720" dirty="0">
                <a:solidFill>
                  <a:srgbClr val="E8F0FB"/>
                </a:solidFill>
                <a:latin typeface="Inter" pitchFamily="34" charset="0"/>
                <a:ea typeface="Inter" pitchFamily="34" charset="-122"/>
                <a:cs typeface="Inter" pitchFamily="34" charset="-120"/>
              </a:rPr>
              <a:t>编程语言</a:t>
            </a:r>
            <a:endParaRPr lang="en-US" sz="720" dirty="0"/>
          </a:p>
        </p:txBody>
      </p:sp>
      <p:sp>
        <p:nvSpPr>
          <p:cNvPr id="19" name="Text 16"/>
          <p:cNvSpPr/>
          <p:nvPr/>
        </p:nvSpPr>
        <p:spPr>
          <a:xfrm>
            <a:off x="3811905" y="1330434"/>
            <a:ext cx="2566721" cy="235744"/>
          </a:xfrm>
          <a:prstGeom prst="rect">
            <a:avLst/>
          </a:prstGeom>
          <a:noFill/>
          <a:ln/>
        </p:spPr>
        <p:txBody>
          <a:bodyPr wrap="square" rtlCol="0" anchor="ctr"/>
          <a:lstStyle/>
          <a:p>
            <a:pPr algn="l" indent="0" marL="0">
              <a:lnSpc>
                <a:spcPct val="165000"/>
              </a:lnSpc>
              <a:buNone/>
            </a:pPr>
            <a:r>
              <a:rPr lang="en-US" sz="563" dirty="0">
                <a:solidFill>
                  <a:srgbClr val="B0BEC5"/>
                </a:solidFill>
                <a:latin typeface="Inter" pitchFamily="34" charset="0"/>
                <a:ea typeface="Inter" pitchFamily="34" charset="-122"/>
                <a:cs typeface="Inter" pitchFamily="34" charset="-120"/>
              </a:rPr>
              <a:t>多数贡献者精通至少两种语言，Python 与 JavaScript 是入门与主流选择，多语言能力已成为社区活跃的基础门槛。</a:t>
            </a:r>
            <a:endParaRPr lang="en-US" sz="563" dirty="0"/>
          </a:p>
        </p:txBody>
      </p:sp>
      <p:sp>
        <p:nvSpPr>
          <p:cNvPr id="20" name="Shape 17"/>
          <p:cNvSpPr/>
          <p:nvPr/>
        </p:nvSpPr>
        <p:spPr>
          <a:xfrm>
            <a:off x="6292215" y="947529"/>
            <a:ext cx="2508885" cy="1051024"/>
          </a:xfrm>
          <a:prstGeom prst="roundRect">
            <a:avLst>
              <a:gd name="adj" fmla="val 6525"/>
            </a:avLst>
          </a:prstGeom>
          <a:gradFill rotWithShape="1">
            <a:gsLst>
              <a:gs pos="0">
                <a:srgbClr val="13294A"/>
              </a:gs>
              <a:gs pos="100000">
                <a:srgbClr val="0F1E36"/>
              </a:gs>
            </a:gsLst>
            <a:lin ang="2700000" scaled="0"/>
          </a:gradFill>
          <a:ln w="5715">
            <a:solidFill>
              <a:srgbClr val="2196F3">
                <a:alpha val="25000"/>
              </a:srgbClr>
            </a:solidFill>
            <a:prstDash val="solid"/>
          </a:ln>
        </p:spPr>
      </p:sp>
      <p:sp>
        <p:nvSpPr>
          <p:cNvPr id="21" name="Shape 18"/>
          <p:cNvSpPr/>
          <p:nvPr/>
        </p:nvSpPr>
        <p:spPr>
          <a:xfrm>
            <a:off x="6292215" y="947529"/>
            <a:ext cx="22860" cy="1039593"/>
          </a:xfrm>
          <a:prstGeom prst="roundRect">
            <a:avLst>
              <a:gd name="adj" fmla="val 50000"/>
            </a:avLst>
          </a:prstGeom>
          <a:gradFill rotWithShape="1">
            <a:gsLst>
              <a:gs pos="0">
                <a:srgbClr val="2196F3"/>
              </a:gs>
              <a:gs pos="100000">
                <a:srgbClr val="00BCD4"/>
              </a:gs>
            </a:gsLst>
            <a:lin ang="5400000" scaled="0"/>
          </a:gradFill>
          <a:ln/>
          <a:effectLst>
            <a:outerShdw sx="100000" sy="100000" kx="0" ky="0" algn="bl" rotWithShape="0" blurRad="114300" dist="50800" dir="16200000">
              <a:srgbClr val="2196F3">
                <a:alpha val="100000"/>
              </a:srgbClr>
            </a:outerShdw>
          </a:effectLst>
        </p:spPr>
      </p:sp>
      <p:sp>
        <p:nvSpPr>
          <p:cNvPr id="22" name="Text 19"/>
          <p:cNvSpPr/>
          <p:nvPr/>
        </p:nvSpPr>
        <p:spPr>
          <a:xfrm>
            <a:off x="6400800" y="1044684"/>
            <a:ext cx="165735" cy="80010"/>
          </a:xfrm>
          <a:prstGeom prst="rect">
            <a:avLst/>
          </a:prstGeom>
          <a:noFill/>
          <a:ln/>
        </p:spPr>
        <p:txBody>
          <a:bodyPr wrap="none" rtlCol="0" anchor="ctr"/>
          <a:lstStyle/>
          <a:p>
            <a:pPr algn="l" indent="0" marL="0">
              <a:buNone/>
            </a:pPr>
            <a:r>
              <a:rPr lang="en-US" sz="495" b="1" spc="90" kern="0" dirty="0">
                <a:solidFill>
                  <a:srgbClr val="00BCD4"/>
                </a:solidFill>
                <a:latin typeface="Inter" pitchFamily="34" charset="0"/>
                <a:ea typeface="Inter" pitchFamily="34" charset="-122"/>
                <a:cs typeface="Inter" pitchFamily="34" charset="-120"/>
              </a:rPr>
              <a:t>02</a:t>
            </a:r>
            <a:endParaRPr lang="en-US" sz="495" dirty="0"/>
          </a:p>
        </p:txBody>
      </p:sp>
      <p:sp>
        <p:nvSpPr>
          <p:cNvPr id="23" name="Shape 20"/>
          <p:cNvSpPr/>
          <p:nvPr/>
        </p:nvSpPr>
        <p:spPr>
          <a:xfrm>
            <a:off x="6400800" y="1193274"/>
            <a:ext cx="45720" cy="45720"/>
          </a:xfrm>
          <a:prstGeom prst="ellipse">
            <a:avLst/>
          </a:prstGeom>
          <a:solidFill>
            <a:srgbClr val="2196F3"/>
          </a:solidFill>
          <a:ln/>
          <a:effectLst>
            <a:outerShdw sx="100000" sy="100000" kx="0" ky="0" algn="bl" rotWithShape="0" blurRad="76200" dist="50800" dir="16200000">
              <a:srgbClr val="2196F3">
                <a:alpha val="100000"/>
              </a:srgbClr>
            </a:outerShdw>
          </a:effectLst>
        </p:spPr>
      </p:sp>
      <p:sp>
        <p:nvSpPr>
          <p:cNvPr id="24" name="Text 21"/>
          <p:cNvSpPr/>
          <p:nvPr/>
        </p:nvSpPr>
        <p:spPr>
          <a:xfrm>
            <a:off x="6492240" y="1147554"/>
            <a:ext cx="457200" cy="137160"/>
          </a:xfrm>
          <a:prstGeom prst="rect">
            <a:avLst/>
          </a:prstGeom>
          <a:noFill/>
          <a:ln/>
        </p:spPr>
        <p:txBody>
          <a:bodyPr wrap="none" rtlCol="0" anchor="ctr"/>
          <a:lstStyle/>
          <a:p>
            <a:pPr algn="l" indent="0" marL="0">
              <a:buNone/>
            </a:pPr>
            <a:r>
              <a:rPr lang="en-US" sz="720" dirty="0">
                <a:solidFill>
                  <a:srgbClr val="E8F0FB"/>
                </a:solidFill>
                <a:latin typeface="Inter" pitchFamily="34" charset="0"/>
                <a:ea typeface="Inter" pitchFamily="34" charset="-122"/>
                <a:cs typeface="Inter" pitchFamily="34" charset="-120"/>
              </a:rPr>
              <a:t>版本控制</a:t>
            </a:r>
            <a:endParaRPr lang="en-US" sz="720" dirty="0"/>
          </a:p>
        </p:txBody>
      </p:sp>
      <p:sp>
        <p:nvSpPr>
          <p:cNvPr id="25" name="Text 22"/>
          <p:cNvSpPr/>
          <p:nvPr/>
        </p:nvSpPr>
        <p:spPr>
          <a:xfrm>
            <a:off x="6400800" y="1330434"/>
            <a:ext cx="2566721" cy="235744"/>
          </a:xfrm>
          <a:prstGeom prst="rect">
            <a:avLst/>
          </a:prstGeom>
          <a:noFill/>
          <a:ln/>
        </p:spPr>
        <p:txBody>
          <a:bodyPr wrap="square" rtlCol="0" anchor="ctr"/>
          <a:lstStyle/>
          <a:p>
            <a:pPr algn="l" indent="0" marL="0">
              <a:lnSpc>
                <a:spcPct val="165000"/>
              </a:lnSpc>
              <a:buNone/>
            </a:pPr>
            <a:r>
              <a:rPr lang="en-US" sz="563" dirty="0">
                <a:solidFill>
                  <a:srgbClr val="B0BEC5"/>
                </a:solidFill>
                <a:latin typeface="Inter" pitchFamily="34" charset="0"/>
                <a:ea typeface="Inter" pitchFamily="34" charset="-122"/>
                <a:cs typeface="Inter" pitchFamily="34" charset="-120"/>
              </a:rPr>
              <a:t>Git 是必备技能，分支管理、代码审查与协作流程是日常基本功，掌握 rebase、merge 策略决定贡献效率上限。</a:t>
            </a:r>
            <a:endParaRPr lang="en-US" sz="563" dirty="0"/>
          </a:p>
        </p:txBody>
      </p:sp>
      <p:sp>
        <p:nvSpPr>
          <p:cNvPr id="26" name="Shape 23"/>
          <p:cNvSpPr/>
          <p:nvPr/>
        </p:nvSpPr>
        <p:spPr>
          <a:xfrm>
            <a:off x="3703320" y="2078563"/>
            <a:ext cx="2508885" cy="1051024"/>
          </a:xfrm>
          <a:prstGeom prst="roundRect">
            <a:avLst>
              <a:gd name="adj" fmla="val 6525"/>
            </a:avLst>
          </a:prstGeom>
          <a:gradFill rotWithShape="1">
            <a:gsLst>
              <a:gs pos="0">
                <a:srgbClr val="13294A"/>
              </a:gs>
              <a:gs pos="100000">
                <a:srgbClr val="0F1E36"/>
              </a:gs>
            </a:gsLst>
            <a:lin ang="2700000" scaled="0"/>
          </a:gradFill>
          <a:ln w="5715">
            <a:solidFill>
              <a:srgbClr val="2196F3">
                <a:alpha val="25000"/>
              </a:srgbClr>
            </a:solidFill>
            <a:prstDash val="solid"/>
          </a:ln>
        </p:spPr>
      </p:sp>
      <p:sp>
        <p:nvSpPr>
          <p:cNvPr id="27" name="Shape 24"/>
          <p:cNvSpPr/>
          <p:nvPr/>
        </p:nvSpPr>
        <p:spPr>
          <a:xfrm>
            <a:off x="3703320" y="2078563"/>
            <a:ext cx="22860" cy="1039593"/>
          </a:xfrm>
          <a:prstGeom prst="roundRect">
            <a:avLst>
              <a:gd name="adj" fmla="val 50000"/>
            </a:avLst>
          </a:prstGeom>
          <a:gradFill rotWithShape="1">
            <a:gsLst>
              <a:gs pos="0">
                <a:srgbClr val="2196F3"/>
              </a:gs>
              <a:gs pos="100000">
                <a:srgbClr val="00BCD4"/>
              </a:gs>
            </a:gsLst>
            <a:lin ang="5400000" scaled="0"/>
          </a:gradFill>
          <a:ln/>
          <a:effectLst>
            <a:outerShdw sx="100000" sy="100000" kx="0" ky="0" algn="bl" rotWithShape="0" blurRad="114300" dist="50800" dir="16200000">
              <a:srgbClr val="2196F3">
                <a:alpha val="100000"/>
              </a:srgbClr>
            </a:outerShdw>
          </a:effectLst>
        </p:spPr>
      </p:sp>
      <p:sp>
        <p:nvSpPr>
          <p:cNvPr id="28" name="Text 25"/>
          <p:cNvSpPr/>
          <p:nvPr/>
        </p:nvSpPr>
        <p:spPr>
          <a:xfrm>
            <a:off x="3811905" y="2175718"/>
            <a:ext cx="165735" cy="80010"/>
          </a:xfrm>
          <a:prstGeom prst="rect">
            <a:avLst/>
          </a:prstGeom>
          <a:noFill/>
          <a:ln/>
        </p:spPr>
        <p:txBody>
          <a:bodyPr wrap="none" rtlCol="0" anchor="ctr"/>
          <a:lstStyle/>
          <a:p>
            <a:pPr algn="l" indent="0" marL="0">
              <a:buNone/>
            </a:pPr>
            <a:r>
              <a:rPr lang="en-US" sz="495" b="1" spc="90" kern="0" dirty="0">
                <a:solidFill>
                  <a:srgbClr val="00BCD4"/>
                </a:solidFill>
                <a:latin typeface="Inter" pitchFamily="34" charset="0"/>
                <a:ea typeface="Inter" pitchFamily="34" charset="-122"/>
                <a:cs typeface="Inter" pitchFamily="34" charset="-120"/>
              </a:rPr>
              <a:t>03</a:t>
            </a:r>
            <a:endParaRPr lang="en-US" sz="495" dirty="0"/>
          </a:p>
        </p:txBody>
      </p:sp>
      <p:sp>
        <p:nvSpPr>
          <p:cNvPr id="29" name="Shape 26"/>
          <p:cNvSpPr/>
          <p:nvPr/>
        </p:nvSpPr>
        <p:spPr>
          <a:xfrm>
            <a:off x="3811905" y="2324308"/>
            <a:ext cx="45720" cy="45720"/>
          </a:xfrm>
          <a:prstGeom prst="ellipse">
            <a:avLst/>
          </a:prstGeom>
          <a:solidFill>
            <a:srgbClr val="2196F3"/>
          </a:solidFill>
          <a:ln/>
          <a:effectLst>
            <a:outerShdw sx="100000" sy="100000" kx="0" ky="0" algn="bl" rotWithShape="0" blurRad="76200" dist="50800" dir="16200000">
              <a:srgbClr val="2196F3">
                <a:alpha val="100000"/>
              </a:srgbClr>
            </a:outerShdw>
          </a:effectLst>
        </p:spPr>
      </p:sp>
      <p:sp>
        <p:nvSpPr>
          <p:cNvPr id="30" name="Text 27"/>
          <p:cNvSpPr/>
          <p:nvPr/>
        </p:nvSpPr>
        <p:spPr>
          <a:xfrm>
            <a:off x="3903345" y="2278588"/>
            <a:ext cx="548640" cy="137160"/>
          </a:xfrm>
          <a:prstGeom prst="rect">
            <a:avLst/>
          </a:prstGeom>
          <a:noFill/>
          <a:ln/>
        </p:spPr>
        <p:txBody>
          <a:bodyPr wrap="none" rtlCol="0" anchor="ctr"/>
          <a:lstStyle/>
          <a:p>
            <a:pPr algn="l" indent="0" marL="0">
              <a:buNone/>
            </a:pPr>
            <a:r>
              <a:rPr lang="en-US" sz="720" dirty="0">
                <a:solidFill>
                  <a:srgbClr val="E8F0FB"/>
                </a:solidFill>
                <a:latin typeface="Inter" pitchFamily="34" charset="0"/>
                <a:ea typeface="Inter" pitchFamily="34" charset="-122"/>
                <a:cs typeface="Inter" pitchFamily="34" charset="-120"/>
              </a:rPr>
              <a:t>自动化工程</a:t>
            </a:r>
            <a:endParaRPr lang="en-US" sz="720" dirty="0"/>
          </a:p>
        </p:txBody>
      </p:sp>
      <p:sp>
        <p:nvSpPr>
          <p:cNvPr id="31" name="Text 28"/>
          <p:cNvSpPr/>
          <p:nvPr/>
        </p:nvSpPr>
        <p:spPr>
          <a:xfrm>
            <a:off x="3811905" y="2461468"/>
            <a:ext cx="2566721" cy="235744"/>
          </a:xfrm>
          <a:prstGeom prst="rect">
            <a:avLst/>
          </a:prstGeom>
          <a:noFill/>
          <a:ln/>
        </p:spPr>
        <p:txBody>
          <a:bodyPr wrap="square" rtlCol="0" anchor="ctr"/>
          <a:lstStyle/>
          <a:p>
            <a:pPr algn="l" indent="0" marL="0">
              <a:lnSpc>
                <a:spcPct val="165000"/>
              </a:lnSpc>
              <a:buNone/>
            </a:pPr>
            <a:r>
              <a:rPr lang="en-US" sz="563" dirty="0">
                <a:solidFill>
                  <a:srgbClr val="B0BEC5"/>
                </a:solidFill>
                <a:latin typeface="Inter" pitchFamily="34" charset="0"/>
                <a:ea typeface="Inter" pitchFamily="34" charset="-122"/>
                <a:cs typeface="Inter" pitchFamily="34" charset="-120"/>
              </a:rPr>
              <a:t>CI/CD、容器化、云原生工具链使用率逐年攀升，从 GitHub Actions 到 Kubernetes，工程化能力成为新门槛。</a:t>
            </a:r>
            <a:endParaRPr lang="en-US" sz="563" dirty="0"/>
          </a:p>
        </p:txBody>
      </p:sp>
      <p:sp>
        <p:nvSpPr>
          <p:cNvPr id="32" name="Shape 29"/>
          <p:cNvSpPr/>
          <p:nvPr/>
        </p:nvSpPr>
        <p:spPr>
          <a:xfrm>
            <a:off x="6292215" y="2078563"/>
            <a:ext cx="2508885" cy="1051024"/>
          </a:xfrm>
          <a:prstGeom prst="roundRect">
            <a:avLst>
              <a:gd name="adj" fmla="val 6525"/>
            </a:avLst>
          </a:prstGeom>
          <a:gradFill rotWithShape="1">
            <a:gsLst>
              <a:gs pos="0">
                <a:srgbClr val="13294A"/>
              </a:gs>
              <a:gs pos="100000">
                <a:srgbClr val="0F1E36"/>
              </a:gs>
            </a:gsLst>
            <a:lin ang="2700000" scaled="0"/>
          </a:gradFill>
          <a:ln w="5715">
            <a:solidFill>
              <a:srgbClr val="2196F3">
                <a:alpha val="25000"/>
              </a:srgbClr>
            </a:solidFill>
            <a:prstDash val="solid"/>
          </a:ln>
        </p:spPr>
      </p:sp>
      <p:sp>
        <p:nvSpPr>
          <p:cNvPr id="33" name="Shape 30"/>
          <p:cNvSpPr/>
          <p:nvPr/>
        </p:nvSpPr>
        <p:spPr>
          <a:xfrm>
            <a:off x="6292215" y="2078563"/>
            <a:ext cx="22860" cy="1039593"/>
          </a:xfrm>
          <a:prstGeom prst="roundRect">
            <a:avLst>
              <a:gd name="adj" fmla="val 50000"/>
            </a:avLst>
          </a:prstGeom>
          <a:gradFill rotWithShape="1">
            <a:gsLst>
              <a:gs pos="0">
                <a:srgbClr val="2196F3"/>
              </a:gs>
              <a:gs pos="100000">
                <a:srgbClr val="00BCD4"/>
              </a:gs>
            </a:gsLst>
            <a:lin ang="5400000" scaled="0"/>
          </a:gradFill>
          <a:ln/>
          <a:effectLst>
            <a:outerShdw sx="100000" sy="100000" kx="0" ky="0" algn="bl" rotWithShape="0" blurRad="114300" dist="50800" dir="16200000">
              <a:srgbClr val="2196F3">
                <a:alpha val="100000"/>
              </a:srgbClr>
            </a:outerShdw>
          </a:effectLst>
        </p:spPr>
      </p:sp>
      <p:sp>
        <p:nvSpPr>
          <p:cNvPr id="34" name="Text 31"/>
          <p:cNvSpPr/>
          <p:nvPr/>
        </p:nvSpPr>
        <p:spPr>
          <a:xfrm>
            <a:off x="6400800" y="2175718"/>
            <a:ext cx="165735" cy="80010"/>
          </a:xfrm>
          <a:prstGeom prst="rect">
            <a:avLst/>
          </a:prstGeom>
          <a:noFill/>
          <a:ln/>
        </p:spPr>
        <p:txBody>
          <a:bodyPr wrap="none" rtlCol="0" anchor="ctr"/>
          <a:lstStyle/>
          <a:p>
            <a:pPr algn="l" indent="0" marL="0">
              <a:buNone/>
            </a:pPr>
            <a:r>
              <a:rPr lang="en-US" sz="495" b="1" spc="90" kern="0" dirty="0">
                <a:solidFill>
                  <a:srgbClr val="00BCD4"/>
                </a:solidFill>
                <a:latin typeface="Inter" pitchFamily="34" charset="0"/>
                <a:ea typeface="Inter" pitchFamily="34" charset="-122"/>
                <a:cs typeface="Inter" pitchFamily="34" charset="-120"/>
              </a:rPr>
              <a:t>04</a:t>
            </a:r>
            <a:endParaRPr lang="en-US" sz="495" dirty="0"/>
          </a:p>
        </p:txBody>
      </p:sp>
      <p:sp>
        <p:nvSpPr>
          <p:cNvPr id="35" name="Shape 32"/>
          <p:cNvSpPr/>
          <p:nvPr/>
        </p:nvSpPr>
        <p:spPr>
          <a:xfrm>
            <a:off x="6400800" y="2324308"/>
            <a:ext cx="45720" cy="45720"/>
          </a:xfrm>
          <a:prstGeom prst="ellipse">
            <a:avLst/>
          </a:prstGeom>
          <a:solidFill>
            <a:srgbClr val="2196F3"/>
          </a:solidFill>
          <a:ln/>
          <a:effectLst>
            <a:outerShdw sx="100000" sy="100000" kx="0" ky="0" algn="bl" rotWithShape="0" blurRad="76200" dist="50800" dir="16200000">
              <a:srgbClr val="2196F3">
                <a:alpha val="100000"/>
              </a:srgbClr>
            </a:outerShdw>
          </a:effectLst>
        </p:spPr>
      </p:sp>
      <p:sp>
        <p:nvSpPr>
          <p:cNvPr id="36" name="Text 33"/>
          <p:cNvSpPr/>
          <p:nvPr/>
        </p:nvSpPr>
        <p:spPr>
          <a:xfrm>
            <a:off x="6492240" y="2278588"/>
            <a:ext cx="548640" cy="137160"/>
          </a:xfrm>
          <a:prstGeom prst="rect">
            <a:avLst/>
          </a:prstGeom>
          <a:noFill/>
          <a:ln/>
        </p:spPr>
        <p:txBody>
          <a:bodyPr wrap="none" rtlCol="0" anchor="ctr"/>
          <a:lstStyle/>
          <a:p>
            <a:pPr algn="l" indent="0" marL="0">
              <a:buNone/>
            </a:pPr>
            <a:r>
              <a:rPr lang="en-US" sz="720" dirty="0">
                <a:solidFill>
                  <a:srgbClr val="E8F0FB"/>
                </a:solidFill>
                <a:latin typeface="Inter" pitchFamily="34" charset="0"/>
                <a:ea typeface="Inter" pitchFamily="34" charset="-122"/>
                <a:cs typeface="Inter" pitchFamily="34" charset="-120"/>
              </a:rPr>
              <a:t>软技能提升</a:t>
            </a:r>
            <a:endParaRPr lang="en-US" sz="720" dirty="0"/>
          </a:p>
        </p:txBody>
      </p:sp>
      <p:sp>
        <p:nvSpPr>
          <p:cNvPr id="37" name="Text 34"/>
          <p:cNvSpPr/>
          <p:nvPr/>
        </p:nvSpPr>
        <p:spPr>
          <a:xfrm>
            <a:off x="6400800" y="2461468"/>
            <a:ext cx="2566721" cy="235744"/>
          </a:xfrm>
          <a:prstGeom prst="rect">
            <a:avLst/>
          </a:prstGeom>
          <a:noFill/>
          <a:ln/>
        </p:spPr>
        <p:txBody>
          <a:bodyPr wrap="square" rtlCol="0" anchor="ctr"/>
          <a:lstStyle/>
          <a:p>
            <a:pPr algn="l" indent="0" marL="0">
              <a:lnSpc>
                <a:spcPct val="165000"/>
              </a:lnSpc>
              <a:buNone/>
            </a:pPr>
            <a:r>
              <a:rPr lang="en-US" sz="563" dirty="0">
                <a:solidFill>
                  <a:srgbClr val="B0BEC5"/>
                </a:solidFill>
                <a:latin typeface="Inter" pitchFamily="34" charset="0"/>
                <a:ea typeface="Inter" pitchFamily="34" charset="-122"/>
                <a:cs typeface="Inter" pitchFamily="34" charset="-120"/>
              </a:rPr>
              <a:t>代码审查沟通、文档写作、跨文化协作等软技能同样被高度重视，社区影响力 = 技术力 × 表达力。</a:t>
            </a:r>
            <a:endParaRPr lang="en-US" sz="563" dirty="0"/>
          </a:p>
        </p:txBody>
      </p:sp>
      <p:sp>
        <p:nvSpPr>
          <p:cNvPr id="38" name="Shape 35"/>
          <p:cNvSpPr/>
          <p:nvPr/>
        </p:nvSpPr>
        <p:spPr>
          <a:xfrm>
            <a:off x="3703320" y="3221028"/>
            <a:ext cx="2508885" cy="532567"/>
          </a:xfrm>
          <a:prstGeom prst="roundRect">
            <a:avLst>
              <a:gd name="adj" fmla="val 12877"/>
            </a:avLst>
          </a:prstGeom>
          <a:gradFill rotWithShape="1">
            <a:gsLst>
              <a:gs pos="0">
                <a:srgbClr val="2196F3">
                  <a:alpha val="10000"/>
                </a:srgbClr>
              </a:gs>
              <a:gs pos="100000">
                <a:srgbClr val="00BCD4">
                  <a:alpha val="6000"/>
                </a:srgbClr>
              </a:gs>
            </a:gsLst>
            <a:lin ang="2700000" scaled="0"/>
          </a:gradFill>
          <a:ln w="5715">
            <a:solidFill>
              <a:srgbClr val="00BCD4">
                <a:alpha val="30000"/>
              </a:srgbClr>
            </a:solidFill>
            <a:prstDash val="solid"/>
          </a:ln>
          <a:effectLst>
            <a:outerShdw sx="100000" sy="100000" kx="0" ky="0" algn="bl" rotWithShape="0" blurRad="190500" dist="50800" dir="16200000">
              <a:srgbClr val="00BCD4">
                <a:alpha val="8000"/>
              </a:srgbClr>
            </a:outerShdw>
          </a:effectLst>
        </p:spPr>
      </p:sp>
      <p:sp>
        <p:nvSpPr>
          <p:cNvPr id="39" name="Shape 36"/>
          <p:cNvSpPr/>
          <p:nvPr/>
        </p:nvSpPr>
        <p:spPr>
          <a:xfrm>
            <a:off x="5915025" y="3049578"/>
            <a:ext cx="457200" cy="457200"/>
          </a:xfrm>
          <a:prstGeom prst="ellipse">
            <a:avLst/>
          </a:prstGeom>
          <a:gradFill rotWithShape="1">
            <a:gsLst>
              <a:gs pos="0">
                <a:srgbClr val="00BCD4">
                  <a:alpha val="15000"/>
                </a:srgbClr>
              </a:gs>
              <a:gs pos="70000">
                <a:srgbClr val="000000">
                  <a:alpha val="0"/>
                </a:srgbClr>
              </a:gs>
            </a:gsLst>
            <a:path path="circle">
              <a:fillToRect l="50000" t="50000" r="50000" b="50000"/>
            </a:path>
          </a:gradFill>
          <a:ln/>
        </p:spPr>
      </p:sp>
      <p:sp>
        <p:nvSpPr>
          <p:cNvPr id="40" name="Text 37"/>
          <p:cNvSpPr/>
          <p:nvPr/>
        </p:nvSpPr>
        <p:spPr>
          <a:xfrm>
            <a:off x="3823335" y="3306753"/>
            <a:ext cx="438912" cy="222885"/>
          </a:xfrm>
          <a:prstGeom prst="rect">
            <a:avLst/>
          </a:prstGeom>
          <a:noFill/>
          <a:ln/>
        </p:spPr>
        <p:txBody>
          <a:bodyPr wrap="none" rtlCol="0" anchor="ctr"/>
          <a:lstStyle/>
          <a:p>
            <a:pPr algn="l" indent="0" marL="0">
              <a:lnSpc>
                <a:spcPct val="110000"/>
              </a:lnSpc>
              <a:buNone/>
            </a:pPr>
            <a:r>
              <a:rPr lang="en-US" sz="1440" b="1" dirty="0">
                <a:solidFill>
                  <a:srgbClr val="E8F0FB"/>
                </a:solidFill>
                <a:latin typeface="Inter" pitchFamily="34" charset="0"/>
                <a:ea typeface="Inter" pitchFamily="34" charset="-122"/>
                <a:cs typeface="Inter" pitchFamily="34" charset="-120"/>
              </a:rPr>
              <a:t>2+</a:t>
            </a:r>
            <a:endParaRPr lang="en-US" sz="1440" dirty="0"/>
          </a:p>
        </p:txBody>
      </p:sp>
      <p:sp>
        <p:nvSpPr>
          <p:cNvPr id="41" name="Text 38"/>
          <p:cNvSpPr/>
          <p:nvPr/>
        </p:nvSpPr>
        <p:spPr>
          <a:xfrm>
            <a:off x="3823335" y="3559284"/>
            <a:ext cx="1593799" cy="85725"/>
          </a:xfrm>
          <a:prstGeom prst="rect">
            <a:avLst/>
          </a:prstGeom>
          <a:noFill/>
          <a:ln/>
        </p:spPr>
        <p:txBody>
          <a:bodyPr wrap="none" rtlCol="0" anchor="ctr"/>
          <a:lstStyle/>
          <a:p>
            <a:pPr algn="l" indent="0" marL="0">
              <a:lnSpc>
                <a:spcPct val="150000"/>
              </a:lnSpc>
              <a:buNone/>
            </a:pPr>
            <a:r>
              <a:rPr lang="en-US" sz="540" dirty="0">
                <a:solidFill>
                  <a:srgbClr val="90A4C4"/>
                </a:solidFill>
                <a:latin typeface="Inter" pitchFamily="34" charset="0"/>
                <a:ea typeface="Inter" pitchFamily="34" charset="-122"/>
                <a:cs typeface="Inter" pitchFamily="34" charset="-120"/>
              </a:rPr>
              <a:t>平均精通语言数 · 多数贡献者掌握多种编程语言</a:t>
            </a:r>
            <a:endParaRPr lang="en-US" sz="540" dirty="0"/>
          </a:p>
        </p:txBody>
      </p:sp>
      <p:sp>
        <p:nvSpPr>
          <p:cNvPr id="42" name="Shape 39"/>
          <p:cNvSpPr/>
          <p:nvPr/>
        </p:nvSpPr>
        <p:spPr>
          <a:xfrm>
            <a:off x="6292215" y="3221028"/>
            <a:ext cx="2508885" cy="532567"/>
          </a:xfrm>
          <a:prstGeom prst="roundRect">
            <a:avLst>
              <a:gd name="adj" fmla="val 12877"/>
            </a:avLst>
          </a:prstGeom>
          <a:gradFill rotWithShape="1">
            <a:gsLst>
              <a:gs pos="0">
                <a:srgbClr val="2196F3">
                  <a:alpha val="10000"/>
                </a:srgbClr>
              </a:gs>
              <a:gs pos="100000">
                <a:srgbClr val="00BCD4">
                  <a:alpha val="6000"/>
                </a:srgbClr>
              </a:gs>
            </a:gsLst>
            <a:lin ang="2700000" scaled="0"/>
          </a:gradFill>
          <a:ln w="5715">
            <a:solidFill>
              <a:srgbClr val="00BCD4">
                <a:alpha val="30000"/>
              </a:srgbClr>
            </a:solidFill>
            <a:prstDash val="solid"/>
          </a:ln>
          <a:effectLst>
            <a:outerShdw sx="100000" sy="100000" kx="0" ky="0" algn="bl" rotWithShape="0" blurRad="190500" dist="50800" dir="16200000">
              <a:srgbClr val="00BCD4">
                <a:alpha val="8000"/>
              </a:srgbClr>
            </a:outerShdw>
          </a:effectLst>
        </p:spPr>
      </p:sp>
      <p:sp>
        <p:nvSpPr>
          <p:cNvPr id="43" name="Shape 40"/>
          <p:cNvSpPr/>
          <p:nvPr/>
        </p:nvSpPr>
        <p:spPr>
          <a:xfrm>
            <a:off x="8503920" y="3049578"/>
            <a:ext cx="457200" cy="457200"/>
          </a:xfrm>
          <a:prstGeom prst="ellipse">
            <a:avLst/>
          </a:prstGeom>
          <a:gradFill rotWithShape="1">
            <a:gsLst>
              <a:gs pos="0">
                <a:srgbClr val="00BCD4">
                  <a:alpha val="15000"/>
                </a:srgbClr>
              </a:gs>
              <a:gs pos="70000">
                <a:srgbClr val="000000">
                  <a:alpha val="0"/>
                </a:srgbClr>
              </a:gs>
            </a:gsLst>
            <a:path path="circle">
              <a:fillToRect l="50000" t="50000" r="50000" b="50000"/>
            </a:path>
          </a:gradFill>
          <a:ln/>
        </p:spPr>
      </p:sp>
      <p:sp>
        <p:nvSpPr>
          <p:cNvPr id="44" name="Text 41"/>
          <p:cNvSpPr/>
          <p:nvPr/>
        </p:nvSpPr>
        <p:spPr>
          <a:xfrm>
            <a:off x="6412230" y="3306753"/>
            <a:ext cx="760095" cy="222885"/>
          </a:xfrm>
          <a:prstGeom prst="rect">
            <a:avLst/>
          </a:prstGeom>
          <a:noFill/>
          <a:ln/>
        </p:spPr>
        <p:txBody>
          <a:bodyPr wrap="none" rtlCol="0" anchor="ctr"/>
          <a:lstStyle/>
          <a:p>
            <a:pPr algn="l" indent="0" marL="0">
              <a:lnSpc>
                <a:spcPct val="110000"/>
              </a:lnSpc>
              <a:buNone/>
            </a:pPr>
            <a:r>
              <a:rPr lang="en-US" sz="1440" b="1" dirty="0">
                <a:solidFill>
                  <a:srgbClr val="E8F0FB"/>
                </a:solidFill>
                <a:latin typeface="Inter" pitchFamily="34" charset="0"/>
                <a:ea typeface="Inter" pitchFamily="34" charset="-122"/>
                <a:cs typeface="Inter" pitchFamily="34" charset="-120"/>
              </a:rPr>
              <a:t>↑ 攀升</a:t>
            </a:r>
            <a:endParaRPr lang="en-US" sz="1440" dirty="0"/>
          </a:p>
        </p:txBody>
      </p:sp>
      <p:sp>
        <p:nvSpPr>
          <p:cNvPr id="45" name="Text 42"/>
          <p:cNvSpPr/>
          <p:nvPr/>
        </p:nvSpPr>
        <p:spPr>
          <a:xfrm>
            <a:off x="6412230" y="3559284"/>
            <a:ext cx="1600200" cy="85725"/>
          </a:xfrm>
          <a:prstGeom prst="rect">
            <a:avLst/>
          </a:prstGeom>
          <a:noFill/>
          <a:ln/>
        </p:spPr>
        <p:txBody>
          <a:bodyPr wrap="none" rtlCol="0" anchor="ctr"/>
          <a:lstStyle/>
          <a:p>
            <a:pPr algn="l" indent="0" marL="0">
              <a:lnSpc>
                <a:spcPct val="150000"/>
              </a:lnSpc>
              <a:buNone/>
            </a:pPr>
            <a:r>
              <a:rPr lang="en-US" sz="540" dirty="0">
                <a:solidFill>
                  <a:srgbClr val="90A4C4"/>
                </a:solidFill>
                <a:latin typeface="Inter" pitchFamily="34" charset="0"/>
                <a:ea typeface="Inter" pitchFamily="34" charset="-122"/>
                <a:cs typeface="Inter" pitchFamily="34" charset="-120"/>
              </a:rPr>
              <a:t>CI/CD 使用率持续攀升 · 工程化能力成为新门槛</a:t>
            </a:r>
            <a:endParaRPr lang="en-US" sz="540" dirty="0"/>
          </a:p>
        </p:txBody>
      </p:sp>
      <p:sp>
        <p:nvSpPr>
          <p:cNvPr id="46" name="Shape 43"/>
          <p:cNvSpPr/>
          <p:nvPr/>
        </p:nvSpPr>
        <p:spPr>
          <a:xfrm>
            <a:off x="3314700" y="3910757"/>
            <a:ext cx="457200" cy="5715"/>
          </a:xfrm>
          <a:prstGeom prst="rect">
            <a:avLst/>
          </a:prstGeom>
          <a:gradFill rotWithShape="1">
            <a:gsLst>
              <a:gs pos="0">
                <a:srgbClr val="000000">
                  <a:alpha val="0"/>
                </a:srgbClr>
              </a:gs>
              <a:gs pos="100000">
                <a:srgbClr val="00BCD4"/>
              </a:gs>
            </a:gsLst>
            <a:lin ang="0" scaled="0"/>
          </a:gradFill>
          <a:ln/>
        </p:spPr>
      </p:sp>
      <p:sp>
        <p:nvSpPr>
          <p:cNvPr id="47" name="Shape 44"/>
          <p:cNvSpPr/>
          <p:nvPr/>
        </p:nvSpPr>
        <p:spPr>
          <a:xfrm>
            <a:off x="5372100" y="3910757"/>
            <a:ext cx="457200" cy="5715"/>
          </a:xfrm>
          <a:prstGeom prst="rect">
            <a:avLst/>
          </a:prstGeom>
          <a:gradFill rotWithShape="1">
            <a:gsLst>
              <a:gs pos="0">
                <a:srgbClr val="00BCD4"/>
              </a:gs>
              <a:gs pos="100000">
                <a:srgbClr val="000000">
                  <a:alpha val="0"/>
                </a:srgbClr>
              </a:gs>
            </a:gsLst>
            <a:lin ang="0" scaled="0"/>
          </a:gradFill>
          <a:ln/>
        </p:spPr>
      </p:sp>
      <p:sp>
        <p:nvSpPr>
          <p:cNvPr id="48" name="Text 45"/>
          <p:cNvSpPr/>
          <p:nvPr/>
        </p:nvSpPr>
        <p:spPr>
          <a:xfrm>
            <a:off x="3451860" y="3867894"/>
            <a:ext cx="2509114" cy="91440"/>
          </a:xfrm>
          <a:prstGeom prst="rect">
            <a:avLst/>
          </a:prstGeom>
          <a:noFill/>
          <a:ln/>
        </p:spPr>
        <p:txBody>
          <a:bodyPr wrap="none" rtlCol="0" anchor="ctr"/>
          <a:lstStyle/>
          <a:p>
            <a:pPr algn="ctr" indent="0" marL="0">
              <a:buNone/>
            </a:pPr>
            <a:r>
              <a:rPr lang="en-US" sz="585" spc="45" kern="0" dirty="0">
                <a:solidFill>
                  <a:srgbClr val="00BCD4"/>
                </a:solidFill>
                <a:latin typeface="Inter" pitchFamily="34" charset="0"/>
                <a:ea typeface="Inter" pitchFamily="34" charset="-122"/>
                <a:cs typeface="Inter" pitchFamily="34" charset="-120"/>
              </a:rPr>
              <a:t>从代码工匠到工程全栈，开源贡献者的能力边界正在被重新定义</a:t>
            </a:r>
            <a:endParaRPr lang="en-US" sz="58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6101F"/>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gradFill rotWithShape="1">
            <a:gsLst>
              <a:gs pos="0">
                <a:srgbClr val="06101F"/>
              </a:gs>
              <a:gs pos="40000">
                <a:srgbClr val="0A1A35"/>
              </a:gs>
              <a:gs pos="70000">
                <a:srgbClr val="0D2247"/>
              </a:gs>
              <a:gs pos="100000">
                <a:srgbClr val="081530"/>
              </a:gs>
            </a:gsLst>
            <a:lin ang="2700000" scaled="0"/>
          </a:gradFill>
          <a:ln/>
        </p:spPr>
      </p:sp>
      <p:sp>
        <p:nvSpPr>
          <p:cNvPr id="3" name="Shape 1"/>
          <p:cNvSpPr/>
          <p:nvPr/>
        </p:nvSpPr>
        <p:spPr>
          <a:xfrm>
            <a:off x="0" y="0"/>
            <a:ext cx="9144000" cy="5143500"/>
          </a:xfrm>
          <a:prstGeom prst="rect">
            <a:avLst/>
          </a:prstGeom>
          <a:gradFill rotWithShape="1">
            <a:gsLst>
              <a:gs pos="0">
                <a:srgbClr val="000000">
                  <a:alpha val="5000"/>
                </a:srgbClr>
              </a:gs>
              <a:gs pos="25000">
                <a:srgbClr val="000000">
                  <a:alpha val="0"/>
                </a:srgbClr>
              </a:gs>
              <a:gs pos="50000">
                <a:srgbClr val="000000"/>
              </a:gs>
              <a:gs pos="75000">
                <a:srgbClr val="000000">
                  <a:alpha val="5000"/>
                </a:srgbClr>
              </a:gs>
              <a:gs pos="100000">
                <a:srgbClr val="000000">
                  <a:alpha val="0"/>
                </a:srgbClr>
              </a:gs>
            </a:gsLst>
            <a:lin ang="5400000" scaled="0"/>
          </a:gradFill>
          <a:ln/>
        </p:spPr>
      </p:sp>
      <p:sp>
        <p:nvSpPr>
          <p:cNvPr id="4" name="Shape 2"/>
          <p:cNvSpPr/>
          <p:nvPr/>
        </p:nvSpPr>
        <p:spPr>
          <a:xfrm>
            <a:off x="0" y="902970"/>
            <a:ext cx="9144000" cy="5715"/>
          </a:xfrm>
          <a:prstGeom prst="rect">
            <a:avLst/>
          </a:prstGeom>
          <a:gradFill rotWithShape="1">
            <a:gsLst>
              <a:gs pos="0">
                <a:srgbClr val="000000">
                  <a:alpha val="0"/>
                </a:srgbClr>
              </a:gs>
              <a:gs pos="50000">
                <a:srgbClr val="00BCD4">
                  <a:alpha val="40000"/>
                </a:srgbClr>
              </a:gs>
              <a:gs pos="100000">
                <a:srgbClr val="000000">
                  <a:alpha val="0"/>
                </a:srgbClr>
              </a:gs>
            </a:gsLst>
            <a:lin ang="0" scaled="0"/>
          </a:gradFill>
          <a:ln/>
        </p:spPr>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9144000" cy="5143500"/>
          </a:xfrm>
          <a:prstGeom prst="rect">
            <a:avLst/>
          </a:prstGeom>
        </p:spPr>
      </p:pic>
      <p:sp>
        <p:nvSpPr>
          <p:cNvPr id="6" name="Shape 3"/>
          <p:cNvSpPr/>
          <p:nvPr/>
        </p:nvSpPr>
        <p:spPr>
          <a:xfrm>
            <a:off x="3429000" y="1143000"/>
            <a:ext cx="2286000" cy="5715"/>
          </a:xfrm>
          <a:prstGeom prst="rect">
            <a:avLst/>
          </a:prstGeom>
          <a:gradFill rotWithShape="1">
            <a:gsLst>
              <a:gs pos="0">
                <a:srgbClr val="000000">
                  <a:alpha val="0"/>
                </a:srgbClr>
              </a:gs>
              <a:gs pos="50000">
                <a:srgbClr val="2196F3"/>
              </a:gs>
              <a:gs pos="100000">
                <a:srgbClr val="000000">
                  <a:alpha val="0"/>
                </a:srgbClr>
              </a:gs>
            </a:gsLst>
            <a:lin ang="0" scaled="0"/>
          </a:gradFill>
          <a:ln/>
        </p:spPr>
      </p:sp>
      <p:sp>
        <p:nvSpPr>
          <p:cNvPr id="7" name="Shape 4"/>
          <p:cNvSpPr/>
          <p:nvPr/>
        </p:nvSpPr>
        <p:spPr>
          <a:xfrm>
            <a:off x="2857500" y="4280535"/>
            <a:ext cx="1714500" cy="5715"/>
          </a:xfrm>
          <a:prstGeom prst="rect">
            <a:avLst/>
          </a:prstGeom>
          <a:gradFill rotWithShape="1">
            <a:gsLst>
              <a:gs pos="0">
                <a:srgbClr val="000000">
                  <a:alpha val="0"/>
                </a:srgbClr>
              </a:gs>
              <a:gs pos="50000">
                <a:srgbClr val="2196F3"/>
              </a:gs>
              <a:gs pos="100000">
                <a:srgbClr val="000000">
                  <a:alpha val="0"/>
                </a:srgbClr>
              </a:gs>
            </a:gsLst>
            <a:lin ang="0" scaled="0"/>
          </a:gradFill>
          <a:ln/>
        </p:spPr>
      </p:sp>
      <p:sp>
        <p:nvSpPr>
          <p:cNvPr id="8" name="Shape 5"/>
          <p:cNvSpPr/>
          <p:nvPr/>
        </p:nvSpPr>
        <p:spPr>
          <a:xfrm>
            <a:off x="4572000" y="571500"/>
            <a:ext cx="1143000" cy="5715"/>
          </a:xfrm>
          <a:prstGeom prst="rect">
            <a:avLst/>
          </a:prstGeom>
          <a:gradFill rotWithShape="1">
            <a:gsLst>
              <a:gs pos="0">
                <a:srgbClr val="000000">
                  <a:alpha val="0"/>
                </a:srgbClr>
              </a:gs>
              <a:gs pos="50000">
                <a:srgbClr val="2196F3"/>
              </a:gs>
              <a:gs pos="100000">
                <a:srgbClr val="000000">
                  <a:alpha val="0"/>
                </a:srgbClr>
              </a:gs>
            </a:gsLst>
            <a:lin ang="0" scaled="0"/>
          </a:gradFill>
          <a:ln/>
        </p:spPr>
      </p:sp>
      <p:sp>
        <p:nvSpPr>
          <p:cNvPr id="9" name="Shape 6"/>
          <p:cNvSpPr/>
          <p:nvPr/>
        </p:nvSpPr>
        <p:spPr>
          <a:xfrm>
            <a:off x="3314700" y="571500"/>
            <a:ext cx="5715" cy="1714500"/>
          </a:xfrm>
          <a:prstGeom prst="rect">
            <a:avLst/>
          </a:prstGeom>
          <a:gradFill rotWithShape="1">
            <a:gsLst>
              <a:gs pos="0">
                <a:srgbClr val="000000">
                  <a:alpha val="0"/>
                </a:srgbClr>
              </a:gs>
              <a:gs pos="50000">
                <a:srgbClr val="00BCD4"/>
              </a:gs>
              <a:gs pos="100000">
                <a:srgbClr val="000000">
                  <a:alpha val="0"/>
                </a:srgbClr>
              </a:gs>
            </a:gsLst>
            <a:lin ang="5400000" scaled="0"/>
          </a:gradFill>
          <a:ln/>
        </p:spPr>
      </p:sp>
      <p:sp>
        <p:nvSpPr>
          <p:cNvPr id="10" name="Shape 7"/>
          <p:cNvSpPr/>
          <p:nvPr/>
        </p:nvSpPr>
        <p:spPr>
          <a:xfrm>
            <a:off x="6000750" y="1714500"/>
            <a:ext cx="5715" cy="1428750"/>
          </a:xfrm>
          <a:prstGeom prst="rect">
            <a:avLst/>
          </a:prstGeom>
          <a:gradFill rotWithShape="1">
            <a:gsLst>
              <a:gs pos="0">
                <a:srgbClr val="000000">
                  <a:alpha val="0"/>
                </a:srgbClr>
              </a:gs>
              <a:gs pos="50000">
                <a:srgbClr val="00BCD4"/>
              </a:gs>
              <a:gs pos="100000">
                <a:srgbClr val="000000">
                  <a:alpha val="0"/>
                </a:srgbClr>
              </a:gs>
            </a:gsLst>
            <a:lin ang="5400000" scaled="0"/>
          </a:gradFill>
          <a:ln/>
        </p:spPr>
      </p:sp>
      <p:sp>
        <p:nvSpPr>
          <p:cNvPr id="11" name="Shape 8"/>
          <p:cNvSpPr/>
          <p:nvPr/>
        </p:nvSpPr>
        <p:spPr>
          <a:xfrm>
            <a:off x="2000250" y="1314450"/>
            <a:ext cx="171450" cy="171450"/>
          </a:xfrm>
          <a:prstGeom prst="ellipse">
            <a:avLst/>
          </a:prstGeom>
          <a:noFill/>
          <a:ln w="5715">
            <a:solidFill>
              <a:srgbClr val="00BCD4"/>
            </a:solidFill>
            <a:prstDash val="solid"/>
          </a:ln>
        </p:spPr>
      </p:sp>
      <p:sp>
        <p:nvSpPr>
          <p:cNvPr id="12" name="Shape 9"/>
          <p:cNvSpPr/>
          <p:nvPr/>
        </p:nvSpPr>
        <p:spPr>
          <a:xfrm>
            <a:off x="5027992" y="1027492"/>
            <a:ext cx="48135" cy="48135"/>
          </a:xfrm>
          <a:prstGeom prst="ellipse">
            <a:avLst/>
          </a:prstGeom>
          <a:solidFill>
            <a:srgbClr val="00BCD4">
              <a:alpha val="75000"/>
            </a:srgbClr>
          </a:solidFill>
          <a:ln/>
        </p:spPr>
      </p:sp>
      <p:sp>
        <p:nvSpPr>
          <p:cNvPr id="13" name="Shape 10"/>
          <p:cNvSpPr/>
          <p:nvPr/>
        </p:nvSpPr>
        <p:spPr>
          <a:xfrm>
            <a:off x="4686300" y="4000500"/>
            <a:ext cx="34290" cy="34290"/>
          </a:xfrm>
          <a:prstGeom prst="ellipse">
            <a:avLst/>
          </a:prstGeom>
          <a:solidFill>
            <a:srgbClr val="00BCD4"/>
          </a:solidFill>
          <a:ln/>
        </p:spPr>
      </p:sp>
      <p:sp>
        <p:nvSpPr>
          <p:cNvPr id="14" name="Shape 11"/>
          <p:cNvSpPr/>
          <p:nvPr/>
        </p:nvSpPr>
        <p:spPr>
          <a:xfrm>
            <a:off x="8343900" y="2171700"/>
            <a:ext cx="40005" cy="40005"/>
          </a:xfrm>
          <a:prstGeom prst="ellipse">
            <a:avLst/>
          </a:prstGeom>
          <a:solidFill>
            <a:srgbClr val="00BCD4"/>
          </a:solidFill>
          <a:ln/>
        </p:spPr>
      </p:sp>
      <p:sp>
        <p:nvSpPr>
          <p:cNvPr id="15" name="Shape 12"/>
          <p:cNvSpPr/>
          <p:nvPr/>
        </p:nvSpPr>
        <p:spPr>
          <a:xfrm>
            <a:off x="3829050" y="3086100"/>
            <a:ext cx="28575" cy="28575"/>
          </a:xfrm>
          <a:prstGeom prst="ellipse">
            <a:avLst/>
          </a:prstGeom>
          <a:solidFill>
            <a:srgbClr val="00BCD4"/>
          </a:solidFill>
          <a:ln/>
        </p:spPr>
      </p:sp>
      <p:sp>
        <p:nvSpPr>
          <p:cNvPr id="16" name="Shape 13"/>
          <p:cNvSpPr/>
          <p:nvPr/>
        </p:nvSpPr>
        <p:spPr>
          <a:xfrm>
            <a:off x="514350" y="971550"/>
            <a:ext cx="3200400" cy="3200400"/>
          </a:xfrm>
          <a:prstGeom prst="ellipse">
            <a:avLst/>
          </a:prstGeom>
          <a:noFill/>
          <a:ln w="5715">
            <a:solidFill>
              <a:srgbClr val="2196F3">
                <a:alpha val="10000"/>
              </a:srgbClr>
            </a:solidFill>
            <a:prstDash val="solid"/>
          </a:ln>
        </p:spPr>
      </p:sp>
      <p:sp>
        <p:nvSpPr>
          <p:cNvPr id="17" name="Shape 14"/>
          <p:cNvSpPr/>
          <p:nvPr/>
        </p:nvSpPr>
        <p:spPr>
          <a:xfrm>
            <a:off x="742950" y="1200150"/>
            <a:ext cx="2743200" cy="2743200"/>
          </a:xfrm>
          <a:prstGeom prst="ellipse">
            <a:avLst/>
          </a:prstGeom>
          <a:noFill/>
          <a:ln w="5715">
            <a:solidFill>
              <a:srgbClr val="00BCD4">
                <a:alpha val="18000"/>
              </a:srgbClr>
            </a:solidFill>
            <a:prstDash val="dash"/>
          </a:ln>
        </p:spPr>
      </p:sp>
      <p:sp>
        <p:nvSpPr>
          <p:cNvPr id="18" name="Shape 15"/>
          <p:cNvSpPr/>
          <p:nvPr/>
        </p:nvSpPr>
        <p:spPr>
          <a:xfrm>
            <a:off x="914400" y="1371600"/>
            <a:ext cx="2400300" cy="2400300"/>
          </a:xfrm>
          <a:prstGeom prst="ellipse">
            <a:avLst/>
          </a:prstGeom>
          <a:noFill/>
          <a:ln w="5715">
            <a:solidFill>
              <a:srgbClr val="2196F3">
                <a:alpha val="25000"/>
              </a:srgbClr>
            </a:solidFill>
            <a:prstDash val="solid"/>
          </a:ln>
        </p:spPr>
      </p:sp>
      <p:sp>
        <p:nvSpPr>
          <p:cNvPr id="19" name="Text 16"/>
          <p:cNvSpPr/>
          <p:nvPr/>
        </p:nvSpPr>
        <p:spPr>
          <a:xfrm>
            <a:off x="725805" y="1257300"/>
            <a:ext cx="5212080" cy="2628900"/>
          </a:xfrm>
          <a:prstGeom prst="rect">
            <a:avLst/>
          </a:prstGeom>
          <a:noFill/>
          <a:ln/>
        </p:spPr>
        <p:txBody>
          <a:bodyPr wrap="none" rtlCol="0" anchor="ctr"/>
          <a:lstStyle/>
          <a:p>
            <a:pPr algn="l" indent="0" marL="0">
              <a:lnSpc>
                <a:spcPct val="100000"/>
              </a:lnSpc>
              <a:buNone/>
            </a:pPr>
            <a:r>
              <a:rPr lang="en-US" sz="17100" b="1" spc="-675" kern="0" dirty="0">
                <a:solidFill>
                  <a:srgbClr val="2196F3">
                    <a:alpha val="8000"/>
                  </a:srgbClr>
                </a:solidFill>
                <a:latin typeface="Inter" pitchFamily="34" charset="0"/>
                <a:ea typeface="Inter" pitchFamily="34" charset="-122"/>
                <a:cs typeface="Inter" pitchFamily="34" charset="-120"/>
              </a:rPr>
              <a:t>02</a:t>
            </a:r>
            <a:endParaRPr lang="en-US" sz="17100" dirty="0"/>
          </a:p>
        </p:txBody>
      </p:sp>
      <p:sp>
        <p:nvSpPr>
          <p:cNvPr id="20" name="Text 17"/>
          <p:cNvSpPr/>
          <p:nvPr/>
        </p:nvSpPr>
        <p:spPr>
          <a:xfrm>
            <a:off x="760095" y="1291590"/>
            <a:ext cx="5212080" cy="2628900"/>
          </a:xfrm>
          <a:prstGeom prst="rect">
            <a:avLst/>
          </a:prstGeom>
          <a:noFill/>
          <a:ln/>
        </p:spPr>
        <p:txBody>
          <a:bodyPr wrap="none" rtlCol="0" anchor="ctr"/>
          <a:lstStyle/>
          <a:p>
            <a:pPr algn="l" indent="0" marL="0">
              <a:lnSpc>
                <a:spcPct val="100000"/>
              </a:lnSpc>
              <a:buNone/>
            </a:pPr>
            <a:r>
              <a:rPr lang="en-US" sz="17100" b="1" spc="-675" kern="0" dirty="0">
                <a:solidFill>
                  <a:srgbClr val="000000">
                    <a:alpha val="0"/>
                  </a:srgbClr>
                </a:solidFill>
                <a:latin typeface="Inter" pitchFamily="34" charset="0"/>
                <a:ea typeface="Inter" pitchFamily="34" charset="-122"/>
                <a:cs typeface="Inter" pitchFamily="34" charset="-120"/>
              </a:rPr>
              <a:t>02</a:t>
            </a:r>
            <a:endParaRPr lang="en-US" sz="17100" dirty="0"/>
          </a:p>
        </p:txBody>
      </p:sp>
      <p:sp>
        <p:nvSpPr>
          <p:cNvPr id="21" name="Text 18"/>
          <p:cNvSpPr/>
          <p:nvPr/>
        </p:nvSpPr>
        <p:spPr>
          <a:xfrm>
            <a:off x="725805" y="1257300"/>
            <a:ext cx="5212080" cy="2628900"/>
          </a:xfrm>
          <a:prstGeom prst="rect">
            <a:avLst/>
          </a:prstGeom>
          <a:noFill/>
          <a:ln/>
        </p:spPr>
        <p:txBody>
          <a:bodyPr wrap="none" rtlCol="0" anchor="ctr"/>
          <a:lstStyle/>
          <a:p>
            <a:pPr algn="l" indent="0" marL="0">
              <a:lnSpc>
                <a:spcPct val="100000"/>
              </a:lnSpc>
              <a:buNone/>
            </a:pPr>
            <a:r>
              <a:rPr lang="en-US" sz="17100" b="1" spc="-675" kern="0" dirty="0">
                <a:solidFill>
                  <a:srgbClr val="000000">
                    <a:alpha val="0"/>
                  </a:srgbClr>
                </a:solidFill>
                <a:latin typeface="Inter" pitchFamily="34" charset="0"/>
                <a:ea typeface="Inter" pitchFamily="34" charset="-122"/>
                <a:cs typeface="Inter" pitchFamily="34" charset="-120"/>
              </a:rPr>
              <a:t>02</a:t>
            </a:r>
            <a:endParaRPr lang="en-US" sz="17100" dirty="0"/>
          </a:p>
        </p:txBody>
      </p:sp>
      <p:sp>
        <p:nvSpPr>
          <p:cNvPr id="22" name="Shape 19"/>
          <p:cNvSpPr/>
          <p:nvPr/>
        </p:nvSpPr>
        <p:spPr>
          <a:xfrm>
            <a:off x="4229100" y="824746"/>
            <a:ext cx="342900" cy="17145"/>
          </a:xfrm>
          <a:prstGeom prst="roundRect">
            <a:avLst>
              <a:gd name="adj" fmla="val 66667"/>
            </a:avLst>
          </a:prstGeom>
          <a:gradFill rotWithShape="1">
            <a:gsLst>
              <a:gs pos="0">
                <a:srgbClr val="2196F3"/>
              </a:gs>
              <a:gs pos="100000">
                <a:srgbClr val="00BCD4"/>
              </a:gs>
            </a:gsLst>
            <a:lin ang="0" scaled="0"/>
          </a:gradFill>
          <a:ln/>
        </p:spPr>
      </p:sp>
      <p:sp>
        <p:nvSpPr>
          <p:cNvPr id="23" name="Text 20"/>
          <p:cNvSpPr/>
          <p:nvPr/>
        </p:nvSpPr>
        <p:spPr>
          <a:xfrm>
            <a:off x="4229100" y="1019056"/>
            <a:ext cx="3520440" cy="388620"/>
          </a:xfrm>
          <a:prstGeom prst="rect">
            <a:avLst/>
          </a:prstGeom>
          <a:noFill/>
          <a:ln/>
        </p:spPr>
        <p:txBody>
          <a:bodyPr wrap="square" rtlCol="0" anchor="ctr"/>
          <a:lstStyle/>
          <a:p>
            <a:pPr algn="l" indent="0" marL="0">
              <a:lnSpc>
                <a:spcPct val="120000"/>
              </a:lnSpc>
              <a:buNone/>
            </a:pPr>
            <a:r>
              <a:rPr lang="en-US" sz="2520" b="1" spc="-45" kern="0" dirty="0">
                <a:solidFill>
                  <a:srgbClr val="FFFFFF"/>
                </a:solidFill>
                <a:latin typeface="Inter" pitchFamily="34" charset="0"/>
                <a:ea typeface="Inter" pitchFamily="34" charset="-122"/>
                <a:cs typeface="Inter" pitchFamily="34" charset="-120"/>
              </a:rPr>
              <a:t>第二部分</a:t>
            </a:r>
            <a:pPr algn="l" indent="0" marL="0">
              <a:lnSpc>
                <a:spcPct val="120000"/>
              </a:lnSpc>
              <a:buNone/>
            </a:pPr>
            <a:r>
              <a:rPr lang="en-US" sz="2520" b="1" spc="-45" kern="0" dirty="0">
                <a:solidFill>
                  <a:srgbClr val="00BCD4"/>
                </a:solidFill>
                <a:latin typeface="Inter" pitchFamily="34" charset="0"/>
                <a:ea typeface="Inter" pitchFamily="34" charset="-122"/>
                <a:cs typeface="Inter" pitchFamily="34" charset="-120"/>
              </a:rPr>
              <a:t>：</a:t>
            </a:r>
            <a:pPr algn="l" indent="0" marL="0">
              <a:lnSpc>
                <a:spcPct val="120000"/>
              </a:lnSpc>
              <a:buNone/>
            </a:pPr>
            <a:r>
              <a:rPr lang="en-US" sz="2520" b="1" spc="-45" kern="0" dirty="0">
                <a:solidFill>
                  <a:srgbClr val="FFFFFF"/>
                </a:solidFill>
                <a:latin typeface="Inter" pitchFamily="34" charset="0"/>
                <a:ea typeface="Inter" pitchFamily="34" charset="-122"/>
                <a:cs typeface="Inter" pitchFamily="34" charset="-120"/>
              </a:rPr>
              <a:t>文化与启示</a:t>
            </a:r>
            <a:endParaRPr lang="en-US" sz="2520" dirty="0"/>
          </a:p>
        </p:txBody>
      </p:sp>
      <p:sp>
        <p:nvSpPr>
          <p:cNvPr id="24" name="Text 21"/>
          <p:cNvSpPr/>
          <p:nvPr/>
        </p:nvSpPr>
        <p:spPr>
          <a:xfrm>
            <a:off x="4229100" y="1534478"/>
            <a:ext cx="2816352" cy="137160"/>
          </a:xfrm>
          <a:prstGeom prst="rect">
            <a:avLst/>
          </a:prstGeom>
          <a:noFill/>
          <a:ln/>
        </p:spPr>
        <p:txBody>
          <a:bodyPr wrap="none" rtlCol="0" anchor="ctr"/>
          <a:lstStyle/>
          <a:p>
            <a:pPr algn="l" indent="0" marL="0">
              <a:lnSpc>
                <a:spcPct val="160000"/>
              </a:lnSpc>
              <a:buNone/>
            </a:pPr>
            <a:r>
              <a:rPr lang="en-US" sz="900" dirty="0">
                <a:solidFill>
                  <a:srgbClr val="B0BEC5"/>
                </a:solidFill>
                <a:latin typeface="Inter" pitchFamily="34" charset="0"/>
                <a:ea typeface="Inter" pitchFamily="34" charset="-122"/>
                <a:cs typeface="Inter" pitchFamily="34" charset="-120"/>
              </a:rPr>
              <a:t>从画像到行动——开源文化内核与对布道者的启示</a:t>
            </a:r>
            <a:endParaRPr lang="en-US" sz="900" dirty="0"/>
          </a:p>
        </p:txBody>
      </p:sp>
      <p:sp>
        <p:nvSpPr>
          <p:cNvPr id="25" name="Shape 22"/>
          <p:cNvSpPr/>
          <p:nvPr/>
        </p:nvSpPr>
        <p:spPr>
          <a:xfrm>
            <a:off x="4229100" y="1717358"/>
            <a:ext cx="4000500" cy="252532"/>
          </a:xfrm>
          <a:prstGeom prst="rect">
            <a:avLst/>
          </a:prstGeom>
          <a:noFill/>
          <a:ln/>
        </p:spPr>
      </p:sp>
      <p:sp>
        <p:nvSpPr>
          <p:cNvPr id="26" name="Shape 23"/>
          <p:cNvSpPr/>
          <p:nvPr/>
        </p:nvSpPr>
        <p:spPr>
          <a:xfrm>
            <a:off x="4229100" y="1717358"/>
            <a:ext cx="0" cy="252532"/>
          </a:xfrm>
          <a:prstGeom prst="line">
            <a:avLst/>
          </a:prstGeom>
          <a:noFill/>
          <a:ln w="11430">
            <a:solidFill>
              <a:srgbClr val="00BCD4">
                <a:alpha val="40000"/>
              </a:srgbClr>
            </a:solidFill>
            <a:prstDash val="solid"/>
          </a:ln>
        </p:spPr>
      </p:sp>
      <p:sp>
        <p:nvSpPr>
          <p:cNvPr id="27" name="Text 24"/>
          <p:cNvSpPr/>
          <p:nvPr/>
        </p:nvSpPr>
        <p:spPr>
          <a:xfrm>
            <a:off x="4331970" y="1734503"/>
            <a:ext cx="4326941" cy="217706"/>
          </a:xfrm>
          <a:prstGeom prst="rect">
            <a:avLst/>
          </a:prstGeom>
          <a:noFill/>
          <a:ln/>
        </p:spPr>
        <p:txBody>
          <a:bodyPr wrap="square" rtlCol="0" anchor="ctr"/>
          <a:lstStyle/>
          <a:p>
            <a:pPr algn="l" indent="0" marL="0">
              <a:lnSpc>
                <a:spcPct val="170000"/>
              </a:lnSpc>
              <a:buNone/>
            </a:pPr>
            <a:r>
              <a:rPr lang="en-US" sz="585" dirty="0">
                <a:solidFill>
                  <a:srgbClr val="B0BEC5"/>
                </a:solidFill>
                <a:latin typeface="Inter" pitchFamily="34" charset="0"/>
                <a:ea typeface="Inter" pitchFamily="34" charset="-122"/>
                <a:cs typeface="Inter" pitchFamily="34" charset="-120"/>
              </a:rPr>
              <a:t>第二部分将从画像数据过渡到文化解读与实践启示，帮助读者理解开源社区运行背后的协作逻辑，并思考如何将这些认知应用到开源布道与推广工作中。</a:t>
            </a:r>
            <a:endParaRPr lang="en-US" sz="585" dirty="0"/>
          </a:p>
        </p:txBody>
      </p:sp>
      <p:sp>
        <p:nvSpPr>
          <p:cNvPr id="28" name="Shape 25"/>
          <p:cNvSpPr/>
          <p:nvPr/>
        </p:nvSpPr>
        <p:spPr>
          <a:xfrm>
            <a:off x="4229100" y="2221349"/>
            <a:ext cx="4457700" cy="442913"/>
          </a:xfrm>
          <a:prstGeom prst="roundRect">
            <a:avLst>
              <a:gd name="adj" fmla="val 12903"/>
            </a:avLst>
          </a:prstGeom>
          <a:solidFill>
            <a:srgbClr val="122545">
              <a:alpha val="55000"/>
            </a:srgbClr>
          </a:solidFill>
          <a:ln w="5715">
            <a:solidFill>
              <a:srgbClr val="2196F3">
                <a:alpha val="18000"/>
              </a:srgbClr>
            </a:solidFill>
            <a:prstDash val="solid"/>
          </a:ln>
        </p:spPr>
      </p:sp>
      <p:sp>
        <p:nvSpPr>
          <p:cNvPr id="29" name="Shape 26"/>
          <p:cNvSpPr/>
          <p:nvPr/>
        </p:nvSpPr>
        <p:spPr>
          <a:xfrm>
            <a:off x="4229100" y="2221349"/>
            <a:ext cx="17145" cy="431483"/>
          </a:xfrm>
          <a:prstGeom prst="rect">
            <a:avLst/>
          </a:prstGeom>
          <a:gradFill rotWithShape="1">
            <a:gsLst>
              <a:gs pos="0">
                <a:srgbClr val="2196F3"/>
              </a:gs>
              <a:gs pos="100000">
                <a:srgbClr val="00BCD4"/>
              </a:gs>
            </a:gsLst>
            <a:lin ang="5400000" scaled="0"/>
          </a:gradFill>
          <a:ln/>
        </p:spPr>
      </p:sp>
      <p:sp>
        <p:nvSpPr>
          <p:cNvPr id="30" name="Shape 27"/>
          <p:cNvSpPr/>
          <p:nvPr/>
        </p:nvSpPr>
        <p:spPr>
          <a:xfrm>
            <a:off x="4360545" y="2328505"/>
            <a:ext cx="228600" cy="228600"/>
          </a:xfrm>
          <a:prstGeom prst="roundRect">
            <a:avLst>
              <a:gd name="adj" fmla="val 20000"/>
            </a:avLst>
          </a:prstGeom>
          <a:gradFill rotWithShape="1">
            <a:gsLst>
              <a:gs pos="0">
                <a:srgbClr val="2196F3">
                  <a:alpha val="25000"/>
                </a:srgbClr>
              </a:gs>
              <a:gs pos="100000">
                <a:srgbClr val="00BCD4">
                  <a:alpha val="15000"/>
                </a:srgbClr>
              </a:gs>
            </a:gsLst>
            <a:lin ang="2700000" scaled="0"/>
          </a:gradFill>
          <a:ln w="5715">
            <a:solidFill>
              <a:srgbClr val="2196F3">
                <a:alpha val="40000"/>
              </a:srgbClr>
            </a:solidFill>
            <a:prstDash val="solid"/>
          </a:ln>
        </p:spPr>
      </p:sp>
      <p:sp>
        <p:nvSpPr>
          <p:cNvPr id="31" name="Shape 28"/>
          <p:cNvSpPr/>
          <p:nvPr/>
        </p:nvSpPr>
        <p:spPr>
          <a:xfrm>
            <a:off x="4451985" y="2419945"/>
            <a:ext cx="45720" cy="45720"/>
          </a:xfrm>
          <a:prstGeom prst="ellipse">
            <a:avLst/>
          </a:prstGeom>
          <a:solidFill>
            <a:srgbClr val="2196F3"/>
          </a:solidFill>
          <a:ln/>
          <a:effectLst>
            <a:outerShdw sx="100000" sy="100000" kx="0" ky="0" algn="bl" rotWithShape="0" blurRad="57150" dist="50800" dir="16200000">
              <a:srgbClr val="2196F3">
                <a:alpha val="100000"/>
              </a:srgbClr>
            </a:outerShdw>
          </a:effectLst>
        </p:spPr>
      </p:sp>
      <p:sp>
        <p:nvSpPr>
          <p:cNvPr id="32" name="Shape 29"/>
          <p:cNvSpPr/>
          <p:nvPr/>
        </p:nvSpPr>
        <p:spPr>
          <a:xfrm>
            <a:off x="4537710" y="2357080"/>
            <a:ext cx="22860" cy="22860"/>
          </a:xfrm>
          <a:prstGeom prst="ellipse">
            <a:avLst/>
          </a:prstGeom>
          <a:solidFill>
            <a:srgbClr val="00BCD4"/>
          </a:solidFill>
          <a:ln/>
          <a:effectLst>
            <a:outerShdw sx="100000" sy="100000" kx="0" ky="0" algn="bl" rotWithShape="0" blurRad="38100" dist="50800" dir="16200000">
              <a:srgbClr val="00BCD4">
                <a:alpha val="100000"/>
              </a:srgbClr>
            </a:outerShdw>
          </a:effectLst>
        </p:spPr>
      </p:sp>
      <p:sp>
        <p:nvSpPr>
          <p:cNvPr id="33" name="Text 30"/>
          <p:cNvSpPr/>
          <p:nvPr/>
        </p:nvSpPr>
        <p:spPr>
          <a:xfrm>
            <a:off x="4692015" y="2329934"/>
            <a:ext cx="497205" cy="114300"/>
          </a:xfrm>
          <a:prstGeom prst="rect">
            <a:avLst/>
          </a:prstGeom>
          <a:noFill/>
          <a:ln/>
        </p:spPr>
        <p:txBody>
          <a:bodyPr wrap="none" rtlCol="0" anchor="ctr"/>
          <a:lstStyle/>
          <a:p>
            <a:pPr algn="l" indent="0" marL="0">
              <a:buNone/>
            </a:pPr>
            <a:r>
              <a:rPr lang="en-US" sz="765" b="1" spc="23" kern="0" dirty="0">
                <a:solidFill>
                  <a:srgbClr val="FFFFFF"/>
                </a:solidFill>
                <a:latin typeface="Inter" pitchFamily="34" charset="0"/>
                <a:ea typeface="Inter" pitchFamily="34" charset="-122"/>
                <a:cs typeface="Inter" pitchFamily="34" charset="-120"/>
              </a:rPr>
              <a:t>协作文化</a:t>
            </a:r>
            <a:endParaRPr lang="en-US" sz="765" dirty="0"/>
          </a:p>
        </p:txBody>
      </p:sp>
      <p:sp>
        <p:nvSpPr>
          <p:cNvPr id="34" name="Text 31"/>
          <p:cNvSpPr/>
          <p:nvPr/>
        </p:nvSpPr>
        <p:spPr>
          <a:xfrm>
            <a:off x="4692015" y="2472809"/>
            <a:ext cx="1747418" cy="91440"/>
          </a:xfrm>
          <a:prstGeom prst="rect">
            <a:avLst/>
          </a:prstGeom>
          <a:noFill/>
          <a:ln/>
        </p:spPr>
        <p:txBody>
          <a:bodyPr wrap="none" rtlCol="0" anchor="ctr"/>
          <a:lstStyle/>
          <a:p>
            <a:pPr algn="l" indent="0" marL="0">
              <a:lnSpc>
                <a:spcPct val="150000"/>
              </a:lnSpc>
              <a:buNone/>
            </a:pPr>
            <a:r>
              <a:rPr lang="en-US" sz="585" dirty="0">
                <a:solidFill>
                  <a:srgbClr val="B0BEC5"/>
                </a:solidFill>
                <a:latin typeface="Inter" pitchFamily="34" charset="0"/>
                <a:ea typeface="Inter" pitchFamily="34" charset="-122"/>
                <a:cs typeface="Inter" pitchFamily="34" charset="-120"/>
              </a:rPr>
              <a:t>探讨开源社区独特的沟通、决策与冲突解决方式</a:t>
            </a:r>
            <a:endParaRPr lang="en-US" sz="585" dirty="0"/>
          </a:p>
        </p:txBody>
      </p:sp>
      <p:sp>
        <p:nvSpPr>
          <p:cNvPr id="35" name="Shape 32"/>
          <p:cNvSpPr/>
          <p:nvPr/>
        </p:nvSpPr>
        <p:spPr>
          <a:xfrm>
            <a:off x="4229100" y="2744272"/>
            <a:ext cx="4457700" cy="442913"/>
          </a:xfrm>
          <a:prstGeom prst="roundRect">
            <a:avLst>
              <a:gd name="adj" fmla="val 12903"/>
            </a:avLst>
          </a:prstGeom>
          <a:solidFill>
            <a:srgbClr val="122545">
              <a:alpha val="55000"/>
            </a:srgbClr>
          </a:solidFill>
          <a:ln w="5715">
            <a:solidFill>
              <a:srgbClr val="2196F3">
                <a:alpha val="18000"/>
              </a:srgbClr>
            </a:solidFill>
            <a:prstDash val="solid"/>
          </a:ln>
        </p:spPr>
      </p:sp>
      <p:sp>
        <p:nvSpPr>
          <p:cNvPr id="36" name="Shape 33"/>
          <p:cNvSpPr/>
          <p:nvPr/>
        </p:nvSpPr>
        <p:spPr>
          <a:xfrm>
            <a:off x="4229100" y="2744272"/>
            <a:ext cx="17145" cy="431483"/>
          </a:xfrm>
          <a:prstGeom prst="rect">
            <a:avLst/>
          </a:prstGeom>
          <a:gradFill rotWithShape="1">
            <a:gsLst>
              <a:gs pos="0">
                <a:srgbClr val="2196F3"/>
              </a:gs>
              <a:gs pos="100000">
                <a:srgbClr val="00BCD4"/>
              </a:gs>
            </a:gsLst>
            <a:lin ang="5400000" scaled="0"/>
          </a:gradFill>
          <a:ln/>
        </p:spPr>
      </p:sp>
      <p:sp>
        <p:nvSpPr>
          <p:cNvPr id="37" name="Shape 34"/>
          <p:cNvSpPr/>
          <p:nvPr/>
        </p:nvSpPr>
        <p:spPr>
          <a:xfrm>
            <a:off x="4360545" y="2851428"/>
            <a:ext cx="228600" cy="228600"/>
          </a:xfrm>
          <a:prstGeom prst="roundRect">
            <a:avLst>
              <a:gd name="adj" fmla="val 20000"/>
            </a:avLst>
          </a:prstGeom>
          <a:gradFill rotWithShape="1">
            <a:gsLst>
              <a:gs pos="0">
                <a:srgbClr val="2196F3">
                  <a:alpha val="25000"/>
                </a:srgbClr>
              </a:gs>
              <a:gs pos="100000">
                <a:srgbClr val="00BCD4">
                  <a:alpha val="15000"/>
                </a:srgbClr>
              </a:gs>
            </a:gsLst>
            <a:lin ang="2700000" scaled="0"/>
          </a:gradFill>
          <a:ln w="5715">
            <a:solidFill>
              <a:srgbClr val="2196F3">
                <a:alpha val="40000"/>
              </a:srgbClr>
            </a:solidFill>
            <a:prstDash val="solid"/>
          </a:ln>
        </p:spPr>
      </p:sp>
      <p:sp>
        <p:nvSpPr>
          <p:cNvPr id="38" name="Shape 35"/>
          <p:cNvSpPr/>
          <p:nvPr/>
        </p:nvSpPr>
        <p:spPr>
          <a:xfrm>
            <a:off x="4451985" y="2942868"/>
            <a:ext cx="45720" cy="45720"/>
          </a:xfrm>
          <a:prstGeom prst="ellipse">
            <a:avLst/>
          </a:prstGeom>
          <a:solidFill>
            <a:srgbClr val="2196F3"/>
          </a:solidFill>
          <a:ln/>
          <a:effectLst>
            <a:outerShdw sx="100000" sy="100000" kx="0" ky="0" algn="bl" rotWithShape="0" blurRad="57150" dist="50800" dir="16200000">
              <a:srgbClr val="2196F3">
                <a:alpha val="100000"/>
              </a:srgbClr>
            </a:outerShdw>
          </a:effectLst>
        </p:spPr>
      </p:sp>
      <p:sp>
        <p:nvSpPr>
          <p:cNvPr id="39" name="Shape 36"/>
          <p:cNvSpPr/>
          <p:nvPr/>
        </p:nvSpPr>
        <p:spPr>
          <a:xfrm>
            <a:off x="4537710" y="2880003"/>
            <a:ext cx="22860" cy="22860"/>
          </a:xfrm>
          <a:prstGeom prst="ellipse">
            <a:avLst/>
          </a:prstGeom>
          <a:solidFill>
            <a:srgbClr val="00BCD4"/>
          </a:solidFill>
          <a:ln/>
          <a:effectLst>
            <a:outerShdw sx="100000" sy="100000" kx="0" ky="0" algn="bl" rotWithShape="0" blurRad="38100" dist="50800" dir="16200000">
              <a:srgbClr val="00BCD4">
                <a:alpha val="100000"/>
              </a:srgbClr>
            </a:outerShdw>
          </a:effectLst>
        </p:spPr>
      </p:sp>
      <p:sp>
        <p:nvSpPr>
          <p:cNvPr id="40" name="Text 37"/>
          <p:cNvSpPr/>
          <p:nvPr/>
        </p:nvSpPr>
        <p:spPr>
          <a:xfrm>
            <a:off x="4692015" y="2852857"/>
            <a:ext cx="497205" cy="114300"/>
          </a:xfrm>
          <a:prstGeom prst="rect">
            <a:avLst/>
          </a:prstGeom>
          <a:noFill/>
          <a:ln/>
        </p:spPr>
        <p:txBody>
          <a:bodyPr wrap="none" rtlCol="0" anchor="ctr"/>
          <a:lstStyle/>
          <a:p>
            <a:pPr algn="l" indent="0" marL="0">
              <a:buNone/>
            </a:pPr>
            <a:r>
              <a:rPr lang="en-US" sz="765" b="1" spc="23" kern="0" dirty="0">
                <a:solidFill>
                  <a:srgbClr val="FFFFFF"/>
                </a:solidFill>
                <a:latin typeface="Inter" pitchFamily="34" charset="0"/>
                <a:ea typeface="Inter" pitchFamily="34" charset="-122"/>
                <a:cs typeface="Inter" pitchFamily="34" charset="-120"/>
              </a:rPr>
              <a:t>社区治理</a:t>
            </a:r>
            <a:endParaRPr lang="en-US" sz="765" dirty="0"/>
          </a:p>
        </p:txBody>
      </p:sp>
      <p:sp>
        <p:nvSpPr>
          <p:cNvPr id="41" name="Text 38"/>
          <p:cNvSpPr/>
          <p:nvPr/>
        </p:nvSpPr>
        <p:spPr>
          <a:xfrm>
            <a:off x="4692015" y="2995732"/>
            <a:ext cx="1760220" cy="91440"/>
          </a:xfrm>
          <a:prstGeom prst="rect">
            <a:avLst/>
          </a:prstGeom>
          <a:noFill/>
          <a:ln/>
        </p:spPr>
        <p:txBody>
          <a:bodyPr wrap="none" rtlCol="0" anchor="ctr"/>
          <a:lstStyle/>
          <a:p>
            <a:pPr algn="l" indent="0" marL="0">
              <a:lnSpc>
                <a:spcPct val="150000"/>
              </a:lnSpc>
              <a:buNone/>
            </a:pPr>
            <a:r>
              <a:rPr lang="en-US" sz="585" dirty="0">
                <a:solidFill>
                  <a:srgbClr val="B0BEC5"/>
                </a:solidFill>
                <a:latin typeface="Inter" pitchFamily="34" charset="0"/>
                <a:ea typeface="Inter" pitchFamily="34" charset="-122"/>
                <a:cs typeface="Inter" pitchFamily="34" charset="-120"/>
              </a:rPr>
              <a:t>从 BDFL 到民主治理，理解不同项目的管理模式</a:t>
            </a:r>
            <a:endParaRPr lang="en-US" sz="585" dirty="0"/>
          </a:p>
        </p:txBody>
      </p:sp>
      <p:sp>
        <p:nvSpPr>
          <p:cNvPr id="42" name="Shape 39"/>
          <p:cNvSpPr/>
          <p:nvPr/>
        </p:nvSpPr>
        <p:spPr>
          <a:xfrm>
            <a:off x="4229100" y="3267194"/>
            <a:ext cx="4457700" cy="442913"/>
          </a:xfrm>
          <a:prstGeom prst="roundRect">
            <a:avLst>
              <a:gd name="adj" fmla="val 12903"/>
            </a:avLst>
          </a:prstGeom>
          <a:solidFill>
            <a:srgbClr val="122545">
              <a:alpha val="55000"/>
            </a:srgbClr>
          </a:solidFill>
          <a:ln w="5715">
            <a:solidFill>
              <a:srgbClr val="2196F3">
                <a:alpha val="18000"/>
              </a:srgbClr>
            </a:solidFill>
            <a:prstDash val="solid"/>
          </a:ln>
        </p:spPr>
      </p:sp>
      <p:sp>
        <p:nvSpPr>
          <p:cNvPr id="43" name="Shape 40"/>
          <p:cNvSpPr/>
          <p:nvPr/>
        </p:nvSpPr>
        <p:spPr>
          <a:xfrm>
            <a:off x="4229100" y="3267194"/>
            <a:ext cx="17145" cy="431483"/>
          </a:xfrm>
          <a:prstGeom prst="rect">
            <a:avLst/>
          </a:prstGeom>
          <a:gradFill rotWithShape="1">
            <a:gsLst>
              <a:gs pos="0">
                <a:srgbClr val="2196F3"/>
              </a:gs>
              <a:gs pos="100000">
                <a:srgbClr val="00BCD4"/>
              </a:gs>
            </a:gsLst>
            <a:lin ang="5400000" scaled="0"/>
          </a:gradFill>
          <a:ln/>
        </p:spPr>
      </p:sp>
      <p:sp>
        <p:nvSpPr>
          <p:cNvPr id="44" name="Shape 41"/>
          <p:cNvSpPr/>
          <p:nvPr/>
        </p:nvSpPr>
        <p:spPr>
          <a:xfrm>
            <a:off x="4360545" y="3374350"/>
            <a:ext cx="228600" cy="228600"/>
          </a:xfrm>
          <a:prstGeom prst="roundRect">
            <a:avLst>
              <a:gd name="adj" fmla="val 20000"/>
            </a:avLst>
          </a:prstGeom>
          <a:gradFill rotWithShape="1">
            <a:gsLst>
              <a:gs pos="0">
                <a:srgbClr val="2196F3">
                  <a:alpha val="25000"/>
                </a:srgbClr>
              </a:gs>
              <a:gs pos="100000">
                <a:srgbClr val="00BCD4">
                  <a:alpha val="15000"/>
                </a:srgbClr>
              </a:gs>
            </a:gsLst>
            <a:lin ang="2700000" scaled="0"/>
          </a:gradFill>
          <a:ln w="5715">
            <a:solidFill>
              <a:srgbClr val="2196F3">
                <a:alpha val="40000"/>
              </a:srgbClr>
            </a:solidFill>
            <a:prstDash val="solid"/>
          </a:ln>
        </p:spPr>
      </p:sp>
      <p:sp>
        <p:nvSpPr>
          <p:cNvPr id="45" name="Shape 42"/>
          <p:cNvSpPr/>
          <p:nvPr/>
        </p:nvSpPr>
        <p:spPr>
          <a:xfrm>
            <a:off x="4451985" y="3465790"/>
            <a:ext cx="45720" cy="45720"/>
          </a:xfrm>
          <a:prstGeom prst="ellipse">
            <a:avLst/>
          </a:prstGeom>
          <a:solidFill>
            <a:srgbClr val="2196F3"/>
          </a:solidFill>
          <a:ln/>
          <a:effectLst>
            <a:outerShdw sx="100000" sy="100000" kx="0" ky="0" algn="bl" rotWithShape="0" blurRad="57150" dist="50800" dir="16200000">
              <a:srgbClr val="2196F3">
                <a:alpha val="100000"/>
              </a:srgbClr>
            </a:outerShdw>
          </a:effectLst>
        </p:spPr>
      </p:sp>
      <p:sp>
        <p:nvSpPr>
          <p:cNvPr id="46" name="Shape 43"/>
          <p:cNvSpPr/>
          <p:nvPr/>
        </p:nvSpPr>
        <p:spPr>
          <a:xfrm>
            <a:off x="4537710" y="3402925"/>
            <a:ext cx="22860" cy="22860"/>
          </a:xfrm>
          <a:prstGeom prst="ellipse">
            <a:avLst/>
          </a:prstGeom>
          <a:solidFill>
            <a:srgbClr val="00BCD4"/>
          </a:solidFill>
          <a:ln/>
          <a:effectLst>
            <a:outerShdw sx="100000" sy="100000" kx="0" ky="0" algn="bl" rotWithShape="0" blurRad="38100" dist="50800" dir="16200000">
              <a:srgbClr val="00BCD4">
                <a:alpha val="100000"/>
              </a:srgbClr>
            </a:outerShdw>
          </a:effectLst>
        </p:spPr>
      </p:sp>
      <p:sp>
        <p:nvSpPr>
          <p:cNvPr id="47" name="Text 44"/>
          <p:cNvSpPr/>
          <p:nvPr/>
        </p:nvSpPr>
        <p:spPr>
          <a:xfrm>
            <a:off x="4692015" y="3375779"/>
            <a:ext cx="497205" cy="114300"/>
          </a:xfrm>
          <a:prstGeom prst="rect">
            <a:avLst/>
          </a:prstGeom>
          <a:noFill/>
          <a:ln/>
        </p:spPr>
        <p:txBody>
          <a:bodyPr wrap="none" rtlCol="0" anchor="ctr"/>
          <a:lstStyle/>
          <a:p>
            <a:pPr algn="l" indent="0" marL="0">
              <a:buNone/>
            </a:pPr>
            <a:r>
              <a:rPr lang="en-US" sz="765" b="1" spc="23" kern="0" dirty="0">
                <a:solidFill>
                  <a:srgbClr val="FFFFFF"/>
                </a:solidFill>
                <a:latin typeface="Inter" pitchFamily="34" charset="0"/>
                <a:ea typeface="Inter" pitchFamily="34" charset="-122"/>
                <a:cs typeface="Inter" pitchFamily="34" charset="-120"/>
              </a:rPr>
              <a:t>布道启示</a:t>
            </a:r>
            <a:endParaRPr lang="en-US" sz="765" dirty="0"/>
          </a:p>
        </p:txBody>
      </p:sp>
      <p:sp>
        <p:nvSpPr>
          <p:cNvPr id="48" name="Text 45"/>
          <p:cNvSpPr/>
          <p:nvPr/>
        </p:nvSpPr>
        <p:spPr>
          <a:xfrm>
            <a:off x="4692015" y="3518654"/>
            <a:ext cx="1580998" cy="91440"/>
          </a:xfrm>
          <a:prstGeom prst="rect">
            <a:avLst/>
          </a:prstGeom>
          <a:noFill/>
          <a:ln/>
        </p:spPr>
        <p:txBody>
          <a:bodyPr wrap="none" rtlCol="0" anchor="ctr"/>
          <a:lstStyle/>
          <a:p>
            <a:pPr algn="l" indent="0" marL="0">
              <a:lnSpc>
                <a:spcPct val="150000"/>
              </a:lnSpc>
              <a:buNone/>
            </a:pPr>
            <a:r>
              <a:rPr lang="en-US" sz="585" dirty="0">
                <a:solidFill>
                  <a:srgbClr val="B0BEC5"/>
                </a:solidFill>
                <a:latin typeface="Inter" pitchFamily="34" charset="0"/>
                <a:ea typeface="Inter" pitchFamily="34" charset="-122"/>
                <a:cs typeface="Inter" pitchFamily="34" charset="-120"/>
              </a:rPr>
              <a:t>基于画像数据提炼对开源推广者的策略建议</a:t>
            </a:r>
            <a:endParaRPr lang="en-US" sz="585" dirty="0"/>
          </a:p>
        </p:txBody>
      </p:sp>
      <p:sp>
        <p:nvSpPr>
          <p:cNvPr id="49" name="Shape 46"/>
          <p:cNvSpPr/>
          <p:nvPr/>
        </p:nvSpPr>
        <p:spPr>
          <a:xfrm>
            <a:off x="4229100" y="3790117"/>
            <a:ext cx="4457700" cy="442913"/>
          </a:xfrm>
          <a:prstGeom prst="roundRect">
            <a:avLst>
              <a:gd name="adj" fmla="val 12903"/>
            </a:avLst>
          </a:prstGeom>
          <a:solidFill>
            <a:srgbClr val="122545">
              <a:alpha val="55000"/>
            </a:srgbClr>
          </a:solidFill>
          <a:ln w="5715">
            <a:solidFill>
              <a:srgbClr val="2196F3">
                <a:alpha val="18000"/>
              </a:srgbClr>
            </a:solidFill>
            <a:prstDash val="solid"/>
          </a:ln>
        </p:spPr>
      </p:sp>
      <p:sp>
        <p:nvSpPr>
          <p:cNvPr id="50" name="Shape 47"/>
          <p:cNvSpPr/>
          <p:nvPr/>
        </p:nvSpPr>
        <p:spPr>
          <a:xfrm>
            <a:off x="4229100" y="3790117"/>
            <a:ext cx="17145" cy="431483"/>
          </a:xfrm>
          <a:prstGeom prst="rect">
            <a:avLst/>
          </a:prstGeom>
          <a:gradFill rotWithShape="1">
            <a:gsLst>
              <a:gs pos="0">
                <a:srgbClr val="2196F3"/>
              </a:gs>
              <a:gs pos="100000">
                <a:srgbClr val="00BCD4"/>
              </a:gs>
            </a:gsLst>
            <a:lin ang="5400000" scaled="0"/>
          </a:gradFill>
          <a:ln/>
        </p:spPr>
      </p:sp>
      <p:sp>
        <p:nvSpPr>
          <p:cNvPr id="51" name="Shape 48"/>
          <p:cNvSpPr/>
          <p:nvPr/>
        </p:nvSpPr>
        <p:spPr>
          <a:xfrm>
            <a:off x="4360545" y="3897273"/>
            <a:ext cx="228600" cy="228600"/>
          </a:xfrm>
          <a:prstGeom prst="roundRect">
            <a:avLst>
              <a:gd name="adj" fmla="val 20000"/>
            </a:avLst>
          </a:prstGeom>
          <a:gradFill rotWithShape="1">
            <a:gsLst>
              <a:gs pos="0">
                <a:srgbClr val="2196F3">
                  <a:alpha val="25000"/>
                </a:srgbClr>
              </a:gs>
              <a:gs pos="100000">
                <a:srgbClr val="00BCD4">
                  <a:alpha val="15000"/>
                </a:srgbClr>
              </a:gs>
            </a:gsLst>
            <a:lin ang="2700000" scaled="0"/>
          </a:gradFill>
          <a:ln w="5715">
            <a:solidFill>
              <a:srgbClr val="2196F3">
                <a:alpha val="40000"/>
              </a:srgbClr>
            </a:solidFill>
            <a:prstDash val="solid"/>
          </a:ln>
        </p:spPr>
      </p:sp>
      <p:sp>
        <p:nvSpPr>
          <p:cNvPr id="52" name="Shape 49"/>
          <p:cNvSpPr/>
          <p:nvPr/>
        </p:nvSpPr>
        <p:spPr>
          <a:xfrm>
            <a:off x="4451985" y="3988713"/>
            <a:ext cx="45720" cy="45720"/>
          </a:xfrm>
          <a:prstGeom prst="ellipse">
            <a:avLst/>
          </a:prstGeom>
          <a:solidFill>
            <a:srgbClr val="2196F3"/>
          </a:solidFill>
          <a:ln/>
          <a:effectLst>
            <a:outerShdw sx="100000" sy="100000" kx="0" ky="0" algn="bl" rotWithShape="0" blurRad="57150" dist="50800" dir="16200000">
              <a:srgbClr val="2196F3">
                <a:alpha val="100000"/>
              </a:srgbClr>
            </a:outerShdw>
          </a:effectLst>
        </p:spPr>
      </p:sp>
      <p:sp>
        <p:nvSpPr>
          <p:cNvPr id="53" name="Shape 50"/>
          <p:cNvSpPr/>
          <p:nvPr/>
        </p:nvSpPr>
        <p:spPr>
          <a:xfrm>
            <a:off x="4537710" y="3925848"/>
            <a:ext cx="22860" cy="22860"/>
          </a:xfrm>
          <a:prstGeom prst="ellipse">
            <a:avLst/>
          </a:prstGeom>
          <a:solidFill>
            <a:srgbClr val="00BCD4"/>
          </a:solidFill>
          <a:ln/>
          <a:effectLst>
            <a:outerShdw sx="100000" sy="100000" kx="0" ky="0" algn="bl" rotWithShape="0" blurRad="38100" dist="50800" dir="16200000">
              <a:srgbClr val="00BCD4">
                <a:alpha val="100000"/>
              </a:srgbClr>
            </a:outerShdw>
          </a:effectLst>
        </p:spPr>
      </p:sp>
      <p:sp>
        <p:nvSpPr>
          <p:cNvPr id="54" name="Text 51"/>
          <p:cNvSpPr/>
          <p:nvPr/>
        </p:nvSpPr>
        <p:spPr>
          <a:xfrm>
            <a:off x="4692015" y="3898702"/>
            <a:ext cx="497205" cy="114300"/>
          </a:xfrm>
          <a:prstGeom prst="rect">
            <a:avLst/>
          </a:prstGeom>
          <a:noFill/>
          <a:ln/>
        </p:spPr>
        <p:txBody>
          <a:bodyPr wrap="none" rtlCol="0" anchor="ctr"/>
          <a:lstStyle/>
          <a:p>
            <a:pPr algn="l" indent="0" marL="0">
              <a:buNone/>
            </a:pPr>
            <a:r>
              <a:rPr lang="en-US" sz="765" b="1" spc="23" kern="0" dirty="0">
                <a:solidFill>
                  <a:srgbClr val="FFFFFF"/>
                </a:solidFill>
                <a:latin typeface="Inter" pitchFamily="34" charset="0"/>
                <a:ea typeface="Inter" pitchFamily="34" charset="-122"/>
                <a:cs typeface="Inter" pitchFamily="34" charset="-120"/>
              </a:rPr>
              <a:t>未来展望</a:t>
            </a:r>
            <a:endParaRPr lang="en-US" sz="765" dirty="0"/>
          </a:p>
        </p:txBody>
      </p:sp>
      <p:sp>
        <p:nvSpPr>
          <p:cNvPr id="55" name="Text 52"/>
          <p:cNvSpPr/>
          <p:nvPr/>
        </p:nvSpPr>
        <p:spPr>
          <a:xfrm>
            <a:off x="4692015" y="4041577"/>
            <a:ext cx="1625803" cy="91440"/>
          </a:xfrm>
          <a:prstGeom prst="rect">
            <a:avLst/>
          </a:prstGeom>
          <a:noFill/>
          <a:ln/>
        </p:spPr>
        <p:txBody>
          <a:bodyPr wrap="none" rtlCol="0" anchor="ctr"/>
          <a:lstStyle/>
          <a:p>
            <a:pPr algn="l" indent="0" marL="0">
              <a:lnSpc>
                <a:spcPct val="150000"/>
              </a:lnSpc>
              <a:buNone/>
            </a:pPr>
            <a:r>
              <a:rPr lang="en-US" sz="585" dirty="0">
                <a:solidFill>
                  <a:srgbClr val="B0BEC5"/>
                </a:solidFill>
                <a:latin typeface="Inter" pitchFamily="34" charset="0"/>
                <a:ea typeface="Inter" pitchFamily="34" charset="-122"/>
                <a:cs typeface="Inter" pitchFamily="34" charset="-120"/>
              </a:rPr>
              <a:t>关注 AI 辅助开发、企业开源趋势等新兴议题</a:t>
            </a:r>
            <a:endParaRPr lang="en-US" sz="585" dirty="0"/>
          </a:p>
        </p:txBody>
      </p:sp>
      <p:sp>
        <p:nvSpPr>
          <p:cNvPr id="56" name="Text 53"/>
          <p:cNvSpPr/>
          <p:nvPr/>
        </p:nvSpPr>
        <p:spPr>
          <a:xfrm>
            <a:off x="342900" y="171450"/>
            <a:ext cx="651510" cy="97155"/>
          </a:xfrm>
          <a:prstGeom prst="rect">
            <a:avLst/>
          </a:prstGeom>
          <a:noFill/>
          <a:ln/>
        </p:spPr>
        <p:txBody>
          <a:bodyPr wrap="none" rtlCol="0" anchor="ctr"/>
          <a:lstStyle/>
          <a:p>
            <a:pPr algn="l" indent="0" marL="0">
              <a:buNone/>
            </a:pPr>
            <a:r>
              <a:rPr lang="en-US" sz="630" spc="270" kern="0" dirty="0">
                <a:solidFill>
                  <a:srgbClr val="00BCD4"/>
                </a:solidFill>
                <a:latin typeface="Inter" pitchFamily="34" charset="0"/>
                <a:ea typeface="Inter" pitchFamily="34" charset="-122"/>
                <a:cs typeface="Inter" pitchFamily="34" charset="-120"/>
              </a:rPr>
              <a:t>PART 02</a:t>
            </a:r>
            <a:endParaRPr lang="en-US" sz="630" dirty="0"/>
          </a:p>
        </p:txBody>
      </p:sp>
      <p:sp>
        <p:nvSpPr>
          <p:cNvPr id="57" name="Text 54"/>
          <p:cNvSpPr/>
          <p:nvPr/>
        </p:nvSpPr>
        <p:spPr>
          <a:xfrm>
            <a:off x="342900" y="342900"/>
            <a:ext cx="1254557" cy="91440"/>
          </a:xfrm>
          <a:prstGeom prst="rect">
            <a:avLst/>
          </a:prstGeom>
          <a:noFill/>
          <a:ln/>
        </p:spPr>
        <p:txBody>
          <a:bodyPr wrap="none" rtlCol="0" anchor="ctr"/>
          <a:lstStyle/>
          <a:p>
            <a:pPr algn="l" indent="0" marL="0">
              <a:buNone/>
            </a:pPr>
            <a:r>
              <a:rPr lang="en-US" sz="585" spc="135" kern="0" dirty="0">
                <a:solidFill>
                  <a:srgbClr val="B0BEC5"/>
                </a:solidFill>
                <a:latin typeface="Inter" pitchFamily="34" charset="0"/>
                <a:ea typeface="Inter" pitchFamily="34" charset="-122"/>
                <a:cs typeface="Inter" pitchFamily="34" charset="-120"/>
              </a:rPr>
              <a:t>CHAPTER TRANSITION</a:t>
            </a:r>
            <a:endParaRPr lang="en-US" sz="585" dirty="0"/>
          </a:p>
        </p:txBody>
      </p:sp>
      <p:sp>
        <p:nvSpPr>
          <p:cNvPr id="58" name="Shape 55"/>
          <p:cNvSpPr/>
          <p:nvPr/>
        </p:nvSpPr>
        <p:spPr>
          <a:xfrm>
            <a:off x="171450" y="171450"/>
            <a:ext cx="228600" cy="228600"/>
          </a:xfrm>
          <a:prstGeom prst="rect">
            <a:avLst/>
          </a:prstGeom>
          <a:noFill/>
          <a:ln/>
        </p:spPr>
      </p:sp>
      <p:sp>
        <p:nvSpPr>
          <p:cNvPr id="59" name="Shape 56"/>
          <p:cNvSpPr/>
          <p:nvPr/>
        </p:nvSpPr>
        <p:spPr>
          <a:xfrm>
            <a:off x="171450" y="171450"/>
            <a:ext cx="228600" cy="0"/>
          </a:xfrm>
          <a:prstGeom prst="line">
            <a:avLst/>
          </a:prstGeom>
          <a:noFill/>
          <a:ln w="5715">
            <a:solidFill>
              <a:srgbClr val="2196F3"/>
            </a:solidFill>
            <a:prstDash val="solid"/>
          </a:ln>
        </p:spPr>
      </p:sp>
      <p:sp>
        <p:nvSpPr>
          <p:cNvPr id="60" name="Shape 57"/>
          <p:cNvSpPr/>
          <p:nvPr/>
        </p:nvSpPr>
        <p:spPr>
          <a:xfrm>
            <a:off x="171450" y="171450"/>
            <a:ext cx="0" cy="228600"/>
          </a:xfrm>
          <a:prstGeom prst="line">
            <a:avLst/>
          </a:prstGeom>
          <a:noFill/>
          <a:ln w="5715">
            <a:solidFill>
              <a:srgbClr val="2196F3"/>
            </a:solidFill>
            <a:prstDash val="solid"/>
          </a:ln>
        </p:spPr>
      </p:sp>
      <p:sp>
        <p:nvSpPr>
          <p:cNvPr id="61" name="Shape 58"/>
          <p:cNvSpPr/>
          <p:nvPr/>
        </p:nvSpPr>
        <p:spPr>
          <a:xfrm>
            <a:off x="8743950" y="171450"/>
            <a:ext cx="228600" cy="228600"/>
          </a:xfrm>
          <a:prstGeom prst="rect">
            <a:avLst/>
          </a:prstGeom>
          <a:noFill/>
          <a:ln/>
        </p:spPr>
      </p:sp>
      <p:sp>
        <p:nvSpPr>
          <p:cNvPr id="62" name="Shape 59"/>
          <p:cNvSpPr/>
          <p:nvPr/>
        </p:nvSpPr>
        <p:spPr>
          <a:xfrm>
            <a:off x="8743950" y="171450"/>
            <a:ext cx="228600" cy="0"/>
          </a:xfrm>
          <a:prstGeom prst="line">
            <a:avLst/>
          </a:prstGeom>
          <a:noFill/>
          <a:ln w="5715">
            <a:solidFill>
              <a:srgbClr val="00BCD4"/>
            </a:solidFill>
            <a:prstDash val="solid"/>
          </a:ln>
        </p:spPr>
      </p:sp>
      <p:sp>
        <p:nvSpPr>
          <p:cNvPr id="63" name="Shape 60"/>
          <p:cNvSpPr/>
          <p:nvPr/>
        </p:nvSpPr>
        <p:spPr>
          <a:xfrm>
            <a:off x="8972550" y="171450"/>
            <a:ext cx="0" cy="228600"/>
          </a:xfrm>
          <a:prstGeom prst="line">
            <a:avLst/>
          </a:prstGeom>
          <a:noFill/>
          <a:ln w="5715">
            <a:solidFill>
              <a:srgbClr val="00BCD4"/>
            </a:solidFill>
            <a:prstDash val="solid"/>
          </a:ln>
        </p:spPr>
      </p:sp>
      <p:sp>
        <p:nvSpPr>
          <p:cNvPr id="64" name="Shape 61"/>
          <p:cNvSpPr/>
          <p:nvPr/>
        </p:nvSpPr>
        <p:spPr>
          <a:xfrm>
            <a:off x="171450" y="4743450"/>
            <a:ext cx="228600" cy="228600"/>
          </a:xfrm>
          <a:prstGeom prst="rect">
            <a:avLst/>
          </a:prstGeom>
          <a:noFill/>
          <a:ln/>
        </p:spPr>
      </p:sp>
      <p:sp>
        <p:nvSpPr>
          <p:cNvPr id="65" name="Shape 62"/>
          <p:cNvSpPr/>
          <p:nvPr/>
        </p:nvSpPr>
        <p:spPr>
          <a:xfrm>
            <a:off x="171450" y="4972050"/>
            <a:ext cx="228600" cy="0"/>
          </a:xfrm>
          <a:prstGeom prst="line">
            <a:avLst/>
          </a:prstGeom>
          <a:noFill/>
          <a:ln w="5715">
            <a:solidFill>
              <a:srgbClr val="00BCD4"/>
            </a:solidFill>
            <a:prstDash val="solid"/>
          </a:ln>
        </p:spPr>
      </p:sp>
      <p:sp>
        <p:nvSpPr>
          <p:cNvPr id="66" name="Shape 63"/>
          <p:cNvSpPr/>
          <p:nvPr/>
        </p:nvSpPr>
        <p:spPr>
          <a:xfrm>
            <a:off x="171450" y="4743450"/>
            <a:ext cx="0" cy="228600"/>
          </a:xfrm>
          <a:prstGeom prst="line">
            <a:avLst/>
          </a:prstGeom>
          <a:noFill/>
          <a:ln w="5715">
            <a:solidFill>
              <a:srgbClr val="00BCD4"/>
            </a:solidFill>
            <a:prstDash val="solid"/>
          </a:ln>
        </p:spPr>
      </p:sp>
      <p:sp>
        <p:nvSpPr>
          <p:cNvPr id="67" name="Shape 64"/>
          <p:cNvSpPr/>
          <p:nvPr/>
        </p:nvSpPr>
        <p:spPr>
          <a:xfrm>
            <a:off x="8743950" y="4743450"/>
            <a:ext cx="228600" cy="228600"/>
          </a:xfrm>
          <a:prstGeom prst="rect">
            <a:avLst/>
          </a:prstGeom>
          <a:noFill/>
          <a:ln/>
        </p:spPr>
      </p:sp>
      <p:sp>
        <p:nvSpPr>
          <p:cNvPr id="68" name="Shape 65"/>
          <p:cNvSpPr/>
          <p:nvPr/>
        </p:nvSpPr>
        <p:spPr>
          <a:xfrm>
            <a:off x="8972550" y="4743450"/>
            <a:ext cx="0" cy="228600"/>
          </a:xfrm>
          <a:prstGeom prst="line">
            <a:avLst/>
          </a:prstGeom>
          <a:noFill/>
          <a:ln w="5715">
            <a:solidFill>
              <a:srgbClr val="2196F3"/>
            </a:solidFill>
            <a:prstDash val="solid"/>
          </a:ln>
        </p:spPr>
      </p:sp>
      <p:sp>
        <p:nvSpPr>
          <p:cNvPr id="69" name="Shape 66"/>
          <p:cNvSpPr/>
          <p:nvPr/>
        </p:nvSpPr>
        <p:spPr>
          <a:xfrm>
            <a:off x="8743950" y="4972050"/>
            <a:ext cx="228600" cy="0"/>
          </a:xfrm>
          <a:prstGeom prst="line">
            <a:avLst/>
          </a:prstGeom>
          <a:noFill/>
          <a:ln w="5715">
            <a:solidFill>
              <a:srgbClr val="2196F3"/>
            </a:solidFill>
            <a:prstDash val="solid"/>
          </a:ln>
        </p:spPr>
      </p:sp>
      <p:sp>
        <p:nvSpPr>
          <p:cNvPr id="70" name="Text 67"/>
          <p:cNvSpPr/>
          <p:nvPr/>
        </p:nvSpPr>
        <p:spPr>
          <a:xfrm>
            <a:off x="8932545" y="1685925"/>
            <a:ext cx="125730" cy="1771650"/>
          </a:xfrm>
          <a:prstGeom prst="rect">
            <a:avLst/>
          </a:prstGeom>
          <a:noFill/>
          <a:ln/>
        </p:spPr>
        <p:txBody>
          <a:bodyPr wrap="square" rtlCol="0" anchor="ctr"/>
          <a:lstStyle/>
          <a:p>
            <a:pPr algn="l" indent="0" marL="0">
              <a:buNone/>
            </a:pPr>
            <a:r>
              <a:rPr lang="en-US" sz="450" spc="180" kern="0" dirty="0">
                <a:solidFill>
                  <a:srgbClr val="B0BEC5"/>
                </a:solidFill>
                <a:latin typeface="Inter" pitchFamily="34" charset="0"/>
                <a:ea typeface="Inter" pitchFamily="34" charset="-122"/>
                <a:cs typeface="Inter" pitchFamily="34" charset="-120"/>
              </a:rPr>
              <a:t>OPEN SOURCE · CULTURE &amp; INSIGHTS</a:t>
            </a:r>
            <a:endParaRPr lang="en-US" sz="450" dirty="0"/>
          </a:p>
        </p:txBody>
      </p:sp>
      <p:sp>
        <p:nvSpPr>
          <p:cNvPr id="71" name="Text 68"/>
          <p:cNvSpPr/>
          <p:nvPr/>
        </p:nvSpPr>
        <p:spPr>
          <a:xfrm>
            <a:off x="342900" y="4892040"/>
            <a:ext cx="857707" cy="80010"/>
          </a:xfrm>
          <a:prstGeom prst="rect">
            <a:avLst/>
          </a:prstGeom>
          <a:noFill/>
          <a:ln/>
        </p:spPr>
        <p:txBody>
          <a:bodyPr wrap="none" rtlCol="0" anchor="ctr"/>
          <a:lstStyle/>
          <a:p>
            <a:pPr algn="l" indent="0" marL="0">
              <a:buNone/>
            </a:pPr>
            <a:r>
              <a:rPr lang="en-US" sz="495" spc="135" kern="0" dirty="0">
                <a:solidFill>
                  <a:srgbClr val="B0BEC5">
                    <a:alpha val="70000"/>
                  </a:srgbClr>
                </a:solidFill>
                <a:latin typeface="Inter" pitchFamily="34" charset="0"/>
                <a:ea typeface="Inter" pitchFamily="34" charset="-122"/>
                <a:cs typeface="Inter" pitchFamily="34" charset="-120"/>
              </a:rPr>
              <a:t>SECTION 02 / 04</a:t>
            </a:r>
            <a:endParaRPr lang="en-US" sz="495" dirty="0"/>
          </a:p>
        </p:txBody>
      </p:sp>
      <p:sp>
        <p:nvSpPr>
          <p:cNvPr id="72" name="Shape 69"/>
          <p:cNvSpPr/>
          <p:nvPr/>
        </p:nvSpPr>
        <p:spPr>
          <a:xfrm>
            <a:off x="1223010" y="4929188"/>
            <a:ext cx="5206365" cy="5715"/>
          </a:xfrm>
          <a:prstGeom prst="rect">
            <a:avLst/>
          </a:prstGeom>
          <a:gradFill rotWithShape="1">
            <a:gsLst>
              <a:gs pos="0">
                <a:srgbClr val="000000">
                  <a:alpha val="0"/>
                </a:srgbClr>
              </a:gs>
              <a:gs pos="50000">
                <a:srgbClr val="2196F3">
                  <a:alpha val="30000"/>
                </a:srgbClr>
              </a:gs>
              <a:gs pos="100000">
                <a:srgbClr val="000000">
                  <a:alpha val="0"/>
                </a:srgbClr>
              </a:gs>
            </a:gsLst>
            <a:lin ang="0" scaled="0"/>
          </a:gradFill>
          <a:ln/>
        </p:spPr>
      </p:sp>
      <p:sp>
        <p:nvSpPr>
          <p:cNvPr id="73" name="Text 70"/>
          <p:cNvSpPr/>
          <p:nvPr/>
        </p:nvSpPr>
        <p:spPr>
          <a:xfrm>
            <a:off x="6543675" y="4892040"/>
            <a:ext cx="2528316" cy="80010"/>
          </a:xfrm>
          <a:prstGeom prst="rect">
            <a:avLst/>
          </a:prstGeom>
          <a:noFill/>
          <a:ln/>
        </p:spPr>
        <p:txBody>
          <a:bodyPr wrap="none" rtlCol="0" anchor="ctr"/>
          <a:lstStyle/>
          <a:p>
            <a:pPr algn="l" indent="0" marL="0">
              <a:buNone/>
            </a:pPr>
            <a:r>
              <a:rPr lang="en-US" sz="495" spc="135" kern="0" dirty="0">
                <a:solidFill>
                  <a:srgbClr val="B0BEC5">
                    <a:alpha val="70000"/>
                  </a:srgbClr>
                </a:solidFill>
                <a:latin typeface="Inter" pitchFamily="34" charset="0"/>
                <a:ea typeface="Inter" pitchFamily="34" charset="-122"/>
                <a:cs typeface="Inter" pitchFamily="34" charset="-120"/>
              </a:rPr>
              <a:t>CULTURE · GOVERNANCE · EVANGELISM · FUTURE</a:t>
            </a:r>
            <a:endParaRPr lang="en-US" sz="49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gradFill rotWithShape="1">
            <a:gsLst>
              <a:gs pos="0">
                <a:srgbClr val="06101F"/>
              </a:gs>
              <a:gs pos="40000">
                <a:srgbClr val="0A1628"/>
              </a:gs>
              <a:gs pos="100000">
                <a:srgbClr val="0D1F3C"/>
              </a:gs>
            </a:gsLst>
            <a:lin ang="2700000" scaled="0"/>
          </a:gradFill>
          <a:ln/>
        </p:spPr>
      </p:sp>
      <p:sp>
        <p:nvSpPr>
          <p:cNvPr id="3" name="Text 1"/>
          <p:cNvSpPr/>
          <p:nvPr/>
        </p:nvSpPr>
        <p:spPr>
          <a:xfrm>
            <a:off x="3486150" y="297180"/>
            <a:ext cx="2432304" cy="251460"/>
          </a:xfrm>
          <a:prstGeom prst="rect">
            <a:avLst/>
          </a:prstGeom>
          <a:noFill/>
          <a:ln/>
        </p:spPr>
        <p:txBody>
          <a:bodyPr wrap="none" rtlCol="0" anchor="ctr"/>
          <a:lstStyle/>
          <a:p>
            <a:pPr algn="ctr" indent="0" marL="0">
              <a:buNone/>
            </a:pPr>
            <a:r>
              <a:rPr lang="en-US" sz="1620" b="1" spc="90" kern="0" dirty="0">
                <a:solidFill>
                  <a:srgbClr val="E8EEF5"/>
                </a:solidFill>
                <a:latin typeface="Inter" pitchFamily="34" charset="0"/>
                <a:ea typeface="Inter" pitchFamily="34" charset="-122"/>
                <a:cs typeface="Inter" pitchFamily="34" charset="-120"/>
              </a:rPr>
              <a:t>开源文化：协作与治理</a:t>
            </a:r>
            <a:endParaRPr lang="en-US" sz="1620" dirty="0"/>
          </a:p>
        </p:txBody>
      </p:sp>
      <p:sp>
        <p:nvSpPr>
          <p:cNvPr id="4" name="Shape 2"/>
          <p:cNvSpPr/>
          <p:nvPr/>
        </p:nvSpPr>
        <p:spPr>
          <a:xfrm>
            <a:off x="4343400" y="611505"/>
            <a:ext cx="457200" cy="11430"/>
          </a:xfrm>
          <a:prstGeom prst="rect">
            <a:avLst/>
          </a:prstGeom>
          <a:gradFill rotWithShape="1">
            <a:gsLst>
              <a:gs pos="0">
                <a:srgbClr val="000000">
                  <a:alpha val="0"/>
                </a:srgbClr>
              </a:gs>
              <a:gs pos="50000">
                <a:srgbClr val="00BCD4"/>
              </a:gs>
              <a:gs pos="100000">
                <a:srgbClr val="000000">
                  <a:alpha val="0"/>
                </a:srgbClr>
              </a:gs>
            </a:gsLst>
            <a:lin ang="0" scaled="0"/>
          </a:gradFill>
          <a:ln/>
        </p:spPr>
      </p:sp>
      <p:sp>
        <p:nvSpPr>
          <p:cNvPr id="5" name="Text 3"/>
          <p:cNvSpPr/>
          <p:nvPr/>
        </p:nvSpPr>
        <p:spPr>
          <a:xfrm>
            <a:off x="3629025" y="691515"/>
            <a:ext cx="2112264" cy="108585"/>
          </a:xfrm>
          <a:prstGeom prst="rect">
            <a:avLst/>
          </a:prstGeom>
          <a:noFill/>
          <a:ln/>
        </p:spPr>
        <p:txBody>
          <a:bodyPr wrap="square" rtlCol="0" anchor="ctr"/>
          <a:lstStyle/>
          <a:p>
            <a:pPr algn="ctr" indent="0" marL="0">
              <a:buNone/>
            </a:pPr>
            <a:r>
              <a:rPr lang="en-US" sz="675" b="1" spc="45" kern="0" dirty="0">
                <a:solidFill>
                  <a:srgbClr val="00BCD4"/>
                </a:solidFill>
                <a:latin typeface="Inter" pitchFamily="34" charset="0"/>
                <a:ea typeface="Inter" pitchFamily="34" charset="-122"/>
                <a:cs typeface="Inter" pitchFamily="34" charset="-120"/>
              </a:rPr>
              <a:t>开放</a:t>
            </a:r>
            <a:pPr algn="ctr" indent="0" marL="0">
              <a:buNone/>
            </a:pPr>
            <a:r>
              <a:rPr lang="en-US" sz="675" spc="45" kern="0" dirty="0">
                <a:solidFill>
                  <a:srgbClr val="B0BEC5"/>
                </a:solidFill>
                <a:latin typeface="Inter" pitchFamily="34" charset="0"/>
                <a:ea typeface="Inter" pitchFamily="34" charset="-122"/>
                <a:cs typeface="Inter" pitchFamily="34" charset="-120"/>
              </a:rPr>
              <a:t>/</a:t>
            </a:r>
            <a:pPr algn="ctr" indent="0" marL="0">
              <a:buNone/>
            </a:pPr>
            <a:r>
              <a:rPr lang="en-US" sz="675" b="1" spc="45" kern="0" dirty="0">
                <a:solidFill>
                  <a:srgbClr val="00BCD4"/>
                </a:solidFill>
                <a:latin typeface="Inter" pitchFamily="34" charset="0"/>
                <a:ea typeface="Inter" pitchFamily="34" charset="-122"/>
                <a:cs typeface="Inter" pitchFamily="34" charset="-120"/>
              </a:rPr>
              <a:t>贡献</a:t>
            </a:r>
            <a:pPr algn="ctr" indent="0" marL="0">
              <a:buNone/>
            </a:pPr>
            <a:r>
              <a:rPr lang="en-US" sz="675" spc="45" kern="0" dirty="0">
                <a:solidFill>
                  <a:srgbClr val="B0BEC5"/>
                </a:solidFill>
                <a:latin typeface="Inter" pitchFamily="34" charset="0"/>
                <a:ea typeface="Inter" pitchFamily="34" charset="-122"/>
                <a:cs typeface="Inter" pitchFamily="34" charset="-120"/>
              </a:rPr>
              <a:t>/</a:t>
            </a:r>
            <a:pPr algn="ctr" indent="0" marL="0">
              <a:buNone/>
            </a:pPr>
            <a:r>
              <a:rPr lang="en-US" sz="675" b="1" spc="45" kern="0" dirty="0">
                <a:solidFill>
                  <a:srgbClr val="00BCD4"/>
                </a:solidFill>
                <a:latin typeface="Inter" pitchFamily="34" charset="0"/>
                <a:ea typeface="Inter" pitchFamily="34" charset="-122"/>
                <a:cs typeface="Inter" pitchFamily="34" charset="-120"/>
              </a:rPr>
              <a:t>平等</a:t>
            </a:r>
            <a:pPr algn="ctr" indent="0" marL="0">
              <a:buNone/>
            </a:pPr>
            <a:r>
              <a:rPr lang="en-US" sz="675" spc="45" kern="0" dirty="0">
                <a:solidFill>
                  <a:srgbClr val="B0BEC5"/>
                </a:solidFill>
                <a:latin typeface="Inter" pitchFamily="34" charset="0"/>
                <a:ea typeface="Inter" pitchFamily="34" charset="-122"/>
                <a:cs typeface="Inter" pitchFamily="34" charset="-120"/>
              </a:rPr>
              <a:t>—— 开源社区三大文化支柱</a:t>
            </a:r>
            <a:endParaRPr lang="en-US" sz="675" dirty="0"/>
          </a:p>
        </p:txBody>
      </p:sp>
      <p:sp>
        <p:nvSpPr>
          <p:cNvPr id="6" name="Shape 4"/>
          <p:cNvSpPr/>
          <p:nvPr/>
        </p:nvSpPr>
        <p:spPr>
          <a:xfrm>
            <a:off x="342900" y="925830"/>
            <a:ext cx="2045970" cy="1828800"/>
          </a:xfrm>
          <a:prstGeom prst="roundRect">
            <a:avLst>
              <a:gd name="adj" fmla="val 3750"/>
            </a:avLst>
          </a:prstGeom>
          <a:gradFill rotWithShape="1">
            <a:gsLst>
              <a:gs pos="0">
                <a:srgbClr val="111F36"/>
              </a:gs>
              <a:gs pos="100000">
                <a:srgbClr val="0D1A2E"/>
              </a:gs>
            </a:gsLst>
            <a:lin ang="4200000" scaled="0"/>
          </a:gradFill>
          <a:ln w="5715">
            <a:solidFill>
              <a:srgbClr val="1E3A5F"/>
            </a:solidFill>
            <a:prstDash val="solid"/>
          </a:ln>
        </p:spPr>
      </p:sp>
      <p:sp>
        <p:nvSpPr>
          <p:cNvPr id="7" name="Shape 5"/>
          <p:cNvSpPr/>
          <p:nvPr/>
        </p:nvSpPr>
        <p:spPr>
          <a:xfrm>
            <a:off x="342900" y="925830"/>
            <a:ext cx="2034540" cy="17145"/>
          </a:xfrm>
          <a:prstGeom prst="rect">
            <a:avLst/>
          </a:prstGeom>
          <a:gradFill rotWithShape="1">
            <a:gsLst>
              <a:gs pos="0">
                <a:srgbClr val="2196F3"/>
              </a:gs>
              <a:gs pos="100000">
                <a:srgbClr val="00BCD4"/>
              </a:gs>
            </a:gsLst>
            <a:lin ang="0" scaled="0"/>
          </a:gradFill>
          <a:ln/>
        </p:spPr>
      </p:sp>
      <p:sp>
        <p:nvSpPr>
          <p:cNvPr id="8" name="Shape 6"/>
          <p:cNvSpPr/>
          <p:nvPr/>
        </p:nvSpPr>
        <p:spPr>
          <a:xfrm>
            <a:off x="1920240" y="2286000"/>
            <a:ext cx="685800" cy="685800"/>
          </a:xfrm>
          <a:prstGeom prst="ellipse">
            <a:avLst/>
          </a:prstGeom>
          <a:gradFill rotWithShape="1">
            <a:gsLst>
              <a:gs pos="0">
                <a:srgbClr val="2196F3">
                  <a:alpha val="10000"/>
                </a:srgbClr>
              </a:gs>
              <a:gs pos="70000">
                <a:srgbClr val="000000">
                  <a:alpha val="0"/>
                </a:srgbClr>
              </a:gs>
            </a:gsLst>
            <a:path path="circle">
              <a:fillToRect l="50000" t="50000" r="50000" b="50000"/>
            </a:path>
          </a:gradFill>
          <a:ln/>
        </p:spPr>
      </p:sp>
      <p:sp>
        <p:nvSpPr>
          <p:cNvPr id="9" name="Text 7"/>
          <p:cNvSpPr/>
          <p:nvPr/>
        </p:nvSpPr>
        <p:spPr>
          <a:xfrm>
            <a:off x="2085975" y="988695"/>
            <a:ext cx="438912" cy="222885"/>
          </a:xfrm>
          <a:prstGeom prst="rect">
            <a:avLst/>
          </a:prstGeom>
          <a:noFill/>
          <a:ln/>
        </p:spPr>
        <p:txBody>
          <a:bodyPr wrap="none" rtlCol="0" anchor="ctr"/>
          <a:lstStyle/>
          <a:p>
            <a:pPr algn="l" indent="0" marL="0">
              <a:buNone/>
            </a:pPr>
            <a:r>
              <a:rPr lang="en-US" sz="1440" b="1" dirty="0">
                <a:solidFill>
                  <a:srgbClr val="2196F3">
                    <a:alpha val="35000"/>
                  </a:srgbClr>
                </a:solidFill>
                <a:latin typeface="Inter" pitchFamily="34" charset="0"/>
                <a:ea typeface="Inter" pitchFamily="34" charset="-122"/>
                <a:cs typeface="Inter" pitchFamily="34" charset="-120"/>
              </a:rPr>
              <a:t>01</a:t>
            </a:r>
            <a:endParaRPr lang="en-US" sz="1440" dirty="0"/>
          </a:p>
        </p:txBody>
      </p:sp>
      <p:sp>
        <p:nvSpPr>
          <p:cNvPr id="10" name="Shape 8"/>
          <p:cNvSpPr/>
          <p:nvPr/>
        </p:nvSpPr>
        <p:spPr>
          <a:xfrm>
            <a:off x="451485" y="1057275"/>
            <a:ext cx="240030" cy="240030"/>
          </a:xfrm>
          <a:prstGeom prst="roundRect">
            <a:avLst>
              <a:gd name="adj" fmla="val 23810"/>
            </a:avLst>
          </a:prstGeom>
          <a:gradFill rotWithShape="1">
            <a:gsLst>
              <a:gs pos="0">
                <a:srgbClr val="2196F3">
                  <a:alpha val="20000"/>
                </a:srgbClr>
              </a:gs>
              <a:gs pos="100000">
                <a:srgbClr val="00BCD4">
                  <a:alpha val="10000"/>
                </a:srgbClr>
              </a:gs>
            </a:gsLst>
            <a:lin ang="2700000" scaled="0"/>
          </a:gradFill>
          <a:ln w="5715">
            <a:solidFill>
              <a:srgbClr val="2196F3">
                <a:alpha val="30000"/>
              </a:srgbClr>
            </a:solidFill>
            <a:prstDash val="solid"/>
          </a:ln>
        </p:spPr>
      </p:sp>
      <p:pic>
        <p:nvPicPr>
          <p:cNvPr id="11"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14350" y="1120140"/>
            <a:ext cx="114300" cy="114300"/>
          </a:xfrm>
          <a:prstGeom prst="rect">
            <a:avLst/>
          </a:prstGeom>
        </p:spPr>
      </p:pic>
      <p:sp>
        <p:nvSpPr>
          <p:cNvPr id="12" name="Text 9"/>
          <p:cNvSpPr/>
          <p:nvPr/>
        </p:nvSpPr>
        <p:spPr>
          <a:xfrm>
            <a:off x="451485" y="1400175"/>
            <a:ext cx="497205" cy="114300"/>
          </a:xfrm>
          <a:prstGeom prst="rect">
            <a:avLst/>
          </a:prstGeom>
          <a:noFill/>
          <a:ln/>
        </p:spPr>
        <p:txBody>
          <a:bodyPr wrap="none" rtlCol="0" anchor="ctr"/>
          <a:lstStyle/>
          <a:p>
            <a:pPr algn="l" indent="0" marL="0">
              <a:buNone/>
            </a:pPr>
            <a:r>
              <a:rPr lang="en-US" sz="765" b="1" spc="23" kern="0" dirty="0">
                <a:solidFill>
                  <a:srgbClr val="E8EEF5"/>
                </a:solidFill>
                <a:latin typeface="Inter" pitchFamily="34" charset="0"/>
                <a:ea typeface="Inter" pitchFamily="34" charset="-122"/>
                <a:cs typeface="Inter" pitchFamily="34" charset="-120"/>
              </a:rPr>
              <a:t>开放透明</a:t>
            </a:r>
            <a:endParaRPr lang="en-US" sz="765" dirty="0"/>
          </a:p>
        </p:txBody>
      </p:sp>
      <p:sp>
        <p:nvSpPr>
          <p:cNvPr id="13" name="Text 10"/>
          <p:cNvSpPr/>
          <p:nvPr/>
        </p:nvSpPr>
        <p:spPr>
          <a:xfrm>
            <a:off x="451485" y="1548765"/>
            <a:ext cx="947318" cy="74295"/>
          </a:xfrm>
          <a:prstGeom prst="rect">
            <a:avLst/>
          </a:prstGeom>
          <a:noFill/>
          <a:ln/>
        </p:spPr>
        <p:txBody>
          <a:bodyPr wrap="none" rtlCol="0" anchor="ctr"/>
          <a:lstStyle/>
          <a:p>
            <a:pPr algn="l" indent="0" marL="0">
              <a:buNone/>
            </a:pPr>
            <a:r>
              <a:rPr lang="en-US" sz="473" spc="68" kern="0" dirty="0">
                <a:solidFill>
                  <a:srgbClr val="00BCD4"/>
                </a:solidFill>
                <a:latin typeface="Inter" pitchFamily="34" charset="0"/>
                <a:ea typeface="Inter" pitchFamily="34" charset="-122"/>
                <a:cs typeface="Inter" pitchFamily="34" charset="-120"/>
              </a:rPr>
              <a:t>OPEN &amp; TRANSPARENT</a:t>
            </a:r>
            <a:endParaRPr lang="en-US" sz="473" dirty="0"/>
          </a:p>
        </p:txBody>
      </p:sp>
      <p:sp>
        <p:nvSpPr>
          <p:cNvPr id="14" name="Text 11"/>
          <p:cNvSpPr/>
          <p:nvPr/>
        </p:nvSpPr>
        <p:spPr>
          <a:xfrm>
            <a:off x="451485" y="1708785"/>
            <a:ext cx="1997050" cy="207169"/>
          </a:xfrm>
          <a:prstGeom prst="rect">
            <a:avLst/>
          </a:prstGeom>
          <a:noFill/>
          <a:ln/>
        </p:spPr>
        <p:txBody>
          <a:bodyPr wrap="square" rtlCol="0" anchor="ctr"/>
          <a:lstStyle/>
          <a:p>
            <a:pPr algn="l" indent="0" marL="0">
              <a:lnSpc>
                <a:spcPct val="170000"/>
              </a:lnSpc>
              <a:buNone/>
            </a:pPr>
            <a:r>
              <a:rPr lang="en-US" sz="563" dirty="0">
                <a:solidFill>
                  <a:srgbClr val="B0BEC5"/>
                </a:solidFill>
                <a:latin typeface="Inter" pitchFamily="34" charset="0"/>
                <a:ea typeface="Inter" pitchFamily="34" charset="-122"/>
                <a:cs typeface="Inter" pitchFamily="34" charset="-120"/>
              </a:rPr>
              <a:t>决策过程、代码变更、社区讨论均公开进行，透明度是社区信任的基石。</a:t>
            </a:r>
            <a:endParaRPr lang="en-US" sz="563" dirty="0"/>
          </a:p>
        </p:txBody>
      </p:sp>
      <p:sp>
        <p:nvSpPr>
          <p:cNvPr id="15" name="Shape 12"/>
          <p:cNvSpPr/>
          <p:nvPr/>
        </p:nvSpPr>
        <p:spPr>
          <a:xfrm>
            <a:off x="451485" y="2014538"/>
            <a:ext cx="331470" cy="131445"/>
          </a:xfrm>
          <a:prstGeom prst="roundRect">
            <a:avLst>
              <a:gd name="adj" fmla="val 17391"/>
            </a:avLst>
          </a:prstGeom>
          <a:solidFill>
            <a:srgbClr val="2196F3">
              <a:alpha val="12000"/>
            </a:srgbClr>
          </a:solidFill>
          <a:ln w="5715">
            <a:solidFill>
              <a:srgbClr val="2196F3">
                <a:alpha val="28000"/>
              </a:srgbClr>
            </a:solidFill>
            <a:prstDash val="solid"/>
          </a:ln>
        </p:spPr>
      </p:sp>
      <p:sp>
        <p:nvSpPr>
          <p:cNvPr id="16" name="Text 13"/>
          <p:cNvSpPr/>
          <p:nvPr/>
        </p:nvSpPr>
        <p:spPr>
          <a:xfrm>
            <a:off x="451485" y="2014538"/>
            <a:ext cx="388620" cy="131445"/>
          </a:xfrm>
          <a:prstGeom prst="rect">
            <a:avLst/>
          </a:prstGeom>
          <a:noFill/>
          <a:ln/>
        </p:spPr>
        <p:txBody>
          <a:bodyPr wrap="none" lIns="17145" tIns="45720" rIns="45720" bIns="17145" rtlCol="0" anchor="ctr"/>
          <a:lstStyle/>
          <a:p>
            <a:pPr algn="l" indent="0" marL="0">
              <a:buNone/>
            </a:pPr>
            <a:r>
              <a:rPr lang="en-US" sz="450" dirty="0">
                <a:solidFill>
                  <a:srgbClr val="00BCD4"/>
                </a:solidFill>
                <a:latin typeface="Inter" pitchFamily="34" charset="0"/>
                <a:ea typeface="Inter" pitchFamily="34" charset="-122"/>
                <a:cs typeface="Inter" pitchFamily="34" charset="-120"/>
              </a:rPr>
              <a:t>公开决策</a:t>
            </a:r>
            <a:endParaRPr lang="en-US" sz="450" dirty="0"/>
          </a:p>
        </p:txBody>
      </p:sp>
      <p:sp>
        <p:nvSpPr>
          <p:cNvPr id="17" name="Shape 14"/>
          <p:cNvSpPr/>
          <p:nvPr/>
        </p:nvSpPr>
        <p:spPr>
          <a:xfrm>
            <a:off x="811530" y="2014538"/>
            <a:ext cx="331470" cy="131445"/>
          </a:xfrm>
          <a:prstGeom prst="roundRect">
            <a:avLst>
              <a:gd name="adj" fmla="val 17391"/>
            </a:avLst>
          </a:prstGeom>
          <a:solidFill>
            <a:srgbClr val="2196F3">
              <a:alpha val="12000"/>
            </a:srgbClr>
          </a:solidFill>
          <a:ln w="5715">
            <a:solidFill>
              <a:srgbClr val="2196F3">
                <a:alpha val="28000"/>
              </a:srgbClr>
            </a:solidFill>
            <a:prstDash val="solid"/>
          </a:ln>
        </p:spPr>
      </p:sp>
      <p:sp>
        <p:nvSpPr>
          <p:cNvPr id="18" name="Text 15"/>
          <p:cNvSpPr/>
          <p:nvPr/>
        </p:nvSpPr>
        <p:spPr>
          <a:xfrm>
            <a:off x="811530" y="2014538"/>
            <a:ext cx="388620" cy="131445"/>
          </a:xfrm>
          <a:prstGeom prst="rect">
            <a:avLst/>
          </a:prstGeom>
          <a:noFill/>
          <a:ln/>
        </p:spPr>
        <p:txBody>
          <a:bodyPr wrap="none" lIns="17145" tIns="45720" rIns="45720" bIns="17145" rtlCol="0" anchor="ctr"/>
          <a:lstStyle/>
          <a:p>
            <a:pPr algn="l" indent="0" marL="0">
              <a:buNone/>
            </a:pPr>
            <a:r>
              <a:rPr lang="en-US" sz="450" dirty="0">
                <a:solidFill>
                  <a:srgbClr val="00BCD4"/>
                </a:solidFill>
                <a:latin typeface="Inter" pitchFamily="34" charset="0"/>
                <a:ea typeface="Inter" pitchFamily="34" charset="-122"/>
                <a:cs typeface="Inter" pitchFamily="34" charset="-120"/>
              </a:rPr>
              <a:t>代码审计</a:t>
            </a:r>
            <a:endParaRPr lang="en-US" sz="450" dirty="0"/>
          </a:p>
        </p:txBody>
      </p:sp>
      <p:sp>
        <p:nvSpPr>
          <p:cNvPr id="19" name="Shape 16"/>
          <p:cNvSpPr/>
          <p:nvPr/>
        </p:nvSpPr>
        <p:spPr>
          <a:xfrm>
            <a:off x="1171575" y="2014538"/>
            <a:ext cx="331470" cy="131445"/>
          </a:xfrm>
          <a:prstGeom prst="roundRect">
            <a:avLst>
              <a:gd name="adj" fmla="val 17391"/>
            </a:avLst>
          </a:prstGeom>
          <a:solidFill>
            <a:srgbClr val="2196F3">
              <a:alpha val="12000"/>
            </a:srgbClr>
          </a:solidFill>
          <a:ln w="5715">
            <a:solidFill>
              <a:srgbClr val="2196F3">
                <a:alpha val="28000"/>
              </a:srgbClr>
            </a:solidFill>
            <a:prstDash val="solid"/>
          </a:ln>
        </p:spPr>
      </p:sp>
      <p:sp>
        <p:nvSpPr>
          <p:cNvPr id="20" name="Text 17"/>
          <p:cNvSpPr/>
          <p:nvPr/>
        </p:nvSpPr>
        <p:spPr>
          <a:xfrm>
            <a:off x="1171575" y="2014538"/>
            <a:ext cx="388620" cy="131445"/>
          </a:xfrm>
          <a:prstGeom prst="rect">
            <a:avLst/>
          </a:prstGeom>
          <a:noFill/>
          <a:ln/>
        </p:spPr>
        <p:txBody>
          <a:bodyPr wrap="none" lIns="17145" tIns="45720" rIns="45720" bIns="17145" rtlCol="0" anchor="ctr"/>
          <a:lstStyle/>
          <a:p>
            <a:pPr algn="l" indent="0" marL="0">
              <a:buNone/>
            </a:pPr>
            <a:r>
              <a:rPr lang="en-US" sz="450" dirty="0">
                <a:solidFill>
                  <a:srgbClr val="00BCD4"/>
                </a:solidFill>
                <a:latin typeface="Inter" pitchFamily="34" charset="0"/>
                <a:ea typeface="Inter" pitchFamily="34" charset="-122"/>
                <a:cs typeface="Inter" pitchFamily="34" charset="-120"/>
              </a:rPr>
              <a:t>社区讨论</a:t>
            </a:r>
            <a:endParaRPr lang="en-US" sz="450" dirty="0"/>
          </a:p>
        </p:txBody>
      </p:sp>
      <p:sp>
        <p:nvSpPr>
          <p:cNvPr id="21" name="Shape 18"/>
          <p:cNvSpPr/>
          <p:nvPr/>
        </p:nvSpPr>
        <p:spPr>
          <a:xfrm>
            <a:off x="2480310" y="925830"/>
            <a:ext cx="2045970" cy="1828800"/>
          </a:xfrm>
          <a:prstGeom prst="roundRect">
            <a:avLst>
              <a:gd name="adj" fmla="val 3750"/>
            </a:avLst>
          </a:prstGeom>
          <a:gradFill rotWithShape="1">
            <a:gsLst>
              <a:gs pos="0">
                <a:srgbClr val="111F36"/>
              </a:gs>
              <a:gs pos="100000">
                <a:srgbClr val="0D1A2E"/>
              </a:gs>
            </a:gsLst>
            <a:lin ang="4200000" scaled="0"/>
          </a:gradFill>
          <a:ln w="5715">
            <a:solidFill>
              <a:srgbClr val="1E3A5F"/>
            </a:solidFill>
            <a:prstDash val="solid"/>
          </a:ln>
        </p:spPr>
      </p:sp>
      <p:sp>
        <p:nvSpPr>
          <p:cNvPr id="22" name="Shape 19"/>
          <p:cNvSpPr/>
          <p:nvPr/>
        </p:nvSpPr>
        <p:spPr>
          <a:xfrm>
            <a:off x="2480310" y="925830"/>
            <a:ext cx="2034540" cy="17145"/>
          </a:xfrm>
          <a:prstGeom prst="rect">
            <a:avLst/>
          </a:prstGeom>
          <a:gradFill rotWithShape="1">
            <a:gsLst>
              <a:gs pos="0">
                <a:srgbClr val="2196F3"/>
              </a:gs>
              <a:gs pos="100000">
                <a:srgbClr val="00BCD4"/>
              </a:gs>
            </a:gsLst>
            <a:lin ang="0" scaled="0"/>
          </a:gradFill>
          <a:ln/>
        </p:spPr>
      </p:sp>
      <p:sp>
        <p:nvSpPr>
          <p:cNvPr id="23" name="Shape 20"/>
          <p:cNvSpPr/>
          <p:nvPr/>
        </p:nvSpPr>
        <p:spPr>
          <a:xfrm>
            <a:off x="4057650" y="2286000"/>
            <a:ext cx="685800" cy="685800"/>
          </a:xfrm>
          <a:prstGeom prst="ellipse">
            <a:avLst/>
          </a:prstGeom>
          <a:gradFill rotWithShape="1">
            <a:gsLst>
              <a:gs pos="0">
                <a:srgbClr val="2196F3">
                  <a:alpha val="10000"/>
                </a:srgbClr>
              </a:gs>
              <a:gs pos="70000">
                <a:srgbClr val="000000">
                  <a:alpha val="0"/>
                </a:srgbClr>
              </a:gs>
            </a:gsLst>
            <a:path path="circle">
              <a:fillToRect l="50000" t="50000" r="50000" b="50000"/>
            </a:path>
          </a:gradFill>
          <a:ln/>
        </p:spPr>
      </p:sp>
      <p:sp>
        <p:nvSpPr>
          <p:cNvPr id="24" name="Text 21"/>
          <p:cNvSpPr/>
          <p:nvPr/>
        </p:nvSpPr>
        <p:spPr>
          <a:xfrm>
            <a:off x="4189095" y="988695"/>
            <a:ext cx="438912" cy="222885"/>
          </a:xfrm>
          <a:prstGeom prst="rect">
            <a:avLst/>
          </a:prstGeom>
          <a:noFill/>
          <a:ln/>
        </p:spPr>
        <p:txBody>
          <a:bodyPr wrap="none" rtlCol="0" anchor="ctr"/>
          <a:lstStyle/>
          <a:p>
            <a:pPr algn="l" indent="0" marL="0">
              <a:buNone/>
            </a:pPr>
            <a:r>
              <a:rPr lang="en-US" sz="1440" b="1" dirty="0">
                <a:solidFill>
                  <a:srgbClr val="2196F3">
                    <a:alpha val="35000"/>
                  </a:srgbClr>
                </a:solidFill>
                <a:latin typeface="Inter" pitchFamily="34" charset="0"/>
                <a:ea typeface="Inter" pitchFamily="34" charset="-122"/>
                <a:cs typeface="Inter" pitchFamily="34" charset="-120"/>
              </a:rPr>
              <a:t>02</a:t>
            </a:r>
            <a:endParaRPr lang="en-US" sz="1440" dirty="0"/>
          </a:p>
        </p:txBody>
      </p:sp>
      <p:sp>
        <p:nvSpPr>
          <p:cNvPr id="25" name="Shape 22"/>
          <p:cNvSpPr/>
          <p:nvPr/>
        </p:nvSpPr>
        <p:spPr>
          <a:xfrm>
            <a:off x="2588895" y="1057275"/>
            <a:ext cx="240030" cy="240030"/>
          </a:xfrm>
          <a:prstGeom prst="roundRect">
            <a:avLst>
              <a:gd name="adj" fmla="val 23810"/>
            </a:avLst>
          </a:prstGeom>
          <a:gradFill rotWithShape="1">
            <a:gsLst>
              <a:gs pos="0">
                <a:srgbClr val="2196F3">
                  <a:alpha val="20000"/>
                </a:srgbClr>
              </a:gs>
              <a:gs pos="100000">
                <a:srgbClr val="00BCD4">
                  <a:alpha val="10000"/>
                </a:srgbClr>
              </a:gs>
            </a:gsLst>
            <a:lin ang="2700000" scaled="0"/>
          </a:gradFill>
          <a:ln w="5715">
            <a:solidFill>
              <a:srgbClr val="2196F3">
                <a:alpha val="30000"/>
              </a:srgbClr>
            </a:solidFill>
            <a:prstDash val="solid"/>
          </a:ln>
        </p:spPr>
      </p:sp>
      <p:pic>
        <p:nvPicPr>
          <p:cNvPr id="2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651760" y="1120140"/>
            <a:ext cx="114300" cy="114300"/>
          </a:xfrm>
          <a:prstGeom prst="rect">
            <a:avLst/>
          </a:prstGeom>
        </p:spPr>
      </p:pic>
      <p:sp>
        <p:nvSpPr>
          <p:cNvPr id="27" name="Text 23"/>
          <p:cNvSpPr/>
          <p:nvPr/>
        </p:nvSpPr>
        <p:spPr>
          <a:xfrm>
            <a:off x="2588895" y="1400175"/>
            <a:ext cx="497205" cy="114300"/>
          </a:xfrm>
          <a:prstGeom prst="rect">
            <a:avLst/>
          </a:prstGeom>
          <a:noFill/>
          <a:ln/>
        </p:spPr>
        <p:txBody>
          <a:bodyPr wrap="none" rtlCol="0" anchor="ctr"/>
          <a:lstStyle/>
          <a:p>
            <a:pPr algn="l" indent="0" marL="0">
              <a:buNone/>
            </a:pPr>
            <a:r>
              <a:rPr lang="en-US" sz="765" b="1" spc="23" kern="0" dirty="0">
                <a:solidFill>
                  <a:srgbClr val="E8EEF5"/>
                </a:solidFill>
                <a:latin typeface="Inter" pitchFamily="34" charset="0"/>
                <a:ea typeface="Inter" pitchFamily="34" charset="-122"/>
                <a:cs typeface="Inter" pitchFamily="34" charset="-120"/>
              </a:rPr>
              <a:t>唯才是举</a:t>
            </a:r>
            <a:endParaRPr lang="en-US" sz="765" dirty="0"/>
          </a:p>
        </p:txBody>
      </p:sp>
      <p:sp>
        <p:nvSpPr>
          <p:cNvPr id="28" name="Text 24"/>
          <p:cNvSpPr/>
          <p:nvPr/>
        </p:nvSpPr>
        <p:spPr>
          <a:xfrm>
            <a:off x="2588895" y="1548765"/>
            <a:ext cx="611276" cy="74295"/>
          </a:xfrm>
          <a:prstGeom prst="rect">
            <a:avLst/>
          </a:prstGeom>
          <a:noFill/>
          <a:ln/>
        </p:spPr>
        <p:txBody>
          <a:bodyPr wrap="none" rtlCol="0" anchor="ctr"/>
          <a:lstStyle/>
          <a:p>
            <a:pPr algn="l" indent="0" marL="0">
              <a:buNone/>
            </a:pPr>
            <a:r>
              <a:rPr lang="en-US" sz="473" spc="68" kern="0" dirty="0">
                <a:solidFill>
                  <a:srgbClr val="00BCD4"/>
                </a:solidFill>
                <a:latin typeface="Inter" pitchFamily="34" charset="0"/>
                <a:ea typeface="Inter" pitchFamily="34" charset="-122"/>
                <a:cs typeface="Inter" pitchFamily="34" charset="-120"/>
              </a:rPr>
              <a:t>MERITOCRACY</a:t>
            </a:r>
            <a:endParaRPr lang="en-US" sz="473" dirty="0"/>
          </a:p>
        </p:txBody>
      </p:sp>
      <p:sp>
        <p:nvSpPr>
          <p:cNvPr id="29" name="Text 25"/>
          <p:cNvSpPr/>
          <p:nvPr/>
        </p:nvSpPr>
        <p:spPr>
          <a:xfrm>
            <a:off x="2588895" y="1708785"/>
            <a:ext cx="1997050" cy="207169"/>
          </a:xfrm>
          <a:prstGeom prst="rect">
            <a:avLst/>
          </a:prstGeom>
          <a:noFill/>
          <a:ln/>
        </p:spPr>
        <p:txBody>
          <a:bodyPr wrap="square" rtlCol="0" anchor="ctr"/>
          <a:lstStyle/>
          <a:p>
            <a:pPr algn="l" indent="0" marL="0">
              <a:lnSpc>
                <a:spcPct val="170000"/>
              </a:lnSpc>
              <a:buNone/>
            </a:pPr>
            <a:r>
              <a:rPr lang="en-US" sz="563" dirty="0">
                <a:solidFill>
                  <a:srgbClr val="B0BEC5"/>
                </a:solidFill>
                <a:latin typeface="Inter" pitchFamily="34" charset="0"/>
                <a:ea typeface="Inter" pitchFamily="34" charset="-122"/>
                <a:cs typeface="Inter" pitchFamily="34" charset="-120"/>
              </a:rPr>
              <a:t>以技术贡献与社区影响力衡量话语权，能力优先于资历与职级。</a:t>
            </a:r>
            <a:endParaRPr lang="en-US" sz="563" dirty="0"/>
          </a:p>
        </p:txBody>
      </p:sp>
      <p:sp>
        <p:nvSpPr>
          <p:cNvPr id="30" name="Shape 26"/>
          <p:cNvSpPr/>
          <p:nvPr/>
        </p:nvSpPr>
        <p:spPr>
          <a:xfrm>
            <a:off x="2588895" y="2014538"/>
            <a:ext cx="331470" cy="131445"/>
          </a:xfrm>
          <a:prstGeom prst="roundRect">
            <a:avLst>
              <a:gd name="adj" fmla="val 17391"/>
            </a:avLst>
          </a:prstGeom>
          <a:solidFill>
            <a:srgbClr val="2196F3">
              <a:alpha val="12000"/>
            </a:srgbClr>
          </a:solidFill>
          <a:ln w="5715">
            <a:solidFill>
              <a:srgbClr val="2196F3">
                <a:alpha val="28000"/>
              </a:srgbClr>
            </a:solidFill>
            <a:prstDash val="solid"/>
          </a:ln>
        </p:spPr>
      </p:sp>
      <p:sp>
        <p:nvSpPr>
          <p:cNvPr id="31" name="Text 27"/>
          <p:cNvSpPr/>
          <p:nvPr/>
        </p:nvSpPr>
        <p:spPr>
          <a:xfrm>
            <a:off x="2588895" y="2014538"/>
            <a:ext cx="388620" cy="131445"/>
          </a:xfrm>
          <a:prstGeom prst="rect">
            <a:avLst/>
          </a:prstGeom>
          <a:noFill/>
          <a:ln/>
        </p:spPr>
        <p:txBody>
          <a:bodyPr wrap="none" lIns="17145" tIns="45720" rIns="45720" bIns="17145" rtlCol="0" anchor="ctr"/>
          <a:lstStyle/>
          <a:p>
            <a:pPr algn="l" indent="0" marL="0">
              <a:buNone/>
            </a:pPr>
            <a:r>
              <a:rPr lang="en-US" sz="450" dirty="0">
                <a:solidFill>
                  <a:srgbClr val="00BCD4"/>
                </a:solidFill>
                <a:latin typeface="Inter" pitchFamily="34" charset="0"/>
                <a:ea typeface="Inter" pitchFamily="34" charset="-122"/>
                <a:cs typeface="Inter" pitchFamily="34" charset="-120"/>
              </a:rPr>
              <a:t>技术优先</a:t>
            </a:r>
            <a:endParaRPr lang="en-US" sz="450" dirty="0"/>
          </a:p>
        </p:txBody>
      </p:sp>
      <p:sp>
        <p:nvSpPr>
          <p:cNvPr id="32" name="Shape 28"/>
          <p:cNvSpPr/>
          <p:nvPr/>
        </p:nvSpPr>
        <p:spPr>
          <a:xfrm>
            <a:off x="2948940" y="2014538"/>
            <a:ext cx="331470" cy="131445"/>
          </a:xfrm>
          <a:prstGeom prst="roundRect">
            <a:avLst>
              <a:gd name="adj" fmla="val 17391"/>
            </a:avLst>
          </a:prstGeom>
          <a:solidFill>
            <a:srgbClr val="2196F3">
              <a:alpha val="12000"/>
            </a:srgbClr>
          </a:solidFill>
          <a:ln w="5715">
            <a:solidFill>
              <a:srgbClr val="2196F3">
                <a:alpha val="28000"/>
              </a:srgbClr>
            </a:solidFill>
            <a:prstDash val="solid"/>
          </a:ln>
        </p:spPr>
      </p:sp>
      <p:sp>
        <p:nvSpPr>
          <p:cNvPr id="33" name="Text 29"/>
          <p:cNvSpPr/>
          <p:nvPr/>
        </p:nvSpPr>
        <p:spPr>
          <a:xfrm>
            <a:off x="2948940" y="2014538"/>
            <a:ext cx="388620" cy="131445"/>
          </a:xfrm>
          <a:prstGeom prst="rect">
            <a:avLst/>
          </a:prstGeom>
          <a:noFill/>
          <a:ln/>
        </p:spPr>
        <p:txBody>
          <a:bodyPr wrap="none" lIns="17145" tIns="45720" rIns="45720" bIns="17145" rtlCol="0" anchor="ctr"/>
          <a:lstStyle/>
          <a:p>
            <a:pPr algn="l" indent="0" marL="0">
              <a:buNone/>
            </a:pPr>
            <a:r>
              <a:rPr lang="en-US" sz="450" dirty="0">
                <a:solidFill>
                  <a:srgbClr val="00BCD4"/>
                </a:solidFill>
                <a:latin typeface="Inter" pitchFamily="34" charset="0"/>
                <a:ea typeface="Inter" pitchFamily="34" charset="-122"/>
                <a:cs typeface="Inter" pitchFamily="34" charset="-120"/>
              </a:rPr>
              <a:t>贡献评价</a:t>
            </a:r>
            <a:endParaRPr lang="en-US" sz="450" dirty="0"/>
          </a:p>
        </p:txBody>
      </p:sp>
      <p:sp>
        <p:nvSpPr>
          <p:cNvPr id="34" name="Shape 30"/>
          <p:cNvSpPr/>
          <p:nvPr/>
        </p:nvSpPr>
        <p:spPr>
          <a:xfrm>
            <a:off x="3308985" y="2014538"/>
            <a:ext cx="331470" cy="131445"/>
          </a:xfrm>
          <a:prstGeom prst="roundRect">
            <a:avLst>
              <a:gd name="adj" fmla="val 17391"/>
            </a:avLst>
          </a:prstGeom>
          <a:solidFill>
            <a:srgbClr val="2196F3">
              <a:alpha val="12000"/>
            </a:srgbClr>
          </a:solidFill>
          <a:ln w="5715">
            <a:solidFill>
              <a:srgbClr val="2196F3">
                <a:alpha val="28000"/>
              </a:srgbClr>
            </a:solidFill>
            <a:prstDash val="solid"/>
          </a:ln>
        </p:spPr>
      </p:sp>
      <p:sp>
        <p:nvSpPr>
          <p:cNvPr id="35" name="Text 31"/>
          <p:cNvSpPr/>
          <p:nvPr/>
        </p:nvSpPr>
        <p:spPr>
          <a:xfrm>
            <a:off x="3308985" y="2014538"/>
            <a:ext cx="388620" cy="131445"/>
          </a:xfrm>
          <a:prstGeom prst="rect">
            <a:avLst/>
          </a:prstGeom>
          <a:noFill/>
          <a:ln/>
        </p:spPr>
        <p:txBody>
          <a:bodyPr wrap="none" lIns="17145" tIns="45720" rIns="45720" bIns="17145" rtlCol="0" anchor="ctr"/>
          <a:lstStyle/>
          <a:p>
            <a:pPr algn="l" indent="0" marL="0">
              <a:buNone/>
            </a:pPr>
            <a:r>
              <a:rPr lang="en-US" sz="450" dirty="0">
                <a:solidFill>
                  <a:srgbClr val="00BCD4"/>
                </a:solidFill>
                <a:latin typeface="Inter" pitchFamily="34" charset="0"/>
                <a:ea typeface="Inter" pitchFamily="34" charset="-122"/>
                <a:cs typeface="Inter" pitchFamily="34" charset="-120"/>
              </a:rPr>
              <a:t>能力导向</a:t>
            </a:r>
            <a:endParaRPr lang="en-US" sz="450" dirty="0"/>
          </a:p>
        </p:txBody>
      </p:sp>
      <p:sp>
        <p:nvSpPr>
          <p:cNvPr id="36" name="Shape 32"/>
          <p:cNvSpPr/>
          <p:nvPr/>
        </p:nvSpPr>
        <p:spPr>
          <a:xfrm>
            <a:off x="4617720" y="925830"/>
            <a:ext cx="2045970" cy="1828800"/>
          </a:xfrm>
          <a:prstGeom prst="roundRect">
            <a:avLst>
              <a:gd name="adj" fmla="val 3750"/>
            </a:avLst>
          </a:prstGeom>
          <a:gradFill rotWithShape="1">
            <a:gsLst>
              <a:gs pos="0">
                <a:srgbClr val="111F36"/>
              </a:gs>
              <a:gs pos="100000">
                <a:srgbClr val="0D1A2E"/>
              </a:gs>
            </a:gsLst>
            <a:lin ang="4200000" scaled="0"/>
          </a:gradFill>
          <a:ln w="5715">
            <a:solidFill>
              <a:srgbClr val="1E3A5F"/>
            </a:solidFill>
            <a:prstDash val="solid"/>
          </a:ln>
        </p:spPr>
      </p:sp>
      <p:sp>
        <p:nvSpPr>
          <p:cNvPr id="37" name="Shape 33"/>
          <p:cNvSpPr/>
          <p:nvPr/>
        </p:nvSpPr>
        <p:spPr>
          <a:xfrm>
            <a:off x="4617720" y="925830"/>
            <a:ext cx="2034540" cy="17145"/>
          </a:xfrm>
          <a:prstGeom prst="rect">
            <a:avLst/>
          </a:prstGeom>
          <a:gradFill rotWithShape="1">
            <a:gsLst>
              <a:gs pos="0">
                <a:srgbClr val="2196F3"/>
              </a:gs>
              <a:gs pos="100000">
                <a:srgbClr val="00BCD4"/>
              </a:gs>
            </a:gsLst>
            <a:lin ang="0" scaled="0"/>
          </a:gradFill>
          <a:ln/>
        </p:spPr>
      </p:sp>
      <p:sp>
        <p:nvSpPr>
          <p:cNvPr id="38" name="Shape 34"/>
          <p:cNvSpPr/>
          <p:nvPr/>
        </p:nvSpPr>
        <p:spPr>
          <a:xfrm>
            <a:off x="6195060" y="2286000"/>
            <a:ext cx="685800" cy="685800"/>
          </a:xfrm>
          <a:prstGeom prst="ellipse">
            <a:avLst/>
          </a:prstGeom>
          <a:gradFill rotWithShape="1">
            <a:gsLst>
              <a:gs pos="0">
                <a:srgbClr val="2196F3">
                  <a:alpha val="10000"/>
                </a:srgbClr>
              </a:gs>
              <a:gs pos="70000">
                <a:srgbClr val="000000">
                  <a:alpha val="0"/>
                </a:srgbClr>
              </a:gs>
            </a:gsLst>
            <a:path path="circle">
              <a:fillToRect l="50000" t="50000" r="50000" b="50000"/>
            </a:path>
          </a:gradFill>
          <a:ln/>
        </p:spPr>
      </p:sp>
      <p:sp>
        <p:nvSpPr>
          <p:cNvPr id="39" name="Text 35"/>
          <p:cNvSpPr/>
          <p:nvPr/>
        </p:nvSpPr>
        <p:spPr>
          <a:xfrm>
            <a:off x="6320790" y="988695"/>
            <a:ext cx="438912" cy="222885"/>
          </a:xfrm>
          <a:prstGeom prst="rect">
            <a:avLst/>
          </a:prstGeom>
          <a:noFill/>
          <a:ln/>
        </p:spPr>
        <p:txBody>
          <a:bodyPr wrap="none" rtlCol="0" anchor="ctr"/>
          <a:lstStyle/>
          <a:p>
            <a:pPr algn="l" indent="0" marL="0">
              <a:buNone/>
            </a:pPr>
            <a:r>
              <a:rPr lang="en-US" sz="1440" b="1" dirty="0">
                <a:solidFill>
                  <a:srgbClr val="2196F3">
                    <a:alpha val="35000"/>
                  </a:srgbClr>
                </a:solidFill>
                <a:latin typeface="Inter" pitchFamily="34" charset="0"/>
                <a:ea typeface="Inter" pitchFamily="34" charset="-122"/>
                <a:cs typeface="Inter" pitchFamily="34" charset="-120"/>
              </a:rPr>
              <a:t>03</a:t>
            </a:r>
            <a:endParaRPr lang="en-US" sz="1440" dirty="0"/>
          </a:p>
        </p:txBody>
      </p:sp>
      <p:sp>
        <p:nvSpPr>
          <p:cNvPr id="40" name="Shape 36"/>
          <p:cNvSpPr/>
          <p:nvPr/>
        </p:nvSpPr>
        <p:spPr>
          <a:xfrm>
            <a:off x="4726305" y="1057275"/>
            <a:ext cx="240030" cy="240030"/>
          </a:xfrm>
          <a:prstGeom prst="roundRect">
            <a:avLst>
              <a:gd name="adj" fmla="val 23810"/>
            </a:avLst>
          </a:prstGeom>
          <a:gradFill rotWithShape="1">
            <a:gsLst>
              <a:gs pos="0">
                <a:srgbClr val="2196F3">
                  <a:alpha val="20000"/>
                </a:srgbClr>
              </a:gs>
              <a:gs pos="100000">
                <a:srgbClr val="00BCD4">
                  <a:alpha val="10000"/>
                </a:srgbClr>
              </a:gs>
            </a:gsLst>
            <a:lin ang="2700000" scaled="0"/>
          </a:gradFill>
          <a:ln w="5715">
            <a:solidFill>
              <a:srgbClr val="2196F3">
                <a:alpha val="30000"/>
              </a:srgbClr>
            </a:solidFill>
            <a:prstDash val="solid"/>
          </a:ln>
        </p:spPr>
      </p:sp>
      <p:pic>
        <p:nvPicPr>
          <p:cNvPr id="4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789170" y="1120140"/>
            <a:ext cx="114300" cy="114300"/>
          </a:xfrm>
          <a:prstGeom prst="rect">
            <a:avLst/>
          </a:prstGeom>
        </p:spPr>
      </p:pic>
      <p:sp>
        <p:nvSpPr>
          <p:cNvPr id="42" name="Text 37"/>
          <p:cNvSpPr/>
          <p:nvPr/>
        </p:nvSpPr>
        <p:spPr>
          <a:xfrm>
            <a:off x="4726305" y="1400175"/>
            <a:ext cx="597218" cy="114300"/>
          </a:xfrm>
          <a:prstGeom prst="rect">
            <a:avLst/>
          </a:prstGeom>
          <a:noFill/>
          <a:ln/>
        </p:spPr>
        <p:txBody>
          <a:bodyPr wrap="none" rtlCol="0" anchor="ctr"/>
          <a:lstStyle/>
          <a:p>
            <a:pPr algn="l" indent="0" marL="0">
              <a:buNone/>
            </a:pPr>
            <a:r>
              <a:rPr lang="en-US" sz="765" b="1" spc="23" kern="0" dirty="0">
                <a:solidFill>
                  <a:srgbClr val="E8EEF5"/>
                </a:solidFill>
                <a:latin typeface="Inter" pitchFamily="34" charset="0"/>
                <a:ea typeface="Inter" pitchFamily="34" charset="-122"/>
                <a:cs typeface="Inter" pitchFamily="34" charset="-120"/>
              </a:rPr>
              <a:t>渐进式参与</a:t>
            </a:r>
            <a:endParaRPr lang="en-US" sz="765" dirty="0"/>
          </a:p>
        </p:txBody>
      </p:sp>
      <p:sp>
        <p:nvSpPr>
          <p:cNvPr id="43" name="Text 38"/>
          <p:cNvSpPr/>
          <p:nvPr/>
        </p:nvSpPr>
        <p:spPr>
          <a:xfrm>
            <a:off x="4726305" y="1548765"/>
            <a:ext cx="1184148" cy="74295"/>
          </a:xfrm>
          <a:prstGeom prst="rect">
            <a:avLst/>
          </a:prstGeom>
          <a:noFill/>
          <a:ln/>
        </p:spPr>
        <p:txBody>
          <a:bodyPr wrap="none" rtlCol="0" anchor="ctr"/>
          <a:lstStyle/>
          <a:p>
            <a:pPr algn="l" indent="0" marL="0">
              <a:buNone/>
            </a:pPr>
            <a:r>
              <a:rPr lang="en-US" sz="473" spc="68" kern="0" dirty="0">
                <a:solidFill>
                  <a:srgbClr val="00BCD4"/>
                </a:solidFill>
                <a:latin typeface="Inter" pitchFamily="34" charset="0"/>
                <a:ea typeface="Inter" pitchFamily="34" charset="-122"/>
                <a:cs typeface="Inter" pitchFamily="34" charset="-120"/>
              </a:rPr>
              <a:t>PROGRESSIVE ENGAGEMENT</a:t>
            </a:r>
            <a:endParaRPr lang="en-US" sz="473" dirty="0"/>
          </a:p>
        </p:txBody>
      </p:sp>
      <p:sp>
        <p:nvSpPr>
          <p:cNvPr id="44" name="Text 39"/>
          <p:cNvSpPr/>
          <p:nvPr/>
        </p:nvSpPr>
        <p:spPr>
          <a:xfrm>
            <a:off x="4726305" y="1708785"/>
            <a:ext cx="1830629" cy="207169"/>
          </a:xfrm>
          <a:prstGeom prst="rect">
            <a:avLst/>
          </a:prstGeom>
          <a:noFill/>
          <a:ln/>
        </p:spPr>
        <p:txBody>
          <a:bodyPr wrap="square" rtlCol="0" anchor="ctr"/>
          <a:lstStyle/>
          <a:p>
            <a:pPr algn="l" indent="0" marL="0">
              <a:lnSpc>
                <a:spcPct val="170000"/>
              </a:lnSpc>
              <a:buNone/>
            </a:pPr>
            <a:r>
              <a:rPr lang="en-US" sz="563" dirty="0">
                <a:solidFill>
                  <a:srgbClr val="B0BEC5"/>
                </a:solidFill>
                <a:latin typeface="Inter" pitchFamily="34" charset="0"/>
                <a:ea typeface="Inter" pitchFamily="34" charset="-122"/>
                <a:cs typeface="Inter" pitchFamily="34" charset="-120"/>
              </a:rPr>
              <a:t>新人从简单 Issue 开始逐步深入，社区提供友好的 Onboarding 路径。</a:t>
            </a:r>
            <a:endParaRPr lang="en-US" sz="563" dirty="0"/>
          </a:p>
        </p:txBody>
      </p:sp>
      <p:sp>
        <p:nvSpPr>
          <p:cNvPr id="45" name="Shape 40"/>
          <p:cNvSpPr/>
          <p:nvPr/>
        </p:nvSpPr>
        <p:spPr>
          <a:xfrm>
            <a:off x="4726305" y="2014538"/>
            <a:ext cx="331470" cy="131445"/>
          </a:xfrm>
          <a:prstGeom prst="roundRect">
            <a:avLst>
              <a:gd name="adj" fmla="val 17391"/>
            </a:avLst>
          </a:prstGeom>
          <a:solidFill>
            <a:srgbClr val="2196F3">
              <a:alpha val="12000"/>
            </a:srgbClr>
          </a:solidFill>
          <a:ln w="5715">
            <a:solidFill>
              <a:srgbClr val="2196F3">
                <a:alpha val="28000"/>
              </a:srgbClr>
            </a:solidFill>
            <a:prstDash val="solid"/>
          </a:ln>
        </p:spPr>
      </p:sp>
      <p:sp>
        <p:nvSpPr>
          <p:cNvPr id="46" name="Text 41"/>
          <p:cNvSpPr/>
          <p:nvPr/>
        </p:nvSpPr>
        <p:spPr>
          <a:xfrm>
            <a:off x="4726305" y="2014538"/>
            <a:ext cx="388620" cy="131445"/>
          </a:xfrm>
          <a:prstGeom prst="rect">
            <a:avLst/>
          </a:prstGeom>
          <a:noFill/>
          <a:ln/>
        </p:spPr>
        <p:txBody>
          <a:bodyPr wrap="none" lIns="17145" tIns="45720" rIns="45720" bIns="17145" rtlCol="0" anchor="ctr"/>
          <a:lstStyle/>
          <a:p>
            <a:pPr algn="l" indent="0" marL="0">
              <a:buNone/>
            </a:pPr>
            <a:r>
              <a:rPr lang="en-US" sz="450" dirty="0">
                <a:solidFill>
                  <a:srgbClr val="00BCD4"/>
                </a:solidFill>
                <a:latin typeface="Inter" pitchFamily="34" charset="0"/>
                <a:ea typeface="Inter" pitchFamily="34" charset="-122"/>
                <a:cs typeface="Inter" pitchFamily="34" charset="-120"/>
              </a:rPr>
              <a:t>友好入门</a:t>
            </a:r>
            <a:endParaRPr lang="en-US" sz="450" dirty="0"/>
          </a:p>
        </p:txBody>
      </p:sp>
      <p:sp>
        <p:nvSpPr>
          <p:cNvPr id="47" name="Shape 42"/>
          <p:cNvSpPr/>
          <p:nvPr/>
        </p:nvSpPr>
        <p:spPr>
          <a:xfrm>
            <a:off x="5086350" y="2014538"/>
            <a:ext cx="377190" cy="131445"/>
          </a:xfrm>
          <a:prstGeom prst="roundRect">
            <a:avLst>
              <a:gd name="adj" fmla="val 17391"/>
            </a:avLst>
          </a:prstGeom>
          <a:solidFill>
            <a:srgbClr val="2196F3">
              <a:alpha val="12000"/>
            </a:srgbClr>
          </a:solidFill>
          <a:ln w="5715">
            <a:solidFill>
              <a:srgbClr val="2196F3">
                <a:alpha val="28000"/>
              </a:srgbClr>
            </a:solidFill>
            <a:prstDash val="solid"/>
          </a:ln>
        </p:spPr>
      </p:sp>
      <p:sp>
        <p:nvSpPr>
          <p:cNvPr id="48" name="Text 43"/>
          <p:cNvSpPr/>
          <p:nvPr/>
        </p:nvSpPr>
        <p:spPr>
          <a:xfrm>
            <a:off x="5086350" y="2014538"/>
            <a:ext cx="434340" cy="131445"/>
          </a:xfrm>
          <a:prstGeom prst="rect">
            <a:avLst/>
          </a:prstGeom>
          <a:noFill/>
          <a:ln/>
        </p:spPr>
        <p:txBody>
          <a:bodyPr wrap="square" lIns="17145" tIns="45720" rIns="45720" bIns="17145" rtlCol="0" anchor="ctr"/>
          <a:lstStyle/>
          <a:p>
            <a:pPr algn="l" indent="0" marL="0">
              <a:buNone/>
            </a:pPr>
            <a:r>
              <a:rPr lang="en-US" sz="450" dirty="0">
                <a:solidFill>
                  <a:srgbClr val="00BCD4"/>
                </a:solidFill>
                <a:latin typeface="Inter" pitchFamily="34" charset="0"/>
                <a:ea typeface="Inter" pitchFamily="34" charset="-122"/>
                <a:cs typeface="Inter" pitchFamily="34" charset="-120"/>
              </a:rPr>
              <a:t>Issue 引导</a:t>
            </a:r>
            <a:endParaRPr lang="en-US" sz="450" dirty="0"/>
          </a:p>
        </p:txBody>
      </p:sp>
      <p:sp>
        <p:nvSpPr>
          <p:cNvPr id="49" name="Shape 44"/>
          <p:cNvSpPr/>
          <p:nvPr/>
        </p:nvSpPr>
        <p:spPr>
          <a:xfrm>
            <a:off x="5492115" y="2014538"/>
            <a:ext cx="428625" cy="131445"/>
          </a:xfrm>
          <a:prstGeom prst="roundRect">
            <a:avLst>
              <a:gd name="adj" fmla="val 17391"/>
            </a:avLst>
          </a:prstGeom>
          <a:solidFill>
            <a:srgbClr val="2196F3">
              <a:alpha val="12000"/>
            </a:srgbClr>
          </a:solidFill>
          <a:ln w="5715">
            <a:solidFill>
              <a:srgbClr val="2196F3">
                <a:alpha val="28000"/>
              </a:srgbClr>
            </a:solidFill>
            <a:prstDash val="solid"/>
          </a:ln>
        </p:spPr>
      </p:sp>
      <p:sp>
        <p:nvSpPr>
          <p:cNvPr id="50" name="Text 45"/>
          <p:cNvSpPr/>
          <p:nvPr/>
        </p:nvSpPr>
        <p:spPr>
          <a:xfrm>
            <a:off x="5492115" y="2014538"/>
            <a:ext cx="485775" cy="131445"/>
          </a:xfrm>
          <a:prstGeom prst="rect">
            <a:avLst/>
          </a:prstGeom>
          <a:noFill/>
          <a:ln/>
        </p:spPr>
        <p:txBody>
          <a:bodyPr wrap="square" lIns="17145" tIns="45720" rIns="45720" bIns="17145" rtlCol="0" anchor="ctr"/>
          <a:lstStyle/>
          <a:p>
            <a:pPr algn="l" indent="0" marL="0">
              <a:buNone/>
            </a:pPr>
            <a:r>
              <a:rPr lang="en-US" sz="450" dirty="0">
                <a:solidFill>
                  <a:srgbClr val="00BCD4"/>
                </a:solidFill>
                <a:latin typeface="Inter" pitchFamily="34" charset="0"/>
                <a:ea typeface="Inter" pitchFamily="34" charset="-122"/>
                <a:cs typeface="Inter" pitchFamily="34" charset="-120"/>
              </a:rPr>
              <a:t>Onboarding</a:t>
            </a:r>
            <a:endParaRPr lang="en-US" sz="450" dirty="0"/>
          </a:p>
        </p:txBody>
      </p:sp>
      <p:sp>
        <p:nvSpPr>
          <p:cNvPr id="51" name="Shape 46"/>
          <p:cNvSpPr/>
          <p:nvPr/>
        </p:nvSpPr>
        <p:spPr>
          <a:xfrm>
            <a:off x="6755130" y="925830"/>
            <a:ext cx="2045970" cy="1828800"/>
          </a:xfrm>
          <a:prstGeom prst="roundRect">
            <a:avLst>
              <a:gd name="adj" fmla="val 3750"/>
            </a:avLst>
          </a:prstGeom>
          <a:gradFill rotWithShape="1">
            <a:gsLst>
              <a:gs pos="0">
                <a:srgbClr val="111F36"/>
              </a:gs>
              <a:gs pos="100000">
                <a:srgbClr val="0D1A2E"/>
              </a:gs>
            </a:gsLst>
            <a:lin ang="4200000" scaled="0"/>
          </a:gradFill>
          <a:ln w="5715">
            <a:solidFill>
              <a:srgbClr val="1E3A5F"/>
            </a:solidFill>
            <a:prstDash val="solid"/>
          </a:ln>
        </p:spPr>
      </p:sp>
      <p:sp>
        <p:nvSpPr>
          <p:cNvPr id="52" name="Shape 47"/>
          <p:cNvSpPr/>
          <p:nvPr/>
        </p:nvSpPr>
        <p:spPr>
          <a:xfrm>
            <a:off x="6755130" y="925830"/>
            <a:ext cx="2034540" cy="17145"/>
          </a:xfrm>
          <a:prstGeom prst="rect">
            <a:avLst/>
          </a:prstGeom>
          <a:gradFill rotWithShape="1">
            <a:gsLst>
              <a:gs pos="0">
                <a:srgbClr val="2196F3"/>
              </a:gs>
              <a:gs pos="100000">
                <a:srgbClr val="00BCD4"/>
              </a:gs>
            </a:gsLst>
            <a:lin ang="0" scaled="0"/>
          </a:gradFill>
          <a:ln/>
        </p:spPr>
      </p:sp>
      <p:sp>
        <p:nvSpPr>
          <p:cNvPr id="53" name="Shape 48"/>
          <p:cNvSpPr/>
          <p:nvPr/>
        </p:nvSpPr>
        <p:spPr>
          <a:xfrm>
            <a:off x="8332470" y="2286000"/>
            <a:ext cx="685800" cy="685800"/>
          </a:xfrm>
          <a:prstGeom prst="ellipse">
            <a:avLst/>
          </a:prstGeom>
          <a:gradFill rotWithShape="1">
            <a:gsLst>
              <a:gs pos="0">
                <a:srgbClr val="2196F3">
                  <a:alpha val="10000"/>
                </a:srgbClr>
              </a:gs>
              <a:gs pos="70000">
                <a:srgbClr val="000000">
                  <a:alpha val="0"/>
                </a:srgbClr>
              </a:gs>
            </a:gsLst>
            <a:path path="circle">
              <a:fillToRect l="50000" t="50000" r="50000" b="50000"/>
            </a:path>
          </a:gradFill>
          <a:ln/>
        </p:spPr>
      </p:sp>
      <p:sp>
        <p:nvSpPr>
          <p:cNvPr id="54" name="Text 49"/>
          <p:cNvSpPr/>
          <p:nvPr/>
        </p:nvSpPr>
        <p:spPr>
          <a:xfrm>
            <a:off x="8452485" y="988695"/>
            <a:ext cx="438912" cy="222885"/>
          </a:xfrm>
          <a:prstGeom prst="rect">
            <a:avLst/>
          </a:prstGeom>
          <a:noFill/>
          <a:ln/>
        </p:spPr>
        <p:txBody>
          <a:bodyPr wrap="none" rtlCol="0" anchor="ctr"/>
          <a:lstStyle/>
          <a:p>
            <a:pPr algn="l" indent="0" marL="0">
              <a:buNone/>
            </a:pPr>
            <a:r>
              <a:rPr lang="en-US" sz="1440" b="1" dirty="0">
                <a:solidFill>
                  <a:srgbClr val="2196F3">
                    <a:alpha val="35000"/>
                  </a:srgbClr>
                </a:solidFill>
                <a:latin typeface="Inter" pitchFamily="34" charset="0"/>
                <a:ea typeface="Inter" pitchFamily="34" charset="-122"/>
                <a:cs typeface="Inter" pitchFamily="34" charset="-120"/>
              </a:rPr>
              <a:t>04</a:t>
            </a:r>
            <a:endParaRPr lang="en-US" sz="1440" dirty="0"/>
          </a:p>
        </p:txBody>
      </p:sp>
      <p:sp>
        <p:nvSpPr>
          <p:cNvPr id="55" name="Shape 50"/>
          <p:cNvSpPr/>
          <p:nvPr/>
        </p:nvSpPr>
        <p:spPr>
          <a:xfrm>
            <a:off x="6863715" y="1057275"/>
            <a:ext cx="240030" cy="240030"/>
          </a:xfrm>
          <a:prstGeom prst="roundRect">
            <a:avLst>
              <a:gd name="adj" fmla="val 23810"/>
            </a:avLst>
          </a:prstGeom>
          <a:gradFill rotWithShape="1">
            <a:gsLst>
              <a:gs pos="0">
                <a:srgbClr val="2196F3">
                  <a:alpha val="20000"/>
                </a:srgbClr>
              </a:gs>
              <a:gs pos="100000">
                <a:srgbClr val="00BCD4">
                  <a:alpha val="10000"/>
                </a:srgbClr>
              </a:gs>
            </a:gsLst>
            <a:lin ang="2700000" scaled="0"/>
          </a:gradFill>
          <a:ln w="5715">
            <a:solidFill>
              <a:srgbClr val="2196F3">
                <a:alpha val="30000"/>
              </a:srgbClr>
            </a:solidFill>
            <a:prstDash val="solid"/>
          </a:ln>
        </p:spPr>
      </p:sp>
      <p:pic>
        <p:nvPicPr>
          <p:cNvPr id="56"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926580" y="1120140"/>
            <a:ext cx="114300" cy="114300"/>
          </a:xfrm>
          <a:prstGeom prst="rect">
            <a:avLst/>
          </a:prstGeom>
        </p:spPr>
      </p:pic>
      <p:sp>
        <p:nvSpPr>
          <p:cNvPr id="57" name="Text 51"/>
          <p:cNvSpPr/>
          <p:nvPr/>
        </p:nvSpPr>
        <p:spPr>
          <a:xfrm>
            <a:off x="6863715" y="1400175"/>
            <a:ext cx="697230" cy="114300"/>
          </a:xfrm>
          <a:prstGeom prst="rect">
            <a:avLst/>
          </a:prstGeom>
          <a:noFill/>
          <a:ln/>
        </p:spPr>
        <p:txBody>
          <a:bodyPr wrap="none" rtlCol="0" anchor="ctr"/>
          <a:lstStyle/>
          <a:p>
            <a:pPr algn="l" indent="0" marL="0">
              <a:buNone/>
            </a:pPr>
            <a:r>
              <a:rPr lang="en-US" sz="765" b="1" spc="23" kern="0" dirty="0">
                <a:solidFill>
                  <a:srgbClr val="E8EEF5"/>
                </a:solidFill>
                <a:latin typeface="Inter" pitchFamily="34" charset="0"/>
                <a:ea typeface="Inter" pitchFamily="34" charset="-122"/>
                <a:cs typeface="Inter" pitchFamily="34" charset="-120"/>
              </a:rPr>
              <a:t>多元治理模式</a:t>
            </a:r>
            <a:endParaRPr lang="en-US" sz="765" dirty="0"/>
          </a:p>
        </p:txBody>
      </p:sp>
      <p:sp>
        <p:nvSpPr>
          <p:cNvPr id="58" name="Text 52"/>
          <p:cNvSpPr/>
          <p:nvPr/>
        </p:nvSpPr>
        <p:spPr>
          <a:xfrm>
            <a:off x="6863715" y="1548765"/>
            <a:ext cx="960120" cy="74295"/>
          </a:xfrm>
          <a:prstGeom prst="rect">
            <a:avLst/>
          </a:prstGeom>
          <a:noFill/>
          <a:ln/>
        </p:spPr>
        <p:txBody>
          <a:bodyPr wrap="none" rtlCol="0" anchor="ctr"/>
          <a:lstStyle/>
          <a:p>
            <a:pPr algn="l" indent="0" marL="0">
              <a:buNone/>
            </a:pPr>
            <a:r>
              <a:rPr lang="en-US" sz="473" spc="68" kern="0" dirty="0">
                <a:solidFill>
                  <a:srgbClr val="00BCD4"/>
                </a:solidFill>
                <a:latin typeface="Inter" pitchFamily="34" charset="0"/>
                <a:ea typeface="Inter" pitchFamily="34" charset="-122"/>
                <a:cs typeface="Inter" pitchFamily="34" charset="-120"/>
              </a:rPr>
              <a:t>DIVERSE GOVERNANCE</a:t>
            </a:r>
            <a:endParaRPr lang="en-US" sz="473" dirty="0"/>
          </a:p>
        </p:txBody>
      </p:sp>
      <p:sp>
        <p:nvSpPr>
          <p:cNvPr id="59" name="Text 53"/>
          <p:cNvSpPr/>
          <p:nvPr/>
        </p:nvSpPr>
        <p:spPr>
          <a:xfrm>
            <a:off x="6863715" y="1708785"/>
            <a:ext cx="1997050" cy="207169"/>
          </a:xfrm>
          <a:prstGeom prst="rect">
            <a:avLst/>
          </a:prstGeom>
          <a:noFill/>
          <a:ln/>
        </p:spPr>
        <p:txBody>
          <a:bodyPr wrap="square" rtlCol="0" anchor="ctr"/>
          <a:lstStyle/>
          <a:p>
            <a:pPr algn="l" indent="0" marL="0">
              <a:lnSpc>
                <a:spcPct val="170000"/>
              </a:lnSpc>
              <a:buNone/>
            </a:pPr>
            <a:r>
              <a:rPr lang="en-US" sz="563" dirty="0">
                <a:solidFill>
                  <a:srgbClr val="B0BEC5"/>
                </a:solidFill>
                <a:latin typeface="Inter" pitchFamily="34" charset="0"/>
                <a:ea typeface="Inter" pitchFamily="34" charset="-122"/>
                <a:cs typeface="Inter" pitchFamily="34" charset="-120"/>
              </a:rPr>
              <a:t>从个人主导到委员会制再到基金会托管，不同项目适配不同治理结构。</a:t>
            </a:r>
            <a:endParaRPr lang="en-US" sz="563" dirty="0"/>
          </a:p>
        </p:txBody>
      </p:sp>
      <p:sp>
        <p:nvSpPr>
          <p:cNvPr id="60" name="Shape 54"/>
          <p:cNvSpPr/>
          <p:nvPr/>
        </p:nvSpPr>
        <p:spPr>
          <a:xfrm>
            <a:off x="6863715" y="2014538"/>
            <a:ext cx="382905" cy="131445"/>
          </a:xfrm>
          <a:prstGeom prst="roundRect">
            <a:avLst>
              <a:gd name="adj" fmla="val 17391"/>
            </a:avLst>
          </a:prstGeom>
          <a:solidFill>
            <a:srgbClr val="2196F3">
              <a:alpha val="12000"/>
            </a:srgbClr>
          </a:solidFill>
          <a:ln w="5715">
            <a:solidFill>
              <a:srgbClr val="2196F3">
                <a:alpha val="28000"/>
              </a:srgbClr>
            </a:solidFill>
            <a:prstDash val="solid"/>
          </a:ln>
        </p:spPr>
      </p:sp>
      <p:sp>
        <p:nvSpPr>
          <p:cNvPr id="61" name="Text 55"/>
          <p:cNvSpPr/>
          <p:nvPr/>
        </p:nvSpPr>
        <p:spPr>
          <a:xfrm>
            <a:off x="6863715" y="2014538"/>
            <a:ext cx="440055" cy="131445"/>
          </a:xfrm>
          <a:prstGeom prst="rect">
            <a:avLst/>
          </a:prstGeom>
          <a:noFill/>
          <a:ln/>
        </p:spPr>
        <p:txBody>
          <a:bodyPr wrap="square" lIns="17145" tIns="45720" rIns="45720" bIns="17145" rtlCol="0" anchor="ctr"/>
          <a:lstStyle/>
          <a:p>
            <a:pPr algn="l" indent="0" marL="0">
              <a:buNone/>
            </a:pPr>
            <a:r>
              <a:rPr lang="en-US" sz="450" dirty="0">
                <a:solidFill>
                  <a:srgbClr val="00BCD4"/>
                </a:solidFill>
                <a:latin typeface="Inter" pitchFamily="34" charset="0"/>
                <a:ea typeface="Inter" pitchFamily="34" charset="-122"/>
                <a:cs typeface="Inter" pitchFamily="34" charset="-120"/>
              </a:rPr>
              <a:t>BDFL 模式</a:t>
            </a:r>
            <a:endParaRPr lang="en-US" sz="450" dirty="0"/>
          </a:p>
        </p:txBody>
      </p:sp>
      <p:sp>
        <p:nvSpPr>
          <p:cNvPr id="62" name="Shape 56"/>
          <p:cNvSpPr/>
          <p:nvPr/>
        </p:nvSpPr>
        <p:spPr>
          <a:xfrm>
            <a:off x="7275195" y="2014538"/>
            <a:ext cx="331470" cy="131445"/>
          </a:xfrm>
          <a:prstGeom prst="roundRect">
            <a:avLst>
              <a:gd name="adj" fmla="val 17391"/>
            </a:avLst>
          </a:prstGeom>
          <a:solidFill>
            <a:srgbClr val="2196F3">
              <a:alpha val="12000"/>
            </a:srgbClr>
          </a:solidFill>
          <a:ln w="5715">
            <a:solidFill>
              <a:srgbClr val="2196F3">
                <a:alpha val="28000"/>
              </a:srgbClr>
            </a:solidFill>
            <a:prstDash val="solid"/>
          </a:ln>
        </p:spPr>
      </p:sp>
      <p:sp>
        <p:nvSpPr>
          <p:cNvPr id="63" name="Text 57"/>
          <p:cNvSpPr/>
          <p:nvPr/>
        </p:nvSpPr>
        <p:spPr>
          <a:xfrm>
            <a:off x="7275195" y="2014538"/>
            <a:ext cx="388620" cy="131445"/>
          </a:xfrm>
          <a:prstGeom prst="rect">
            <a:avLst/>
          </a:prstGeom>
          <a:noFill/>
          <a:ln/>
        </p:spPr>
        <p:txBody>
          <a:bodyPr wrap="none" lIns="17145" tIns="45720" rIns="45720" bIns="17145" rtlCol="0" anchor="ctr"/>
          <a:lstStyle/>
          <a:p>
            <a:pPr algn="l" indent="0" marL="0">
              <a:buNone/>
            </a:pPr>
            <a:r>
              <a:rPr lang="en-US" sz="450" dirty="0">
                <a:solidFill>
                  <a:srgbClr val="00BCD4"/>
                </a:solidFill>
                <a:latin typeface="Inter" pitchFamily="34" charset="0"/>
                <a:ea typeface="Inter" pitchFamily="34" charset="-122"/>
                <a:cs typeface="Inter" pitchFamily="34" charset="-120"/>
              </a:rPr>
              <a:t>委员会制</a:t>
            </a:r>
            <a:endParaRPr lang="en-US" sz="450" dirty="0"/>
          </a:p>
        </p:txBody>
      </p:sp>
      <p:sp>
        <p:nvSpPr>
          <p:cNvPr id="64" name="Shape 58"/>
          <p:cNvSpPr/>
          <p:nvPr/>
        </p:nvSpPr>
        <p:spPr>
          <a:xfrm>
            <a:off x="7635240" y="2014538"/>
            <a:ext cx="274320" cy="131445"/>
          </a:xfrm>
          <a:prstGeom prst="roundRect">
            <a:avLst>
              <a:gd name="adj" fmla="val 17391"/>
            </a:avLst>
          </a:prstGeom>
          <a:solidFill>
            <a:srgbClr val="2196F3">
              <a:alpha val="12000"/>
            </a:srgbClr>
          </a:solidFill>
          <a:ln w="5715">
            <a:solidFill>
              <a:srgbClr val="2196F3">
                <a:alpha val="28000"/>
              </a:srgbClr>
            </a:solidFill>
            <a:prstDash val="solid"/>
          </a:ln>
        </p:spPr>
      </p:sp>
      <p:sp>
        <p:nvSpPr>
          <p:cNvPr id="65" name="Text 59"/>
          <p:cNvSpPr/>
          <p:nvPr/>
        </p:nvSpPr>
        <p:spPr>
          <a:xfrm>
            <a:off x="7635240" y="2014538"/>
            <a:ext cx="331470" cy="131445"/>
          </a:xfrm>
          <a:prstGeom prst="rect">
            <a:avLst/>
          </a:prstGeom>
          <a:noFill/>
          <a:ln/>
        </p:spPr>
        <p:txBody>
          <a:bodyPr wrap="none" lIns="17145" tIns="45720" rIns="45720" bIns="17145" rtlCol="0" anchor="ctr"/>
          <a:lstStyle/>
          <a:p>
            <a:pPr algn="l" indent="0" marL="0">
              <a:buNone/>
            </a:pPr>
            <a:r>
              <a:rPr lang="en-US" sz="450" dirty="0">
                <a:solidFill>
                  <a:srgbClr val="00BCD4"/>
                </a:solidFill>
                <a:latin typeface="Inter" pitchFamily="34" charset="0"/>
                <a:ea typeface="Inter" pitchFamily="34" charset="-122"/>
                <a:cs typeface="Inter" pitchFamily="34" charset="-120"/>
              </a:rPr>
              <a:t>基金会</a:t>
            </a:r>
            <a:endParaRPr lang="en-US" sz="450" dirty="0"/>
          </a:p>
        </p:txBody>
      </p:sp>
      <p:sp>
        <p:nvSpPr>
          <p:cNvPr id="66" name="Shape 60"/>
          <p:cNvSpPr/>
          <p:nvPr/>
        </p:nvSpPr>
        <p:spPr>
          <a:xfrm>
            <a:off x="342900" y="3926205"/>
            <a:ext cx="8458200" cy="960120"/>
          </a:xfrm>
          <a:prstGeom prst="roundRect">
            <a:avLst>
              <a:gd name="adj" fmla="val 7143"/>
            </a:avLst>
          </a:prstGeom>
          <a:gradFill rotWithShape="1">
            <a:gsLst>
              <a:gs pos="0">
                <a:srgbClr val="111F36">
                  <a:alpha val="70000"/>
                </a:srgbClr>
              </a:gs>
              <a:gs pos="100000">
                <a:srgbClr val="0D1A2E">
                  <a:alpha val="40000"/>
                </a:srgbClr>
              </a:gs>
            </a:gsLst>
            <a:lin ang="2700000" scaled="0"/>
          </a:gradFill>
          <a:ln w="5715">
            <a:solidFill>
              <a:srgbClr val="2196F3">
                <a:alpha val="18000"/>
              </a:srgbClr>
            </a:solidFill>
            <a:prstDash val="solid"/>
          </a:ln>
        </p:spPr>
      </p:sp>
      <p:pic>
        <p:nvPicPr>
          <p:cNvPr id="67"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97205" y="4034790"/>
            <a:ext cx="1371600" cy="742950"/>
          </a:xfrm>
          <a:prstGeom prst="rect">
            <a:avLst/>
          </a:prstGeom>
        </p:spPr>
      </p:pic>
      <p:sp>
        <p:nvSpPr>
          <p:cNvPr id="68" name="Text 61"/>
          <p:cNvSpPr/>
          <p:nvPr/>
        </p:nvSpPr>
        <p:spPr>
          <a:xfrm>
            <a:off x="2028825" y="4285536"/>
            <a:ext cx="1241755" cy="91440"/>
          </a:xfrm>
          <a:prstGeom prst="rect">
            <a:avLst/>
          </a:prstGeom>
          <a:noFill/>
          <a:ln/>
        </p:spPr>
        <p:txBody>
          <a:bodyPr wrap="none" rtlCol="0" anchor="ctr"/>
          <a:lstStyle/>
          <a:p>
            <a:pPr algn="l" indent="0" marL="0">
              <a:buNone/>
            </a:pPr>
            <a:r>
              <a:rPr lang="en-US" sz="585" b="1" spc="45" kern="0" dirty="0">
                <a:solidFill>
                  <a:srgbClr val="00BCD4"/>
                </a:solidFill>
                <a:latin typeface="Inter" pitchFamily="34" charset="0"/>
                <a:ea typeface="Inter" pitchFamily="34" charset="-122"/>
                <a:cs typeface="Inter" pitchFamily="34" charset="-120"/>
              </a:rPr>
              <a:t>文化内核 · 协作机制 · 社区活力</a:t>
            </a:r>
            <a:endParaRPr lang="en-US" sz="585" dirty="0"/>
          </a:p>
        </p:txBody>
      </p:sp>
      <p:sp>
        <p:nvSpPr>
          <p:cNvPr id="69" name="Text 62"/>
          <p:cNvSpPr/>
          <p:nvPr/>
        </p:nvSpPr>
        <p:spPr>
          <a:xfrm>
            <a:off x="2028825" y="4434126"/>
            <a:ext cx="6970471" cy="85725"/>
          </a:xfrm>
          <a:prstGeom prst="rect">
            <a:avLst/>
          </a:prstGeom>
          <a:noFill/>
          <a:ln/>
        </p:spPr>
        <p:txBody>
          <a:bodyPr wrap="square" rtlCol="0" anchor="ctr"/>
          <a:lstStyle/>
          <a:p>
            <a:pPr algn="l" indent="0" marL="0">
              <a:lnSpc>
                <a:spcPct val="170000"/>
              </a:lnSpc>
              <a:buNone/>
            </a:pPr>
            <a:r>
              <a:rPr lang="en-US" sz="563" dirty="0">
                <a:solidFill>
                  <a:srgbClr val="B0BEC5"/>
                </a:solidFill>
                <a:latin typeface="Inter" pitchFamily="34" charset="0"/>
                <a:ea typeface="Inter" pitchFamily="34" charset="-122"/>
                <a:cs typeface="Inter" pitchFamily="34" charset="-120"/>
              </a:rPr>
              <a:t>开源社区的文化内核可以用"</a:t>
            </a:r>
            <a:pPr algn="l" indent="0" marL="0">
              <a:lnSpc>
                <a:spcPct val="170000"/>
              </a:lnSpc>
              <a:buNone/>
            </a:pPr>
            <a:r>
              <a:rPr lang="en-US" sz="563" b="1" dirty="0">
                <a:solidFill>
                  <a:srgbClr val="2196F3"/>
                </a:solidFill>
                <a:latin typeface="Inter" pitchFamily="34" charset="0"/>
                <a:ea typeface="Inter" pitchFamily="34" charset="-122"/>
                <a:cs typeface="Inter" pitchFamily="34" charset="-120"/>
              </a:rPr>
              <a:t>开放、贡献、平等</a:t>
            </a:r>
            <a:pPr algn="l" indent="0" marL="0">
              <a:lnSpc>
                <a:spcPct val="170000"/>
              </a:lnSpc>
              <a:buNone/>
            </a:pPr>
            <a:r>
              <a:rPr lang="en-US" sz="563" dirty="0">
                <a:solidFill>
                  <a:srgbClr val="B0BEC5"/>
                </a:solidFill>
                <a:latin typeface="Inter" pitchFamily="34" charset="0"/>
                <a:ea typeface="Inter" pitchFamily="34" charset="-122"/>
                <a:cs typeface="Inter" pitchFamily="34" charset="-120"/>
              </a:rPr>
              <a:t>"概括。透明的协作机制让任何人都能监督与参与决策，</a:t>
            </a:r>
            <a:pPr algn="l" indent="0" marL="0">
              <a:lnSpc>
                <a:spcPct val="170000"/>
              </a:lnSpc>
              <a:buNone/>
            </a:pPr>
            <a:r>
              <a:rPr lang="en-US" sz="563" b="1" dirty="0">
                <a:solidFill>
                  <a:srgbClr val="00BCD4"/>
                </a:solidFill>
                <a:latin typeface="Inter" pitchFamily="34" charset="0"/>
                <a:ea typeface="Inter" pitchFamily="34" charset="-122"/>
                <a:cs typeface="Inter" pitchFamily="34" charset="-120"/>
              </a:rPr>
              <a:t>Meritocracy</a:t>
            </a:r>
            <a:pPr algn="l" indent="0" marL="0">
              <a:lnSpc>
                <a:spcPct val="170000"/>
              </a:lnSpc>
              <a:buNone/>
            </a:pPr>
            <a:r>
              <a:rPr lang="en-US" sz="563" dirty="0">
                <a:solidFill>
                  <a:srgbClr val="B0BEC5"/>
                </a:solidFill>
                <a:latin typeface="Inter" pitchFamily="34" charset="0"/>
                <a:ea typeface="Inter" pitchFamily="34" charset="-122"/>
                <a:cs typeface="Inter" pitchFamily="34" charset="-120"/>
              </a:rPr>
              <a:t>原则保障了社区活力，理解这些文化基因有助于布道者更有效地引导新人。</a:t>
            </a:r>
            <a:endParaRPr lang="en-US" sz="563"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60D1A"/>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gradFill rotWithShape="1">
            <a:gsLst>
              <a:gs pos="0">
                <a:srgbClr val="000000">
                  <a:alpha val="5000"/>
                </a:srgbClr>
              </a:gs>
              <a:gs pos="25000">
                <a:srgbClr val="000000">
                  <a:alpha val="0"/>
                </a:srgbClr>
              </a:gs>
              <a:gs pos="50000">
                <a:srgbClr val="000000"/>
              </a:gs>
              <a:gs pos="75000">
                <a:srgbClr val="000000">
                  <a:alpha val="5000"/>
                </a:srgbClr>
              </a:gs>
              <a:gs pos="100000">
                <a:srgbClr val="000000">
                  <a:alpha val="0"/>
                </a:srgbClr>
              </a:gs>
            </a:gsLst>
            <a:lin ang="5400000" scaled="0"/>
          </a:gradFill>
          <a:ln/>
        </p:spPr>
      </p:sp>
      <p:sp>
        <p:nvSpPr>
          <p:cNvPr id="3" name="Text 1"/>
          <p:cNvSpPr/>
          <p:nvPr/>
        </p:nvSpPr>
        <p:spPr>
          <a:xfrm>
            <a:off x="0" y="0"/>
            <a:ext cx="10241280" cy="5143500"/>
          </a:xfrm>
          <a:prstGeom prst="rect">
            <a:avLst/>
          </a:prstGeom>
          <a:noFill/>
          <a:ln/>
        </p:spPr>
        <p:txBody>
          <a:bodyPr wrap="square" rtlCol="0" anchor="ctr"/>
          <a:lstStyle/>
          <a:p>
            <a:pPr algn="l" indent="0" marL="0">
              <a:lnSpc>
                <a:spcPct val="160000"/>
              </a:lnSpc>
              <a:buNone/>
            </a:pPr>
            <a:r>
              <a:rPr lang="en-US" sz="585" spc="90" kern="0" dirty="0">
                <a:solidFill>
                  <a:srgbClr val="00BCD4">
                    <a:alpha val="10000"/>
                  </a:srgbClr>
                </a:solidFill>
                <a:latin typeface="Courier New" pitchFamily="34" charset="0"/>
                <a:ea typeface="Courier New" pitchFamily="34" charset="-122"/>
                <a:cs typeface="Courier New" pitchFamily="34" charset="-120"/>
              </a:rPr>
              <a:t>const openSource = { community: "global", spirit: "collaboration", license: "MIT/GPL/Apache", contributors: Infinity, repos: [], languages: ["Python","JavaScript","Go","Rust","TypeScript"], motivation: ["growth","belonging","impact","passion"], trends: ["AI-assisted","enterprise","diversity"] };</a:t>
            </a:r>
            <a:endParaRPr lang="en-US" sz="585" dirty="0"/>
          </a:p>
        </p:txBody>
      </p:sp>
      <p:sp>
        <p:nvSpPr>
          <p:cNvPr id="4" name="Text 2"/>
          <p:cNvSpPr/>
          <p:nvPr/>
        </p:nvSpPr>
        <p:spPr>
          <a:xfrm>
            <a:off x="0" y="2057400"/>
            <a:ext cx="10241280" cy="5143500"/>
          </a:xfrm>
          <a:prstGeom prst="rect">
            <a:avLst/>
          </a:prstGeom>
          <a:noFill/>
          <a:ln/>
        </p:spPr>
        <p:txBody>
          <a:bodyPr wrap="square" rtlCol="0" anchor="ctr"/>
          <a:lstStyle/>
          <a:p>
            <a:pPr algn="l" indent="0" marL="0">
              <a:lnSpc>
                <a:spcPct val="160000"/>
              </a:lnSpc>
              <a:buNone/>
            </a:pPr>
            <a:r>
              <a:rPr lang="en-US" sz="585" spc="90" kern="0" dirty="0">
                <a:solidFill>
                  <a:srgbClr val="2196F3">
                    <a:alpha val="7000"/>
                  </a:srgbClr>
                </a:solidFill>
                <a:latin typeface="Courier New" pitchFamily="34" charset="0"/>
                <a:ea typeface="Courier New" pitchFamily="34" charset="-122"/>
                <a:cs typeface="Courier New" pitchFamily="34" charset="-120"/>
              </a:rPr>
              <a:t>git commit -m "summary &amp; outlook" &amp;&amp; git push origin main &amp;&amp; echo "building the open source ecosystem together" &amp;&amp; npm publish &amp;&amp; pip install future</a:t>
            </a:r>
            <a:endParaRPr lang="en-US" sz="585" dirty="0"/>
          </a:p>
        </p:txBody>
      </p:sp>
      <p:sp>
        <p:nvSpPr>
          <p:cNvPr id="5" name="Shape 3"/>
          <p:cNvSpPr/>
          <p:nvPr/>
        </p:nvSpPr>
        <p:spPr>
          <a:xfrm>
            <a:off x="114300" y="114300"/>
            <a:ext cx="685800" cy="685800"/>
          </a:xfrm>
          <a:prstGeom prst="rect">
            <a:avLst/>
          </a:prstGeom>
          <a:noFill/>
          <a:ln/>
        </p:spPr>
      </p:sp>
      <p:sp>
        <p:nvSpPr>
          <p:cNvPr id="6" name="Shape 4"/>
          <p:cNvSpPr/>
          <p:nvPr/>
        </p:nvSpPr>
        <p:spPr>
          <a:xfrm>
            <a:off x="114300" y="114300"/>
            <a:ext cx="685800" cy="0"/>
          </a:xfrm>
          <a:prstGeom prst="line">
            <a:avLst/>
          </a:prstGeom>
          <a:noFill/>
          <a:ln w="5715">
            <a:solidFill>
              <a:srgbClr val="2196F3">
                <a:alpha val="35000"/>
              </a:srgbClr>
            </a:solidFill>
            <a:prstDash val="solid"/>
          </a:ln>
        </p:spPr>
      </p:sp>
      <p:sp>
        <p:nvSpPr>
          <p:cNvPr id="7" name="Shape 5"/>
          <p:cNvSpPr/>
          <p:nvPr/>
        </p:nvSpPr>
        <p:spPr>
          <a:xfrm>
            <a:off x="114300" y="114300"/>
            <a:ext cx="0" cy="685800"/>
          </a:xfrm>
          <a:prstGeom prst="line">
            <a:avLst/>
          </a:prstGeom>
          <a:noFill/>
          <a:ln w="5715">
            <a:solidFill>
              <a:srgbClr val="2196F3">
                <a:alpha val="35000"/>
              </a:srgbClr>
            </a:solidFill>
            <a:prstDash val="solid"/>
          </a:ln>
        </p:spPr>
      </p:sp>
      <p:sp>
        <p:nvSpPr>
          <p:cNvPr id="8" name="Shape 6"/>
          <p:cNvSpPr/>
          <p:nvPr/>
        </p:nvSpPr>
        <p:spPr>
          <a:xfrm>
            <a:off x="8343900" y="114300"/>
            <a:ext cx="685800" cy="685800"/>
          </a:xfrm>
          <a:prstGeom prst="rect">
            <a:avLst/>
          </a:prstGeom>
          <a:noFill/>
          <a:ln/>
        </p:spPr>
      </p:sp>
      <p:sp>
        <p:nvSpPr>
          <p:cNvPr id="9" name="Shape 7"/>
          <p:cNvSpPr/>
          <p:nvPr/>
        </p:nvSpPr>
        <p:spPr>
          <a:xfrm>
            <a:off x="8343900" y="114300"/>
            <a:ext cx="685800" cy="0"/>
          </a:xfrm>
          <a:prstGeom prst="line">
            <a:avLst/>
          </a:prstGeom>
          <a:noFill/>
          <a:ln w="5715">
            <a:solidFill>
              <a:srgbClr val="2196F3">
                <a:alpha val="35000"/>
              </a:srgbClr>
            </a:solidFill>
            <a:prstDash val="solid"/>
          </a:ln>
        </p:spPr>
      </p:sp>
      <p:sp>
        <p:nvSpPr>
          <p:cNvPr id="10" name="Shape 8"/>
          <p:cNvSpPr/>
          <p:nvPr/>
        </p:nvSpPr>
        <p:spPr>
          <a:xfrm>
            <a:off x="9029700" y="114300"/>
            <a:ext cx="0" cy="685800"/>
          </a:xfrm>
          <a:prstGeom prst="line">
            <a:avLst/>
          </a:prstGeom>
          <a:noFill/>
          <a:ln w="5715">
            <a:solidFill>
              <a:srgbClr val="2196F3">
                <a:alpha val="35000"/>
              </a:srgbClr>
            </a:solidFill>
            <a:prstDash val="solid"/>
          </a:ln>
        </p:spPr>
      </p:sp>
      <p:sp>
        <p:nvSpPr>
          <p:cNvPr id="11" name="Shape 9"/>
          <p:cNvSpPr/>
          <p:nvPr/>
        </p:nvSpPr>
        <p:spPr>
          <a:xfrm>
            <a:off x="114300" y="4343400"/>
            <a:ext cx="685800" cy="685800"/>
          </a:xfrm>
          <a:prstGeom prst="rect">
            <a:avLst/>
          </a:prstGeom>
          <a:noFill/>
          <a:ln/>
        </p:spPr>
      </p:sp>
      <p:sp>
        <p:nvSpPr>
          <p:cNvPr id="12" name="Shape 10"/>
          <p:cNvSpPr/>
          <p:nvPr/>
        </p:nvSpPr>
        <p:spPr>
          <a:xfrm>
            <a:off x="114300" y="5029200"/>
            <a:ext cx="685800" cy="0"/>
          </a:xfrm>
          <a:prstGeom prst="line">
            <a:avLst/>
          </a:prstGeom>
          <a:noFill/>
          <a:ln w="5715">
            <a:solidFill>
              <a:srgbClr val="2196F3">
                <a:alpha val="35000"/>
              </a:srgbClr>
            </a:solidFill>
            <a:prstDash val="solid"/>
          </a:ln>
        </p:spPr>
      </p:sp>
      <p:sp>
        <p:nvSpPr>
          <p:cNvPr id="13" name="Shape 11"/>
          <p:cNvSpPr/>
          <p:nvPr/>
        </p:nvSpPr>
        <p:spPr>
          <a:xfrm>
            <a:off x="114300" y="4343400"/>
            <a:ext cx="0" cy="685800"/>
          </a:xfrm>
          <a:prstGeom prst="line">
            <a:avLst/>
          </a:prstGeom>
          <a:noFill/>
          <a:ln w="5715">
            <a:solidFill>
              <a:srgbClr val="2196F3">
                <a:alpha val="35000"/>
              </a:srgbClr>
            </a:solidFill>
            <a:prstDash val="solid"/>
          </a:ln>
        </p:spPr>
      </p:sp>
      <p:sp>
        <p:nvSpPr>
          <p:cNvPr id="14" name="Shape 12"/>
          <p:cNvSpPr/>
          <p:nvPr/>
        </p:nvSpPr>
        <p:spPr>
          <a:xfrm>
            <a:off x="8343900" y="4343400"/>
            <a:ext cx="685800" cy="685800"/>
          </a:xfrm>
          <a:prstGeom prst="rect">
            <a:avLst/>
          </a:prstGeom>
          <a:noFill/>
          <a:ln/>
        </p:spPr>
      </p:sp>
      <p:sp>
        <p:nvSpPr>
          <p:cNvPr id="15" name="Shape 13"/>
          <p:cNvSpPr/>
          <p:nvPr/>
        </p:nvSpPr>
        <p:spPr>
          <a:xfrm>
            <a:off x="9029700" y="4343400"/>
            <a:ext cx="0" cy="685800"/>
          </a:xfrm>
          <a:prstGeom prst="line">
            <a:avLst/>
          </a:prstGeom>
          <a:noFill/>
          <a:ln w="5715">
            <a:solidFill>
              <a:srgbClr val="2196F3">
                <a:alpha val="35000"/>
              </a:srgbClr>
            </a:solidFill>
            <a:prstDash val="solid"/>
          </a:ln>
        </p:spPr>
      </p:sp>
      <p:sp>
        <p:nvSpPr>
          <p:cNvPr id="16" name="Shape 14"/>
          <p:cNvSpPr/>
          <p:nvPr/>
        </p:nvSpPr>
        <p:spPr>
          <a:xfrm>
            <a:off x="8343900" y="5029200"/>
            <a:ext cx="685800" cy="0"/>
          </a:xfrm>
          <a:prstGeom prst="line">
            <a:avLst/>
          </a:prstGeom>
          <a:noFill/>
          <a:ln w="5715">
            <a:solidFill>
              <a:srgbClr val="2196F3">
                <a:alpha val="35000"/>
              </a:srgbClr>
            </a:solidFill>
            <a:prstDash val="solid"/>
          </a:ln>
        </p:spPr>
      </p:sp>
      <p:sp>
        <p:nvSpPr>
          <p:cNvPr id="17" name="Shape 15"/>
          <p:cNvSpPr/>
          <p:nvPr/>
        </p:nvSpPr>
        <p:spPr>
          <a:xfrm>
            <a:off x="1097280" y="875328"/>
            <a:ext cx="22860" cy="22860"/>
          </a:xfrm>
          <a:prstGeom prst="ellipse">
            <a:avLst/>
          </a:prstGeom>
          <a:solidFill>
            <a:srgbClr val="00BCD4">
              <a:alpha val="40000"/>
            </a:srgbClr>
          </a:solidFill>
          <a:ln/>
        </p:spPr>
      </p:sp>
      <p:sp>
        <p:nvSpPr>
          <p:cNvPr id="18" name="Shape 16"/>
          <p:cNvSpPr/>
          <p:nvPr/>
        </p:nvSpPr>
        <p:spPr>
          <a:xfrm>
            <a:off x="8046720" y="1272042"/>
            <a:ext cx="17145" cy="17145"/>
          </a:xfrm>
          <a:prstGeom prst="ellipse">
            <a:avLst/>
          </a:prstGeom>
          <a:solidFill>
            <a:srgbClr val="00BCD4">
              <a:alpha val="40000"/>
            </a:srgbClr>
          </a:solidFill>
          <a:ln/>
        </p:spPr>
      </p:sp>
      <p:sp>
        <p:nvSpPr>
          <p:cNvPr id="19" name="Shape 17"/>
          <p:cNvSpPr/>
          <p:nvPr/>
        </p:nvSpPr>
        <p:spPr>
          <a:xfrm>
            <a:off x="731520" y="3703320"/>
            <a:ext cx="28575" cy="28575"/>
          </a:xfrm>
          <a:prstGeom prst="ellipse">
            <a:avLst/>
          </a:prstGeom>
          <a:solidFill>
            <a:srgbClr val="00BCD4">
              <a:alpha val="40000"/>
            </a:srgbClr>
          </a:solidFill>
          <a:ln/>
        </p:spPr>
      </p:sp>
      <p:sp>
        <p:nvSpPr>
          <p:cNvPr id="20" name="Shape 18"/>
          <p:cNvSpPr/>
          <p:nvPr/>
        </p:nvSpPr>
        <p:spPr>
          <a:xfrm>
            <a:off x="8412480" y="4011930"/>
            <a:ext cx="17145" cy="17145"/>
          </a:xfrm>
          <a:prstGeom prst="ellipse">
            <a:avLst/>
          </a:prstGeom>
          <a:solidFill>
            <a:srgbClr val="00BCD4">
              <a:alpha val="40000"/>
            </a:srgbClr>
          </a:solidFill>
          <a:ln/>
        </p:spPr>
      </p:sp>
      <p:sp>
        <p:nvSpPr>
          <p:cNvPr id="21" name="Shape 19"/>
          <p:cNvSpPr/>
          <p:nvPr/>
        </p:nvSpPr>
        <p:spPr>
          <a:xfrm>
            <a:off x="4572000" y="614351"/>
            <a:ext cx="22860" cy="22860"/>
          </a:xfrm>
          <a:prstGeom prst="ellipse">
            <a:avLst/>
          </a:prstGeom>
          <a:solidFill>
            <a:srgbClr val="00BCD4">
              <a:alpha val="40000"/>
            </a:srgbClr>
          </a:solidFill>
          <a:ln/>
        </p:spPr>
      </p:sp>
      <p:sp>
        <p:nvSpPr>
          <p:cNvPr id="22" name="Shape 20"/>
          <p:cNvSpPr/>
          <p:nvPr/>
        </p:nvSpPr>
        <p:spPr>
          <a:xfrm>
            <a:off x="3274695" y="382905"/>
            <a:ext cx="342900" cy="5715"/>
          </a:xfrm>
          <a:prstGeom prst="rect">
            <a:avLst/>
          </a:prstGeom>
          <a:gradFill rotWithShape="1">
            <a:gsLst>
              <a:gs pos="0">
                <a:srgbClr val="000000">
                  <a:alpha val="0"/>
                </a:srgbClr>
              </a:gs>
              <a:gs pos="100000">
                <a:srgbClr val="00BCD4"/>
              </a:gs>
            </a:gsLst>
            <a:lin ang="0" scaled="0"/>
          </a:gradFill>
          <a:ln/>
        </p:spPr>
      </p:sp>
      <p:sp>
        <p:nvSpPr>
          <p:cNvPr id="23" name="Shape 21"/>
          <p:cNvSpPr/>
          <p:nvPr/>
        </p:nvSpPr>
        <p:spPr>
          <a:xfrm>
            <a:off x="3686175" y="368618"/>
            <a:ext cx="34290" cy="34290"/>
          </a:xfrm>
          <a:prstGeom prst="ellipse">
            <a:avLst/>
          </a:prstGeom>
          <a:solidFill>
            <a:srgbClr val="00BCD4"/>
          </a:solidFill>
          <a:ln/>
          <a:effectLst>
            <a:outerShdw sx="100000" sy="100000" kx="0" ky="0" algn="bl" rotWithShape="0" blurRad="114300" dist="50800" dir="16200000">
              <a:srgbClr val="00BCD4">
                <a:alpha val="100000"/>
              </a:srgbClr>
            </a:outerShdw>
          </a:effectLst>
        </p:spPr>
      </p:sp>
      <p:sp>
        <p:nvSpPr>
          <p:cNvPr id="24" name="Text 22"/>
          <p:cNvSpPr/>
          <p:nvPr/>
        </p:nvSpPr>
        <p:spPr>
          <a:xfrm>
            <a:off x="3789045" y="340043"/>
            <a:ext cx="998525" cy="91440"/>
          </a:xfrm>
          <a:prstGeom prst="rect">
            <a:avLst/>
          </a:prstGeom>
          <a:noFill/>
          <a:ln/>
        </p:spPr>
        <p:txBody>
          <a:bodyPr wrap="none" rtlCol="0" anchor="ctr"/>
          <a:lstStyle/>
          <a:p>
            <a:pPr algn="ctr" indent="0" marL="0">
              <a:buNone/>
            </a:pPr>
            <a:r>
              <a:rPr lang="en-US" sz="585" spc="270" kern="0" dirty="0">
                <a:solidFill>
                  <a:srgbClr val="00BCD4"/>
                </a:solidFill>
                <a:latin typeface="Inter" pitchFamily="34" charset="0"/>
                <a:ea typeface="Inter" pitchFamily="34" charset="-122"/>
                <a:cs typeface="Inter" pitchFamily="34" charset="-120"/>
              </a:rPr>
              <a:t>CHAPTER · 10</a:t>
            </a:r>
            <a:endParaRPr lang="en-US" sz="585" dirty="0"/>
          </a:p>
        </p:txBody>
      </p:sp>
      <p:sp>
        <p:nvSpPr>
          <p:cNvPr id="25" name="Shape 23"/>
          <p:cNvSpPr/>
          <p:nvPr/>
        </p:nvSpPr>
        <p:spPr>
          <a:xfrm>
            <a:off x="4749165" y="368618"/>
            <a:ext cx="34290" cy="34290"/>
          </a:xfrm>
          <a:prstGeom prst="ellipse">
            <a:avLst/>
          </a:prstGeom>
          <a:solidFill>
            <a:srgbClr val="00BCD4"/>
          </a:solidFill>
          <a:ln/>
          <a:effectLst>
            <a:outerShdw sx="100000" sy="100000" kx="0" ky="0" algn="bl" rotWithShape="0" blurRad="114300" dist="50800" dir="16200000">
              <a:srgbClr val="00BCD4">
                <a:alpha val="100000"/>
              </a:srgbClr>
            </a:outerShdw>
          </a:effectLst>
        </p:spPr>
      </p:sp>
      <p:sp>
        <p:nvSpPr>
          <p:cNvPr id="26" name="Text 24"/>
          <p:cNvSpPr/>
          <p:nvPr/>
        </p:nvSpPr>
        <p:spPr>
          <a:xfrm>
            <a:off x="4852035" y="340043"/>
            <a:ext cx="680085" cy="91440"/>
          </a:xfrm>
          <a:prstGeom prst="rect">
            <a:avLst/>
          </a:prstGeom>
          <a:noFill/>
          <a:ln/>
        </p:spPr>
        <p:txBody>
          <a:bodyPr wrap="none" rtlCol="0" anchor="ctr"/>
          <a:lstStyle/>
          <a:p>
            <a:pPr algn="ctr" indent="0" marL="0">
              <a:buNone/>
            </a:pPr>
            <a:r>
              <a:rPr lang="en-US" sz="585" spc="270" kern="0" dirty="0">
                <a:solidFill>
                  <a:srgbClr val="00BCD4"/>
                </a:solidFill>
                <a:latin typeface="Inter" pitchFamily="34" charset="0"/>
                <a:ea typeface="Inter" pitchFamily="34" charset="-122"/>
                <a:cs typeface="Inter" pitchFamily="34" charset="-120"/>
              </a:rPr>
              <a:t>OUTLOOK</a:t>
            </a:r>
            <a:endParaRPr lang="en-US" sz="585" dirty="0"/>
          </a:p>
        </p:txBody>
      </p:sp>
      <p:sp>
        <p:nvSpPr>
          <p:cNvPr id="27" name="Shape 25"/>
          <p:cNvSpPr/>
          <p:nvPr/>
        </p:nvSpPr>
        <p:spPr>
          <a:xfrm>
            <a:off x="5526405" y="382905"/>
            <a:ext cx="342900" cy="5715"/>
          </a:xfrm>
          <a:prstGeom prst="rect">
            <a:avLst/>
          </a:prstGeom>
          <a:gradFill rotWithShape="1">
            <a:gsLst>
              <a:gs pos="0">
                <a:srgbClr val="00BCD4"/>
              </a:gs>
              <a:gs pos="100000">
                <a:srgbClr val="000000">
                  <a:alpha val="0"/>
                </a:srgbClr>
              </a:gs>
            </a:gsLst>
            <a:lin ang="0" scaled="0"/>
          </a:gradFill>
          <a:ln/>
        </p:spPr>
      </p:sp>
      <p:sp>
        <p:nvSpPr>
          <p:cNvPr id="28" name="Text 26"/>
          <p:cNvSpPr/>
          <p:nvPr/>
        </p:nvSpPr>
        <p:spPr>
          <a:xfrm>
            <a:off x="365760" y="522923"/>
            <a:ext cx="9421978" cy="525780"/>
          </a:xfrm>
          <a:prstGeom prst="rect">
            <a:avLst/>
          </a:prstGeom>
          <a:noFill/>
          <a:ln/>
          <a:effectLst>
            <a:outerShdw sx="100000" sy="100000" kx="0" ky="0" algn="bl" rotWithShape="0" blurRad="228600" dist="50800" dir="5400000">
              <a:srgbClr val="2196F3">
                <a:alpha val="30000"/>
              </a:srgbClr>
            </a:outerShdw>
          </a:effectLst>
        </p:spPr>
        <p:txBody>
          <a:bodyPr wrap="none" rtlCol="0" anchor="ctr"/>
          <a:lstStyle/>
          <a:p>
            <a:pPr algn="ctr" indent="0" marL="0">
              <a:buNone/>
            </a:pPr>
            <a:r>
              <a:rPr lang="en-US" sz="2880" b="1" spc="270" kern="0" dirty="0">
                <a:solidFill>
                  <a:srgbClr val="00BCD4"/>
                </a:solidFill>
                <a:latin typeface="Inter" pitchFamily="34" charset="0"/>
                <a:ea typeface="Inter" pitchFamily="34" charset="-122"/>
                <a:cs typeface="Inter" pitchFamily="34" charset="-120"/>
              </a:rPr>
              <a:t>总结与展望</a:t>
            </a:r>
            <a:endParaRPr lang="en-US" sz="2880" dirty="0"/>
          </a:p>
        </p:txBody>
      </p:sp>
      <p:sp>
        <p:nvSpPr>
          <p:cNvPr id="29" name="Shape 27"/>
          <p:cNvSpPr/>
          <p:nvPr/>
        </p:nvSpPr>
        <p:spPr>
          <a:xfrm>
            <a:off x="4000500" y="1128713"/>
            <a:ext cx="1143000" cy="11430"/>
          </a:xfrm>
          <a:prstGeom prst="rect">
            <a:avLst/>
          </a:prstGeom>
          <a:gradFill rotWithShape="1">
            <a:gsLst>
              <a:gs pos="0">
                <a:srgbClr val="000000">
                  <a:alpha val="0"/>
                </a:srgbClr>
              </a:gs>
              <a:gs pos="33000">
                <a:srgbClr val="2196F3"/>
              </a:gs>
              <a:gs pos="67000">
                <a:srgbClr val="00BCD4"/>
              </a:gs>
              <a:gs pos="100000">
                <a:srgbClr val="000000">
                  <a:alpha val="0"/>
                </a:srgbClr>
              </a:gs>
            </a:gsLst>
            <a:lin ang="0" scaled="0"/>
          </a:gradFill>
          <a:ln/>
        </p:spPr>
      </p:sp>
      <p:sp>
        <p:nvSpPr>
          <p:cNvPr id="30" name="Text 28"/>
          <p:cNvSpPr/>
          <p:nvPr/>
        </p:nvSpPr>
        <p:spPr>
          <a:xfrm>
            <a:off x="365760" y="1140143"/>
            <a:ext cx="9421978" cy="148590"/>
          </a:xfrm>
          <a:prstGeom prst="rect">
            <a:avLst/>
          </a:prstGeom>
          <a:noFill/>
          <a:ln/>
        </p:spPr>
        <p:txBody>
          <a:bodyPr wrap="none" rtlCol="0" anchor="ctr"/>
          <a:lstStyle/>
          <a:p>
            <a:pPr algn="ctr" indent="0" marL="0">
              <a:buNone/>
            </a:pPr>
            <a:r>
              <a:rPr lang="en-US" sz="810" spc="180" kern="0" dirty="0">
                <a:solidFill>
                  <a:srgbClr val="B0BEC5"/>
                </a:solidFill>
                <a:latin typeface="Inter" pitchFamily="34" charset="0"/>
                <a:ea typeface="Inter" pitchFamily="34" charset="-122"/>
                <a:cs typeface="Inter" pitchFamily="34" charset="-120"/>
              </a:rPr>
              <a:t>从画像认知到行动实践，共建开源生态</a:t>
            </a:r>
            <a:endParaRPr lang="en-US" sz="810" dirty="0"/>
          </a:p>
        </p:txBody>
      </p:sp>
      <p:sp>
        <p:nvSpPr>
          <p:cNvPr id="31" name="Shape 29"/>
          <p:cNvSpPr/>
          <p:nvPr/>
        </p:nvSpPr>
        <p:spPr>
          <a:xfrm>
            <a:off x="365760" y="1414463"/>
            <a:ext cx="8412480" cy="468630"/>
          </a:xfrm>
          <a:prstGeom prst="roundRect">
            <a:avLst>
              <a:gd name="adj" fmla="val 14634"/>
            </a:avLst>
          </a:prstGeom>
          <a:solidFill>
            <a:srgbClr val="142846">
              <a:alpha val="55000"/>
            </a:srgbClr>
          </a:solidFill>
          <a:ln w="5715">
            <a:solidFill>
              <a:srgbClr val="2196F3">
                <a:alpha val="22000"/>
              </a:srgbClr>
            </a:solidFill>
            <a:prstDash val="solid"/>
          </a:ln>
        </p:spPr>
      </p:sp>
      <p:sp>
        <p:nvSpPr>
          <p:cNvPr id="32" name="Shape 30"/>
          <p:cNvSpPr/>
          <p:nvPr/>
        </p:nvSpPr>
        <p:spPr>
          <a:xfrm>
            <a:off x="365760" y="1414463"/>
            <a:ext cx="17145" cy="457200"/>
          </a:xfrm>
          <a:prstGeom prst="rect">
            <a:avLst/>
          </a:prstGeom>
          <a:gradFill rotWithShape="1">
            <a:gsLst>
              <a:gs pos="0">
                <a:srgbClr val="2196F3"/>
              </a:gs>
              <a:gs pos="100000">
                <a:srgbClr val="00BCD4"/>
              </a:gs>
            </a:gsLst>
            <a:lin ang="5400000" scaled="0"/>
          </a:gradFill>
          <a:ln/>
        </p:spPr>
      </p:sp>
      <p:sp>
        <p:nvSpPr>
          <p:cNvPr id="33" name="Shape 31"/>
          <p:cNvSpPr/>
          <p:nvPr/>
        </p:nvSpPr>
        <p:spPr>
          <a:xfrm>
            <a:off x="8423910" y="1185863"/>
            <a:ext cx="571500" cy="571500"/>
          </a:xfrm>
          <a:prstGeom prst="ellipse">
            <a:avLst/>
          </a:prstGeom>
          <a:gradFill rotWithShape="1">
            <a:gsLst>
              <a:gs pos="0">
                <a:srgbClr val="2196F3">
                  <a:alpha val="12000"/>
                </a:srgbClr>
              </a:gs>
              <a:gs pos="70000">
                <a:srgbClr val="000000">
                  <a:alpha val="0"/>
                </a:srgbClr>
              </a:gs>
            </a:gsLst>
            <a:path path="circle">
              <a:fillToRect l="50000" t="50000" r="50000" b="50000"/>
            </a:path>
          </a:gradFill>
          <a:ln/>
        </p:spPr>
      </p:sp>
      <p:sp>
        <p:nvSpPr>
          <p:cNvPr id="34" name="Shape 32"/>
          <p:cNvSpPr/>
          <p:nvPr/>
        </p:nvSpPr>
        <p:spPr>
          <a:xfrm>
            <a:off x="508635" y="1500188"/>
            <a:ext cx="297180" cy="297180"/>
          </a:xfrm>
          <a:prstGeom prst="ellipse">
            <a:avLst/>
          </a:prstGeom>
          <a:gradFill rotWithShape="1">
            <a:gsLst>
              <a:gs pos="0">
                <a:srgbClr val="1565C0"/>
              </a:gs>
              <a:gs pos="100000">
                <a:srgbClr val="00838F"/>
              </a:gs>
            </a:gsLst>
            <a:lin ang="2700000" scaled="0"/>
          </a:gradFill>
          <a:ln/>
          <a:effectLst>
            <a:outerShdw sx="100000" sy="100000" kx="0" ky="0" algn="bl" rotWithShape="0" blurRad="190500" dist="50800" dir="16200000">
              <a:srgbClr val="2196F3">
                <a:alpha val="40000"/>
              </a:srgbClr>
            </a:outerShdw>
          </a:effectLst>
        </p:spPr>
      </p:sp>
      <p:sp>
        <p:nvSpPr>
          <p:cNvPr id="35" name="Text 33"/>
          <p:cNvSpPr/>
          <p:nvPr/>
        </p:nvSpPr>
        <p:spPr>
          <a:xfrm>
            <a:off x="508635" y="1500188"/>
            <a:ext cx="411480" cy="297180"/>
          </a:xfrm>
          <a:prstGeom prst="rect">
            <a:avLst/>
          </a:prstGeom>
          <a:noFill/>
          <a:ln/>
        </p:spPr>
        <p:txBody>
          <a:bodyPr wrap="none" rtlCol="0" anchor="ctr"/>
          <a:lstStyle/>
          <a:p>
            <a:pPr algn="l" indent="0" marL="0">
              <a:buNone/>
            </a:pPr>
            <a:r>
              <a:rPr lang="en-US" sz="900" b="1" dirty="0">
                <a:solidFill>
                  <a:srgbClr val="FFFFFF"/>
                </a:solidFill>
                <a:latin typeface="Inter" pitchFamily="34" charset="0"/>
                <a:ea typeface="Inter" pitchFamily="34" charset="-122"/>
                <a:cs typeface="Inter" pitchFamily="34" charset="-120"/>
              </a:rPr>
              <a:t>01</a:t>
            </a:r>
            <a:endParaRPr lang="en-US" sz="900" dirty="0"/>
          </a:p>
        </p:txBody>
      </p:sp>
      <p:sp>
        <p:nvSpPr>
          <p:cNvPr id="36" name="Shape 34"/>
          <p:cNvSpPr/>
          <p:nvPr/>
        </p:nvSpPr>
        <p:spPr>
          <a:xfrm>
            <a:off x="920115" y="1523048"/>
            <a:ext cx="251460" cy="251460"/>
          </a:xfrm>
          <a:prstGeom prst="roundRect">
            <a:avLst>
              <a:gd name="adj" fmla="val 22727"/>
            </a:avLst>
          </a:prstGeom>
          <a:solidFill>
            <a:srgbClr val="2196F3">
              <a:alpha val="15000"/>
            </a:srgbClr>
          </a:solidFill>
          <a:ln w="5715">
            <a:solidFill>
              <a:srgbClr val="00BCD4">
                <a:alpha val="30000"/>
              </a:srgbClr>
            </a:solidFill>
            <a:prstDash val="solid"/>
          </a:ln>
        </p:spPr>
      </p:sp>
      <p:pic>
        <p:nvPicPr>
          <p:cNvPr id="3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77265" y="1580198"/>
            <a:ext cx="137160" cy="137160"/>
          </a:xfrm>
          <a:prstGeom prst="rect">
            <a:avLst/>
          </a:prstGeom>
        </p:spPr>
      </p:pic>
      <p:sp>
        <p:nvSpPr>
          <p:cNvPr id="38" name="Text 35"/>
          <p:cNvSpPr/>
          <p:nvPr/>
        </p:nvSpPr>
        <p:spPr>
          <a:xfrm>
            <a:off x="1285875" y="1517868"/>
            <a:ext cx="8231429" cy="97155"/>
          </a:xfrm>
          <a:prstGeom prst="rect">
            <a:avLst/>
          </a:prstGeom>
          <a:noFill/>
          <a:ln/>
        </p:spPr>
        <p:txBody>
          <a:bodyPr wrap="none" rtlCol="0" anchor="ctr"/>
          <a:lstStyle/>
          <a:p>
            <a:pPr algn="l" indent="0" marL="0">
              <a:buNone/>
            </a:pPr>
            <a:r>
              <a:rPr lang="en-US" sz="540" spc="180" kern="0" dirty="0">
                <a:solidFill>
                  <a:srgbClr val="00BCD4"/>
                </a:solidFill>
                <a:latin typeface="Inter" pitchFamily="34" charset="0"/>
                <a:ea typeface="Inter" pitchFamily="34" charset="-122"/>
                <a:cs typeface="Inter" pitchFamily="34" charset="-120"/>
              </a:rPr>
              <a:t>CORE INSIGHT · 核心收获</a:t>
            </a:r>
            <a:endParaRPr lang="en-US" sz="540" dirty="0"/>
          </a:p>
        </p:txBody>
      </p:sp>
      <p:sp>
        <p:nvSpPr>
          <p:cNvPr id="39" name="Text 36"/>
          <p:cNvSpPr/>
          <p:nvPr/>
        </p:nvSpPr>
        <p:spPr>
          <a:xfrm>
            <a:off x="1285875" y="1637883"/>
            <a:ext cx="8231429" cy="141714"/>
          </a:xfrm>
          <a:prstGeom prst="rect">
            <a:avLst/>
          </a:prstGeom>
          <a:noFill/>
          <a:ln/>
        </p:spPr>
        <p:txBody>
          <a:bodyPr wrap="square" rtlCol="0" anchor="ctr"/>
          <a:lstStyle/>
          <a:p>
            <a:pPr algn="l" indent="0" marL="0">
              <a:lnSpc>
                <a:spcPct val="155000"/>
              </a:lnSpc>
              <a:buNone/>
            </a:pPr>
            <a:r>
              <a:rPr lang="en-US" sz="720" dirty="0">
                <a:solidFill>
                  <a:srgbClr val="CFDDE6"/>
                </a:solidFill>
                <a:latin typeface="Inter" pitchFamily="34" charset="0"/>
                <a:ea typeface="Inter" pitchFamily="34" charset="-122"/>
                <a:cs typeface="Inter" pitchFamily="34" charset="-120"/>
              </a:rPr>
              <a:t>开源人士是</a:t>
            </a:r>
            <a:pPr algn="l" indent="0" marL="0">
              <a:lnSpc>
                <a:spcPct val="155000"/>
              </a:lnSpc>
              <a:buNone/>
            </a:pPr>
            <a:r>
              <a:rPr lang="en-US" sz="720" b="1" dirty="0">
                <a:solidFill>
                  <a:srgbClr val="FFFFFF"/>
                </a:solidFill>
                <a:latin typeface="Inter" pitchFamily="34" charset="0"/>
                <a:ea typeface="Inter" pitchFamily="34" charset="-122"/>
                <a:cs typeface="Inter" pitchFamily="34" charset="-120"/>
              </a:rPr>
              <a:t>多元、技术驱动</a:t>
            </a:r>
            <a:pPr algn="l" indent="0" marL="0">
              <a:lnSpc>
                <a:spcPct val="155000"/>
              </a:lnSpc>
              <a:buNone/>
            </a:pPr>
            <a:r>
              <a:rPr lang="en-US" sz="720" dirty="0">
                <a:solidFill>
                  <a:srgbClr val="CFDDE6"/>
                </a:solidFill>
                <a:latin typeface="Inter" pitchFamily="34" charset="0"/>
                <a:ea typeface="Inter" pitchFamily="34" charset="-122"/>
                <a:cs typeface="Inter" pitchFamily="34" charset="-120"/>
              </a:rPr>
              <a:t>、以</a:t>
            </a:r>
            <a:pPr algn="l" indent="0" marL="0">
              <a:lnSpc>
                <a:spcPct val="155000"/>
              </a:lnSpc>
              <a:buNone/>
            </a:pPr>
            <a:r>
              <a:rPr lang="en-US" sz="720" b="1" dirty="0">
                <a:solidFill>
                  <a:srgbClr val="FFFFFF"/>
                </a:solidFill>
                <a:latin typeface="Inter" pitchFamily="34" charset="0"/>
                <a:ea typeface="Inter" pitchFamily="34" charset="-122"/>
                <a:cs typeface="Inter" pitchFamily="34" charset="-120"/>
              </a:rPr>
              <a:t>成长与归属</a:t>
            </a:r>
            <a:pPr algn="l" indent="0" marL="0">
              <a:lnSpc>
                <a:spcPct val="155000"/>
              </a:lnSpc>
              <a:buNone/>
            </a:pPr>
            <a:r>
              <a:rPr lang="en-US" sz="720" dirty="0">
                <a:solidFill>
                  <a:srgbClr val="CFDDE6"/>
                </a:solidFill>
                <a:latin typeface="Inter" pitchFamily="34" charset="0"/>
                <a:ea typeface="Inter" pitchFamily="34" charset="-122"/>
                <a:cs typeface="Inter" pitchFamily="34" charset="-120"/>
              </a:rPr>
              <a:t>为动机的</a:t>
            </a:r>
            <a:pPr algn="l" indent="0" marL="0">
              <a:lnSpc>
                <a:spcPct val="155000"/>
              </a:lnSpc>
              <a:buNone/>
            </a:pPr>
            <a:r>
              <a:rPr lang="en-US" sz="720" b="1" dirty="0">
                <a:solidFill>
                  <a:srgbClr val="FFFFFF"/>
                </a:solidFill>
                <a:latin typeface="Inter" pitchFamily="34" charset="0"/>
                <a:ea typeface="Inter" pitchFamily="34" charset="-122"/>
                <a:cs typeface="Inter" pitchFamily="34" charset="-120"/>
              </a:rPr>
              <a:t>全球性群体</a:t>
            </a:r>
            <a:pPr algn="l" indent="0" marL="0">
              <a:lnSpc>
                <a:spcPct val="155000"/>
              </a:lnSpc>
              <a:buNone/>
            </a:pPr>
            <a:r>
              <a:rPr lang="en-US" sz="720" dirty="0">
                <a:solidFill>
                  <a:srgbClr val="CFDDE6"/>
                </a:solidFill>
                <a:latin typeface="Inter" pitchFamily="34" charset="0"/>
                <a:ea typeface="Inter" pitchFamily="34" charset="-122"/>
                <a:cs typeface="Inter" pitchFamily="34" charset="-120"/>
              </a:rPr>
              <a:t>。</a:t>
            </a:r>
            <a:endParaRPr lang="en-US" sz="720" dirty="0"/>
          </a:p>
        </p:txBody>
      </p:sp>
      <p:sp>
        <p:nvSpPr>
          <p:cNvPr id="40" name="Shape 37"/>
          <p:cNvSpPr/>
          <p:nvPr/>
        </p:nvSpPr>
        <p:spPr>
          <a:xfrm>
            <a:off x="365760" y="1951673"/>
            <a:ext cx="8412480" cy="468630"/>
          </a:xfrm>
          <a:prstGeom prst="roundRect">
            <a:avLst>
              <a:gd name="adj" fmla="val 14634"/>
            </a:avLst>
          </a:prstGeom>
          <a:solidFill>
            <a:srgbClr val="142846">
              <a:alpha val="55000"/>
            </a:srgbClr>
          </a:solidFill>
          <a:ln w="5715">
            <a:solidFill>
              <a:srgbClr val="2196F3">
                <a:alpha val="22000"/>
              </a:srgbClr>
            </a:solidFill>
            <a:prstDash val="solid"/>
          </a:ln>
        </p:spPr>
      </p:sp>
      <p:sp>
        <p:nvSpPr>
          <p:cNvPr id="41" name="Shape 38"/>
          <p:cNvSpPr/>
          <p:nvPr/>
        </p:nvSpPr>
        <p:spPr>
          <a:xfrm>
            <a:off x="365760" y="1951673"/>
            <a:ext cx="17145" cy="457200"/>
          </a:xfrm>
          <a:prstGeom prst="rect">
            <a:avLst/>
          </a:prstGeom>
          <a:gradFill rotWithShape="1">
            <a:gsLst>
              <a:gs pos="0">
                <a:srgbClr val="2196F3"/>
              </a:gs>
              <a:gs pos="100000">
                <a:srgbClr val="00BCD4"/>
              </a:gs>
            </a:gsLst>
            <a:lin ang="5400000" scaled="0"/>
          </a:gradFill>
          <a:ln/>
        </p:spPr>
      </p:sp>
      <p:sp>
        <p:nvSpPr>
          <p:cNvPr id="42" name="Shape 39"/>
          <p:cNvSpPr/>
          <p:nvPr/>
        </p:nvSpPr>
        <p:spPr>
          <a:xfrm>
            <a:off x="8423910" y="1723073"/>
            <a:ext cx="571500" cy="571500"/>
          </a:xfrm>
          <a:prstGeom prst="ellipse">
            <a:avLst/>
          </a:prstGeom>
          <a:gradFill rotWithShape="1">
            <a:gsLst>
              <a:gs pos="0">
                <a:srgbClr val="2196F3">
                  <a:alpha val="12000"/>
                </a:srgbClr>
              </a:gs>
              <a:gs pos="70000">
                <a:srgbClr val="000000">
                  <a:alpha val="0"/>
                </a:srgbClr>
              </a:gs>
            </a:gsLst>
            <a:path path="circle">
              <a:fillToRect l="50000" t="50000" r="50000" b="50000"/>
            </a:path>
          </a:gradFill>
          <a:ln/>
        </p:spPr>
      </p:sp>
      <p:sp>
        <p:nvSpPr>
          <p:cNvPr id="43" name="Shape 40"/>
          <p:cNvSpPr/>
          <p:nvPr/>
        </p:nvSpPr>
        <p:spPr>
          <a:xfrm>
            <a:off x="508635" y="2037398"/>
            <a:ext cx="297180" cy="297180"/>
          </a:xfrm>
          <a:prstGeom prst="ellipse">
            <a:avLst/>
          </a:prstGeom>
          <a:gradFill rotWithShape="1">
            <a:gsLst>
              <a:gs pos="0">
                <a:srgbClr val="1565C0"/>
              </a:gs>
              <a:gs pos="100000">
                <a:srgbClr val="00838F"/>
              </a:gs>
            </a:gsLst>
            <a:lin ang="2700000" scaled="0"/>
          </a:gradFill>
          <a:ln/>
          <a:effectLst>
            <a:outerShdw sx="100000" sy="100000" kx="0" ky="0" algn="bl" rotWithShape="0" blurRad="190500" dist="50800" dir="16200000">
              <a:srgbClr val="2196F3">
                <a:alpha val="40000"/>
              </a:srgbClr>
            </a:outerShdw>
          </a:effectLst>
        </p:spPr>
      </p:sp>
      <p:sp>
        <p:nvSpPr>
          <p:cNvPr id="44" name="Text 41"/>
          <p:cNvSpPr/>
          <p:nvPr/>
        </p:nvSpPr>
        <p:spPr>
          <a:xfrm>
            <a:off x="508635" y="2037398"/>
            <a:ext cx="411480" cy="297180"/>
          </a:xfrm>
          <a:prstGeom prst="rect">
            <a:avLst/>
          </a:prstGeom>
          <a:noFill/>
          <a:ln/>
        </p:spPr>
        <p:txBody>
          <a:bodyPr wrap="none" rtlCol="0" anchor="ctr"/>
          <a:lstStyle/>
          <a:p>
            <a:pPr algn="l" indent="0" marL="0">
              <a:buNone/>
            </a:pPr>
            <a:r>
              <a:rPr lang="en-US" sz="900" b="1" dirty="0">
                <a:solidFill>
                  <a:srgbClr val="FFFFFF"/>
                </a:solidFill>
                <a:latin typeface="Inter" pitchFamily="34" charset="0"/>
                <a:ea typeface="Inter" pitchFamily="34" charset="-122"/>
                <a:cs typeface="Inter" pitchFamily="34" charset="-120"/>
              </a:rPr>
              <a:t>02</a:t>
            </a:r>
            <a:endParaRPr lang="en-US" sz="900" dirty="0"/>
          </a:p>
        </p:txBody>
      </p:sp>
      <p:sp>
        <p:nvSpPr>
          <p:cNvPr id="45" name="Shape 42"/>
          <p:cNvSpPr/>
          <p:nvPr/>
        </p:nvSpPr>
        <p:spPr>
          <a:xfrm>
            <a:off x="920115" y="2060258"/>
            <a:ext cx="251460" cy="251460"/>
          </a:xfrm>
          <a:prstGeom prst="roundRect">
            <a:avLst>
              <a:gd name="adj" fmla="val 22727"/>
            </a:avLst>
          </a:prstGeom>
          <a:solidFill>
            <a:srgbClr val="2196F3">
              <a:alpha val="15000"/>
            </a:srgbClr>
          </a:solidFill>
          <a:ln w="5715">
            <a:solidFill>
              <a:srgbClr val="00BCD4">
                <a:alpha val="30000"/>
              </a:srgbClr>
            </a:solidFill>
            <a:prstDash val="solid"/>
          </a:ln>
        </p:spPr>
      </p:sp>
      <p:pic>
        <p:nvPicPr>
          <p:cNvPr id="4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77265" y="2117408"/>
            <a:ext cx="137160" cy="137160"/>
          </a:xfrm>
          <a:prstGeom prst="rect">
            <a:avLst/>
          </a:prstGeom>
        </p:spPr>
      </p:pic>
      <p:sp>
        <p:nvSpPr>
          <p:cNvPr id="47" name="Text 43"/>
          <p:cNvSpPr/>
          <p:nvPr/>
        </p:nvSpPr>
        <p:spPr>
          <a:xfrm>
            <a:off x="1285875" y="2055078"/>
            <a:ext cx="8231429" cy="97155"/>
          </a:xfrm>
          <a:prstGeom prst="rect">
            <a:avLst/>
          </a:prstGeom>
          <a:noFill/>
          <a:ln/>
        </p:spPr>
        <p:txBody>
          <a:bodyPr wrap="none" rtlCol="0" anchor="ctr"/>
          <a:lstStyle/>
          <a:p>
            <a:pPr algn="l" indent="0" marL="0">
              <a:buNone/>
            </a:pPr>
            <a:r>
              <a:rPr lang="en-US" sz="540" spc="180" kern="0" dirty="0">
                <a:solidFill>
                  <a:srgbClr val="00BCD4"/>
                </a:solidFill>
                <a:latin typeface="Inter" pitchFamily="34" charset="0"/>
                <a:ea typeface="Inter" pitchFamily="34" charset="-122"/>
                <a:cs typeface="Inter" pitchFamily="34" charset="-120"/>
              </a:rPr>
              <a:t>EVANGELISM · 布道策略</a:t>
            </a:r>
            <a:endParaRPr lang="en-US" sz="540" dirty="0"/>
          </a:p>
        </p:txBody>
      </p:sp>
      <p:sp>
        <p:nvSpPr>
          <p:cNvPr id="48" name="Text 44"/>
          <p:cNvSpPr/>
          <p:nvPr/>
        </p:nvSpPr>
        <p:spPr>
          <a:xfrm>
            <a:off x="1285875" y="2175093"/>
            <a:ext cx="8231429" cy="141714"/>
          </a:xfrm>
          <a:prstGeom prst="rect">
            <a:avLst/>
          </a:prstGeom>
          <a:noFill/>
          <a:ln/>
        </p:spPr>
        <p:txBody>
          <a:bodyPr wrap="square" rtlCol="0" anchor="ctr"/>
          <a:lstStyle/>
          <a:p>
            <a:pPr algn="l" indent="0" marL="0">
              <a:lnSpc>
                <a:spcPct val="155000"/>
              </a:lnSpc>
              <a:buNone/>
            </a:pPr>
            <a:r>
              <a:rPr lang="en-US" sz="720" b="1" dirty="0">
                <a:solidFill>
                  <a:srgbClr val="FFFFFF"/>
                </a:solidFill>
                <a:latin typeface="Inter" pitchFamily="34" charset="0"/>
                <a:ea typeface="Inter" pitchFamily="34" charset="-122"/>
                <a:cs typeface="Inter" pitchFamily="34" charset="-120"/>
              </a:rPr>
              <a:t>理解画像</a:t>
            </a:r>
            <a:pPr algn="l" indent="0" marL="0">
              <a:lnSpc>
                <a:spcPct val="155000"/>
              </a:lnSpc>
              <a:buNone/>
            </a:pPr>
            <a:r>
              <a:rPr lang="en-US" sz="720" dirty="0">
                <a:solidFill>
                  <a:srgbClr val="CFDDE6"/>
                </a:solidFill>
                <a:latin typeface="Inter" pitchFamily="34" charset="0"/>
                <a:ea typeface="Inter" pitchFamily="34" charset="-122"/>
                <a:cs typeface="Inter" pitchFamily="34" charset="-120"/>
              </a:rPr>
              <a:t>才能精准触达，</a:t>
            </a:r>
            <a:pPr algn="l" indent="0" marL="0">
              <a:lnSpc>
                <a:spcPct val="155000"/>
              </a:lnSpc>
              <a:buNone/>
            </a:pPr>
            <a:r>
              <a:rPr lang="en-US" sz="720" b="1" dirty="0">
                <a:solidFill>
                  <a:srgbClr val="FFFFFF"/>
                </a:solidFill>
                <a:latin typeface="Inter" pitchFamily="34" charset="0"/>
                <a:ea typeface="Inter" pitchFamily="34" charset="-122"/>
                <a:cs typeface="Inter" pitchFamily="34" charset="-120"/>
              </a:rPr>
              <a:t>降低参与门槛</a:t>
            </a:r>
            <a:pPr algn="l" indent="0" marL="0">
              <a:lnSpc>
                <a:spcPct val="155000"/>
              </a:lnSpc>
              <a:buNone/>
            </a:pPr>
            <a:r>
              <a:rPr lang="en-US" sz="720" dirty="0">
                <a:solidFill>
                  <a:srgbClr val="CFDDE6"/>
                </a:solidFill>
                <a:latin typeface="Inter" pitchFamily="34" charset="0"/>
                <a:ea typeface="Inter" pitchFamily="34" charset="-122"/>
                <a:cs typeface="Inter" pitchFamily="34" charset="-120"/>
              </a:rPr>
              <a:t>并</a:t>
            </a:r>
            <a:pPr algn="l" indent="0" marL="0">
              <a:lnSpc>
                <a:spcPct val="155000"/>
              </a:lnSpc>
              <a:buNone/>
            </a:pPr>
            <a:r>
              <a:rPr lang="en-US" sz="720" b="1" dirty="0">
                <a:solidFill>
                  <a:srgbClr val="FFFFFF"/>
                </a:solidFill>
                <a:latin typeface="Inter" pitchFamily="34" charset="0"/>
                <a:ea typeface="Inter" pitchFamily="34" charset="-122"/>
                <a:cs typeface="Inter" pitchFamily="34" charset="-120"/>
              </a:rPr>
              <a:t>强化社区归属感</a:t>
            </a:r>
            <a:pPr algn="l" indent="0" marL="0">
              <a:lnSpc>
                <a:spcPct val="155000"/>
              </a:lnSpc>
              <a:buNone/>
            </a:pPr>
            <a:r>
              <a:rPr lang="en-US" sz="720" dirty="0">
                <a:solidFill>
                  <a:srgbClr val="CFDDE6"/>
                </a:solidFill>
                <a:latin typeface="Inter" pitchFamily="34" charset="0"/>
                <a:ea typeface="Inter" pitchFamily="34" charset="-122"/>
                <a:cs typeface="Inter" pitchFamily="34" charset="-120"/>
              </a:rPr>
              <a:t>是关键。</a:t>
            </a:r>
            <a:endParaRPr lang="en-US" sz="720" dirty="0"/>
          </a:p>
        </p:txBody>
      </p:sp>
      <p:sp>
        <p:nvSpPr>
          <p:cNvPr id="49" name="Shape 45"/>
          <p:cNvSpPr/>
          <p:nvPr/>
        </p:nvSpPr>
        <p:spPr>
          <a:xfrm>
            <a:off x="365760" y="2488883"/>
            <a:ext cx="8412480" cy="468630"/>
          </a:xfrm>
          <a:prstGeom prst="roundRect">
            <a:avLst>
              <a:gd name="adj" fmla="val 14634"/>
            </a:avLst>
          </a:prstGeom>
          <a:solidFill>
            <a:srgbClr val="142846">
              <a:alpha val="55000"/>
            </a:srgbClr>
          </a:solidFill>
          <a:ln w="5715">
            <a:solidFill>
              <a:srgbClr val="2196F3">
                <a:alpha val="22000"/>
              </a:srgbClr>
            </a:solidFill>
            <a:prstDash val="solid"/>
          </a:ln>
        </p:spPr>
      </p:sp>
      <p:sp>
        <p:nvSpPr>
          <p:cNvPr id="50" name="Shape 46"/>
          <p:cNvSpPr/>
          <p:nvPr/>
        </p:nvSpPr>
        <p:spPr>
          <a:xfrm>
            <a:off x="365760" y="2488883"/>
            <a:ext cx="17145" cy="457200"/>
          </a:xfrm>
          <a:prstGeom prst="rect">
            <a:avLst/>
          </a:prstGeom>
          <a:gradFill rotWithShape="1">
            <a:gsLst>
              <a:gs pos="0">
                <a:srgbClr val="2196F3"/>
              </a:gs>
              <a:gs pos="100000">
                <a:srgbClr val="00BCD4"/>
              </a:gs>
            </a:gsLst>
            <a:lin ang="5400000" scaled="0"/>
          </a:gradFill>
          <a:ln/>
        </p:spPr>
      </p:sp>
      <p:sp>
        <p:nvSpPr>
          <p:cNvPr id="51" name="Shape 47"/>
          <p:cNvSpPr/>
          <p:nvPr/>
        </p:nvSpPr>
        <p:spPr>
          <a:xfrm>
            <a:off x="8423910" y="2260283"/>
            <a:ext cx="571500" cy="571500"/>
          </a:xfrm>
          <a:prstGeom prst="ellipse">
            <a:avLst/>
          </a:prstGeom>
          <a:gradFill rotWithShape="1">
            <a:gsLst>
              <a:gs pos="0">
                <a:srgbClr val="2196F3">
                  <a:alpha val="12000"/>
                </a:srgbClr>
              </a:gs>
              <a:gs pos="70000">
                <a:srgbClr val="000000">
                  <a:alpha val="0"/>
                </a:srgbClr>
              </a:gs>
            </a:gsLst>
            <a:path path="circle">
              <a:fillToRect l="50000" t="50000" r="50000" b="50000"/>
            </a:path>
          </a:gradFill>
          <a:ln/>
        </p:spPr>
      </p:sp>
      <p:sp>
        <p:nvSpPr>
          <p:cNvPr id="52" name="Shape 48"/>
          <p:cNvSpPr/>
          <p:nvPr/>
        </p:nvSpPr>
        <p:spPr>
          <a:xfrm>
            <a:off x="508635" y="2574608"/>
            <a:ext cx="297180" cy="297180"/>
          </a:xfrm>
          <a:prstGeom prst="ellipse">
            <a:avLst/>
          </a:prstGeom>
          <a:gradFill rotWithShape="1">
            <a:gsLst>
              <a:gs pos="0">
                <a:srgbClr val="1565C0"/>
              </a:gs>
              <a:gs pos="100000">
                <a:srgbClr val="00838F"/>
              </a:gs>
            </a:gsLst>
            <a:lin ang="2700000" scaled="0"/>
          </a:gradFill>
          <a:ln/>
          <a:effectLst>
            <a:outerShdw sx="100000" sy="100000" kx="0" ky="0" algn="bl" rotWithShape="0" blurRad="190500" dist="50800" dir="16200000">
              <a:srgbClr val="2196F3">
                <a:alpha val="40000"/>
              </a:srgbClr>
            </a:outerShdw>
          </a:effectLst>
        </p:spPr>
      </p:sp>
      <p:sp>
        <p:nvSpPr>
          <p:cNvPr id="53" name="Text 49"/>
          <p:cNvSpPr/>
          <p:nvPr/>
        </p:nvSpPr>
        <p:spPr>
          <a:xfrm>
            <a:off x="508635" y="2574608"/>
            <a:ext cx="411480" cy="297180"/>
          </a:xfrm>
          <a:prstGeom prst="rect">
            <a:avLst/>
          </a:prstGeom>
          <a:noFill/>
          <a:ln/>
        </p:spPr>
        <p:txBody>
          <a:bodyPr wrap="none" rtlCol="0" anchor="ctr"/>
          <a:lstStyle/>
          <a:p>
            <a:pPr algn="l" indent="0" marL="0">
              <a:buNone/>
            </a:pPr>
            <a:r>
              <a:rPr lang="en-US" sz="900" b="1" dirty="0">
                <a:solidFill>
                  <a:srgbClr val="FFFFFF"/>
                </a:solidFill>
                <a:latin typeface="Inter" pitchFamily="34" charset="0"/>
                <a:ea typeface="Inter" pitchFamily="34" charset="-122"/>
                <a:cs typeface="Inter" pitchFamily="34" charset="-120"/>
              </a:rPr>
              <a:t>03</a:t>
            </a:r>
            <a:endParaRPr lang="en-US" sz="900" dirty="0"/>
          </a:p>
        </p:txBody>
      </p:sp>
      <p:sp>
        <p:nvSpPr>
          <p:cNvPr id="54" name="Shape 50"/>
          <p:cNvSpPr/>
          <p:nvPr/>
        </p:nvSpPr>
        <p:spPr>
          <a:xfrm>
            <a:off x="920115" y="2597468"/>
            <a:ext cx="251460" cy="251460"/>
          </a:xfrm>
          <a:prstGeom prst="roundRect">
            <a:avLst>
              <a:gd name="adj" fmla="val 22727"/>
            </a:avLst>
          </a:prstGeom>
          <a:solidFill>
            <a:srgbClr val="2196F3">
              <a:alpha val="15000"/>
            </a:srgbClr>
          </a:solidFill>
          <a:ln w="5715">
            <a:solidFill>
              <a:srgbClr val="00BCD4">
                <a:alpha val="30000"/>
              </a:srgbClr>
            </a:solidFill>
            <a:prstDash val="solid"/>
          </a:ln>
        </p:spPr>
      </p:sp>
      <p:pic>
        <p:nvPicPr>
          <p:cNvPr id="5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77265" y="2654618"/>
            <a:ext cx="137160" cy="137160"/>
          </a:xfrm>
          <a:prstGeom prst="rect">
            <a:avLst/>
          </a:prstGeom>
        </p:spPr>
      </p:pic>
      <p:sp>
        <p:nvSpPr>
          <p:cNvPr id="56" name="Text 51"/>
          <p:cNvSpPr/>
          <p:nvPr/>
        </p:nvSpPr>
        <p:spPr>
          <a:xfrm>
            <a:off x="1285875" y="2592288"/>
            <a:ext cx="8231429" cy="97155"/>
          </a:xfrm>
          <a:prstGeom prst="rect">
            <a:avLst/>
          </a:prstGeom>
          <a:noFill/>
          <a:ln/>
        </p:spPr>
        <p:txBody>
          <a:bodyPr wrap="none" rtlCol="0" anchor="ctr"/>
          <a:lstStyle/>
          <a:p>
            <a:pPr algn="l" indent="0" marL="0">
              <a:buNone/>
            </a:pPr>
            <a:r>
              <a:rPr lang="en-US" sz="540" spc="180" kern="0" dirty="0">
                <a:solidFill>
                  <a:srgbClr val="00BCD4"/>
                </a:solidFill>
                <a:latin typeface="Inter" pitchFamily="34" charset="0"/>
                <a:ea typeface="Inter" pitchFamily="34" charset="-122"/>
                <a:cs typeface="Inter" pitchFamily="34" charset="-120"/>
              </a:rPr>
              <a:t>FUTURE TRENDS · 持续关注</a:t>
            </a:r>
            <a:endParaRPr lang="en-US" sz="540" dirty="0"/>
          </a:p>
        </p:txBody>
      </p:sp>
      <p:sp>
        <p:nvSpPr>
          <p:cNvPr id="57" name="Text 52"/>
          <p:cNvSpPr/>
          <p:nvPr/>
        </p:nvSpPr>
        <p:spPr>
          <a:xfrm>
            <a:off x="1285875" y="2712303"/>
            <a:ext cx="8231429" cy="141714"/>
          </a:xfrm>
          <a:prstGeom prst="rect">
            <a:avLst/>
          </a:prstGeom>
          <a:noFill/>
          <a:ln/>
        </p:spPr>
        <p:txBody>
          <a:bodyPr wrap="square" rtlCol="0" anchor="ctr"/>
          <a:lstStyle/>
          <a:p>
            <a:pPr algn="l" indent="0" marL="0">
              <a:lnSpc>
                <a:spcPct val="155000"/>
              </a:lnSpc>
              <a:buNone/>
            </a:pPr>
            <a:r>
              <a:rPr lang="en-US" sz="720" b="1" dirty="0">
                <a:solidFill>
                  <a:srgbClr val="FFFFFF"/>
                </a:solidFill>
                <a:latin typeface="Inter" pitchFamily="34" charset="0"/>
                <a:ea typeface="Inter" pitchFamily="34" charset="-122"/>
                <a:cs typeface="Inter" pitchFamily="34" charset="-120"/>
              </a:rPr>
              <a:t>AI 辅助开发</a:t>
            </a:r>
            <a:pPr algn="l" indent="0" marL="0">
              <a:lnSpc>
                <a:spcPct val="155000"/>
              </a:lnSpc>
              <a:buNone/>
            </a:pPr>
            <a:r>
              <a:rPr lang="en-US" sz="720" dirty="0">
                <a:solidFill>
                  <a:srgbClr val="CFDDE6"/>
                </a:solidFill>
                <a:latin typeface="Inter" pitchFamily="34" charset="0"/>
                <a:ea typeface="Inter" pitchFamily="34" charset="-122"/>
                <a:cs typeface="Inter" pitchFamily="34" charset="-120"/>
              </a:rPr>
              <a:t>、</a:t>
            </a:r>
            <a:pPr algn="l" indent="0" marL="0">
              <a:lnSpc>
                <a:spcPct val="155000"/>
              </a:lnSpc>
              <a:buNone/>
            </a:pPr>
            <a:r>
              <a:rPr lang="en-US" sz="720" b="1" dirty="0">
                <a:solidFill>
                  <a:srgbClr val="FFFFFF"/>
                </a:solidFill>
                <a:latin typeface="Inter" pitchFamily="34" charset="0"/>
                <a:ea typeface="Inter" pitchFamily="34" charset="-122"/>
                <a:cs typeface="Inter" pitchFamily="34" charset="-120"/>
              </a:rPr>
              <a:t>企业开源</a:t>
            </a:r>
            <a:pPr algn="l" indent="0" marL="0">
              <a:lnSpc>
                <a:spcPct val="155000"/>
              </a:lnSpc>
              <a:buNone/>
            </a:pPr>
            <a:r>
              <a:rPr lang="en-US" sz="720" dirty="0">
                <a:solidFill>
                  <a:srgbClr val="CFDDE6"/>
                </a:solidFill>
                <a:latin typeface="Inter" pitchFamily="34" charset="0"/>
                <a:ea typeface="Inter" pitchFamily="34" charset="-122"/>
                <a:cs typeface="Inter" pitchFamily="34" charset="-120"/>
              </a:rPr>
              <a:t>、</a:t>
            </a:r>
            <a:pPr algn="l" indent="0" marL="0">
              <a:lnSpc>
                <a:spcPct val="155000"/>
              </a:lnSpc>
              <a:buNone/>
            </a:pPr>
            <a:r>
              <a:rPr lang="en-US" sz="720" b="1" dirty="0">
                <a:solidFill>
                  <a:srgbClr val="FFFFFF"/>
                </a:solidFill>
                <a:latin typeface="Inter" pitchFamily="34" charset="0"/>
                <a:ea typeface="Inter" pitchFamily="34" charset="-122"/>
                <a:cs typeface="Inter" pitchFamily="34" charset="-120"/>
              </a:rPr>
              <a:t>多元化包容</a:t>
            </a:r>
            <a:pPr algn="l" indent="0" marL="0">
              <a:lnSpc>
                <a:spcPct val="155000"/>
              </a:lnSpc>
              <a:buNone/>
            </a:pPr>
            <a:r>
              <a:rPr lang="en-US" sz="720" dirty="0">
                <a:solidFill>
                  <a:srgbClr val="CFDDE6"/>
                </a:solidFill>
                <a:latin typeface="Inter" pitchFamily="34" charset="0"/>
                <a:ea typeface="Inter" pitchFamily="34" charset="-122"/>
                <a:cs typeface="Inter" pitchFamily="34" charset="-120"/>
              </a:rPr>
              <a:t>等趋势将持续重塑社区格局。</a:t>
            </a:r>
            <a:endParaRPr lang="en-US" sz="720" dirty="0"/>
          </a:p>
        </p:txBody>
      </p:sp>
      <p:sp>
        <p:nvSpPr>
          <p:cNvPr id="58" name="Shape 53"/>
          <p:cNvSpPr/>
          <p:nvPr/>
        </p:nvSpPr>
        <p:spPr>
          <a:xfrm>
            <a:off x="2320290" y="3060383"/>
            <a:ext cx="1948815" cy="222885"/>
          </a:xfrm>
          <a:prstGeom prst="roundRect">
            <a:avLst>
              <a:gd name="adj" fmla="val 51282"/>
            </a:avLst>
          </a:prstGeom>
          <a:solidFill>
            <a:srgbClr val="00BCD4">
              <a:alpha val="6000"/>
            </a:srgbClr>
          </a:solidFill>
          <a:ln w="5715">
            <a:solidFill>
              <a:srgbClr val="00BCD4">
                <a:alpha val="35000"/>
              </a:srgbClr>
            </a:solidFill>
            <a:prstDash val="solid"/>
          </a:ln>
        </p:spPr>
      </p:sp>
      <p:sp>
        <p:nvSpPr>
          <p:cNvPr id="59" name="Shape 54"/>
          <p:cNvSpPr/>
          <p:nvPr/>
        </p:nvSpPr>
        <p:spPr>
          <a:xfrm>
            <a:off x="2440305" y="3148965"/>
            <a:ext cx="45720" cy="45720"/>
          </a:xfrm>
          <a:prstGeom prst="ellipse">
            <a:avLst/>
          </a:prstGeom>
          <a:solidFill>
            <a:srgbClr val="00BCD4"/>
          </a:solidFill>
          <a:ln/>
          <a:effectLst>
            <a:outerShdw sx="100000" sy="100000" kx="0" ky="0" algn="bl" rotWithShape="0" blurRad="76200" dist="50800" dir="16200000">
              <a:srgbClr val="00BCD4">
                <a:alpha val="100000"/>
              </a:srgbClr>
            </a:outerShdw>
          </a:effectLst>
        </p:spPr>
      </p:sp>
      <p:sp>
        <p:nvSpPr>
          <p:cNvPr id="60" name="Text 55"/>
          <p:cNvSpPr/>
          <p:nvPr/>
        </p:nvSpPr>
        <p:spPr>
          <a:xfrm>
            <a:off x="2543175" y="3117533"/>
            <a:ext cx="1798625" cy="108585"/>
          </a:xfrm>
          <a:prstGeom prst="rect">
            <a:avLst/>
          </a:prstGeom>
          <a:noFill/>
          <a:ln/>
        </p:spPr>
        <p:txBody>
          <a:bodyPr wrap="square" rtlCol="0" anchor="ctr"/>
          <a:lstStyle/>
          <a:p>
            <a:pPr algn="l" indent="0" marL="0">
              <a:buNone/>
            </a:pPr>
            <a:r>
              <a:rPr lang="en-US" sz="585" spc="45" kern="0" dirty="0">
                <a:solidFill>
                  <a:srgbClr val="B0BEC5"/>
                </a:solidFill>
                <a:latin typeface="Inter" pitchFamily="34" charset="0"/>
                <a:ea typeface="Inter" pitchFamily="34" charset="-122"/>
                <a:cs typeface="Inter" pitchFamily="34" charset="-120"/>
              </a:rPr>
              <a:t>分享时间：</a:t>
            </a:r>
            <a:pPr algn="l" indent="0" marL="0">
              <a:buNone/>
            </a:pPr>
            <a:r>
              <a:rPr lang="en-US" sz="585" b="1" spc="45" kern="0" dirty="0">
                <a:solidFill>
                  <a:srgbClr val="FFFFFF"/>
                </a:solidFill>
                <a:latin typeface="Inter" pitchFamily="34" charset="0"/>
                <a:ea typeface="Inter" pitchFamily="34" charset="-122"/>
                <a:cs typeface="Inter" pitchFamily="34" charset="-120"/>
              </a:rPr>
              <a:t>2023 年 6 月（开源之道 · 适兕）</a:t>
            </a:r>
            <a:endParaRPr lang="en-US" sz="585" dirty="0"/>
          </a:p>
        </p:txBody>
      </p:sp>
      <p:sp>
        <p:nvSpPr>
          <p:cNvPr id="61" name="Shape 56"/>
          <p:cNvSpPr/>
          <p:nvPr/>
        </p:nvSpPr>
        <p:spPr>
          <a:xfrm>
            <a:off x="4406265" y="3060383"/>
            <a:ext cx="2417445" cy="222885"/>
          </a:xfrm>
          <a:prstGeom prst="roundRect">
            <a:avLst>
              <a:gd name="adj" fmla="val 51282"/>
            </a:avLst>
          </a:prstGeom>
          <a:solidFill>
            <a:srgbClr val="00BCD4">
              <a:alpha val="6000"/>
            </a:srgbClr>
          </a:solidFill>
          <a:ln w="5715">
            <a:solidFill>
              <a:srgbClr val="00BCD4">
                <a:alpha val="35000"/>
              </a:srgbClr>
            </a:solidFill>
            <a:prstDash val="solid"/>
          </a:ln>
        </p:spPr>
      </p:sp>
      <p:sp>
        <p:nvSpPr>
          <p:cNvPr id="62" name="Shape 57"/>
          <p:cNvSpPr/>
          <p:nvPr/>
        </p:nvSpPr>
        <p:spPr>
          <a:xfrm>
            <a:off x="4526280" y="3148965"/>
            <a:ext cx="45720" cy="45720"/>
          </a:xfrm>
          <a:prstGeom prst="ellipse">
            <a:avLst/>
          </a:prstGeom>
          <a:solidFill>
            <a:srgbClr val="00BCD4"/>
          </a:solidFill>
          <a:ln/>
          <a:effectLst>
            <a:outerShdw sx="100000" sy="100000" kx="0" ky="0" algn="bl" rotWithShape="0" blurRad="76200" dist="50800" dir="16200000">
              <a:srgbClr val="00BCD4">
                <a:alpha val="100000"/>
              </a:srgbClr>
            </a:outerShdw>
          </a:effectLst>
        </p:spPr>
      </p:sp>
      <p:sp>
        <p:nvSpPr>
          <p:cNvPr id="63" name="Text 58"/>
          <p:cNvSpPr/>
          <p:nvPr/>
        </p:nvSpPr>
        <p:spPr>
          <a:xfrm>
            <a:off x="4629150" y="3117533"/>
            <a:ext cx="2323490" cy="108585"/>
          </a:xfrm>
          <a:prstGeom prst="rect">
            <a:avLst/>
          </a:prstGeom>
          <a:noFill/>
          <a:ln/>
        </p:spPr>
        <p:txBody>
          <a:bodyPr wrap="square" rtlCol="0" anchor="ctr"/>
          <a:lstStyle/>
          <a:p>
            <a:pPr algn="l" indent="0" marL="0">
              <a:buNone/>
            </a:pPr>
            <a:r>
              <a:rPr lang="en-US" sz="585" spc="45" kern="0" dirty="0">
                <a:solidFill>
                  <a:srgbClr val="B0BEC5"/>
                </a:solidFill>
                <a:latin typeface="Inter" pitchFamily="34" charset="0"/>
                <a:ea typeface="Inter" pitchFamily="34" charset="-122"/>
                <a:cs typeface="Inter" pitchFamily="34" charset="-120"/>
              </a:rPr>
              <a:t>核心维度：</a:t>
            </a:r>
            <a:pPr algn="l" indent="0" marL="0">
              <a:buNone/>
            </a:pPr>
            <a:r>
              <a:rPr lang="en-US" sz="585" b="1" spc="45" kern="0" dirty="0">
                <a:solidFill>
                  <a:srgbClr val="FFFFFF"/>
                </a:solidFill>
                <a:latin typeface="Inter" pitchFamily="34" charset="0"/>
                <a:ea typeface="Inter" pitchFamily="34" charset="-122"/>
                <a:cs typeface="Inter" pitchFamily="34" charset="-120"/>
              </a:rPr>
              <a:t>6 个（定义 / 类型 / 数据 / 动机 / 技能 / 文化）</a:t>
            </a:r>
            <a:endParaRPr lang="en-US" sz="585" dirty="0"/>
          </a:p>
        </p:txBody>
      </p:sp>
      <p:sp>
        <p:nvSpPr>
          <p:cNvPr id="64" name="Shape 59"/>
          <p:cNvSpPr/>
          <p:nvPr/>
        </p:nvSpPr>
        <p:spPr>
          <a:xfrm>
            <a:off x="365760" y="3386138"/>
            <a:ext cx="8412480" cy="582930"/>
          </a:xfrm>
          <a:prstGeom prst="roundRect">
            <a:avLst>
              <a:gd name="adj" fmla="val 13725"/>
            </a:avLst>
          </a:prstGeom>
          <a:gradFill rotWithShape="1">
            <a:gsLst>
              <a:gs pos="0">
                <a:srgbClr val="142846">
                  <a:alpha val="50000"/>
                </a:srgbClr>
              </a:gs>
              <a:gs pos="100000">
                <a:srgbClr val="00283C">
                  <a:alpha val="30000"/>
                </a:srgbClr>
              </a:gs>
            </a:gsLst>
            <a:lin ang="2700000" scaled="0"/>
          </a:gradFill>
          <a:ln w="5715">
            <a:solidFill>
              <a:srgbClr val="2196F3">
                <a:alpha val="22000"/>
              </a:srgbClr>
            </a:solidFill>
            <a:prstDash val="solid"/>
          </a:ln>
        </p:spPr>
      </p:sp>
      <p:sp>
        <p:nvSpPr>
          <p:cNvPr id="65" name="Shape 60"/>
          <p:cNvSpPr/>
          <p:nvPr/>
        </p:nvSpPr>
        <p:spPr>
          <a:xfrm>
            <a:off x="365760" y="3386138"/>
            <a:ext cx="17145" cy="571500"/>
          </a:xfrm>
          <a:prstGeom prst="roundRect">
            <a:avLst>
              <a:gd name="adj" fmla="val 466667"/>
            </a:avLst>
          </a:prstGeom>
          <a:gradFill rotWithShape="1">
            <a:gsLst>
              <a:gs pos="0">
                <a:srgbClr val="00BCD4"/>
              </a:gs>
              <a:gs pos="100000">
                <a:srgbClr val="2196F3"/>
              </a:gs>
            </a:gsLst>
            <a:lin ang="5400000" scaled="0"/>
          </a:gradFill>
          <a:ln/>
        </p:spPr>
      </p:sp>
      <p:sp>
        <p:nvSpPr>
          <p:cNvPr id="66" name="Shape 61"/>
          <p:cNvSpPr/>
          <p:nvPr/>
        </p:nvSpPr>
        <p:spPr>
          <a:xfrm>
            <a:off x="531495" y="3494723"/>
            <a:ext cx="365760" cy="365760"/>
          </a:xfrm>
          <a:prstGeom prst="ellipse">
            <a:avLst/>
          </a:prstGeom>
          <a:gradFill rotWithShape="1">
            <a:gsLst>
              <a:gs pos="0">
                <a:srgbClr val="1565C0"/>
              </a:gs>
              <a:gs pos="100000">
                <a:srgbClr val="00838F"/>
              </a:gs>
            </a:gsLst>
            <a:lin ang="2700000" scaled="0"/>
          </a:gradFill>
          <a:ln/>
          <a:effectLst>
            <a:outerShdw sx="100000" sy="100000" kx="0" ky="0" algn="bl" rotWithShape="0" blurRad="228600" dist="50800" dir="16200000">
              <a:srgbClr val="2196F3">
                <a:alpha val="35000"/>
              </a:srgbClr>
            </a:outerShdw>
          </a:effectLst>
        </p:spPr>
      </p:sp>
      <p:pic>
        <p:nvPicPr>
          <p:cNvPr id="67"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22935" y="3586163"/>
            <a:ext cx="182880" cy="182880"/>
          </a:xfrm>
          <a:prstGeom prst="rect">
            <a:avLst/>
          </a:prstGeom>
        </p:spPr>
      </p:pic>
      <p:sp>
        <p:nvSpPr>
          <p:cNvPr id="68" name="Text 62"/>
          <p:cNvSpPr/>
          <p:nvPr/>
        </p:nvSpPr>
        <p:spPr>
          <a:xfrm>
            <a:off x="1034415" y="3546515"/>
            <a:ext cx="7104888" cy="262176"/>
          </a:xfrm>
          <a:prstGeom prst="rect">
            <a:avLst/>
          </a:prstGeom>
          <a:noFill/>
          <a:ln/>
        </p:spPr>
        <p:txBody>
          <a:bodyPr wrap="square" rtlCol="0" anchor="ctr"/>
          <a:lstStyle/>
          <a:p>
            <a:pPr algn="l" indent="0" marL="0">
              <a:lnSpc>
                <a:spcPct val="170000"/>
              </a:lnSpc>
              <a:buNone/>
            </a:pPr>
            <a:r>
              <a:rPr lang="en-US" sz="608" spc="23" kern="0" dirty="0">
                <a:solidFill>
                  <a:srgbClr val="B8C8D8"/>
                </a:solidFill>
                <a:latin typeface="Inter" pitchFamily="34" charset="0"/>
                <a:ea typeface="Inter" pitchFamily="34" charset="-122"/>
                <a:cs typeface="Inter" pitchFamily="34" charset="-120"/>
              </a:rPr>
              <a:t>本期分享从</a:t>
            </a:r>
            <a:pPr algn="l" indent="0" marL="0">
              <a:lnSpc>
                <a:spcPct val="170000"/>
              </a:lnSpc>
              <a:buNone/>
            </a:pPr>
            <a:r>
              <a:rPr lang="en-US" sz="608" spc="23" kern="0" dirty="0">
                <a:solidFill>
                  <a:srgbClr val="E8F2FF"/>
                </a:solidFill>
                <a:latin typeface="Inter" pitchFamily="34" charset="0"/>
                <a:ea typeface="Inter" pitchFamily="34" charset="-122"/>
                <a:cs typeface="Inter" pitchFamily="34" charset="-120"/>
              </a:rPr>
              <a:t>定义、类型、数据、动机、技能到文化</a:t>
            </a:r>
            <a:pPr algn="l" indent="0" marL="0">
              <a:lnSpc>
                <a:spcPct val="170000"/>
              </a:lnSpc>
              <a:buNone/>
            </a:pPr>
            <a:r>
              <a:rPr lang="en-US" sz="608" spc="23" kern="0" dirty="0">
                <a:solidFill>
                  <a:srgbClr val="B8C8D8"/>
                </a:solidFill>
                <a:latin typeface="Inter" pitchFamily="34" charset="0"/>
                <a:ea typeface="Inter" pitchFamily="34" charset="-122"/>
                <a:cs typeface="Inter" pitchFamily="34" charset="-120"/>
              </a:rPr>
              <a:t>六个维度系统勾勒了 2023 年开源人士的群体画像。理解这些画像不仅有助于个人规划开源参与路径，也为开源布道者提供了更精准的沟通策略。</a:t>
            </a:r>
            <a:pPr algn="l" indent="0" marL="0">
              <a:lnSpc>
                <a:spcPct val="170000"/>
              </a:lnSpc>
              <a:buNone/>
            </a:pPr>
            <a:r>
              <a:rPr lang="en-US" sz="608" spc="23" kern="0" dirty="0">
                <a:solidFill>
                  <a:srgbClr val="E8F2FF"/>
                </a:solidFill>
                <a:latin typeface="Inter" pitchFamily="34" charset="0"/>
                <a:ea typeface="Inter" pitchFamily="34" charset="-122"/>
                <a:cs typeface="Inter" pitchFamily="34" charset="-120"/>
              </a:rPr>
              <a:t>期待每一位读者都能找到属于自己的开源角色，共同推动生态繁荣。 </a:t>
            </a:r>
            <a:endParaRPr lang="en-US" sz="608" dirty="0"/>
          </a:p>
        </p:txBody>
      </p:sp>
      <p:sp>
        <p:nvSpPr>
          <p:cNvPr id="69" name="Text 63"/>
          <p:cNvSpPr/>
          <p:nvPr/>
        </p:nvSpPr>
        <p:spPr>
          <a:xfrm>
            <a:off x="7515225" y="3569018"/>
            <a:ext cx="1228954" cy="114300"/>
          </a:xfrm>
          <a:prstGeom prst="rect">
            <a:avLst/>
          </a:prstGeom>
          <a:noFill/>
          <a:ln/>
        </p:spPr>
        <p:txBody>
          <a:bodyPr wrap="none" rtlCol="0" anchor="ctr"/>
          <a:lstStyle/>
          <a:p>
            <a:pPr algn="r" indent="0" marL="0">
              <a:buNone/>
            </a:pPr>
            <a:r>
              <a:rPr lang="en-US" sz="630" spc="90" kern="0" dirty="0">
                <a:solidFill>
                  <a:srgbClr val="FFFFFF"/>
                </a:solidFill>
                <a:latin typeface="Inter" pitchFamily="34" charset="0"/>
                <a:ea typeface="Inter" pitchFamily="34" charset="-122"/>
                <a:cs typeface="Inter" pitchFamily="34" charset="-120"/>
              </a:rPr>
              <a:t>开源之道 · 适兕</a:t>
            </a:r>
            <a:endParaRPr lang="en-US" sz="630" dirty="0"/>
          </a:p>
        </p:txBody>
      </p:sp>
      <p:sp>
        <p:nvSpPr>
          <p:cNvPr id="70" name="Text 64"/>
          <p:cNvSpPr/>
          <p:nvPr/>
        </p:nvSpPr>
        <p:spPr>
          <a:xfrm>
            <a:off x="7515225" y="3706178"/>
            <a:ext cx="1228954" cy="80010"/>
          </a:xfrm>
          <a:prstGeom prst="rect">
            <a:avLst/>
          </a:prstGeom>
          <a:noFill/>
          <a:ln/>
        </p:spPr>
        <p:txBody>
          <a:bodyPr wrap="none" rtlCol="0" anchor="ctr"/>
          <a:lstStyle/>
          <a:p>
            <a:pPr algn="r" indent="0" marL="0">
              <a:buNone/>
            </a:pPr>
            <a:r>
              <a:rPr lang="en-US" sz="495" spc="135" kern="0" dirty="0">
                <a:solidFill>
                  <a:srgbClr val="00BCD4"/>
                </a:solidFill>
                <a:latin typeface="Inter" pitchFamily="34" charset="0"/>
                <a:ea typeface="Inter" pitchFamily="34" charset="-122"/>
                <a:cs typeface="Inter" pitchFamily="34" charset="-120"/>
              </a:rPr>
              <a:t>OPEN SOURCE INSIGHTS</a:t>
            </a:r>
            <a:endParaRPr lang="en-US" sz="49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2026-08-28T01:32:23Z</dcterms:created>
  <dcterms:modified xsi:type="dcterms:W3CDTF">2026-08-28T01:32:23Z</dcterms:modified>
</cp:coreProperties>
</file>