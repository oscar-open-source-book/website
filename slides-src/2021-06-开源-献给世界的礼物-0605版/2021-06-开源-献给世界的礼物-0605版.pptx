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e/developing/oscar-open-source-book/website/slides-src/2021-06-开源-献给世界的礼物-0605版/images/page_001_hero_bg.png">    </p:cNvPr>
          <p:cNvPicPr>
            <a:picLocks noChangeAspect="1"/>
          </p:cNvPicPr>
          <p:nvPr/>
        </p:nvPicPr>
        <p:blipFill>
          <a:blip r:embed="rId2"/>
          <a:srcRect l="388" r="388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0E1A">
                  <a:alpha val="35000"/>
                </a:srgbClr>
              </a:gs>
              <a:gs pos="60000">
                <a:srgbClr val="0A0E1A">
                  <a:alpha val="65000"/>
                </a:srgbClr>
              </a:gs>
              <a:gs pos="100000">
                <a:srgbClr val="0A0E1A">
                  <a:alpha val="85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7406640" y="914400"/>
            <a:ext cx="1600200" cy="2171700"/>
          </a:xfrm>
          <a:prstGeom prst="roundRect">
            <a:avLst>
              <a:gd name="adj" fmla="val 3571"/>
            </a:avLst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20000"/>
              </a:srgbClr>
            </a:outerShdw>
          </a:effectLst>
        </p:spPr>
      </p:sp>
      <p:pic>
        <p:nvPicPr>
          <p:cNvPr id="5" name="Image 1" descr="/home/lee/developing/oscar-open-source-book/website/slides-src/2021-06-开源-献给世界的礼物-0605版/images/page_001_decoration.png">    </p:cNvPr>
          <p:cNvPicPr>
            <a:picLocks noChangeAspect="1"/>
          </p:cNvPicPr>
          <p:nvPr/>
        </p:nvPicPr>
        <p:blipFill>
          <a:blip r:embed="rId3"/>
          <a:srcRect l="431" r="431" t="0" b="0"/>
          <a:stretch/>
        </p:blipFill>
        <p:spPr>
          <a:xfrm>
            <a:off x="7412355" y="920115"/>
            <a:ext cx="1600200" cy="2171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14575" y="457200"/>
            <a:ext cx="5056632" cy="5257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20" b="1" spc="13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开源：献给世界的礼物</a:t>
            </a:r>
            <a:endParaRPr lang="en-US" sz="3420" dirty="0"/>
          </a:p>
        </p:txBody>
      </p:sp>
      <p:sp>
        <p:nvSpPr>
          <p:cNvPr id="7" name="Text 3"/>
          <p:cNvSpPr/>
          <p:nvPr/>
        </p:nvSpPr>
        <p:spPr>
          <a:xfrm>
            <a:off x="2971800" y="1100673"/>
            <a:ext cx="3584448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spc="22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 · 适兕 · 2021年6月 · 阅读分享专场</a:t>
            </a:r>
            <a:endParaRPr lang="en-US" sz="855" dirty="0"/>
          </a:p>
        </p:txBody>
      </p:sp>
      <p:sp>
        <p:nvSpPr>
          <p:cNvPr id="8" name="Shape 4"/>
          <p:cNvSpPr/>
          <p:nvPr/>
        </p:nvSpPr>
        <p:spPr>
          <a:xfrm>
            <a:off x="4286250" y="1403568"/>
            <a:ext cx="5715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" name="Text 5"/>
          <p:cNvSpPr/>
          <p:nvPr/>
        </p:nvSpPr>
        <p:spPr>
          <a:xfrm>
            <a:off x="2000250" y="1580733"/>
            <a:ext cx="5760720" cy="260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B0BEC5">
                    <a:alpha val="9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开源不仅是一种技术许可模式，更是一种关于协作、透明与共享的人类实践。本期分享以《开源：献给世界的礼物》为主线，回顾开源运动的历史脉络，梳理其对当今科技与社会的深远影响。</a:t>
            </a:r>
            <a:endParaRPr lang="en-US" sz="630" dirty="0"/>
          </a:p>
        </p:txBody>
      </p:sp>
      <p:sp>
        <p:nvSpPr>
          <p:cNvPr id="10" name="Shape 6"/>
          <p:cNvSpPr/>
          <p:nvPr/>
        </p:nvSpPr>
        <p:spPr>
          <a:xfrm>
            <a:off x="457200" y="3344704"/>
            <a:ext cx="2164020" cy="941546"/>
          </a:xfrm>
          <a:prstGeom prst="roundRect">
            <a:avLst>
              <a:gd name="adj" fmla="val 7284"/>
            </a:avLst>
          </a:prstGeom>
          <a:solidFill>
            <a:srgbClr val="0A0E1A">
              <a:alpha val="72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3344704"/>
            <a:ext cx="2152589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2" name="Text 8"/>
          <p:cNvSpPr/>
          <p:nvPr/>
        </p:nvSpPr>
        <p:spPr>
          <a:xfrm>
            <a:off x="588645" y="3487579"/>
            <a:ext cx="70408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THEME</a:t>
            </a:r>
            <a:endParaRPr lang="en-US" sz="495" dirty="0"/>
          </a:p>
        </p:txBody>
      </p:sp>
      <p:sp>
        <p:nvSpPr>
          <p:cNvPr id="13" name="Text 9"/>
          <p:cNvSpPr/>
          <p:nvPr/>
        </p:nvSpPr>
        <p:spPr>
          <a:xfrm>
            <a:off x="588645" y="3670459"/>
            <a:ext cx="6743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主题分享</a:t>
            </a:r>
            <a:endParaRPr lang="en-US" sz="990" dirty="0"/>
          </a:p>
        </p:txBody>
      </p:sp>
      <p:sp>
        <p:nvSpPr>
          <p:cNvPr id="14" name="Text 10"/>
          <p:cNvSpPr/>
          <p:nvPr/>
        </p:nvSpPr>
        <p:spPr>
          <a:xfrm>
            <a:off x="588645" y="3904774"/>
            <a:ext cx="2080260" cy="21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围绕《开源：献给世界的礼物》一书进行深度阅读分享与主题讨论</a:t>
            </a:r>
            <a:endParaRPr lang="en-US" sz="563" dirty="0"/>
          </a:p>
        </p:txBody>
      </p:sp>
      <p:sp>
        <p:nvSpPr>
          <p:cNvPr id="15" name="Shape 11"/>
          <p:cNvSpPr/>
          <p:nvPr/>
        </p:nvSpPr>
        <p:spPr>
          <a:xfrm>
            <a:off x="2746950" y="3344704"/>
            <a:ext cx="2164110" cy="941546"/>
          </a:xfrm>
          <a:prstGeom prst="roundRect">
            <a:avLst>
              <a:gd name="adj" fmla="val 7284"/>
            </a:avLst>
          </a:prstGeom>
          <a:solidFill>
            <a:srgbClr val="0A0E1A">
              <a:alpha val="72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6950" y="3344704"/>
            <a:ext cx="215268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7" name="Text 13"/>
          <p:cNvSpPr/>
          <p:nvPr/>
        </p:nvSpPr>
        <p:spPr>
          <a:xfrm>
            <a:off x="2878395" y="3487579"/>
            <a:ext cx="105613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EVANGELIST</a:t>
            </a:r>
            <a:endParaRPr lang="en-US" sz="495" dirty="0"/>
          </a:p>
        </p:txBody>
      </p:sp>
      <p:sp>
        <p:nvSpPr>
          <p:cNvPr id="18" name="Text 14"/>
          <p:cNvSpPr/>
          <p:nvPr/>
        </p:nvSpPr>
        <p:spPr>
          <a:xfrm>
            <a:off x="2878395" y="3670459"/>
            <a:ext cx="6743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布道者说</a:t>
            </a:r>
            <a:endParaRPr lang="en-US" sz="990" dirty="0"/>
          </a:p>
        </p:txBody>
      </p:sp>
      <p:sp>
        <p:nvSpPr>
          <p:cNvPr id="19" name="Text 15"/>
          <p:cNvSpPr/>
          <p:nvPr/>
        </p:nvSpPr>
        <p:spPr>
          <a:xfrm>
            <a:off x="2878395" y="3904774"/>
            <a:ext cx="2080260" cy="21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适兕带你走进开源精神世界，理解代码自由与协作共创之美</a:t>
            </a:r>
            <a:endParaRPr lang="en-US" sz="563" dirty="0"/>
          </a:p>
        </p:txBody>
      </p:sp>
      <p:sp>
        <p:nvSpPr>
          <p:cNvPr id="20" name="Shape 16"/>
          <p:cNvSpPr/>
          <p:nvPr/>
        </p:nvSpPr>
        <p:spPr>
          <a:xfrm>
            <a:off x="5036790" y="3344704"/>
            <a:ext cx="2164110" cy="941546"/>
          </a:xfrm>
          <a:prstGeom prst="roundRect">
            <a:avLst>
              <a:gd name="adj" fmla="val 7284"/>
            </a:avLst>
          </a:prstGeom>
          <a:solidFill>
            <a:srgbClr val="0A0E1A">
              <a:alpha val="72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36790" y="3344704"/>
            <a:ext cx="215268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2" name="Text 18"/>
          <p:cNvSpPr/>
          <p:nvPr/>
        </p:nvSpPr>
        <p:spPr>
          <a:xfrm>
            <a:off x="5168235" y="3487579"/>
            <a:ext cx="63367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TIME</a:t>
            </a:r>
            <a:endParaRPr lang="en-US" sz="495" dirty="0"/>
          </a:p>
        </p:txBody>
      </p:sp>
      <p:sp>
        <p:nvSpPr>
          <p:cNvPr id="23" name="Text 19"/>
          <p:cNvSpPr/>
          <p:nvPr/>
        </p:nvSpPr>
        <p:spPr>
          <a:xfrm>
            <a:off x="5168235" y="3670459"/>
            <a:ext cx="81153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时间与场次</a:t>
            </a:r>
            <a:endParaRPr lang="en-US" sz="990" dirty="0"/>
          </a:p>
        </p:txBody>
      </p:sp>
      <p:sp>
        <p:nvSpPr>
          <p:cNvPr id="24" name="Text 20"/>
          <p:cNvSpPr/>
          <p:nvPr/>
        </p:nvSpPr>
        <p:spPr>
          <a:xfrm>
            <a:off x="5168235" y="3904774"/>
            <a:ext cx="2105863" cy="21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2021年6月·开源之道栏目·线上阅读分享专场，诚邀同行者共赴</a:t>
            </a:r>
            <a:endParaRPr lang="en-US" sz="563" dirty="0"/>
          </a:p>
        </p:txBody>
      </p:sp>
      <p:sp>
        <p:nvSpPr>
          <p:cNvPr id="25" name="Shape 21"/>
          <p:cNvSpPr/>
          <p:nvPr/>
        </p:nvSpPr>
        <p:spPr>
          <a:xfrm>
            <a:off x="8446770" y="4291965"/>
            <a:ext cx="525780" cy="234315"/>
          </a:xfrm>
          <a:prstGeom prst="roundRect">
            <a:avLst>
              <a:gd name="adj" fmla="val 53659"/>
            </a:avLst>
          </a:prstGeom>
          <a:solidFill>
            <a:srgbClr val="2196F3">
              <a:alpha val="18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55355" y="4360545"/>
            <a:ext cx="38290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第06期</a:t>
            </a:r>
            <a:endParaRPr lang="en-US" sz="585" dirty="0"/>
          </a:p>
        </p:txBody>
      </p:sp>
      <p:sp>
        <p:nvSpPr>
          <p:cNvPr id="27" name="Shape 23"/>
          <p:cNvSpPr/>
          <p:nvPr/>
        </p:nvSpPr>
        <p:spPr>
          <a:xfrm>
            <a:off x="7566660" y="4594860"/>
            <a:ext cx="1405890" cy="234315"/>
          </a:xfrm>
          <a:prstGeom prst="roundRect">
            <a:avLst>
              <a:gd name="adj" fmla="val 53659"/>
            </a:avLst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75245" y="4663440"/>
            <a:ext cx="133136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主题关键词：献给世界的礼物</a:t>
            </a:r>
            <a:endParaRPr lang="en-US" sz="5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-228600" y="-228600"/>
            <a:ext cx="1028700" cy="10287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-228600" y="-228600"/>
            <a:ext cx="10287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28600" y="-228600"/>
            <a:ext cx="0" cy="10287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43900" y="4343400"/>
            <a:ext cx="1028700" cy="10287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9372600" y="4343400"/>
            <a:ext cx="0" cy="10287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43900" y="5372100"/>
            <a:ext cx="10287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003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2910" y="274320"/>
            <a:ext cx="11649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· 开源研究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7423785" y="274320"/>
            <a:ext cx="156819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TRANSITION / 章节过渡</a:t>
            </a:r>
            <a:endParaRPr lang="en-US" sz="540" dirty="0"/>
          </a:p>
        </p:txBody>
      </p:sp>
      <p:sp>
        <p:nvSpPr>
          <p:cNvPr id="13" name="Shape 11"/>
          <p:cNvSpPr/>
          <p:nvPr/>
        </p:nvSpPr>
        <p:spPr>
          <a:xfrm>
            <a:off x="320040" y="508635"/>
            <a:ext cx="3086100" cy="3903345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3406140" y="508635"/>
            <a:ext cx="0" cy="3903345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" y="1047274"/>
            <a:ext cx="4937760" cy="174879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200" b="1" spc="-45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200" dirty="0"/>
          </a:p>
        </p:txBody>
      </p:sp>
      <p:sp>
        <p:nvSpPr>
          <p:cNvPr id="16" name="Shape 14"/>
          <p:cNvSpPr/>
          <p:nvPr/>
        </p:nvSpPr>
        <p:spPr>
          <a:xfrm>
            <a:off x="1231583" y="2921794"/>
            <a:ext cx="1143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1334453" y="3030379"/>
            <a:ext cx="104973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· 01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117283" y="3207544"/>
            <a:ext cx="1668780" cy="42862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340" b="1" spc="360" kern="0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何为开源</a:t>
            </a:r>
            <a:endParaRPr lang="en-US" sz="2340" dirty="0"/>
          </a:p>
        </p:txBody>
      </p:sp>
      <p:sp>
        <p:nvSpPr>
          <p:cNvPr id="19" name="Text 17"/>
          <p:cNvSpPr/>
          <p:nvPr/>
        </p:nvSpPr>
        <p:spPr>
          <a:xfrm>
            <a:off x="1074420" y="3727609"/>
            <a:ext cx="1632204" cy="1457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675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从自由软件到全球协作的开源运动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3680460" y="548640"/>
            <a:ext cx="2286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89070" y="508635"/>
            <a:ext cx="160020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MILESTONES</a:t>
            </a:r>
            <a:endParaRPr lang="en-US" sz="585" dirty="0"/>
          </a:p>
        </p:txBody>
      </p:sp>
      <p:sp>
        <p:nvSpPr>
          <p:cNvPr id="22" name="Text 20"/>
          <p:cNvSpPr/>
          <p:nvPr/>
        </p:nvSpPr>
        <p:spPr>
          <a:xfrm>
            <a:off x="8463915" y="511493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92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03</a:t>
            </a:r>
            <a:endParaRPr lang="en-US" sz="495" dirty="0"/>
          </a:p>
        </p:txBody>
      </p:sp>
      <p:sp>
        <p:nvSpPr>
          <p:cNvPr id="23" name="Shape 21"/>
          <p:cNvSpPr/>
          <p:nvPr/>
        </p:nvSpPr>
        <p:spPr>
          <a:xfrm>
            <a:off x="3726180" y="771525"/>
            <a:ext cx="11430" cy="2030968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50000">
                <a:srgbClr val="2196F3"/>
              </a:gs>
              <a:gs pos="100000">
                <a:srgbClr val="2196F3">
                  <a:alpha val="10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51910" y="714375"/>
            <a:ext cx="4972050" cy="646509"/>
          </a:xfrm>
          <a:prstGeom prst="roundRect">
            <a:avLst>
              <a:gd name="adj" fmla="val 5304"/>
            </a:avLst>
          </a:prstGeom>
          <a:solidFill>
            <a:srgbClr val="0F162A">
              <a:alpha val="6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828675"/>
            <a:ext cx="80010" cy="80010"/>
          </a:xfrm>
          <a:prstGeom prst="ellipse">
            <a:avLst/>
          </a:prstGeom>
          <a:solidFill>
            <a:srgbClr val="0A0E1A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71925" y="800100"/>
            <a:ext cx="400050" cy="125730"/>
          </a:xfrm>
          <a:prstGeom prst="roundRect">
            <a:avLst>
              <a:gd name="adj" fmla="val 13636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1925" y="800100"/>
            <a:ext cx="462915" cy="125730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节点 01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4451985" y="822960"/>
            <a:ext cx="103693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92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1983 — GNU PROJECT</a:t>
            </a:r>
            <a:endParaRPr lang="en-US" sz="495" dirty="0"/>
          </a:p>
        </p:txBody>
      </p:sp>
      <p:sp>
        <p:nvSpPr>
          <p:cNvPr id="29" name="Text 27"/>
          <p:cNvSpPr/>
          <p:nvPr/>
        </p:nvSpPr>
        <p:spPr>
          <a:xfrm>
            <a:off x="3971925" y="960120"/>
            <a:ext cx="531266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起源追溯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71925" y="1160145"/>
            <a:ext cx="5312664" cy="1150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1983 年 GNU 计划正式启动，Richard Stallman 提出自由软件理念，强调用户应享有运行、学习、修改与分享软件的自由——开源的种子自此萌芽。</a:t>
            </a:r>
            <a:endParaRPr lang="en-US" sz="518" dirty="0"/>
          </a:p>
        </p:txBody>
      </p:sp>
      <p:sp>
        <p:nvSpPr>
          <p:cNvPr id="31" name="Shape 29"/>
          <p:cNvSpPr/>
          <p:nvPr/>
        </p:nvSpPr>
        <p:spPr>
          <a:xfrm>
            <a:off x="3851910" y="1463754"/>
            <a:ext cx="4972050" cy="646509"/>
          </a:xfrm>
          <a:prstGeom prst="roundRect">
            <a:avLst>
              <a:gd name="adj" fmla="val 5304"/>
            </a:avLst>
          </a:prstGeom>
          <a:solidFill>
            <a:srgbClr val="0F162A">
              <a:alpha val="6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03320" y="1578054"/>
            <a:ext cx="80010" cy="80010"/>
          </a:xfrm>
          <a:prstGeom prst="ellipse">
            <a:avLst/>
          </a:prstGeom>
          <a:solidFill>
            <a:srgbClr val="0A0E1A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71925" y="1549479"/>
            <a:ext cx="411480" cy="125730"/>
          </a:xfrm>
          <a:prstGeom prst="roundRect">
            <a:avLst>
              <a:gd name="adj" fmla="val 13636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71925" y="1549479"/>
            <a:ext cx="474345" cy="125730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节点 02</a:t>
            </a:r>
            <a:endParaRPr lang="en-US" sz="495" dirty="0"/>
          </a:p>
        </p:txBody>
      </p:sp>
      <p:sp>
        <p:nvSpPr>
          <p:cNvPr id="35" name="Text 33"/>
          <p:cNvSpPr/>
          <p:nvPr/>
        </p:nvSpPr>
        <p:spPr>
          <a:xfrm>
            <a:off x="4463415" y="1572339"/>
            <a:ext cx="120975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92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1998 — OSI DEFINITION</a:t>
            </a:r>
            <a:endParaRPr lang="en-US" sz="495" dirty="0"/>
          </a:p>
        </p:txBody>
      </p:sp>
      <p:sp>
        <p:nvSpPr>
          <p:cNvPr id="36" name="Text 34"/>
          <p:cNvSpPr/>
          <p:nvPr/>
        </p:nvSpPr>
        <p:spPr>
          <a:xfrm>
            <a:off x="3971925" y="1709499"/>
            <a:ext cx="531266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定义厘清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71925" y="1909524"/>
            <a:ext cx="5312664" cy="1150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开放源代码允许任何人查看、修改与分发代码；开源倡议组织（OSI）发布《开源定义》，为开源行为立下明确的规范与准则。</a:t>
            </a:r>
            <a:endParaRPr lang="en-US" sz="518" dirty="0"/>
          </a:p>
        </p:txBody>
      </p:sp>
      <p:sp>
        <p:nvSpPr>
          <p:cNvPr id="38" name="Shape 36"/>
          <p:cNvSpPr/>
          <p:nvPr/>
        </p:nvSpPr>
        <p:spPr>
          <a:xfrm>
            <a:off x="3851910" y="2213134"/>
            <a:ext cx="4972050" cy="646509"/>
          </a:xfrm>
          <a:prstGeom prst="roundRect">
            <a:avLst>
              <a:gd name="adj" fmla="val 5304"/>
            </a:avLst>
          </a:prstGeom>
          <a:solidFill>
            <a:srgbClr val="0F162A">
              <a:alpha val="6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3320" y="2327434"/>
            <a:ext cx="80010" cy="80010"/>
          </a:xfrm>
          <a:prstGeom prst="ellipse">
            <a:avLst/>
          </a:prstGeom>
          <a:solidFill>
            <a:srgbClr val="0A0E1A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971925" y="2298859"/>
            <a:ext cx="411480" cy="125730"/>
          </a:xfrm>
          <a:prstGeom prst="roundRect">
            <a:avLst>
              <a:gd name="adj" fmla="val 13636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1925" y="2298859"/>
            <a:ext cx="474345" cy="125730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节点 03</a:t>
            </a:r>
            <a:endParaRPr lang="en-US" sz="495" dirty="0"/>
          </a:p>
        </p:txBody>
      </p:sp>
      <p:sp>
        <p:nvSpPr>
          <p:cNvPr id="42" name="Text 40"/>
          <p:cNvSpPr/>
          <p:nvPr/>
        </p:nvSpPr>
        <p:spPr>
          <a:xfrm>
            <a:off x="4463415" y="2321719"/>
            <a:ext cx="5257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92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EVOLUTION</a:t>
            </a:r>
            <a:endParaRPr lang="en-US" sz="495" dirty="0"/>
          </a:p>
        </p:txBody>
      </p:sp>
      <p:sp>
        <p:nvSpPr>
          <p:cNvPr id="43" name="Text 41"/>
          <p:cNvSpPr/>
          <p:nvPr/>
        </p:nvSpPr>
        <p:spPr>
          <a:xfrm>
            <a:off x="3971925" y="2458879"/>
            <a:ext cx="531266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运动演变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71925" y="2658904"/>
            <a:ext cx="5312664" cy="1150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从自由软件运动到开源运动，理念从权利诉求逐步转向实用主义与商业友好，开源由此进入主流技术生态，成为推动创新的核心力量。</a:t>
            </a:r>
            <a:endParaRPr lang="en-US" sz="518" dirty="0"/>
          </a:p>
        </p:txBody>
      </p:sp>
      <p:sp>
        <p:nvSpPr>
          <p:cNvPr id="45" name="Shape 43"/>
          <p:cNvSpPr/>
          <p:nvPr/>
        </p:nvSpPr>
        <p:spPr>
          <a:xfrm>
            <a:off x="320040" y="4514850"/>
            <a:ext cx="8503920" cy="354330"/>
          </a:xfrm>
          <a:prstGeom prst="roundRect">
            <a:avLst>
              <a:gd name="adj" fmla="val 6452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1485" y="4600575"/>
            <a:ext cx="405319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序</a:t>
            </a:r>
            <a:endParaRPr lang="en-US" sz="990" dirty="0"/>
          </a:p>
        </p:txBody>
      </p:sp>
      <p:sp>
        <p:nvSpPr>
          <p:cNvPr id="47" name="Text 45"/>
          <p:cNvSpPr/>
          <p:nvPr/>
        </p:nvSpPr>
        <p:spPr>
          <a:xfrm>
            <a:off x="822514" y="4634508"/>
            <a:ext cx="8212726" cy="1150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开源的历史并不短暂，它承接着自由软件运动的理想主义火种，并在商业与技术的交汇处逐渐演化为一场席卷全球的协作浪潮。理解开源的来路，方能看清它的去向。</a:t>
            </a:r>
            <a:endParaRPr lang="en-US" sz="518" dirty="0"/>
          </a:p>
        </p:txBody>
      </p:sp>
      <p:sp>
        <p:nvSpPr>
          <p:cNvPr id="48" name="Text 46"/>
          <p:cNvSpPr/>
          <p:nvPr/>
        </p:nvSpPr>
        <p:spPr>
          <a:xfrm>
            <a:off x="8246745" y="4652010"/>
            <a:ext cx="5086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EPILOGUE</a:t>
            </a:r>
            <a:endParaRPr lang="en-US" sz="4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5430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3200400" y="2314575"/>
            <a:ext cx="8229600" cy="4629150"/>
          </a:xfrm>
          <a:prstGeom prst="ellipse">
            <a:avLst/>
          </a:prstGeom>
          <a:gradFill rotWithShape="1">
            <a:gsLst>
              <a:gs pos="0">
                <a:srgbClr val="00BCD4">
                  <a:alpha val="4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1024128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495" spc="90" kern="0" dirty="0">
                <a:solidFill>
                  <a:srgbClr val="00BCD4">
                    <a:alpha val="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01001000 01100101 01101100 01101100 01101111 #include &lt;stdio.h&gt; int main() { printf("Hello World\n"); return 0; } // open source is freedom; git commit -m "init"; $ npm install freedom; function isOpenSource(code) { return code.isFree(); } let community = new Community({ philosophy: 'open', }; for (let i=0; i&lt;Infinity; i++) { share(i); } &lt;div&gt;hello&lt;/div&gt; 10010100 11001110 01110111 10001010 #define FUTURE 1 if (license == "MIT") { freedom++; } while (open) { evolve(); }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45720" y="45720"/>
            <a:ext cx="9601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2196F3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&lt;/&gt; sys://opensource.init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8172450" y="45720"/>
            <a:ext cx="10369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2196F3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 node open.source --global</a:t>
            </a:r>
            <a:endParaRPr lang="en-US" sz="450" dirty="0"/>
          </a:p>
        </p:txBody>
      </p:sp>
      <p:sp>
        <p:nvSpPr>
          <p:cNvPr id="8" name="Text 6"/>
          <p:cNvSpPr/>
          <p:nvPr/>
        </p:nvSpPr>
        <p:spPr>
          <a:xfrm>
            <a:off x="8378190" y="5006340"/>
            <a:ext cx="80650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2196F3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10110100 11010010 &lt;/&gt;</a:t>
            </a:r>
            <a:endParaRPr lang="en-US" sz="450" dirty="0"/>
          </a:p>
        </p:txBody>
      </p:sp>
      <p:sp>
        <p:nvSpPr>
          <p:cNvPr id="9" name="Text 7"/>
          <p:cNvSpPr/>
          <p:nvPr/>
        </p:nvSpPr>
        <p:spPr>
          <a:xfrm>
            <a:off x="45720" y="5006340"/>
            <a:ext cx="9601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2196F3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v3.0.0 - open paradigm</a:t>
            </a:r>
            <a:endParaRPr lang="en-US" sz="450" dirty="0"/>
          </a:p>
        </p:txBody>
      </p:sp>
      <p:sp>
        <p:nvSpPr>
          <p:cNvPr id="10" name="Shape 8"/>
          <p:cNvSpPr/>
          <p:nvPr/>
        </p:nvSpPr>
        <p:spPr>
          <a:xfrm>
            <a:off x="285750" y="280035"/>
            <a:ext cx="22860" cy="2400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0050" y="205740"/>
            <a:ext cx="1894637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b="1" spc="45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开源的定义与演进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0050" y="502920"/>
            <a:ext cx="189463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DEFINITION &amp; EVOLUTION OF OPEN SOURCE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7926705" y="349776"/>
            <a:ext cx="428625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CH.03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8349615" y="316647"/>
            <a:ext cx="508635" cy="166807"/>
          </a:xfrm>
          <a:prstGeom prst="roundRect">
            <a:avLst>
              <a:gd name="adj" fmla="val 10278"/>
            </a:avLst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9615" y="316647"/>
            <a:ext cx="577215" cy="166807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08</a:t>
            </a:r>
            <a:endParaRPr lang="en-US" sz="540" dirty="0"/>
          </a:p>
        </p:txBody>
      </p:sp>
      <p:sp>
        <p:nvSpPr>
          <p:cNvPr id="16" name="Shape 14"/>
          <p:cNvSpPr/>
          <p:nvPr/>
        </p:nvSpPr>
        <p:spPr>
          <a:xfrm>
            <a:off x="285750" y="640080"/>
            <a:ext cx="8572500" cy="274320"/>
          </a:xfrm>
          <a:prstGeom prst="rect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50000">
                <a:srgbClr val="00BC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285750" y="640080"/>
            <a:ext cx="0" cy="274320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765" y="685800"/>
            <a:ext cx="272034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571500" y="708660"/>
            <a:ext cx="5533492" cy="1178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开源从一个小众社群的理想主义实践，发展为支撑全球互联网基础设施的核心范式。理解其定义与演进脉络，是理解当代软件生态格局的基本前提。</a:t>
            </a:r>
            <a:endParaRPr lang="en-US" sz="563" dirty="0"/>
          </a:p>
        </p:txBody>
      </p:sp>
      <p:sp>
        <p:nvSpPr>
          <p:cNvPr id="20" name="Shape 18"/>
          <p:cNvSpPr/>
          <p:nvPr/>
        </p:nvSpPr>
        <p:spPr>
          <a:xfrm>
            <a:off x="285750" y="1005840"/>
            <a:ext cx="8572500" cy="710892"/>
          </a:xfrm>
          <a:prstGeom prst="roundRect">
            <a:avLst>
              <a:gd name="adj" fmla="val 6431"/>
            </a:avLst>
          </a:prstGeom>
          <a:gradFill rotWithShape="1">
            <a:gsLst>
              <a:gs pos="0">
                <a:srgbClr val="0F2035">
                  <a:alpha val="60000"/>
                </a:srgbClr>
              </a:gs>
              <a:gs pos="100000">
                <a:srgbClr val="12293F">
                  <a:alpha val="40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765" y="1091565"/>
            <a:ext cx="142875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◈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525780" y="1096119"/>
            <a:ext cx="1126541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spc="45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开源演进时间轴 · Timeline</a:t>
            </a:r>
            <a:endParaRPr lang="en-US" sz="585" dirty="0"/>
          </a:p>
        </p:txBody>
      </p:sp>
      <p:sp>
        <p:nvSpPr>
          <p:cNvPr id="23" name="Shape 21"/>
          <p:cNvSpPr/>
          <p:nvPr/>
        </p:nvSpPr>
        <p:spPr>
          <a:xfrm>
            <a:off x="8121015" y="1092637"/>
            <a:ext cx="617220" cy="125730"/>
          </a:xfrm>
          <a:prstGeom prst="roundRect">
            <a:avLst>
              <a:gd name="adj" fmla="val 13636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1015" y="1092637"/>
            <a:ext cx="691286" cy="125730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1991 — 2020s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405765" y="1442412"/>
            <a:ext cx="833247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2196F3"/>
              </a:gs>
              <a:gs pos="50000">
                <a:srgbClr val="00BCD4"/>
              </a:gs>
              <a:gs pos="9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5765" y="1442412"/>
            <a:ext cx="8332470" cy="11430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50000">
                <a:srgbClr val="00BCD4">
                  <a:alpha val="60000"/>
                </a:srgbClr>
              </a:gs>
              <a:gs pos="6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1367314" y="1356241"/>
            <a:ext cx="282321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</a:t>
            </a:r>
            <a:endParaRPr lang="en-US" sz="585" dirty="0"/>
          </a:p>
        </p:txBody>
      </p:sp>
      <p:sp>
        <p:nvSpPr>
          <p:cNvPr id="28" name="Text 26"/>
          <p:cNvSpPr/>
          <p:nvPr/>
        </p:nvSpPr>
        <p:spPr>
          <a:xfrm>
            <a:off x="1052989" y="1497955"/>
            <a:ext cx="883310" cy="167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73" b="1" dirty="0">
                <a:solidFill>
                  <a:srgbClr val="E8EE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Linux 首次发布</a:t>
            </a:r>
            <a:pPr algn="ctr" indent="0" marL="0">
              <a:lnSpc>
                <a:spcPct val="140000"/>
              </a:lnSpc>
              <a:buNone/>
            </a:pPr>
            <a:endParaRPr lang="en-US" sz="473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Linus Torvalds 发布内核 0.01</a:t>
            </a:r>
            <a:endParaRPr lang="en-US" sz="473" dirty="0"/>
          </a:p>
        </p:txBody>
      </p:sp>
      <p:sp>
        <p:nvSpPr>
          <p:cNvPr id="29" name="Shape 27"/>
          <p:cNvSpPr/>
          <p:nvPr/>
        </p:nvSpPr>
        <p:spPr>
          <a:xfrm>
            <a:off x="1407319" y="1230511"/>
            <a:ext cx="80010" cy="80010"/>
          </a:xfrm>
          <a:prstGeom prst="ellipse">
            <a:avLst/>
          </a:prstGeom>
          <a:solidFill>
            <a:srgbClr val="0A1628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435894" y="1259086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1" name="Text 29"/>
          <p:cNvSpPr/>
          <p:nvPr/>
        </p:nvSpPr>
        <p:spPr>
          <a:xfrm>
            <a:off x="3444716" y="1356241"/>
            <a:ext cx="282321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1998</a:t>
            </a:r>
            <a:endParaRPr lang="en-US" sz="585" dirty="0"/>
          </a:p>
        </p:txBody>
      </p:sp>
      <p:sp>
        <p:nvSpPr>
          <p:cNvPr id="32" name="Text 30"/>
          <p:cNvSpPr/>
          <p:nvPr/>
        </p:nvSpPr>
        <p:spPr>
          <a:xfrm>
            <a:off x="3176111" y="1497955"/>
            <a:ext cx="793699" cy="167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73" b="1" dirty="0">
                <a:solidFill>
                  <a:srgbClr val="E8EE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"开源"术语正式提出</a:t>
            </a:r>
            <a:pPr algn="ctr" indent="0" marL="0">
              <a:lnSpc>
                <a:spcPct val="140000"/>
              </a:lnSpc>
              <a:buNone/>
            </a:pPr>
            <a:endParaRPr lang="en-US" sz="473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Brunner 命名 open source</a:t>
            </a:r>
            <a:endParaRPr lang="en-US" sz="473" dirty="0"/>
          </a:p>
        </p:txBody>
      </p:sp>
      <p:sp>
        <p:nvSpPr>
          <p:cNvPr id="33" name="Shape 31"/>
          <p:cNvSpPr/>
          <p:nvPr/>
        </p:nvSpPr>
        <p:spPr>
          <a:xfrm>
            <a:off x="3490436" y="1230511"/>
            <a:ext cx="80010" cy="80010"/>
          </a:xfrm>
          <a:prstGeom prst="ellipse">
            <a:avLst/>
          </a:prstGeom>
          <a:solidFill>
            <a:srgbClr val="0A1628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519011" y="1259086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5" name="Text 33"/>
          <p:cNvSpPr/>
          <p:nvPr/>
        </p:nvSpPr>
        <p:spPr>
          <a:xfrm>
            <a:off x="5493544" y="1356241"/>
            <a:ext cx="314325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2000s</a:t>
            </a:r>
            <a:endParaRPr lang="en-US" sz="585" dirty="0"/>
          </a:p>
        </p:txBody>
      </p:sp>
      <p:sp>
        <p:nvSpPr>
          <p:cNvPr id="36" name="Text 34"/>
          <p:cNvSpPr/>
          <p:nvPr/>
        </p:nvSpPr>
        <p:spPr>
          <a:xfrm>
            <a:off x="5236369" y="1497955"/>
            <a:ext cx="844906" cy="167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73" b="1" dirty="0">
                <a:solidFill>
                  <a:srgbClr val="E8EE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企业全面拥抱开源</a:t>
            </a:r>
            <a:pPr algn="ctr" indent="0" marL="0">
              <a:lnSpc>
                <a:spcPct val="140000"/>
              </a:lnSpc>
              <a:buNone/>
            </a:pPr>
            <a:endParaRPr lang="en-US" sz="473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IBM、Google 投入开源战略</a:t>
            </a:r>
            <a:endParaRPr lang="en-US" sz="473" dirty="0"/>
          </a:p>
        </p:txBody>
      </p:sp>
      <p:sp>
        <p:nvSpPr>
          <p:cNvPr id="37" name="Shape 35"/>
          <p:cNvSpPr/>
          <p:nvPr/>
        </p:nvSpPr>
        <p:spPr>
          <a:xfrm>
            <a:off x="5573554" y="1230511"/>
            <a:ext cx="80010" cy="80010"/>
          </a:xfrm>
          <a:prstGeom prst="ellipse">
            <a:avLst/>
          </a:prstGeom>
          <a:solidFill>
            <a:srgbClr val="0A1628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02129" y="1259086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9" name="Text 37"/>
          <p:cNvSpPr/>
          <p:nvPr/>
        </p:nvSpPr>
        <p:spPr>
          <a:xfrm>
            <a:off x="7622381" y="1356241"/>
            <a:ext cx="222885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近年</a:t>
            </a:r>
            <a:endParaRPr lang="en-US" sz="585" dirty="0"/>
          </a:p>
        </p:txBody>
      </p:sp>
      <p:sp>
        <p:nvSpPr>
          <p:cNvPr id="40" name="Text 38"/>
          <p:cNvSpPr/>
          <p:nvPr/>
        </p:nvSpPr>
        <p:spPr>
          <a:xfrm>
            <a:off x="7382351" y="1497955"/>
            <a:ext cx="704088" cy="167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73" b="1" dirty="0">
                <a:solidFill>
                  <a:srgbClr val="E8EE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中国开源浪潮</a:t>
            </a:r>
            <a:pPr algn="ctr" indent="0" marL="0">
              <a:lnSpc>
                <a:spcPct val="140000"/>
              </a:lnSpc>
              <a:buNone/>
            </a:pPr>
            <a:endParaRPr lang="en-US" sz="473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阿里云、华为贡献增长</a:t>
            </a:r>
            <a:endParaRPr lang="en-US" sz="473" dirty="0"/>
          </a:p>
        </p:txBody>
      </p:sp>
      <p:sp>
        <p:nvSpPr>
          <p:cNvPr id="41" name="Shape 39"/>
          <p:cNvSpPr/>
          <p:nvPr/>
        </p:nvSpPr>
        <p:spPr>
          <a:xfrm>
            <a:off x="7656671" y="1230511"/>
            <a:ext cx="80010" cy="80010"/>
          </a:xfrm>
          <a:prstGeom prst="ellipse">
            <a:avLst/>
          </a:prstGeom>
          <a:solidFill>
            <a:srgbClr val="0A1628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85246" y="1259086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3" name="Shape 41"/>
          <p:cNvSpPr/>
          <p:nvPr/>
        </p:nvSpPr>
        <p:spPr>
          <a:xfrm>
            <a:off x="285750" y="1808172"/>
            <a:ext cx="2743200" cy="717233"/>
          </a:xfrm>
          <a:prstGeom prst="roundRect">
            <a:avLst>
              <a:gd name="adj" fmla="val 6374"/>
            </a:avLst>
          </a:prstGeom>
          <a:gradFill rotWithShape="1">
            <a:gsLst>
              <a:gs pos="0">
                <a:srgbClr val="0F2035"/>
              </a:gs>
              <a:gs pos="100000">
                <a:srgbClr val="12293F"/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5750" y="1808172"/>
            <a:ext cx="27317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5" name="Text 43"/>
          <p:cNvSpPr/>
          <p:nvPr/>
        </p:nvSpPr>
        <p:spPr>
          <a:xfrm>
            <a:off x="405765" y="1905327"/>
            <a:ext cx="28035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STANDARD 01</a:t>
            </a:r>
            <a:endParaRPr lang="en-US" sz="450" dirty="0"/>
          </a:p>
        </p:txBody>
      </p:sp>
      <p:sp>
        <p:nvSpPr>
          <p:cNvPr id="46" name="Text 44"/>
          <p:cNvSpPr/>
          <p:nvPr/>
        </p:nvSpPr>
        <p:spPr>
          <a:xfrm>
            <a:off x="405765" y="2031057"/>
            <a:ext cx="2803550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b="1" dirty="0">
                <a:solidFill>
                  <a:srgbClr val="E8EE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OSI 开源定义：10 项核心评判标准</a:t>
            </a:r>
            <a:endParaRPr lang="en-US" sz="585" dirty="0"/>
          </a:p>
        </p:txBody>
      </p:sp>
      <p:sp>
        <p:nvSpPr>
          <p:cNvPr id="47" name="Text 45"/>
          <p:cNvSpPr/>
          <p:nvPr/>
        </p:nvSpPr>
        <p:spPr>
          <a:xfrm>
            <a:off x="405765" y="2205365"/>
            <a:ext cx="521208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710" dirty="0"/>
          </a:p>
        </p:txBody>
      </p:sp>
      <p:sp>
        <p:nvSpPr>
          <p:cNvPr id="48" name="Shape 46"/>
          <p:cNvSpPr/>
          <p:nvPr/>
        </p:nvSpPr>
        <p:spPr>
          <a:xfrm>
            <a:off x="737235" y="2199650"/>
            <a:ext cx="228600" cy="228600"/>
          </a:xfrm>
          <a:prstGeom prst="ellipse">
            <a:avLst/>
          </a:prstGeom>
          <a:solidFill>
            <a:srgbClr val="2196F3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7235" y="2199650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10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📜</a:t>
            </a:r>
            <a:endParaRPr lang="en-US" sz="810" dirty="0"/>
          </a:p>
        </p:txBody>
      </p:sp>
      <p:sp>
        <p:nvSpPr>
          <p:cNvPr id="50" name="Text 48"/>
          <p:cNvSpPr/>
          <p:nvPr/>
        </p:nvSpPr>
        <p:spPr>
          <a:xfrm>
            <a:off x="1045845" y="2216259"/>
            <a:ext cx="2086661" cy="195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b="1" dirty="0">
                <a:solidFill>
                  <a:srgbClr val="E8EE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核心评判标准</a:t>
            </a:r>
            <a:endParaRPr lang="en-US" sz="49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自由分发 · 源代码公开 · 衍生作品权 · 作者完整性 · 不得歧视…</a:t>
            </a:r>
            <a:endParaRPr lang="en-US" sz="495" dirty="0"/>
          </a:p>
        </p:txBody>
      </p:sp>
      <p:sp>
        <p:nvSpPr>
          <p:cNvPr id="51" name="Shape 49"/>
          <p:cNvSpPr/>
          <p:nvPr/>
        </p:nvSpPr>
        <p:spPr>
          <a:xfrm>
            <a:off x="285750" y="2593985"/>
            <a:ext cx="2743200" cy="717233"/>
          </a:xfrm>
          <a:prstGeom prst="roundRect">
            <a:avLst>
              <a:gd name="adj" fmla="val 6374"/>
            </a:avLst>
          </a:prstGeom>
          <a:gradFill rotWithShape="1">
            <a:gsLst>
              <a:gs pos="0">
                <a:srgbClr val="0F2035"/>
              </a:gs>
              <a:gs pos="100000">
                <a:srgbClr val="12293F"/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5750" y="2593985"/>
            <a:ext cx="27317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3" name="Text 51"/>
          <p:cNvSpPr/>
          <p:nvPr/>
        </p:nvSpPr>
        <p:spPr>
          <a:xfrm>
            <a:off x="405765" y="2691140"/>
            <a:ext cx="28035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MILESTONE 02</a:t>
            </a:r>
            <a:endParaRPr lang="en-US" sz="450" dirty="0"/>
          </a:p>
        </p:txBody>
      </p:sp>
      <p:sp>
        <p:nvSpPr>
          <p:cNvPr id="54" name="Text 52"/>
          <p:cNvSpPr/>
          <p:nvPr/>
        </p:nvSpPr>
        <p:spPr>
          <a:xfrm>
            <a:off x="405765" y="2816870"/>
            <a:ext cx="2803550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b="1" dirty="0">
                <a:solidFill>
                  <a:srgbClr val="E8EE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Linux 首次发布：1991 年</a:t>
            </a:r>
            <a:endParaRPr lang="en-US" sz="585" dirty="0"/>
          </a:p>
        </p:txBody>
      </p:sp>
      <p:sp>
        <p:nvSpPr>
          <p:cNvPr id="55" name="Text 53"/>
          <p:cNvSpPr/>
          <p:nvPr/>
        </p:nvSpPr>
        <p:spPr>
          <a:xfrm>
            <a:off x="405765" y="2991177"/>
            <a:ext cx="825246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</a:t>
            </a:r>
            <a:endParaRPr lang="en-US" sz="1710" dirty="0"/>
          </a:p>
        </p:txBody>
      </p:sp>
      <p:sp>
        <p:nvSpPr>
          <p:cNvPr id="56" name="Shape 54"/>
          <p:cNvSpPr/>
          <p:nvPr/>
        </p:nvSpPr>
        <p:spPr>
          <a:xfrm>
            <a:off x="977265" y="2985462"/>
            <a:ext cx="228600" cy="228600"/>
          </a:xfrm>
          <a:prstGeom prst="ellipse">
            <a:avLst/>
          </a:prstGeom>
          <a:solidFill>
            <a:srgbClr val="2196F3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7265" y="2985462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10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🐧</a:t>
            </a:r>
            <a:endParaRPr lang="en-US" sz="810" dirty="0"/>
          </a:p>
        </p:txBody>
      </p:sp>
      <p:sp>
        <p:nvSpPr>
          <p:cNvPr id="58" name="Text 56"/>
          <p:cNvSpPr/>
          <p:nvPr/>
        </p:nvSpPr>
        <p:spPr>
          <a:xfrm>
            <a:off x="1285875" y="3002072"/>
            <a:ext cx="1817827" cy="195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b="1" dirty="0">
                <a:solidFill>
                  <a:srgbClr val="E8EE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Linux 0.01 内核</a:t>
            </a:r>
            <a:endParaRPr lang="en-US" sz="49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月 17 日 Linus Torvalds 在 comp.os.minix 宣布内核开源</a:t>
            </a:r>
            <a:endParaRPr lang="en-US" sz="495" dirty="0"/>
          </a:p>
        </p:txBody>
      </p:sp>
      <p:sp>
        <p:nvSpPr>
          <p:cNvPr id="59" name="Shape 57"/>
          <p:cNvSpPr/>
          <p:nvPr/>
        </p:nvSpPr>
        <p:spPr>
          <a:xfrm>
            <a:off x="3120390" y="1808172"/>
            <a:ext cx="5737860" cy="1711285"/>
          </a:xfrm>
          <a:prstGeom prst="roundRect">
            <a:avLst>
              <a:gd name="adj" fmla="val 2672"/>
            </a:avLst>
          </a:prstGeom>
          <a:gradFill rotWithShape="1">
            <a:gsLst>
              <a:gs pos="0">
                <a:srgbClr val="0F2035"/>
              </a:gs>
              <a:gs pos="100000">
                <a:srgbClr val="12293F"/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20390" y="1808172"/>
            <a:ext cx="572643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61" name="Text 59"/>
          <p:cNvSpPr/>
          <p:nvPr/>
        </p:nvSpPr>
        <p:spPr>
          <a:xfrm>
            <a:off x="3240405" y="1905327"/>
            <a:ext cx="154305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⚖</a:t>
            </a:r>
            <a:endParaRPr lang="en-US" sz="630" dirty="0"/>
          </a:p>
        </p:txBody>
      </p:sp>
      <p:sp>
        <p:nvSpPr>
          <p:cNvPr id="62" name="Text 60"/>
          <p:cNvSpPr/>
          <p:nvPr/>
        </p:nvSpPr>
        <p:spPr>
          <a:xfrm>
            <a:off x="3371850" y="1909882"/>
            <a:ext cx="147218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spc="23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开源许可证谱系 · License Spectrum</a:t>
            </a:r>
            <a:endParaRPr lang="en-US" sz="585" dirty="0"/>
          </a:p>
        </p:txBody>
      </p:sp>
      <p:sp>
        <p:nvSpPr>
          <p:cNvPr id="63" name="Text 61"/>
          <p:cNvSpPr/>
          <p:nvPr/>
        </p:nvSpPr>
        <p:spPr>
          <a:xfrm>
            <a:off x="7738110" y="1923544"/>
            <a:ext cx="11201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PERMISSIVE → COPIELEFT</a:t>
            </a:r>
            <a:endParaRPr lang="en-US" sz="450" dirty="0"/>
          </a:p>
        </p:txBody>
      </p:sp>
      <p:sp>
        <p:nvSpPr>
          <p:cNvPr id="64" name="Text 62"/>
          <p:cNvSpPr/>
          <p:nvPr/>
        </p:nvSpPr>
        <p:spPr>
          <a:xfrm>
            <a:off x="3240405" y="2136160"/>
            <a:ext cx="55046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宽松 PERMISSIVE</a:t>
            </a:r>
            <a:endParaRPr lang="en-US" sz="450" dirty="0"/>
          </a:p>
        </p:txBody>
      </p:sp>
      <p:sp>
        <p:nvSpPr>
          <p:cNvPr id="65" name="Shape 63"/>
          <p:cNvSpPr/>
          <p:nvPr/>
        </p:nvSpPr>
        <p:spPr>
          <a:xfrm>
            <a:off x="3777615" y="2170450"/>
            <a:ext cx="451485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50000">
                <a:srgbClr val="2196F3"/>
              </a:gs>
              <a:gs pos="100000">
                <a:srgbClr val="1565C0"/>
              </a:gs>
            </a:gsLst>
            <a:lin ang="0" scaled="0"/>
          </a:gradFill>
          <a:ln/>
        </p:spPr>
      </p:sp>
      <p:sp>
        <p:nvSpPr>
          <p:cNvPr id="66" name="Text 64"/>
          <p:cNvSpPr/>
          <p:nvPr/>
        </p:nvSpPr>
        <p:spPr>
          <a:xfrm>
            <a:off x="8338185" y="2136160"/>
            <a:ext cx="45720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90CAF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强 COPIELEFT</a:t>
            </a:r>
            <a:endParaRPr lang="en-US" sz="450" dirty="0"/>
          </a:p>
        </p:txBody>
      </p:sp>
      <p:sp>
        <p:nvSpPr>
          <p:cNvPr id="67" name="Shape 65"/>
          <p:cNvSpPr/>
          <p:nvPr/>
        </p:nvSpPr>
        <p:spPr>
          <a:xfrm>
            <a:off x="3240405" y="2330470"/>
            <a:ext cx="1794510" cy="853232"/>
          </a:xfrm>
          <a:prstGeom prst="roundRect">
            <a:avLst>
              <a:gd name="adj" fmla="val 4019"/>
            </a:avLst>
          </a:prstGeom>
          <a:solidFill>
            <a:srgbClr val="0A1628">
              <a:alpha val="6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14700" y="2404765"/>
            <a:ext cx="1843430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PERMISSIVE</a:t>
            </a:r>
            <a:endParaRPr lang="en-US" sz="405" dirty="0"/>
          </a:p>
        </p:txBody>
      </p:sp>
      <p:sp>
        <p:nvSpPr>
          <p:cNvPr id="69" name="Text 67"/>
          <p:cNvSpPr/>
          <p:nvPr/>
        </p:nvSpPr>
        <p:spPr>
          <a:xfrm>
            <a:off x="3314700" y="2521297"/>
            <a:ext cx="184343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675" dirty="0"/>
          </a:p>
        </p:txBody>
      </p:sp>
      <p:sp>
        <p:nvSpPr>
          <p:cNvPr id="70" name="Text 68"/>
          <p:cNvSpPr/>
          <p:nvPr/>
        </p:nvSpPr>
        <p:spPr>
          <a:xfrm>
            <a:off x="3314700" y="2681317"/>
            <a:ext cx="1843430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最简宽松协议，仅保留版权声明，允许任意使用、修改、分发与商用。</a:t>
            </a:r>
            <a:endParaRPr lang="en-US" sz="473" dirty="0"/>
          </a:p>
        </p:txBody>
      </p:sp>
      <p:sp>
        <p:nvSpPr>
          <p:cNvPr id="71" name="Text 69"/>
          <p:cNvSpPr/>
          <p:nvPr/>
        </p:nvSpPr>
        <p:spPr>
          <a:xfrm>
            <a:off x="3314700" y="2912953"/>
            <a:ext cx="1843430" cy="86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自由商用</a:t>
            </a:r>
            <a:endParaRPr lang="en-US" sz="428" dirty="0"/>
          </a:p>
        </p:txBody>
      </p:sp>
      <p:sp>
        <p:nvSpPr>
          <p:cNvPr id="72" name="Shape 70"/>
          <p:cNvSpPr/>
          <p:nvPr/>
        </p:nvSpPr>
        <p:spPr>
          <a:xfrm>
            <a:off x="3314700" y="2942064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3" name="Text 71"/>
          <p:cNvSpPr/>
          <p:nvPr/>
        </p:nvSpPr>
        <p:spPr>
          <a:xfrm>
            <a:off x="3314700" y="3022610"/>
            <a:ext cx="1843430" cy="86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无需开源衍生</a:t>
            </a:r>
            <a:endParaRPr lang="en-US" sz="428" dirty="0"/>
          </a:p>
        </p:txBody>
      </p:sp>
      <p:sp>
        <p:nvSpPr>
          <p:cNvPr id="74" name="Shape 72"/>
          <p:cNvSpPr/>
          <p:nvPr/>
        </p:nvSpPr>
        <p:spPr>
          <a:xfrm>
            <a:off x="3314700" y="3051721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5" name="Shape 73"/>
          <p:cNvSpPr/>
          <p:nvPr/>
        </p:nvSpPr>
        <p:spPr>
          <a:xfrm>
            <a:off x="5092065" y="2330470"/>
            <a:ext cx="1794510" cy="853232"/>
          </a:xfrm>
          <a:prstGeom prst="roundRect">
            <a:avLst>
              <a:gd name="adj" fmla="val 4019"/>
            </a:avLst>
          </a:prstGeom>
          <a:solidFill>
            <a:srgbClr val="0A1628">
              <a:alpha val="6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66360" y="2404765"/>
            <a:ext cx="1843430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PERMISSIVE +</a:t>
            </a:r>
            <a:endParaRPr lang="en-US" sz="405" dirty="0"/>
          </a:p>
        </p:txBody>
      </p:sp>
      <p:sp>
        <p:nvSpPr>
          <p:cNvPr id="77" name="Text 75"/>
          <p:cNvSpPr/>
          <p:nvPr/>
        </p:nvSpPr>
        <p:spPr>
          <a:xfrm>
            <a:off x="5166360" y="2521297"/>
            <a:ext cx="184343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</a:t>
            </a:r>
            <a:endParaRPr lang="en-US" sz="675" dirty="0"/>
          </a:p>
        </p:txBody>
      </p:sp>
      <p:sp>
        <p:nvSpPr>
          <p:cNvPr id="78" name="Text 76"/>
          <p:cNvSpPr/>
          <p:nvPr/>
        </p:nvSpPr>
        <p:spPr>
          <a:xfrm>
            <a:off x="5166360" y="2681317"/>
            <a:ext cx="1843430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宽松协议，额外明确专利授权，要求保留通知文件，鼓励回馈社区。</a:t>
            </a:r>
            <a:endParaRPr lang="en-US" sz="473" dirty="0"/>
          </a:p>
        </p:txBody>
      </p:sp>
      <p:sp>
        <p:nvSpPr>
          <p:cNvPr id="79" name="Text 77"/>
          <p:cNvSpPr/>
          <p:nvPr/>
        </p:nvSpPr>
        <p:spPr>
          <a:xfrm>
            <a:off x="5166360" y="2912953"/>
            <a:ext cx="1843430" cy="86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专利授权</a:t>
            </a:r>
            <a:endParaRPr lang="en-US" sz="428" dirty="0"/>
          </a:p>
        </p:txBody>
      </p:sp>
      <p:sp>
        <p:nvSpPr>
          <p:cNvPr id="80" name="Shape 78"/>
          <p:cNvSpPr/>
          <p:nvPr/>
        </p:nvSpPr>
        <p:spPr>
          <a:xfrm>
            <a:off x="5166360" y="2942064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1" name="Text 79"/>
          <p:cNvSpPr/>
          <p:nvPr/>
        </p:nvSpPr>
        <p:spPr>
          <a:xfrm>
            <a:off x="5166360" y="3022610"/>
            <a:ext cx="1843430" cy="86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保留版权声明</a:t>
            </a:r>
            <a:endParaRPr lang="en-US" sz="428" dirty="0"/>
          </a:p>
        </p:txBody>
      </p:sp>
      <p:sp>
        <p:nvSpPr>
          <p:cNvPr id="82" name="Shape 80"/>
          <p:cNvSpPr/>
          <p:nvPr/>
        </p:nvSpPr>
        <p:spPr>
          <a:xfrm>
            <a:off x="5166360" y="3051721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3" name="Shape 81"/>
          <p:cNvSpPr/>
          <p:nvPr/>
        </p:nvSpPr>
        <p:spPr>
          <a:xfrm>
            <a:off x="6943725" y="2330470"/>
            <a:ext cx="1794510" cy="853232"/>
          </a:xfrm>
          <a:prstGeom prst="roundRect">
            <a:avLst>
              <a:gd name="adj" fmla="val 4019"/>
            </a:avLst>
          </a:prstGeom>
          <a:solidFill>
            <a:srgbClr val="0A1628">
              <a:alpha val="6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18020" y="2404765"/>
            <a:ext cx="1843430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COPIELEFT</a:t>
            </a:r>
            <a:endParaRPr lang="en-US" sz="405" dirty="0"/>
          </a:p>
        </p:txBody>
      </p:sp>
      <p:sp>
        <p:nvSpPr>
          <p:cNvPr id="85" name="Text 83"/>
          <p:cNvSpPr/>
          <p:nvPr/>
        </p:nvSpPr>
        <p:spPr>
          <a:xfrm>
            <a:off x="7018020" y="2521297"/>
            <a:ext cx="184343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</a:t>
            </a:r>
            <a:endParaRPr lang="en-US" sz="675" dirty="0"/>
          </a:p>
        </p:txBody>
      </p:sp>
      <p:sp>
        <p:nvSpPr>
          <p:cNvPr id="86" name="Text 84"/>
          <p:cNvSpPr/>
          <p:nvPr/>
        </p:nvSpPr>
        <p:spPr>
          <a:xfrm>
            <a:off x="7018020" y="2681317"/>
            <a:ext cx="1843430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 copyleft，衍生作品必须以相同许可证开源，保障软件自由的传播链。</a:t>
            </a:r>
            <a:endParaRPr lang="en-US" sz="473" dirty="0"/>
          </a:p>
        </p:txBody>
      </p:sp>
      <p:sp>
        <p:nvSpPr>
          <p:cNvPr id="87" name="Text 85"/>
          <p:cNvSpPr/>
          <p:nvPr/>
        </p:nvSpPr>
        <p:spPr>
          <a:xfrm>
            <a:off x="7018020" y="2912953"/>
            <a:ext cx="1843430" cy="86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衍生须开源</a:t>
            </a:r>
            <a:endParaRPr lang="en-US" sz="428" dirty="0"/>
          </a:p>
        </p:txBody>
      </p:sp>
      <p:sp>
        <p:nvSpPr>
          <p:cNvPr id="88" name="Shape 86"/>
          <p:cNvSpPr/>
          <p:nvPr/>
        </p:nvSpPr>
        <p:spPr>
          <a:xfrm>
            <a:off x="7018020" y="2942064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9" name="Text 87"/>
          <p:cNvSpPr/>
          <p:nvPr/>
        </p:nvSpPr>
        <p:spPr>
          <a:xfrm>
            <a:off x="7018020" y="3022610"/>
            <a:ext cx="1843430" cy="86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自由连锁传播</a:t>
            </a:r>
            <a:endParaRPr lang="en-US" sz="428" dirty="0"/>
          </a:p>
        </p:txBody>
      </p:sp>
      <p:sp>
        <p:nvSpPr>
          <p:cNvPr id="90" name="Shape 88"/>
          <p:cNvSpPr/>
          <p:nvPr/>
        </p:nvSpPr>
        <p:spPr>
          <a:xfrm>
            <a:off x="7018020" y="3051721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91" name="Shape 89"/>
          <p:cNvSpPr/>
          <p:nvPr/>
        </p:nvSpPr>
        <p:spPr>
          <a:xfrm>
            <a:off x="3240405" y="3240851"/>
            <a:ext cx="5497830" cy="181451"/>
          </a:xfrm>
          <a:prstGeom prst="rect">
            <a:avLst/>
          </a:prstGeom>
          <a:solidFill>
            <a:srgbClr val="00BCD4">
              <a:alpha val="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240405" y="3240851"/>
            <a:ext cx="0" cy="181451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40405" y="3240851"/>
            <a:ext cx="6157570" cy="181451"/>
          </a:xfrm>
          <a:prstGeom prst="rect">
            <a:avLst/>
          </a:prstGeom>
          <a:noFill/>
          <a:ln/>
        </p:spPr>
        <p:txBody>
          <a:bodyPr wrap="square" lIns="45720" tIns="57150" rIns="57150" bIns="4572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许可证决定代码使用与分发的边界：从宽松型到 copyleft 型，越靠右，对衍生作品的自由约束越强，是构建开放生态的底层法律契约。</a:t>
            </a:r>
            <a:endParaRPr lang="en-US" sz="473" dirty="0"/>
          </a:p>
        </p:txBody>
      </p:sp>
      <p:sp>
        <p:nvSpPr>
          <p:cNvPr id="94" name="Text 92"/>
          <p:cNvSpPr/>
          <p:nvPr/>
        </p:nvSpPr>
        <p:spPr>
          <a:xfrm>
            <a:off x="285750" y="3599468"/>
            <a:ext cx="48006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关键要点总结</a:t>
            </a:r>
            <a:endParaRPr lang="en-US" sz="540" dirty="0"/>
          </a:p>
        </p:txBody>
      </p:sp>
      <p:sp>
        <p:nvSpPr>
          <p:cNvPr id="95" name="Shape 93"/>
          <p:cNvSpPr/>
          <p:nvPr/>
        </p:nvSpPr>
        <p:spPr>
          <a:xfrm>
            <a:off x="754380" y="3651439"/>
            <a:ext cx="749808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6" name="Text 94"/>
          <p:cNvSpPr/>
          <p:nvPr/>
        </p:nvSpPr>
        <p:spPr>
          <a:xfrm>
            <a:off x="8309610" y="3608576"/>
            <a:ext cx="61447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KEY TAKEAWAYS</a:t>
            </a:r>
            <a:endParaRPr lang="en-US" sz="450" dirty="0"/>
          </a:p>
        </p:txBody>
      </p:sp>
      <p:sp>
        <p:nvSpPr>
          <p:cNvPr id="97" name="Shape 95"/>
          <p:cNvSpPr/>
          <p:nvPr/>
        </p:nvSpPr>
        <p:spPr>
          <a:xfrm>
            <a:off x="285750" y="3800564"/>
            <a:ext cx="2100263" cy="640705"/>
          </a:xfrm>
          <a:prstGeom prst="roundRect">
            <a:avLst>
              <a:gd name="adj" fmla="val 5352"/>
            </a:avLst>
          </a:prstGeom>
          <a:gradFill rotWithShape="1">
            <a:gsLst>
              <a:gs pos="0">
                <a:srgbClr val="0F2035"/>
              </a:gs>
              <a:gs pos="100000">
                <a:srgbClr val="0A1628">
                  <a:alpha val="5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260283" y="3800564"/>
            <a:ext cx="114300" cy="11430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0"/>
          </a:gradFill>
          <a:ln/>
        </p:spPr>
      </p:sp>
      <p:sp>
        <p:nvSpPr>
          <p:cNvPr id="99" name="Text 97"/>
          <p:cNvSpPr/>
          <p:nvPr/>
        </p:nvSpPr>
        <p:spPr>
          <a:xfrm>
            <a:off x="371475" y="3881646"/>
            <a:ext cx="2743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2252246" y="3874859"/>
            <a:ext cx="192024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E8EEF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📜</a:t>
            </a:r>
            <a:endParaRPr lang="en-US" sz="630" dirty="0"/>
          </a:p>
        </p:txBody>
      </p:sp>
      <p:sp>
        <p:nvSpPr>
          <p:cNvPr id="101" name="Text 99"/>
          <p:cNvSpPr/>
          <p:nvPr/>
        </p:nvSpPr>
        <p:spPr>
          <a:xfrm>
            <a:off x="371475" y="4037112"/>
            <a:ext cx="216027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b="1" spc="14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开源定义</a:t>
            </a:r>
            <a:endParaRPr lang="en-US" sz="540" dirty="0"/>
          </a:p>
        </p:txBody>
      </p:sp>
      <p:sp>
        <p:nvSpPr>
          <p:cNvPr id="102" name="Text 100"/>
          <p:cNvSpPr/>
          <p:nvPr/>
        </p:nvSpPr>
        <p:spPr>
          <a:xfrm>
            <a:off x="371475" y="4181058"/>
            <a:ext cx="2160270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OSI 开源定义包含自由分发、源代码公开、衍生作品等十项核心评判标准。</a:t>
            </a:r>
            <a:endParaRPr lang="en-US" sz="473" dirty="0"/>
          </a:p>
        </p:txBody>
      </p:sp>
      <p:sp>
        <p:nvSpPr>
          <p:cNvPr id="103" name="Shape 101"/>
          <p:cNvSpPr/>
          <p:nvPr/>
        </p:nvSpPr>
        <p:spPr>
          <a:xfrm>
            <a:off x="2443163" y="3800564"/>
            <a:ext cx="2100263" cy="640705"/>
          </a:xfrm>
          <a:prstGeom prst="roundRect">
            <a:avLst>
              <a:gd name="adj" fmla="val 5352"/>
            </a:avLst>
          </a:prstGeom>
          <a:gradFill rotWithShape="1">
            <a:gsLst>
              <a:gs pos="0">
                <a:srgbClr val="0F2035"/>
              </a:gs>
              <a:gs pos="100000">
                <a:srgbClr val="0A1628">
                  <a:alpha val="5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417695" y="3800564"/>
            <a:ext cx="114300" cy="11430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0"/>
          </a:gradFill>
          <a:ln/>
        </p:spPr>
      </p:sp>
      <p:sp>
        <p:nvSpPr>
          <p:cNvPr id="105" name="Text 103"/>
          <p:cNvSpPr/>
          <p:nvPr/>
        </p:nvSpPr>
        <p:spPr>
          <a:xfrm>
            <a:off x="2528888" y="3881646"/>
            <a:ext cx="2743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383405" y="3874859"/>
            <a:ext cx="154305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E8EEF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⚖</a:t>
            </a:r>
            <a:endParaRPr lang="en-US" sz="630" dirty="0"/>
          </a:p>
        </p:txBody>
      </p:sp>
      <p:sp>
        <p:nvSpPr>
          <p:cNvPr id="107" name="Text 105"/>
          <p:cNvSpPr/>
          <p:nvPr/>
        </p:nvSpPr>
        <p:spPr>
          <a:xfrm>
            <a:off x="2528888" y="4037112"/>
            <a:ext cx="216027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b="1" spc="14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许可证谱系</a:t>
            </a:r>
            <a:endParaRPr lang="en-US" sz="540" dirty="0"/>
          </a:p>
        </p:txBody>
      </p:sp>
      <p:sp>
        <p:nvSpPr>
          <p:cNvPr id="108" name="Text 106"/>
          <p:cNvSpPr/>
          <p:nvPr/>
        </p:nvSpPr>
        <p:spPr>
          <a:xfrm>
            <a:off x="2528888" y="4181058"/>
            <a:ext cx="2160270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从宽松型 MIT、Apache 到 copyleft 型 GPL，许可证决定代码使用与分发的边界。</a:t>
            </a:r>
            <a:endParaRPr lang="en-US" sz="473" dirty="0"/>
          </a:p>
        </p:txBody>
      </p:sp>
      <p:sp>
        <p:nvSpPr>
          <p:cNvPr id="109" name="Shape 107"/>
          <p:cNvSpPr/>
          <p:nvPr/>
        </p:nvSpPr>
        <p:spPr>
          <a:xfrm>
            <a:off x="4600575" y="3800564"/>
            <a:ext cx="2100263" cy="640705"/>
          </a:xfrm>
          <a:prstGeom prst="roundRect">
            <a:avLst>
              <a:gd name="adj" fmla="val 5352"/>
            </a:avLst>
          </a:prstGeom>
          <a:gradFill rotWithShape="1">
            <a:gsLst>
              <a:gs pos="0">
                <a:srgbClr val="0F2035"/>
              </a:gs>
              <a:gs pos="100000">
                <a:srgbClr val="0A1628">
                  <a:alpha val="5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575108" y="3800564"/>
            <a:ext cx="114300" cy="11430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0"/>
          </a:gradFill>
          <a:ln/>
        </p:spPr>
      </p:sp>
      <p:sp>
        <p:nvSpPr>
          <p:cNvPr id="111" name="Text 109"/>
          <p:cNvSpPr/>
          <p:nvPr/>
        </p:nvSpPr>
        <p:spPr>
          <a:xfrm>
            <a:off x="4686300" y="3881646"/>
            <a:ext cx="2743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567071" y="3874859"/>
            <a:ext cx="136017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E8EEF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⏱</a:t>
            </a:r>
            <a:endParaRPr lang="en-US" sz="630" dirty="0"/>
          </a:p>
        </p:txBody>
      </p:sp>
      <p:sp>
        <p:nvSpPr>
          <p:cNvPr id="113" name="Text 111"/>
          <p:cNvSpPr/>
          <p:nvPr/>
        </p:nvSpPr>
        <p:spPr>
          <a:xfrm>
            <a:off x="4686300" y="4037112"/>
            <a:ext cx="216027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b="1" spc="14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关键里程碑</a:t>
            </a:r>
            <a:endParaRPr lang="en-US" sz="540" dirty="0"/>
          </a:p>
        </p:txBody>
      </p:sp>
      <p:sp>
        <p:nvSpPr>
          <p:cNvPr id="114" name="Text 112"/>
          <p:cNvSpPr/>
          <p:nvPr/>
        </p:nvSpPr>
        <p:spPr>
          <a:xfrm>
            <a:off x="4686300" y="4181058"/>
            <a:ext cx="2160270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1991 年 Linux 发布、1998 年开源术语正式提出、2000 年代企业全面拥抱开源。</a:t>
            </a:r>
            <a:endParaRPr lang="en-US" sz="473" dirty="0"/>
          </a:p>
        </p:txBody>
      </p:sp>
      <p:sp>
        <p:nvSpPr>
          <p:cNvPr id="115" name="Shape 113"/>
          <p:cNvSpPr/>
          <p:nvPr/>
        </p:nvSpPr>
        <p:spPr>
          <a:xfrm>
            <a:off x="6757988" y="3800564"/>
            <a:ext cx="2100263" cy="640705"/>
          </a:xfrm>
          <a:prstGeom prst="roundRect">
            <a:avLst>
              <a:gd name="adj" fmla="val 5352"/>
            </a:avLst>
          </a:prstGeom>
          <a:gradFill rotWithShape="1">
            <a:gsLst>
              <a:gs pos="0">
                <a:srgbClr val="0F2035"/>
              </a:gs>
              <a:gs pos="100000">
                <a:srgbClr val="0A1628">
                  <a:alpha val="5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732520" y="3800564"/>
            <a:ext cx="114300" cy="11430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0"/>
          </a:gradFill>
          <a:ln/>
        </p:spPr>
      </p:sp>
      <p:sp>
        <p:nvSpPr>
          <p:cNvPr id="117" name="Text 115"/>
          <p:cNvSpPr/>
          <p:nvPr/>
        </p:nvSpPr>
        <p:spPr>
          <a:xfrm>
            <a:off x="6843713" y="3881646"/>
            <a:ext cx="2743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8612505" y="3874859"/>
            <a:ext cx="304038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E8EEF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🇨🇳</a:t>
            </a:r>
            <a:endParaRPr lang="en-US" sz="630" dirty="0"/>
          </a:p>
        </p:txBody>
      </p:sp>
      <p:sp>
        <p:nvSpPr>
          <p:cNvPr id="119" name="Text 117"/>
          <p:cNvSpPr/>
          <p:nvPr/>
        </p:nvSpPr>
        <p:spPr>
          <a:xfrm>
            <a:off x="6843713" y="4037112"/>
            <a:ext cx="216027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b="1" spc="14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中国开源浪潮</a:t>
            </a:r>
            <a:endParaRPr lang="en-US" sz="540" dirty="0"/>
          </a:p>
        </p:txBody>
      </p:sp>
      <p:sp>
        <p:nvSpPr>
          <p:cNvPr id="120" name="Text 118"/>
          <p:cNvSpPr/>
          <p:nvPr/>
        </p:nvSpPr>
        <p:spPr>
          <a:xfrm>
            <a:off x="6843713" y="4181058"/>
            <a:ext cx="2160270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近年来中国企业与开发者贡献大幅增长，阿里云、华为等成为国际重要力量。</a:t>
            </a:r>
            <a:endParaRPr lang="en-US" sz="473" dirty="0"/>
          </a:p>
        </p:txBody>
      </p:sp>
      <p:sp>
        <p:nvSpPr>
          <p:cNvPr id="121" name="Shape 119"/>
          <p:cNvSpPr/>
          <p:nvPr/>
        </p:nvSpPr>
        <p:spPr>
          <a:xfrm>
            <a:off x="285750" y="4532709"/>
            <a:ext cx="8572500" cy="262890"/>
          </a:xfrm>
          <a:prstGeom prst="roundRect">
            <a:avLst>
              <a:gd name="adj" fmla="val 869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2" name="Shape 120"/>
          <p:cNvSpPr/>
          <p:nvPr/>
        </p:nvSpPr>
        <p:spPr>
          <a:xfrm>
            <a:off x="285750" y="4532709"/>
            <a:ext cx="857250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85750" y="4795599"/>
            <a:ext cx="857250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651885" y="4627543"/>
            <a:ext cx="91440" cy="7313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36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</a:t>
            </a:r>
            <a:endParaRPr lang="en-US" sz="360" dirty="0"/>
          </a:p>
        </p:txBody>
      </p:sp>
      <p:sp>
        <p:nvSpPr>
          <p:cNvPr id="125" name="Text 123"/>
          <p:cNvSpPr/>
          <p:nvPr/>
        </p:nvSpPr>
        <p:spPr>
          <a:xfrm>
            <a:off x="3777615" y="4595574"/>
            <a:ext cx="1779422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定义清晰 · 演进有序 · 生态多元</a:t>
            </a:r>
            <a:endParaRPr lang="en-US" sz="675" dirty="0"/>
          </a:p>
        </p:txBody>
      </p:sp>
      <p:sp>
        <p:nvSpPr>
          <p:cNvPr id="126" name="Text 124"/>
          <p:cNvSpPr/>
          <p:nvPr/>
        </p:nvSpPr>
        <p:spPr>
          <a:xfrm>
            <a:off x="5446395" y="4627543"/>
            <a:ext cx="91440" cy="7313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36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</a:t>
            </a:r>
            <a:endParaRPr lang="en-US" sz="3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5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5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28625"/>
            <a:ext cx="14859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6972300" y="428625"/>
            <a:ext cx="14859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342900" y="228600"/>
            <a:ext cx="9473184" cy="400050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2196F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160" b="1" spc="13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开源的精神内核</a:t>
            </a:r>
            <a:endParaRPr lang="en-US" sz="2160" dirty="0"/>
          </a:p>
        </p:txBody>
      </p:sp>
      <p:sp>
        <p:nvSpPr>
          <p:cNvPr id="9" name="Text 7"/>
          <p:cNvSpPr/>
          <p:nvPr/>
        </p:nvSpPr>
        <p:spPr>
          <a:xfrm>
            <a:off x="342900" y="674370"/>
            <a:ext cx="947318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36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· SOURCE · SPIRIT</a:t>
            </a:r>
            <a:endParaRPr lang="en-US" sz="54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725805"/>
            <a:ext cx="8458200" cy="38290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2900" y="840105"/>
            <a:ext cx="3943350" cy="1543050"/>
          </a:xfrm>
          <a:prstGeom prst="roundRect">
            <a:avLst>
              <a:gd name="adj" fmla="val 5185"/>
            </a:avLst>
          </a:prstGeom>
          <a:gradFill rotWithShape="1">
            <a:gsLst>
              <a:gs pos="0">
                <a:srgbClr val="142A4C">
                  <a:alpha val="85000"/>
                </a:srgbClr>
              </a:gs>
              <a:gs pos="100000">
                <a:srgbClr val="081222">
                  <a:alpha val="88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" y="840105"/>
            <a:ext cx="80010" cy="80010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342900" y="84010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" y="84010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840105"/>
            <a:ext cx="80010" cy="80010"/>
          </a:xfrm>
          <a:prstGeom prst="rect">
            <a:avLst/>
          </a:prstGeom>
          <a:noFill/>
          <a:ln/>
        </p:spPr>
      </p:sp>
      <p:sp>
        <p:nvSpPr>
          <p:cNvPr id="16" name="Shape 13"/>
          <p:cNvSpPr/>
          <p:nvPr/>
        </p:nvSpPr>
        <p:spPr>
          <a:xfrm>
            <a:off x="4206240" y="84010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86250" y="84010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900" y="2303145"/>
            <a:ext cx="80010" cy="80010"/>
          </a:xfrm>
          <a:prstGeom prst="rect">
            <a:avLst/>
          </a:prstGeom>
          <a:noFill/>
          <a:ln/>
        </p:spPr>
      </p:sp>
      <p:sp>
        <p:nvSpPr>
          <p:cNvPr id="19" name="Shape 16"/>
          <p:cNvSpPr/>
          <p:nvPr/>
        </p:nvSpPr>
        <p:spPr>
          <a:xfrm>
            <a:off x="342900" y="238315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2900" y="230314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06240" y="2303145"/>
            <a:ext cx="80010" cy="80010"/>
          </a:xfrm>
          <a:prstGeom prst="rect">
            <a:avLst/>
          </a:prstGeom>
          <a:noFill/>
          <a:ln/>
        </p:spPr>
      </p:sp>
      <p:sp>
        <p:nvSpPr>
          <p:cNvPr id="22" name="Shape 19"/>
          <p:cNvSpPr/>
          <p:nvPr/>
        </p:nvSpPr>
        <p:spPr>
          <a:xfrm>
            <a:off x="4286250" y="230314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06240" y="238315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635" y="1388745"/>
            <a:ext cx="445770" cy="44577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80135" y="1343739"/>
            <a:ext cx="34052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自由与开放</a:t>
            </a:r>
            <a:endParaRPr lang="en-US" sz="990" dirty="0"/>
          </a:p>
        </p:txBody>
      </p:sp>
      <p:sp>
        <p:nvSpPr>
          <p:cNvPr id="26" name="Shape 22"/>
          <p:cNvSpPr/>
          <p:nvPr/>
        </p:nvSpPr>
        <p:spPr>
          <a:xfrm>
            <a:off x="1080135" y="1560909"/>
            <a:ext cx="24003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Text 23"/>
          <p:cNvSpPr/>
          <p:nvPr/>
        </p:nvSpPr>
        <p:spPr>
          <a:xfrm>
            <a:off x="1080135" y="1629489"/>
            <a:ext cx="340522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思想自由、代码开放，任何人皆可参与创造，打破知识与技术的垄断壁垒，让智慧跨越阶层与地域自由流动。</a:t>
            </a:r>
            <a:endParaRPr lang="en-US" sz="563" dirty="0"/>
          </a:p>
        </p:txBody>
      </p:sp>
      <p:sp>
        <p:nvSpPr>
          <p:cNvPr id="28" name="Shape 24"/>
          <p:cNvSpPr/>
          <p:nvPr/>
        </p:nvSpPr>
        <p:spPr>
          <a:xfrm>
            <a:off x="4857750" y="840105"/>
            <a:ext cx="3943350" cy="1543050"/>
          </a:xfrm>
          <a:prstGeom prst="roundRect">
            <a:avLst>
              <a:gd name="adj" fmla="val 5185"/>
            </a:avLst>
          </a:prstGeom>
          <a:gradFill rotWithShape="1">
            <a:gsLst>
              <a:gs pos="0">
                <a:srgbClr val="142A4C">
                  <a:alpha val="85000"/>
                </a:srgbClr>
              </a:gs>
              <a:gs pos="100000">
                <a:srgbClr val="081222">
                  <a:alpha val="88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857750" y="840105"/>
            <a:ext cx="80010" cy="80010"/>
          </a:xfrm>
          <a:prstGeom prst="rect">
            <a:avLst/>
          </a:prstGeom>
          <a:noFill/>
          <a:ln/>
        </p:spPr>
      </p:sp>
      <p:sp>
        <p:nvSpPr>
          <p:cNvPr id="30" name="Shape 26"/>
          <p:cNvSpPr/>
          <p:nvPr/>
        </p:nvSpPr>
        <p:spPr>
          <a:xfrm>
            <a:off x="4857750" y="84010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857750" y="84010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21090" y="840105"/>
            <a:ext cx="80010" cy="80010"/>
          </a:xfrm>
          <a:prstGeom prst="rect">
            <a:avLst/>
          </a:prstGeom>
          <a:noFill/>
          <a:ln/>
        </p:spPr>
      </p:sp>
      <p:sp>
        <p:nvSpPr>
          <p:cNvPr id="33" name="Shape 29"/>
          <p:cNvSpPr/>
          <p:nvPr/>
        </p:nvSpPr>
        <p:spPr>
          <a:xfrm>
            <a:off x="8721090" y="84010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801100" y="84010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857750" y="2303145"/>
            <a:ext cx="80010" cy="80010"/>
          </a:xfrm>
          <a:prstGeom prst="rect">
            <a:avLst/>
          </a:prstGeom>
          <a:noFill/>
          <a:ln/>
        </p:spPr>
      </p:sp>
      <p:sp>
        <p:nvSpPr>
          <p:cNvPr id="36" name="Shape 32"/>
          <p:cNvSpPr/>
          <p:nvPr/>
        </p:nvSpPr>
        <p:spPr>
          <a:xfrm>
            <a:off x="4857750" y="238315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857750" y="230314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721090" y="2303145"/>
            <a:ext cx="80010" cy="80010"/>
          </a:xfrm>
          <a:prstGeom prst="rect">
            <a:avLst/>
          </a:prstGeom>
          <a:noFill/>
          <a:ln/>
        </p:spPr>
      </p:sp>
      <p:sp>
        <p:nvSpPr>
          <p:cNvPr id="39" name="Shape 35"/>
          <p:cNvSpPr/>
          <p:nvPr/>
        </p:nvSpPr>
        <p:spPr>
          <a:xfrm>
            <a:off x="8801100" y="230314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721090" y="238315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3485" y="1388745"/>
            <a:ext cx="445770" cy="44577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594985" y="1343739"/>
            <a:ext cx="34052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协作与共享</a:t>
            </a:r>
            <a:endParaRPr lang="en-US" sz="990" dirty="0"/>
          </a:p>
        </p:txBody>
      </p:sp>
      <p:sp>
        <p:nvSpPr>
          <p:cNvPr id="43" name="Shape 38"/>
          <p:cNvSpPr/>
          <p:nvPr/>
        </p:nvSpPr>
        <p:spPr>
          <a:xfrm>
            <a:off x="5594985" y="1560909"/>
            <a:ext cx="24003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4" name="Text 39"/>
          <p:cNvSpPr/>
          <p:nvPr/>
        </p:nvSpPr>
        <p:spPr>
          <a:xfrm>
            <a:off x="5594985" y="1629489"/>
            <a:ext cx="340522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全球开发者跨越地域与组织边界，在 GitHub 等平台协同迭代代码与互相评审，让集体智慧汇聚成更强大的创造力。</a:t>
            </a:r>
            <a:endParaRPr lang="en-US" sz="563" dirty="0"/>
          </a:p>
        </p:txBody>
      </p:sp>
      <p:sp>
        <p:nvSpPr>
          <p:cNvPr id="45" name="Shape 40"/>
          <p:cNvSpPr/>
          <p:nvPr/>
        </p:nvSpPr>
        <p:spPr>
          <a:xfrm>
            <a:off x="342900" y="3000375"/>
            <a:ext cx="3943350" cy="1543050"/>
          </a:xfrm>
          <a:prstGeom prst="roundRect">
            <a:avLst>
              <a:gd name="adj" fmla="val 5185"/>
            </a:avLst>
          </a:prstGeom>
          <a:gradFill rotWithShape="1">
            <a:gsLst>
              <a:gs pos="0">
                <a:srgbClr val="142A4C">
                  <a:alpha val="85000"/>
                </a:srgbClr>
              </a:gs>
              <a:gs pos="100000">
                <a:srgbClr val="081222">
                  <a:alpha val="88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0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342900" y="3000375"/>
            <a:ext cx="80010" cy="80010"/>
          </a:xfrm>
          <a:prstGeom prst="rect">
            <a:avLst/>
          </a:prstGeom>
          <a:noFill/>
          <a:ln/>
        </p:spPr>
      </p:sp>
      <p:sp>
        <p:nvSpPr>
          <p:cNvPr id="47" name="Shape 42"/>
          <p:cNvSpPr/>
          <p:nvPr/>
        </p:nvSpPr>
        <p:spPr>
          <a:xfrm>
            <a:off x="342900" y="300037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42900" y="300037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206240" y="3000375"/>
            <a:ext cx="80010" cy="80010"/>
          </a:xfrm>
          <a:prstGeom prst="rect">
            <a:avLst/>
          </a:prstGeom>
          <a:noFill/>
          <a:ln/>
        </p:spPr>
      </p:sp>
      <p:sp>
        <p:nvSpPr>
          <p:cNvPr id="50" name="Shape 45"/>
          <p:cNvSpPr/>
          <p:nvPr/>
        </p:nvSpPr>
        <p:spPr>
          <a:xfrm>
            <a:off x="4206240" y="300037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286250" y="300037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42900" y="4463415"/>
            <a:ext cx="80010" cy="80010"/>
          </a:xfrm>
          <a:prstGeom prst="rect">
            <a:avLst/>
          </a:prstGeom>
          <a:noFill/>
          <a:ln/>
        </p:spPr>
      </p:sp>
      <p:sp>
        <p:nvSpPr>
          <p:cNvPr id="53" name="Shape 48"/>
          <p:cNvSpPr/>
          <p:nvPr/>
        </p:nvSpPr>
        <p:spPr>
          <a:xfrm>
            <a:off x="342900" y="454342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342900" y="446341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206240" y="4463415"/>
            <a:ext cx="80010" cy="80010"/>
          </a:xfrm>
          <a:prstGeom prst="rect">
            <a:avLst/>
          </a:prstGeom>
          <a:noFill/>
          <a:ln/>
        </p:spPr>
      </p:sp>
      <p:sp>
        <p:nvSpPr>
          <p:cNvPr id="56" name="Shape 51"/>
          <p:cNvSpPr/>
          <p:nvPr/>
        </p:nvSpPr>
        <p:spPr>
          <a:xfrm>
            <a:off x="4286250" y="446341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206240" y="454342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8635" y="3549015"/>
            <a:ext cx="445770" cy="445770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1080135" y="3504009"/>
            <a:ext cx="34052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透明与信任</a:t>
            </a:r>
            <a:endParaRPr lang="en-US" sz="990" dirty="0"/>
          </a:p>
        </p:txBody>
      </p:sp>
      <p:sp>
        <p:nvSpPr>
          <p:cNvPr id="60" name="Shape 54"/>
          <p:cNvSpPr/>
          <p:nvPr/>
        </p:nvSpPr>
        <p:spPr>
          <a:xfrm>
            <a:off x="1080135" y="3721179"/>
            <a:ext cx="24003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1" name="Text 55"/>
          <p:cNvSpPr/>
          <p:nvPr/>
        </p:nvSpPr>
        <p:spPr>
          <a:xfrm>
            <a:off x="1080135" y="3789759"/>
            <a:ext cx="340522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代码全公开，缺陷无处遁形，通过社区监督与同行评审构建可信的数字基础设施，让技术真正经得起时间检验。</a:t>
            </a:r>
            <a:endParaRPr lang="en-US" sz="563" dirty="0"/>
          </a:p>
        </p:txBody>
      </p:sp>
      <p:sp>
        <p:nvSpPr>
          <p:cNvPr id="62" name="Shape 56"/>
          <p:cNvSpPr/>
          <p:nvPr/>
        </p:nvSpPr>
        <p:spPr>
          <a:xfrm>
            <a:off x="4857750" y="3000375"/>
            <a:ext cx="3943350" cy="1543050"/>
          </a:xfrm>
          <a:prstGeom prst="roundRect">
            <a:avLst>
              <a:gd name="adj" fmla="val 5185"/>
            </a:avLst>
          </a:prstGeom>
          <a:gradFill rotWithShape="1">
            <a:gsLst>
              <a:gs pos="0">
                <a:srgbClr val="142A4C">
                  <a:alpha val="85000"/>
                </a:srgbClr>
              </a:gs>
              <a:gs pos="100000">
                <a:srgbClr val="081222">
                  <a:alpha val="88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0000"/>
              </a:srgbClr>
            </a:outerShdw>
          </a:effectLst>
        </p:spPr>
      </p:sp>
      <p:sp>
        <p:nvSpPr>
          <p:cNvPr id="63" name="Shape 57"/>
          <p:cNvSpPr/>
          <p:nvPr/>
        </p:nvSpPr>
        <p:spPr>
          <a:xfrm>
            <a:off x="4857750" y="3000375"/>
            <a:ext cx="80010" cy="80010"/>
          </a:xfrm>
          <a:prstGeom prst="rect">
            <a:avLst/>
          </a:prstGeom>
          <a:noFill/>
          <a:ln/>
        </p:spPr>
      </p:sp>
      <p:sp>
        <p:nvSpPr>
          <p:cNvPr id="64" name="Shape 58"/>
          <p:cNvSpPr/>
          <p:nvPr/>
        </p:nvSpPr>
        <p:spPr>
          <a:xfrm>
            <a:off x="4857750" y="300037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4857750" y="300037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8721090" y="3000375"/>
            <a:ext cx="80010" cy="80010"/>
          </a:xfrm>
          <a:prstGeom prst="rect">
            <a:avLst/>
          </a:prstGeom>
          <a:noFill/>
          <a:ln/>
        </p:spPr>
      </p:sp>
      <p:sp>
        <p:nvSpPr>
          <p:cNvPr id="67" name="Shape 61"/>
          <p:cNvSpPr/>
          <p:nvPr/>
        </p:nvSpPr>
        <p:spPr>
          <a:xfrm>
            <a:off x="8721090" y="300037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8801100" y="300037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4857750" y="4463415"/>
            <a:ext cx="80010" cy="80010"/>
          </a:xfrm>
          <a:prstGeom prst="rect">
            <a:avLst/>
          </a:prstGeom>
          <a:noFill/>
          <a:ln/>
        </p:spPr>
      </p:sp>
      <p:sp>
        <p:nvSpPr>
          <p:cNvPr id="70" name="Shape 64"/>
          <p:cNvSpPr/>
          <p:nvPr/>
        </p:nvSpPr>
        <p:spPr>
          <a:xfrm>
            <a:off x="4857750" y="454342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4857750" y="446341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8721090" y="4463415"/>
            <a:ext cx="80010" cy="80010"/>
          </a:xfrm>
          <a:prstGeom prst="rect">
            <a:avLst/>
          </a:prstGeom>
          <a:noFill/>
          <a:ln/>
        </p:spPr>
      </p:sp>
      <p:sp>
        <p:nvSpPr>
          <p:cNvPr id="73" name="Shape 67"/>
          <p:cNvSpPr/>
          <p:nvPr/>
        </p:nvSpPr>
        <p:spPr>
          <a:xfrm>
            <a:off x="8801100" y="4463415"/>
            <a:ext cx="0" cy="8001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8721090" y="4543425"/>
            <a:ext cx="8001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pic>
        <p:nvPicPr>
          <p:cNvPr id="7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485" y="3549015"/>
            <a:ext cx="445770" cy="445770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5594985" y="3504009"/>
            <a:ext cx="34052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回馈与传承</a:t>
            </a:r>
            <a:endParaRPr lang="en-US" sz="990" dirty="0"/>
          </a:p>
        </p:txBody>
      </p:sp>
      <p:sp>
        <p:nvSpPr>
          <p:cNvPr id="77" name="Shape 70"/>
          <p:cNvSpPr/>
          <p:nvPr/>
        </p:nvSpPr>
        <p:spPr>
          <a:xfrm>
            <a:off x="5594985" y="3721179"/>
            <a:ext cx="24003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8" name="Text 71"/>
          <p:cNvSpPr/>
          <p:nvPr/>
        </p:nvSpPr>
        <p:spPr>
          <a:xfrm>
            <a:off x="5594985" y="3789759"/>
            <a:ext cx="340522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站在巨人肩上，回馈社区是开源人的义务，形成可持续的知识循环与代际传承，让每一代开发者都受益于前人的积累。</a:t>
            </a:r>
            <a:endParaRPr lang="en-US" sz="563" dirty="0"/>
          </a:p>
        </p:txBody>
      </p:sp>
      <p:sp>
        <p:nvSpPr>
          <p:cNvPr id="79" name="Shape 72"/>
          <p:cNvSpPr/>
          <p:nvPr/>
        </p:nvSpPr>
        <p:spPr>
          <a:xfrm>
            <a:off x="4046220" y="2108835"/>
            <a:ext cx="1051560" cy="1051560"/>
          </a:xfrm>
          <a:prstGeom prst="ellips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dash"/>
          </a:ln>
        </p:spPr>
      </p:sp>
      <p:sp>
        <p:nvSpPr>
          <p:cNvPr id="80" name="Shape 73"/>
          <p:cNvSpPr/>
          <p:nvPr/>
        </p:nvSpPr>
        <p:spPr>
          <a:xfrm>
            <a:off x="4126230" y="2188845"/>
            <a:ext cx="891540" cy="891540"/>
          </a:xfrm>
          <a:prstGeom prst="ellipse">
            <a:avLst/>
          </a:prstGeom>
          <a:noFill/>
          <a:ln w="5715">
            <a:solidFill>
              <a:srgbClr val="00BCD4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00BCD4">
                <a:alpha val="35000"/>
              </a:srgbClr>
            </a:outerShdw>
          </a:effectLst>
        </p:spPr>
      </p:sp>
      <p:sp>
        <p:nvSpPr>
          <p:cNvPr id="81" name="Shape 74"/>
          <p:cNvSpPr/>
          <p:nvPr/>
        </p:nvSpPr>
        <p:spPr>
          <a:xfrm>
            <a:off x="4206240" y="2268855"/>
            <a:ext cx="731520" cy="731520"/>
          </a:xfrm>
          <a:prstGeom prst="ellipse">
            <a:avLst/>
          </a:prstGeom>
          <a:noFill/>
          <a:ln w="11430">
            <a:solidFill>
              <a:srgbClr val="2196F3">
                <a:alpha val="70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2196F3">
                <a:alpha val="55000"/>
              </a:srgbClr>
            </a:outerShdw>
          </a:effectLst>
        </p:spPr>
      </p:sp>
      <p:sp>
        <p:nvSpPr>
          <p:cNvPr id="82" name="Shape 75"/>
          <p:cNvSpPr/>
          <p:nvPr/>
        </p:nvSpPr>
        <p:spPr>
          <a:xfrm>
            <a:off x="4389120" y="2451735"/>
            <a:ext cx="365760" cy="365760"/>
          </a:xfrm>
          <a:prstGeom prst="ellipse">
            <a:avLst/>
          </a:prstGeom>
          <a:gradFill rotWithShape="1">
            <a:gsLst>
              <a:gs pos="0">
                <a:srgbClr val="5FDCFF"/>
              </a:gs>
              <a:gs pos="55000">
                <a:srgbClr val="2196F3"/>
              </a:gs>
              <a:gs pos="100000">
                <a:srgbClr val="0A4A80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342900" dist="50800" dir="16200000">
              <a:srgbClr val="2196F3">
                <a:alpha val="100000"/>
              </a:srgbClr>
            </a:outerShdw>
          </a:effectLst>
        </p:spPr>
      </p:sp>
      <p:sp>
        <p:nvSpPr>
          <p:cNvPr id="83" name="Text 76"/>
          <p:cNvSpPr/>
          <p:nvPr/>
        </p:nvSpPr>
        <p:spPr>
          <a:xfrm>
            <a:off x="4389120" y="2451735"/>
            <a:ext cx="462915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</a:t>
            </a:r>
            <a:endParaRPr lang="en-US" sz="765" dirty="0"/>
          </a:p>
        </p:txBody>
      </p:sp>
      <p:sp>
        <p:nvSpPr>
          <p:cNvPr id="84" name="Text 77"/>
          <p:cNvSpPr/>
          <p:nvPr/>
        </p:nvSpPr>
        <p:spPr>
          <a:xfrm>
            <a:off x="4249103" y="3046095"/>
            <a:ext cx="72329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· SPIRIT</a:t>
            </a:r>
            <a:endParaRPr lang="en-US" sz="495" dirty="0"/>
          </a:p>
        </p:txBody>
      </p:sp>
      <p:sp>
        <p:nvSpPr>
          <p:cNvPr id="85" name="Shape 78"/>
          <p:cNvSpPr/>
          <p:nvPr/>
        </p:nvSpPr>
        <p:spPr>
          <a:xfrm>
            <a:off x="514350" y="4797743"/>
            <a:ext cx="9715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86" name="Text 79"/>
          <p:cNvSpPr/>
          <p:nvPr/>
        </p:nvSpPr>
        <p:spPr>
          <a:xfrm>
            <a:off x="1485900" y="4738896"/>
            <a:ext cx="6912864" cy="123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自由 × 协作 × 透明 × 回馈 —— 四种精神共同汇聚，构筑起</a:t>
            </a:r>
            <a:pPr algn="ctr" indent="0" marL="0">
              <a:lnSpc>
                <a:spcPct val="160000"/>
              </a:lnSpc>
              <a:buNone/>
            </a:pPr>
            <a:r>
              <a:rPr lang="en-US" sz="60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自我繁衍、生生不息</a:t>
            </a:r>
            <a:pPr algn="ctr" indent="0" marL="0">
              <a:lnSpc>
                <a:spcPct val="16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的知识生态系统，让开源成为技术文明最持久的底色。</a:t>
            </a:r>
            <a:endParaRPr lang="en-US" sz="608" dirty="0"/>
          </a:p>
        </p:txBody>
      </p:sp>
      <p:sp>
        <p:nvSpPr>
          <p:cNvPr id="87" name="Shape 80"/>
          <p:cNvSpPr/>
          <p:nvPr/>
        </p:nvSpPr>
        <p:spPr>
          <a:xfrm>
            <a:off x="7658100" y="4797743"/>
            <a:ext cx="97155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50912"/>
              </a:gs>
              <a:gs pos="55000">
                <a:srgbClr val="0A1326"/>
              </a:gs>
              <a:gs pos="100000">
                <a:srgbClr val="060B18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914400" y="308610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337608" y="3963720"/>
            <a:ext cx="11012" cy="11012"/>
          </a:xfrm>
          <a:prstGeom prst="ellipse">
            <a:avLst/>
          </a:prstGeom>
          <a:solidFill>
            <a:srgbClr val="2196F3">
              <a:alpha val="75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78982" y="464854"/>
            <a:ext cx="22860" cy="22860"/>
          </a:xfrm>
          <a:prstGeom prst="ellipse">
            <a:avLst/>
          </a:prstGeom>
          <a:solidFill>
            <a:srgbClr val="2196F3">
              <a:alpha val="16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60970" y="27047"/>
            <a:ext cx="17145" cy="17145"/>
          </a:xfrm>
          <a:prstGeom prst="ellipse">
            <a:avLst/>
          </a:prstGeom>
          <a:solidFill>
            <a:srgbClr val="2196F3">
              <a:alpha val="3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83414" y="608711"/>
            <a:ext cx="8493" cy="8494"/>
          </a:xfrm>
          <a:prstGeom prst="ellipse">
            <a:avLst/>
          </a:prstGeom>
          <a:solidFill>
            <a:srgbClr val="2196F3">
              <a:alpha val="19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099" y="1700151"/>
            <a:ext cx="9708" cy="9708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58423" y="2279008"/>
            <a:ext cx="12866" cy="12866"/>
          </a:xfrm>
          <a:prstGeom prst="ellipse">
            <a:avLst/>
          </a:prstGeom>
          <a:solidFill>
            <a:srgbClr val="2196F3">
              <a:alpha val="62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32731" y="2755180"/>
            <a:ext cx="12372" cy="12372"/>
          </a:xfrm>
          <a:prstGeom prst="ellipse">
            <a:avLst/>
          </a:prstGeom>
          <a:solidFill>
            <a:srgbClr val="00BCD4">
              <a:alpha val="66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84502" y="3214785"/>
            <a:ext cx="21574" cy="21574"/>
          </a:xfrm>
          <a:prstGeom prst="ellipse">
            <a:avLst/>
          </a:prstGeom>
          <a:solidFill>
            <a:srgbClr val="2196F3">
              <a:alpha val="69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1052" y="842361"/>
            <a:ext cx="17145" cy="17145"/>
          </a:xfrm>
          <a:prstGeom prst="ellipse">
            <a:avLst/>
          </a:prstGeom>
          <a:solidFill>
            <a:srgbClr val="2196F3">
              <a:alpha val="26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66131" y="997477"/>
            <a:ext cx="17145" cy="17145"/>
          </a:xfrm>
          <a:prstGeom prst="ellipse">
            <a:avLst/>
          </a:prstGeom>
          <a:solidFill>
            <a:srgbClr val="2196F3">
              <a:alpha val="31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486480" y="377593"/>
            <a:ext cx="22860" cy="22860"/>
          </a:xfrm>
          <a:prstGeom prst="ellipse">
            <a:avLst/>
          </a:prstGeom>
          <a:solidFill>
            <a:srgbClr val="2196F3">
              <a:alpha val="13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3100" y="2157213"/>
            <a:ext cx="18843" cy="18843"/>
          </a:xfrm>
          <a:prstGeom prst="ellipse">
            <a:avLst/>
          </a:prstGeom>
          <a:solidFill>
            <a:srgbClr val="2196F3">
              <a:alpha val="61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36000" y="5154179"/>
            <a:ext cx="13539" cy="13539"/>
          </a:xfrm>
          <a:prstGeom prst="ellipse">
            <a:avLst/>
          </a:prstGeom>
          <a:solidFill>
            <a:srgbClr val="00BCD4">
              <a:alpha val="5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71926" y="2206200"/>
            <a:ext cx="18311" cy="18311"/>
          </a:xfrm>
          <a:prstGeom prst="ellipse">
            <a:avLst/>
          </a:prstGeom>
          <a:solidFill>
            <a:srgbClr val="2196F3">
              <a:alpha val="61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92661" y="83574"/>
            <a:ext cx="11430" cy="11430"/>
          </a:xfrm>
          <a:prstGeom prst="ellipse">
            <a:avLst/>
          </a:prstGeom>
          <a:solidFill>
            <a:srgbClr val="00BCD4">
              <a:alpha val="4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4296" y="2819217"/>
            <a:ext cx="22860" cy="22860"/>
          </a:xfrm>
          <a:prstGeom prst="ellipse">
            <a:avLst/>
          </a:prstGeom>
          <a:solidFill>
            <a:srgbClr val="2196F3">
              <a:alpha val="66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84665" y="4662853"/>
            <a:ext cx="8742" cy="8742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2437" y="3641930"/>
            <a:ext cx="21293" cy="21293"/>
          </a:xfrm>
          <a:prstGeom prst="ellipse">
            <a:avLst/>
          </a:prstGeom>
          <a:solidFill>
            <a:srgbClr val="2196F3">
              <a:alpha val="72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82135" y="-51349"/>
            <a:ext cx="11430" cy="11430"/>
          </a:xfrm>
          <a:prstGeom prst="ellipse">
            <a:avLst/>
          </a:prstGeom>
          <a:solidFill>
            <a:srgbClr val="2196F3">
              <a:alpha val="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946466" y="1474432"/>
            <a:ext cx="7109" cy="7109"/>
          </a:xfrm>
          <a:prstGeom prst="ellipse">
            <a:avLst/>
          </a:prstGeom>
          <a:solidFill>
            <a:srgbClr val="2196F3">
              <a:alpha val="44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62063" y="649588"/>
            <a:ext cx="17145" cy="17145"/>
          </a:xfrm>
          <a:prstGeom prst="ellipse">
            <a:avLst/>
          </a:prstGeom>
          <a:solidFill>
            <a:srgbClr val="2196F3">
              <a:alpha val="21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71217" y="547561"/>
            <a:ext cx="5774" cy="5774"/>
          </a:xfrm>
          <a:prstGeom prst="ellipse">
            <a:avLst/>
          </a:prstGeom>
          <a:solidFill>
            <a:srgbClr val="00BCD4">
              <a:alpha val="17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36767" y="633424"/>
            <a:ext cx="22860" cy="22860"/>
          </a:xfrm>
          <a:prstGeom prst="ellipse">
            <a:avLst/>
          </a:prstGeom>
          <a:solidFill>
            <a:srgbClr val="2196F3">
              <a:alpha val="2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535594" y="46505"/>
            <a:ext cx="22860" cy="22860"/>
          </a:xfrm>
          <a:prstGeom prst="ellipse">
            <a:avLst/>
          </a:prstGeom>
          <a:solidFill>
            <a:srgbClr val="00BCD4">
              <a:alpha val="4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57931" y="4252509"/>
            <a:ext cx="20252" cy="20252"/>
          </a:xfrm>
          <a:prstGeom prst="ellipse">
            <a:avLst/>
          </a:prstGeom>
          <a:solidFill>
            <a:srgbClr val="2196F3">
              <a:alpha val="77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95986" y="2241582"/>
            <a:ext cx="10946" cy="10946"/>
          </a:xfrm>
          <a:prstGeom prst="ellipse">
            <a:avLst/>
          </a:prstGeom>
          <a:solidFill>
            <a:srgbClr val="2196F3">
              <a:alpha val="62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881007" y="5007440"/>
            <a:ext cx="16386" cy="16386"/>
          </a:xfrm>
          <a:prstGeom prst="ellipse">
            <a:avLst/>
          </a:prstGeom>
          <a:solidFill>
            <a:srgbClr val="2196F3">
              <a:alpha val="27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20699" y="2624032"/>
            <a:ext cx="10206" cy="10206"/>
          </a:xfrm>
          <a:prstGeom prst="ellipse">
            <a:avLst/>
          </a:prstGeom>
          <a:solidFill>
            <a:srgbClr val="2196F3">
              <a:alpha val="64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73074" y="2390453"/>
            <a:ext cx="15190" cy="15190"/>
          </a:xfrm>
          <a:prstGeom prst="ellipse">
            <a:avLst/>
          </a:prstGeom>
          <a:solidFill>
            <a:srgbClr val="00BCD4">
              <a:alpha val="63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82528" y="4414278"/>
            <a:ext cx="17909" cy="17909"/>
          </a:xfrm>
          <a:prstGeom prst="ellipse">
            <a:avLst/>
          </a:prstGeom>
          <a:solidFill>
            <a:srgbClr val="2196F3">
              <a:alpha val="78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54767" y="2239761"/>
            <a:ext cx="7617" cy="7617"/>
          </a:xfrm>
          <a:prstGeom prst="ellipse">
            <a:avLst/>
          </a:prstGeom>
          <a:solidFill>
            <a:srgbClr val="00BCD4">
              <a:alpha val="62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19135" y="48017"/>
            <a:ext cx="17145" cy="17145"/>
          </a:xfrm>
          <a:prstGeom prst="ellipse">
            <a:avLst/>
          </a:prstGeom>
          <a:solidFill>
            <a:srgbClr val="2196F3">
              <a:alpha val="3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86577" y="4913384"/>
            <a:ext cx="19245" cy="19245"/>
          </a:xfrm>
          <a:prstGeom prst="ellipse">
            <a:avLst/>
          </a:prstGeom>
          <a:solidFill>
            <a:srgbClr val="00BCD4">
              <a:alpha val="41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624087" y="194088"/>
            <a:ext cx="22860" cy="22860"/>
          </a:xfrm>
          <a:prstGeom prst="ellipse">
            <a:avLst/>
          </a:prstGeom>
          <a:solidFill>
            <a:srgbClr val="2196F3">
              <a:alpha val="8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710431" y="3290284"/>
            <a:ext cx="12532" cy="12532"/>
          </a:xfrm>
          <a:prstGeom prst="ellipse">
            <a:avLst/>
          </a:prstGeom>
          <a:solidFill>
            <a:srgbClr val="2196F3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2339" y="391791"/>
            <a:ext cx="17145" cy="17145"/>
          </a:xfrm>
          <a:prstGeom prst="ellipse">
            <a:avLst/>
          </a:prstGeom>
          <a:solidFill>
            <a:srgbClr val="2196F3">
              <a:alpha val="13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161942" y="3976409"/>
            <a:ext cx="10050" cy="10050"/>
          </a:xfrm>
          <a:prstGeom prst="ellipse">
            <a:avLst/>
          </a:prstGeom>
          <a:solidFill>
            <a:srgbClr val="2196F3">
              <a:alpha val="75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26805" y="5106062"/>
            <a:ext cx="13845" cy="13845"/>
          </a:xfrm>
          <a:prstGeom prst="ellipse">
            <a:avLst/>
          </a:prstGeom>
          <a:solidFill>
            <a:srgbClr val="00BCD4">
              <a:alpha val="12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936705" y="3426222"/>
            <a:ext cx="11522" cy="11522"/>
          </a:xfrm>
          <a:prstGeom prst="ellipse">
            <a:avLst/>
          </a:prstGeom>
          <a:solidFill>
            <a:srgbClr val="00BCD4">
              <a:alpha val="71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550454" y="873743"/>
            <a:ext cx="7856" cy="7856"/>
          </a:xfrm>
          <a:prstGeom prst="ellipse">
            <a:avLst/>
          </a:prstGeom>
          <a:solidFill>
            <a:srgbClr val="2196F3">
              <a:alpha val="27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43807" y="4058564"/>
            <a:ext cx="17640" cy="17639"/>
          </a:xfrm>
          <a:prstGeom prst="ellipse">
            <a:avLst/>
          </a:prstGeom>
          <a:solidFill>
            <a:srgbClr val="2196F3">
              <a:alpha val="75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18676" y="2003652"/>
            <a:ext cx="7575" cy="7575"/>
          </a:xfrm>
          <a:prstGeom prst="ellipse">
            <a:avLst/>
          </a:prstGeom>
          <a:solidFill>
            <a:srgbClr val="2196F3">
              <a:alpha val="59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93656" y="1239649"/>
            <a:ext cx="17145" cy="17145"/>
          </a:xfrm>
          <a:prstGeom prst="ellipse">
            <a:avLst/>
          </a:prstGeom>
          <a:solidFill>
            <a:srgbClr val="00BCD4">
              <a:alpha val="37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4170" y="1204291"/>
            <a:ext cx="17145" cy="17145"/>
          </a:xfrm>
          <a:prstGeom prst="ellipse">
            <a:avLst/>
          </a:prstGeom>
          <a:solidFill>
            <a:srgbClr val="2196F3">
              <a:alpha val="36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364861" y="2553428"/>
            <a:ext cx="11496" cy="11496"/>
          </a:xfrm>
          <a:prstGeom prst="ellipse">
            <a:avLst/>
          </a:prstGeom>
          <a:solidFill>
            <a:srgbClr val="2196F3">
              <a:alpha val="64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461169" y="3347760"/>
            <a:ext cx="8368" cy="8368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459593" y="4289749"/>
            <a:ext cx="19646" cy="19646"/>
          </a:xfrm>
          <a:prstGeom prst="ellipse">
            <a:avLst/>
          </a:prstGeom>
          <a:solidFill>
            <a:srgbClr val="2196F3">
              <a:alpha val="77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134257" y="412270"/>
            <a:ext cx="8412" cy="8412"/>
          </a:xfrm>
          <a:prstGeom prst="ellipse">
            <a:avLst/>
          </a:prstGeom>
          <a:solidFill>
            <a:srgbClr val="00BCD4">
              <a:alpha val="14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313185" y="4487368"/>
            <a:ext cx="23354" cy="23354"/>
          </a:xfrm>
          <a:prstGeom prst="ellipse">
            <a:avLst/>
          </a:prstGeom>
          <a:solidFill>
            <a:srgbClr val="00BCD4">
              <a:alpha val="79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07923" y="1412491"/>
            <a:ext cx="18093" cy="18094"/>
          </a:xfrm>
          <a:prstGeom prst="ellipse">
            <a:avLst/>
          </a:prstGeom>
          <a:solidFill>
            <a:srgbClr val="2196F3">
              <a:alpha val="43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068821" y="4396555"/>
            <a:ext cx="21753" cy="21753"/>
          </a:xfrm>
          <a:prstGeom prst="ellipse">
            <a:avLst/>
          </a:prstGeom>
          <a:solidFill>
            <a:srgbClr val="2196F3">
              <a:alpha val="78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590677" y="1416387"/>
            <a:ext cx="11973" cy="11973"/>
          </a:xfrm>
          <a:prstGeom prst="ellipse">
            <a:avLst/>
          </a:prstGeom>
          <a:solidFill>
            <a:srgbClr val="2196F3">
              <a:alpha val="42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80554" y="2430287"/>
            <a:ext cx="18644" cy="18644"/>
          </a:xfrm>
          <a:prstGeom prst="ellipse">
            <a:avLst/>
          </a:prstGeom>
          <a:solidFill>
            <a:srgbClr val="2196F3">
              <a:alpha val="63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99601" y="3842154"/>
            <a:ext cx="18767" cy="18767"/>
          </a:xfrm>
          <a:prstGeom prst="ellipse">
            <a:avLst/>
          </a:prstGeom>
          <a:solidFill>
            <a:srgbClr val="2196F3">
              <a:alpha val="74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126937" y="5011844"/>
            <a:ext cx="11981" cy="11981"/>
          </a:xfrm>
          <a:prstGeom prst="ellipse">
            <a:avLst/>
          </a:prstGeom>
          <a:solidFill>
            <a:srgbClr val="2196F3">
              <a:alpha val="27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514599" y="2219441"/>
            <a:ext cx="12861" cy="12861"/>
          </a:xfrm>
          <a:prstGeom prst="ellipse">
            <a:avLst/>
          </a:prstGeom>
          <a:solidFill>
            <a:srgbClr val="00BCD4">
              <a:alpha val="61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76020" y="4130394"/>
            <a:ext cx="8866" cy="8866"/>
          </a:xfrm>
          <a:prstGeom prst="ellipse">
            <a:avLst/>
          </a:prstGeom>
          <a:solidFill>
            <a:srgbClr val="2196F3">
              <a:alpha val="76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345257" y="618595"/>
            <a:ext cx="17145" cy="17145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71725" y="4096632"/>
            <a:ext cx="8923" cy="8923"/>
          </a:xfrm>
          <a:prstGeom prst="ellipse">
            <a:avLst/>
          </a:prstGeom>
          <a:solidFill>
            <a:srgbClr val="2196F3">
              <a:alpha val="76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027504" y="1772203"/>
            <a:ext cx="6606" cy="6606"/>
          </a:xfrm>
          <a:prstGeom prst="ellipse">
            <a:avLst/>
          </a:prstGeom>
          <a:solidFill>
            <a:srgbClr val="2196F3">
              <a:alpha val="52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092320" y="922755"/>
            <a:ext cx="6330" cy="6330"/>
          </a:xfrm>
          <a:prstGeom prst="ellipse">
            <a:avLst/>
          </a:prstGeom>
          <a:solidFill>
            <a:srgbClr val="00BCD4">
              <a:alpha val="28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083532" y="2107367"/>
            <a:ext cx="14637" cy="14637"/>
          </a:xfrm>
          <a:prstGeom prst="ellipse">
            <a:avLst/>
          </a:prstGeom>
          <a:solidFill>
            <a:srgbClr val="2196F3">
              <a:alpha val="61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0984" y="4901463"/>
            <a:ext cx="19490" cy="19490"/>
          </a:xfrm>
          <a:prstGeom prst="ellipse">
            <a:avLst/>
          </a:prstGeom>
          <a:solidFill>
            <a:srgbClr val="2196F3">
              <a:alpha val="43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657525" y="4147920"/>
            <a:ext cx="23046" cy="23046"/>
          </a:xfrm>
          <a:prstGeom prst="ellipse">
            <a:avLst/>
          </a:prstGeom>
          <a:solidFill>
            <a:srgbClr val="2196F3">
              <a:alpha val="76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089334" y="4887627"/>
            <a:ext cx="10731" cy="10731"/>
          </a:xfrm>
          <a:prstGeom prst="ellipse">
            <a:avLst/>
          </a:prstGeom>
          <a:solidFill>
            <a:srgbClr val="00BCD4">
              <a:alpha val="46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66208" y="1595916"/>
            <a:ext cx="14413" cy="14413"/>
          </a:xfrm>
          <a:prstGeom prst="ellipse">
            <a:avLst/>
          </a:prstGeom>
          <a:solidFill>
            <a:srgbClr val="2196F3">
              <a:alpha val="48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247112" y="1281097"/>
            <a:ext cx="12303" cy="12303"/>
          </a:xfrm>
          <a:prstGeom prst="ellipse">
            <a:avLst/>
          </a:prstGeom>
          <a:solidFill>
            <a:srgbClr val="2196F3">
              <a:alpha val="39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871598" y="2436463"/>
            <a:ext cx="6916" cy="6916"/>
          </a:xfrm>
          <a:prstGeom prst="ellipse">
            <a:avLst/>
          </a:prstGeom>
          <a:solidFill>
            <a:srgbClr val="00BCD4">
              <a:alpha val="63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517367" y="136238"/>
            <a:ext cx="5824" cy="5824"/>
          </a:xfrm>
          <a:prstGeom prst="ellipse">
            <a:avLst/>
          </a:prstGeom>
          <a:solidFill>
            <a:srgbClr val="2196F3">
              <a:alpha val="6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258374" y="4845111"/>
            <a:ext cx="17836" cy="17836"/>
          </a:xfrm>
          <a:prstGeom prst="ellipse">
            <a:avLst/>
          </a:prstGeom>
          <a:solidFill>
            <a:srgbClr val="2196F3">
              <a:alpha val="51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37160" y="137160"/>
            <a:ext cx="160020" cy="160020"/>
          </a:xfrm>
          <a:prstGeom prst="rect">
            <a:avLst/>
          </a:prstGeom>
          <a:noFill/>
          <a:ln/>
        </p:spPr>
      </p:sp>
      <p:sp>
        <p:nvSpPr>
          <p:cNvPr id="76" name="Shape 74"/>
          <p:cNvSpPr/>
          <p:nvPr/>
        </p:nvSpPr>
        <p:spPr>
          <a:xfrm>
            <a:off x="137160" y="137160"/>
            <a:ext cx="160020" cy="0"/>
          </a:xfrm>
          <a:prstGeom prst="line">
            <a:avLst/>
          </a:prstGeom>
          <a:noFill/>
          <a:ln w="5715">
            <a:solidFill>
              <a:srgbClr val="E8EEF4">
                <a:alpha val="5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7160" y="137160"/>
            <a:ext cx="0" cy="160020"/>
          </a:xfrm>
          <a:prstGeom prst="line">
            <a:avLst/>
          </a:prstGeom>
          <a:noFill/>
          <a:ln w="5715">
            <a:solidFill>
              <a:srgbClr val="E8EEF4">
                <a:alpha val="5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46820" y="137160"/>
            <a:ext cx="160020" cy="160020"/>
          </a:xfrm>
          <a:prstGeom prst="rect">
            <a:avLst/>
          </a:prstGeom>
          <a:noFill/>
          <a:ln/>
        </p:spPr>
      </p:sp>
      <p:sp>
        <p:nvSpPr>
          <p:cNvPr id="79" name="Shape 77"/>
          <p:cNvSpPr/>
          <p:nvPr/>
        </p:nvSpPr>
        <p:spPr>
          <a:xfrm>
            <a:off x="8846820" y="137160"/>
            <a:ext cx="160020" cy="0"/>
          </a:xfrm>
          <a:prstGeom prst="line">
            <a:avLst/>
          </a:prstGeom>
          <a:noFill/>
          <a:ln w="5715">
            <a:solidFill>
              <a:srgbClr val="E8EEF4">
                <a:alpha val="5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06840" y="137160"/>
            <a:ext cx="0" cy="160020"/>
          </a:xfrm>
          <a:prstGeom prst="line">
            <a:avLst/>
          </a:prstGeom>
          <a:noFill/>
          <a:ln w="5715">
            <a:solidFill>
              <a:srgbClr val="E8EEF4">
                <a:alpha val="5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" y="4846320"/>
            <a:ext cx="160020" cy="160020"/>
          </a:xfrm>
          <a:prstGeom prst="rect">
            <a:avLst/>
          </a:prstGeom>
          <a:noFill/>
          <a:ln/>
        </p:spPr>
      </p:sp>
      <p:sp>
        <p:nvSpPr>
          <p:cNvPr id="82" name="Shape 80"/>
          <p:cNvSpPr/>
          <p:nvPr/>
        </p:nvSpPr>
        <p:spPr>
          <a:xfrm>
            <a:off x="137160" y="5006340"/>
            <a:ext cx="160020" cy="0"/>
          </a:xfrm>
          <a:prstGeom prst="line">
            <a:avLst/>
          </a:prstGeom>
          <a:noFill/>
          <a:ln w="5715">
            <a:solidFill>
              <a:srgbClr val="E8EEF4">
                <a:alpha val="5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37160" y="4846320"/>
            <a:ext cx="0" cy="160020"/>
          </a:xfrm>
          <a:prstGeom prst="line">
            <a:avLst/>
          </a:prstGeom>
          <a:noFill/>
          <a:ln w="5715">
            <a:solidFill>
              <a:srgbClr val="E8EEF4">
                <a:alpha val="5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846820" y="4846320"/>
            <a:ext cx="160020" cy="160020"/>
          </a:xfrm>
          <a:prstGeom prst="rect">
            <a:avLst/>
          </a:prstGeom>
          <a:noFill/>
          <a:ln/>
        </p:spPr>
      </p:sp>
      <p:sp>
        <p:nvSpPr>
          <p:cNvPr id="85" name="Shape 83"/>
          <p:cNvSpPr/>
          <p:nvPr/>
        </p:nvSpPr>
        <p:spPr>
          <a:xfrm>
            <a:off x="9006840" y="4846320"/>
            <a:ext cx="0" cy="160020"/>
          </a:xfrm>
          <a:prstGeom prst="line">
            <a:avLst/>
          </a:prstGeom>
          <a:noFill/>
          <a:ln w="5715">
            <a:solidFill>
              <a:srgbClr val="E8EEF4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846820" y="5006340"/>
            <a:ext cx="160020" cy="0"/>
          </a:xfrm>
          <a:prstGeom prst="line">
            <a:avLst/>
          </a:prstGeom>
          <a:noFill/>
          <a:ln w="5715">
            <a:solidFill>
              <a:srgbClr val="E8EEF4">
                <a:alpha val="5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2900" y="137160"/>
            <a:ext cx="76809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· 05</a:t>
            </a:r>
            <a:endParaRPr lang="en-US" sz="495" dirty="0"/>
          </a:p>
        </p:txBody>
      </p:sp>
      <p:sp>
        <p:nvSpPr>
          <p:cNvPr id="88" name="Text 86"/>
          <p:cNvSpPr/>
          <p:nvPr/>
        </p:nvSpPr>
        <p:spPr>
          <a:xfrm>
            <a:off x="7886700" y="137160"/>
            <a:ext cx="102412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 / OPEN SOURCE</a:t>
            </a:r>
            <a:endParaRPr lang="en-US" sz="495" dirty="0"/>
          </a:p>
        </p:txBody>
      </p:sp>
      <p:sp>
        <p:nvSpPr>
          <p:cNvPr id="89" name="Shape 87"/>
          <p:cNvSpPr/>
          <p:nvPr/>
        </p:nvSpPr>
        <p:spPr>
          <a:xfrm>
            <a:off x="3697605" y="400050"/>
            <a:ext cx="27432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0" name="Text 88"/>
          <p:cNvSpPr/>
          <p:nvPr/>
        </p:nvSpPr>
        <p:spPr>
          <a:xfrm>
            <a:off x="4051935" y="351473"/>
            <a:ext cx="116494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FIFTH CHAPTER</a:t>
            </a:r>
            <a:endParaRPr lang="en-US" sz="585" dirty="0"/>
          </a:p>
        </p:txBody>
      </p:sp>
      <p:sp>
        <p:nvSpPr>
          <p:cNvPr id="91" name="Shape 89"/>
          <p:cNvSpPr/>
          <p:nvPr/>
        </p:nvSpPr>
        <p:spPr>
          <a:xfrm>
            <a:off x="5172075" y="400050"/>
            <a:ext cx="27432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2" name="Text 90"/>
          <p:cNvSpPr/>
          <p:nvPr/>
        </p:nvSpPr>
        <p:spPr>
          <a:xfrm>
            <a:off x="342900" y="966371"/>
            <a:ext cx="9473184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spc="36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 术 · 商 业 · 文 化 的 多 维 渗 透</a:t>
            </a:r>
            <a:endParaRPr lang="en-US" sz="855" dirty="0"/>
          </a:p>
        </p:txBody>
      </p:sp>
      <p:sp>
        <p:nvSpPr>
          <p:cNvPr id="93" name="Shape 91"/>
          <p:cNvSpPr/>
          <p:nvPr/>
        </p:nvSpPr>
        <p:spPr>
          <a:xfrm>
            <a:off x="3600450" y="1246406"/>
            <a:ext cx="19431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2196F3"/>
              </a:gs>
              <a:gs pos="50000">
                <a:srgbClr val="00BCD4"/>
              </a:gs>
              <a:gs pos="75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4" name="Shape 92"/>
          <p:cNvSpPr/>
          <p:nvPr/>
        </p:nvSpPr>
        <p:spPr>
          <a:xfrm>
            <a:off x="3583305" y="1249263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5526405" y="124926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342900" y="1423571"/>
            <a:ext cx="2720340" cy="1943100"/>
          </a:xfrm>
          <a:prstGeom prst="roundRect">
            <a:avLst>
              <a:gd name="adj" fmla="val 2941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60B18">
                  <a:alpha val="60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2900" y="1423571"/>
            <a:ext cx="270891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8" name="Shape 96"/>
          <p:cNvSpPr/>
          <p:nvPr/>
        </p:nvSpPr>
        <p:spPr>
          <a:xfrm>
            <a:off x="-469704" y="844121"/>
            <a:ext cx="1625295" cy="1158985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474345" y="1955066"/>
            <a:ext cx="275234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DIMENSION 01</a:t>
            </a:r>
            <a:endParaRPr lang="en-US" sz="450" dirty="0"/>
          </a:p>
        </p:txBody>
      </p:sp>
      <p:sp>
        <p:nvSpPr>
          <p:cNvPr id="100" name="Shape 98"/>
          <p:cNvSpPr/>
          <p:nvPr/>
        </p:nvSpPr>
        <p:spPr>
          <a:xfrm>
            <a:off x="474345" y="2097941"/>
            <a:ext cx="245745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1" name="Shape 99"/>
          <p:cNvSpPr/>
          <p:nvPr/>
        </p:nvSpPr>
        <p:spPr>
          <a:xfrm>
            <a:off x="474345" y="1577876"/>
            <a:ext cx="262890" cy="262890"/>
          </a:xfrm>
          <a:prstGeom prst="roundRect">
            <a:avLst>
              <a:gd name="adj" fmla="val 17391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42925" y="1646456"/>
            <a:ext cx="125730" cy="125730"/>
          </a:xfrm>
          <a:prstGeom prst="rect">
            <a:avLst/>
          </a:prstGeom>
          <a:gradFill rotWithShape="1">
            <a:gsLst>
              <a:gs pos="47000">
                <a:srgbClr val="000000">
                  <a:alpha val="0"/>
                </a:srgbClr>
              </a:gs>
              <a:gs pos="48000">
                <a:srgbClr val="2196F3"/>
              </a:gs>
              <a:gs pos="52000">
                <a:srgbClr val="2196F3"/>
              </a:gs>
              <a:gs pos="38000">
                <a:srgbClr val="000000">
                  <a:alpha val="0"/>
                </a:srgbClr>
              </a:gs>
              <a:gs pos="50000">
                <a:srgbClr val="000000"/>
              </a:gs>
              <a:gs pos="47000">
                <a:srgbClr val="000000">
                  <a:alpha val="0"/>
                </a:srgbClr>
              </a:gs>
              <a:gs pos="48000">
                <a:srgbClr val="2196F3"/>
              </a:gs>
              <a:gs pos="52000">
                <a:srgbClr val="2196F3"/>
              </a:gs>
              <a:gs pos="53000">
                <a:srgbClr val="000000">
                  <a:alpha val="0"/>
                </a:srgbClr>
              </a:gs>
            </a:gsLst>
            <a:lin ang="2700000" scaled="0"/>
          </a:gradFill>
          <a:ln/>
        </p:spPr>
      </p:sp>
      <p:sp>
        <p:nvSpPr>
          <p:cNvPr id="103" name="Shape 101"/>
          <p:cNvSpPr/>
          <p:nvPr/>
        </p:nvSpPr>
        <p:spPr>
          <a:xfrm>
            <a:off x="525780" y="1846481"/>
            <a:ext cx="16002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817245" y="1566446"/>
            <a:ext cx="9486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技术底座</a:t>
            </a:r>
            <a:endParaRPr lang="en-US" sz="990" dirty="0"/>
          </a:p>
        </p:txBody>
      </p:sp>
      <p:sp>
        <p:nvSpPr>
          <p:cNvPr id="105" name="Text 103"/>
          <p:cNvSpPr/>
          <p:nvPr/>
        </p:nvSpPr>
        <p:spPr>
          <a:xfrm>
            <a:off x="817245" y="1766471"/>
            <a:ext cx="9217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TECHNOLOGY STACK</a:t>
            </a:r>
            <a:endParaRPr lang="en-US" sz="495" dirty="0"/>
          </a:p>
        </p:txBody>
      </p:sp>
      <p:sp>
        <p:nvSpPr>
          <p:cNvPr id="106" name="Text 104"/>
          <p:cNvSpPr/>
          <p:nvPr/>
        </p:nvSpPr>
        <p:spPr>
          <a:xfrm>
            <a:off x="474345" y="2183666"/>
            <a:ext cx="2752344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D4DC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从操作系统到云计算，再到 AI 框架，开源构成了数字时代的底层基础设施，托举起当代全部关键技术栈。</a:t>
            </a:r>
            <a:endParaRPr lang="en-US" sz="608" dirty="0"/>
          </a:p>
        </p:txBody>
      </p:sp>
      <p:sp>
        <p:nvSpPr>
          <p:cNvPr id="107" name="Shape 105"/>
          <p:cNvSpPr/>
          <p:nvPr/>
        </p:nvSpPr>
        <p:spPr>
          <a:xfrm>
            <a:off x="474345" y="3092351"/>
            <a:ext cx="354330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74345" y="3092351"/>
            <a:ext cx="414338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操作系统</a:t>
            </a:r>
            <a:endParaRPr lang="en-US" sz="473" dirty="0"/>
          </a:p>
        </p:txBody>
      </p:sp>
      <p:sp>
        <p:nvSpPr>
          <p:cNvPr id="109" name="Shape 107"/>
          <p:cNvSpPr/>
          <p:nvPr/>
        </p:nvSpPr>
        <p:spPr>
          <a:xfrm>
            <a:off x="874395" y="3092351"/>
            <a:ext cx="297180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74395" y="3092351"/>
            <a:ext cx="357188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云计算</a:t>
            </a:r>
            <a:endParaRPr lang="en-US" sz="473" dirty="0"/>
          </a:p>
        </p:txBody>
      </p:sp>
      <p:sp>
        <p:nvSpPr>
          <p:cNvPr id="111" name="Shape 109"/>
          <p:cNvSpPr/>
          <p:nvPr/>
        </p:nvSpPr>
        <p:spPr>
          <a:xfrm>
            <a:off x="1217295" y="3092351"/>
            <a:ext cx="360045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217295" y="3092351"/>
            <a:ext cx="420053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 框架</a:t>
            </a:r>
            <a:endParaRPr lang="en-US" sz="473" dirty="0"/>
          </a:p>
        </p:txBody>
      </p:sp>
      <p:sp>
        <p:nvSpPr>
          <p:cNvPr id="113" name="Shape 111"/>
          <p:cNvSpPr/>
          <p:nvPr/>
        </p:nvSpPr>
        <p:spPr>
          <a:xfrm>
            <a:off x="3211830" y="1423571"/>
            <a:ext cx="2720340" cy="1943100"/>
          </a:xfrm>
          <a:prstGeom prst="roundRect">
            <a:avLst>
              <a:gd name="adj" fmla="val 2941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60B18">
                  <a:alpha val="60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11830" y="1423571"/>
            <a:ext cx="270891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5" name="Shape 113"/>
          <p:cNvSpPr/>
          <p:nvPr/>
        </p:nvSpPr>
        <p:spPr>
          <a:xfrm>
            <a:off x="2399226" y="844121"/>
            <a:ext cx="1625295" cy="1158985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116" name="Text 114"/>
          <p:cNvSpPr/>
          <p:nvPr/>
        </p:nvSpPr>
        <p:spPr>
          <a:xfrm>
            <a:off x="3343275" y="1955066"/>
            <a:ext cx="275234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DIMENSION 02</a:t>
            </a:r>
            <a:endParaRPr lang="en-US" sz="450" dirty="0"/>
          </a:p>
        </p:txBody>
      </p:sp>
      <p:sp>
        <p:nvSpPr>
          <p:cNvPr id="117" name="Shape 115"/>
          <p:cNvSpPr/>
          <p:nvPr/>
        </p:nvSpPr>
        <p:spPr>
          <a:xfrm>
            <a:off x="3343275" y="2097941"/>
            <a:ext cx="245745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8" name="Shape 116"/>
          <p:cNvSpPr/>
          <p:nvPr/>
        </p:nvSpPr>
        <p:spPr>
          <a:xfrm>
            <a:off x="3343275" y="1577876"/>
            <a:ext cx="262890" cy="262890"/>
          </a:xfrm>
          <a:prstGeom prst="roundRect">
            <a:avLst>
              <a:gd name="adj" fmla="val 17391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71850" y="1606451"/>
            <a:ext cx="102870" cy="102870"/>
          </a:xfrm>
          <a:prstGeom prst="ellips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474720" y="1606451"/>
            <a:ext cx="102870" cy="10287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429000" y="1709321"/>
            <a:ext cx="102870" cy="102870"/>
          </a:xfrm>
          <a:prstGeom prst="ellipse">
            <a:avLst/>
          </a:prstGeom>
          <a:solidFill>
            <a:srgbClr val="2196F3">
              <a:alpha val="15000"/>
            </a:srgbClr>
          </a:solidFill>
          <a:ln w="11430">
            <a:solidFill>
              <a:srgbClr val="2196F3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86175" y="1566446"/>
            <a:ext cx="84582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商业模式</a:t>
            </a:r>
            <a:endParaRPr lang="en-US" sz="990" dirty="0"/>
          </a:p>
        </p:txBody>
      </p:sp>
      <p:sp>
        <p:nvSpPr>
          <p:cNvPr id="123" name="Text 121"/>
          <p:cNvSpPr/>
          <p:nvPr/>
        </p:nvSpPr>
        <p:spPr>
          <a:xfrm>
            <a:off x="3686175" y="1766471"/>
            <a:ext cx="80650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BUSINESS MODEL</a:t>
            </a:r>
            <a:endParaRPr lang="en-US" sz="495" dirty="0"/>
          </a:p>
        </p:txBody>
      </p:sp>
      <p:sp>
        <p:nvSpPr>
          <p:cNvPr id="124" name="Text 122"/>
          <p:cNvSpPr/>
          <p:nvPr/>
        </p:nvSpPr>
        <p:spPr>
          <a:xfrm>
            <a:off x="3343275" y="2183666"/>
            <a:ext cx="2752344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D4DC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红帽、MongoDB 等标杆企业证明：开源完全可以与可持续的商业成功和谐并存，并催生全新的价值分配体系。</a:t>
            </a:r>
            <a:endParaRPr lang="en-US" sz="608" dirty="0"/>
          </a:p>
        </p:txBody>
      </p:sp>
      <p:sp>
        <p:nvSpPr>
          <p:cNvPr id="125" name="Shape 123"/>
          <p:cNvSpPr/>
          <p:nvPr/>
        </p:nvSpPr>
        <p:spPr>
          <a:xfrm>
            <a:off x="3343275" y="3092351"/>
            <a:ext cx="240030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343275" y="3092351"/>
            <a:ext cx="300038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红帽</a:t>
            </a:r>
            <a:endParaRPr lang="en-US" sz="473" dirty="0"/>
          </a:p>
        </p:txBody>
      </p:sp>
      <p:sp>
        <p:nvSpPr>
          <p:cNvPr id="127" name="Shape 125"/>
          <p:cNvSpPr/>
          <p:nvPr/>
        </p:nvSpPr>
        <p:spPr>
          <a:xfrm>
            <a:off x="3629025" y="3092351"/>
            <a:ext cx="405765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629025" y="3092351"/>
            <a:ext cx="465773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MongoDB</a:t>
            </a:r>
            <a:endParaRPr lang="en-US" sz="473" dirty="0"/>
          </a:p>
        </p:txBody>
      </p:sp>
      <p:sp>
        <p:nvSpPr>
          <p:cNvPr id="129" name="Shape 127"/>
          <p:cNvSpPr/>
          <p:nvPr/>
        </p:nvSpPr>
        <p:spPr>
          <a:xfrm>
            <a:off x="4080510" y="3092351"/>
            <a:ext cx="297180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080510" y="3092351"/>
            <a:ext cx="357188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可持续</a:t>
            </a:r>
            <a:endParaRPr lang="en-US" sz="473" dirty="0"/>
          </a:p>
        </p:txBody>
      </p:sp>
      <p:sp>
        <p:nvSpPr>
          <p:cNvPr id="131" name="Shape 129"/>
          <p:cNvSpPr/>
          <p:nvPr/>
        </p:nvSpPr>
        <p:spPr>
          <a:xfrm>
            <a:off x="6080760" y="1423571"/>
            <a:ext cx="2720340" cy="1943100"/>
          </a:xfrm>
          <a:prstGeom prst="roundRect">
            <a:avLst>
              <a:gd name="adj" fmla="val 2941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60B18">
                  <a:alpha val="60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080760" y="1423571"/>
            <a:ext cx="270891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3" name="Shape 131"/>
          <p:cNvSpPr/>
          <p:nvPr/>
        </p:nvSpPr>
        <p:spPr>
          <a:xfrm>
            <a:off x="5268156" y="844121"/>
            <a:ext cx="1625295" cy="1158985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134" name="Text 132"/>
          <p:cNvSpPr/>
          <p:nvPr/>
        </p:nvSpPr>
        <p:spPr>
          <a:xfrm>
            <a:off x="6212205" y="1955066"/>
            <a:ext cx="275234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DIMENSION 03</a:t>
            </a:r>
            <a:endParaRPr lang="en-US" sz="450" dirty="0"/>
          </a:p>
        </p:txBody>
      </p:sp>
      <p:sp>
        <p:nvSpPr>
          <p:cNvPr id="135" name="Shape 133"/>
          <p:cNvSpPr/>
          <p:nvPr/>
        </p:nvSpPr>
        <p:spPr>
          <a:xfrm>
            <a:off x="6212205" y="2097941"/>
            <a:ext cx="245745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6" name="Shape 134"/>
          <p:cNvSpPr/>
          <p:nvPr/>
        </p:nvSpPr>
        <p:spPr>
          <a:xfrm>
            <a:off x="6212205" y="1577876"/>
            <a:ext cx="262890" cy="262890"/>
          </a:xfrm>
          <a:prstGeom prst="roundRect">
            <a:avLst>
              <a:gd name="adj" fmla="val 17391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-1500000">
            <a:off x="6263465" y="1637033"/>
            <a:ext cx="125730" cy="5715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 rot="1080000">
            <a:off x="6266278" y="1711602"/>
            <a:ext cx="125730" cy="5715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 rot="2100000">
            <a:off x="6312522" y="1712685"/>
            <a:ext cx="91440" cy="571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6252210" y="1652171"/>
            <a:ext cx="40005" cy="4000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47625" dist="50800" dir="16200000">
              <a:srgbClr val="2196F3">
                <a:alpha val="100000"/>
              </a:srgbClr>
            </a:outerShdw>
          </a:effectLst>
        </p:spPr>
      </p:sp>
      <p:sp>
        <p:nvSpPr>
          <p:cNvPr id="141" name="Shape 139"/>
          <p:cNvSpPr/>
          <p:nvPr/>
        </p:nvSpPr>
        <p:spPr>
          <a:xfrm>
            <a:off x="6395085" y="1617881"/>
            <a:ext cx="40005" cy="4000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47625" dist="50800" dir="16200000">
              <a:srgbClr val="2196F3">
                <a:alpha val="100000"/>
              </a:srgbClr>
            </a:outerShdw>
          </a:effectLst>
        </p:spPr>
      </p:sp>
      <p:sp>
        <p:nvSpPr>
          <p:cNvPr id="142" name="Shape 140"/>
          <p:cNvSpPr/>
          <p:nvPr/>
        </p:nvSpPr>
        <p:spPr>
          <a:xfrm>
            <a:off x="6297930" y="1760756"/>
            <a:ext cx="40005" cy="4000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47625" dist="50800" dir="16200000">
              <a:srgbClr val="2196F3">
                <a:alpha val="100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6349365" y="1726466"/>
            <a:ext cx="40005" cy="4000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47625" dist="50800" dir="16200000">
              <a:srgbClr val="2196F3">
                <a:alpha val="100000"/>
              </a:srgbClr>
            </a:outerShdw>
          </a:effectLst>
        </p:spPr>
      </p:sp>
      <p:sp>
        <p:nvSpPr>
          <p:cNvPr id="144" name="Shape 142"/>
          <p:cNvSpPr/>
          <p:nvPr/>
        </p:nvSpPr>
        <p:spPr>
          <a:xfrm>
            <a:off x="6326505" y="1692176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45" name="Text 143"/>
          <p:cNvSpPr/>
          <p:nvPr/>
        </p:nvSpPr>
        <p:spPr>
          <a:xfrm>
            <a:off x="6555105" y="1566446"/>
            <a:ext cx="74295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文化基因</a:t>
            </a:r>
            <a:endParaRPr lang="en-US" sz="990" dirty="0"/>
          </a:p>
        </p:txBody>
      </p:sp>
      <p:sp>
        <p:nvSpPr>
          <p:cNvPr id="146" name="Text 144"/>
          <p:cNvSpPr/>
          <p:nvPr/>
        </p:nvSpPr>
        <p:spPr>
          <a:xfrm>
            <a:off x="6555105" y="1766471"/>
            <a:ext cx="6912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CULTURAL DNA</a:t>
            </a:r>
            <a:endParaRPr lang="en-US" sz="495" dirty="0"/>
          </a:p>
        </p:txBody>
      </p:sp>
      <p:sp>
        <p:nvSpPr>
          <p:cNvPr id="147" name="Text 145"/>
          <p:cNvSpPr/>
          <p:nvPr/>
        </p:nvSpPr>
        <p:spPr>
          <a:xfrm>
            <a:off x="6212205" y="2183666"/>
            <a:ext cx="2752344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D4DC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开源正在从技术领域渗透到教育、科研、公共治理等更广泛的社会场景，重塑协作与信任的社会底色。</a:t>
            </a:r>
            <a:endParaRPr lang="en-US" sz="608" dirty="0"/>
          </a:p>
        </p:txBody>
      </p:sp>
      <p:sp>
        <p:nvSpPr>
          <p:cNvPr id="148" name="Shape 146"/>
          <p:cNvSpPr/>
          <p:nvPr/>
        </p:nvSpPr>
        <p:spPr>
          <a:xfrm>
            <a:off x="6212205" y="3092351"/>
            <a:ext cx="240030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212205" y="3092351"/>
            <a:ext cx="300038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教育</a:t>
            </a:r>
            <a:endParaRPr lang="en-US" sz="473" dirty="0"/>
          </a:p>
        </p:txBody>
      </p:sp>
      <p:sp>
        <p:nvSpPr>
          <p:cNvPr id="150" name="Shape 148"/>
          <p:cNvSpPr/>
          <p:nvPr/>
        </p:nvSpPr>
        <p:spPr>
          <a:xfrm>
            <a:off x="6497955" y="3092351"/>
            <a:ext cx="240030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497955" y="3092351"/>
            <a:ext cx="300038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科研</a:t>
            </a:r>
            <a:endParaRPr lang="en-US" sz="473" dirty="0"/>
          </a:p>
        </p:txBody>
      </p:sp>
      <p:sp>
        <p:nvSpPr>
          <p:cNvPr id="152" name="Shape 150"/>
          <p:cNvSpPr/>
          <p:nvPr/>
        </p:nvSpPr>
        <p:spPr>
          <a:xfrm>
            <a:off x="6783705" y="3092351"/>
            <a:ext cx="354330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783705" y="3092351"/>
            <a:ext cx="414338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公共治理</a:t>
            </a:r>
            <a:endParaRPr lang="en-US" sz="473" dirty="0"/>
          </a:p>
        </p:txBody>
      </p:sp>
      <p:sp>
        <p:nvSpPr>
          <p:cNvPr id="154" name="Shape 152"/>
          <p:cNvSpPr/>
          <p:nvPr/>
        </p:nvSpPr>
        <p:spPr>
          <a:xfrm>
            <a:off x="342900" y="3492401"/>
            <a:ext cx="4154805" cy="407194"/>
          </a:xfrm>
          <a:prstGeom prst="roundRect">
            <a:avLst>
              <a:gd name="adj" fmla="val 11228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60B18">
                  <a:alpha val="40000"/>
                </a:srgbClr>
              </a:gs>
            </a:gsLst>
            <a:lin ang="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42900" y="3492401"/>
            <a:ext cx="17145" cy="39576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56" name="Text 154"/>
          <p:cNvSpPr/>
          <p:nvPr/>
        </p:nvSpPr>
        <p:spPr>
          <a:xfrm>
            <a:off x="462915" y="3598843"/>
            <a:ext cx="614363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pPr algn="l" indent="0" marL="0">
              <a:lnSpc>
                <a:spcPct val="100000"/>
              </a:lnSpc>
              <a:buNone/>
            </a:pPr>
            <a:r>
              <a:rPr lang="en-US" sz="99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530" dirty="0"/>
          </a:p>
        </p:txBody>
      </p:sp>
      <p:sp>
        <p:nvSpPr>
          <p:cNvPr id="157" name="Text 155"/>
          <p:cNvSpPr/>
          <p:nvPr/>
        </p:nvSpPr>
        <p:spPr>
          <a:xfrm>
            <a:off x="985838" y="3578126"/>
            <a:ext cx="1664208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互联网基础设施占比</a:t>
            </a:r>
            <a:endParaRPr lang="en-US" sz="5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全球互联网基础设施中由开源软件支撑的比例</a:t>
            </a:r>
            <a:endParaRPr lang="en-US" sz="563" dirty="0"/>
          </a:p>
        </p:txBody>
      </p:sp>
      <p:sp>
        <p:nvSpPr>
          <p:cNvPr id="158" name="Shape 156"/>
          <p:cNvSpPr/>
          <p:nvPr/>
        </p:nvSpPr>
        <p:spPr>
          <a:xfrm>
            <a:off x="4646295" y="3492401"/>
            <a:ext cx="4154805" cy="407194"/>
          </a:xfrm>
          <a:prstGeom prst="roundRect">
            <a:avLst>
              <a:gd name="adj" fmla="val 11228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60B18">
                  <a:alpha val="40000"/>
                </a:srgbClr>
              </a:gs>
            </a:gsLst>
            <a:lin ang="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646295" y="3492401"/>
            <a:ext cx="17145" cy="39576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60" name="Text 158"/>
          <p:cNvSpPr/>
          <p:nvPr/>
        </p:nvSpPr>
        <p:spPr>
          <a:xfrm>
            <a:off x="4766310" y="3598843"/>
            <a:ext cx="914400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pPr algn="l" indent="0" marL="0">
              <a:lnSpc>
                <a:spcPct val="100000"/>
              </a:lnSpc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亿</a:t>
            </a:r>
            <a:pPr algn="l" indent="0" marL="0">
              <a:lnSpc>
                <a:spcPct val="100000"/>
              </a:lnSpc>
              <a:buNone/>
            </a:pPr>
            <a:r>
              <a:rPr lang="en-US" sz="99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530" dirty="0"/>
          </a:p>
        </p:txBody>
      </p:sp>
      <p:sp>
        <p:nvSpPr>
          <p:cNvPr id="161" name="Text 159"/>
          <p:cNvSpPr/>
          <p:nvPr/>
        </p:nvSpPr>
        <p:spPr>
          <a:xfrm>
            <a:off x="5589270" y="3578126"/>
            <a:ext cx="1331366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全球开源商业市场规模</a:t>
            </a:r>
            <a:endParaRPr lang="en-US" sz="5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以美元计量的开源衍生商业市场总量</a:t>
            </a:r>
            <a:endParaRPr lang="en-US" sz="563" dirty="0"/>
          </a:p>
        </p:txBody>
      </p:sp>
      <p:sp>
        <p:nvSpPr>
          <p:cNvPr id="162" name="Text 160"/>
          <p:cNvSpPr/>
          <p:nvPr/>
        </p:nvSpPr>
        <p:spPr>
          <a:xfrm>
            <a:off x="342900" y="4002465"/>
            <a:ext cx="9473184" cy="125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6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开源早已超越单纯的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软件许可模式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，正在重塑技术产业格局、企业商业模式乃至社会协作方式；理解其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多维价值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，有助于我们更好地拥抱和参与开源时代。</a:t>
            </a:r>
            <a:endParaRPr lang="en-US" sz="56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743200" y="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4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194310"/>
            <a:ext cx="3429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342900" y="240030"/>
            <a:ext cx="1931670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710" b="1" spc="-22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开源生态数据一览</a:t>
            </a:r>
            <a:endParaRPr lang="en-US" sz="1710" dirty="0"/>
          </a:p>
        </p:txBody>
      </p:sp>
      <p:sp>
        <p:nvSpPr>
          <p:cNvPr id="6" name="Shape 4"/>
          <p:cNvSpPr/>
          <p:nvPr/>
        </p:nvSpPr>
        <p:spPr>
          <a:xfrm>
            <a:off x="2171700" y="388620"/>
            <a:ext cx="1154430" cy="148590"/>
          </a:xfrm>
          <a:prstGeom prst="roundRect">
            <a:avLst>
              <a:gd name="adj" fmla="val 76923"/>
            </a:avLst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1700" y="388620"/>
            <a:ext cx="1292962" cy="148590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· INSIGHTS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342900" y="622935"/>
            <a:ext cx="8193024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开源不再是边缘选择，而是全球软件生态的绝对主流——从代码占比到开发者规模、从项目数量到资金投入，每一项指标都在告诉我们应当拥抱开源。</a:t>
            </a:r>
            <a:endParaRPr lang="en-US" sz="585" dirty="0"/>
          </a:p>
        </p:txBody>
      </p:sp>
      <p:sp>
        <p:nvSpPr>
          <p:cNvPr id="9" name="Shape 7"/>
          <p:cNvSpPr/>
          <p:nvPr/>
        </p:nvSpPr>
        <p:spPr>
          <a:xfrm>
            <a:off x="342900" y="874931"/>
            <a:ext cx="2758380" cy="1774240"/>
          </a:xfrm>
          <a:prstGeom prst="roundRect">
            <a:avLst>
              <a:gd name="adj" fmla="val 4510"/>
            </a:avLst>
          </a:prstGeom>
          <a:solidFill>
            <a:srgbClr val="111B30"/>
          </a:solidFill>
          <a:ln w="5715">
            <a:solidFill>
              <a:srgbClr val="1A27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" y="874931"/>
            <a:ext cx="2746949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Shape 9"/>
          <p:cNvSpPr/>
          <p:nvPr/>
        </p:nvSpPr>
        <p:spPr>
          <a:xfrm>
            <a:off x="342900" y="2632025"/>
            <a:ext cx="2746949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2706945" y="937796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KPI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474345" y="994946"/>
            <a:ext cx="27949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商业软件代码占比</a:t>
            </a:r>
            <a:endParaRPr lang="en-US" sz="540" dirty="0"/>
          </a:p>
        </p:txBody>
      </p:sp>
      <p:sp>
        <p:nvSpPr>
          <p:cNvPr id="14" name="Text 12"/>
          <p:cNvSpPr/>
          <p:nvPr/>
        </p:nvSpPr>
        <p:spPr>
          <a:xfrm>
            <a:off x="474345" y="1114961"/>
            <a:ext cx="814959" cy="276017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7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~90</a:t>
            </a:r>
            <a:endParaRPr lang="en-US" sz="2070" dirty="0"/>
          </a:p>
        </p:txBody>
      </p:sp>
      <p:sp>
        <p:nvSpPr>
          <p:cNvPr id="15" name="Text 13"/>
          <p:cNvSpPr/>
          <p:nvPr/>
        </p:nvSpPr>
        <p:spPr>
          <a:xfrm>
            <a:off x="1034415" y="1240691"/>
            <a:ext cx="251460" cy="131981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9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990" dirty="0"/>
          </a:p>
        </p:txBody>
      </p:sp>
      <p:sp>
        <p:nvSpPr>
          <p:cNvPr id="16" name="Shape 14"/>
          <p:cNvSpPr/>
          <p:nvPr/>
        </p:nvSpPr>
        <p:spPr>
          <a:xfrm>
            <a:off x="474345" y="1413837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345" y="1413837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来自开源</a:t>
            </a:r>
            <a:endParaRPr lang="en-US" sz="450" dirty="0"/>
          </a:p>
        </p:txBody>
      </p:sp>
      <p:sp>
        <p:nvSpPr>
          <p:cNvPr id="18" name="Shape 16"/>
          <p:cNvSpPr/>
          <p:nvPr/>
        </p:nvSpPr>
        <p:spPr>
          <a:xfrm>
            <a:off x="474345" y="2275195"/>
            <a:ext cx="341739" cy="47952"/>
          </a:xfrm>
          <a:prstGeom prst="roundRect">
            <a:avLst>
              <a:gd name="adj" fmla="val 23836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833229" y="2251174"/>
            <a:ext cx="341828" cy="71973"/>
          </a:xfrm>
          <a:prstGeom prst="roundRect">
            <a:avLst>
              <a:gd name="adj" fmla="val 15881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1192203" y="2227153"/>
            <a:ext cx="341739" cy="95994"/>
          </a:xfrm>
          <a:prstGeom prst="roundRect">
            <a:avLst>
              <a:gd name="adj" fmla="val 11907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1551087" y="2207955"/>
            <a:ext cx="341828" cy="115193"/>
          </a:xfrm>
          <a:prstGeom prst="roundRect">
            <a:avLst>
              <a:gd name="adj" fmla="val 9922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22" name="Shape 20"/>
          <p:cNvSpPr/>
          <p:nvPr/>
        </p:nvSpPr>
        <p:spPr>
          <a:xfrm>
            <a:off x="1910060" y="2191970"/>
            <a:ext cx="341828" cy="131177"/>
          </a:xfrm>
          <a:prstGeom prst="roundRect">
            <a:avLst>
              <a:gd name="adj" fmla="val 8713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23" name="Shape 21"/>
          <p:cNvSpPr/>
          <p:nvPr/>
        </p:nvSpPr>
        <p:spPr>
          <a:xfrm>
            <a:off x="2269034" y="2179201"/>
            <a:ext cx="341828" cy="143947"/>
          </a:xfrm>
          <a:prstGeom prst="roundRect">
            <a:avLst>
              <a:gd name="adj" fmla="val 7940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2628007" y="2175986"/>
            <a:ext cx="341828" cy="147161"/>
          </a:xfrm>
          <a:prstGeom prst="roundRect">
            <a:avLst>
              <a:gd name="adj" fmla="val 7767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474345" y="2368868"/>
            <a:ext cx="2495490" cy="160288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474345" y="2368868"/>
            <a:ext cx="2495490" cy="0"/>
          </a:xfrm>
          <a:prstGeom prst="line">
            <a:avLst/>
          </a:prstGeom>
          <a:noFill/>
          <a:ln w="5715">
            <a:solidFill>
              <a:srgbClr val="1A274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4345" y="2368868"/>
            <a:ext cx="2794949" cy="160288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7A8AA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开源已是绝对主流范式，商业软件构建于开源基石之上。</a:t>
            </a:r>
            <a:endParaRPr lang="en-US" sz="495" dirty="0"/>
          </a:p>
        </p:txBody>
      </p:sp>
      <p:sp>
        <p:nvSpPr>
          <p:cNvPr id="28" name="Shape 26"/>
          <p:cNvSpPr/>
          <p:nvPr/>
        </p:nvSpPr>
        <p:spPr>
          <a:xfrm>
            <a:off x="3192720" y="874931"/>
            <a:ext cx="2758470" cy="1774240"/>
          </a:xfrm>
          <a:prstGeom prst="roundRect">
            <a:avLst>
              <a:gd name="adj" fmla="val 4510"/>
            </a:avLst>
          </a:prstGeom>
          <a:solidFill>
            <a:srgbClr val="111B30"/>
          </a:solidFill>
          <a:ln w="5715">
            <a:solidFill>
              <a:srgbClr val="1A27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92720" y="874931"/>
            <a:ext cx="274704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0" name="Shape 28"/>
          <p:cNvSpPr/>
          <p:nvPr/>
        </p:nvSpPr>
        <p:spPr>
          <a:xfrm>
            <a:off x="3192720" y="2632025"/>
            <a:ext cx="274704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Text 29"/>
          <p:cNvSpPr/>
          <p:nvPr/>
        </p:nvSpPr>
        <p:spPr>
          <a:xfrm>
            <a:off x="5556855" y="937796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KPI</a:t>
            </a:r>
            <a:endParaRPr lang="en-US" sz="450" dirty="0"/>
          </a:p>
        </p:txBody>
      </p:sp>
      <p:sp>
        <p:nvSpPr>
          <p:cNvPr id="32" name="Text 30"/>
          <p:cNvSpPr/>
          <p:nvPr/>
        </p:nvSpPr>
        <p:spPr>
          <a:xfrm>
            <a:off x="3324165" y="994946"/>
            <a:ext cx="27950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企业采用率</a:t>
            </a:r>
            <a:endParaRPr lang="en-US" sz="540" dirty="0"/>
          </a:p>
        </p:txBody>
      </p:sp>
      <p:sp>
        <p:nvSpPr>
          <p:cNvPr id="33" name="Text 31"/>
          <p:cNvSpPr/>
          <p:nvPr/>
        </p:nvSpPr>
        <p:spPr>
          <a:xfrm>
            <a:off x="3324165" y="1114961"/>
            <a:ext cx="814959" cy="276017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7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&gt;81</a:t>
            </a:r>
            <a:endParaRPr lang="en-US" sz="2070" dirty="0"/>
          </a:p>
        </p:txBody>
      </p:sp>
      <p:sp>
        <p:nvSpPr>
          <p:cNvPr id="34" name="Text 32"/>
          <p:cNvSpPr/>
          <p:nvPr/>
        </p:nvSpPr>
        <p:spPr>
          <a:xfrm>
            <a:off x="3821370" y="1240691"/>
            <a:ext cx="251460" cy="131981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9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990" dirty="0"/>
          </a:p>
        </p:txBody>
      </p:sp>
      <p:sp>
        <p:nvSpPr>
          <p:cNvPr id="35" name="Shape 33"/>
          <p:cNvSpPr/>
          <p:nvPr/>
        </p:nvSpPr>
        <p:spPr>
          <a:xfrm>
            <a:off x="3324165" y="1413837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4165" y="1413837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全球统计</a:t>
            </a:r>
            <a:endParaRPr lang="en-US" sz="450" dirty="0"/>
          </a:p>
        </p:txBody>
      </p:sp>
      <p:sp>
        <p:nvSpPr>
          <p:cNvPr id="37" name="Shape 35"/>
          <p:cNvSpPr/>
          <p:nvPr/>
        </p:nvSpPr>
        <p:spPr>
          <a:xfrm>
            <a:off x="3324165" y="2243138"/>
            <a:ext cx="341739" cy="8001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38" name="Shape 36"/>
          <p:cNvSpPr/>
          <p:nvPr/>
        </p:nvSpPr>
        <p:spPr>
          <a:xfrm>
            <a:off x="3683050" y="2230368"/>
            <a:ext cx="341828" cy="92779"/>
          </a:xfrm>
          <a:prstGeom prst="roundRect">
            <a:avLst>
              <a:gd name="adj" fmla="val 12320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39" name="Shape 37"/>
          <p:cNvSpPr/>
          <p:nvPr/>
        </p:nvSpPr>
        <p:spPr>
          <a:xfrm>
            <a:off x="4042023" y="2219206"/>
            <a:ext cx="341828" cy="103942"/>
          </a:xfrm>
          <a:prstGeom prst="roundRect">
            <a:avLst>
              <a:gd name="adj" fmla="val 10997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40" name="Shape 38"/>
          <p:cNvSpPr/>
          <p:nvPr/>
        </p:nvSpPr>
        <p:spPr>
          <a:xfrm>
            <a:off x="4400996" y="2207955"/>
            <a:ext cx="341828" cy="115193"/>
          </a:xfrm>
          <a:prstGeom prst="roundRect">
            <a:avLst>
              <a:gd name="adj" fmla="val 9922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41" name="Shape 39"/>
          <p:cNvSpPr/>
          <p:nvPr/>
        </p:nvSpPr>
        <p:spPr>
          <a:xfrm>
            <a:off x="4759970" y="2198400"/>
            <a:ext cx="341828" cy="124748"/>
          </a:xfrm>
          <a:prstGeom prst="roundRect">
            <a:avLst>
              <a:gd name="adj" fmla="val 9162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42" name="Shape 40"/>
          <p:cNvSpPr/>
          <p:nvPr/>
        </p:nvSpPr>
        <p:spPr>
          <a:xfrm>
            <a:off x="5118943" y="2188756"/>
            <a:ext cx="341828" cy="134392"/>
          </a:xfrm>
          <a:prstGeom prst="roundRect">
            <a:avLst>
              <a:gd name="adj" fmla="val 8505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43" name="Shape 41"/>
          <p:cNvSpPr/>
          <p:nvPr/>
        </p:nvSpPr>
        <p:spPr>
          <a:xfrm>
            <a:off x="5477917" y="2182416"/>
            <a:ext cx="341828" cy="140732"/>
          </a:xfrm>
          <a:prstGeom prst="roundRect">
            <a:avLst>
              <a:gd name="adj" fmla="val 8122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44" name="Shape 42"/>
          <p:cNvSpPr/>
          <p:nvPr/>
        </p:nvSpPr>
        <p:spPr>
          <a:xfrm>
            <a:off x="3324165" y="2368868"/>
            <a:ext cx="2495580" cy="160288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3324165" y="2368868"/>
            <a:ext cx="2495580" cy="0"/>
          </a:xfrm>
          <a:prstGeom prst="line">
            <a:avLst/>
          </a:prstGeom>
          <a:noFill/>
          <a:ln w="5715">
            <a:solidFill>
              <a:srgbClr val="1A2742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3324165" y="2368868"/>
            <a:ext cx="2795049" cy="160288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7A8AA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超81%企业采用率表明覆盖率仍在持续扩大，渗透趋势不可逆。</a:t>
            </a:r>
            <a:endParaRPr lang="en-US" sz="495" dirty="0"/>
          </a:p>
        </p:txBody>
      </p:sp>
      <p:sp>
        <p:nvSpPr>
          <p:cNvPr id="47" name="Shape 45"/>
          <p:cNvSpPr/>
          <p:nvPr/>
        </p:nvSpPr>
        <p:spPr>
          <a:xfrm>
            <a:off x="6042630" y="874931"/>
            <a:ext cx="2758380" cy="1774240"/>
          </a:xfrm>
          <a:prstGeom prst="roundRect">
            <a:avLst>
              <a:gd name="adj" fmla="val 4510"/>
            </a:avLst>
          </a:prstGeom>
          <a:solidFill>
            <a:srgbClr val="111B30"/>
          </a:solidFill>
          <a:ln w="5715">
            <a:solidFill>
              <a:srgbClr val="1A274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2630" y="874931"/>
            <a:ext cx="2746949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6042630" y="2632025"/>
            <a:ext cx="2746949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0" name="Text 48"/>
          <p:cNvSpPr/>
          <p:nvPr/>
        </p:nvSpPr>
        <p:spPr>
          <a:xfrm>
            <a:off x="8406676" y="937796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KPI</a:t>
            </a:r>
            <a:endParaRPr lang="en-US" sz="450" dirty="0"/>
          </a:p>
        </p:txBody>
      </p:sp>
      <p:sp>
        <p:nvSpPr>
          <p:cNvPr id="51" name="Text 49"/>
          <p:cNvSpPr/>
          <p:nvPr/>
        </p:nvSpPr>
        <p:spPr>
          <a:xfrm>
            <a:off x="6174075" y="994946"/>
            <a:ext cx="27949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全球活跃开发者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6174075" y="1114961"/>
            <a:ext cx="998982" cy="276017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7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5000</a:t>
            </a:r>
            <a:endParaRPr lang="en-US" sz="2070" dirty="0"/>
          </a:p>
        </p:txBody>
      </p:sp>
      <p:sp>
        <p:nvSpPr>
          <p:cNvPr id="53" name="Text 51"/>
          <p:cNvSpPr/>
          <p:nvPr/>
        </p:nvSpPr>
        <p:spPr>
          <a:xfrm>
            <a:off x="6911310" y="1240691"/>
            <a:ext cx="337185" cy="131981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9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万+</a:t>
            </a:r>
            <a:endParaRPr lang="en-US" sz="990" dirty="0"/>
          </a:p>
        </p:txBody>
      </p:sp>
      <p:sp>
        <p:nvSpPr>
          <p:cNvPr id="54" name="Shape 52"/>
          <p:cNvSpPr/>
          <p:nvPr/>
        </p:nvSpPr>
        <p:spPr>
          <a:xfrm>
            <a:off x="6174075" y="1413837"/>
            <a:ext cx="402908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4075" y="1413837"/>
            <a:ext cx="460058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人才池膨胀</a:t>
            </a:r>
            <a:endParaRPr lang="en-US" sz="450" dirty="0"/>
          </a:p>
        </p:txBody>
      </p:sp>
      <p:sp>
        <p:nvSpPr>
          <p:cNvPr id="56" name="Shape 54"/>
          <p:cNvSpPr/>
          <p:nvPr/>
        </p:nvSpPr>
        <p:spPr>
          <a:xfrm>
            <a:off x="6174075" y="2283143"/>
            <a:ext cx="341739" cy="40005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57" name="Shape 55"/>
          <p:cNvSpPr/>
          <p:nvPr/>
        </p:nvSpPr>
        <p:spPr>
          <a:xfrm>
            <a:off x="6532959" y="2262426"/>
            <a:ext cx="341828" cy="60722"/>
          </a:xfrm>
          <a:prstGeom prst="roundRect">
            <a:avLst>
              <a:gd name="adj" fmla="val 18823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58" name="Shape 56"/>
          <p:cNvSpPr/>
          <p:nvPr/>
        </p:nvSpPr>
        <p:spPr>
          <a:xfrm>
            <a:off x="6891933" y="2240012"/>
            <a:ext cx="341739" cy="83135"/>
          </a:xfrm>
          <a:prstGeom prst="roundRect">
            <a:avLst>
              <a:gd name="adj" fmla="val 13749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59" name="Shape 57"/>
          <p:cNvSpPr/>
          <p:nvPr/>
        </p:nvSpPr>
        <p:spPr>
          <a:xfrm>
            <a:off x="7250817" y="2220813"/>
            <a:ext cx="341828" cy="102334"/>
          </a:xfrm>
          <a:prstGeom prst="roundRect">
            <a:avLst>
              <a:gd name="adj" fmla="val 11169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60" name="Shape 58"/>
          <p:cNvSpPr/>
          <p:nvPr/>
        </p:nvSpPr>
        <p:spPr>
          <a:xfrm>
            <a:off x="7609790" y="2201614"/>
            <a:ext cx="341828" cy="121533"/>
          </a:xfrm>
          <a:prstGeom prst="roundRect">
            <a:avLst>
              <a:gd name="adj" fmla="val 9405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61" name="Shape 59"/>
          <p:cNvSpPr/>
          <p:nvPr/>
        </p:nvSpPr>
        <p:spPr>
          <a:xfrm>
            <a:off x="7968764" y="2185541"/>
            <a:ext cx="341828" cy="137606"/>
          </a:xfrm>
          <a:prstGeom prst="roundRect">
            <a:avLst>
              <a:gd name="adj" fmla="val 8306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62" name="Shape 60"/>
          <p:cNvSpPr/>
          <p:nvPr/>
        </p:nvSpPr>
        <p:spPr>
          <a:xfrm>
            <a:off x="8327737" y="2171164"/>
            <a:ext cx="341828" cy="151983"/>
          </a:xfrm>
          <a:prstGeom prst="roundRect">
            <a:avLst>
              <a:gd name="adj" fmla="val 7521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63" name="Shape 61"/>
          <p:cNvSpPr/>
          <p:nvPr/>
        </p:nvSpPr>
        <p:spPr>
          <a:xfrm>
            <a:off x="6174075" y="2368868"/>
            <a:ext cx="2495490" cy="160288"/>
          </a:xfrm>
          <a:prstGeom prst="rect">
            <a:avLst/>
          </a:prstGeom>
          <a:noFill/>
          <a:ln/>
        </p:spPr>
      </p:sp>
      <p:sp>
        <p:nvSpPr>
          <p:cNvPr id="64" name="Shape 62"/>
          <p:cNvSpPr/>
          <p:nvPr/>
        </p:nvSpPr>
        <p:spPr>
          <a:xfrm>
            <a:off x="6174075" y="2368868"/>
            <a:ext cx="2495490" cy="0"/>
          </a:xfrm>
          <a:prstGeom prst="line">
            <a:avLst/>
          </a:prstGeom>
          <a:noFill/>
          <a:ln w="5715">
            <a:solidFill>
              <a:srgbClr val="1A2742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6174075" y="2368868"/>
            <a:ext cx="2794949" cy="160288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7A8AA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5000万+开发者规模且中国增速超30%，全球人才池正在快速膨胀。</a:t>
            </a:r>
            <a:endParaRPr lang="en-US" sz="495" dirty="0"/>
          </a:p>
        </p:txBody>
      </p:sp>
      <p:sp>
        <p:nvSpPr>
          <p:cNvPr id="66" name="Shape 64"/>
          <p:cNvSpPr/>
          <p:nvPr/>
        </p:nvSpPr>
        <p:spPr>
          <a:xfrm>
            <a:off x="342900" y="2740610"/>
            <a:ext cx="2758380" cy="1774240"/>
          </a:xfrm>
          <a:prstGeom prst="roundRect">
            <a:avLst>
              <a:gd name="adj" fmla="val 4510"/>
            </a:avLst>
          </a:prstGeom>
          <a:solidFill>
            <a:srgbClr val="111B30"/>
          </a:solidFill>
          <a:ln w="5715">
            <a:solidFill>
              <a:srgbClr val="1A274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2900" y="2740610"/>
            <a:ext cx="2746949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8" name="Shape 66"/>
          <p:cNvSpPr/>
          <p:nvPr/>
        </p:nvSpPr>
        <p:spPr>
          <a:xfrm>
            <a:off x="342900" y="4497704"/>
            <a:ext cx="2746949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9" name="Text 67"/>
          <p:cNvSpPr/>
          <p:nvPr/>
        </p:nvSpPr>
        <p:spPr>
          <a:xfrm>
            <a:off x="2706945" y="2803475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KPI</a:t>
            </a:r>
            <a:endParaRPr lang="en-US" sz="450" dirty="0"/>
          </a:p>
        </p:txBody>
      </p:sp>
      <p:sp>
        <p:nvSpPr>
          <p:cNvPr id="70" name="Text 68"/>
          <p:cNvSpPr/>
          <p:nvPr/>
        </p:nvSpPr>
        <p:spPr>
          <a:xfrm>
            <a:off x="474345" y="2860625"/>
            <a:ext cx="27949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 托管开源仓库</a:t>
            </a:r>
            <a:endParaRPr lang="en-US" sz="540" dirty="0"/>
          </a:p>
        </p:txBody>
      </p:sp>
      <p:sp>
        <p:nvSpPr>
          <p:cNvPr id="71" name="Text 69"/>
          <p:cNvSpPr/>
          <p:nvPr/>
        </p:nvSpPr>
        <p:spPr>
          <a:xfrm>
            <a:off x="474345" y="2980640"/>
            <a:ext cx="446913" cy="276017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7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70" dirty="0"/>
          </a:p>
        </p:txBody>
      </p:sp>
      <p:sp>
        <p:nvSpPr>
          <p:cNvPr id="72" name="Text 70"/>
          <p:cNvSpPr/>
          <p:nvPr/>
        </p:nvSpPr>
        <p:spPr>
          <a:xfrm>
            <a:off x="662940" y="3106370"/>
            <a:ext cx="337185" cy="131981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9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亿+</a:t>
            </a:r>
            <a:endParaRPr lang="en-US" sz="990" dirty="0"/>
          </a:p>
        </p:txBody>
      </p:sp>
      <p:sp>
        <p:nvSpPr>
          <p:cNvPr id="73" name="Shape 71"/>
          <p:cNvSpPr/>
          <p:nvPr/>
        </p:nvSpPr>
        <p:spPr>
          <a:xfrm>
            <a:off x="474345" y="3279517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4345" y="3279517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全栈生态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474345" y="4156859"/>
            <a:ext cx="341739" cy="31968"/>
          </a:xfrm>
          <a:prstGeom prst="roundRect">
            <a:avLst>
              <a:gd name="adj" fmla="val 35755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76" name="Shape 74"/>
          <p:cNvSpPr/>
          <p:nvPr/>
        </p:nvSpPr>
        <p:spPr>
          <a:xfrm>
            <a:off x="833229" y="4140875"/>
            <a:ext cx="341828" cy="47952"/>
          </a:xfrm>
          <a:prstGeom prst="roundRect">
            <a:avLst>
              <a:gd name="adj" fmla="val 23836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77" name="Shape 75"/>
          <p:cNvSpPr/>
          <p:nvPr/>
        </p:nvSpPr>
        <p:spPr>
          <a:xfrm>
            <a:off x="1192203" y="4121676"/>
            <a:ext cx="341739" cy="67151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78" name="Shape 76"/>
          <p:cNvSpPr/>
          <p:nvPr/>
        </p:nvSpPr>
        <p:spPr>
          <a:xfrm>
            <a:off x="1551087" y="4100870"/>
            <a:ext cx="341828" cy="87957"/>
          </a:xfrm>
          <a:prstGeom prst="roundRect">
            <a:avLst>
              <a:gd name="adj" fmla="val 12995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79" name="Shape 77"/>
          <p:cNvSpPr/>
          <p:nvPr/>
        </p:nvSpPr>
        <p:spPr>
          <a:xfrm>
            <a:off x="1910060" y="4076849"/>
            <a:ext cx="341828" cy="111978"/>
          </a:xfrm>
          <a:prstGeom prst="roundRect">
            <a:avLst>
              <a:gd name="adj" fmla="val 10207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80" name="Shape 78"/>
          <p:cNvSpPr/>
          <p:nvPr/>
        </p:nvSpPr>
        <p:spPr>
          <a:xfrm>
            <a:off x="2269034" y="4057650"/>
            <a:ext cx="341828" cy="131177"/>
          </a:xfrm>
          <a:prstGeom prst="roundRect">
            <a:avLst>
              <a:gd name="adj" fmla="val 8713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81" name="Shape 79"/>
          <p:cNvSpPr/>
          <p:nvPr/>
        </p:nvSpPr>
        <p:spPr>
          <a:xfrm>
            <a:off x="2628007" y="4038451"/>
            <a:ext cx="341828" cy="150376"/>
          </a:xfrm>
          <a:prstGeom prst="roundRect">
            <a:avLst>
              <a:gd name="adj" fmla="val 7601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82" name="Shape 80"/>
          <p:cNvSpPr/>
          <p:nvPr/>
        </p:nvSpPr>
        <p:spPr>
          <a:xfrm>
            <a:off x="474345" y="4234547"/>
            <a:ext cx="2495490" cy="160288"/>
          </a:xfrm>
          <a:prstGeom prst="rect">
            <a:avLst/>
          </a:prstGeom>
          <a:noFill/>
          <a:ln/>
        </p:spPr>
      </p:sp>
      <p:sp>
        <p:nvSpPr>
          <p:cNvPr id="83" name="Shape 81"/>
          <p:cNvSpPr/>
          <p:nvPr/>
        </p:nvSpPr>
        <p:spPr>
          <a:xfrm>
            <a:off x="474345" y="4234547"/>
            <a:ext cx="2495490" cy="0"/>
          </a:xfrm>
          <a:prstGeom prst="line">
            <a:avLst/>
          </a:prstGeom>
          <a:noFill/>
          <a:ln w="5715">
            <a:solidFill>
              <a:srgbClr val="1A2742"/>
            </a:solidFill>
            <a:prstDash val="dash"/>
          </a:ln>
        </p:spPr>
      </p:sp>
      <p:sp>
        <p:nvSpPr>
          <p:cNvPr id="84" name="Text 82"/>
          <p:cNvSpPr/>
          <p:nvPr/>
        </p:nvSpPr>
        <p:spPr>
          <a:xfrm>
            <a:off x="474345" y="4234547"/>
            <a:ext cx="2794949" cy="160288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7A8AA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2亿+仓库涵盖从工具库到AI模型的全栈生态，内容体量指数级增长。</a:t>
            </a:r>
            <a:endParaRPr lang="en-US" sz="495" dirty="0"/>
          </a:p>
        </p:txBody>
      </p:sp>
      <p:sp>
        <p:nvSpPr>
          <p:cNvPr id="85" name="Shape 83"/>
          <p:cNvSpPr/>
          <p:nvPr/>
        </p:nvSpPr>
        <p:spPr>
          <a:xfrm>
            <a:off x="3192720" y="2740610"/>
            <a:ext cx="2758470" cy="1774240"/>
          </a:xfrm>
          <a:prstGeom prst="roundRect">
            <a:avLst>
              <a:gd name="adj" fmla="val 4510"/>
            </a:avLst>
          </a:prstGeom>
          <a:solidFill>
            <a:srgbClr val="111B30"/>
          </a:solidFill>
          <a:ln w="5715">
            <a:solidFill>
              <a:srgbClr val="1A274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92720" y="2740610"/>
            <a:ext cx="274704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7" name="Shape 85"/>
          <p:cNvSpPr/>
          <p:nvPr/>
        </p:nvSpPr>
        <p:spPr>
          <a:xfrm>
            <a:off x="3192720" y="4497704"/>
            <a:ext cx="274704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8" name="Text 86"/>
          <p:cNvSpPr/>
          <p:nvPr/>
        </p:nvSpPr>
        <p:spPr>
          <a:xfrm>
            <a:off x="5556855" y="2803475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 / KPI</a:t>
            </a:r>
            <a:endParaRPr lang="en-US" sz="450" dirty="0"/>
          </a:p>
        </p:txBody>
      </p:sp>
      <p:sp>
        <p:nvSpPr>
          <p:cNvPr id="89" name="Text 87"/>
          <p:cNvSpPr/>
          <p:nvPr/>
        </p:nvSpPr>
        <p:spPr>
          <a:xfrm>
            <a:off x="3324165" y="2860625"/>
            <a:ext cx="27950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开源商业市场规模</a:t>
            </a:r>
            <a:endParaRPr lang="en-US" sz="540" dirty="0"/>
          </a:p>
        </p:txBody>
      </p:sp>
      <p:sp>
        <p:nvSpPr>
          <p:cNvPr id="90" name="Text 88"/>
          <p:cNvSpPr/>
          <p:nvPr/>
        </p:nvSpPr>
        <p:spPr>
          <a:xfrm>
            <a:off x="3324165" y="2980640"/>
            <a:ext cx="998982" cy="276017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7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endParaRPr lang="en-US" sz="2070" dirty="0"/>
          </a:p>
        </p:txBody>
      </p:sp>
      <p:sp>
        <p:nvSpPr>
          <p:cNvPr id="91" name="Text 89"/>
          <p:cNvSpPr/>
          <p:nvPr/>
        </p:nvSpPr>
        <p:spPr>
          <a:xfrm>
            <a:off x="4009965" y="3106370"/>
            <a:ext cx="417195" cy="131981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9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亿$+</a:t>
            </a:r>
            <a:endParaRPr lang="en-US" sz="990" dirty="0"/>
          </a:p>
        </p:txBody>
      </p:sp>
      <p:sp>
        <p:nvSpPr>
          <p:cNvPr id="92" name="Shape 90"/>
          <p:cNvSpPr/>
          <p:nvPr/>
        </p:nvSpPr>
        <p:spPr>
          <a:xfrm>
            <a:off x="3324165" y="3279517"/>
            <a:ext cx="462915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324165" y="3279517"/>
            <a:ext cx="520065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资金快速攀升</a:t>
            </a:r>
            <a:endParaRPr lang="en-US" sz="450" dirty="0"/>
          </a:p>
        </p:txBody>
      </p:sp>
      <p:sp>
        <p:nvSpPr>
          <p:cNvPr id="94" name="Shape 92"/>
          <p:cNvSpPr/>
          <p:nvPr/>
        </p:nvSpPr>
        <p:spPr>
          <a:xfrm>
            <a:off x="3324165" y="4153644"/>
            <a:ext cx="341739" cy="35183"/>
          </a:xfrm>
          <a:prstGeom prst="roundRect">
            <a:avLst>
              <a:gd name="adj" fmla="val 32487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95" name="Shape 93"/>
          <p:cNvSpPr/>
          <p:nvPr/>
        </p:nvSpPr>
        <p:spPr>
          <a:xfrm>
            <a:off x="3683050" y="4132838"/>
            <a:ext cx="341828" cy="55989"/>
          </a:xfrm>
          <a:prstGeom prst="roundRect">
            <a:avLst>
              <a:gd name="adj" fmla="val 20415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96" name="Shape 94"/>
          <p:cNvSpPr/>
          <p:nvPr/>
        </p:nvSpPr>
        <p:spPr>
          <a:xfrm>
            <a:off x="4042023" y="4112032"/>
            <a:ext cx="341828" cy="76795"/>
          </a:xfrm>
          <a:prstGeom prst="roundRect">
            <a:avLst>
              <a:gd name="adj" fmla="val 14884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97" name="Shape 95"/>
          <p:cNvSpPr/>
          <p:nvPr/>
        </p:nvSpPr>
        <p:spPr>
          <a:xfrm>
            <a:off x="4400996" y="4092833"/>
            <a:ext cx="341828" cy="95994"/>
          </a:xfrm>
          <a:prstGeom prst="roundRect">
            <a:avLst>
              <a:gd name="adj" fmla="val 11907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98" name="Shape 96"/>
          <p:cNvSpPr/>
          <p:nvPr/>
        </p:nvSpPr>
        <p:spPr>
          <a:xfrm>
            <a:off x="4759970" y="4070419"/>
            <a:ext cx="341828" cy="118408"/>
          </a:xfrm>
          <a:prstGeom prst="roundRect">
            <a:avLst>
              <a:gd name="adj" fmla="val 9653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99" name="Shape 97"/>
          <p:cNvSpPr/>
          <p:nvPr/>
        </p:nvSpPr>
        <p:spPr>
          <a:xfrm>
            <a:off x="5118943" y="4052828"/>
            <a:ext cx="341828" cy="135999"/>
          </a:xfrm>
          <a:prstGeom prst="roundRect">
            <a:avLst>
              <a:gd name="adj" fmla="val 8404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00" name="Shape 98"/>
          <p:cNvSpPr/>
          <p:nvPr/>
        </p:nvSpPr>
        <p:spPr>
          <a:xfrm>
            <a:off x="5477917" y="4041666"/>
            <a:ext cx="341828" cy="147161"/>
          </a:xfrm>
          <a:prstGeom prst="roundRect">
            <a:avLst>
              <a:gd name="adj" fmla="val 7767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01" name="Shape 99"/>
          <p:cNvSpPr/>
          <p:nvPr/>
        </p:nvSpPr>
        <p:spPr>
          <a:xfrm>
            <a:off x="3324165" y="4234547"/>
            <a:ext cx="2495580" cy="160288"/>
          </a:xfrm>
          <a:prstGeom prst="rect">
            <a:avLst/>
          </a:prstGeom>
          <a:noFill/>
          <a:ln/>
        </p:spPr>
      </p:sp>
      <p:sp>
        <p:nvSpPr>
          <p:cNvPr id="102" name="Shape 100"/>
          <p:cNvSpPr/>
          <p:nvPr/>
        </p:nvSpPr>
        <p:spPr>
          <a:xfrm>
            <a:off x="3324165" y="4234547"/>
            <a:ext cx="2495580" cy="0"/>
          </a:xfrm>
          <a:prstGeom prst="line">
            <a:avLst/>
          </a:prstGeom>
          <a:noFill/>
          <a:ln w="5715">
            <a:solidFill>
              <a:srgbClr val="1A2742"/>
            </a:solidFill>
            <a:prstDash val="dash"/>
          </a:ln>
        </p:spPr>
      </p:sp>
      <p:sp>
        <p:nvSpPr>
          <p:cNvPr id="103" name="Text 101"/>
          <p:cNvSpPr/>
          <p:nvPr/>
        </p:nvSpPr>
        <p:spPr>
          <a:xfrm>
            <a:off x="3324165" y="4234547"/>
            <a:ext cx="2795049" cy="160288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7A8AA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突破1000亿美元市场，资本与商业化双轮驱动，资金快速攀升。</a:t>
            </a:r>
            <a:endParaRPr lang="en-US" sz="495" dirty="0"/>
          </a:p>
        </p:txBody>
      </p:sp>
      <p:sp>
        <p:nvSpPr>
          <p:cNvPr id="104" name="Shape 102"/>
          <p:cNvSpPr/>
          <p:nvPr/>
        </p:nvSpPr>
        <p:spPr>
          <a:xfrm>
            <a:off x="6042630" y="2740610"/>
            <a:ext cx="2758380" cy="1774240"/>
          </a:xfrm>
          <a:prstGeom prst="roundRect">
            <a:avLst>
              <a:gd name="adj" fmla="val 4510"/>
            </a:avLst>
          </a:prstGeom>
          <a:solidFill>
            <a:srgbClr val="111B30"/>
          </a:solidFill>
          <a:ln w="5715">
            <a:solidFill>
              <a:srgbClr val="1A274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042630" y="2740610"/>
            <a:ext cx="2746949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6" name="Shape 104"/>
          <p:cNvSpPr/>
          <p:nvPr/>
        </p:nvSpPr>
        <p:spPr>
          <a:xfrm>
            <a:off x="6042630" y="4497704"/>
            <a:ext cx="2746949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7" name="Text 105"/>
          <p:cNvSpPr/>
          <p:nvPr/>
        </p:nvSpPr>
        <p:spPr>
          <a:xfrm>
            <a:off x="8406676" y="2803475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 / KPI</a:t>
            </a:r>
            <a:endParaRPr lang="en-US" sz="450" dirty="0"/>
          </a:p>
        </p:txBody>
      </p:sp>
      <p:sp>
        <p:nvSpPr>
          <p:cNvPr id="108" name="Text 106"/>
          <p:cNvSpPr/>
          <p:nvPr/>
        </p:nvSpPr>
        <p:spPr>
          <a:xfrm>
            <a:off x="6174075" y="2860625"/>
            <a:ext cx="27949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中国开源贡献者年增长率</a:t>
            </a:r>
            <a:endParaRPr lang="en-US" sz="540" dirty="0"/>
          </a:p>
        </p:txBody>
      </p:sp>
      <p:sp>
        <p:nvSpPr>
          <p:cNvPr id="109" name="Text 107"/>
          <p:cNvSpPr/>
          <p:nvPr/>
        </p:nvSpPr>
        <p:spPr>
          <a:xfrm>
            <a:off x="6174075" y="3054935"/>
            <a:ext cx="310896" cy="191988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1440" dirty="0"/>
          </a:p>
        </p:txBody>
      </p:sp>
      <p:sp>
        <p:nvSpPr>
          <p:cNvPr id="110" name="Text 108"/>
          <p:cNvSpPr/>
          <p:nvPr/>
        </p:nvSpPr>
        <p:spPr>
          <a:xfrm>
            <a:off x="6322665" y="2980640"/>
            <a:ext cx="630936" cy="276017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7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2070" dirty="0"/>
          </a:p>
        </p:txBody>
      </p:sp>
      <p:sp>
        <p:nvSpPr>
          <p:cNvPr id="111" name="Text 109"/>
          <p:cNvSpPr/>
          <p:nvPr/>
        </p:nvSpPr>
        <p:spPr>
          <a:xfrm>
            <a:off x="6699855" y="3106370"/>
            <a:ext cx="251460" cy="131981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9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990" dirty="0"/>
          </a:p>
        </p:txBody>
      </p:sp>
      <p:sp>
        <p:nvSpPr>
          <p:cNvPr id="112" name="Shape 110"/>
          <p:cNvSpPr/>
          <p:nvPr/>
        </p:nvSpPr>
        <p:spPr>
          <a:xfrm>
            <a:off x="6174075" y="3279517"/>
            <a:ext cx="402908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174075" y="3279517"/>
            <a:ext cx="460058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创新驱动力</a:t>
            </a:r>
            <a:endParaRPr lang="en-US" sz="450" dirty="0"/>
          </a:p>
        </p:txBody>
      </p:sp>
      <p:sp>
        <p:nvSpPr>
          <p:cNvPr id="114" name="Shape 112"/>
          <p:cNvSpPr/>
          <p:nvPr/>
        </p:nvSpPr>
        <p:spPr>
          <a:xfrm>
            <a:off x="6174075" y="4140875"/>
            <a:ext cx="341739" cy="47952"/>
          </a:xfrm>
          <a:prstGeom prst="roundRect">
            <a:avLst>
              <a:gd name="adj" fmla="val 23836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115" name="Shape 113"/>
          <p:cNvSpPr/>
          <p:nvPr/>
        </p:nvSpPr>
        <p:spPr>
          <a:xfrm>
            <a:off x="6532959" y="4121676"/>
            <a:ext cx="341828" cy="67151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116" name="Shape 114"/>
          <p:cNvSpPr/>
          <p:nvPr/>
        </p:nvSpPr>
        <p:spPr>
          <a:xfrm>
            <a:off x="6891933" y="4100870"/>
            <a:ext cx="341739" cy="87957"/>
          </a:xfrm>
          <a:prstGeom prst="roundRect">
            <a:avLst>
              <a:gd name="adj" fmla="val 12995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117" name="Shape 115"/>
          <p:cNvSpPr/>
          <p:nvPr/>
        </p:nvSpPr>
        <p:spPr>
          <a:xfrm>
            <a:off x="7250817" y="4080064"/>
            <a:ext cx="341828" cy="108764"/>
          </a:xfrm>
          <a:prstGeom prst="roundRect">
            <a:avLst>
              <a:gd name="adj" fmla="val 10509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2196F3"/>
              </a:gs>
            </a:gsLst>
            <a:lin ang="16200000" scaled="0"/>
          </a:gradFill>
          <a:ln/>
        </p:spPr>
      </p:sp>
      <p:sp>
        <p:nvSpPr>
          <p:cNvPr id="118" name="Shape 116"/>
          <p:cNvSpPr/>
          <p:nvPr/>
        </p:nvSpPr>
        <p:spPr>
          <a:xfrm>
            <a:off x="7609790" y="4060865"/>
            <a:ext cx="341828" cy="127962"/>
          </a:xfrm>
          <a:prstGeom prst="roundRect">
            <a:avLst>
              <a:gd name="adj" fmla="val 8932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19" name="Shape 117"/>
          <p:cNvSpPr/>
          <p:nvPr/>
        </p:nvSpPr>
        <p:spPr>
          <a:xfrm>
            <a:off x="7968764" y="4044881"/>
            <a:ext cx="341828" cy="143947"/>
          </a:xfrm>
          <a:prstGeom prst="roundRect">
            <a:avLst>
              <a:gd name="adj" fmla="val 7940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20" name="Shape 118"/>
          <p:cNvSpPr/>
          <p:nvPr/>
        </p:nvSpPr>
        <p:spPr>
          <a:xfrm>
            <a:off x="8327737" y="4032022"/>
            <a:ext cx="341828" cy="156805"/>
          </a:xfrm>
          <a:prstGeom prst="roundRect">
            <a:avLst>
              <a:gd name="adj" fmla="val 7289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21" name="Shape 119"/>
          <p:cNvSpPr/>
          <p:nvPr/>
        </p:nvSpPr>
        <p:spPr>
          <a:xfrm>
            <a:off x="6174075" y="4234547"/>
            <a:ext cx="2495490" cy="160288"/>
          </a:xfrm>
          <a:prstGeom prst="rect">
            <a:avLst/>
          </a:prstGeom>
          <a:noFill/>
          <a:ln/>
        </p:spPr>
      </p:sp>
      <p:sp>
        <p:nvSpPr>
          <p:cNvPr id="122" name="Shape 120"/>
          <p:cNvSpPr/>
          <p:nvPr/>
        </p:nvSpPr>
        <p:spPr>
          <a:xfrm>
            <a:off x="6174075" y="4234547"/>
            <a:ext cx="2495490" cy="0"/>
          </a:xfrm>
          <a:prstGeom prst="line">
            <a:avLst/>
          </a:prstGeom>
          <a:noFill/>
          <a:ln w="5715">
            <a:solidFill>
              <a:srgbClr val="1A2742"/>
            </a:solidFill>
            <a:prstDash val="dash"/>
          </a:ln>
        </p:spPr>
      </p:sp>
      <p:sp>
        <p:nvSpPr>
          <p:cNvPr id="123" name="Text 121"/>
          <p:cNvSpPr/>
          <p:nvPr/>
        </p:nvSpPr>
        <p:spPr>
          <a:xfrm>
            <a:off x="6174075" y="4234547"/>
            <a:ext cx="2794949" cy="160288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7A8AA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大模型时代开源模型成为创新驱动力，社区协作显著加速技术迭代。</a:t>
            </a:r>
            <a:endParaRPr lang="en-US" sz="495" dirty="0"/>
          </a:p>
        </p:txBody>
      </p:sp>
      <p:sp>
        <p:nvSpPr>
          <p:cNvPr id="124" name="Shape 122"/>
          <p:cNvSpPr/>
          <p:nvPr/>
        </p:nvSpPr>
        <p:spPr>
          <a:xfrm>
            <a:off x="342900" y="4606290"/>
            <a:ext cx="8458200" cy="297180"/>
          </a:xfrm>
          <a:prstGeom prst="roundRect">
            <a:avLst>
              <a:gd name="adj" fmla="val 15385"/>
            </a:avLst>
          </a:prstGeom>
          <a:noFill/>
          <a:ln w="5715">
            <a:solidFill>
              <a:srgbClr val="1A274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48615" y="4612005"/>
            <a:ext cx="8446770" cy="285750"/>
          </a:xfrm>
          <a:prstGeom prst="rect">
            <a:avLst/>
          </a:prstGeom>
          <a:gradFill rotWithShape="1">
            <a:gsLst>
              <a:gs pos="0">
                <a:srgbClr val="2196F3">
                  <a:alpha val="5000"/>
                </a:srgbClr>
              </a:gs>
              <a:gs pos="30000">
                <a:srgbClr val="2196F3">
                  <a:alpha val="12000"/>
                </a:srgbClr>
              </a:gs>
              <a:gs pos="60000">
                <a:srgbClr val="00BCD4">
                  <a:alpha val="18000"/>
                </a:srgbClr>
              </a:gs>
              <a:gs pos="100000">
                <a:srgbClr val="00BCD4">
                  <a:alpha val="25000"/>
                </a:srgbClr>
              </a:gs>
            </a:gsLst>
            <a:lin ang="0" scaled="0"/>
          </a:gradFill>
          <a:ln/>
        </p:spPr>
      </p:sp>
      <p:sp>
        <p:nvSpPr>
          <p:cNvPr id="126" name="Shape 124"/>
          <p:cNvSpPr/>
          <p:nvPr/>
        </p:nvSpPr>
        <p:spPr>
          <a:xfrm>
            <a:off x="348615" y="4612005"/>
            <a:ext cx="8446770" cy="285750"/>
          </a:xfrm>
          <a:prstGeom prst="rect">
            <a:avLst/>
          </a:prstGeom>
          <a:solidFill>
            <a:srgbClr val="B0BEC5">
              <a:alpha val="6000"/>
            </a:srgbClr>
          </a:solidFill>
          <a:ln/>
        </p:spPr>
      </p:sp>
      <p:sp>
        <p:nvSpPr>
          <p:cNvPr id="127" name="Text 125"/>
          <p:cNvSpPr/>
          <p:nvPr/>
        </p:nvSpPr>
        <p:spPr>
          <a:xfrm>
            <a:off x="485775" y="4706303"/>
            <a:ext cx="1264158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开源生态增长趋势 ·</a:t>
            </a:r>
            <a:pPr algn="l" indent="0" marL="0">
              <a:buNone/>
            </a:pPr>
            <a:r>
              <a:rPr lang="en-US" sz="540" b="1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持续动能增强</a:t>
            </a:r>
            <a:endParaRPr lang="en-US" sz="540" dirty="0"/>
          </a:p>
        </p:txBody>
      </p:sp>
      <p:sp>
        <p:nvSpPr>
          <p:cNvPr id="128" name="Shape 126"/>
          <p:cNvSpPr/>
          <p:nvPr/>
        </p:nvSpPr>
        <p:spPr>
          <a:xfrm>
            <a:off x="4105960" y="4794885"/>
            <a:ext cx="22860" cy="457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29" name="Shape 127"/>
          <p:cNvSpPr/>
          <p:nvPr/>
        </p:nvSpPr>
        <p:spPr>
          <a:xfrm>
            <a:off x="4140250" y="4783455"/>
            <a:ext cx="22860" cy="5715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0" name="Shape 128"/>
          <p:cNvSpPr/>
          <p:nvPr/>
        </p:nvSpPr>
        <p:spPr>
          <a:xfrm>
            <a:off x="4174540" y="4772025"/>
            <a:ext cx="22860" cy="6858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1" name="Shape 129"/>
          <p:cNvSpPr/>
          <p:nvPr/>
        </p:nvSpPr>
        <p:spPr>
          <a:xfrm>
            <a:off x="4208830" y="4777740"/>
            <a:ext cx="22860" cy="62865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2" name="Shape 130"/>
          <p:cNvSpPr/>
          <p:nvPr/>
        </p:nvSpPr>
        <p:spPr>
          <a:xfrm>
            <a:off x="4243120" y="4754880"/>
            <a:ext cx="22860" cy="85725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3" name="Shape 131"/>
          <p:cNvSpPr/>
          <p:nvPr/>
        </p:nvSpPr>
        <p:spPr>
          <a:xfrm>
            <a:off x="4277410" y="4737735"/>
            <a:ext cx="22860" cy="10287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4" name="Shape 132"/>
          <p:cNvSpPr/>
          <p:nvPr/>
        </p:nvSpPr>
        <p:spPr>
          <a:xfrm>
            <a:off x="4311700" y="4749165"/>
            <a:ext cx="22860" cy="914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5" name="Shape 133"/>
          <p:cNvSpPr/>
          <p:nvPr/>
        </p:nvSpPr>
        <p:spPr>
          <a:xfrm>
            <a:off x="4345990" y="4726305"/>
            <a:ext cx="22860" cy="1143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6" name="Shape 134"/>
          <p:cNvSpPr/>
          <p:nvPr/>
        </p:nvSpPr>
        <p:spPr>
          <a:xfrm>
            <a:off x="4380280" y="4714875"/>
            <a:ext cx="22860" cy="12573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7" name="Shape 135"/>
          <p:cNvSpPr/>
          <p:nvPr/>
        </p:nvSpPr>
        <p:spPr>
          <a:xfrm>
            <a:off x="4414570" y="4732020"/>
            <a:ext cx="22860" cy="108585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8" name="Shape 136"/>
          <p:cNvSpPr/>
          <p:nvPr/>
        </p:nvSpPr>
        <p:spPr>
          <a:xfrm>
            <a:off x="4448860" y="4703445"/>
            <a:ext cx="22860" cy="13716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39" name="Shape 137"/>
          <p:cNvSpPr/>
          <p:nvPr/>
        </p:nvSpPr>
        <p:spPr>
          <a:xfrm>
            <a:off x="4483150" y="4709160"/>
            <a:ext cx="22860" cy="131445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40" name="Shape 138"/>
          <p:cNvSpPr/>
          <p:nvPr/>
        </p:nvSpPr>
        <p:spPr>
          <a:xfrm>
            <a:off x="4517440" y="4692015"/>
            <a:ext cx="22860" cy="14859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41" name="Shape 139"/>
          <p:cNvSpPr/>
          <p:nvPr/>
        </p:nvSpPr>
        <p:spPr>
          <a:xfrm>
            <a:off x="4551730" y="4697730"/>
            <a:ext cx="22860" cy="142875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42" name="Shape 140"/>
          <p:cNvSpPr/>
          <p:nvPr/>
        </p:nvSpPr>
        <p:spPr>
          <a:xfrm>
            <a:off x="4586020" y="4680585"/>
            <a:ext cx="22860" cy="1600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43" name="Shape 141"/>
          <p:cNvSpPr/>
          <p:nvPr/>
        </p:nvSpPr>
        <p:spPr>
          <a:xfrm>
            <a:off x="4620310" y="4686300"/>
            <a:ext cx="22860" cy="154305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44" name="Shape 142"/>
          <p:cNvSpPr/>
          <p:nvPr/>
        </p:nvSpPr>
        <p:spPr>
          <a:xfrm>
            <a:off x="4654600" y="4674870"/>
            <a:ext cx="22860" cy="165735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45" name="Shape 143"/>
          <p:cNvSpPr/>
          <p:nvPr/>
        </p:nvSpPr>
        <p:spPr>
          <a:xfrm>
            <a:off x="4688890" y="4669155"/>
            <a:ext cx="22860" cy="17145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6200000" scaled="0"/>
          </a:gradFill>
          <a:ln/>
        </p:spPr>
      </p:sp>
      <p:sp>
        <p:nvSpPr>
          <p:cNvPr id="146" name="Text 144"/>
          <p:cNvSpPr/>
          <p:nvPr/>
        </p:nvSpPr>
        <p:spPr>
          <a:xfrm>
            <a:off x="7203132" y="4712018"/>
            <a:ext cx="889711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GROWTH</a:t>
            </a:r>
            <a:endParaRPr lang="en-US" sz="495" dirty="0"/>
          </a:p>
        </p:txBody>
      </p:sp>
      <p:sp>
        <p:nvSpPr>
          <p:cNvPr id="147" name="Shape 145"/>
          <p:cNvSpPr/>
          <p:nvPr/>
        </p:nvSpPr>
        <p:spPr>
          <a:xfrm>
            <a:off x="7203132" y="474630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30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8077527" y="4700588"/>
            <a:ext cx="65499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▸▸ 生态持续增长</a:t>
            </a:r>
            <a:endParaRPr lang="en-US" sz="585" dirty="0"/>
          </a:p>
        </p:txBody>
      </p:sp>
      <p:sp>
        <p:nvSpPr>
          <p:cNvPr id="149" name="Shape 147"/>
          <p:cNvSpPr/>
          <p:nvPr/>
        </p:nvSpPr>
        <p:spPr>
          <a:xfrm>
            <a:off x="68580" y="68580"/>
            <a:ext cx="114300" cy="114300"/>
          </a:xfrm>
          <a:prstGeom prst="rect">
            <a:avLst/>
          </a:prstGeom>
          <a:noFill/>
          <a:ln/>
        </p:spPr>
      </p:sp>
      <p:sp>
        <p:nvSpPr>
          <p:cNvPr id="150" name="Shape 148"/>
          <p:cNvSpPr/>
          <p:nvPr/>
        </p:nvSpPr>
        <p:spPr>
          <a:xfrm>
            <a:off x="68580" y="68580"/>
            <a:ext cx="114300" cy="0"/>
          </a:xfrm>
          <a:prstGeom prst="line">
            <a:avLst/>
          </a:prstGeom>
          <a:noFill/>
          <a:ln w="11430">
            <a:solidFill>
              <a:srgbClr val="E8EEF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8580" y="68580"/>
            <a:ext cx="0" cy="114300"/>
          </a:xfrm>
          <a:prstGeom prst="line">
            <a:avLst/>
          </a:prstGeom>
          <a:noFill/>
          <a:ln w="11430">
            <a:solidFill>
              <a:srgbClr val="E8EEF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961120" y="68580"/>
            <a:ext cx="114300" cy="114300"/>
          </a:xfrm>
          <a:prstGeom prst="rect">
            <a:avLst/>
          </a:prstGeom>
          <a:noFill/>
          <a:ln/>
        </p:spPr>
      </p:sp>
      <p:sp>
        <p:nvSpPr>
          <p:cNvPr id="153" name="Shape 151"/>
          <p:cNvSpPr/>
          <p:nvPr/>
        </p:nvSpPr>
        <p:spPr>
          <a:xfrm>
            <a:off x="8961120" y="68580"/>
            <a:ext cx="114300" cy="0"/>
          </a:xfrm>
          <a:prstGeom prst="line">
            <a:avLst/>
          </a:prstGeom>
          <a:noFill/>
          <a:ln w="11430">
            <a:solidFill>
              <a:srgbClr val="E8EEF7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75420" y="68580"/>
            <a:ext cx="0" cy="114300"/>
          </a:xfrm>
          <a:prstGeom prst="line">
            <a:avLst/>
          </a:prstGeom>
          <a:noFill/>
          <a:ln w="11430">
            <a:solidFill>
              <a:srgbClr val="E8EEF7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8580" y="4960620"/>
            <a:ext cx="114300" cy="114300"/>
          </a:xfrm>
          <a:prstGeom prst="rect">
            <a:avLst/>
          </a:prstGeom>
          <a:noFill/>
          <a:ln/>
        </p:spPr>
      </p:sp>
      <p:sp>
        <p:nvSpPr>
          <p:cNvPr id="156" name="Shape 154"/>
          <p:cNvSpPr/>
          <p:nvPr/>
        </p:nvSpPr>
        <p:spPr>
          <a:xfrm>
            <a:off x="68580" y="5074920"/>
            <a:ext cx="114300" cy="0"/>
          </a:xfrm>
          <a:prstGeom prst="line">
            <a:avLst/>
          </a:prstGeom>
          <a:noFill/>
          <a:ln w="11430">
            <a:solidFill>
              <a:srgbClr val="E8EEF7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8580" y="4960620"/>
            <a:ext cx="0" cy="114300"/>
          </a:xfrm>
          <a:prstGeom prst="line">
            <a:avLst/>
          </a:prstGeom>
          <a:noFill/>
          <a:ln w="11430">
            <a:solidFill>
              <a:srgbClr val="E8EEF7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961120" y="4960620"/>
            <a:ext cx="114300" cy="114300"/>
          </a:xfrm>
          <a:prstGeom prst="rect">
            <a:avLst/>
          </a:prstGeom>
          <a:noFill/>
          <a:ln/>
        </p:spPr>
      </p:sp>
      <p:sp>
        <p:nvSpPr>
          <p:cNvPr id="159" name="Shape 157"/>
          <p:cNvSpPr/>
          <p:nvPr/>
        </p:nvSpPr>
        <p:spPr>
          <a:xfrm>
            <a:off x="9075420" y="4960620"/>
            <a:ext cx="0" cy="114300"/>
          </a:xfrm>
          <a:prstGeom prst="line">
            <a:avLst/>
          </a:prstGeom>
          <a:noFill/>
          <a:ln w="11430">
            <a:solidFill>
              <a:srgbClr val="E8EEF7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961120" y="5074920"/>
            <a:ext cx="114300" cy="0"/>
          </a:xfrm>
          <a:prstGeom prst="line">
            <a:avLst/>
          </a:prstGeom>
          <a:noFill/>
          <a:ln w="11430">
            <a:solidFill>
              <a:srgbClr val="E8EEF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50A18"/>
              </a:gs>
              <a:gs pos="45000">
                <a:srgbClr val="07102A"/>
              </a:gs>
              <a:gs pos="100000">
                <a:srgbClr val="040714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348615"/>
            <a:ext cx="34290" cy="25146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33350" dist="50800" dir="16200000">
              <a:srgbClr val="2196F3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0060" y="274320"/>
            <a:ext cx="1901038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4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阅读分享 ·</a:t>
            </a:r>
            <a:pPr algn="l" indent="0" marL="0">
              <a:buNone/>
            </a:pPr>
            <a:r>
              <a:rPr lang="en-US" sz="144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核心观点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80060" y="571500"/>
            <a:ext cx="190103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· CORE INSIGHTS</a:t>
            </a:r>
            <a:endParaRPr lang="en-US" sz="585" dirty="0"/>
          </a:p>
        </p:txBody>
      </p:sp>
      <p:sp>
        <p:nvSpPr>
          <p:cNvPr id="7" name="Shape 5"/>
          <p:cNvSpPr/>
          <p:nvPr/>
        </p:nvSpPr>
        <p:spPr>
          <a:xfrm>
            <a:off x="7949565" y="377190"/>
            <a:ext cx="851535" cy="194310"/>
          </a:xfrm>
          <a:prstGeom prst="roundRect">
            <a:avLst>
              <a:gd name="adj" fmla="val 58824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451485"/>
            <a:ext cx="45720" cy="45720"/>
          </a:xfrm>
          <a:prstGeom prst="ellipse">
            <a:avLst/>
          </a:prstGeom>
          <a:solidFill>
            <a:srgbClr val="00BCD4">
              <a:alpha val="65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0" y="428625"/>
            <a:ext cx="6343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INSIGHTS 05</a:t>
            </a:r>
            <a:endParaRPr lang="en-US" sz="540" dirty="0"/>
          </a:p>
        </p:txBody>
      </p:sp>
      <p:sp>
        <p:nvSpPr>
          <p:cNvPr id="10" name="Shape 8"/>
          <p:cNvSpPr/>
          <p:nvPr/>
        </p:nvSpPr>
        <p:spPr>
          <a:xfrm>
            <a:off x="342900" y="800100"/>
            <a:ext cx="2457450" cy="3754755"/>
          </a:xfrm>
          <a:prstGeom prst="roundRect">
            <a:avLst>
              <a:gd name="adj" fmla="val 3256"/>
            </a:avLst>
          </a:prstGeom>
          <a:gradFill rotWithShape="1">
            <a:gsLst>
              <a:gs pos="0">
                <a:srgbClr val="0D1A38"/>
              </a:gs>
              <a:gs pos="100000">
                <a:srgbClr val="081025"/>
              </a:gs>
            </a:gsLst>
            <a:lin ang="4200000" scaled="0"/>
          </a:gra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800100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2" name="Text 10"/>
          <p:cNvSpPr/>
          <p:nvPr/>
        </p:nvSpPr>
        <p:spPr>
          <a:xfrm>
            <a:off x="474345" y="862965"/>
            <a:ext cx="1457325" cy="908685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8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6750" dirty="0"/>
          </a:p>
        </p:txBody>
      </p:sp>
      <p:sp>
        <p:nvSpPr>
          <p:cNvPr id="13" name="Shape 11"/>
          <p:cNvSpPr/>
          <p:nvPr/>
        </p:nvSpPr>
        <p:spPr>
          <a:xfrm>
            <a:off x="474345" y="862965"/>
            <a:ext cx="342900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00BCD4">
                <a:alpha val="7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205" y="1851660"/>
            <a:ext cx="2406701" cy="720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10" b="1" spc="14" kern="0" dirty="0">
                <a:solidFill>
                  <a:srgbClr val="EA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开源是献给世界的一份</a:t>
            </a:r>
            <a:pPr algn="l" indent="0" marL="0">
              <a:lnSpc>
                <a:spcPct val="175000"/>
              </a:lnSpc>
              <a:buNone/>
            </a:pPr>
            <a:r>
              <a:rPr lang="en-US" sz="810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珍贵礼物</a:t>
            </a:r>
            <a:pPr algn="l" indent="0" marL="0">
              <a:lnSpc>
                <a:spcPct val="175000"/>
              </a:lnSpc>
              <a:buNone/>
            </a:pPr>
            <a:r>
              <a:rPr lang="en-US" sz="810" b="1" spc="14" kern="0" dirty="0">
                <a:solidFill>
                  <a:srgbClr val="EA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，它让知识不再是少数人的特权。通过阅读与讨论，我们将看到</a:t>
            </a:r>
            <a:pPr algn="l" indent="0" marL="0">
              <a:lnSpc>
                <a:spcPct val="175000"/>
              </a:lnSpc>
              <a:buNone/>
            </a:pPr>
            <a:r>
              <a:rPr lang="en-US" sz="810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</a:t>
            </a:r>
            <a:pPr algn="l" indent="0" marL="0">
              <a:lnSpc>
                <a:spcPct val="175000"/>
              </a:lnSpc>
              <a:buNone/>
            </a:pPr>
            <a:r>
              <a:rPr lang="en-US" sz="810" b="1" spc="14" kern="0" dirty="0">
                <a:solidFill>
                  <a:srgbClr val="EA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如何塑造个人成长、组织创新乃至整个社会的</a:t>
            </a:r>
            <a:pPr algn="l" indent="0" marL="0">
              <a:lnSpc>
                <a:spcPct val="175000"/>
              </a:lnSpc>
              <a:buNone/>
            </a:pPr>
            <a:r>
              <a:rPr lang="en-US" sz="810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未来走向</a:t>
            </a:r>
            <a:pPr algn="l" indent="0" marL="0">
              <a:lnSpc>
                <a:spcPct val="175000"/>
              </a:lnSpc>
              <a:buNone/>
            </a:pPr>
            <a:r>
              <a:rPr lang="en-US" sz="810" b="1" spc="14" kern="0" dirty="0">
                <a:solidFill>
                  <a:srgbClr val="EA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97205" y="269748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23210"/>
            <a:ext cx="3657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全球活跃</a:t>
            </a:r>
            <a:pPr algn="l" indent="0" marL="0">
              <a:lnSpc>
                <a:spcPct val="150000"/>
              </a:lnSpc>
              <a:buNone/>
            </a:pPr>
            <a:endParaRPr lang="en-US" sz="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4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贡献者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1891665" y="2771775"/>
            <a:ext cx="817245" cy="21145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2196F3">
                <a:alpha val="75000"/>
              </a:srgbClr>
            </a:outerShdw>
          </a:effectLst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117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5000万+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1891665" y="2994660"/>
            <a:ext cx="74889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持续参与中</a:t>
            </a:r>
            <a:endParaRPr lang="en-US" sz="450" dirty="0"/>
          </a:p>
        </p:txBody>
      </p:sp>
      <p:sp>
        <p:nvSpPr>
          <p:cNvPr id="19" name="Shape 17"/>
          <p:cNvSpPr/>
          <p:nvPr/>
        </p:nvSpPr>
        <p:spPr>
          <a:xfrm>
            <a:off x="497205" y="3223260"/>
            <a:ext cx="2148840" cy="422910"/>
          </a:xfrm>
          <a:prstGeom prst="roundRect">
            <a:avLst>
              <a:gd name="adj" fmla="val 10811"/>
            </a:avLst>
          </a:prstGeom>
          <a:solidFill>
            <a:srgbClr val="FFFFFF">
              <a:alpha val="3000"/>
            </a:srgbClr>
          </a:soli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31845"/>
            <a:ext cx="440055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中国开发者</a:t>
            </a:r>
            <a:pPr algn="l" indent="0" marL="0">
              <a:lnSpc>
                <a:spcPct val="150000"/>
              </a:lnSpc>
              <a:buNone/>
            </a:pPr>
            <a:endParaRPr lang="en-US" sz="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4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增速</a:t>
            </a:r>
            <a:endParaRPr lang="en-US" sz="540" dirty="0"/>
          </a:p>
        </p:txBody>
      </p:sp>
      <p:sp>
        <p:nvSpPr>
          <p:cNvPr id="21" name="Text 19"/>
          <p:cNvSpPr/>
          <p:nvPr/>
        </p:nvSpPr>
        <p:spPr>
          <a:xfrm>
            <a:off x="2091690" y="3297555"/>
            <a:ext cx="617220" cy="17716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2196F3">
                <a:alpha val="75000"/>
              </a:srgbClr>
            </a:outerShdw>
          </a:effectLst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117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30%+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2091690" y="3486150"/>
            <a:ext cx="5257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年增长率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2983230" y="800100"/>
            <a:ext cx="1099512" cy="3754755"/>
          </a:xfrm>
          <a:prstGeom prst="roundRect">
            <a:avLst>
              <a:gd name="adj" fmla="val 6237"/>
            </a:avLst>
          </a:prstGeom>
          <a:gradFill rotWithShape="1">
            <a:gsLst>
              <a:gs pos="0">
                <a:srgbClr val="0F1C3A"/>
              </a:gs>
              <a:gs pos="100000">
                <a:srgbClr val="081327"/>
              </a:gs>
            </a:gsLst>
            <a:lin ang="51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83230" y="800100"/>
            <a:ext cx="10880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6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13782" y="4537710"/>
            <a:ext cx="826978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3080385" y="920115"/>
            <a:ext cx="114523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45" kern="0" dirty="0">
                <a:solidFill>
                  <a:srgbClr val="2196F3">
                    <a:alpha val="2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90" dirty="0"/>
          </a:p>
        </p:txBody>
      </p:sp>
      <p:sp>
        <p:nvSpPr>
          <p:cNvPr id="27" name="Text 25"/>
          <p:cNvSpPr/>
          <p:nvPr/>
        </p:nvSpPr>
        <p:spPr>
          <a:xfrm>
            <a:off x="3080385" y="1194435"/>
            <a:ext cx="101382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CONCEPT</a:t>
            </a:r>
            <a:endParaRPr lang="en-US" sz="450" dirty="0"/>
          </a:p>
        </p:txBody>
      </p:sp>
      <p:sp>
        <p:nvSpPr>
          <p:cNvPr id="28" name="Shape 26"/>
          <p:cNvSpPr/>
          <p:nvPr/>
        </p:nvSpPr>
        <p:spPr>
          <a:xfrm>
            <a:off x="3080385" y="132588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0385" y="1394460"/>
            <a:ext cx="1013827" cy="141089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开源即礼物</a:t>
            </a:r>
            <a:endParaRPr lang="en-US" sz="855" dirty="0"/>
          </a:p>
        </p:txBody>
      </p:sp>
      <p:sp>
        <p:nvSpPr>
          <p:cNvPr id="30" name="Text 28"/>
          <p:cNvSpPr/>
          <p:nvPr/>
        </p:nvSpPr>
        <p:spPr>
          <a:xfrm>
            <a:off x="3080385" y="1592699"/>
            <a:ext cx="1013827" cy="2647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开源不仅是技术选择，更是一种向世界赠予知识和协作方式的精神礼物。</a:t>
            </a:r>
            <a:endParaRPr lang="en-US" sz="518" dirty="0"/>
          </a:p>
        </p:txBody>
      </p:sp>
      <p:sp>
        <p:nvSpPr>
          <p:cNvPr id="31" name="Shape 29"/>
          <p:cNvSpPr/>
          <p:nvPr/>
        </p:nvSpPr>
        <p:spPr>
          <a:xfrm>
            <a:off x="3080385" y="4320540"/>
            <a:ext cx="905202" cy="12573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3080385" y="4320540"/>
            <a:ext cx="905202" cy="0"/>
          </a:xfrm>
          <a:prstGeom prst="line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80385" y="4383405"/>
            <a:ext cx="25949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 GIFT</a:t>
            </a:r>
            <a:endParaRPr lang="en-US" sz="405" dirty="0"/>
          </a:p>
        </p:txBody>
      </p:sp>
      <p:sp>
        <p:nvSpPr>
          <p:cNvPr id="34" name="Text 32"/>
          <p:cNvSpPr/>
          <p:nvPr/>
        </p:nvSpPr>
        <p:spPr>
          <a:xfrm>
            <a:off x="3779847" y="4383405"/>
            <a:ext cx="25717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01</a:t>
            </a:r>
            <a:endParaRPr lang="en-US" sz="405" dirty="0"/>
          </a:p>
        </p:txBody>
      </p:sp>
      <p:sp>
        <p:nvSpPr>
          <p:cNvPr id="35" name="Shape 33"/>
          <p:cNvSpPr/>
          <p:nvPr/>
        </p:nvSpPr>
        <p:spPr>
          <a:xfrm>
            <a:off x="4162752" y="800100"/>
            <a:ext cx="1099602" cy="3754755"/>
          </a:xfrm>
          <a:prstGeom prst="roundRect">
            <a:avLst>
              <a:gd name="adj" fmla="val 6237"/>
            </a:avLst>
          </a:prstGeom>
          <a:gradFill rotWithShape="1">
            <a:gsLst>
              <a:gs pos="0">
                <a:srgbClr val="0F1C3A"/>
              </a:gs>
              <a:gs pos="100000">
                <a:srgbClr val="081327"/>
              </a:gs>
            </a:gsLst>
            <a:lin ang="51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62752" y="800100"/>
            <a:ext cx="10881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6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93305" y="4537710"/>
            <a:ext cx="827069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8" name="Text 36"/>
          <p:cNvSpPr/>
          <p:nvPr/>
        </p:nvSpPr>
        <p:spPr>
          <a:xfrm>
            <a:off x="4259907" y="920115"/>
            <a:ext cx="114532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45" kern="0" dirty="0">
                <a:solidFill>
                  <a:srgbClr val="2196F3">
                    <a:alpha val="2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90" dirty="0"/>
          </a:p>
        </p:txBody>
      </p:sp>
      <p:sp>
        <p:nvSpPr>
          <p:cNvPr id="39" name="Text 37"/>
          <p:cNvSpPr/>
          <p:nvPr/>
        </p:nvSpPr>
        <p:spPr>
          <a:xfrm>
            <a:off x="4259907" y="1194435"/>
            <a:ext cx="101392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PARADIGM</a:t>
            </a:r>
            <a:endParaRPr lang="en-US" sz="450" dirty="0"/>
          </a:p>
        </p:txBody>
      </p:sp>
      <p:sp>
        <p:nvSpPr>
          <p:cNvPr id="40" name="Shape 38"/>
          <p:cNvSpPr/>
          <p:nvPr/>
        </p:nvSpPr>
        <p:spPr>
          <a:xfrm>
            <a:off x="4259907" y="132588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259907" y="1394460"/>
            <a:ext cx="1013927" cy="141089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协作新范式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4259907" y="1592699"/>
            <a:ext cx="1013927" cy="2647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互联网让陌生人协作成为可能，开源展示了去中心化协作的巨大潜力。</a:t>
            </a:r>
            <a:endParaRPr lang="en-US" sz="518" dirty="0"/>
          </a:p>
        </p:txBody>
      </p:sp>
      <p:sp>
        <p:nvSpPr>
          <p:cNvPr id="43" name="Shape 41"/>
          <p:cNvSpPr/>
          <p:nvPr/>
        </p:nvSpPr>
        <p:spPr>
          <a:xfrm>
            <a:off x="4259907" y="4320540"/>
            <a:ext cx="905292" cy="125730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4259907" y="4320540"/>
            <a:ext cx="905292" cy="0"/>
          </a:xfrm>
          <a:prstGeom prst="line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59907" y="4383405"/>
            <a:ext cx="25949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 COOP</a:t>
            </a:r>
            <a:endParaRPr lang="en-US" sz="405" dirty="0"/>
          </a:p>
        </p:txBody>
      </p:sp>
      <p:sp>
        <p:nvSpPr>
          <p:cNvPr id="46" name="Text 44"/>
          <p:cNvSpPr/>
          <p:nvPr/>
        </p:nvSpPr>
        <p:spPr>
          <a:xfrm>
            <a:off x="4959459" y="4383405"/>
            <a:ext cx="25717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02</a:t>
            </a:r>
            <a:endParaRPr lang="en-US" sz="405" dirty="0"/>
          </a:p>
        </p:txBody>
      </p:sp>
      <p:sp>
        <p:nvSpPr>
          <p:cNvPr id="47" name="Shape 45"/>
          <p:cNvSpPr/>
          <p:nvPr/>
        </p:nvSpPr>
        <p:spPr>
          <a:xfrm>
            <a:off x="5342364" y="800100"/>
            <a:ext cx="1099512" cy="3754755"/>
          </a:xfrm>
          <a:prstGeom prst="roundRect">
            <a:avLst>
              <a:gd name="adj" fmla="val 6237"/>
            </a:avLst>
          </a:prstGeom>
          <a:gradFill rotWithShape="1">
            <a:gsLst>
              <a:gs pos="0">
                <a:srgbClr val="0F1C3A"/>
              </a:gs>
              <a:gs pos="100000">
                <a:srgbClr val="081327"/>
              </a:gs>
            </a:gsLst>
            <a:lin ang="51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342364" y="800100"/>
            <a:ext cx="10880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6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472916" y="4537710"/>
            <a:ext cx="826978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0" name="Text 48"/>
          <p:cNvSpPr/>
          <p:nvPr/>
        </p:nvSpPr>
        <p:spPr>
          <a:xfrm>
            <a:off x="5439519" y="920115"/>
            <a:ext cx="114523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45" kern="0" dirty="0">
                <a:solidFill>
                  <a:srgbClr val="2196F3">
                    <a:alpha val="2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90" dirty="0"/>
          </a:p>
        </p:txBody>
      </p:sp>
      <p:sp>
        <p:nvSpPr>
          <p:cNvPr id="51" name="Text 49"/>
          <p:cNvSpPr/>
          <p:nvPr/>
        </p:nvSpPr>
        <p:spPr>
          <a:xfrm>
            <a:off x="5439519" y="1194435"/>
            <a:ext cx="101382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GROWTH</a:t>
            </a:r>
            <a:endParaRPr lang="en-US" sz="450" dirty="0"/>
          </a:p>
        </p:txBody>
      </p:sp>
      <p:sp>
        <p:nvSpPr>
          <p:cNvPr id="52" name="Shape 50"/>
          <p:cNvSpPr/>
          <p:nvPr/>
        </p:nvSpPr>
        <p:spPr>
          <a:xfrm>
            <a:off x="5439519" y="132588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39519" y="1394460"/>
            <a:ext cx="1013827" cy="141089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个人成长路径</a:t>
            </a:r>
            <a:endParaRPr lang="en-US" sz="855" dirty="0"/>
          </a:p>
        </p:txBody>
      </p:sp>
      <p:sp>
        <p:nvSpPr>
          <p:cNvPr id="54" name="Text 52"/>
          <p:cNvSpPr/>
          <p:nvPr/>
        </p:nvSpPr>
        <p:spPr>
          <a:xfrm>
            <a:off x="5439519" y="1592699"/>
            <a:ext cx="1013827" cy="2647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参与开源是技术人员锻炼能力、建立声誉、融入全球社区的有效成长路径。</a:t>
            </a:r>
            <a:endParaRPr lang="en-US" sz="518" dirty="0"/>
          </a:p>
        </p:txBody>
      </p:sp>
      <p:sp>
        <p:nvSpPr>
          <p:cNvPr id="55" name="Shape 53"/>
          <p:cNvSpPr/>
          <p:nvPr/>
        </p:nvSpPr>
        <p:spPr>
          <a:xfrm>
            <a:off x="5439519" y="4320540"/>
            <a:ext cx="905202" cy="125730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5439519" y="4320540"/>
            <a:ext cx="905202" cy="0"/>
          </a:xfrm>
          <a:prstGeom prst="line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9519" y="4383405"/>
            <a:ext cx="25949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 PATH</a:t>
            </a:r>
            <a:endParaRPr lang="en-US" sz="405" dirty="0"/>
          </a:p>
        </p:txBody>
      </p:sp>
      <p:sp>
        <p:nvSpPr>
          <p:cNvPr id="58" name="Text 56"/>
          <p:cNvSpPr/>
          <p:nvPr/>
        </p:nvSpPr>
        <p:spPr>
          <a:xfrm>
            <a:off x="6138982" y="4383405"/>
            <a:ext cx="25717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03</a:t>
            </a:r>
            <a:endParaRPr lang="en-US" sz="405" dirty="0"/>
          </a:p>
        </p:txBody>
      </p:sp>
      <p:sp>
        <p:nvSpPr>
          <p:cNvPr id="59" name="Shape 57"/>
          <p:cNvSpPr/>
          <p:nvPr/>
        </p:nvSpPr>
        <p:spPr>
          <a:xfrm>
            <a:off x="6521887" y="800100"/>
            <a:ext cx="1099602" cy="3754755"/>
          </a:xfrm>
          <a:prstGeom prst="roundRect">
            <a:avLst>
              <a:gd name="adj" fmla="val 6237"/>
            </a:avLst>
          </a:prstGeom>
          <a:gradFill rotWithShape="1">
            <a:gsLst>
              <a:gs pos="0">
                <a:srgbClr val="0F1C3A"/>
              </a:gs>
              <a:gs pos="100000">
                <a:srgbClr val="081327"/>
              </a:gs>
            </a:gsLst>
            <a:lin ang="51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521887" y="800100"/>
            <a:ext cx="10881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6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652439" y="4537710"/>
            <a:ext cx="827069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2" name="Text 60"/>
          <p:cNvSpPr/>
          <p:nvPr/>
        </p:nvSpPr>
        <p:spPr>
          <a:xfrm>
            <a:off x="6619042" y="920115"/>
            <a:ext cx="114532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45" kern="0" dirty="0">
                <a:solidFill>
                  <a:srgbClr val="2196F3">
                    <a:alpha val="2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90" dirty="0"/>
          </a:p>
        </p:txBody>
      </p:sp>
      <p:sp>
        <p:nvSpPr>
          <p:cNvPr id="63" name="Text 61"/>
          <p:cNvSpPr/>
          <p:nvPr/>
        </p:nvSpPr>
        <p:spPr>
          <a:xfrm>
            <a:off x="6619042" y="1194435"/>
            <a:ext cx="101392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STRATEGY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6619042" y="132588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619042" y="1394460"/>
            <a:ext cx="1013927" cy="141089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企业与国家</a:t>
            </a:r>
            <a:endParaRPr lang="en-US" sz="855" dirty="0"/>
          </a:p>
        </p:txBody>
      </p:sp>
      <p:sp>
        <p:nvSpPr>
          <p:cNvPr id="66" name="Text 64"/>
          <p:cNvSpPr/>
          <p:nvPr/>
        </p:nvSpPr>
        <p:spPr>
          <a:xfrm>
            <a:off x="6619042" y="1592699"/>
            <a:ext cx="1013927" cy="2647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开源已成为国家科技战略的重要组成部分，企业需构建完善开源治理体系。</a:t>
            </a:r>
            <a:endParaRPr lang="en-US" sz="518" dirty="0"/>
          </a:p>
        </p:txBody>
      </p:sp>
      <p:sp>
        <p:nvSpPr>
          <p:cNvPr id="67" name="Shape 65"/>
          <p:cNvSpPr/>
          <p:nvPr/>
        </p:nvSpPr>
        <p:spPr>
          <a:xfrm>
            <a:off x="6619042" y="4320540"/>
            <a:ext cx="905292" cy="125730"/>
          </a:xfrm>
          <a:prstGeom prst="rect">
            <a:avLst/>
          </a:prstGeom>
          <a:noFill/>
          <a:ln/>
        </p:spPr>
      </p:sp>
      <p:sp>
        <p:nvSpPr>
          <p:cNvPr id="68" name="Shape 66"/>
          <p:cNvSpPr/>
          <p:nvPr/>
        </p:nvSpPr>
        <p:spPr>
          <a:xfrm>
            <a:off x="6619042" y="4320540"/>
            <a:ext cx="905292" cy="0"/>
          </a:xfrm>
          <a:prstGeom prst="line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19042" y="4383405"/>
            <a:ext cx="22520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 GOV</a:t>
            </a:r>
            <a:endParaRPr lang="en-US" sz="405" dirty="0"/>
          </a:p>
        </p:txBody>
      </p:sp>
      <p:sp>
        <p:nvSpPr>
          <p:cNvPr id="70" name="Text 68"/>
          <p:cNvSpPr/>
          <p:nvPr/>
        </p:nvSpPr>
        <p:spPr>
          <a:xfrm>
            <a:off x="7318593" y="4383405"/>
            <a:ext cx="25717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04</a:t>
            </a:r>
            <a:endParaRPr lang="en-US" sz="405" dirty="0"/>
          </a:p>
        </p:txBody>
      </p:sp>
      <p:sp>
        <p:nvSpPr>
          <p:cNvPr id="71" name="Shape 69"/>
          <p:cNvSpPr/>
          <p:nvPr/>
        </p:nvSpPr>
        <p:spPr>
          <a:xfrm>
            <a:off x="7701498" y="800100"/>
            <a:ext cx="1099512" cy="3754755"/>
          </a:xfrm>
          <a:prstGeom prst="roundRect">
            <a:avLst>
              <a:gd name="adj" fmla="val 6237"/>
            </a:avLst>
          </a:prstGeom>
          <a:gradFill rotWithShape="1">
            <a:gsLst>
              <a:gs pos="0">
                <a:srgbClr val="0F1C3A"/>
              </a:gs>
              <a:gs pos="100000">
                <a:srgbClr val="081327"/>
              </a:gs>
            </a:gsLst>
            <a:lin ang="51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701498" y="800100"/>
            <a:ext cx="10880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6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832051" y="4537710"/>
            <a:ext cx="826978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4" name="Text 72"/>
          <p:cNvSpPr/>
          <p:nvPr/>
        </p:nvSpPr>
        <p:spPr>
          <a:xfrm>
            <a:off x="7798653" y="920115"/>
            <a:ext cx="114523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45" kern="0" dirty="0">
                <a:solidFill>
                  <a:srgbClr val="2196F3">
                    <a:alpha val="2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90" dirty="0"/>
          </a:p>
        </p:txBody>
      </p:sp>
      <p:sp>
        <p:nvSpPr>
          <p:cNvPr id="75" name="Text 73"/>
          <p:cNvSpPr/>
          <p:nvPr/>
        </p:nvSpPr>
        <p:spPr>
          <a:xfrm>
            <a:off x="7798653" y="1194435"/>
            <a:ext cx="101382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POWER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7798653" y="132588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7798653" y="1394460"/>
            <a:ext cx="1013827" cy="141089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开放的力量</a:t>
            </a:r>
            <a:endParaRPr lang="en-US" sz="855" dirty="0"/>
          </a:p>
        </p:txBody>
      </p:sp>
      <p:sp>
        <p:nvSpPr>
          <p:cNvPr id="78" name="Text 76"/>
          <p:cNvSpPr/>
          <p:nvPr/>
        </p:nvSpPr>
        <p:spPr>
          <a:xfrm>
            <a:off x="7798653" y="1592699"/>
            <a:ext cx="1013827" cy="2647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开放让创新不再局限于封闭实验室，而是成为一场全民参与的共创运动。</a:t>
            </a:r>
            <a:endParaRPr lang="en-US" sz="518" dirty="0"/>
          </a:p>
        </p:txBody>
      </p:sp>
      <p:sp>
        <p:nvSpPr>
          <p:cNvPr id="79" name="Shape 77"/>
          <p:cNvSpPr/>
          <p:nvPr/>
        </p:nvSpPr>
        <p:spPr>
          <a:xfrm>
            <a:off x="7798653" y="4320540"/>
            <a:ext cx="905202" cy="125730"/>
          </a:xfrm>
          <a:prstGeom prst="rect">
            <a:avLst/>
          </a:prstGeom>
          <a:noFill/>
          <a:ln/>
        </p:spPr>
      </p:sp>
      <p:sp>
        <p:nvSpPr>
          <p:cNvPr id="80" name="Shape 78"/>
          <p:cNvSpPr/>
          <p:nvPr/>
        </p:nvSpPr>
        <p:spPr>
          <a:xfrm>
            <a:off x="7798653" y="4320540"/>
            <a:ext cx="905202" cy="0"/>
          </a:xfrm>
          <a:prstGeom prst="line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798653" y="4383405"/>
            <a:ext cx="25949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 OPEN</a:t>
            </a:r>
            <a:endParaRPr lang="en-US" sz="405" dirty="0"/>
          </a:p>
        </p:txBody>
      </p:sp>
      <p:sp>
        <p:nvSpPr>
          <p:cNvPr id="82" name="Text 80"/>
          <p:cNvSpPr/>
          <p:nvPr/>
        </p:nvSpPr>
        <p:spPr>
          <a:xfrm>
            <a:off x="8498116" y="4383405"/>
            <a:ext cx="25717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05</a:t>
            </a:r>
            <a:endParaRPr lang="en-US" sz="405" dirty="0"/>
          </a:p>
        </p:txBody>
      </p:sp>
      <p:sp>
        <p:nvSpPr>
          <p:cNvPr id="83" name="Shape 81"/>
          <p:cNvSpPr/>
          <p:nvPr/>
        </p:nvSpPr>
        <p:spPr>
          <a:xfrm>
            <a:off x="342900" y="4657725"/>
            <a:ext cx="8458200" cy="257175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8000"/>
                </a:srgbClr>
              </a:gs>
            </a:gsLst>
            <a:lin ang="0" scaled="0"/>
          </a:gradFill>
          <a:ln w="17145">
            <a:solidFill>
              <a:srgbClr val="00BCD4">
                <a:alpha val="2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4345" y="476916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554355" y="4732020"/>
            <a:ext cx="222747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68" kern="0" dirty="0">
                <a:solidFill>
                  <a:srgbClr val="EAF2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从个人到国家，开源正成为驱动未来创新的共同语言。</a:t>
            </a:r>
            <a:endParaRPr lang="en-US" sz="585" dirty="0"/>
          </a:p>
        </p:txBody>
      </p:sp>
      <p:sp>
        <p:nvSpPr>
          <p:cNvPr id="86" name="Text 84"/>
          <p:cNvSpPr/>
          <p:nvPr/>
        </p:nvSpPr>
        <p:spPr>
          <a:xfrm>
            <a:off x="7755255" y="4743450"/>
            <a:ext cx="103693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SHARING · INSIGHTS</a:t>
            </a:r>
            <a:endParaRPr lang="en-US" sz="49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28700"/>
            <a:ext cx="7315200" cy="41148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743200" y="2057400"/>
            <a:ext cx="7315200" cy="4114800"/>
          </a:xfrm>
          <a:prstGeom prst="ellipse">
            <a:avLst/>
          </a:prstGeom>
          <a:gradFill rotWithShape="1">
            <a:gsLst>
              <a:gs pos="0">
                <a:srgbClr val="00BCD4">
                  <a:alpha val="4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71450" y="1028700"/>
            <a:ext cx="11430" cy="3086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8961120" y="1028700"/>
            <a:ext cx="11430" cy="3086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342900" y="217170"/>
            <a:ext cx="134416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SECTION TRANSITION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8212455" y="220028"/>
            <a:ext cx="65928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· 02 / 06</a:t>
            </a:r>
            <a:endParaRPr lang="en-US" sz="495" dirty="0"/>
          </a:p>
        </p:txBody>
      </p:sp>
      <p:sp>
        <p:nvSpPr>
          <p:cNvPr id="9" name="Shape 7"/>
          <p:cNvSpPr/>
          <p:nvPr/>
        </p:nvSpPr>
        <p:spPr>
          <a:xfrm>
            <a:off x="342900" y="371475"/>
            <a:ext cx="8458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50000">
                <a:srgbClr val="00BCD4"/>
              </a:gs>
              <a:gs pos="7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342900" y="457200"/>
            <a:ext cx="9473184" cy="42862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b="1" spc="90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开源布道</a:t>
            </a:r>
            <a:pPr algn="ctr" indent="0" marL="0">
              <a:buNone/>
            </a:pPr>
            <a:r>
              <a:rPr lang="en-US" sz="23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buNone/>
            </a:pPr>
            <a:r>
              <a:rPr lang="en-US" sz="2340" b="1" spc="90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我们的角色</a:t>
            </a:r>
            <a:endParaRPr lang="en-US" sz="2340" dirty="0"/>
          </a:p>
        </p:txBody>
      </p:sp>
      <p:sp>
        <p:nvSpPr>
          <p:cNvPr id="11" name="Text 9"/>
          <p:cNvSpPr/>
          <p:nvPr/>
        </p:nvSpPr>
        <p:spPr>
          <a:xfrm>
            <a:off x="342900" y="942975"/>
            <a:ext cx="9473184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spc="18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适兕在开源之道中的位置 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3743325" y="1010394"/>
            <a:ext cx="171450" cy="571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229225" y="1010394"/>
            <a:ext cx="171450" cy="571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31970" y="2131695"/>
            <a:ext cx="2628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</a:t>
            </a:r>
            <a:endParaRPr lang="en-US" sz="450" dirty="0"/>
          </a:p>
        </p:txBody>
      </p:sp>
      <p:sp>
        <p:nvSpPr>
          <p:cNvPr id="15" name="Shape 13"/>
          <p:cNvSpPr/>
          <p:nvPr/>
        </p:nvSpPr>
        <p:spPr>
          <a:xfrm>
            <a:off x="1777365" y="1274445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88808" y="1436787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</a:t>
            </a:r>
            <a:endParaRPr lang="en-US" sz="495" dirty="0"/>
          </a:p>
        </p:txBody>
      </p:sp>
      <p:sp>
        <p:nvSpPr>
          <p:cNvPr id="17" name="Shape 15"/>
          <p:cNvSpPr/>
          <p:nvPr/>
        </p:nvSpPr>
        <p:spPr>
          <a:xfrm>
            <a:off x="2977515" y="1131570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56096" y="1293912"/>
            <a:ext cx="351473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开发者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4349115" y="1097280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27696" y="1259622"/>
            <a:ext cx="351473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基金会</a:t>
            </a:r>
            <a:endParaRPr lang="en-US" sz="495" dirty="0"/>
          </a:p>
        </p:txBody>
      </p:sp>
      <p:sp>
        <p:nvSpPr>
          <p:cNvPr id="21" name="Shape 19"/>
          <p:cNvSpPr/>
          <p:nvPr/>
        </p:nvSpPr>
        <p:spPr>
          <a:xfrm>
            <a:off x="5720715" y="1131570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32158" y="1293912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</a:t>
            </a:r>
            <a:endParaRPr lang="en-US" sz="495" dirty="0"/>
          </a:p>
        </p:txBody>
      </p:sp>
      <p:sp>
        <p:nvSpPr>
          <p:cNvPr id="23" name="Shape 21"/>
          <p:cNvSpPr/>
          <p:nvPr/>
        </p:nvSpPr>
        <p:spPr>
          <a:xfrm>
            <a:off x="6920865" y="1274445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32308" y="1436787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政府</a:t>
            </a:r>
            <a:endParaRPr lang="en-US" sz="495" dirty="0"/>
          </a:p>
        </p:txBody>
      </p:sp>
      <p:sp>
        <p:nvSpPr>
          <p:cNvPr id="25" name="Shape 23"/>
          <p:cNvSpPr/>
          <p:nvPr/>
        </p:nvSpPr>
        <p:spPr>
          <a:xfrm>
            <a:off x="1948815" y="1548765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60258" y="1711107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教育</a:t>
            </a:r>
            <a:endParaRPr lang="en-US" sz="495" dirty="0"/>
          </a:p>
        </p:txBody>
      </p:sp>
      <p:sp>
        <p:nvSpPr>
          <p:cNvPr id="27" name="Shape 25"/>
          <p:cNvSpPr/>
          <p:nvPr/>
        </p:nvSpPr>
        <p:spPr>
          <a:xfrm>
            <a:off x="6749415" y="1548765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60858" y="1711107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产业</a:t>
            </a:r>
            <a:endParaRPr lang="en-US" sz="495" dirty="0"/>
          </a:p>
        </p:txBody>
      </p:sp>
      <p:sp>
        <p:nvSpPr>
          <p:cNvPr id="29" name="Shape 27"/>
          <p:cNvSpPr/>
          <p:nvPr/>
        </p:nvSpPr>
        <p:spPr>
          <a:xfrm>
            <a:off x="1777365" y="1983105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88808" y="2145447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高校</a:t>
            </a:r>
            <a:endParaRPr lang="en-US" sz="495" dirty="0"/>
          </a:p>
        </p:txBody>
      </p:sp>
      <p:sp>
        <p:nvSpPr>
          <p:cNvPr id="31" name="Shape 29"/>
          <p:cNvSpPr/>
          <p:nvPr/>
        </p:nvSpPr>
        <p:spPr>
          <a:xfrm>
            <a:off x="2977515" y="2171700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56096" y="2334042"/>
            <a:ext cx="351473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研究者</a:t>
            </a:r>
            <a:endParaRPr lang="en-US" sz="495" dirty="0"/>
          </a:p>
        </p:txBody>
      </p:sp>
      <p:sp>
        <p:nvSpPr>
          <p:cNvPr id="33" name="Shape 31"/>
          <p:cNvSpPr/>
          <p:nvPr/>
        </p:nvSpPr>
        <p:spPr>
          <a:xfrm>
            <a:off x="4349115" y="2211705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60558" y="2374047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用户</a:t>
            </a:r>
            <a:endParaRPr lang="en-US" sz="495" dirty="0"/>
          </a:p>
        </p:txBody>
      </p:sp>
      <p:sp>
        <p:nvSpPr>
          <p:cNvPr id="35" name="Shape 33"/>
          <p:cNvSpPr/>
          <p:nvPr/>
        </p:nvSpPr>
        <p:spPr>
          <a:xfrm>
            <a:off x="5720715" y="2171700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32158" y="2334042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媒体</a:t>
            </a:r>
            <a:endParaRPr lang="en-US" sz="495" dirty="0"/>
          </a:p>
        </p:txBody>
      </p:sp>
      <p:sp>
        <p:nvSpPr>
          <p:cNvPr id="37" name="Shape 35"/>
          <p:cNvSpPr/>
          <p:nvPr/>
        </p:nvSpPr>
        <p:spPr>
          <a:xfrm>
            <a:off x="6920865" y="1983105"/>
            <a:ext cx="445770" cy="445770"/>
          </a:xfrm>
          <a:prstGeom prst="ellipse">
            <a:avLst/>
          </a:prstGeom>
          <a:solidFill>
            <a:srgbClr val="111827">
              <a:alpha val="90000"/>
            </a:srgbClr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32308" y="2145447"/>
            <a:ext cx="285750" cy="121087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组织</a:t>
            </a:r>
            <a:endParaRPr lang="en-US" sz="495" dirty="0"/>
          </a:p>
        </p:txBody>
      </p:sp>
      <p:sp>
        <p:nvSpPr>
          <p:cNvPr id="39" name="Shape 37"/>
          <p:cNvSpPr/>
          <p:nvPr/>
        </p:nvSpPr>
        <p:spPr>
          <a:xfrm>
            <a:off x="2771775" y="160020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71850" y="146875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86350" y="146875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43650" y="160020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71775" y="193167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43650" y="193167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028950" y="204025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15050" y="204025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1114425"/>
            <a:ext cx="8458200" cy="1314450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4257675" y="1457325"/>
            <a:ext cx="628650" cy="628650"/>
          </a:xfrm>
          <a:prstGeom prst="ellipse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70000">
                <a:srgbClr val="2196F3">
                  <a:alpha val="5000"/>
                </a:srgbClr>
              </a:gs>
            </a:gsLst>
            <a:path path="circle">
              <a:fillToRect l="50000" t="50000" r="50000" b="50000"/>
            </a:path>
          </a:gra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285750" dist="50800" dir="16200000">
              <a:srgbClr val="00BCD4">
                <a:alpha val="4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520565" y="1571625"/>
            <a:ext cx="102870" cy="10287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6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491990" y="1685925"/>
            <a:ext cx="160020" cy="194310"/>
          </a:xfrm>
          <a:prstGeom prst="rect">
            <a:avLst/>
          </a:prstGeom>
          <a:noFill/>
          <a:ln/>
        </p:spPr>
      </p:sp>
      <p:sp>
        <p:nvSpPr>
          <p:cNvPr id="51" name="Shape 48"/>
          <p:cNvSpPr/>
          <p:nvPr/>
        </p:nvSpPr>
        <p:spPr>
          <a:xfrm>
            <a:off x="4652010" y="1685925"/>
            <a:ext cx="0" cy="194310"/>
          </a:xfrm>
          <a:prstGeom prst="line">
            <a:avLst/>
          </a:prstGeom>
          <a:noFill/>
          <a:ln w="8001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491990" y="1880235"/>
            <a:ext cx="160020" cy="0"/>
          </a:xfrm>
          <a:prstGeom prst="line">
            <a:avLst/>
          </a:prstGeom>
          <a:noFill/>
          <a:ln w="194310">
            <a:solidFill>
              <a:srgbClr val="2196F3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491990" y="1685925"/>
            <a:ext cx="0" cy="194310"/>
          </a:xfrm>
          <a:prstGeom prst="line">
            <a:avLst/>
          </a:prstGeom>
          <a:noFill/>
          <a:ln w="8001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469130" y="1880235"/>
            <a:ext cx="45720" cy="34290"/>
          </a:xfrm>
          <a:prstGeom prst="roundRect">
            <a:avLst>
              <a:gd name="adj" fmla="val 50000"/>
            </a:avLst>
          </a:prstGeom>
          <a:solidFill>
            <a:srgbClr val="2196F3">
              <a:alpha val="50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342900" y="2497455"/>
            <a:ext cx="2743200" cy="901720"/>
          </a:xfrm>
          <a:prstGeom prst="roundRect">
            <a:avLst>
              <a:gd name="adj" fmla="val 507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342900" y="2497455"/>
            <a:ext cx="17145" cy="890288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7" name="Shape 54"/>
          <p:cNvSpPr/>
          <p:nvPr/>
        </p:nvSpPr>
        <p:spPr>
          <a:xfrm>
            <a:off x="2731770" y="2497455"/>
            <a:ext cx="342900" cy="34290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462915" y="2606040"/>
            <a:ext cx="280355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2196F3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59" name="Text 56"/>
          <p:cNvSpPr/>
          <p:nvPr/>
        </p:nvSpPr>
        <p:spPr>
          <a:xfrm>
            <a:off x="462915" y="2800350"/>
            <a:ext cx="280355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</a:t>
            </a:r>
            <a:endParaRPr lang="en-US" sz="765" dirty="0"/>
          </a:p>
        </p:txBody>
      </p:sp>
      <p:sp>
        <p:nvSpPr>
          <p:cNvPr id="60" name="Shape 57"/>
          <p:cNvSpPr/>
          <p:nvPr/>
        </p:nvSpPr>
        <p:spPr>
          <a:xfrm>
            <a:off x="462915" y="2988945"/>
            <a:ext cx="18288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1" name="Text 58"/>
          <p:cNvSpPr/>
          <p:nvPr/>
        </p:nvSpPr>
        <p:spPr>
          <a:xfrm>
            <a:off x="462915" y="3057525"/>
            <a:ext cx="280355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这是一个专注于开源技术与文化的中文社群与内容平台，连接广大开源实践者，汇聚社区智慧与实践经验。</a:t>
            </a:r>
            <a:endParaRPr lang="en-US" sz="540" dirty="0"/>
          </a:p>
        </p:txBody>
      </p:sp>
      <p:sp>
        <p:nvSpPr>
          <p:cNvPr id="62" name="Shape 59"/>
          <p:cNvSpPr/>
          <p:nvPr/>
        </p:nvSpPr>
        <p:spPr>
          <a:xfrm>
            <a:off x="3200400" y="2497455"/>
            <a:ext cx="2743200" cy="901720"/>
          </a:xfrm>
          <a:prstGeom prst="roundRect">
            <a:avLst>
              <a:gd name="adj" fmla="val 507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3200400" y="2497455"/>
            <a:ext cx="17145" cy="890288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4" name="Shape 61"/>
          <p:cNvSpPr/>
          <p:nvPr/>
        </p:nvSpPr>
        <p:spPr>
          <a:xfrm>
            <a:off x="5589270" y="2497455"/>
            <a:ext cx="342900" cy="34290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3320415" y="2606040"/>
            <a:ext cx="280355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2196F3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66" name="Text 63"/>
          <p:cNvSpPr/>
          <p:nvPr/>
        </p:nvSpPr>
        <p:spPr>
          <a:xfrm>
            <a:off x="3320415" y="2800350"/>
            <a:ext cx="280355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适兕的定位</a:t>
            </a:r>
            <a:endParaRPr lang="en-US" sz="765" dirty="0"/>
          </a:p>
        </p:txBody>
      </p:sp>
      <p:sp>
        <p:nvSpPr>
          <p:cNvPr id="67" name="Shape 64"/>
          <p:cNvSpPr/>
          <p:nvPr/>
        </p:nvSpPr>
        <p:spPr>
          <a:xfrm>
            <a:off x="3320415" y="2988945"/>
            <a:ext cx="18288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8" name="Text 65"/>
          <p:cNvSpPr/>
          <p:nvPr/>
        </p:nvSpPr>
        <p:spPr>
          <a:xfrm>
            <a:off x="3320415" y="3057525"/>
            <a:ext cx="280355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适兕作为布道者与社区组织者，致力于推动开源理念在中国的传播与落地实践，做连接理念与行动的桥梁。</a:t>
            </a:r>
            <a:endParaRPr lang="en-US" sz="540" dirty="0"/>
          </a:p>
        </p:txBody>
      </p:sp>
      <p:sp>
        <p:nvSpPr>
          <p:cNvPr id="69" name="Shape 66"/>
          <p:cNvSpPr/>
          <p:nvPr/>
        </p:nvSpPr>
        <p:spPr>
          <a:xfrm>
            <a:off x="6057900" y="2497455"/>
            <a:ext cx="2743200" cy="901720"/>
          </a:xfrm>
          <a:prstGeom prst="roundRect">
            <a:avLst>
              <a:gd name="adj" fmla="val 507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6057900" y="2497455"/>
            <a:ext cx="17145" cy="890288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1" name="Shape 68"/>
          <p:cNvSpPr/>
          <p:nvPr/>
        </p:nvSpPr>
        <p:spPr>
          <a:xfrm>
            <a:off x="8446770" y="2497455"/>
            <a:ext cx="342900" cy="34290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72" name="Text 69"/>
          <p:cNvSpPr/>
          <p:nvPr/>
        </p:nvSpPr>
        <p:spPr>
          <a:xfrm>
            <a:off x="6177915" y="2606040"/>
            <a:ext cx="280355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2196F3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73" name="Text 70"/>
          <p:cNvSpPr/>
          <p:nvPr/>
        </p:nvSpPr>
        <p:spPr>
          <a:xfrm>
            <a:off x="6177915" y="2800350"/>
            <a:ext cx="280355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布道使命</a:t>
            </a:r>
            <a:endParaRPr lang="en-US" sz="765" dirty="0"/>
          </a:p>
        </p:txBody>
      </p:sp>
      <p:sp>
        <p:nvSpPr>
          <p:cNvPr id="74" name="Shape 71"/>
          <p:cNvSpPr/>
          <p:nvPr/>
        </p:nvSpPr>
        <p:spPr>
          <a:xfrm>
            <a:off x="6177915" y="2988945"/>
            <a:ext cx="18288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5" name="Text 72"/>
          <p:cNvSpPr/>
          <p:nvPr/>
        </p:nvSpPr>
        <p:spPr>
          <a:xfrm>
            <a:off x="6177915" y="3057525"/>
            <a:ext cx="280355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让更多人理解开源、参与开源、受益于开源，共建开放协作的美好数字未来，让开源精神生生不息。</a:t>
            </a:r>
            <a:endParaRPr lang="en-US" sz="540" dirty="0"/>
          </a:p>
        </p:txBody>
      </p:sp>
      <p:sp>
        <p:nvSpPr>
          <p:cNvPr id="76" name="Shape 73"/>
          <p:cNvSpPr/>
          <p:nvPr/>
        </p:nvSpPr>
        <p:spPr>
          <a:xfrm>
            <a:off x="342900" y="3538031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77" name="Text 74"/>
          <p:cNvSpPr/>
          <p:nvPr/>
        </p:nvSpPr>
        <p:spPr>
          <a:xfrm>
            <a:off x="2308860" y="3490615"/>
            <a:ext cx="5069434" cy="100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开源之道不只是一个组织，更是一种</a:t>
            </a:r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态度和生活方式</a:t>
            </a:r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。适兕作为其中一员，承担着</a:t>
            </a:r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传播开源精神</a:t>
            </a:r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连接社区成员</a:t>
            </a:r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推动开源实践落地生根</a:t>
            </a:r>
            <a:pPr algn="ct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的重要使命。</a:t>
            </a:r>
            <a:endParaRPr lang="en-US" sz="495" dirty="0"/>
          </a:p>
        </p:txBody>
      </p:sp>
      <p:sp>
        <p:nvSpPr>
          <p:cNvPr id="78" name="Shape 75"/>
          <p:cNvSpPr/>
          <p:nvPr/>
        </p:nvSpPr>
        <p:spPr>
          <a:xfrm>
            <a:off x="8343900" y="3538031"/>
            <a:ext cx="4572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70B16"/>
              </a:gs>
              <a:gs pos="50000">
                <a:srgbClr val="0A0E1A"/>
              </a:gs>
              <a:gs pos="100000">
                <a:srgbClr val="0D1220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2743200" y="-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96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2743200" y="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3440430" y="291465"/>
            <a:ext cx="28575" cy="274320"/>
          </a:xfrm>
          <a:prstGeom prst="roundRect">
            <a:avLst>
              <a:gd name="adj" fmla="val 6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71875" y="240030"/>
            <a:ext cx="2263140" cy="37719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70" b="1" spc="180" kern="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适兕与开源之道</a:t>
            </a:r>
            <a:endParaRPr lang="en-US" sz="2070" dirty="0"/>
          </a:p>
        </p:txBody>
      </p:sp>
      <p:sp>
        <p:nvSpPr>
          <p:cNvPr id="8" name="Shape 6"/>
          <p:cNvSpPr/>
          <p:nvPr/>
        </p:nvSpPr>
        <p:spPr>
          <a:xfrm>
            <a:off x="5674995" y="291465"/>
            <a:ext cx="28575" cy="274320"/>
          </a:xfrm>
          <a:prstGeom prst="roundRect">
            <a:avLst>
              <a:gd name="adj" fmla="val 6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69393" y="685800"/>
            <a:ext cx="6725841" cy="125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适兕作为开源之道的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践行者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，通过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内容创作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社区连接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企业赋能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文化输出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开源教育</a:t>
            </a:r>
            <a:pPr algn="ctr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五条主线，推动开源在中国落地生根，让每一位参与者都能在开源生态中找到自己的位置。</a:t>
            </a:r>
            <a:endParaRPr lang="en-US" sz="563" dirty="0"/>
          </a:p>
        </p:txBody>
      </p:sp>
      <p:sp>
        <p:nvSpPr>
          <p:cNvPr id="10" name="Shape 8"/>
          <p:cNvSpPr/>
          <p:nvPr/>
        </p:nvSpPr>
        <p:spPr>
          <a:xfrm>
            <a:off x="2457450" y="913686"/>
            <a:ext cx="1943100" cy="537210"/>
          </a:xfrm>
          <a:prstGeom prst="roundRect">
            <a:avLst>
              <a:gd name="adj" fmla="val 14894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7450" y="913686"/>
            <a:ext cx="22860" cy="52578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4103370" y="742236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3" name="Shape 11"/>
          <p:cNvSpPr/>
          <p:nvPr/>
        </p:nvSpPr>
        <p:spPr>
          <a:xfrm>
            <a:off x="2577465" y="1033701"/>
            <a:ext cx="297180" cy="29718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52400" dist="38100" dir="16200000">
              <a:srgbClr val="2196F3">
                <a:alpha val="45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7465" y="1033701"/>
            <a:ext cx="297180" cy="2971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977515" y="999411"/>
            <a:ext cx="119054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8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累计内容产出</a:t>
            </a:r>
            <a:endParaRPr lang="en-US" sz="473" dirty="0"/>
          </a:p>
        </p:txBody>
      </p:sp>
      <p:sp>
        <p:nvSpPr>
          <p:cNvPr id="16" name="Text 13"/>
          <p:cNvSpPr/>
          <p:nvPr/>
        </p:nvSpPr>
        <p:spPr>
          <a:xfrm>
            <a:off x="2977515" y="1096566"/>
            <a:ext cx="123444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pPr algn="l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 篇文章/期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977515" y="1279446"/>
            <a:ext cx="119054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持续产出开源主题文章 · 视频 · 播客</a:t>
            </a:r>
            <a:endParaRPr lang="en-US" sz="450" dirty="0"/>
          </a:p>
        </p:txBody>
      </p:sp>
      <p:sp>
        <p:nvSpPr>
          <p:cNvPr id="18" name="Shape 15"/>
          <p:cNvSpPr/>
          <p:nvPr/>
        </p:nvSpPr>
        <p:spPr>
          <a:xfrm>
            <a:off x="4743450" y="913686"/>
            <a:ext cx="1943100" cy="537210"/>
          </a:xfrm>
          <a:prstGeom prst="roundRect">
            <a:avLst>
              <a:gd name="adj" fmla="val 14894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3450" y="913686"/>
            <a:ext cx="22860" cy="52578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0" name="Shape 17"/>
          <p:cNvSpPr/>
          <p:nvPr/>
        </p:nvSpPr>
        <p:spPr>
          <a:xfrm>
            <a:off x="6389370" y="742236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1" name="Shape 18"/>
          <p:cNvSpPr/>
          <p:nvPr/>
        </p:nvSpPr>
        <p:spPr>
          <a:xfrm>
            <a:off x="4863465" y="1033701"/>
            <a:ext cx="297180" cy="29718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52400" dist="38100" dir="16200000">
              <a:srgbClr val="2196F3">
                <a:alpha val="45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3465" y="1033701"/>
            <a:ext cx="297180" cy="2971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63515" y="999411"/>
            <a:ext cx="9985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8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社区成员规模</a:t>
            </a:r>
            <a:endParaRPr lang="en-US" sz="473" dirty="0"/>
          </a:p>
        </p:txBody>
      </p:sp>
      <p:sp>
        <p:nvSpPr>
          <p:cNvPr id="24" name="Text 20"/>
          <p:cNvSpPr/>
          <p:nvPr/>
        </p:nvSpPr>
        <p:spPr>
          <a:xfrm>
            <a:off x="5263515" y="1096566"/>
            <a:ext cx="106299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pPr algn="l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万+ 活跃社区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263515" y="1279446"/>
            <a:ext cx="9985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凝聚开源爱好者群体 · 形成合力</a:t>
            </a:r>
            <a:endParaRPr lang="en-US" sz="450" dirty="0"/>
          </a:p>
        </p:txBody>
      </p:sp>
      <p:sp>
        <p:nvSpPr>
          <p:cNvPr id="26" name="Shape 22"/>
          <p:cNvSpPr/>
          <p:nvPr/>
        </p:nvSpPr>
        <p:spPr>
          <a:xfrm>
            <a:off x="1945958" y="1628061"/>
            <a:ext cx="19431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7" name="Text 23"/>
          <p:cNvSpPr/>
          <p:nvPr/>
        </p:nvSpPr>
        <p:spPr>
          <a:xfrm>
            <a:off x="3969068" y="1576626"/>
            <a:ext cx="1350569" cy="108585"/>
          </a:xfrm>
          <a:prstGeom prst="rect">
            <a:avLst/>
          </a:prstGeom>
          <a:noFill/>
          <a:ln/>
        </p:spPr>
        <p:txBody>
          <a:bodyPr wrap="none" lIns="0" tIns="68580" rIns="68580" bIns="0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PATHS · 五条路径</a:t>
            </a:r>
            <a:endParaRPr lang="en-US" sz="585" dirty="0"/>
          </a:p>
        </p:txBody>
      </p:sp>
      <p:sp>
        <p:nvSpPr>
          <p:cNvPr id="28" name="Shape 24"/>
          <p:cNvSpPr/>
          <p:nvPr/>
        </p:nvSpPr>
        <p:spPr>
          <a:xfrm>
            <a:off x="5254943" y="1628061"/>
            <a:ext cx="19431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9" name="Shape 25"/>
          <p:cNvSpPr/>
          <p:nvPr/>
        </p:nvSpPr>
        <p:spPr>
          <a:xfrm>
            <a:off x="628650" y="1959531"/>
            <a:ext cx="788670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2196F3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4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1388745" y="193095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2966085" y="193095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543425" y="193095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120765" y="193095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698105" y="193095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285750" y="1765221"/>
            <a:ext cx="1463040" cy="2749629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1A2040">
                  <a:alpha val="85000"/>
                </a:srgbClr>
              </a:gs>
              <a:gs pos="100000">
                <a:srgbClr val="111627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85750" y="1765221"/>
            <a:ext cx="14516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7" name="Shape 33"/>
          <p:cNvSpPr/>
          <p:nvPr/>
        </p:nvSpPr>
        <p:spPr>
          <a:xfrm>
            <a:off x="1394460" y="4160520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8" name="Shape 34"/>
          <p:cNvSpPr/>
          <p:nvPr/>
        </p:nvSpPr>
        <p:spPr>
          <a:xfrm>
            <a:off x="817245" y="1570911"/>
            <a:ext cx="400050" cy="400050"/>
          </a:xfrm>
          <a:prstGeom prst="ellipse">
            <a:avLst/>
          </a:prstGeom>
          <a:solidFill>
            <a:srgbClr val="111627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45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830" y="1679496"/>
            <a:ext cx="182880" cy="1828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54393" y="2170986"/>
            <a:ext cx="3886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01</a:t>
            </a:r>
            <a:endParaRPr lang="en-US" sz="495" dirty="0"/>
          </a:p>
        </p:txBody>
      </p:sp>
      <p:sp>
        <p:nvSpPr>
          <p:cNvPr id="41" name="Text 36"/>
          <p:cNvSpPr/>
          <p:nvPr/>
        </p:nvSpPr>
        <p:spPr>
          <a:xfrm>
            <a:off x="800100" y="2308146"/>
            <a:ext cx="5372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内容创作</a:t>
            </a:r>
            <a:endParaRPr lang="en-US" sz="810" dirty="0"/>
          </a:p>
        </p:txBody>
      </p:sp>
      <p:sp>
        <p:nvSpPr>
          <p:cNvPr id="42" name="Shape 37"/>
          <p:cNvSpPr/>
          <p:nvPr/>
        </p:nvSpPr>
        <p:spPr>
          <a:xfrm>
            <a:off x="914400" y="2525316"/>
            <a:ext cx="20574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3" name="Text 38"/>
          <p:cNvSpPr/>
          <p:nvPr/>
        </p:nvSpPr>
        <p:spPr>
          <a:xfrm>
            <a:off x="394335" y="2628186"/>
            <a:ext cx="1395374" cy="156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495" spc="9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持续产出开源主题文章、视频与播客内容，降低开源知识获取门槛，惠及更多人。</a:t>
            </a:r>
            <a:endParaRPr lang="en-US" sz="495" dirty="0"/>
          </a:p>
        </p:txBody>
      </p:sp>
      <p:sp>
        <p:nvSpPr>
          <p:cNvPr id="44" name="Shape 39"/>
          <p:cNvSpPr/>
          <p:nvPr/>
        </p:nvSpPr>
        <p:spPr>
          <a:xfrm>
            <a:off x="671513" y="4286250"/>
            <a:ext cx="21145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71513" y="428625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文章</a:t>
            </a:r>
            <a:endParaRPr lang="en-US" sz="405" dirty="0"/>
          </a:p>
        </p:txBody>
      </p:sp>
      <p:sp>
        <p:nvSpPr>
          <p:cNvPr id="46" name="Shape 41"/>
          <p:cNvSpPr/>
          <p:nvPr/>
        </p:nvSpPr>
        <p:spPr>
          <a:xfrm>
            <a:off x="911543" y="4286250"/>
            <a:ext cx="21145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911543" y="428625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视频</a:t>
            </a:r>
            <a:endParaRPr lang="en-US" sz="405" dirty="0"/>
          </a:p>
        </p:txBody>
      </p:sp>
      <p:sp>
        <p:nvSpPr>
          <p:cNvPr id="48" name="Shape 43"/>
          <p:cNvSpPr/>
          <p:nvPr/>
        </p:nvSpPr>
        <p:spPr>
          <a:xfrm>
            <a:off x="1151573" y="4286250"/>
            <a:ext cx="21145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151573" y="428625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播客</a:t>
            </a:r>
            <a:endParaRPr lang="en-US" sz="405" dirty="0"/>
          </a:p>
        </p:txBody>
      </p:sp>
      <p:sp>
        <p:nvSpPr>
          <p:cNvPr id="50" name="Shape 45"/>
          <p:cNvSpPr/>
          <p:nvPr/>
        </p:nvSpPr>
        <p:spPr>
          <a:xfrm>
            <a:off x="2063115" y="1765221"/>
            <a:ext cx="1463040" cy="2749629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1A2040">
                  <a:alpha val="85000"/>
                </a:srgbClr>
              </a:gs>
              <a:gs pos="100000">
                <a:srgbClr val="111627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063115" y="1765221"/>
            <a:ext cx="14516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2" name="Shape 47"/>
          <p:cNvSpPr/>
          <p:nvPr/>
        </p:nvSpPr>
        <p:spPr>
          <a:xfrm>
            <a:off x="3171825" y="4160520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3" name="Shape 48"/>
          <p:cNvSpPr/>
          <p:nvPr/>
        </p:nvSpPr>
        <p:spPr>
          <a:xfrm>
            <a:off x="2594610" y="1570911"/>
            <a:ext cx="400050" cy="400050"/>
          </a:xfrm>
          <a:prstGeom prst="ellipse">
            <a:avLst/>
          </a:prstGeom>
          <a:solidFill>
            <a:srgbClr val="111627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45000"/>
              </a:srgbClr>
            </a:outerShdw>
          </a:effectLst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03195" y="1679496"/>
            <a:ext cx="182880" cy="18288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2626043" y="2170986"/>
            <a:ext cx="4000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02</a:t>
            </a:r>
            <a:endParaRPr lang="en-US" sz="495" dirty="0"/>
          </a:p>
        </p:txBody>
      </p:sp>
      <p:sp>
        <p:nvSpPr>
          <p:cNvPr id="56" name="Text 50"/>
          <p:cNvSpPr/>
          <p:nvPr/>
        </p:nvSpPr>
        <p:spPr>
          <a:xfrm>
            <a:off x="2577465" y="2308146"/>
            <a:ext cx="5372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社区连接</a:t>
            </a:r>
            <a:endParaRPr lang="en-US" sz="810" dirty="0"/>
          </a:p>
        </p:txBody>
      </p:sp>
      <p:sp>
        <p:nvSpPr>
          <p:cNvPr id="57" name="Shape 51"/>
          <p:cNvSpPr/>
          <p:nvPr/>
        </p:nvSpPr>
        <p:spPr>
          <a:xfrm>
            <a:off x="2691765" y="2525316"/>
            <a:ext cx="20574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8" name="Text 52"/>
          <p:cNvSpPr/>
          <p:nvPr/>
        </p:nvSpPr>
        <p:spPr>
          <a:xfrm>
            <a:off x="2171700" y="2628186"/>
            <a:ext cx="1395374" cy="156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495" spc="9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定期组织线上分享、线下 Meetup 与黑客松活动，凝聚开源爱好者群体形成合力。</a:t>
            </a:r>
            <a:endParaRPr lang="en-US" sz="495" dirty="0"/>
          </a:p>
        </p:txBody>
      </p:sp>
      <p:sp>
        <p:nvSpPr>
          <p:cNvPr id="59" name="Shape 53"/>
          <p:cNvSpPr/>
          <p:nvPr/>
        </p:nvSpPr>
        <p:spPr>
          <a:xfrm>
            <a:off x="2354580" y="4286250"/>
            <a:ext cx="29146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2354580" y="4286250"/>
            <a:ext cx="34290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Meetup</a:t>
            </a:r>
            <a:endParaRPr lang="en-US" sz="405" dirty="0"/>
          </a:p>
        </p:txBody>
      </p:sp>
      <p:sp>
        <p:nvSpPr>
          <p:cNvPr id="61" name="Shape 55"/>
          <p:cNvSpPr/>
          <p:nvPr/>
        </p:nvSpPr>
        <p:spPr>
          <a:xfrm>
            <a:off x="2674620" y="4286250"/>
            <a:ext cx="265748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2674620" y="4286250"/>
            <a:ext cx="317183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黑客松</a:t>
            </a:r>
            <a:endParaRPr lang="en-US" sz="405" dirty="0"/>
          </a:p>
        </p:txBody>
      </p:sp>
      <p:sp>
        <p:nvSpPr>
          <p:cNvPr id="63" name="Shape 57"/>
          <p:cNvSpPr/>
          <p:nvPr/>
        </p:nvSpPr>
        <p:spPr>
          <a:xfrm>
            <a:off x="2968943" y="4286250"/>
            <a:ext cx="265748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2968943" y="4286250"/>
            <a:ext cx="317183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分享会</a:t>
            </a:r>
            <a:endParaRPr lang="en-US" sz="405" dirty="0"/>
          </a:p>
        </p:txBody>
      </p:sp>
      <p:sp>
        <p:nvSpPr>
          <p:cNvPr id="65" name="Shape 59"/>
          <p:cNvSpPr/>
          <p:nvPr/>
        </p:nvSpPr>
        <p:spPr>
          <a:xfrm>
            <a:off x="3840480" y="1765221"/>
            <a:ext cx="1463040" cy="2749629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1A2040">
                  <a:alpha val="85000"/>
                </a:srgbClr>
              </a:gs>
              <a:gs pos="100000">
                <a:srgbClr val="111627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3840480" y="1765221"/>
            <a:ext cx="14516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7" name="Shape 61"/>
          <p:cNvSpPr/>
          <p:nvPr/>
        </p:nvSpPr>
        <p:spPr>
          <a:xfrm>
            <a:off x="4949190" y="4160520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8" name="Shape 62"/>
          <p:cNvSpPr/>
          <p:nvPr/>
        </p:nvSpPr>
        <p:spPr>
          <a:xfrm>
            <a:off x="4371975" y="1570911"/>
            <a:ext cx="400050" cy="400050"/>
          </a:xfrm>
          <a:prstGeom prst="ellipse">
            <a:avLst/>
          </a:prstGeom>
          <a:solidFill>
            <a:srgbClr val="111627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45000"/>
              </a:srgbClr>
            </a:outerShdw>
          </a:effectLst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0560" y="1679496"/>
            <a:ext cx="182880" cy="182880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4403408" y="2170986"/>
            <a:ext cx="4000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03</a:t>
            </a:r>
            <a:endParaRPr lang="en-US" sz="495" dirty="0"/>
          </a:p>
        </p:txBody>
      </p:sp>
      <p:sp>
        <p:nvSpPr>
          <p:cNvPr id="71" name="Text 64"/>
          <p:cNvSpPr/>
          <p:nvPr/>
        </p:nvSpPr>
        <p:spPr>
          <a:xfrm>
            <a:off x="4354830" y="2308146"/>
            <a:ext cx="5372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企业赋能</a:t>
            </a:r>
            <a:endParaRPr lang="en-US" sz="810" dirty="0"/>
          </a:p>
        </p:txBody>
      </p:sp>
      <p:sp>
        <p:nvSpPr>
          <p:cNvPr id="72" name="Shape 65"/>
          <p:cNvSpPr/>
          <p:nvPr/>
        </p:nvSpPr>
        <p:spPr>
          <a:xfrm>
            <a:off x="4469130" y="2525316"/>
            <a:ext cx="20574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3" name="Text 66"/>
          <p:cNvSpPr/>
          <p:nvPr/>
        </p:nvSpPr>
        <p:spPr>
          <a:xfrm>
            <a:off x="3949065" y="2628186"/>
            <a:ext cx="1395374" cy="156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495" spc="9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为企业提供开源治理咨询、贡献者培训与社区运营等增值服务与落地方案。</a:t>
            </a:r>
            <a:endParaRPr lang="en-US" sz="495" dirty="0"/>
          </a:p>
        </p:txBody>
      </p:sp>
      <p:sp>
        <p:nvSpPr>
          <p:cNvPr id="74" name="Shape 67"/>
          <p:cNvSpPr/>
          <p:nvPr/>
        </p:nvSpPr>
        <p:spPr>
          <a:xfrm>
            <a:off x="4171950" y="4286250"/>
            <a:ext cx="32004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4171950" y="4286250"/>
            <a:ext cx="371475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治理咨询</a:t>
            </a:r>
            <a:endParaRPr lang="en-US" sz="405" dirty="0"/>
          </a:p>
        </p:txBody>
      </p:sp>
      <p:sp>
        <p:nvSpPr>
          <p:cNvPr id="76" name="Shape 69"/>
          <p:cNvSpPr/>
          <p:nvPr/>
        </p:nvSpPr>
        <p:spPr>
          <a:xfrm>
            <a:off x="4520565" y="4286250"/>
            <a:ext cx="21145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4520565" y="428625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培训</a:t>
            </a:r>
            <a:endParaRPr lang="en-US" sz="405" dirty="0"/>
          </a:p>
        </p:txBody>
      </p:sp>
      <p:sp>
        <p:nvSpPr>
          <p:cNvPr id="78" name="Shape 71"/>
          <p:cNvSpPr/>
          <p:nvPr/>
        </p:nvSpPr>
        <p:spPr>
          <a:xfrm>
            <a:off x="4760595" y="4286250"/>
            <a:ext cx="21145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4760595" y="428625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运营</a:t>
            </a:r>
            <a:endParaRPr lang="en-US" sz="405" dirty="0"/>
          </a:p>
        </p:txBody>
      </p:sp>
      <p:sp>
        <p:nvSpPr>
          <p:cNvPr id="80" name="Shape 73"/>
          <p:cNvSpPr/>
          <p:nvPr/>
        </p:nvSpPr>
        <p:spPr>
          <a:xfrm>
            <a:off x="5617845" y="1765221"/>
            <a:ext cx="1463040" cy="2749629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1A2040">
                  <a:alpha val="85000"/>
                </a:srgbClr>
              </a:gs>
              <a:gs pos="100000">
                <a:srgbClr val="111627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5617845" y="1765221"/>
            <a:ext cx="14516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2" name="Shape 75"/>
          <p:cNvSpPr/>
          <p:nvPr/>
        </p:nvSpPr>
        <p:spPr>
          <a:xfrm>
            <a:off x="6726555" y="4160520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3" name="Shape 76"/>
          <p:cNvSpPr/>
          <p:nvPr/>
        </p:nvSpPr>
        <p:spPr>
          <a:xfrm>
            <a:off x="6149340" y="1570911"/>
            <a:ext cx="400050" cy="400050"/>
          </a:xfrm>
          <a:prstGeom prst="ellipse">
            <a:avLst/>
          </a:prstGeom>
          <a:solidFill>
            <a:srgbClr val="111627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45000"/>
              </a:srgbClr>
            </a:outerShdw>
          </a:effectLst>
        </p:spPr>
      </p:sp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57925" y="1679496"/>
            <a:ext cx="182880" cy="182880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6180773" y="2170986"/>
            <a:ext cx="4000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04</a:t>
            </a:r>
            <a:endParaRPr lang="en-US" sz="495" dirty="0"/>
          </a:p>
        </p:txBody>
      </p:sp>
      <p:sp>
        <p:nvSpPr>
          <p:cNvPr id="86" name="Text 78"/>
          <p:cNvSpPr/>
          <p:nvPr/>
        </p:nvSpPr>
        <p:spPr>
          <a:xfrm>
            <a:off x="6132195" y="2308146"/>
            <a:ext cx="5372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文化输出</a:t>
            </a:r>
            <a:endParaRPr lang="en-US" sz="810" dirty="0"/>
          </a:p>
        </p:txBody>
      </p:sp>
      <p:sp>
        <p:nvSpPr>
          <p:cNvPr id="87" name="Shape 79"/>
          <p:cNvSpPr/>
          <p:nvPr/>
        </p:nvSpPr>
        <p:spPr>
          <a:xfrm>
            <a:off x="6246495" y="2525316"/>
            <a:ext cx="20574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8" name="Text 80"/>
          <p:cNvSpPr/>
          <p:nvPr/>
        </p:nvSpPr>
        <p:spPr>
          <a:xfrm>
            <a:off x="5726430" y="2628186"/>
            <a:ext cx="1395374" cy="156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495" spc="9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翻译与引进国际开源经典著作，推动开源文化在中文世界的生根发芽与传承。</a:t>
            </a:r>
            <a:endParaRPr lang="en-US" sz="495" dirty="0"/>
          </a:p>
        </p:txBody>
      </p:sp>
      <p:sp>
        <p:nvSpPr>
          <p:cNvPr id="89" name="Shape 81"/>
          <p:cNvSpPr/>
          <p:nvPr/>
        </p:nvSpPr>
        <p:spPr>
          <a:xfrm>
            <a:off x="5895023" y="4286250"/>
            <a:ext cx="21145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90" name="Text 82"/>
          <p:cNvSpPr/>
          <p:nvPr/>
        </p:nvSpPr>
        <p:spPr>
          <a:xfrm>
            <a:off x="5895023" y="428625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翻译</a:t>
            </a:r>
            <a:endParaRPr lang="en-US" sz="405" dirty="0"/>
          </a:p>
        </p:txBody>
      </p:sp>
      <p:sp>
        <p:nvSpPr>
          <p:cNvPr id="91" name="Shape 83"/>
          <p:cNvSpPr/>
          <p:nvPr/>
        </p:nvSpPr>
        <p:spPr>
          <a:xfrm>
            <a:off x="6135053" y="4286250"/>
            <a:ext cx="32004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92" name="Text 84"/>
          <p:cNvSpPr/>
          <p:nvPr/>
        </p:nvSpPr>
        <p:spPr>
          <a:xfrm>
            <a:off x="6135053" y="4286250"/>
            <a:ext cx="371475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经典著作</a:t>
            </a:r>
            <a:endParaRPr lang="en-US" sz="405" dirty="0"/>
          </a:p>
        </p:txBody>
      </p:sp>
      <p:sp>
        <p:nvSpPr>
          <p:cNvPr id="93" name="Shape 85"/>
          <p:cNvSpPr/>
          <p:nvPr/>
        </p:nvSpPr>
        <p:spPr>
          <a:xfrm>
            <a:off x="6483668" y="4286250"/>
            <a:ext cx="32004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94" name="Text 86"/>
          <p:cNvSpPr/>
          <p:nvPr/>
        </p:nvSpPr>
        <p:spPr>
          <a:xfrm>
            <a:off x="6483668" y="4286250"/>
            <a:ext cx="371475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中文世界</a:t>
            </a:r>
            <a:endParaRPr lang="en-US" sz="405" dirty="0"/>
          </a:p>
        </p:txBody>
      </p:sp>
      <p:sp>
        <p:nvSpPr>
          <p:cNvPr id="95" name="Shape 87"/>
          <p:cNvSpPr/>
          <p:nvPr/>
        </p:nvSpPr>
        <p:spPr>
          <a:xfrm>
            <a:off x="7395210" y="1765221"/>
            <a:ext cx="1463040" cy="2749629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1A2040">
                  <a:alpha val="85000"/>
                </a:srgbClr>
              </a:gs>
              <a:gs pos="100000">
                <a:srgbClr val="111627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96" name="Shape 88"/>
          <p:cNvSpPr/>
          <p:nvPr/>
        </p:nvSpPr>
        <p:spPr>
          <a:xfrm>
            <a:off x="7395210" y="1765221"/>
            <a:ext cx="14516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7" name="Shape 89"/>
          <p:cNvSpPr/>
          <p:nvPr/>
        </p:nvSpPr>
        <p:spPr>
          <a:xfrm>
            <a:off x="8503920" y="4160520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8" name="Shape 90"/>
          <p:cNvSpPr/>
          <p:nvPr/>
        </p:nvSpPr>
        <p:spPr>
          <a:xfrm>
            <a:off x="7926705" y="1570911"/>
            <a:ext cx="400050" cy="400050"/>
          </a:xfrm>
          <a:prstGeom prst="ellipse">
            <a:avLst/>
          </a:prstGeom>
          <a:solidFill>
            <a:srgbClr val="111627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45000"/>
              </a:srgbClr>
            </a:outerShdw>
          </a:effectLst>
        </p:spPr>
      </p:sp>
      <p:pic>
        <p:nvPicPr>
          <p:cNvPr id="9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35290" y="1679496"/>
            <a:ext cx="182880" cy="182880"/>
          </a:xfrm>
          <a:prstGeom prst="rect">
            <a:avLst/>
          </a:prstGeom>
        </p:spPr>
      </p:pic>
      <p:sp>
        <p:nvSpPr>
          <p:cNvPr id="100" name="Text 91"/>
          <p:cNvSpPr/>
          <p:nvPr/>
        </p:nvSpPr>
        <p:spPr>
          <a:xfrm>
            <a:off x="7958138" y="2170986"/>
            <a:ext cx="4000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05</a:t>
            </a:r>
            <a:endParaRPr lang="en-US" sz="495" dirty="0"/>
          </a:p>
        </p:txBody>
      </p:sp>
      <p:sp>
        <p:nvSpPr>
          <p:cNvPr id="101" name="Text 92"/>
          <p:cNvSpPr/>
          <p:nvPr/>
        </p:nvSpPr>
        <p:spPr>
          <a:xfrm>
            <a:off x="7909560" y="2308146"/>
            <a:ext cx="5372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开源教育</a:t>
            </a:r>
            <a:endParaRPr lang="en-US" sz="810" dirty="0"/>
          </a:p>
        </p:txBody>
      </p:sp>
      <p:sp>
        <p:nvSpPr>
          <p:cNvPr id="102" name="Shape 93"/>
          <p:cNvSpPr/>
          <p:nvPr/>
        </p:nvSpPr>
        <p:spPr>
          <a:xfrm>
            <a:off x="8023860" y="2525316"/>
            <a:ext cx="20574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3" name="Text 94"/>
          <p:cNvSpPr/>
          <p:nvPr/>
        </p:nvSpPr>
        <p:spPr>
          <a:xfrm>
            <a:off x="7503795" y="2628186"/>
            <a:ext cx="1395374" cy="156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495" spc="9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面向高校与学生群体推广开源，培育下一代开源贡献者与未来的社区领袖。</a:t>
            </a:r>
            <a:endParaRPr lang="en-US" sz="495" dirty="0"/>
          </a:p>
        </p:txBody>
      </p:sp>
      <p:sp>
        <p:nvSpPr>
          <p:cNvPr id="104" name="Shape 95"/>
          <p:cNvSpPr/>
          <p:nvPr/>
        </p:nvSpPr>
        <p:spPr>
          <a:xfrm>
            <a:off x="7726680" y="4286250"/>
            <a:ext cx="21145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05" name="Text 96"/>
          <p:cNvSpPr/>
          <p:nvPr/>
        </p:nvSpPr>
        <p:spPr>
          <a:xfrm>
            <a:off x="7726680" y="428625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高校</a:t>
            </a:r>
            <a:endParaRPr lang="en-US" sz="405" dirty="0"/>
          </a:p>
        </p:txBody>
      </p:sp>
      <p:sp>
        <p:nvSpPr>
          <p:cNvPr id="106" name="Shape 97"/>
          <p:cNvSpPr/>
          <p:nvPr/>
        </p:nvSpPr>
        <p:spPr>
          <a:xfrm>
            <a:off x="7966710" y="4286250"/>
            <a:ext cx="21145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07" name="Text 98"/>
          <p:cNvSpPr/>
          <p:nvPr/>
        </p:nvSpPr>
        <p:spPr>
          <a:xfrm>
            <a:off x="7966710" y="428625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学生</a:t>
            </a:r>
            <a:endParaRPr lang="en-US" sz="405" dirty="0"/>
          </a:p>
        </p:txBody>
      </p:sp>
      <p:sp>
        <p:nvSpPr>
          <p:cNvPr id="108" name="Shape 99"/>
          <p:cNvSpPr/>
          <p:nvPr/>
        </p:nvSpPr>
        <p:spPr>
          <a:xfrm>
            <a:off x="8206740" y="4286250"/>
            <a:ext cx="32004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09" name="Text 100"/>
          <p:cNvSpPr/>
          <p:nvPr/>
        </p:nvSpPr>
        <p:spPr>
          <a:xfrm>
            <a:off x="8206740" y="4286250"/>
            <a:ext cx="371475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领袖培育</a:t>
            </a:r>
            <a:endParaRPr lang="en-US" sz="405" dirty="0"/>
          </a:p>
        </p:txBody>
      </p:sp>
      <p:sp>
        <p:nvSpPr>
          <p:cNvPr id="110" name="Text 101"/>
          <p:cNvSpPr/>
          <p:nvPr/>
        </p:nvSpPr>
        <p:spPr>
          <a:xfrm>
            <a:off x="308610" y="4617720"/>
            <a:ext cx="112014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PATHS · 持续推进中</a:t>
            </a:r>
            <a:endParaRPr lang="en-US" sz="540" dirty="0"/>
          </a:p>
        </p:txBody>
      </p:sp>
      <p:sp>
        <p:nvSpPr>
          <p:cNvPr id="111" name="Text 102"/>
          <p:cNvSpPr/>
          <p:nvPr/>
        </p:nvSpPr>
        <p:spPr>
          <a:xfrm>
            <a:off x="6675120" y="4629150"/>
            <a:ext cx="241950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CONTENT → COMMUNITY → ENTERPRISE → CULTURE → EDUCATION</a:t>
            </a:r>
            <a:endParaRPr lang="en-US" sz="450" dirty="0"/>
          </a:p>
        </p:txBody>
      </p:sp>
      <p:sp>
        <p:nvSpPr>
          <p:cNvPr id="112" name="Shape 103"/>
          <p:cNvSpPr/>
          <p:nvPr/>
        </p:nvSpPr>
        <p:spPr>
          <a:xfrm>
            <a:off x="285750" y="4760595"/>
            <a:ext cx="8572500" cy="5715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13" name="Shape 104"/>
          <p:cNvSpPr/>
          <p:nvPr/>
        </p:nvSpPr>
        <p:spPr>
          <a:xfrm>
            <a:off x="291465" y="4766310"/>
            <a:ext cx="8561070" cy="45720"/>
          </a:xfrm>
          <a:prstGeom prst="roundRect">
            <a:avLst>
              <a:gd name="adj" fmla="val 62500"/>
            </a:avLst>
          </a:prstGeom>
          <a:gradFill rotWithShape="1">
            <a:gsLst>
              <a:gs pos="0">
                <a:srgbClr val="2196F3"/>
              </a:gs>
              <a:gs pos="30000">
                <a:srgbClr val="00BCD4"/>
              </a:gs>
              <a:gs pos="50000">
                <a:srgbClr val="4FC3F7"/>
              </a:gs>
              <a:gs pos="70000">
                <a:srgbClr val="00BCD4"/>
              </a:gs>
              <a:gs pos="100000">
                <a:srgbClr val="2196F3"/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45000"/>
              </a:srgbClr>
            </a:outerShdw>
          </a:effectLst>
        </p:spPr>
      </p:sp>
      <p:sp>
        <p:nvSpPr>
          <p:cNvPr id="114" name="Shape 105"/>
          <p:cNvSpPr/>
          <p:nvPr/>
        </p:nvSpPr>
        <p:spPr>
          <a:xfrm>
            <a:off x="291465" y="4766310"/>
            <a:ext cx="8561070" cy="457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5" name="Text 106"/>
          <p:cNvSpPr/>
          <p:nvPr/>
        </p:nvSpPr>
        <p:spPr>
          <a:xfrm>
            <a:off x="400050" y="4886325"/>
            <a:ext cx="46291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450" dirty="0"/>
          </a:p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内容创作</a:t>
            </a:r>
            <a:endParaRPr lang="en-US" sz="450" dirty="0"/>
          </a:p>
        </p:txBody>
      </p:sp>
      <p:sp>
        <p:nvSpPr>
          <p:cNvPr id="116" name="Shape 107"/>
          <p:cNvSpPr/>
          <p:nvPr/>
        </p:nvSpPr>
        <p:spPr>
          <a:xfrm>
            <a:off x="400050" y="49091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117" name="Text 108"/>
          <p:cNvSpPr/>
          <p:nvPr/>
        </p:nvSpPr>
        <p:spPr>
          <a:xfrm>
            <a:off x="2384584" y="4886325"/>
            <a:ext cx="46291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450" dirty="0"/>
          </a:p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社区连接</a:t>
            </a:r>
            <a:endParaRPr lang="en-US" sz="450" dirty="0"/>
          </a:p>
        </p:txBody>
      </p:sp>
      <p:sp>
        <p:nvSpPr>
          <p:cNvPr id="118" name="Shape 109"/>
          <p:cNvSpPr/>
          <p:nvPr/>
        </p:nvSpPr>
        <p:spPr>
          <a:xfrm>
            <a:off x="2384584" y="49091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119" name="Text 110"/>
          <p:cNvSpPr/>
          <p:nvPr/>
        </p:nvSpPr>
        <p:spPr>
          <a:xfrm>
            <a:off x="4369118" y="4886325"/>
            <a:ext cx="46291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450" dirty="0"/>
          </a:p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企业赋能</a:t>
            </a:r>
            <a:endParaRPr lang="en-US" sz="450" dirty="0"/>
          </a:p>
        </p:txBody>
      </p:sp>
      <p:sp>
        <p:nvSpPr>
          <p:cNvPr id="120" name="Shape 111"/>
          <p:cNvSpPr/>
          <p:nvPr/>
        </p:nvSpPr>
        <p:spPr>
          <a:xfrm>
            <a:off x="4369118" y="49091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121" name="Text 112"/>
          <p:cNvSpPr/>
          <p:nvPr/>
        </p:nvSpPr>
        <p:spPr>
          <a:xfrm>
            <a:off x="6353651" y="4886325"/>
            <a:ext cx="46291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450" dirty="0"/>
          </a:p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文化输出</a:t>
            </a:r>
            <a:endParaRPr lang="en-US" sz="450" dirty="0"/>
          </a:p>
        </p:txBody>
      </p:sp>
      <p:sp>
        <p:nvSpPr>
          <p:cNvPr id="122" name="Shape 113"/>
          <p:cNvSpPr/>
          <p:nvPr/>
        </p:nvSpPr>
        <p:spPr>
          <a:xfrm>
            <a:off x="6353651" y="49091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123" name="Text 114"/>
          <p:cNvSpPr/>
          <p:nvPr/>
        </p:nvSpPr>
        <p:spPr>
          <a:xfrm>
            <a:off x="8338185" y="4886325"/>
            <a:ext cx="46291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450" dirty="0"/>
          </a:p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开源教育</a:t>
            </a:r>
            <a:endParaRPr lang="en-US" sz="450" dirty="0"/>
          </a:p>
        </p:txBody>
      </p:sp>
      <p:sp>
        <p:nvSpPr>
          <p:cNvPr id="124" name="Shape 115"/>
          <p:cNvSpPr/>
          <p:nvPr/>
        </p:nvSpPr>
        <p:spPr>
          <a:xfrm>
            <a:off x="8338185" y="49091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0" y="857250"/>
            <a:ext cx="3429000" cy="3429000"/>
          </a:xfrm>
          <a:prstGeom prst="ellipse">
            <a:avLst/>
          </a:prstGeom>
          <a:noFill/>
          <a:ln w="5715">
            <a:solidFill>
              <a:srgbClr val="2196F3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285750"/>
            <a:ext cx="4572000" cy="4572000"/>
          </a:xfrm>
          <a:prstGeom prst="ellipse">
            <a:avLst/>
          </a:prstGeom>
          <a:noFill/>
          <a:ln w="5715">
            <a:solidFill>
              <a:srgbClr val="00BCD4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14500" y="-285750"/>
            <a:ext cx="5715000" cy="5715000"/>
          </a:xfrm>
          <a:prstGeom prst="ellipse">
            <a:avLst/>
          </a:prstGeom>
          <a:noFill/>
          <a:ln w="5715">
            <a:solidFill>
              <a:srgbClr val="2196F3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0250" y="-205740"/>
            <a:ext cx="5143500" cy="51435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1450" y="171450"/>
            <a:ext cx="457200" cy="4572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171450" y="171450"/>
            <a:ext cx="457200" cy="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450" y="171450"/>
            <a:ext cx="0" cy="45720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15350" y="17145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8515350" y="171450"/>
            <a:ext cx="457200" cy="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2550" y="171450"/>
            <a:ext cx="0" cy="45720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450" y="451485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71450" y="4972050"/>
            <a:ext cx="457200" cy="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450" y="4514850"/>
            <a:ext cx="0" cy="45720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5350" y="451485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8972550" y="4514850"/>
            <a:ext cx="0" cy="45720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15350" y="4972050"/>
            <a:ext cx="457200" cy="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9010" y="4886325"/>
            <a:ext cx="5772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FREE CODE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4114800" y="4917758"/>
            <a:ext cx="22860" cy="228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9100" y="4886325"/>
            <a:ext cx="76809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BETTER WORLD</a:t>
            </a:r>
            <a:endParaRPr lang="en-US" sz="495" dirty="0"/>
          </a:p>
        </p:txBody>
      </p:sp>
      <p:sp>
        <p:nvSpPr>
          <p:cNvPr id="21" name="Shape 19"/>
          <p:cNvSpPr/>
          <p:nvPr/>
        </p:nvSpPr>
        <p:spPr>
          <a:xfrm>
            <a:off x="5006340" y="4917758"/>
            <a:ext cx="22860" cy="228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4886325"/>
            <a:ext cx="5772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THANK YOU</a:t>
            </a:r>
            <a:endParaRPr lang="en-US" sz="495" dirty="0"/>
          </a:p>
        </p:txBody>
      </p:sp>
      <p:sp>
        <p:nvSpPr>
          <p:cNvPr id="23" name="Shape 21"/>
          <p:cNvSpPr/>
          <p:nvPr/>
        </p:nvSpPr>
        <p:spPr>
          <a:xfrm>
            <a:off x="3360420" y="962442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4" name="Text 22"/>
          <p:cNvSpPr/>
          <p:nvPr/>
        </p:nvSpPr>
        <p:spPr>
          <a:xfrm>
            <a:off x="3794760" y="913864"/>
            <a:ext cx="174101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36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 FINAL CHAPTER</a:t>
            </a:r>
            <a:endParaRPr lang="en-US" sz="585" dirty="0"/>
          </a:p>
        </p:txBody>
      </p:sp>
      <p:sp>
        <p:nvSpPr>
          <p:cNvPr id="25" name="Shape 23"/>
          <p:cNvSpPr/>
          <p:nvPr/>
        </p:nvSpPr>
        <p:spPr>
          <a:xfrm>
            <a:off x="5440680" y="962442"/>
            <a:ext cx="3429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2443163" y="1199614"/>
            <a:ext cx="1280160" cy="49720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240" b="1" spc="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</a:t>
            </a:r>
            <a:endParaRPr lang="en-US" sz="3240" dirty="0"/>
          </a:p>
        </p:txBody>
      </p:sp>
      <p:sp>
        <p:nvSpPr>
          <p:cNvPr id="27" name="Text 25"/>
          <p:cNvSpPr/>
          <p:nvPr/>
        </p:nvSpPr>
        <p:spPr>
          <a:xfrm>
            <a:off x="3403283" y="1199614"/>
            <a:ext cx="699516" cy="49720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8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240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3240" dirty="0"/>
          </a:p>
        </p:txBody>
      </p:sp>
      <p:sp>
        <p:nvSpPr>
          <p:cNvPr id="28" name="Text 26"/>
          <p:cNvSpPr/>
          <p:nvPr/>
        </p:nvSpPr>
        <p:spPr>
          <a:xfrm>
            <a:off x="3660458" y="1199614"/>
            <a:ext cx="3451860" cy="49720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240" b="1" spc="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献给世界的礼物</a:t>
            </a:r>
            <a:endParaRPr lang="en-US" sz="3240" dirty="0"/>
          </a:p>
        </p:txBody>
      </p:sp>
      <p:sp>
        <p:nvSpPr>
          <p:cNvPr id="29" name="Text 27"/>
          <p:cNvSpPr/>
          <p:nvPr/>
        </p:nvSpPr>
        <p:spPr>
          <a:xfrm>
            <a:off x="3543300" y="1799689"/>
            <a:ext cx="2304288" cy="2000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80" spc="54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愿代码自由，世界更好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000500" y="2182594"/>
            <a:ext cx="1143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2196F3"/>
              </a:gs>
              <a:gs pos="50000">
                <a:srgbClr val="00BCD4"/>
              </a:gs>
              <a:gs pos="75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 rot="2700000">
            <a:off x="4572000" y="2165449"/>
            <a:ext cx="40005" cy="4000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948815" y="2348329"/>
            <a:ext cx="1657350" cy="1018252"/>
          </a:xfrm>
          <a:prstGeom prst="roundRect">
            <a:avLst>
              <a:gd name="adj" fmla="val 6735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48815" y="2348329"/>
            <a:ext cx="164592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7560" y="2491204"/>
            <a:ext cx="114300" cy="1143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091690" y="2479774"/>
            <a:ext cx="15361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ACT</a:t>
            </a:r>
            <a:endParaRPr lang="en-US" sz="585" dirty="0"/>
          </a:p>
        </p:txBody>
      </p:sp>
      <p:sp>
        <p:nvSpPr>
          <p:cNvPr id="36" name="Text 33"/>
          <p:cNvSpPr/>
          <p:nvPr/>
        </p:nvSpPr>
        <p:spPr>
          <a:xfrm>
            <a:off x="2091690" y="2634079"/>
            <a:ext cx="731520" cy="16573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FFD54F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90" kern="0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持续行动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2091690" y="2885539"/>
            <a:ext cx="1520190" cy="324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阅读是起点，行动才是关键。从提交第一个 PR 开始，真正参与开源共建，让每一份代码都成为改变世界的支点。</a:t>
            </a:r>
            <a:endParaRPr lang="en-US" sz="540" dirty="0"/>
          </a:p>
        </p:txBody>
      </p:sp>
      <p:sp>
        <p:nvSpPr>
          <p:cNvPr id="38" name="Shape 35"/>
          <p:cNvSpPr/>
          <p:nvPr/>
        </p:nvSpPr>
        <p:spPr>
          <a:xfrm>
            <a:off x="3743325" y="2348329"/>
            <a:ext cx="1657350" cy="1018252"/>
          </a:xfrm>
          <a:prstGeom prst="roundRect">
            <a:avLst>
              <a:gd name="adj" fmla="val 6735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743325" y="2348329"/>
            <a:ext cx="164592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2070" y="2491204"/>
            <a:ext cx="114300" cy="1143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3886200" y="2479774"/>
            <a:ext cx="15361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OPEN</a:t>
            </a:r>
            <a:endParaRPr lang="en-US" sz="585" dirty="0"/>
          </a:p>
        </p:txBody>
      </p:sp>
      <p:sp>
        <p:nvSpPr>
          <p:cNvPr id="42" name="Text 38"/>
          <p:cNvSpPr/>
          <p:nvPr/>
        </p:nvSpPr>
        <p:spPr>
          <a:xfrm>
            <a:off x="3886200" y="2634079"/>
            <a:ext cx="731520" cy="16573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FFD54F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90" kern="0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保持开放</a:t>
            </a:r>
            <a:endParaRPr lang="en-US" sz="1080" dirty="0"/>
          </a:p>
        </p:txBody>
      </p:sp>
      <p:sp>
        <p:nvSpPr>
          <p:cNvPr id="43" name="Text 39"/>
          <p:cNvSpPr/>
          <p:nvPr/>
        </p:nvSpPr>
        <p:spPr>
          <a:xfrm>
            <a:off x="3886200" y="2885539"/>
            <a:ext cx="1520190" cy="324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保持开放心态，拥抱不同观点与协作方式。让开源精神融入日常工作与生活，成为思维与行动的自然底色。</a:t>
            </a:r>
            <a:endParaRPr lang="en-US" sz="540" dirty="0"/>
          </a:p>
        </p:txBody>
      </p:sp>
      <p:sp>
        <p:nvSpPr>
          <p:cNvPr id="44" name="Shape 40"/>
          <p:cNvSpPr/>
          <p:nvPr/>
        </p:nvSpPr>
        <p:spPr>
          <a:xfrm>
            <a:off x="5537835" y="2348329"/>
            <a:ext cx="1657350" cy="1018252"/>
          </a:xfrm>
          <a:prstGeom prst="roundRect">
            <a:avLst>
              <a:gd name="adj" fmla="val 6735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537835" y="2348329"/>
            <a:ext cx="164592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6580" y="2491204"/>
            <a:ext cx="114300" cy="11430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5680710" y="2479774"/>
            <a:ext cx="15361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FUTURE</a:t>
            </a:r>
            <a:endParaRPr lang="en-US" sz="585" dirty="0"/>
          </a:p>
        </p:txBody>
      </p:sp>
      <p:sp>
        <p:nvSpPr>
          <p:cNvPr id="48" name="Text 43"/>
          <p:cNvSpPr/>
          <p:nvPr/>
        </p:nvSpPr>
        <p:spPr>
          <a:xfrm>
            <a:off x="5680710" y="2634079"/>
            <a:ext cx="731520" cy="16573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FFD54F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90" kern="0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共赴未来</a:t>
            </a:r>
            <a:endParaRPr lang="en-US" sz="1080" dirty="0"/>
          </a:p>
        </p:txBody>
      </p:sp>
      <p:sp>
        <p:nvSpPr>
          <p:cNvPr id="49" name="Text 44"/>
          <p:cNvSpPr/>
          <p:nvPr/>
        </p:nvSpPr>
        <p:spPr>
          <a:xfrm>
            <a:off x="5680710" y="2885539"/>
            <a:ext cx="1520190" cy="324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携手共建更自由、更开放、更美好的数字世界。开源不仅是技术选择，更是一场关于自由、协作与分享的人类实践。</a:t>
            </a:r>
            <a:endParaRPr lang="en-US" sz="540" dirty="0"/>
          </a:p>
        </p:txBody>
      </p:sp>
      <p:sp>
        <p:nvSpPr>
          <p:cNvPr id="50" name="Text 45"/>
          <p:cNvSpPr/>
          <p:nvPr/>
        </p:nvSpPr>
        <p:spPr>
          <a:xfrm>
            <a:off x="3031808" y="3549461"/>
            <a:ext cx="345003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 A GIFT TO THE WORLD —</a:t>
            </a:r>
            <a:endParaRPr lang="en-US" sz="540" dirty="0"/>
          </a:p>
        </p:txBody>
      </p:sp>
      <p:sp>
        <p:nvSpPr>
          <p:cNvPr id="51" name="Text 46"/>
          <p:cNvSpPr/>
          <p:nvPr/>
        </p:nvSpPr>
        <p:spPr>
          <a:xfrm>
            <a:off x="3714750" y="3743771"/>
            <a:ext cx="1965960" cy="3086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980" b="1" spc="720" kern="0" dirty="0">
                <a:solidFill>
                  <a:srgbClr val="E0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愿代码自由</a:t>
            </a:r>
            <a:endParaRPr lang="en-US" sz="1980" dirty="0"/>
          </a:p>
        </p:txBody>
      </p:sp>
      <p:sp>
        <p:nvSpPr>
          <p:cNvPr id="52" name="Text 47"/>
          <p:cNvSpPr/>
          <p:nvPr/>
        </p:nvSpPr>
        <p:spPr>
          <a:xfrm>
            <a:off x="3031808" y="4120961"/>
            <a:ext cx="345003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18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献给世界的礼物  ·  OPEN SOURCE FOR A BETTER WORLD</a:t>
            </a:r>
            <a:endParaRPr lang="en-US" sz="5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2026-08-27T17:03:27Z</dcterms:created>
  <dcterms:modified xsi:type="dcterms:W3CDTF">2026-08-27T17:03:27Z</dcterms:modified>
</cp:coreProperties>
</file>