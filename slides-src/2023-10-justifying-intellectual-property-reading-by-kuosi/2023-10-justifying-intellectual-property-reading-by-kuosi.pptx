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17195"/>
            <a:ext cx="16002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417195" y="342900"/>
            <a:ext cx="5715" cy="1600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417195"/>
            <a:ext cx="16002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8715375" y="342900"/>
            <a:ext cx="5715" cy="1600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" y="4714875"/>
            <a:ext cx="16002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417195" y="4640580"/>
            <a:ext cx="5715" cy="1600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8641080" y="4714875"/>
            <a:ext cx="16002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8715375" y="4640580"/>
            <a:ext cx="5715" cy="1600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525780"/>
            <a:ext cx="777240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4612005"/>
            <a:ext cx="7772400" cy="571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508635"/>
            <a:ext cx="28575" cy="28575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3" name="Shape 11"/>
          <p:cNvSpPr/>
          <p:nvPr/>
        </p:nvSpPr>
        <p:spPr>
          <a:xfrm>
            <a:off x="8429625" y="508635"/>
            <a:ext cx="28575" cy="28575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606290"/>
            <a:ext cx="28575" cy="28575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9625" y="4606290"/>
            <a:ext cx="28575" cy="28575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8630" y="1143000"/>
            <a:ext cx="154305" cy="1374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17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SENSENOVA · OPEN SOURCE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8583930" y="2761149"/>
            <a:ext cx="154305" cy="1239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17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JUBU · SHARED READING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685800" y="674370"/>
            <a:ext cx="12573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" y="628650"/>
            <a:ext cx="136597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NO. 10 · OPEN-BOOK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7364313" y="628650"/>
            <a:ext cx="9947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CIRCLE OPENED</a:t>
            </a:r>
            <a:endParaRPr lang="en-US" sz="540" dirty="0"/>
          </a:p>
        </p:txBody>
      </p:sp>
      <p:sp>
        <p:nvSpPr>
          <p:cNvPr id="21" name="Shape 19"/>
          <p:cNvSpPr/>
          <p:nvPr/>
        </p:nvSpPr>
        <p:spPr>
          <a:xfrm>
            <a:off x="8332470" y="674370"/>
            <a:ext cx="12573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2" name="Text 20"/>
          <p:cNvSpPr/>
          <p:nvPr/>
        </p:nvSpPr>
        <p:spPr>
          <a:xfrm>
            <a:off x="3134588" y="1245870"/>
            <a:ext cx="156059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351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SHARED READING</a:t>
            </a:r>
            <a:endParaRPr lang="en-US" sz="585" dirty="0"/>
          </a:p>
        </p:txBody>
      </p:sp>
      <p:sp>
        <p:nvSpPr>
          <p:cNvPr id="23" name="Shape 21"/>
          <p:cNvSpPr/>
          <p:nvPr/>
        </p:nvSpPr>
        <p:spPr>
          <a:xfrm rot="2700000">
            <a:off x="4630847" y="1288554"/>
            <a:ext cx="34290" cy="342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68007" y="1245870"/>
            <a:ext cx="139027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351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 · OCTOBER</a:t>
            </a:r>
            <a:endParaRPr lang="en-US" sz="585" dirty="0"/>
          </a:p>
        </p:txBody>
      </p:sp>
      <p:sp>
        <p:nvSpPr>
          <p:cNvPr id="25" name="Text 23"/>
          <p:cNvSpPr/>
          <p:nvPr/>
        </p:nvSpPr>
        <p:spPr>
          <a:xfrm>
            <a:off x="0" y="1617345"/>
            <a:ext cx="10241280" cy="678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60" b="1" spc="583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</a:t>
            </a:r>
            <a:pPr algn="ctr" indent="0" marL="0">
              <a:lnSpc>
                <a:spcPct val="110000"/>
              </a:lnSpc>
              <a:buNone/>
            </a:pPr>
            <a:r>
              <a:rPr lang="en-US" sz="4860" b="1" spc="583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ct val="110000"/>
              </a:lnSpc>
              <a:buNone/>
            </a:pPr>
            <a:r>
              <a:rPr lang="en-US" sz="4860" b="1" spc="583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源之</a:t>
            </a:r>
            <a:pPr algn="ctr" indent="0" marL="0">
              <a:lnSpc>
                <a:spcPct val="110000"/>
              </a:lnSpc>
              <a:buNone/>
            </a:pPr>
            <a:r>
              <a:rPr lang="en-US" sz="4860" b="1" spc="583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ct val="110000"/>
              </a:lnSpc>
              <a:buNone/>
            </a:pPr>
            <a:r>
              <a:rPr lang="en-US" sz="4860" b="1" spc="583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</a:t>
            </a:r>
            <a:endParaRPr lang="en-US" sz="4860" dirty="0"/>
          </a:p>
        </p:txBody>
      </p:sp>
      <p:sp>
        <p:nvSpPr>
          <p:cNvPr id="26" name="Text 24"/>
          <p:cNvSpPr/>
          <p:nvPr/>
        </p:nvSpPr>
        <p:spPr>
          <a:xfrm>
            <a:off x="0" y="2479149"/>
            <a:ext cx="1024128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i="1" spc="317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Justifying  Intellectual  Property</a:t>
            </a:r>
            <a:endParaRPr lang="en-US" sz="990" dirty="0"/>
          </a:p>
        </p:txBody>
      </p:sp>
      <p:sp>
        <p:nvSpPr>
          <p:cNvPr id="27" name="Text 25"/>
          <p:cNvSpPr/>
          <p:nvPr/>
        </p:nvSpPr>
        <p:spPr>
          <a:xfrm>
            <a:off x="3683318" y="2782044"/>
            <a:ext cx="78009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spc="338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 月 共 读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4551998" y="2844463"/>
            <a:ext cx="16002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86325" y="2782044"/>
            <a:ext cx="66008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spc="338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适兕 分享</a:t>
            </a:r>
            <a:endParaRPr lang="en-US" sz="675" dirty="0"/>
          </a:p>
        </p:txBody>
      </p:sp>
      <p:sp>
        <p:nvSpPr>
          <p:cNvPr id="30" name="Shape 28"/>
          <p:cNvSpPr/>
          <p:nvPr/>
        </p:nvSpPr>
        <p:spPr>
          <a:xfrm>
            <a:off x="1257300" y="3543300"/>
            <a:ext cx="2042130" cy="555784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1257300" y="3543300"/>
            <a:ext cx="2042130" cy="0"/>
          </a:xfrm>
          <a:prstGeom prst="line">
            <a:avLst/>
          </a:prstGeom>
          <a:noFill/>
          <a:ln w="5715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7300" y="3543300"/>
            <a:ext cx="2287186" cy="555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Ⅰ  正当性</a:t>
            </a:r>
            <a:endParaRPr lang="en-US" sz="58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一场关于"正当性"的追问——权利并非天然存在，它需要哲学、法律与社会实践的共同担保。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3550890" y="3543300"/>
            <a:ext cx="2042130" cy="555784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3550890" y="3543300"/>
            <a:ext cx="2042130" cy="0"/>
          </a:xfrm>
          <a:prstGeom prst="line">
            <a:avLst/>
          </a:prstGeom>
          <a:noFill/>
          <a:ln w="5715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0890" y="3543300"/>
            <a:ext cx="2287186" cy="555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Ⅱ  坐标</a:t>
            </a:r>
            <a:endParaRPr lang="en-US" sz="58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从知识产权到开源——以经典 IP 理论为坐标，重新审视开源软件为何能被称作"作品"。</a:t>
            </a:r>
            <a:endParaRPr lang="en-US" sz="585" dirty="0"/>
          </a:p>
        </p:txBody>
      </p:sp>
      <p:sp>
        <p:nvSpPr>
          <p:cNvPr id="36" name="Shape 34"/>
          <p:cNvSpPr/>
          <p:nvPr/>
        </p:nvSpPr>
        <p:spPr>
          <a:xfrm>
            <a:off x="5844480" y="3543300"/>
            <a:ext cx="2042220" cy="555784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5844480" y="3543300"/>
            <a:ext cx="2042220" cy="0"/>
          </a:xfrm>
          <a:prstGeom prst="line">
            <a:avLst/>
          </a:prstGeom>
          <a:noFill/>
          <a:ln w="5715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44480" y="3543300"/>
            <a:ext cx="2287286" cy="555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Ⅲ  记录</a:t>
            </a:r>
            <a:endParaRPr lang="en-US" sz="58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2023-10 · 开源之道——适兕读书会共读，记录思路、争议与未尽之问。</a:t>
            </a:r>
            <a:endParaRPr lang="en-US" sz="585" dirty="0"/>
          </a:p>
        </p:txBody>
      </p:sp>
      <p:sp>
        <p:nvSpPr>
          <p:cNvPr id="39" name="Text 37"/>
          <p:cNvSpPr/>
          <p:nvPr/>
        </p:nvSpPr>
        <p:spPr>
          <a:xfrm>
            <a:off x="685800" y="4189095"/>
            <a:ext cx="639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0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周期</a:t>
            </a:r>
            <a:endParaRPr lang="en-US" sz="450" dirty="0"/>
          </a:p>
        </p:txBody>
      </p:sp>
      <p:sp>
        <p:nvSpPr>
          <p:cNvPr id="40" name="Text 38"/>
          <p:cNvSpPr/>
          <p:nvPr/>
        </p:nvSpPr>
        <p:spPr>
          <a:xfrm>
            <a:off x="685800" y="4320540"/>
            <a:ext cx="673477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65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2023  ·  10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2705427" y="4126230"/>
            <a:ext cx="168341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347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2023 — 10</a:t>
            </a:r>
            <a:endParaRPr lang="en-US" sz="990" dirty="0"/>
          </a:p>
        </p:txBody>
      </p:sp>
      <p:sp>
        <p:nvSpPr>
          <p:cNvPr id="42" name="Text 40"/>
          <p:cNvSpPr/>
          <p:nvPr/>
        </p:nvSpPr>
        <p:spPr>
          <a:xfrm>
            <a:off x="2705427" y="4383405"/>
            <a:ext cx="16834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0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MONTHLY · READING · CIRCLE</a:t>
            </a:r>
            <a:endParaRPr lang="en-US" sz="450" dirty="0"/>
          </a:p>
        </p:txBody>
      </p:sp>
      <p:sp>
        <p:nvSpPr>
          <p:cNvPr id="43" name="Text 41"/>
          <p:cNvSpPr/>
          <p:nvPr/>
        </p:nvSpPr>
        <p:spPr>
          <a:xfrm>
            <a:off x="6023521" y="4189095"/>
            <a:ext cx="26003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0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议 题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5657582" y="4320540"/>
            <a:ext cx="67169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65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IP 正 当 性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8255318" y="4189095"/>
            <a:ext cx="26003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0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 色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7675424" y="4320540"/>
            <a:ext cx="885646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65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开源之道 · 适兕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0" y="4760595"/>
            <a:ext cx="102412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25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SENOVA · OPEN BOOK SERIES · AUTUMN 2023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7180"/>
            <a:ext cx="8229600" cy="229672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57200" y="526852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34863"/>
            <a:ext cx="34290" cy="3429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297180"/>
            <a:ext cx="438983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章节过渡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1021913" y="297180"/>
            <a:ext cx="161181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1194524" y="297180"/>
            <a:ext cx="294948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 章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7592824" y="302895"/>
            <a:ext cx="6240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知识产权议题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8258086" y="302895"/>
            <a:ext cx="16118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DDDD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／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8460432" y="302895"/>
            <a:ext cx="29494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 点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457200" y="1064597"/>
            <a:ext cx="13716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" y="1012627"/>
            <a:ext cx="52578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27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02 章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457200" y="1213723"/>
            <a:ext cx="5314146" cy="13496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2960" b="1" spc="-38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2960" dirty="0"/>
          </a:p>
        </p:txBody>
      </p:sp>
      <p:sp>
        <p:nvSpPr>
          <p:cNvPr id="14" name="Text 12"/>
          <p:cNvSpPr/>
          <p:nvPr/>
        </p:nvSpPr>
        <p:spPr>
          <a:xfrm>
            <a:off x="457200" y="2757666"/>
            <a:ext cx="4108413" cy="376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30" b="1" spc="4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起点</a:t>
            </a:r>
            <a:pPr algn="l" indent="0" marL="0">
              <a:lnSpc>
                <a:spcPct val="122000"/>
              </a:lnSpc>
              <a:buNone/>
            </a:pPr>
            <a:r>
              <a:rPr lang="en-US" sz="2430" b="1" spc="4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l" indent="0" marL="0">
              <a:lnSpc>
                <a:spcPct val="122000"/>
              </a:lnSpc>
              <a:buNone/>
            </a:pPr>
            <a:r>
              <a:rPr lang="en-US" sz="2430" b="1" spc="4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何为知识产权</a:t>
            </a:r>
            <a:endParaRPr lang="en-US" sz="2430" dirty="0"/>
          </a:p>
        </p:txBody>
      </p:sp>
      <p:sp>
        <p:nvSpPr>
          <p:cNvPr id="15" name="Text 13"/>
          <p:cNvSpPr/>
          <p:nvPr/>
        </p:nvSpPr>
        <p:spPr>
          <a:xfrm>
            <a:off x="457200" y="3248442"/>
            <a:ext cx="4108413" cy="1553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65" spc="61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权利从何而来,又是为谁而设</a:t>
            </a:r>
            <a:endParaRPr lang="en-US" sz="765" dirty="0"/>
          </a:p>
        </p:txBody>
      </p:sp>
      <p:sp>
        <p:nvSpPr>
          <p:cNvPr id="16" name="Text 14"/>
          <p:cNvSpPr/>
          <p:nvPr/>
        </p:nvSpPr>
        <p:spPr>
          <a:xfrm>
            <a:off x="4468326" y="1050042"/>
            <a:ext cx="634365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270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 心 命 题</a:t>
            </a:r>
            <a:endParaRPr lang="en-US" sz="540" dirty="0"/>
          </a:p>
        </p:txBody>
      </p:sp>
      <p:sp>
        <p:nvSpPr>
          <p:cNvPr id="17" name="Shape 15"/>
          <p:cNvSpPr/>
          <p:nvPr/>
        </p:nvSpPr>
        <p:spPr>
          <a:xfrm>
            <a:off x="5125551" y="1102013"/>
            <a:ext cx="3192542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09533" y="1054596"/>
            <a:ext cx="340043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 · 项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4468326" y="1239709"/>
            <a:ext cx="4218384" cy="708928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468326" y="1948636"/>
            <a:ext cx="4218384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8326" y="1365439"/>
            <a:ext cx="417195" cy="451753"/>
          </a:xfrm>
          <a:prstGeom prst="rect">
            <a:avLst/>
          </a:prstGeom>
          <a:noFill/>
          <a:ln/>
        </p:spPr>
        <p:txBody>
          <a:bodyPr wrap="none" lIns="4572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88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4925526" y="1365439"/>
            <a:ext cx="4212527" cy="256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60" b="1" spc="38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无形之物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925526" y="1667173"/>
            <a:ext cx="421252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1A1A1A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与土地、机器不同,知识产权的对象是思想、表达与符号,可复制、无损耗。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4468326" y="1948636"/>
            <a:ext cx="4218384" cy="708928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4468326" y="2657564"/>
            <a:ext cx="4218384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8326" y="2074366"/>
            <a:ext cx="417195" cy="451753"/>
          </a:xfrm>
          <a:prstGeom prst="rect">
            <a:avLst/>
          </a:prstGeom>
          <a:noFill/>
          <a:ln/>
        </p:spPr>
        <p:txBody>
          <a:bodyPr wrap="none" lIns="4572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88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585" dirty="0"/>
          </a:p>
        </p:txBody>
      </p:sp>
      <p:sp>
        <p:nvSpPr>
          <p:cNvPr id="27" name="Text 25"/>
          <p:cNvSpPr/>
          <p:nvPr/>
        </p:nvSpPr>
        <p:spPr>
          <a:xfrm>
            <a:off x="4925526" y="2074366"/>
            <a:ext cx="4212527" cy="256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60" b="1" spc="38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排他特权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925526" y="2376101"/>
            <a:ext cx="421252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1A1A1A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法律授予权利人在一段期限内独占使用、复制、传播的排他性权力。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4468326" y="2657564"/>
            <a:ext cx="4218384" cy="708928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4468326" y="3366492"/>
            <a:ext cx="4218384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8326" y="2783294"/>
            <a:ext cx="417195" cy="451753"/>
          </a:xfrm>
          <a:prstGeom prst="rect">
            <a:avLst/>
          </a:prstGeom>
          <a:noFill/>
          <a:ln/>
        </p:spPr>
        <p:txBody>
          <a:bodyPr wrap="none" lIns="4572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88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4925526" y="2783294"/>
            <a:ext cx="4212527" cy="2560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60" b="1" spc="38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正当性缺口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4925526" y="3085028"/>
            <a:ext cx="421252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1A1A1A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赋予'拥有思想'的社会代价,需要通过哲学论证加以回应。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457200" y="3855393"/>
            <a:ext cx="8229600" cy="1002357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457200" y="3855393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21128"/>
            <a:ext cx="5577697" cy="33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知识产权并非物理世界的天然延伸,而是一种人为建构的</a:t>
            </a:r>
            <a:pPr algn="l" indent="0" marL="0">
              <a:lnSpc>
                <a:spcPct val="195000"/>
              </a:lnSpc>
              <a:buNone/>
            </a:pPr>
            <a:r>
              <a:rPr lang="en-US" sz="675" dirty="0">
                <a:solidFill>
                  <a:srgbClr val="000000">
                    <a:alpha val="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"排他性特权"</a:t>
            </a:r>
            <a:pPr algn="l" indent="0" marL="0">
              <a:lnSpc>
                <a:spcPct val="195000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。由于对象是思想与表达,它天然存在被无损耗复制的可能,这也构成了本议题的起点:为何要保护,又能保护到什么程度。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2543175" y="4043988"/>
            <a:ext cx="497205" cy="13144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2543175" y="4175433"/>
            <a:ext cx="497205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3175" y="4043988"/>
            <a:ext cx="582930" cy="131445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"排他性特权"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5757327" y="4021128"/>
            <a:ext cx="2929473" cy="836622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5757327" y="4021128"/>
            <a:ext cx="0" cy="836622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5922" y="4021128"/>
            <a:ext cx="30697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158" kern="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保护期限 · 专 利</a:t>
            </a:r>
            <a:endParaRPr lang="en-US" sz="450" dirty="0"/>
          </a:p>
        </p:txBody>
      </p:sp>
      <p:sp>
        <p:nvSpPr>
          <p:cNvPr id="43" name="Text 41"/>
          <p:cNvSpPr/>
          <p:nvPr/>
        </p:nvSpPr>
        <p:spPr>
          <a:xfrm>
            <a:off x="5945922" y="4135428"/>
            <a:ext cx="306978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12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 常 20 年</a:t>
            </a:r>
            <a:endParaRPr lang="en-US" sz="585" dirty="0"/>
          </a:p>
        </p:txBody>
      </p:sp>
      <p:sp>
        <p:nvSpPr>
          <p:cNvPr id="44" name="Text 42"/>
          <p:cNvSpPr/>
          <p:nvPr/>
        </p:nvSpPr>
        <p:spPr>
          <a:xfrm>
            <a:off x="5945922" y="4322862"/>
            <a:ext cx="30697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158" kern="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保护期限 · 著作权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5945922" y="4437162"/>
            <a:ext cx="306978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12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作者终生 + 50 / 70 年</a:t>
            </a:r>
            <a:endParaRPr lang="en-US" sz="585" dirty="0"/>
          </a:p>
        </p:txBody>
      </p:sp>
      <p:sp>
        <p:nvSpPr>
          <p:cNvPr id="46" name="Text 44"/>
          <p:cNvSpPr/>
          <p:nvPr/>
        </p:nvSpPr>
        <p:spPr>
          <a:xfrm>
            <a:off x="5945922" y="4624596"/>
            <a:ext cx="306978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spc="158" kern="0" dirty="0">
                <a:solidFill>
                  <a:srgbClr val="BBBB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 心 对 象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5945922" y="4738896"/>
            <a:ext cx="306978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12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思想 · 表达 · 符号</a:t>
            </a:r>
            <a:endParaRPr lang="en-US" sz="5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FEFEF"/>
              </a:gs>
              <a:gs pos="45000">
                <a:srgbClr val="F5F5F5"/>
              </a:gs>
              <a:gs pos="100000">
                <a:srgbClr val="F0F0F0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28650" y="308610"/>
            <a:ext cx="3175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7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</a:t>
            </a:r>
            <a:endParaRPr lang="en-US" sz="495" dirty="0"/>
          </a:p>
        </p:txBody>
      </p:sp>
      <p:sp>
        <p:nvSpPr>
          <p:cNvPr id="4" name="Text 2"/>
          <p:cNvSpPr/>
          <p:nvPr/>
        </p:nvSpPr>
        <p:spPr>
          <a:xfrm>
            <a:off x="7641491" y="308610"/>
            <a:ext cx="978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/ 权利本质与正当性</a:t>
            </a:r>
            <a:endParaRPr lang="en-US" sz="495" dirty="0"/>
          </a:p>
        </p:txBody>
      </p:sp>
      <p:sp>
        <p:nvSpPr>
          <p:cNvPr id="5" name="Text 3"/>
          <p:cNvSpPr/>
          <p:nvPr/>
        </p:nvSpPr>
        <p:spPr>
          <a:xfrm>
            <a:off x="628650" y="491490"/>
            <a:ext cx="8833104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80" b="1" spc="7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权利本质与正当性</a:t>
            </a:r>
            <a:pPr algn="l" indent="0" marL="0">
              <a:lnSpc>
                <a:spcPct val="115000"/>
              </a:lnSpc>
              <a:buNone/>
            </a:pPr>
            <a:r>
              <a:rPr lang="en-US" sz="1980" b="1" spc="7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　·　Nature &amp; Justification of Rights 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628650" y="877788"/>
            <a:ext cx="622935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b="1" spc="10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 然 权 利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1245870" y="872073"/>
            <a:ext cx="1254557" cy="1426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主张思想自作品诞生即被拥有；</a:t>
            </a:r>
            <a:endParaRPr lang="en-US" sz="608" dirty="0"/>
          </a:p>
        </p:txBody>
      </p:sp>
      <p:sp>
        <p:nvSpPr>
          <p:cNvPr id="8" name="Text 6"/>
          <p:cNvSpPr/>
          <p:nvPr/>
        </p:nvSpPr>
        <p:spPr>
          <a:xfrm>
            <a:off x="628650" y="1043791"/>
            <a:ext cx="622935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b="1" spc="10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 度 权 利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1245870" y="1038076"/>
            <a:ext cx="1254557" cy="1426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强调权利来自国家法律的授予。</a:t>
            </a:r>
            <a:endParaRPr lang="en-US" sz="608" dirty="0"/>
          </a:p>
        </p:txBody>
      </p:sp>
      <p:sp>
        <p:nvSpPr>
          <p:cNvPr id="10" name="Text 8"/>
          <p:cNvSpPr/>
          <p:nvPr/>
        </p:nvSpPr>
        <p:spPr>
          <a:xfrm>
            <a:off x="628650" y="1209794"/>
            <a:ext cx="622935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b="1" spc="10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追　　问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1245870" y="1204079"/>
            <a:ext cx="4205326" cy="142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为何要为"占有思想"辩护？</a:t>
            </a:r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——因为独占会限制他人访问知识，必须给出一个</a:t>
            </a:r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可被广泛接受的合理性理由</a:t>
            </a:r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608" dirty="0"/>
          </a:p>
        </p:txBody>
      </p:sp>
      <p:sp>
        <p:nvSpPr>
          <p:cNvPr id="12" name="Shape 10"/>
          <p:cNvSpPr/>
          <p:nvPr/>
        </p:nvSpPr>
        <p:spPr>
          <a:xfrm>
            <a:off x="628650" y="1472952"/>
            <a:ext cx="7886700" cy="57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650" y="1592967"/>
            <a:ext cx="7658100" cy="423446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28650" y="1592967"/>
            <a:ext cx="0" cy="423446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650" y="1592967"/>
            <a:ext cx="8577072" cy="423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85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在讨论具体制度前，先要弄清：</a:t>
            </a:r>
            <a:pPr algn="l" indent="0" marL="0">
              <a:lnSpc>
                <a:spcPct val="195000"/>
              </a:lnSpc>
              <a:buNone/>
            </a:pPr>
            <a:r>
              <a:rPr lang="en-US" sz="85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权利究竟是自然给予，还是社会建构？</a:t>
            </a:r>
            <a:pPr algn="l" indent="0" marL="0">
              <a:lnSpc>
                <a:spcPct val="195000"/>
              </a:lnSpc>
              <a:buNone/>
            </a:pPr>
            <a:r>
              <a:rPr lang="en-US" sz="85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本议题的三条主流论证都试图回答</a:t>
            </a:r>
            <a:pPr algn="l" indent="0" marL="0">
              <a:lnSpc>
                <a:spcPct val="195000"/>
              </a:lnSpc>
              <a:buNone/>
            </a:pPr>
            <a:r>
              <a:rPr lang="en-US" sz="85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"为何值得拥有"</a:t>
            </a:r>
            <a:pPr algn="l" indent="0" marL="0">
              <a:lnSpc>
                <a:spcPct val="195000"/>
              </a:lnSpc>
              <a:buNone/>
            </a:pPr>
            <a:r>
              <a:rPr lang="en-US" sz="85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，同时都默认存在某种</a:t>
            </a:r>
            <a:pPr algn="l" indent="0" marL="0">
              <a:lnSpc>
                <a:spcPct val="195000"/>
              </a:lnSpc>
              <a:buNone/>
            </a:pPr>
            <a:r>
              <a:rPr lang="en-US" sz="85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"付出"或"贡献"</a:t>
            </a:r>
            <a:pPr algn="l" indent="0" marL="0">
              <a:lnSpc>
                <a:spcPct val="195000"/>
              </a:lnSpc>
              <a:buNone/>
            </a:pPr>
            <a:r>
              <a:rPr lang="en-US" sz="855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pPr algn="l" indent="0" marL="0">
              <a:lnSpc>
                <a:spcPct val="195000"/>
              </a:lnSpc>
              <a:buNone/>
            </a:pPr>
            <a:r>
              <a:rPr lang="en-US" sz="855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理解了这层前提，后续对开源的反思才有的放矢。 </a:t>
            </a:r>
            <a:endParaRPr lang="en-US" sz="855" dirty="0"/>
          </a:p>
        </p:txBody>
      </p:sp>
      <p:sp>
        <p:nvSpPr>
          <p:cNvPr id="16" name="Shape 14"/>
          <p:cNvSpPr/>
          <p:nvPr/>
        </p:nvSpPr>
        <p:spPr>
          <a:xfrm>
            <a:off x="628650" y="2247870"/>
            <a:ext cx="5715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87863"/>
            <a:ext cx="78009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6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三条主流论证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7641134" y="2216438"/>
            <a:ext cx="9791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三大流派的关键词 —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628650" y="2433608"/>
            <a:ext cx="268403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Ⅰ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628650" y="2685068"/>
            <a:ext cx="268403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LOLCKEAN · 劳 动 论</a:t>
            </a:r>
            <a:endParaRPr lang="en-US" sz="473" dirty="0"/>
          </a:p>
        </p:txBody>
      </p:sp>
      <p:sp>
        <p:nvSpPr>
          <p:cNvPr id="21" name="Text 19"/>
          <p:cNvSpPr/>
          <p:nvPr/>
        </p:nvSpPr>
        <p:spPr>
          <a:xfrm>
            <a:off x="628650" y="2850803"/>
            <a:ext cx="2684035" cy="352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洛克式</a:t>
            </a:r>
            <a:pPr algn="l" indent="0" marL="0">
              <a:lnSpc>
                <a:spcPct val="140000"/>
              </a:lnSpc>
              <a:buNone/>
            </a:pPr>
            <a:endParaRPr lang="en-US" sz="99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劳动理论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628650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650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劳动</a:t>
            </a:r>
            <a:endParaRPr lang="en-US" sz="608" dirty="0"/>
          </a:p>
        </p:txBody>
      </p:sp>
      <p:sp>
        <p:nvSpPr>
          <p:cNvPr id="24" name="Shape 22"/>
          <p:cNvSpPr/>
          <p:nvPr/>
        </p:nvSpPr>
        <p:spPr>
          <a:xfrm>
            <a:off x="1016020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20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创造</a:t>
            </a:r>
            <a:endParaRPr lang="en-US" sz="608" dirty="0"/>
          </a:p>
        </p:txBody>
      </p:sp>
      <p:sp>
        <p:nvSpPr>
          <p:cNvPr id="26" name="Shape 24"/>
          <p:cNvSpPr/>
          <p:nvPr/>
        </p:nvSpPr>
        <p:spPr>
          <a:xfrm>
            <a:off x="1403390" y="3317111"/>
            <a:ext cx="421035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3390" y="3317111"/>
            <a:ext cx="498187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所有权</a:t>
            </a:r>
            <a:endParaRPr lang="en-US" sz="608" dirty="0"/>
          </a:p>
        </p:txBody>
      </p:sp>
      <p:sp>
        <p:nvSpPr>
          <p:cNvPr id="28" name="Text 26"/>
          <p:cNvSpPr/>
          <p:nvPr/>
        </p:nvSpPr>
        <p:spPr>
          <a:xfrm>
            <a:off x="628650" y="3627150"/>
            <a:ext cx="2432304" cy="300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强调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创造者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劳动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赋予作品以价值，因而应当享有对作品的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所有权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608" dirty="0"/>
          </a:p>
        </p:txBody>
      </p:sp>
      <p:sp>
        <p:nvSpPr>
          <p:cNvPr id="29" name="Shape 27"/>
          <p:cNvSpPr/>
          <p:nvPr/>
        </p:nvSpPr>
        <p:spPr>
          <a:xfrm>
            <a:off x="3253710" y="2467898"/>
            <a:ext cx="5715" cy="1425714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88025" y="2433608"/>
            <a:ext cx="2428003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Ⅱ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3488025" y="2685068"/>
            <a:ext cx="242800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HEGELIAN · 人 格 论</a:t>
            </a:r>
            <a:endParaRPr lang="en-US" sz="473" dirty="0"/>
          </a:p>
        </p:txBody>
      </p:sp>
      <p:sp>
        <p:nvSpPr>
          <p:cNvPr id="32" name="Text 30"/>
          <p:cNvSpPr/>
          <p:nvPr/>
        </p:nvSpPr>
        <p:spPr>
          <a:xfrm>
            <a:off x="3488025" y="2850803"/>
            <a:ext cx="2428003" cy="352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黑格尔式</a:t>
            </a:r>
            <a:pPr algn="l" indent="0" marL="0">
              <a:lnSpc>
                <a:spcPct val="140000"/>
              </a:lnSpc>
              <a:buNone/>
            </a:pPr>
            <a:endParaRPr lang="en-US" sz="99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人格论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3488025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8025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人格</a:t>
            </a:r>
            <a:endParaRPr lang="en-US" sz="608" dirty="0"/>
          </a:p>
        </p:txBody>
      </p:sp>
      <p:sp>
        <p:nvSpPr>
          <p:cNvPr id="35" name="Shape 33"/>
          <p:cNvSpPr/>
          <p:nvPr/>
        </p:nvSpPr>
        <p:spPr>
          <a:xfrm>
            <a:off x="3875395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5395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延伸</a:t>
            </a:r>
            <a:endParaRPr lang="en-US" sz="608" dirty="0"/>
          </a:p>
        </p:txBody>
      </p:sp>
      <p:sp>
        <p:nvSpPr>
          <p:cNvPr id="37" name="Shape 35"/>
          <p:cNvSpPr/>
          <p:nvPr/>
        </p:nvSpPr>
        <p:spPr>
          <a:xfrm>
            <a:off x="4262765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62765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尊严</a:t>
            </a:r>
            <a:endParaRPr lang="en-US" sz="608" dirty="0"/>
          </a:p>
        </p:txBody>
      </p:sp>
      <p:sp>
        <p:nvSpPr>
          <p:cNvPr id="39" name="Text 37"/>
          <p:cNvSpPr/>
          <p:nvPr/>
        </p:nvSpPr>
        <p:spPr>
          <a:xfrm>
            <a:off x="3488025" y="3627150"/>
            <a:ext cx="2428003" cy="300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作品是创作者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人格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的延伸，保护权利即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保护人格尊严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；作者与作品间存在不可割裂的内在关联。</a:t>
            </a:r>
            <a:endParaRPr lang="en-US" sz="608" dirty="0"/>
          </a:p>
        </p:txBody>
      </p:sp>
      <p:sp>
        <p:nvSpPr>
          <p:cNvPr id="40" name="Shape 38"/>
          <p:cNvSpPr/>
          <p:nvPr/>
        </p:nvSpPr>
        <p:spPr>
          <a:xfrm>
            <a:off x="5884485" y="2467898"/>
            <a:ext cx="5715" cy="1425714"/>
          </a:xfrm>
          <a:prstGeom prst="rect">
            <a:avLst/>
          </a:prstGeom>
          <a:solidFill>
            <a:srgbClr val="000000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118800" y="2433608"/>
            <a:ext cx="268413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Ⅲ</a:t>
            </a:r>
            <a:endParaRPr lang="en-US" sz="1620" dirty="0"/>
          </a:p>
        </p:txBody>
      </p:sp>
      <p:sp>
        <p:nvSpPr>
          <p:cNvPr id="42" name="Text 40"/>
          <p:cNvSpPr/>
          <p:nvPr/>
        </p:nvSpPr>
        <p:spPr>
          <a:xfrm>
            <a:off x="6118800" y="2685068"/>
            <a:ext cx="268413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UTILITARIAN · 社 会 激 励</a:t>
            </a:r>
            <a:endParaRPr lang="en-US" sz="473" dirty="0"/>
          </a:p>
        </p:txBody>
      </p:sp>
      <p:sp>
        <p:nvSpPr>
          <p:cNvPr id="43" name="Text 41"/>
          <p:cNvSpPr/>
          <p:nvPr/>
        </p:nvSpPr>
        <p:spPr>
          <a:xfrm>
            <a:off x="6118800" y="2850803"/>
            <a:ext cx="2684135" cy="352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功利主义</a:t>
            </a:r>
            <a:pPr algn="l" indent="0" marL="0">
              <a:lnSpc>
                <a:spcPct val="140000"/>
              </a:lnSpc>
              <a:buNone/>
            </a:pPr>
            <a:endParaRPr lang="en-US" sz="99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社会激励论证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6118800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8800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激励</a:t>
            </a:r>
            <a:endParaRPr lang="en-US" sz="608" dirty="0"/>
          </a:p>
        </p:txBody>
      </p:sp>
      <p:sp>
        <p:nvSpPr>
          <p:cNvPr id="46" name="Shape 44"/>
          <p:cNvSpPr/>
          <p:nvPr/>
        </p:nvSpPr>
        <p:spPr>
          <a:xfrm>
            <a:off x="6506170" y="3317111"/>
            <a:ext cx="330220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6170" y="3317111"/>
            <a:ext cx="407372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产出</a:t>
            </a:r>
            <a:endParaRPr lang="en-US" sz="608" dirty="0"/>
          </a:p>
        </p:txBody>
      </p:sp>
      <p:sp>
        <p:nvSpPr>
          <p:cNvPr id="48" name="Shape 46"/>
          <p:cNvSpPr/>
          <p:nvPr/>
        </p:nvSpPr>
        <p:spPr>
          <a:xfrm>
            <a:off x="6893540" y="3317111"/>
            <a:ext cx="421035" cy="184309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3540" y="3317111"/>
            <a:ext cx="498187" cy="184309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8" spc="8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最大化</a:t>
            </a:r>
            <a:endParaRPr lang="en-US" sz="608" dirty="0"/>
          </a:p>
        </p:txBody>
      </p:sp>
      <p:sp>
        <p:nvSpPr>
          <p:cNvPr id="50" name="Text 48"/>
          <p:cNvSpPr/>
          <p:nvPr/>
        </p:nvSpPr>
        <p:spPr>
          <a:xfrm>
            <a:off x="6118800" y="3627150"/>
            <a:ext cx="2432304" cy="300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社会整体激励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出发，主张制度安排应</a:t>
            </a:r>
            <a:pPr algn="l" indent="0" marL="0">
              <a:lnSpc>
                <a:spcPct val="195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最大化知识与文化产出</a:t>
            </a:r>
            <a:pPr algn="l" indent="0" marL="0">
              <a:lnSpc>
                <a:spcPct val="195000"/>
              </a:lnSpc>
              <a:buNone/>
            </a:pPr>
            <a:r>
              <a:rPr lang="en-US" sz="608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；权利是达成共同福祉的工具。</a:t>
            </a:r>
            <a:endParaRPr lang="en-US" sz="608" dirty="0"/>
          </a:p>
        </p:txBody>
      </p:sp>
      <p:sp>
        <p:nvSpPr>
          <p:cNvPr id="51" name="Shape 49"/>
          <p:cNvSpPr/>
          <p:nvPr/>
        </p:nvSpPr>
        <p:spPr>
          <a:xfrm>
            <a:off x="628650" y="4142571"/>
            <a:ext cx="664101" cy="91440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1292751" y="4142571"/>
            <a:ext cx="0" cy="91440"/>
          </a:xfrm>
          <a:prstGeom prst="line">
            <a:avLst/>
          </a:prstGeom>
          <a:noFill/>
          <a:ln w="5715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650" y="4142571"/>
            <a:ext cx="743793" cy="91440"/>
          </a:xfrm>
          <a:prstGeom prst="rect">
            <a:avLst/>
          </a:prstGeom>
          <a:noFill/>
          <a:ln/>
        </p:spPr>
        <p:txBody>
          <a:bodyPr wrap="none" lIns="0" tIns="0" rIns="148590" bIns="0" rtlCol="0" anchor="ctr"/>
          <a:lstStyle/>
          <a:p>
            <a:pPr algn="l" indent="0" marL="0">
              <a:buNone/>
            </a:pPr>
            <a:r>
              <a:rPr lang="en-US" sz="518" spc="207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隐 含 前 提</a:t>
            </a:r>
            <a:endParaRPr lang="en-US" sz="518" dirty="0"/>
          </a:p>
        </p:txBody>
      </p:sp>
      <p:sp>
        <p:nvSpPr>
          <p:cNvPr id="54" name="Text 52"/>
          <p:cNvSpPr/>
          <p:nvPr/>
        </p:nvSpPr>
        <p:spPr>
          <a:xfrm>
            <a:off x="1441341" y="4110782"/>
            <a:ext cx="5395874" cy="155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创作者与被保护者之间存在</a:t>
            </a:r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>
                    <a:alpha val="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可被承认的"付出"或"贡献"关系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——三种论证在此汇流，也是开源语境下被再度审视的起点。</a:t>
            </a:r>
            <a:endParaRPr lang="en-US" sz="698" dirty="0"/>
          </a:p>
        </p:txBody>
      </p:sp>
      <p:sp>
        <p:nvSpPr>
          <p:cNvPr id="55" name="Shape 53"/>
          <p:cNvSpPr/>
          <p:nvPr/>
        </p:nvSpPr>
        <p:spPr>
          <a:xfrm>
            <a:off x="2538621" y="4122212"/>
            <a:ext cx="1257300" cy="13716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2538621" y="4259372"/>
            <a:ext cx="125730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38621" y="4122212"/>
            <a:ext cx="1408176" cy="137160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可被承认的"付出"或"贡献"关系</a:t>
            </a:r>
            <a:endParaRPr lang="en-US" sz="698" dirty="0"/>
          </a:p>
        </p:txBody>
      </p:sp>
      <p:sp>
        <p:nvSpPr>
          <p:cNvPr id="58" name="Text 56"/>
          <p:cNvSpPr/>
          <p:nvPr/>
        </p:nvSpPr>
        <p:spPr>
          <a:xfrm>
            <a:off x="628650" y="4932045"/>
            <a:ext cx="160600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42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SENSENOVA · ACADEMIC ESSAY</a:t>
            </a:r>
            <a:endParaRPr lang="en-US" sz="473" dirty="0"/>
          </a:p>
        </p:txBody>
      </p:sp>
      <p:sp>
        <p:nvSpPr>
          <p:cNvPr id="59" name="Text 57"/>
          <p:cNvSpPr/>
          <p:nvPr/>
        </p:nvSpPr>
        <p:spPr>
          <a:xfrm>
            <a:off x="7570946" y="4932045"/>
            <a:ext cx="105773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42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权利本质与正当性 · P.03</a:t>
            </a:r>
            <a:endParaRPr lang="en-US" sz="47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51460"/>
            <a:ext cx="845820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37185"/>
            <a:ext cx="1497330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180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三大哲学基础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6572250" y="468630"/>
            <a:ext cx="249631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30" spc="45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三大论证从不同角度为知识产权提供道德或功利上的正当性</a:t>
            </a:r>
            <a:endParaRPr lang="en-US" sz="630" dirty="0"/>
          </a:p>
        </p:txBody>
      </p:sp>
      <p:pic>
        <p:nvPicPr>
          <p:cNvPr id="5" name="Image 0" descr="/home/lee/developing/oscar-open-source-book/website/slides-src/2023-10-justifying-intellectual-property-reading-by-kuosi/images/page_004_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442" y="697230"/>
            <a:ext cx="2355026" cy="1314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2900" y="2080260"/>
            <a:ext cx="2712660" cy="905828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342900" y="2080260"/>
            <a:ext cx="271266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94560"/>
            <a:ext cx="278214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540" dirty="0"/>
          </a:p>
        </p:txBody>
      </p:sp>
      <p:sp>
        <p:nvSpPr>
          <p:cNvPr id="9" name="Text 6"/>
          <p:cNvSpPr/>
          <p:nvPr/>
        </p:nvSpPr>
        <p:spPr>
          <a:xfrm>
            <a:off x="457200" y="2326005"/>
            <a:ext cx="278214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洛克 · 劳动理论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2484060" cy="17145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57200" y="2686050"/>
            <a:ext cx="248406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514600"/>
            <a:ext cx="2782148" cy="171450"/>
          </a:xfrm>
          <a:prstGeom prst="rect">
            <a:avLst/>
          </a:prstGeom>
          <a:noFill/>
          <a:ln/>
        </p:spPr>
        <p:txBody>
          <a:bodyPr wrap="square" lIns="0" tIns="0" rIns="0" bIns="57150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LABOR THEORY</a:t>
            </a:r>
            <a:endParaRPr lang="en-US" sz="585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2782148" cy="1400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把劳动掺入资源便拥有它，思想与表达亦是心智劳动的产物。</a:t>
            </a:r>
            <a:endParaRPr lang="en-US" sz="630" dirty="0"/>
          </a:p>
        </p:txBody>
      </p:sp>
      <p:sp>
        <p:nvSpPr>
          <p:cNvPr id="14" name="Shape 11"/>
          <p:cNvSpPr/>
          <p:nvPr/>
        </p:nvSpPr>
        <p:spPr>
          <a:xfrm>
            <a:off x="3215580" y="2080260"/>
            <a:ext cx="2712750" cy="905828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3215580" y="2080260"/>
            <a:ext cx="271275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29880" y="2194560"/>
            <a:ext cx="278224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540" dirty="0"/>
          </a:p>
        </p:txBody>
      </p:sp>
      <p:sp>
        <p:nvSpPr>
          <p:cNvPr id="17" name="Text 14"/>
          <p:cNvSpPr/>
          <p:nvPr/>
        </p:nvSpPr>
        <p:spPr>
          <a:xfrm>
            <a:off x="3329880" y="2326005"/>
            <a:ext cx="278224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黑格尔 · 人格论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9880" y="2514600"/>
            <a:ext cx="2484150" cy="171450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3329880" y="2686050"/>
            <a:ext cx="248415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29880" y="2514600"/>
            <a:ext cx="2782248" cy="171450"/>
          </a:xfrm>
          <a:prstGeom prst="rect">
            <a:avLst/>
          </a:prstGeom>
          <a:noFill/>
          <a:ln/>
        </p:spPr>
        <p:txBody>
          <a:bodyPr wrap="square" lIns="0" tIns="0" rIns="0" bIns="57150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PERSONALITY THEORY</a:t>
            </a:r>
            <a:endParaRPr lang="en-US" sz="585" dirty="0"/>
          </a:p>
        </p:txBody>
      </p:sp>
      <p:sp>
        <p:nvSpPr>
          <p:cNvPr id="21" name="Text 18"/>
          <p:cNvSpPr/>
          <p:nvPr/>
        </p:nvSpPr>
        <p:spPr>
          <a:xfrm>
            <a:off x="3329880" y="2743200"/>
            <a:ext cx="2782248" cy="1400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表达是人格的外化，尊重表达即尊重创作者的自我同一性。</a:t>
            </a:r>
            <a:endParaRPr lang="en-US" sz="630" dirty="0"/>
          </a:p>
        </p:txBody>
      </p:sp>
      <p:sp>
        <p:nvSpPr>
          <p:cNvPr id="22" name="Shape 19"/>
          <p:cNvSpPr/>
          <p:nvPr/>
        </p:nvSpPr>
        <p:spPr>
          <a:xfrm>
            <a:off x="6088350" y="2080260"/>
            <a:ext cx="2712660" cy="905828"/>
          </a:xfrm>
          <a:prstGeom prst="rect">
            <a:avLst/>
          </a:prstGeom>
          <a:noFill/>
          <a:ln/>
        </p:spPr>
      </p:sp>
      <p:sp>
        <p:nvSpPr>
          <p:cNvPr id="23" name="Shape 20"/>
          <p:cNvSpPr/>
          <p:nvPr/>
        </p:nvSpPr>
        <p:spPr>
          <a:xfrm>
            <a:off x="6088350" y="2080260"/>
            <a:ext cx="271266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02650" y="2194560"/>
            <a:ext cx="278214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540" dirty="0"/>
          </a:p>
        </p:txBody>
      </p:sp>
      <p:sp>
        <p:nvSpPr>
          <p:cNvPr id="25" name="Text 22"/>
          <p:cNvSpPr/>
          <p:nvPr/>
        </p:nvSpPr>
        <p:spPr>
          <a:xfrm>
            <a:off x="6202650" y="2326005"/>
            <a:ext cx="278214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功利主义 · 激励论证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02650" y="2514600"/>
            <a:ext cx="2484060" cy="17145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202650" y="2686050"/>
            <a:ext cx="248406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02650" y="2514600"/>
            <a:ext cx="2782148" cy="171450"/>
          </a:xfrm>
          <a:prstGeom prst="rect">
            <a:avLst/>
          </a:prstGeom>
          <a:noFill/>
          <a:ln/>
        </p:spPr>
        <p:txBody>
          <a:bodyPr wrap="square" lIns="0" tIns="0" rIns="0" bIns="57150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UTILITARIAN INCENTIVE</a:t>
            </a:r>
            <a:endParaRPr lang="en-US" sz="585" dirty="0"/>
          </a:p>
        </p:txBody>
      </p:sp>
      <p:sp>
        <p:nvSpPr>
          <p:cNvPr id="29" name="Text 26"/>
          <p:cNvSpPr/>
          <p:nvPr/>
        </p:nvSpPr>
        <p:spPr>
          <a:xfrm>
            <a:off x="6202650" y="2743200"/>
            <a:ext cx="2782148" cy="1400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保护期换取更多作品涌现，以长期公共利益为衡量标准。</a:t>
            </a:r>
            <a:endParaRPr lang="en-US" sz="630" dirty="0"/>
          </a:p>
        </p:txBody>
      </p:sp>
      <p:sp>
        <p:nvSpPr>
          <p:cNvPr id="30" name="Shape 27"/>
          <p:cNvSpPr/>
          <p:nvPr/>
        </p:nvSpPr>
        <p:spPr>
          <a:xfrm>
            <a:off x="342900" y="3066098"/>
            <a:ext cx="8458200" cy="3028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Shape 28"/>
          <p:cNvSpPr/>
          <p:nvPr/>
        </p:nvSpPr>
        <p:spPr>
          <a:xfrm>
            <a:off x="468630" y="3134678"/>
            <a:ext cx="537210" cy="165735"/>
          </a:xfrm>
          <a:prstGeom prst="rect">
            <a:avLst/>
          </a:prstGeom>
          <a:noFill/>
          <a:ln w="5715">
            <a:solidFill>
              <a:srgbClr val="F5F5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8630" y="3134678"/>
            <a:ext cx="611505" cy="165735"/>
          </a:xfrm>
          <a:prstGeom prst="rect">
            <a:avLst/>
          </a:prstGeom>
          <a:noFill/>
          <a:ln/>
        </p:spPr>
        <p:txBody>
          <a:bodyPr wrap="none" lIns="22860" tIns="68580" rIns="68580" bIns="22860" rtlCol="0" anchor="ctr"/>
          <a:lstStyle/>
          <a:p>
            <a:pPr algn="l" indent="0" marL="0">
              <a:buNone/>
            </a:pPr>
            <a:r>
              <a:rPr lang="en-US" sz="585" b="1" spc="180" kern="0" dirty="0">
                <a:solidFill>
                  <a:srgbClr val="F5F5F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共同质疑</a:t>
            </a:r>
            <a:endParaRPr lang="en-US" sz="585" dirty="0"/>
          </a:p>
        </p:txBody>
      </p:sp>
      <p:sp>
        <p:nvSpPr>
          <p:cNvPr id="33" name="Text 30"/>
          <p:cNvSpPr/>
          <p:nvPr/>
        </p:nvSpPr>
        <p:spPr>
          <a:xfrm>
            <a:off x="1097280" y="3157538"/>
            <a:ext cx="2701138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F5F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思想非稀缺</a:t>
            </a:r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DDDD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F5F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人格可复制</a:t>
            </a:r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DDDDD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F5F5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激励可替代，三条路径均留有反例。</a:t>
            </a:r>
            <a:endParaRPr lang="en-US" sz="630" dirty="0"/>
          </a:p>
        </p:txBody>
      </p:sp>
      <p:sp>
        <p:nvSpPr>
          <p:cNvPr id="34" name="Shape 31"/>
          <p:cNvSpPr/>
          <p:nvPr/>
        </p:nvSpPr>
        <p:spPr>
          <a:xfrm>
            <a:off x="342900" y="3437573"/>
            <a:ext cx="8458200" cy="181719"/>
          </a:xfrm>
          <a:prstGeom prst="rect">
            <a:avLst/>
          </a:prstGeom>
          <a:noFill/>
          <a:ln/>
        </p:spPr>
      </p:sp>
      <p:sp>
        <p:nvSpPr>
          <p:cNvPr id="35" name="Shape 32"/>
          <p:cNvSpPr/>
          <p:nvPr/>
        </p:nvSpPr>
        <p:spPr>
          <a:xfrm>
            <a:off x="342900" y="3437573"/>
            <a:ext cx="845820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" y="3437573"/>
            <a:ext cx="9473184" cy="181719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85" i="1" spc="23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三者都难以解释——思想为何不能像空气一样共享？表达一旦被公开，是否还能承载"独占的人格"？激励又是否能通过其他方式实现？</a:t>
            </a:r>
            <a:endParaRPr lang="en-US" sz="5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AFAFA"/>
              </a:gs>
              <a:gs pos="40000">
                <a:srgbClr val="F5F5F5"/>
              </a:gs>
              <a:gs pos="100000">
                <a:srgbClr val="EFEFEF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74320"/>
            <a:ext cx="8458200" cy="292269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42900" y="566589"/>
            <a:ext cx="845820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377190"/>
            <a:ext cx="28232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spc="146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 01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628650" y="274320"/>
            <a:ext cx="2115364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32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功利主义的激励论证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7923222" y="386030"/>
            <a:ext cx="983223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08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IP · 激励逻辑 · 论证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42900" y="692319"/>
            <a:ext cx="9089136" cy="310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</a:t>
            </a:r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功利主义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把知识产权视为一场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"社会实验"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</a:t>
            </a:r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短期独占换长期繁荣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；数据上看，专利与版权登记的确与产业增长同步，但</a:t>
            </a:r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代价同样清晰可见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；这也为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"开源"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的开放激励提供了对照——当作者为</a:t>
            </a:r>
            <a:pPr algn="l" indent="0" marL="0">
              <a:lnSpc>
                <a:spcPct val="175000"/>
              </a:lnSpc>
              <a:buNone/>
            </a:pPr>
            <a:r>
              <a:rPr lang="en-US" sz="69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声誉、社群与影响力</a:t>
            </a:r>
            <a:pPr algn="l" indent="0" marL="0">
              <a:lnSpc>
                <a:spcPct val="17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创作时，激励并不必然需要独占来驱动。</a:t>
            </a:r>
            <a:endParaRPr lang="en-US" sz="698" dirty="0"/>
          </a:p>
        </p:txBody>
      </p:sp>
      <p:sp>
        <p:nvSpPr>
          <p:cNvPr id="9" name="Shape 7"/>
          <p:cNvSpPr/>
          <p:nvPr/>
        </p:nvSpPr>
        <p:spPr>
          <a:xfrm>
            <a:off x="342900" y="1128087"/>
            <a:ext cx="8458200" cy="57775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1128087"/>
            <a:ext cx="8458200" cy="0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1705838"/>
            <a:ext cx="8458200" cy="0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" y="1236672"/>
            <a:ext cx="742950" cy="36058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223010" y="1236672"/>
            <a:ext cx="0" cy="360581"/>
          </a:xfrm>
          <a:prstGeom prst="line">
            <a:avLst/>
          </a:prstGeom>
          <a:noFill/>
          <a:ln w="571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" y="1236672"/>
            <a:ext cx="697687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 照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480060" y="1400086"/>
            <a:ext cx="697687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 与</a:t>
            </a:r>
            <a:pPr algn="l" indent="0" marL="0">
              <a:lnSpc>
                <a:spcPct val="150000"/>
              </a:lnSpc>
              <a:buNone/>
            </a:pPr>
            <a:endParaRPr lang="en-US" sz="518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代价</a:t>
            </a:r>
            <a:endParaRPr lang="en-US" sz="518" dirty="0"/>
          </a:p>
        </p:txBody>
      </p:sp>
      <p:sp>
        <p:nvSpPr>
          <p:cNvPr id="16" name="Text 14"/>
          <p:cNvSpPr/>
          <p:nvPr/>
        </p:nvSpPr>
        <p:spPr>
          <a:xfrm>
            <a:off x="1360170" y="1281589"/>
            <a:ext cx="2286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43050" y="1270159"/>
            <a:ext cx="37719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代价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1360170" y="1453039"/>
            <a:ext cx="3808476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可及性受限 · 创新路径受阻 · 净福利被侵蚀</a:t>
            </a:r>
            <a:endParaRPr lang="en-US" sz="563" dirty="0"/>
          </a:p>
        </p:txBody>
      </p:sp>
      <p:sp>
        <p:nvSpPr>
          <p:cNvPr id="19" name="Shape 17"/>
          <p:cNvSpPr/>
          <p:nvPr/>
        </p:nvSpPr>
        <p:spPr>
          <a:xfrm>
            <a:off x="4840605" y="1405533"/>
            <a:ext cx="342900" cy="5715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0605" y="1359813"/>
            <a:ext cx="5715" cy="10287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1" name="Shape 19"/>
          <p:cNvSpPr/>
          <p:nvPr/>
        </p:nvSpPr>
        <p:spPr>
          <a:xfrm>
            <a:off x="5012055" y="1359813"/>
            <a:ext cx="5715" cy="10287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7790" y="1359813"/>
            <a:ext cx="5715" cy="10287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4977765" y="1394103"/>
            <a:ext cx="68580" cy="685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88557" y="1325523"/>
            <a:ext cx="294948" cy="1485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88557" y="1325523"/>
            <a:ext cx="354955" cy="148590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b="1" spc="24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</a:t>
            </a:r>
            <a:endParaRPr lang="en-US" sz="473" dirty="0"/>
          </a:p>
        </p:txBody>
      </p:sp>
      <p:sp>
        <p:nvSpPr>
          <p:cNvPr id="26" name="Shape 24"/>
          <p:cNvSpPr/>
          <p:nvPr/>
        </p:nvSpPr>
        <p:spPr>
          <a:xfrm>
            <a:off x="4840605" y="1325523"/>
            <a:ext cx="130373" cy="14859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0605" y="1325523"/>
            <a:ext cx="190381" cy="148590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b="1" spc="24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代价</a:t>
            </a:r>
            <a:endParaRPr lang="en-US" sz="473" dirty="0"/>
          </a:p>
        </p:txBody>
      </p:sp>
      <p:sp>
        <p:nvSpPr>
          <p:cNvPr id="28" name="Text 26"/>
          <p:cNvSpPr/>
          <p:nvPr/>
        </p:nvSpPr>
        <p:spPr>
          <a:xfrm>
            <a:off x="5263515" y="1270159"/>
            <a:ext cx="37719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激励</a:t>
            </a:r>
            <a:endParaRPr lang="en-US" sz="990" dirty="0"/>
          </a:p>
        </p:txBody>
      </p:sp>
      <p:sp>
        <p:nvSpPr>
          <p:cNvPr id="29" name="Text 27"/>
          <p:cNvSpPr/>
          <p:nvPr/>
        </p:nvSpPr>
        <p:spPr>
          <a:xfrm>
            <a:off x="5583555" y="1281589"/>
            <a:ext cx="2286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3515" y="1453039"/>
            <a:ext cx="3808476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作品增多 · 产业扩张 · 社会福利净增</a:t>
            </a:r>
            <a:endParaRPr lang="en-US" sz="563" dirty="0"/>
          </a:p>
        </p:txBody>
      </p:sp>
      <p:sp>
        <p:nvSpPr>
          <p:cNvPr id="31" name="Text 29"/>
          <p:cNvSpPr/>
          <p:nvPr/>
        </p:nvSpPr>
        <p:spPr>
          <a:xfrm>
            <a:off x="342900" y="1842998"/>
            <a:ext cx="718090" cy="1017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spc="181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论证的四个维度</a:t>
            </a:r>
            <a:endParaRPr lang="en-US" sz="518" dirty="0"/>
          </a:p>
        </p:txBody>
      </p:sp>
      <p:sp>
        <p:nvSpPr>
          <p:cNvPr id="32" name="Shape 30"/>
          <p:cNvSpPr/>
          <p:nvPr/>
        </p:nvSpPr>
        <p:spPr>
          <a:xfrm>
            <a:off x="1064062" y="1891040"/>
            <a:ext cx="7737038" cy="571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" y="2036237"/>
            <a:ext cx="2054543" cy="1114425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" y="2041952"/>
            <a:ext cx="240030" cy="171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2915" y="2156252"/>
            <a:ext cx="203225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462915" y="2322255"/>
            <a:ext cx="20322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论点结构</a:t>
            </a:r>
            <a:endParaRPr lang="en-US" sz="765" dirty="0"/>
          </a:p>
        </p:txBody>
      </p:sp>
      <p:sp>
        <p:nvSpPr>
          <p:cNvPr id="37" name="Shape 35"/>
          <p:cNvSpPr/>
          <p:nvPr/>
        </p:nvSpPr>
        <p:spPr>
          <a:xfrm>
            <a:off x="462915" y="2521922"/>
            <a:ext cx="16002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62915" y="2601932"/>
            <a:ext cx="2032254" cy="44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独占激励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作品增多 → 社会受益，故保护期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"净收益"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为正</a:t>
            </a:r>
            <a:endParaRPr lang="en-US" sz="608" dirty="0"/>
          </a:p>
        </p:txBody>
      </p:sp>
      <p:sp>
        <p:nvSpPr>
          <p:cNvPr id="39" name="Shape 37"/>
          <p:cNvSpPr/>
          <p:nvPr/>
        </p:nvSpPr>
        <p:spPr>
          <a:xfrm>
            <a:off x="2477453" y="2036237"/>
            <a:ext cx="2054543" cy="1114425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83168" y="2041952"/>
            <a:ext cx="240030" cy="171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2597468" y="2156252"/>
            <a:ext cx="203225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2597468" y="2322255"/>
            <a:ext cx="20322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经验支持</a:t>
            </a:r>
            <a:endParaRPr lang="en-US" sz="765" dirty="0"/>
          </a:p>
        </p:txBody>
      </p:sp>
      <p:sp>
        <p:nvSpPr>
          <p:cNvPr id="43" name="Shape 41"/>
          <p:cNvSpPr/>
          <p:nvPr/>
        </p:nvSpPr>
        <p:spPr>
          <a:xfrm>
            <a:off x="2597468" y="2521922"/>
            <a:ext cx="16002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2597468" y="2601932"/>
            <a:ext cx="2032254" cy="44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专利数据库、版权登记与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产业规模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在制度建立后显著扩张</a:t>
            </a:r>
            <a:endParaRPr lang="en-US" sz="608" dirty="0"/>
          </a:p>
        </p:txBody>
      </p:sp>
      <p:sp>
        <p:nvSpPr>
          <p:cNvPr id="45" name="Shape 43"/>
          <p:cNvSpPr/>
          <p:nvPr/>
        </p:nvSpPr>
        <p:spPr>
          <a:xfrm>
            <a:off x="4612005" y="2036237"/>
            <a:ext cx="2054543" cy="1114425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2041952"/>
            <a:ext cx="240030" cy="171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4732020" y="2156252"/>
            <a:ext cx="203225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4732020" y="2322255"/>
            <a:ext cx="20322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代价与反例</a:t>
            </a:r>
            <a:endParaRPr lang="en-US" sz="765" dirty="0"/>
          </a:p>
        </p:txBody>
      </p:sp>
      <p:sp>
        <p:nvSpPr>
          <p:cNvPr id="49" name="Shape 47"/>
          <p:cNvSpPr/>
          <p:nvPr/>
        </p:nvSpPr>
        <p:spPr>
          <a:xfrm>
            <a:off x="4732020" y="2521922"/>
            <a:ext cx="16002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4732020" y="2601932"/>
            <a:ext cx="2032254" cy="44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专利丛林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、软件锁定、公共知识封锁，激励与可及性常相互挤压</a:t>
            </a:r>
            <a:endParaRPr lang="en-US" sz="608" dirty="0"/>
          </a:p>
        </p:txBody>
      </p:sp>
      <p:sp>
        <p:nvSpPr>
          <p:cNvPr id="51" name="Shape 49"/>
          <p:cNvSpPr/>
          <p:nvPr/>
        </p:nvSpPr>
        <p:spPr>
          <a:xfrm>
            <a:off x="6746558" y="2036237"/>
            <a:ext cx="2054543" cy="1114425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52273" y="2041952"/>
            <a:ext cx="240030" cy="171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866573" y="2156252"/>
            <a:ext cx="203225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6866573" y="2322255"/>
            <a:ext cx="20322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政策含义</a:t>
            </a:r>
            <a:endParaRPr lang="en-US" sz="765" dirty="0"/>
          </a:p>
        </p:txBody>
      </p:sp>
      <p:sp>
        <p:nvSpPr>
          <p:cNvPr id="55" name="Shape 53"/>
          <p:cNvSpPr/>
          <p:nvPr/>
        </p:nvSpPr>
        <p:spPr>
          <a:xfrm>
            <a:off x="6866573" y="2521922"/>
            <a:ext cx="16002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866573" y="2601932"/>
            <a:ext cx="2032254" cy="44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保护期限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例外条款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60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强制许可</a:t>
            </a:r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成为平衡激励与共享的核心工具</a:t>
            </a:r>
            <a:endParaRPr lang="en-US" sz="608" dirty="0"/>
          </a:p>
        </p:txBody>
      </p:sp>
      <p:sp>
        <p:nvSpPr>
          <p:cNvPr id="57" name="Shape 55"/>
          <p:cNvSpPr/>
          <p:nvPr/>
        </p:nvSpPr>
        <p:spPr>
          <a:xfrm>
            <a:off x="342900" y="3276392"/>
            <a:ext cx="4177665" cy="45059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8" name="Shape 56"/>
          <p:cNvSpPr/>
          <p:nvPr/>
        </p:nvSpPr>
        <p:spPr>
          <a:xfrm>
            <a:off x="342900" y="3276392"/>
            <a:ext cx="4177665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630" y="3379262"/>
            <a:ext cx="4397350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激励侧</a:t>
            </a:r>
            <a:endParaRPr lang="en-US" sz="495" dirty="0"/>
          </a:p>
        </p:txBody>
      </p:sp>
      <p:sp>
        <p:nvSpPr>
          <p:cNvPr id="60" name="Text 58"/>
          <p:cNvSpPr/>
          <p:nvPr/>
        </p:nvSpPr>
        <p:spPr>
          <a:xfrm>
            <a:off x="468630" y="3493830"/>
            <a:ext cx="77724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专利激励模型：</a:t>
            </a:r>
            <a:endParaRPr lang="en-US" sz="765" dirty="0"/>
          </a:p>
        </p:txBody>
      </p:sp>
      <p:sp>
        <p:nvSpPr>
          <p:cNvPr id="61" name="Text 59"/>
          <p:cNvSpPr/>
          <p:nvPr/>
        </p:nvSpPr>
        <p:spPr>
          <a:xfrm>
            <a:off x="1148715" y="3493830"/>
            <a:ext cx="10305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短期独占 → 长期繁荣</a:t>
            </a:r>
            <a:endParaRPr lang="en-US" sz="765" dirty="0"/>
          </a:p>
        </p:txBody>
      </p:sp>
      <p:sp>
        <p:nvSpPr>
          <p:cNvPr id="62" name="Shape 60"/>
          <p:cNvSpPr/>
          <p:nvPr/>
        </p:nvSpPr>
        <p:spPr>
          <a:xfrm>
            <a:off x="4623435" y="3276392"/>
            <a:ext cx="4177665" cy="45059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Shape 61"/>
          <p:cNvSpPr/>
          <p:nvPr/>
        </p:nvSpPr>
        <p:spPr>
          <a:xfrm>
            <a:off x="4623435" y="3276392"/>
            <a:ext cx="4177665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49165" y="3379262"/>
            <a:ext cx="4397350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代价侧</a:t>
            </a:r>
            <a:endParaRPr lang="en-US" sz="495" dirty="0"/>
          </a:p>
        </p:txBody>
      </p:sp>
      <p:sp>
        <p:nvSpPr>
          <p:cNvPr id="65" name="Text 63"/>
          <p:cNvSpPr/>
          <p:nvPr/>
        </p:nvSpPr>
        <p:spPr>
          <a:xfrm>
            <a:off x="4749165" y="3493830"/>
            <a:ext cx="68008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典型副作用：</a:t>
            </a:r>
            <a:endParaRPr lang="en-US" sz="765" dirty="0"/>
          </a:p>
        </p:txBody>
      </p:sp>
      <p:sp>
        <p:nvSpPr>
          <p:cNvPr id="66" name="Text 64"/>
          <p:cNvSpPr/>
          <p:nvPr/>
        </p:nvSpPr>
        <p:spPr>
          <a:xfrm>
            <a:off x="5332095" y="3493830"/>
            <a:ext cx="1030529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专利丛林 · 知识封锁</a:t>
            </a:r>
            <a:endParaRPr lang="en-US" sz="76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51460"/>
            <a:ext cx="8115300" cy="5715"/>
          </a:xfrm>
          <a:prstGeom prst="rect">
            <a:avLst/>
          </a:prstGeom>
          <a:solidFill>
            <a:srgbClr val="000000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4886325"/>
            <a:ext cx="8115300" cy="5715"/>
          </a:xfrm>
          <a:prstGeom prst="rect">
            <a:avLst/>
          </a:prstGeom>
          <a:solidFill>
            <a:srgbClr val="000000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14350" y="320040"/>
            <a:ext cx="4924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7730520" y="320040"/>
            <a:ext cx="10070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极简叙事 · MINIMAL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514350" y="4726305"/>
            <a:ext cx="14376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SOURCE / 知识产权重构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8290858" y="4726305"/>
            <a:ext cx="4073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04 —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6115050" y="1028700"/>
            <a:ext cx="1600200" cy="1600200"/>
          </a:xfrm>
          <a:prstGeom prst="ellipse">
            <a:avLst/>
          </a:prstGeom>
          <a:solidFill>
            <a:srgbClr val="000000">
              <a:alpha val="4000"/>
            </a:srgbClr>
          </a:solidFill>
          <a:ln w="571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15150" y="1485900"/>
            <a:ext cx="1600200" cy="1600200"/>
          </a:xfrm>
          <a:prstGeom prst="ellipse">
            <a:avLst/>
          </a:prstGeom>
          <a:solidFill>
            <a:srgbClr val="000000">
              <a:alpha val="4000"/>
            </a:srgbClr>
          </a:solidFill>
          <a:ln w="571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0780" y="1714500"/>
            <a:ext cx="274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05" kern="0" dirty="0">
                <a:solidFill>
                  <a:srgbClr val="000000">
                    <a:alpha val="7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独占</a:t>
            </a:r>
            <a:endParaRPr lang="en-US" sz="585" dirty="0"/>
          </a:p>
        </p:txBody>
      </p:sp>
      <p:sp>
        <p:nvSpPr>
          <p:cNvPr id="11" name="Text 9"/>
          <p:cNvSpPr/>
          <p:nvPr/>
        </p:nvSpPr>
        <p:spPr>
          <a:xfrm>
            <a:off x="8188970" y="2171700"/>
            <a:ext cx="2749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05" kern="0" dirty="0">
                <a:solidFill>
                  <a:srgbClr val="000000">
                    <a:alpha val="7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共享</a:t>
            </a:r>
            <a:endParaRPr lang="en-US" sz="585" dirty="0"/>
          </a:p>
        </p:txBody>
      </p:sp>
      <p:sp>
        <p:nvSpPr>
          <p:cNvPr id="12" name="Text 10"/>
          <p:cNvSpPr/>
          <p:nvPr/>
        </p:nvSpPr>
        <p:spPr>
          <a:xfrm>
            <a:off x="7143750" y="2354580"/>
            <a:ext cx="2743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0" kern="0" dirty="0">
                <a:solidFill>
                  <a:srgbClr val="888888">
                    <a:alpha val="7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重叠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514350" y="685800"/>
            <a:ext cx="987552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spc="-6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3240" dirty="0"/>
          </a:p>
        </p:txBody>
      </p:sp>
      <p:sp>
        <p:nvSpPr>
          <p:cNvPr id="14" name="Text 12"/>
          <p:cNvSpPr/>
          <p:nvPr/>
        </p:nvSpPr>
        <p:spPr>
          <a:xfrm>
            <a:off x="1092279" y="994410"/>
            <a:ext cx="11099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SECTION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1092279" y="1120140"/>
            <a:ext cx="110993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18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CHAPTER FOUR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1391603" y="1428750"/>
            <a:ext cx="7218045" cy="8572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b="1" spc="40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开源的另类答案</a:t>
            </a:r>
            <a:endParaRPr lang="en-US" sz="6750" dirty="0"/>
          </a:p>
        </p:txBody>
      </p:sp>
      <p:sp>
        <p:nvSpPr>
          <p:cNvPr id="17" name="Shape 15"/>
          <p:cNvSpPr/>
          <p:nvPr/>
        </p:nvSpPr>
        <p:spPr>
          <a:xfrm>
            <a:off x="1828800" y="2446020"/>
            <a:ext cx="548640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1655" y="2434590"/>
            <a:ext cx="28575" cy="285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03770" y="2434590"/>
            <a:ext cx="28575" cy="285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69248" y="2588895"/>
            <a:ext cx="291806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spc="277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</a:t>
            </a:r>
            <a:pPr algn="l" indent="0" marL="0">
              <a:buNone/>
            </a:pPr>
            <a:r>
              <a:rPr lang="en-US" sz="990" spc="277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“拥有”</a:t>
            </a:r>
            <a:pPr algn="l" indent="0" marL="0">
              <a:buNone/>
            </a:pPr>
            <a:r>
              <a:rPr lang="en-US" sz="990" spc="277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被重新定义为</a:t>
            </a:r>
            <a:pPr algn="l" indent="0" marL="0">
              <a:buNone/>
            </a:pPr>
            <a:r>
              <a:rPr lang="en-US" sz="990" spc="277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“共享”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514350" y="3891915"/>
            <a:ext cx="2983409" cy="62293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14350" y="3891915"/>
            <a:ext cx="0" cy="622935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3891915"/>
            <a:ext cx="3341418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08" spc="12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如果说传统论证都在问</a:t>
            </a:r>
            <a:pPr algn="l" indent="0" marL="0">
              <a:lnSpc>
                <a:spcPct val="190000"/>
              </a:lnSpc>
              <a:buNone/>
            </a:pPr>
            <a:r>
              <a:rPr lang="en-US" sz="608" b="1" spc="12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“谁应当拥有”</a:t>
            </a:r>
            <a:pPr algn="l" indent="0" marL="0">
              <a:lnSpc>
                <a:spcPct val="190000"/>
              </a:lnSpc>
              <a:buNone/>
            </a:pPr>
            <a:r>
              <a:rPr lang="en-US" sz="608" spc="12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，开源给出的回答是</a:t>
            </a:r>
            <a:pPr algn="l" indent="0" marL="0">
              <a:lnSpc>
                <a:spcPct val="190000"/>
              </a:lnSpc>
              <a:buNone/>
            </a:pPr>
            <a:r>
              <a:rPr lang="en-US" sz="608" b="1" spc="12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“我们应当如何共享”</a:t>
            </a:r>
            <a:pPr algn="l" indent="0" marL="0">
              <a:lnSpc>
                <a:spcPct val="190000"/>
              </a:lnSpc>
              <a:buNone/>
            </a:pPr>
            <a:r>
              <a:rPr lang="en-US" sz="608" spc="12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。开源许可证保留了版权结构，却把</a:t>
            </a:r>
            <a:pPr algn="l" indent="0" marL="0">
              <a:lnSpc>
                <a:spcPct val="190000"/>
              </a:lnSpc>
              <a:buNone/>
            </a:pPr>
            <a:r>
              <a:rPr lang="en-US" sz="608" b="1" spc="12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“独占”</a:t>
            </a:r>
            <a:pPr algn="l" indent="0" marL="0">
              <a:lnSpc>
                <a:spcPct val="190000"/>
              </a:lnSpc>
              <a:buNone/>
            </a:pPr>
            <a:r>
              <a:rPr lang="en-US" sz="608" spc="12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这一核心权力让渡给社群；它不是在拒绝知识产权，而是在</a:t>
            </a:r>
            <a:pPr algn="l" indent="0" marL="0">
              <a:lnSpc>
                <a:spcPct val="190000"/>
              </a:lnSpc>
              <a:buNone/>
            </a:pPr>
            <a:r>
              <a:rPr lang="en-US" sz="608" b="1" spc="12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重写知识产权</a:t>
            </a:r>
            <a:pPr algn="l" indent="0" marL="0">
              <a:lnSpc>
                <a:spcPct val="190000"/>
              </a:lnSpc>
              <a:buNone/>
            </a:pPr>
            <a:r>
              <a:rPr lang="en-US" sz="608" spc="12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608" dirty="0"/>
          </a:p>
        </p:txBody>
      </p:sp>
      <p:sp>
        <p:nvSpPr>
          <p:cNvPr id="24" name="Shape 22"/>
          <p:cNvSpPr/>
          <p:nvPr/>
        </p:nvSpPr>
        <p:spPr>
          <a:xfrm>
            <a:off x="3703499" y="3891915"/>
            <a:ext cx="1573411" cy="622935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89224" y="3834765"/>
            <a:ext cx="213777" cy="9715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789224" y="3834765"/>
            <a:ext cx="282357" cy="97155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3800654" y="3989070"/>
            <a:ext cx="154459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10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不是不要 IP</a:t>
            </a:r>
            <a:endParaRPr lang="en-US" sz="855" dirty="0"/>
          </a:p>
        </p:txBody>
      </p:sp>
      <p:sp>
        <p:nvSpPr>
          <p:cNvPr id="28" name="Text 26"/>
          <p:cNvSpPr/>
          <p:nvPr/>
        </p:nvSpPr>
        <p:spPr>
          <a:xfrm>
            <a:off x="3800654" y="4189095"/>
            <a:ext cx="1544593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spc="5" kern="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开源并非否定知识产权，而是把它嵌入一份可复制、可修改的授权契约。</a:t>
            </a:r>
            <a:endParaRPr lang="en-US" sz="540" dirty="0"/>
          </a:p>
        </p:txBody>
      </p:sp>
      <p:sp>
        <p:nvSpPr>
          <p:cNvPr id="29" name="Shape 27"/>
          <p:cNvSpPr/>
          <p:nvPr/>
        </p:nvSpPr>
        <p:spPr>
          <a:xfrm>
            <a:off x="5379780" y="3891915"/>
            <a:ext cx="1573500" cy="622935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5505" y="3834765"/>
            <a:ext cx="219492" cy="9715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465505" y="3834765"/>
            <a:ext cx="288072" cy="97155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5476935" y="3989070"/>
            <a:ext cx="154469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10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授权即所有权</a:t>
            </a:r>
            <a:endParaRPr lang="en-US" sz="855" dirty="0"/>
          </a:p>
        </p:txBody>
      </p:sp>
      <p:sp>
        <p:nvSpPr>
          <p:cNvPr id="33" name="Text 31"/>
          <p:cNvSpPr/>
          <p:nvPr/>
        </p:nvSpPr>
        <p:spPr>
          <a:xfrm>
            <a:off x="5476935" y="4189095"/>
            <a:ext cx="1544693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spc="5" kern="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许可证把权利束拆分重排，允许再分发，但约束行为的边界。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7056150" y="3891915"/>
            <a:ext cx="1573411" cy="622935"/>
          </a:xfrm>
          <a:prstGeom prst="rect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41875" y="3834765"/>
            <a:ext cx="219492" cy="9715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7141875" y="3834765"/>
            <a:ext cx="288072" cy="97155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buNone/>
            </a:pPr>
            <a:r>
              <a:rPr lang="en-US" sz="540" spc="18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7153305" y="3989070"/>
            <a:ext cx="154459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10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共同创造</a:t>
            </a:r>
            <a:endParaRPr lang="en-US" sz="855" dirty="0"/>
          </a:p>
        </p:txBody>
      </p:sp>
      <p:sp>
        <p:nvSpPr>
          <p:cNvPr id="38" name="Text 36"/>
          <p:cNvSpPr/>
          <p:nvPr/>
        </p:nvSpPr>
        <p:spPr>
          <a:xfrm>
            <a:off x="7153305" y="4189095"/>
            <a:ext cx="1544593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40" spc="5" kern="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作者、贡献者、使用者共同决定“什么算正当使用”。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500"/>
                </a:srgbClr>
              </a:gs>
              <a:gs pos="33000">
                <a:srgbClr val="000000">
                  <a:alpha val="0"/>
                </a:srgbClr>
              </a:gs>
              <a:gs pos="67000">
                <a:srgbClr val="000000">
                  <a:alpha val="35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74320" y="2057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74320" y="205740"/>
            <a:ext cx="12573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05740"/>
            <a:ext cx="0" cy="12573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3950" y="2057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743950" y="205740"/>
            <a:ext cx="12573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205740"/>
            <a:ext cx="0" cy="12573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812030"/>
            <a:ext cx="125730" cy="12573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74320" y="4937760"/>
            <a:ext cx="12573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812030"/>
            <a:ext cx="0" cy="12573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43950" y="4812030"/>
            <a:ext cx="125730" cy="12573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8869680" y="4812030"/>
            <a:ext cx="0" cy="12573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43950" y="4937760"/>
            <a:ext cx="12573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0040"/>
            <a:ext cx="8321040" cy="914132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11480" y="1234172"/>
            <a:ext cx="8321040" cy="0"/>
          </a:xfrm>
          <a:prstGeom prst="line">
            <a:avLst/>
          </a:prstGeom>
          <a:noFill/>
          <a:ln w="5715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2903"/>
            <a:ext cx="25146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42950" y="320040"/>
            <a:ext cx="14017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知识产权 · 权利束 · 契约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411480" y="502920"/>
            <a:ext cx="3264408" cy="37120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10" b="1" spc="13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许可证·共享即权利</a:t>
            </a:r>
            <a:endParaRPr lang="en-US" sz="2610" dirty="0"/>
          </a:p>
        </p:txBody>
      </p:sp>
      <p:sp>
        <p:nvSpPr>
          <p:cNvPr id="20" name="Text 18"/>
          <p:cNvSpPr/>
          <p:nvPr/>
        </p:nvSpPr>
        <p:spPr>
          <a:xfrm>
            <a:off x="411480" y="954137"/>
            <a:ext cx="326440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68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知识产权不必以独占为必要条件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8481060" y="365760"/>
            <a:ext cx="25146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40055"/>
            <a:ext cx="1280160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50" spc="225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LICENSE</a:t>
            </a:r>
            <a:pPr algn="r" indent="0" marL="0">
              <a:lnSpc>
                <a:spcPct val="170000"/>
              </a:lnSpc>
              <a:buNone/>
            </a:pPr>
            <a:endParaRPr lang="en-US" sz="450" dirty="0"/>
          </a:p>
          <a:p>
            <a:pPr algn="r" indent="0" marL="0">
              <a:lnSpc>
                <a:spcPct val="170000"/>
              </a:lnSpc>
              <a:buNone/>
            </a:pPr>
            <a:r>
              <a:rPr lang="en-US" sz="450" spc="225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SERIES · 01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411480" y="1417052"/>
            <a:ext cx="3874770" cy="917793"/>
          </a:xfrm>
          <a:prstGeom prst="rect">
            <a:avLst/>
          </a:prstGeom>
          <a:solidFill>
            <a:srgbClr val="FFFFFF"/>
          </a:solidFill>
          <a:ln w="5715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1502777"/>
            <a:ext cx="603504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spc="45" kern="0" dirty="0">
                <a:solidFill>
                  <a:srgbClr val="000000">
                    <a:alpha val="7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980" dirty="0"/>
          </a:p>
        </p:txBody>
      </p:sp>
      <p:sp>
        <p:nvSpPr>
          <p:cNvPr id="25" name="Text 23"/>
          <p:cNvSpPr/>
          <p:nvPr/>
        </p:nvSpPr>
        <p:spPr>
          <a:xfrm>
            <a:off x="577215" y="1548497"/>
            <a:ext cx="39684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 格 开 源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577215" y="1697087"/>
            <a:ext cx="3968496" cy="1919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6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GPL · Copyleft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77215" y="1957655"/>
            <a:ext cx="19431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77215" y="2037665"/>
            <a:ext cx="3968496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75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要求衍生作品以同等开放条款发布，防止成果被私有化"回流"。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4569143" y="1417052"/>
            <a:ext cx="5715" cy="8001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69143" y="2254835"/>
            <a:ext cx="5715" cy="8001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1601629"/>
            <a:ext cx="548640" cy="548640"/>
          </a:xfrm>
          <a:prstGeom prst="ellipse">
            <a:avLst/>
          </a:prstGeom>
          <a:noFill/>
          <a:ln w="5715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6260" y="1670209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366260" y="1670209"/>
            <a:ext cx="5257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57750" y="1417052"/>
            <a:ext cx="3874770" cy="917793"/>
          </a:xfrm>
          <a:prstGeom prst="rect">
            <a:avLst/>
          </a:prstGeom>
          <a:solidFill>
            <a:srgbClr val="FFFFFF"/>
          </a:solidFill>
          <a:ln w="5715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3895" y="1502777"/>
            <a:ext cx="603504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spc="45" kern="0" dirty="0">
                <a:solidFill>
                  <a:srgbClr val="000000">
                    <a:alpha val="7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980" dirty="0"/>
          </a:p>
        </p:txBody>
      </p:sp>
      <p:sp>
        <p:nvSpPr>
          <p:cNvPr id="36" name="Text 34"/>
          <p:cNvSpPr/>
          <p:nvPr/>
        </p:nvSpPr>
        <p:spPr>
          <a:xfrm>
            <a:off x="5023485" y="1548497"/>
            <a:ext cx="39684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宽 松 开 源</a:t>
            </a:r>
            <a:endParaRPr lang="en-US" sz="495" dirty="0"/>
          </a:p>
        </p:txBody>
      </p:sp>
      <p:sp>
        <p:nvSpPr>
          <p:cNvPr id="37" name="Text 35"/>
          <p:cNvSpPr/>
          <p:nvPr/>
        </p:nvSpPr>
        <p:spPr>
          <a:xfrm>
            <a:off x="5023485" y="1697087"/>
            <a:ext cx="3968496" cy="1919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6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MIT / Apache · 宽松许可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5023485" y="1957655"/>
            <a:ext cx="19431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3485" y="2037665"/>
            <a:ext cx="3968496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75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强调最低约束，允许作品被自由再打包乃至商用闭源。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411480" y="2483435"/>
            <a:ext cx="4091940" cy="7286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" y="2483435"/>
            <a:ext cx="0" cy="728663"/>
          </a:xfrm>
          <a:prstGeom prst="line">
            <a:avLst/>
          </a:pr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215" y="2609165"/>
            <a:ext cx="42291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AAAAA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§</a:t>
            </a:r>
            <a:endParaRPr lang="en-US" sz="1530" dirty="0"/>
          </a:p>
        </p:txBody>
      </p:sp>
      <p:sp>
        <p:nvSpPr>
          <p:cNvPr id="43" name="Text 41"/>
          <p:cNvSpPr/>
          <p:nvPr/>
        </p:nvSpPr>
        <p:spPr>
          <a:xfrm>
            <a:off x="931545" y="2609165"/>
            <a:ext cx="383407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MECHANISM · 机制</a:t>
            </a:r>
            <a:endParaRPr lang="en-US" sz="450" dirty="0"/>
          </a:p>
        </p:txBody>
      </p:sp>
      <p:sp>
        <p:nvSpPr>
          <p:cNvPr id="44" name="Text 42"/>
          <p:cNvSpPr/>
          <p:nvPr/>
        </p:nvSpPr>
        <p:spPr>
          <a:xfrm>
            <a:off x="931545" y="2729180"/>
            <a:ext cx="3834079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权利束的重排</a:t>
            </a:r>
            <a:endParaRPr lang="en-US" sz="945" dirty="0"/>
          </a:p>
        </p:txBody>
      </p:sp>
      <p:sp>
        <p:nvSpPr>
          <p:cNvPr id="45" name="Text 43"/>
          <p:cNvSpPr/>
          <p:nvPr/>
        </p:nvSpPr>
        <p:spPr>
          <a:xfrm>
            <a:off x="931545" y="2946350"/>
            <a:ext cx="3834079" cy="1400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作者保留署名权与再分享义务，放弃独占权，形成"契约式所有权"。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4640580" y="2483435"/>
            <a:ext cx="4091940" cy="7286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640580" y="2483435"/>
            <a:ext cx="0" cy="728663"/>
          </a:xfrm>
          <a:prstGeom prst="line">
            <a:avLst/>
          </a:pr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6315" y="2609165"/>
            <a:ext cx="42291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AAAAA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¶</a:t>
            </a:r>
            <a:endParaRPr lang="en-US" sz="1530" dirty="0"/>
          </a:p>
        </p:txBody>
      </p:sp>
      <p:sp>
        <p:nvSpPr>
          <p:cNvPr id="49" name="Text 47"/>
          <p:cNvSpPr/>
          <p:nvPr/>
        </p:nvSpPr>
        <p:spPr>
          <a:xfrm>
            <a:off x="5160645" y="2609165"/>
            <a:ext cx="383407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PHILOSOPHY · 哲学</a:t>
            </a:r>
            <a:endParaRPr lang="en-US" sz="450" dirty="0"/>
          </a:p>
        </p:txBody>
      </p:sp>
      <p:sp>
        <p:nvSpPr>
          <p:cNvPr id="50" name="Text 48"/>
          <p:cNvSpPr/>
          <p:nvPr/>
        </p:nvSpPr>
        <p:spPr>
          <a:xfrm>
            <a:off x="5160645" y="2729180"/>
            <a:ext cx="3834079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哲学含义</a:t>
            </a:r>
            <a:endParaRPr lang="en-US" sz="945" dirty="0"/>
          </a:p>
        </p:txBody>
      </p:sp>
      <p:sp>
        <p:nvSpPr>
          <p:cNvPr id="51" name="Text 49"/>
          <p:cNvSpPr/>
          <p:nvPr/>
        </p:nvSpPr>
        <p:spPr>
          <a:xfrm>
            <a:off x="5160645" y="2946350"/>
            <a:ext cx="3834079" cy="1400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知识产权可以服务于公共利益，不必以独占为必要条件。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411480" y="3360688"/>
            <a:ext cx="8321040" cy="509707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411480" y="3360688"/>
            <a:ext cx="8321040" cy="0"/>
          </a:xfrm>
          <a:prstGeom prst="line">
            <a:avLst/>
          </a:prstGeom>
          <a:noFill/>
          <a:ln w="5715">
            <a:solidFill>
              <a:srgbClr val="BBBBB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480703"/>
            <a:ext cx="912114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1989</a:t>
            </a:r>
            <a:endParaRPr lang="en-US" sz="1890" dirty="0"/>
          </a:p>
        </p:txBody>
      </p:sp>
      <p:sp>
        <p:nvSpPr>
          <p:cNvPr id="55" name="Text 53"/>
          <p:cNvSpPr/>
          <p:nvPr/>
        </p:nvSpPr>
        <p:spPr>
          <a:xfrm>
            <a:off x="1080135" y="3629293"/>
            <a:ext cx="1221353" cy="241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GPL 首次发布</a:t>
            </a:r>
            <a:endParaRPr lang="en-US" sz="58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GNU 通用公共许可证的诞生年份</a:t>
            </a:r>
            <a:endParaRPr lang="en-US" sz="585" dirty="0"/>
          </a:p>
        </p:txBody>
      </p:sp>
      <p:sp>
        <p:nvSpPr>
          <p:cNvPr id="56" name="Text 54"/>
          <p:cNvSpPr/>
          <p:nvPr/>
        </p:nvSpPr>
        <p:spPr>
          <a:xfrm>
            <a:off x="3253710" y="3480703"/>
            <a:ext cx="76581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≈0</a:t>
            </a:r>
            <a:endParaRPr lang="en-US" sz="1890" dirty="0"/>
          </a:p>
        </p:txBody>
      </p:sp>
      <p:sp>
        <p:nvSpPr>
          <p:cNvPr id="57" name="Text 55"/>
          <p:cNvSpPr/>
          <p:nvPr/>
        </p:nvSpPr>
        <p:spPr>
          <a:xfrm>
            <a:off x="3882360" y="3629293"/>
            <a:ext cx="1106738" cy="241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MIT 许可证</a:t>
            </a:r>
            <a:endParaRPr lang="en-US" sz="58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近乎无约束，仅保留版权说明</a:t>
            </a:r>
            <a:endParaRPr lang="en-US" sz="585" dirty="0"/>
          </a:p>
        </p:txBody>
      </p:sp>
      <p:sp>
        <p:nvSpPr>
          <p:cNvPr id="58" name="Text 56"/>
          <p:cNvSpPr/>
          <p:nvPr/>
        </p:nvSpPr>
        <p:spPr>
          <a:xfrm>
            <a:off x="6095940" y="3480703"/>
            <a:ext cx="76581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4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契约</a:t>
            </a:r>
            <a:endParaRPr lang="en-US" sz="1890" dirty="0"/>
          </a:p>
        </p:txBody>
      </p:sp>
      <p:sp>
        <p:nvSpPr>
          <p:cNvPr id="59" name="Text 57"/>
          <p:cNvSpPr/>
          <p:nvPr/>
        </p:nvSpPr>
        <p:spPr>
          <a:xfrm>
            <a:off x="6724590" y="3629293"/>
            <a:ext cx="1191849" cy="241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4" kern="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核心机制</a:t>
            </a:r>
            <a:endParaRPr lang="en-US" sz="58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585" spc="14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契约式所有权，权利可拆分协商</a:t>
            </a:r>
            <a:endParaRPr lang="en-US" sz="5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8620"/>
            <a:ext cx="126275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 源 与 知 识 产 权 论 述</a:t>
            </a:r>
            <a:endParaRPr lang="en-US" sz="540" dirty="0"/>
          </a:p>
        </p:txBody>
      </p:sp>
      <p:sp>
        <p:nvSpPr>
          <p:cNvPr id="3" name="Text 1"/>
          <p:cNvSpPr/>
          <p:nvPr/>
        </p:nvSpPr>
        <p:spPr>
          <a:xfrm>
            <a:off x="548640" y="560070"/>
            <a:ext cx="4198925" cy="4800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10" spc="261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 所 有 权 到 共 同 体</a:t>
            </a:r>
            <a:endParaRPr lang="en-US" sz="2610" dirty="0"/>
          </a:p>
        </p:txBody>
      </p:sp>
      <p:sp>
        <p:nvSpPr>
          <p:cNvPr id="4" name="Text 2"/>
          <p:cNvSpPr/>
          <p:nvPr/>
        </p:nvSpPr>
        <p:spPr>
          <a:xfrm>
            <a:off x="548640" y="1118354"/>
            <a:ext cx="7680960" cy="345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98" dirty="0">
                <a:solidFill>
                  <a:srgbClr val="3A3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开源把知识产权的焦点，从"个人拥有"转向"共同体维持"——正当性不再依赖劳动或人格的自然延伸，而是依靠持续的协作秩序：贡献者靠</a:t>
            </a:r>
            <a:pPr algn="l" indent="0" marL="0">
              <a:lnSpc>
                <a:spcPct val="195000"/>
              </a:lnSpc>
              <a:buNone/>
            </a:pPr>
            <a:r>
              <a:rPr lang="en-US" sz="698" dirty="0">
                <a:solidFill>
                  <a:srgbClr val="000000">
                    <a:alpha val="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代码、讨论、评审</a:t>
            </a:r>
            <a:pPr algn="l" indent="0" marL="0">
              <a:lnSpc>
                <a:spcPct val="195000"/>
              </a:lnSpc>
              <a:buNone/>
            </a:pPr>
            <a:r>
              <a:rPr lang="en-US" sz="698" dirty="0">
                <a:solidFill>
                  <a:srgbClr val="3A3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彼此承认，把知识作为共同财产品，同时认真对待它的秩序成本。</a:t>
            </a:r>
            <a:endParaRPr lang="en-US" sz="698" dirty="0"/>
          </a:p>
        </p:txBody>
      </p:sp>
      <p:sp>
        <p:nvSpPr>
          <p:cNvPr id="5" name="Shape 3"/>
          <p:cNvSpPr/>
          <p:nvPr/>
        </p:nvSpPr>
        <p:spPr>
          <a:xfrm>
            <a:off x="6097905" y="1141214"/>
            <a:ext cx="731520" cy="13716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6097905" y="1278374"/>
            <a:ext cx="731520" cy="0"/>
          </a:xfrm>
          <a:prstGeom prst="line">
            <a:avLst/>
          </a:prstGeom>
          <a:noFill/>
          <a:ln w="571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7905" y="1141214"/>
            <a:ext cx="820103" cy="137160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9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代码、讨论、评审</a:t>
            </a:r>
            <a:endParaRPr lang="en-US" sz="698" dirty="0"/>
          </a:p>
        </p:txBody>
      </p:sp>
      <p:sp>
        <p:nvSpPr>
          <p:cNvPr id="8" name="Shape 6"/>
          <p:cNvSpPr/>
          <p:nvPr/>
        </p:nvSpPr>
        <p:spPr>
          <a:xfrm>
            <a:off x="548640" y="1772364"/>
            <a:ext cx="11430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35229"/>
            <a:ext cx="2057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spc="34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45820" y="1772364"/>
            <a:ext cx="96244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作者角色的转变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5820" y="1995249"/>
            <a:ext cx="376367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从"产权人"变为"共同体的发起者"——贡献即身份的一部分，署名之外，还有持续在场的责任。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548640" y="2280374"/>
            <a:ext cx="11430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43239"/>
            <a:ext cx="2057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spc="34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845820" y="2280374"/>
            <a:ext cx="96244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激励来源的改变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5820" y="2503259"/>
            <a:ext cx="3584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声誉、影响力、社群认同与生态繁荣，取代独占收益成为主要动力，推动贡献者长期投入。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548640" y="2788384"/>
            <a:ext cx="11430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51249"/>
            <a:ext cx="2057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spc="34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45820" y="2788384"/>
            <a:ext cx="841266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正当性的重构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5820" y="3011269"/>
            <a:ext cx="358444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不再追问"凭什么拥有"，而是问"如何维持共同创作的秩序"——权利话语让位于秩序话语。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548640" y="3296394"/>
            <a:ext cx="114300" cy="5715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9259"/>
            <a:ext cx="2057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spc="34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45820" y="3296394"/>
            <a:ext cx="72009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未竟的问题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5820" y="3519279"/>
            <a:ext cx="367405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治理、资助、商业可持续性，是共享模式必须面对的下一层正当性，也是它走向成熟的关键。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6466523" y="1778079"/>
            <a:ext cx="20802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共同体的协作网络：贡献者、治理、资助、生态相互联结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6252210" y="2011680"/>
            <a:ext cx="228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E8E8E8">
                <a:alpha val="100000"/>
              </a:srgbClr>
            </a:outerShdw>
          </a:effectLst>
        </p:spPr>
      </p:sp>
      <p:pic>
        <p:nvPicPr>
          <p:cNvPr id="26" name="Image 0" descr="/home/lee/developing/oscar-open-source-book/website/slides-src/2023-10-justifying-intellectual-property-reading-by-kuosi/images/page_008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2210" y="2011680"/>
            <a:ext cx="2286000" cy="22860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48640" y="4514850"/>
            <a:ext cx="8046720" cy="308610"/>
          </a:xfrm>
          <a:prstGeom prst="rect">
            <a:avLst/>
          </a:prstGeom>
          <a:noFill/>
          <a:ln/>
        </p:spPr>
      </p:sp>
      <p:sp>
        <p:nvSpPr>
          <p:cNvPr id="28" name="Shape 25"/>
          <p:cNvSpPr/>
          <p:nvPr/>
        </p:nvSpPr>
        <p:spPr>
          <a:xfrm>
            <a:off x="548640" y="4514850"/>
            <a:ext cx="8046720" cy="0"/>
          </a:xfrm>
          <a:prstGeom prst="line">
            <a:avLst/>
          </a:prstGeom>
          <a:noFill/>
          <a:ln w="5715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4669155"/>
            <a:ext cx="249561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10" spc="11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正当性的问题不再是拥有，而是秩序的维系</a:t>
            </a:r>
            <a:endParaRPr lang="en-US" sz="810" dirty="0"/>
          </a:p>
        </p:txBody>
      </p:sp>
      <p:sp>
        <p:nvSpPr>
          <p:cNvPr id="30" name="Text 27"/>
          <p:cNvSpPr/>
          <p:nvPr/>
        </p:nvSpPr>
        <p:spPr>
          <a:xfrm>
            <a:off x="7091333" y="4700588"/>
            <a:ext cx="168451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OWNERSHIP TO COMMUNITY</a:t>
            </a:r>
            <a:endParaRPr lang="en-US" sz="4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8288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955405" y="182880"/>
            <a:ext cx="5715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4777740"/>
            <a:ext cx="5715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954905"/>
            <a:ext cx="18288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20040"/>
            <a:ext cx="8229600" cy="750897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57200" y="1070937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"/>
            <a:ext cx="16002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74370" y="320040"/>
            <a:ext cx="4749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 · 03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457200" y="480060"/>
            <a:ext cx="2540518" cy="28798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90" b="1" spc="95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开源生态的关键数字</a:t>
            </a:r>
            <a:endParaRPr lang="en-US" sz="1890" dirty="0"/>
          </a:p>
        </p:txBody>
      </p:sp>
      <p:sp>
        <p:nvSpPr>
          <p:cNvPr id="11" name="Text 9"/>
          <p:cNvSpPr/>
          <p:nvPr/>
        </p:nvSpPr>
        <p:spPr>
          <a:xfrm>
            <a:off x="457200" y="825192"/>
            <a:ext cx="254051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6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用数字讲开源 —— 从许可证到商业模式的经验证据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7728198" y="536049"/>
            <a:ext cx="1107192" cy="267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1170" spc="9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1989 → 至今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7728198" y="826353"/>
            <a:ext cx="1073634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495" spc="124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开源生态 · 全球数据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457200" y="1230957"/>
            <a:ext cx="1971675" cy="1428750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082" y="1328112"/>
            <a:ext cx="1783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5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588645" y="1385262"/>
            <a:ext cx="19138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广泛采用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588645" y="1556712"/>
            <a:ext cx="1913839" cy="3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GPL · MIT</a:t>
            </a:r>
            <a:pPr algn="l" indent="0" marL="0">
              <a:lnSpc>
                <a:spcPct val="135000"/>
              </a:lnSpc>
              <a:buNone/>
            </a:pPr>
            <a:endParaRPr lang="en-US" sz="94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Apache 2.0</a:t>
            </a:r>
            <a:endParaRPr lang="en-US" sz="945" dirty="0"/>
          </a:p>
        </p:txBody>
      </p:sp>
      <p:sp>
        <p:nvSpPr>
          <p:cNvPr id="18" name="Shape 16"/>
          <p:cNvSpPr/>
          <p:nvPr/>
        </p:nvSpPr>
        <p:spPr>
          <a:xfrm>
            <a:off x="588645" y="1960691"/>
            <a:ext cx="18288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8645" y="2052131"/>
            <a:ext cx="1913839" cy="476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spc="12" kern="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长期位居开源项目使用量前列，构成全球软件协作的共同底座。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2543175" y="1230957"/>
            <a:ext cx="1971675" cy="1428750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1342" y="1328112"/>
            <a:ext cx="1783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5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2674620" y="1385262"/>
            <a:ext cx="19138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从工具到基础设施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2674620" y="1556712"/>
            <a:ext cx="1913839" cy="3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Linux · Git</a:t>
            </a:r>
            <a:pPr algn="l" indent="0" marL="0">
              <a:lnSpc>
                <a:spcPct val="135000"/>
              </a:lnSpc>
              <a:buNone/>
            </a:pPr>
            <a:endParaRPr lang="en-US" sz="94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Kubernetes</a:t>
            </a:r>
            <a:endParaRPr lang="en-US" sz="945" dirty="0"/>
          </a:p>
        </p:txBody>
      </p:sp>
      <p:sp>
        <p:nvSpPr>
          <p:cNvPr id="24" name="Shape 22"/>
          <p:cNvSpPr/>
          <p:nvPr/>
        </p:nvSpPr>
        <p:spPr>
          <a:xfrm>
            <a:off x="2674620" y="1960691"/>
            <a:ext cx="18288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674620" y="2052131"/>
            <a:ext cx="1913839" cy="476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spc="12" kern="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操作系统、版本控制、容器编排，已成为全球数字基础设施的一部分。</a:t>
            </a:r>
            <a:endParaRPr lang="en-US" sz="585" dirty="0"/>
          </a:p>
        </p:txBody>
      </p:sp>
      <p:sp>
        <p:nvSpPr>
          <p:cNvPr id="26" name="Shape 24"/>
          <p:cNvSpPr/>
          <p:nvPr/>
        </p:nvSpPr>
        <p:spPr>
          <a:xfrm>
            <a:off x="4629150" y="1230957"/>
            <a:ext cx="1971675" cy="1428750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7317" y="1328112"/>
            <a:ext cx="1783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5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585" dirty="0"/>
          </a:p>
        </p:txBody>
      </p:sp>
      <p:sp>
        <p:nvSpPr>
          <p:cNvPr id="28" name="Text 26"/>
          <p:cNvSpPr/>
          <p:nvPr/>
        </p:nvSpPr>
        <p:spPr>
          <a:xfrm>
            <a:off x="4760595" y="1385262"/>
            <a:ext cx="19138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贡献者规模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4760595" y="1556712"/>
            <a:ext cx="1913839" cy="3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数十万 +</a:t>
            </a:r>
            <a:pPr algn="l" indent="0" marL="0">
              <a:lnSpc>
                <a:spcPct val="135000"/>
              </a:lnSpc>
              <a:buNone/>
            </a:pPr>
            <a:endParaRPr lang="en-US" sz="94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至数百万级</a:t>
            </a:r>
            <a:endParaRPr lang="en-US" sz="945" dirty="0"/>
          </a:p>
        </p:txBody>
      </p:sp>
      <p:sp>
        <p:nvSpPr>
          <p:cNvPr id="30" name="Shape 28"/>
          <p:cNvSpPr/>
          <p:nvPr/>
        </p:nvSpPr>
        <p:spPr>
          <a:xfrm>
            <a:off x="4760595" y="1960691"/>
            <a:ext cx="18288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760595" y="2052131"/>
            <a:ext cx="1913839" cy="476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spc="12" kern="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远超传统「作者 — 读者」结构，代码由分布式网络共同写就。</a:t>
            </a:r>
            <a:endParaRPr lang="en-US" sz="585" dirty="0"/>
          </a:p>
        </p:txBody>
      </p:sp>
      <p:sp>
        <p:nvSpPr>
          <p:cNvPr id="32" name="Shape 30"/>
          <p:cNvSpPr/>
          <p:nvPr/>
        </p:nvSpPr>
        <p:spPr>
          <a:xfrm>
            <a:off x="6715125" y="1230957"/>
            <a:ext cx="1971675" cy="1428750"/>
          </a:xfrm>
          <a:prstGeom prst="rect">
            <a:avLst/>
          </a:prstGeom>
          <a:solidFill>
            <a:srgbClr val="FFFFFF"/>
          </a:solidFill>
          <a:ln w="571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3292" y="1328112"/>
            <a:ext cx="1783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59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585" dirty="0"/>
          </a:p>
        </p:txBody>
      </p:sp>
      <p:sp>
        <p:nvSpPr>
          <p:cNvPr id="34" name="Text 32"/>
          <p:cNvSpPr/>
          <p:nvPr/>
        </p:nvSpPr>
        <p:spPr>
          <a:xfrm>
            <a:off x="6846570" y="1385262"/>
            <a:ext cx="19138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商业模式并存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6846570" y="1556712"/>
            <a:ext cx="1913839" cy="323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捐赠 · 双许可</a:t>
            </a:r>
            <a:pPr algn="l" indent="0" marL="0">
              <a:lnSpc>
                <a:spcPct val="135000"/>
              </a:lnSpc>
              <a:buNone/>
            </a:pPr>
            <a:endParaRPr lang="en-US" sz="94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45" b="1" spc="19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云托管 · 订阅</a:t>
            </a:r>
            <a:endParaRPr lang="en-US" sz="945" dirty="0"/>
          </a:p>
        </p:txBody>
      </p:sp>
      <p:sp>
        <p:nvSpPr>
          <p:cNvPr id="36" name="Shape 34"/>
          <p:cNvSpPr/>
          <p:nvPr/>
        </p:nvSpPr>
        <p:spPr>
          <a:xfrm>
            <a:off x="6846570" y="1960691"/>
            <a:ext cx="182880" cy="114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846570" y="2052131"/>
            <a:ext cx="1913839" cy="476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spc="12" kern="0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共享与收益并行，从单一赞助走向多元营收结构。</a:t>
            </a:r>
            <a:endParaRPr lang="en-US" sz="585" dirty="0"/>
          </a:p>
        </p:txBody>
      </p:sp>
      <p:sp>
        <p:nvSpPr>
          <p:cNvPr id="38" name="Shape 36"/>
          <p:cNvSpPr/>
          <p:nvPr/>
        </p:nvSpPr>
        <p:spPr>
          <a:xfrm>
            <a:off x="457200" y="2819727"/>
            <a:ext cx="8229600" cy="89154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57200" y="2819727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711267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951172"/>
            <a:ext cx="34290" cy="342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560070" y="2951172"/>
            <a:ext cx="6407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开源的时间脉络</a:t>
            </a:r>
            <a:endParaRPr lang="en-US" sz="495" dirty="0"/>
          </a:p>
        </p:txBody>
      </p:sp>
      <p:sp>
        <p:nvSpPr>
          <p:cNvPr id="43" name="Shape 41"/>
          <p:cNvSpPr/>
          <p:nvPr/>
        </p:nvSpPr>
        <p:spPr>
          <a:xfrm>
            <a:off x="457200" y="3236922"/>
            <a:ext cx="8229600" cy="57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1207" y="3202632"/>
            <a:ext cx="68580" cy="68580"/>
          </a:xfrm>
          <a:prstGeom prst="ellipse">
            <a:avLst/>
          </a:prstGeom>
          <a:solidFill>
            <a:srgbClr val="000000"/>
          </a:solidFill>
          <a:ln w="17145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10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15397" y="3351222"/>
            <a:ext cx="1792224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1989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315397" y="3522672"/>
            <a:ext cx="17922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GPL 发布</a:t>
            </a:r>
            <a:endParaRPr lang="en-US" sz="540" dirty="0"/>
          </a:p>
        </p:txBody>
      </p:sp>
      <p:sp>
        <p:nvSpPr>
          <p:cNvPr id="47" name="Shape 45"/>
          <p:cNvSpPr/>
          <p:nvPr/>
        </p:nvSpPr>
        <p:spPr>
          <a:xfrm>
            <a:off x="3220938" y="3202632"/>
            <a:ext cx="68580" cy="68580"/>
          </a:xfrm>
          <a:prstGeom prst="ellipse">
            <a:avLst/>
          </a:prstGeom>
          <a:solidFill>
            <a:srgbClr val="000000"/>
          </a:solidFill>
          <a:ln w="17145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10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455128" y="3351222"/>
            <a:ext cx="1792224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1991</a:t>
            </a:r>
            <a:endParaRPr lang="en-US" sz="990" dirty="0"/>
          </a:p>
        </p:txBody>
      </p:sp>
      <p:sp>
        <p:nvSpPr>
          <p:cNvPr id="49" name="Text 47"/>
          <p:cNvSpPr/>
          <p:nvPr/>
        </p:nvSpPr>
        <p:spPr>
          <a:xfrm>
            <a:off x="2455128" y="3522672"/>
            <a:ext cx="17922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内核起源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7994124" y="3202632"/>
            <a:ext cx="68580" cy="68580"/>
          </a:xfrm>
          <a:prstGeom prst="ellipse">
            <a:avLst/>
          </a:prstGeom>
          <a:solidFill>
            <a:srgbClr val="F5F5F5"/>
          </a:solidFill>
          <a:ln w="1143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5F5F5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228314" y="3351222"/>
            <a:ext cx="1792224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至今</a:t>
            </a:r>
            <a:endParaRPr lang="en-US" sz="990" dirty="0"/>
          </a:p>
        </p:txBody>
      </p:sp>
      <p:sp>
        <p:nvSpPr>
          <p:cNvPr id="52" name="Text 50"/>
          <p:cNvSpPr/>
          <p:nvPr/>
        </p:nvSpPr>
        <p:spPr>
          <a:xfrm>
            <a:off x="7228314" y="3522672"/>
            <a:ext cx="17922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4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主流许可证 · GPL · MIT · Apache 2.0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457200" y="4126230"/>
            <a:ext cx="8229600" cy="582930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457200" y="4126230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457200" y="4425732"/>
            <a:ext cx="488633" cy="87957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457200" y="4425732"/>
            <a:ext cx="0" cy="87957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425732"/>
            <a:ext cx="551498" cy="87957"/>
          </a:xfrm>
          <a:prstGeom prst="rect">
            <a:avLst/>
          </a:prstGeom>
          <a:noFill/>
          <a:ln/>
        </p:spPr>
        <p:txBody>
          <a:bodyPr wrap="none" lIns="0" tIns="6858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贡献者规模</a:t>
            </a:r>
            <a:endParaRPr lang="en-US" sz="495" dirty="0"/>
          </a:p>
        </p:txBody>
      </p:sp>
      <p:sp>
        <p:nvSpPr>
          <p:cNvPr id="59" name="Text 57"/>
          <p:cNvSpPr/>
          <p:nvPr/>
        </p:nvSpPr>
        <p:spPr>
          <a:xfrm>
            <a:off x="1060133" y="4317147"/>
            <a:ext cx="1318468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b="1" spc="4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数十万 +</a:t>
            </a:r>
            <a:pPr algn="l" indent="0" marL="0">
              <a:lnSpc>
                <a:spcPct val="110000"/>
              </a:lnSpc>
              <a:buNone/>
            </a:pPr>
            <a:r>
              <a:rPr lang="en-US" sz="900" spc="43" kern="0" dirty="0">
                <a:solidFill>
                  <a:srgbClr val="88888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百万级</a:t>
            </a:r>
            <a:endParaRPr lang="en-US" sz="1440" dirty="0"/>
          </a:p>
        </p:txBody>
      </p:sp>
      <p:sp>
        <p:nvSpPr>
          <p:cNvPr id="60" name="Shape 58"/>
          <p:cNvSpPr/>
          <p:nvPr/>
        </p:nvSpPr>
        <p:spPr>
          <a:xfrm>
            <a:off x="4569143" y="4257675"/>
            <a:ext cx="5715" cy="3200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1" name="Shape 59"/>
          <p:cNvSpPr/>
          <p:nvPr/>
        </p:nvSpPr>
        <p:spPr>
          <a:xfrm>
            <a:off x="4757738" y="4425732"/>
            <a:ext cx="406926" cy="87957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4757738" y="4425732"/>
            <a:ext cx="0" cy="87957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7738" y="4425732"/>
            <a:ext cx="469791" cy="87957"/>
          </a:xfrm>
          <a:prstGeom prst="rect">
            <a:avLst/>
          </a:prstGeom>
          <a:noFill/>
          <a:ln/>
        </p:spPr>
        <p:txBody>
          <a:bodyPr wrap="none" lIns="0" tIns="6858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149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商业形态</a:t>
            </a:r>
            <a:endParaRPr lang="en-US" sz="495" dirty="0"/>
          </a:p>
        </p:txBody>
      </p:sp>
      <p:sp>
        <p:nvSpPr>
          <p:cNvPr id="64" name="Text 62"/>
          <p:cNvSpPr/>
          <p:nvPr/>
        </p:nvSpPr>
        <p:spPr>
          <a:xfrm>
            <a:off x="5278963" y="4317147"/>
            <a:ext cx="2070359" cy="20109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40" spc="43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捐赠 · 双许可 · 云托管</a:t>
            </a:r>
            <a:endParaRPr lang="en-US" sz="1440" dirty="0"/>
          </a:p>
        </p:txBody>
      </p:sp>
      <p:sp>
        <p:nvSpPr>
          <p:cNvPr id="65" name="Shape 63"/>
          <p:cNvSpPr/>
          <p:nvPr/>
        </p:nvSpPr>
        <p:spPr>
          <a:xfrm>
            <a:off x="457200" y="4857750"/>
            <a:ext cx="8229600" cy="148590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457200" y="4857750"/>
            <a:ext cx="8229600" cy="0"/>
          </a:xfrm>
          <a:prstGeom prst="line">
            <a:avLst/>
          </a:prstGeom>
          <a:noFill/>
          <a:ln w="5715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920615"/>
            <a:ext cx="7200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13" kern="0" dirty="0">
                <a:solidFill>
                  <a:srgbClr val="AAAA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开源生态的关键数字</a:t>
            </a:r>
            <a:endParaRPr lang="en-US" sz="450" dirty="0"/>
          </a:p>
        </p:txBody>
      </p:sp>
      <p:sp>
        <p:nvSpPr>
          <p:cNvPr id="68" name="Text 66"/>
          <p:cNvSpPr/>
          <p:nvPr/>
        </p:nvSpPr>
        <p:spPr>
          <a:xfrm>
            <a:off x="4269105" y="4920615"/>
            <a:ext cx="11777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13" kern="0" dirty="0">
                <a:solidFill>
                  <a:srgbClr val="AAAA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 · OSI · CNCF · GSOC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8489633" y="4920615"/>
            <a:ext cx="2543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13" kern="0" dirty="0">
                <a:solidFill>
                  <a:srgbClr val="AAAAA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P. 03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53376" y="434340"/>
            <a:ext cx="937617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227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 · 第 10 页</a:t>
            </a:r>
            <a:endParaRPr lang="en-US" sz="540" dirty="0"/>
          </a:p>
        </p:txBody>
      </p:sp>
      <p:sp>
        <p:nvSpPr>
          <p:cNvPr id="3" name="Text 1"/>
          <p:cNvSpPr/>
          <p:nvPr/>
        </p:nvSpPr>
        <p:spPr>
          <a:xfrm>
            <a:off x="800100" y="1012627"/>
            <a:ext cx="8449056" cy="5280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780" spc="680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阅读收获与延展</a:t>
            </a:r>
            <a:endParaRPr lang="en-US" sz="3780" dirty="0"/>
          </a:p>
        </p:txBody>
      </p:sp>
      <p:sp>
        <p:nvSpPr>
          <p:cNvPr id="4" name="Text 2"/>
          <p:cNvSpPr/>
          <p:nvPr/>
        </p:nvSpPr>
        <p:spPr>
          <a:xfrm>
            <a:off x="800100" y="1677799"/>
            <a:ext cx="8449056" cy="17368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855" spc="120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正当性不是终点,而是持续的公共对话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1314450" y="2160091"/>
            <a:ext cx="7296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1080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正当性不是一次性证明,而是共同维护的过程；</a:t>
            </a:r>
            <a:pPr algn="ctr" indent="0" marL="0">
              <a:lnSpc>
                <a:spcPct val="200000"/>
              </a:lnSpc>
              <a:buNone/>
            </a:pPr>
            <a:endParaRPr lang="en-US" sz="1080" dirty="0"/>
          </a:p>
          <a:p>
            <a:pPr algn="ctr" indent="0" marL="0">
              <a:lnSpc>
                <a:spcPct val="200000"/>
              </a:lnSpc>
              <a:buNone/>
            </a:pPr>
            <a:r>
              <a:rPr lang="en-US" sz="1080" spc="54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开源许可证把这场对话写成了可执行的文本。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54855" y="2880181"/>
            <a:ext cx="34290" cy="3429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828354" y="3234511"/>
            <a:ext cx="181808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spc="198" kern="0" dirty="0">
                <a:solidFill>
                  <a:srgbClr val="B8B8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1496884" y="3415070"/>
            <a:ext cx="89618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spc="126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回到问题本身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3666530"/>
            <a:ext cx="2282885" cy="303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知识产权的正当性不是自明的,它需要被反复论证、修订与让渡。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3227010" y="3351044"/>
            <a:ext cx="5715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12439" y="3234511"/>
            <a:ext cx="181808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spc="198" kern="0" dirty="0">
                <a:solidFill>
                  <a:srgbClr val="B8B8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4246156" y="3415070"/>
            <a:ext cx="76581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spc="126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开源的启示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0356" y="3666530"/>
            <a:ext cx="2265883" cy="15198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共享与秩序可以共存,授权契约是二者之间可运行的桥梁。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5911185" y="3351044"/>
            <a:ext cx="5715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196614" y="3234511"/>
            <a:ext cx="181808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95" spc="198" kern="0" dirty="0">
                <a:solidFill>
                  <a:srgbClr val="B8B8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7060615" y="3415070"/>
            <a:ext cx="50524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spc="126" kern="0" dirty="0">
                <a:solidFill>
                  <a:srgbClr val="00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36940" y="3666530"/>
            <a:ext cx="2282885" cy="303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继续阅读开源许可证文本与相关公共政策议题,持续参与对话。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3582323" y="4591467"/>
            <a:ext cx="221677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173" kern="0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感谢参与本次共读 · 欢迎在读书会群里继续讨论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2026-08-28T23:18:11Z</dcterms:created>
  <dcterms:modified xsi:type="dcterms:W3CDTF">2026-08-28T23:18:11Z</dcterms:modified>
</cp:coreProperties>
</file>