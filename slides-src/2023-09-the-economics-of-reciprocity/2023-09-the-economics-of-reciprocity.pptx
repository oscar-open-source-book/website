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B08D57">
              <a:alpha val="7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485900" cy="14859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6700" y="3886200"/>
            <a:ext cx="1257300" cy="1257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2900" y="388620"/>
            <a:ext cx="1440180" cy="2114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spc="90" kern="0" dirty="0">
                <a:solidFill>
                  <a:srgbClr val="B08D57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No. 2023 · 09</a:t>
            </a:r>
            <a:endParaRPr lang="en-US" sz="1170" dirty="0"/>
          </a:p>
        </p:txBody>
      </p:sp>
      <p:sp>
        <p:nvSpPr>
          <p:cNvPr id="6" name="Shape 2"/>
          <p:cNvSpPr/>
          <p:nvPr/>
        </p:nvSpPr>
        <p:spPr>
          <a:xfrm>
            <a:off x="342900" y="1035487"/>
            <a:ext cx="251460" cy="571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7" name="Text 3"/>
          <p:cNvSpPr/>
          <p:nvPr/>
        </p:nvSpPr>
        <p:spPr>
          <a:xfrm>
            <a:off x="674370" y="984052"/>
            <a:ext cx="1355269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7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开 源 之 书 · 纪 录 系 列</a:t>
            </a:r>
            <a:endParaRPr lang="en-US" sz="585" dirty="0"/>
          </a:p>
        </p:txBody>
      </p:sp>
      <p:sp>
        <p:nvSpPr>
          <p:cNvPr id="8" name="Text 4"/>
          <p:cNvSpPr/>
          <p:nvPr/>
        </p:nvSpPr>
        <p:spPr>
          <a:xfrm>
            <a:off x="342900" y="1241227"/>
            <a:ext cx="3899059" cy="5362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140" b="1" spc="41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互惠的经济学</a:t>
            </a:r>
            <a:endParaRPr lang="en-US" sz="4140" dirty="0"/>
          </a:p>
        </p:txBody>
      </p:sp>
      <p:sp>
        <p:nvSpPr>
          <p:cNvPr id="9" name="Text 5"/>
          <p:cNvSpPr/>
          <p:nvPr/>
        </p:nvSpPr>
        <p:spPr>
          <a:xfrm>
            <a:off x="342900" y="1903184"/>
            <a:ext cx="3778072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45" i="1" spc="57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Economics of Reciprocity</a:t>
            </a:r>
            <a:endParaRPr lang="en-US" sz="945" dirty="0"/>
          </a:p>
        </p:txBody>
      </p:sp>
      <p:sp>
        <p:nvSpPr>
          <p:cNvPr id="10" name="Shape 6"/>
          <p:cNvSpPr/>
          <p:nvPr/>
        </p:nvSpPr>
        <p:spPr>
          <a:xfrm>
            <a:off x="342900" y="2177504"/>
            <a:ext cx="3373279" cy="150555"/>
          </a:xfrm>
          <a:prstGeom prst="rect">
            <a:avLst/>
          </a:prstGeom>
          <a:noFill/>
          <a:ln/>
        </p:spPr>
      </p:sp>
      <p:sp>
        <p:nvSpPr>
          <p:cNvPr id="11" name="Shape 7"/>
          <p:cNvSpPr/>
          <p:nvPr/>
        </p:nvSpPr>
        <p:spPr>
          <a:xfrm>
            <a:off x="342900" y="2177504"/>
            <a:ext cx="0" cy="150555"/>
          </a:xfrm>
          <a:prstGeom prst="line">
            <a:avLst/>
          </a:prstGeom>
          <a:noFill/>
          <a:ln w="11430">
            <a:solidFill>
              <a:srgbClr val="B08D5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2900" y="2177504"/>
            <a:ext cx="3778072" cy="150555"/>
          </a:xfrm>
          <a:prstGeom prst="rect">
            <a:avLst/>
          </a:prstGeom>
          <a:noFill/>
          <a:ln/>
        </p:spPr>
        <p:txBody>
          <a:bodyPr wrap="none" lIns="0" tIns="8001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65" spc="23" kern="0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开源之道 · 适兕 —— 阅读分享 (2023-09)</a:t>
            </a:r>
            <a:endParaRPr lang="en-US" sz="765" dirty="0"/>
          </a:p>
        </p:txBody>
      </p:sp>
      <p:sp>
        <p:nvSpPr>
          <p:cNvPr id="13" name="Text 9"/>
          <p:cNvSpPr/>
          <p:nvPr/>
        </p:nvSpPr>
        <p:spPr>
          <a:xfrm>
            <a:off x="342900" y="2510939"/>
            <a:ext cx="3541943" cy="9158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75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经典回读　重读 von Hippel 与 Gibbons 2000 年发表于 AEA 的开创性论文。</a:t>
            </a:r>
            <a:endParaRPr lang="en-US" sz="675" dirty="0"/>
          </a:p>
          <a:p>
            <a:pPr algn="l" marL="342900" indent="-342900">
              <a:buSzPct val="100000"/>
              <a:buChar char="•"/>
            </a:pPr>
            <a:r>
              <a:rPr lang="en-US" sz="675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分享动机　把二十年前的开放协作洞察，带回今天的开源布道现场。</a:t>
            </a:r>
            <a:endParaRPr lang="en-US" sz="675" dirty="0"/>
          </a:p>
          <a:p>
            <a:pPr algn="l" marL="342900" indent="-342900">
              <a:buSzPct val="100000"/>
              <a:buChar char="•"/>
            </a:pPr>
            <a:r>
              <a:rPr lang="en-US" sz="675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阅读视角　从经济学角度，理解开发者为何愿意无偿贡献代码与时间。</a:t>
            </a:r>
            <a:endParaRPr lang="en-US" sz="675" dirty="0"/>
          </a:p>
        </p:txBody>
      </p:sp>
      <p:sp>
        <p:nvSpPr>
          <p:cNvPr id="14" name="Text 10"/>
          <p:cNvSpPr/>
          <p:nvPr/>
        </p:nvSpPr>
        <p:spPr>
          <a:xfrm>
            <a:off x="7579787" y="733842"/>
            <a:ext cx="136787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73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ILLUSTRATION · PLATE I</a:t>
            </a:r>
            <a:endParaRPr lang="en-US" sz="495" dirty="0"/>
          </a:p>
        </p:txBody>
      </p:sp>
      <p:pic>
        <p:nvPicPr>
          <p:cNvPr id="15" name="Image 2" descr="/home/lee/developing/oscar-open-source-book/website/slides-src/2023-09-the-economics-of-reciprocity/images/page_001_hero.png">    </p:cNvPr>
          <p:cNvPicPr>
            <a:picLocks noChangeAspect="1"/>
          </p:cNvPicPr>
          <p:nvPr/>
        </p:nvPicPr>
        <p:blipFill>
          <a:blip r:embed="rId5"/>
          <a:srcRect l="55" r="55" t="0" b="0"/>
          <a:stretch/>
        </p:blipFill>
        <p:spPr>
          <a:xfrm>
            <a:off x="4229100" y="928152"/>
            <a:ext cx="4572000" cy="25546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412480" y="859572"/>
            <a:ext cx="457200" cy="457200"/>
          </a:xfrm>
          <a:prstGeom prst="rect">
            <a:avLst/>
          </a:prstGeom>
          <a:noFill/>
          <a:ln/>
        </p:spPr>
      </p:sp>
      <p:sp>
        <p:nvSpPr>
          <p:cNvPr id="17" name="Shape 12"/>
          <p:cNvSpPr/>
          <p:nvPr/>
        </p:nvSpPr>
        <p:spPr>
          <a:xfrm>
            <a:off x="8412480" y="859572"/>
            <a:ext cx="457200" cy="0"/>
          </a:xfrm>
          <a:prstGeom prst="lin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869680" y="859572"/>
            <a:ext cx="0" cy="457200"/>
          </a:xfrm>
          <a:prstGeom prst="lin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160520" y="3094137"/>
            <a:ext cx="457200" cy="457200"/>
          </a:xfrm>
          <a:prstGeom prst="rect">
            <a:avLst/>
          </a:prstGeom>
          <a:noFill/>
          <a:ln/>
        </p:spPr>
      </p:sp>
      <p:sp>
        <p:nvSpPr>
          <p:cNvPr id="20" name="Shape 15"/>
          <p:cNvSpPr/>
          <p:nvPr/>
        </p:nvSpPr>
        <p:spPr>
          <a:xfrm>
            <a:off x="4160520" y="3551337"/>
            <a:ext cx="457200" cy="0"/>
          </a:xfrm>
          <a:prstGeom prst="lin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160520" y="3094137"/>
            <a:ext cx="0" cy="457200"/>
          </a:xfrm>
          <a:prstGeom prst="lin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42900" y="4205168"/>
            <a:ext cx="8458200" cy="595432"/>
          </a:xfrm>
          <a:prstGeom prst="rect">
            <a:avLst/>
          </a:prstGeom>
          <a:noFill/>
          <a:ln/>
        </p:spPr>
      </p:sp>
      <p:sp>
        <p:nvSpPr>
          <p:cNvPr id="23" name="Shape 18"/>
          <p:cNvSpPr/>
          <p:nvPr/>
        </p:nvSpPr>
        <p:spPr>
          <a:xfrm>
            <a:off x="342900" y="4205168"/>
            <a:ext cx="8458200" cy="0"/>
          </a:xfrm>
          <a:prstGeom prst="line">
            <a:avLst/>
          </a:prstGeom>
          <a:noFill/>
          <a:ln w="5715">
            <a:solidFill>
              <a:srgbClr val="B08D57">
                <a:alpha val="55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42900" y="4359473"/>
            <a:ext cx="127846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出版年份 · YEAR</a:t>
            </a:r>
            <a:endParaRPr lang="en-US" sz="495" dirty="0"/>
          </a:p>
        </p:txBody>
      </p:sp>
      <p:sp>
        <p:nvSpPr>
          <p:cNvPr id="25" name="Text 20"/>
          <p:cNvSpPr/>
          <p:nvPr/>
        </p:nvSpPr>
        <p:spPr>
          <a:xfrm>
            <a:off x="342900" y="4485203"/>
            <a:ext cx="1312932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spc="27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342900" y="4708088"/>
            <a:ext cx="1278460" cy="925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40" spc="11" kern="0" dirty="0">
                <a:solidFill>
                  <a:srgbClr val="0D2137">
                    <a:alpha val="42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发表于 American Economic Review</a:t>
            </a:r>
            <a:endParaRPr lang="en-US" sz="540" dirty="0"/>
          </a:p>
        </p:txBody>
      </p:sp>
      <p:sp>
        <p:nvSpPr>
          <p:cNvPr id="27" name="Text 22"/>
          <p:cNvSpPr/>
          <p:nvPr/>
        </p:nvSpPr>
        <p:spPr>
          <a:xfrm>
            <a:off x="1827282" y="4359473"/>
            <a:ext cx="219547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作者 · AUTHORS</a:t>
            </a:r>
            <a:endParaRPr lang="en-US" sz="495" dirty="0"/>
          </a:p>
        </p:txBody>
      </p:sp>
      <p:sp>
        <p:nvSpPr>
          <p:cNvPr id="28" name="Text 23"/>
          <p:cNvSpPr/>
          <p:nvPr/>
        </p:nvSpPr>
        <p:spPr>
          <a:xfrm>
            <a:off x="1827282" y="4485203"/>
            <a:ext cx="2195474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spc="27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Hippel &amp; Gibbons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1827282" y="4708088"/>
            <a:ext cx="2195474" cy="925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40" spc="11" kern="0" dirty="0">
                <a:solidFill>
                  <a:srgbClr val="0D2137">
                    <a:alpha val="42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MIT 创新研究学者</a:t>
            </a:r>
            <a:endParaRPr lang="en-US" sz="540" dirty="0"/>
          </a:p>
        </p:txBody>
      </p:sp>
      <p:sp>
        <p:nvSpPr>
          <p:cNvPr id="30" name="Text 25"/>
          <p:cNvSpPr/>
          <p:nvPr/>
        </p:nvSpPr>
        <p:spPr>
          <a:xfrm>
            <a:off x="4130427" y="4359473"/>
            <a:ext cx="954519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9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分享期数 · EPISODE</a:t>
            </a:r>
            <a:endParaRPr lang="en-US" sz="495" dirty="0"/>
          </a:p>
        </p:txBody>
      </p:sp>
      <p:sp>
        <p:nvSpPr>
          <p:cNvPr id="31" name="Text 26"/>
          <p:cNvSpPr/>
          <p:nvPr/>
        </p:nvSpPr>
        <p:spPr>
          <a:xfrm>
            <a:off x="4130427" y="4485203"/>
            <a:ext cx="1023699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spc="27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2023-09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4130427" y="4708088"/>
            <a:ext cx="954519" cy="925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40" spc="11" kern="0" dirty="0">
                <a:solidFill>
                  <a:srgbClr val="0D2137">
                    <a:alpha val="42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开源之书记录系列</a:t>
            </a:r>
            <a:endParaRPr lang="en-US" sz="540" dirty="0"/>
          </a:p>
        </p:txBody>
      </p:sp>
      <p:sp>
        <p:nvSpPr>
          <p:cNvPr id="33" name="Text 28"/>
          <p:cNvSpPr/>
          <p:nvPr/>
        </p:nvSpPr>
        <p:spPr>
          <a:xfrm>
            <a:off x="8294162" y="4383405"/>
            <a:ext cx="56980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spc="149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SHARED BY</a:t>
            </a:r>
            <a:endParaRPr lang="en-US" sz="495" dirty="0"/>
          </a:p>
        </p:txBody>
      </p:sp>
      <p:sp>
        <p:nvSpPr>
          <p:cNvPr id="34" name="Text 29"/>
          <p:cNvSpPr/>
          <p:nvPr/>
        </p:nvSpPr>
        <p:spPr>
          <a:xfrm>
            <a:off x="8309878" y="4509135"/>
            <a:ext cx="588377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765" i="1" spc="38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适 兕 —</a:t>
            </a:r>
            <a:endParaRPr lang="en-US" sz="765" dirty="0"/>
          </a:p>
        </p:txBody>
      </p:sp>
      <p:sp>
        <p:nvSpPr>
          <p:cNvPr id="35" name="Text 30"/>
          <p:cNvSpPr/>
          <p:nvPr/>
        </p:nvSpPr>
        <p:spPr>
          <a:xfrm>
            <a:off x="7513618" y="4686300"/>
            <a:ext cx="144198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spc="59" kern="0" dirty="0">
                <a:solidFill>
                  <a:srgbClr val="0D2137">
                    <a:alpha val="42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SOURCE · READING · NOTES</a:t>
            </a:r>
            <a:endParaRPr lang="en-US" sz="49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274320"/>
            <a:ext cx="8458200" cy="18288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42900" y="457200"/>
            <a:ext cx="8458200" cy="0"/>
          </a:xfrm>
          <a:prstGeom prst="line">
            <a:avLst/>
          </a:prstGeom>
          <a:noFill/>
          <a:ln w="5715">
            <a:solidFill>
              <a:srgbClr val="E5DF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" y="274320"/>
            <a:ext cx="62293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书籍导读　·　</a:t>
            </a:r>
            <a:endParaRPr lang="en-US" sz="585" dirty="0"/>
          </a:p>
        </p:txBody>
      </p:sp>
      <p:sp>
        <p:nvSpPr>
          <p:cNvPr id="5" name="Text 3"/>
          <p:cNvSpPr/>
          <p:nvPr/>
        </p:nvSpPr>
        <p:spPr>
          <a:xfrm>
            <a:off x="891540" y="274320"/>
            <a:ext cx="79690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68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《互惠与免费软件》</a:t>
            </a:r>
            <a:endParaRPr lang="en-US" sz="585" dirty="0"/>
          </a:p>
        </p:txBody>
      </p:sp>
      <p:sp>
        <p:nvSpPr>
          <p:cNvPr id="6" name="Text 4"/>
          <p:cNvSpPr/>
          <p:nvPr/>
        </p:nvSpPr>
        <p:spPr>
          <a:xfrm>
            <a:off x="8235315" y="280035"/>
            <a:ext cx="63436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全书脉络</a:t>
            </a:r>
            <a:endParaRPr lang="en-US" sz="540" dirty="0"/>
          </a:p>
        </p:txBody>
      </p:sp>
      <p:sp>
        <p:nvSpPr>
          <p:cNvPr id="7" name="Shape 5"/>
          <p:cNvSpPr/>
          <p:nvPr/>
        </p:nvSpPr>
        <p:spPr>
          <a:xfrm>
            <a:off x="342900" y="605790"/>
            <a:ext cx="205740" cy="571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" y="605790"/>
            <a:ext cx="101132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80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章节导读　·　内容概览</a:t>
            </a:r>
            <a:endParaRPr lang="en-US" sz="495" dirty="0"/>
          </a:p>
        </p:txBody>
      </p:sp>
      <p:sp>
        <p:nvSpPr>
          <p:cNvPr id="9" name="Text 7"/>
          <p:cNvSpPr/>
          <p:nvPr/>
        </p:nvSpPr>
        <p:spPr>
          <a:xfrm>
            <a:off x="342900" y="737235"/>
            <a:ext cx="2183130" cy="3771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70" b="1" spc="90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这本书在讲什么</a:t>
            </a:r>
            <a:endParaRPr lang="en-US" sz="2070" dirty="0"/>
          </a:p>
        </p:txBody>
      </p:sp>
      <p:sp>
        <p:nvSpPr>
          <p:cNvPr id="10" name="Shape 8"/>
          <p:cNvSpPr/>
          <p:nvPr/>
        </p:nvSpPr>
        <p:spPr>
          <a:xfrm>
            <a:off x="342900" y="1193810"/>
            <a:ext cx="4114800" cy="473809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342900" y="1193810"/>
            <a:ext cx="0" cy="473809"/>
          </a:xfrm>
          <a:prstGeom prst="line">
            <a:avLst/>
          </a:prstGeom>
          <a:noFill/>
          <a:ln w="11430">
            <a:solidFill>
              <a:srgbClr val="B08D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770" y="1228100"/>
            <a:ext cx="4416552" cy="3996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08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在 1999 年 Linux 与 Apache 高速扩张的时代，主流经济学仍无法解释程序员为何无偿为免费软件劳动；两位作者以"互惠"概念给出中间路径：不是纯粹慷慨，也不是暗藏商业目的，而是社区中自然形成的回报预期。理解这一点，是理解开源治理的第一步。</a:t>
            </a:r>
            <a:endParaRPr lang="en-US" sz="608" dirty="0"/>
          </a:p>
        </p:txBody>
      </p:sp>
      <p:sp>
        <p:nvSpPr>
          <p:cNvPr id="13" name="Shape 11"/>
          <p:cNvSpPr/>
          <p:nvPr/>
        </p:nvSpPr>
        <p:spPr>
          <a:xfrm>
            <a:off x="342900" y="1793349"/>
            <a:ext cx="4465647" cy="403979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342900" y="2197328"/>
            <a:ext cx="4465647" cy="0"/>
          </a:xfrm>
          <a:prstGeom prst="line">
            <a:avLst/>
          </a:prstGeom>
          <a:noFill/>
          <a:ln w="5715">
            <a:solidFill>
              <a:srgbClr val="E5DF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" y="1839069"/>
            <a:ext cx="301752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708660" y="1861929"/>
            <a:ext cx="465773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98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问题起点</a:t>
            </a:r>
            <a:endParaRPr lang="en-US" sz="698" dirty="0"/>
          </a:p>
        </p:txBody>
      </p:sp>
      <p:sp>
        <p:nvSpPr>
          <p:cNvPr id="17" name="Text 15"/>
          <p:cNvSpPr/>
          <p:nvPr/>
        </p:nvSpPr>
        <p:spPr>
          <a:xfrm>
            <a:off x="708660" y="2014448"/>
            <a:ext cx="2246681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为什么商业软件开发者愿意为不属于自己的开源项目写代码？</a:t>
            </a:r>
            <a:endParaRPr lang="en-US" sz="563" dirty="0"/>
          </a:p>
        </p:txBody>
      </p:sp>
      <p:sp>
        <p:nvSpPr>
          <p:cNvPr id="18" name="Shape 16"/>
          <p:cNvSpPr/>
          <p:nvPr/>
        </p:nvSpPr>
        <p:spPr>
          <a:xfrm>
            <a:off x="342900" y="2197328"/>
            <a:ext cx="4465647" cy="403979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342900" y="2601307"/>
            <a:ext cx="4465647" cy="0"/>
          </a:xfrm>
          <a:prstGeom prst="line">
            <a:avLst/>
          </a:prstGeom>
          <a:noFill/>
          <a:ln w="5715">
            <a:solidFill>
              <a:srgbClr val="E5DF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" y="2243048"/>
            <a:ext cx="301752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708660" y="2265908"/>
            <a:ext cx="1702613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98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核心答案 —— 互惠（reciprocity）</a:t>
            </a:r>
            <a:endParaRPr lang="en-US" sz="698" dirty="0"/>
          </a:p>
        </p:txBody>
      </p:sp>
      <p:sp>
        <p:nvSpPr>
          <p:cNvPr id="22" name="Text 20"/>
          <p:cNvSpPr/>
          <p:nvPr/>
        </p:nvSpPr>
        <p:spPr>
          <a:xfrm>
            <a:off x="708660" y="2418427"/>
            <a:ext cx="116494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一种被低估的非货币交换机制。</a:t>
            </a:r>
            <a:endParaRPr lang="en-US" sz="563" dirty="0"/>
          </a:p>
        </p:txBody>
      </p:sp>
      <p:sp>
        <p:nvSpPr>
          <p:cNvPr id="23" name="Shape 21"/>
          <p:cNvSpPr/>
          <p:nvPr/>
        </p:nvSpPr>
        <p:spPr>
          <a:xfrm>
            <a:off x="342900" y="2601307"/>
            <a:ext cx="4465647" cy="403979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342900" y="3005286"/>
            <a:ext cx="4465647" cy="0"/>
          </a:xfrm>
          <a:prstGeom prst="line">
            <a:avLst/>
          </a:prstGeom>
          <a:noFill/>
          <a:ln w="5715">
            <a:solidFill>
              <a:srgbClr val="E5DF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" y="2647027"/>
            <a:ext cx="301752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90" dirty="0"/>
          </a:p>
        </p:txBody>
      </p:sp>
      <p:sp>
        <p:nvSpPr>
          <p:cNvPr id="26" name="Text 24"/>
          <p:cNvSpPr/>
          <p:nvPr/>
        </p:nvSpPr>
        <p:spPr>
          <a:xfrm>
            <a:off x="708660" y="2669887"/>
            <a:ext cx="465773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98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理论定位</a:t>
            </a:r>
            <a:endParaRPr lang="en-US" sz="698" dirty="0"/>
          </a:p>
        </p:txBody>
      </p:sp>
      <p:sp>
        <p:nvSpPr>
          <p:cNvPr id="27" name="Text 25"/>
          <p:cNvSpPr/>
          <p:nvPr/>
        </p:nvSpPr>
        <p:spPr>
          <a:xfrm>
            <a:off x="708660" y="2822406"/>
            <a:ext cx="1830629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补足纯粹利他／纯粹私利之外的第三种动机解释。</a:t>
            </a:r>
            <a:endParaRPr lang="en-US" sz="563" dirty="0"/>
          </a:p>
        </p:txBody>
      </p:sp>
      <p:sp>
        <p:nvSpPr>
          <p:cNvPr id="28" name="Shape 26"/>
          <p:cNvSpPr/>
          <p:nvPr/>
        </p:nvSpPr>
        <p:spPr>
          <a:xfrm>
            <a:off x="342900" y="3005286"/>
            <a:ext cx="4465647" cy="403979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342900" y="3409265"/>
            <a:ext cx="4465647" cy="0"/>
          </a:xfrm>
          <a:prstGeom prst="line">
            <a:avLst/>
          </a:prstGeom>
          <a:noFill/>
          <a:ln w="5715">
            <a:solidFill>
              <a:srgbClr val="E5DF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" y="3051006"/>
            <a:ext cx="301752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90" dirty="0"/>
          </a:p>
        </p:txBody>
      </p:sp>
      <p:sp>
        <p:nvSpPr>
          <p:cNvPr id="31" name="Text 29"/>
          <p:cNvSpPr/>
          <p:nvPr/>
        </p:nvSpPr>
        <p:spPr>
          <a:xfrm>
            <a:off x="708660" y="3073866"/>
            <a:ext cx="371475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98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方法论</a:t>
            </a:r>
            <a:endParaRPr lang="en-US" sz="698" dirty="0"/>
          </a:p>
        </p:txBody>
      </p:sp>
      <p:sp>
        <p:nvSpPr>
          <p:cNvPr id="32" name="Text 30"/>
          <p:cNvSpPr/>
          <p:nvPr/>
        </p:nvSpPr>
        <p:spPr>
          <a:xfrm>
            <a:off x="708660" y="3226385"/>
            <a:ext cx="199705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结合实验经济学、访谈调查与真实开源社区观测数据。</a:t>
            </a:r>
            <a:endParaRPr lang="en-US" sz="563" dirty="0"/>
          </a:p>
        </p:txBody>
      </p:sp>
      <p:sp>
        <p:nvSpPr>
          <p:cNvPr id="33" name="Text 31"/>
          <p:cNvSpPr/>
          <p:nvPr/>
        </p:nvSpPr>
        <p:spPr>
          <a:xfrm>
            <a:off x="342900" y="3454985"/>
            <a:ext cx="301752" cy="1600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90" dirty="0"/>
          </a:p>
        </p:txBody>
      </p:sp>
      <p:sp>
        <p:nvSpPr>
          <p:cNvPr id="34" name="Text 32"/>
          <p:cNvSpPr/>
          <p:nvPr/>
        </p:nvSpPr>
        <p:spPr>
          <a:xfrm>
            <a:off x="708660" y="3477845"/>
            <a:ext cx="465773" cy="1257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98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长期影响</a:t>
            </a:r>
            <a:endParaRPr lang="en-US" sz="698" dirty="0"/>
          </a:p>
        </p:txBody>
      </p:sp>
      <p:sp>
        <p:nvSpPr>
          <p:cNvPr id="35" name="Text 33"/>
          <p:cNvSpPr/>
          <p:nvPr/>
        </p:nvSpPr>
        <p:spPr>
          <a:xfrm>
            <a:off x="708660" y="3630364"/>
            <a:ext cx="259872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被 Apache、GNOME 等治理研究反复引用，成为开源制度学奠基文献。</a:t>
            </a:r>
            <a:endParaRPr lang="en-US" sz="563" dirty="0"/>
          </a:p>
        </p:txBody>
      </p:sp>
      <p:pic>
        <p:nvPicPr>
          <p:cNvPr id="36" name="Image 0" descr="/home/lee/developing/oscar-open-source-book/website/slides-src/2023-09-the-economics-of-reciprocity/images/page_002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4307" y="651510"/>
            <a:ext cx="3580983" cy="2661493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338381" y="3335863"/>
            <a:ext cx="140307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18" i="1" spc="36" kern="0" dirty="0">
                <a:solidFill>
                  <a:srgbClr val="9A96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 02　学术期刊 · 肖像徽章 · 古铜金藤蔓</a:t>
            </a:r>
            <a:endParaRPr lang="en-US" sz="518" dirty="0"/>
          </a:p>
        </p:txBody>
      </p:sp>
      <p:sp>
        <p:nvSpPr>
          <p:cNvPr id="38" name="Shape 35"/>
          <p:cNvSpPr/>
          <p:nvPr/>
        </p:nvSpPr>
        <p:spPr>
          <a:xfrm>
            <a:off x="5128587" y="3587323"/>
            <a:ext cx="3672423" cy="595164"/>
          </a:xfrm>
          <a:prstGeom prst="rect">
            <a:avLst/>
          </a:prstGeom>
          <a:noFill/>
          <a:ln/>
        </p:spPr>
      </p:sp>
      <p:sp>
        <p:nvSpPr>
          <p:cNvPr id="39" name="Shape 36"/>
          <p:cNvSpPr/>
          <p:nvPr/>
        </p:nvSpPr>
        <p:spPr>
          <a:xfrm>
            <a:off x="5128587" y="3587323"/>
            <a:ext cx="3672423" cy="0"/>
          </a:xfrm>
          <a:prstGeom prst="line">
            <a:avLst/>
          </a:prstGeom>
          <a:noFill/>
          <a:ln w="5715">
            <a:solidFill>
              <a:srgbClr val="E5DFD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28587" y="3684478"/>
            <a:ext cx="54292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研究分量佐证</a:t>
            </a:r>
            <a:endParaRPr lang="en-US" sz="495" dirty="0"/>
          </a:p>
        </p:txBody>
      </p:sp>
      <p:sp>
        <p:nvSpPr>
          <p:cNvPr id="41" name="Shape 38"/>
          <p:cNvSpPr/>
          <p:nvPr/>
        </p:nvSpPr>
        <p:spPr>
          <a:xfrm>
            <a:off x="5128587" y="3844498"/>
            <a:ext cx="1186041" cy="337989"/>
          </a:xfrm>
          <a:prstGeom prst="rect">
            <a:avLst/>
          </a:prstGeom>
          <a:noFill/>
          <a:ln/>
        </p:spPr>
      </p:sp>
      <p:sp>
        <p:nvSpPr>
          <p:cNvPr id="42" name="Shape 39"/>
          <p:cNvSpPr/>
          <p:nvPr/>
        </p:nvSpPr>
        <p:spPr>
          <a:xfrm>
            <a:off x="5128587" y="3844498"/>
            <a:ext cx="0" cy="337989"/>
          </a:xfrm>
          <a:prstGeom prst="line">
            <a:avLst/>
          </a:prstGeom>
          <a:noFill/>
          <a:ln w="11430">
            <a:solidFill>
              <a:srgbClr val="B08D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97167" y="3844498"/>
            <a:ext cx="3457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68" kern="0" dirty="0">
                <a:solidFill>
                  <a:srgbClr val="9A96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期刊影响</a:t>
            </a:r>
            <a:endParaRPr lang="en-US" sz="473" dirty="0"/>
          </a:p>
        </p:txBody>
      </p:sp>
      <p:sp>
        <p:nvSpPr>
          <p:cNvPr id="44" name="Text 41"/>
          <p:cNvSpPr/>
          <p:nvPr/>
        </p:nvSpPr>
        <p:spPr>
          <a:xfrm>
            <a:off x="5197167" y="3930223"/>
            <a:ext cx="52578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65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AEA 顶刊</a:t>
            </a:r>
            <a:endParaRPr lang="en-US" sz="765" dirty="0"/>
          </a:p>
        </p:txBody>
      </p:sp>
      <p:sp>
        <p:nvSpPr>
          <p:cNvPr id="45" name="Text 42"/>
          <p:cNvSpPr/>
          <p:nvPr/>
        </p:nvSpPr>
        <p:spPr>
          <a:xfrm>
            <a:off x="5197167" y="4092476"/>
            <a:ext cx="63367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经济学核心四刊之一</a:t>
            </a:r>
            <a:endParaRPr lang="en-US" sz="473" dirty="0"/>
          </a:p>
        </p:txBody>
      </p:sp>
      <p:sp>
        <p:nvSpPr>
          <p:cNvPr id="46" name="Shape 43"/>
          <p:cNvSpPr/>
          <p:nvPr/>
        </p:nvSpPr>
        <p:spPr>
          <a:xfrm>
            <a:off x="6371779" y="3844498"/>
            <a:ext cx="1186041" cy="337989"/>
          </a:xfrm>
          <a:prstGeom prst="rect">
            <a:avLst/>
          </a:prstGeom>
          <a:noFill/>
          <a:ln/>
        </p:spPr>
      </p:sp>
      <p:sp>
        <p:nvSpPr>
          <p:cNvPr id="47" name="Shape 44"/>
          <p:cNvSpPr/>
          <p:nvPr/>
        </p:nvSpPr>
        <p:spPr>
          <a:xfrm>
            <a:off x="6371779" y="3844498"/>
            <a:ext cx="0" cy="337989"/>
          </a:xfrm>
          <a:prstGeom prst="line">
            <a:avLst/>
          </a:prstGeom>
          <a:noFill/>
          <a:ln w="11430">
            <a:solidFill>
              <a:srgbClr val="B08D5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40359" y="3844498"/>
            <a:ext cx="3457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68" kern="0" dirty="0">
                <a:solidFill>
                  <a:srgbClr val="9A96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被引规模</a:t>
            </a:r>
            <a:endParaRPr lang="en-US" sz="473" dirty="0"/>
          </a:p>
        </p:txBody>
      </p:sp>
      <p:sp>
        <p:nvSpPr>
          <p:cNvPr id="49" name="Text 46"/>
          <p:cNvSpPr/>
          <p:nvPr/>
        </p:nvSpPr>
        <p:spPr>
          <a:xfrm>
            <a:off x="6440359" y="3930223"/>
            <a:ext cx="388620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65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数千次</a:t>
            </a:r>
            <a:endParaRPr lang="en-US" sz="765" dirty="0"/>
          </a:p>
        </p:txBody>
      </p:sp>
      <p:sp>
        <p:nvSpPr>
          <p:cNvPr id="50" name="Text 47"/>
          <p:cNvSpPr/>
          <p:nvPr/>
        </p:nvSpPr>
        <p:spPr>
          <a:xfrm>
            <a:off x="6440359" y="4092476"/>
            <a:ext cx="56327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社会科学引文经典</a:t>
            </a:r>
            <a:endParaRPr lang="en-US" sz="473" dirty="0"/>
          </a:p>
        </p:txBody>
      </p:sp>
      <p:sp>
        <p:nvSpPr>
          <p:cNvPr id="51" name="Shape 48"/>
          <p:cNvSpPr/>
          <p:nvPr/>
        </p:nvSpPr>
        <p:spPr>
          <a:xfrm>
            <a:off x="7614970" y="3844498"/>
            <a:ext cx="1186041" cy="337989"/>
          </a:xfrm>
          <a:prstGeom prst="rect">
            <a:avLst/>
          </a:prstGeom>
          <a:noFill/>
          <a:ln/>
        </p:spPr>
      </p:sp>
      <p:sp>
        <p:nvSpPr>
          <p:cNvPr id="52" name="Shape 49"/>
          <p:cNvSpPr/>
          <p:nvPr/>
        </p:nvSpPr>
        <p:spPr>
          <a:xfrm>
            <a:off x="7614970" y="3844498"/>
            <a:ext cx="0" cy="337989"/>
          </a:xfrm>
          <a:prstGeom prst="line">
            <a:avLst/>
          </a:prstGeom>
          <a:noFill/>
          <a:ln w="11430">
            <a:solidFill>
              <a:srgbClr val="B08D5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683550" y="3844498"/>
            <a:ext cx="34575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68" kern="0" dirty="0">
                <a:solidFill>
                  <a:srgbClr val="9A968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研究范式</a:t>
            </a:r>
            <a:endParaRPr lang="en-US" sz="473" dirty="0"/>
          </a:p>
        </p:txBody>
      </p:sp>
      <p:sp>
        <p:nvSpPr>
          <p:cNvPr id="54" name="Text 51"/>
          <p:cNvSpPr/>
          <p:nvPr/>
        </p:nvSpPr>
        <p:spPr>
          <a:xfrm>
            <a:off x="7683550" y="3930223"/>
            <a:ext cx="58864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65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 + 田野</a:t>
            </a:r>
            <a:endParaRPr lang="en-US" sz="765" dirty="0"/>
          </a:p>
        </p:txBody>
      </p:sp>
      <p:sp>
        <p:nvSpPr>
          <p:cNvPr id="55" name="Text 52"/>
          <p:cNvSpPr/>
          <p:nvPr/>
        </p:nvSpPr>
        <p:spPr>
          <a:xfrm>
            <a:off x="7683550" y="4092476"/>
            <a:ext cx="50006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定量与质性互证</a:t>
            </a:r>
            <a:endParaRPr lang="en-US" sz="473" dirty="0"/>
          </a:p>
        </p:txBody>
      </p:sp>
      <p:sp>
        <p:nvSpPr>
          <p:cNvPr id="56" name="Shape 53"/>
          <p:cNvSpPr/>
          <p:nvPr/>
        </p:nvSpPr>
        <p:spPr>
          <a:xfrm>
            <a:off x="342900" y="4892040"/>
            <a:ext cx="8458200" cy="148590"/>
          </a:xfrm>
          <a:prstGeom prst="rect">
            <a:avLst/>
          </a:prstGeom>
          <a:noFill/>
          <a:ln/>
        </p:spPr>
      </p:sp>
      <p:sp>
        <p:nvSpPr>
          <p:cNvPr id="57" name="Shape 54"/>
          <p:cNvSpPr/>
          <p:nvPr/>
        </p:nvSpPr>
        <p:spPr>
          <a:xfrm>
            <a:off x="342900" y="4892040"/>
            <a:ext cx="8458200" cy="0"/>
          </a:xfrm>
          <a:prstGeom prst="line">
            <a:avLst/>
          </a:prstGeom>
          <a:noFill/>
          <a:ln w="5715">
            <a:solidFill>
              <a:srgbClr val="E5DFD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42900" y="4954905"/>
            <a:ext cx="77449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90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READER'S GUIDE</a:t>
            </a:r>
            <a:endParaRPr lang="en-US" sz="473" dirty="0"/>
          </a:p>
        </p:txBody>
      </p:sp>
      <p:sp>
        <p:nvSpPr>
          <p:cNvPr id="59" name="Text 56"/>
          <p:cNvSpPr/>
          <p:nvPr/>
        </p:nvSpPr>
        <p:spPr>
          <a:xfrm>
            <a:off x="1034415" y="4954905"/>
            <a:ext cx="69768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90" kern="0" dirty="0">
                <a:solidFill>
                  <a:srgbClr val="9A96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　·　学术导读系列</a:t>
            </a:r>
            <a:endParaRPr lang="en-US" sz="473" dirty="0"/>
          </a:p>
        </p:txBody>
      </p:sp>
      <p:sp>
        <p:nvSpPr>
          <p:cNvPr id="60" name="Text 57"/>
          <p:cNvSpPr/>
          <p:nvPr/>
        </p:nvSpPr>
        <p:spPr>
          <a:xfrm>
            <a:off x="8429625" y="4954905"/>
            <a:ext cx="43148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35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02</a:t>
            </a:r>
            <a:endParaRPr lang="en-US" sz="47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D2137"/>
              </a:gs>
              <a:gs pos="60000">
                <a:srgbClr val="0A1A2C"/>
              </a:gs>
              <a:gs pos="100000">
                <a:srgbClr val="081524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858000" y="-685800"/>
            <a:ext cx="2971800" cy="2971800"/>
          </a:xfrm>
          <a:prstGeom prst="rect">
            <a:avLst/>
          </a:prstGeom>
          <a:solidFill>
            <a:srgbClr val="B08D57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11480"/>
            <a:ext cx="8046720" cy="24003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48640" y="651510"/>
            <a:ext cx="8046720" cy="0"/>
          </a:xfrm>
          <a:prstGeom prst="line">
            <a:avLst/>
          </a:prstGeom>
          <a:noFill/>
          <a:ln w="5715">
            <a:solidFill>
              <a:srgbClr val="B08D57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1480"/>
            <a:ext cx="1917240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" spc="173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RECIPROCITY IN OPEN SOURCE</a:t>
            </a:r>
            <a:endParaRPr lang="en-US" sz="540" dirty="0"/>
          </a:p>
        </p:txBody>
      </p:sp>
      <p:sp>
        <p:nvSpPr>
          <p:cNvPr id="7" name="Shape 5"/>
          <p:cNvSpPr/>
          <p:nvPr/>
        </p:nvSpPr>
        <p:spPr>
          <a:xfrm>
            <a:off x="548640" y="457200"/>
            <a:ext cx="34290" cy="34290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8" name="Text 6"/>
          <p:cNvSpPr/>
          <p:nvPr/>
        </p:nvSpPr>
        <p:spPr>
          <a:xfrm>
            <a:off x="2420481" y="411480"/>
            <a:ext cx="124255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73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 TRANSITION</a:t>
            </a:r>
            <a:endParaRPr lang="en-US" sz="540" dirty="0"/>
          </a:p>
        </p:txBody>
      </p:sp>
      <p:sp>
        <p:nvSpPr>
          <p:cNvPr id="9" name="Text 7"/>
          <p:cNvSpPr/>
          <p:nvPr/>
        </p:nvSpPr>
        <p:spPr>
          <a:xfrm>
            <a:off x="7634526" y="411480"/>
            <a:ext cx="107613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51" kern="0" dirty="0">
                <a:solidFill>
                  <a:srgbClr val="A9B4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CHAPTER · 01 / 03</a:t>
            </a:r>
            <a:endParaRPr lang="en-US" sz="540" dirty="0"/>
          </a:p>
        </p:txBody>
      </p:sp>
      <p:sp>
        <p:nvSpPr>
          <p:cNvPr id="10" name="Text 8"/>
          <p:cNvSpPr/>
          <p:nvPr/>
        </p:nvSpPr>
        <p:spPr>
          <a:xfrm>
            <a:off x="548640" y="994410"/>
            <a:ext cx="5257800" cy="1519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30" b="1" spc="-252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</a:t>
            </a:r>
            <a:endParaRPr lang="en-US" sz="126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12600" b="1" spc="-252" kern="0" dirty="0">
                <a:solidFill>
                  <a:srgbClr val="000000">
                    <a:alpha val="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pPr algn="l" indent="0" marL="0">
              <a:lnSpc>
                <a:spcPct val="85000"/>
              </a:lnSpc>
              <a:buNone/>
            </a:pPr>
            <a:r>
              <a:rPr lang="en-US" sz="12600" b="1" spc="-252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</a:t>
            </a:r>
            <a:endParaRPr lang="en-US" sz="12600" dirty="0"/>
          </a:p>
        </p:txBody>
      </p:sp>
      <p:sp>
        <p:nvSpPr>
          <p:cNvPr id="11" name="Shape 9"/>
          <p:cNvSpPr/>
          <p:nvPr/>
        </p:nvSpPr>
        <p:spPr>
          <a:xfrm>
            <a:off x="548640" y="2593985"/>
            <a:ext cx="3657600" cy="5715"/>
          </a:xfrm>
          <a:prstGeom prst="rect">
            <a:avLst/>
          </a:prstGeom>
          <a:gradFill rotWithShape="1">
            <a:gsLst>
              <a:gs pos="0">
                <a:srgbClr val="B08D57"/>
              </a:gs>
              <a:gs pos="30000">
                <a:srgbClr val="B08D57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" name="Shape 10"/>
          <p:cNvSpPr/>
          <p:nvPr/>
        </p:nvSpPr>
        <p:spPr>
          <a:xfrm>
            <a:off x="548640" y="2576840"/>
            <a:ext cx="40005" cy="40005"/>
          </a:xfrm>
          <a:prstGeom prst="ellipse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494205"/>
            <a:ext cx="4506163" cy="420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80" spc="115" kern="0" dirty="0">
                <a:solidFill>
                  <a:srgbClr val="EDE6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</a:t>
            </a:r>
            <a:pPr algn="l" indent="0" marL="0">
              <a:lnSpc>
                <a:spcPct val="115000"/>
              </a:lnSpc>
              <a:buNone/>
            </a:pPr>
            <a:r>
              <a:rPr lang="en-US" sz="2880" spc="115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</a:t>
            </a:r>
            <a:pPr algn="l" indent="0" marL="0">
              <a:lnSpc>
                <a:spcPct val="115000"/>
              </a:lnSpc>
              <a:buNone/>
            </a:pPr>
            <a:r>
              <a:rPr lang="en-US" sz="2880" spc="115" kern="0" dirty="0">
                <a:solidFill>
                  <a:srgbClr val="EDE6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部分</a:t>
            </a:r>
            <a:endParaRPr lang="en-US" sz="2880" dirty="0"/>
          </a:p>
        </p:txBody>
      </p:sp>
      <p:sp>
        <p:nvSpPr>
          <p:cNvPr id="14" name="Text 12"/>
          <p:cNvSpPr/>
          <p:nvPr/>
        </p:nvSpPr>
        <p:spPr>
          <a:xfrm>
            <a:off x="4572000" y="2029093"/>
            <a:ext cx="4506163" cy="207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70" spc="23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互惠机制</a:t>
            </a:r>
            <a:pPr algn="l" indent="0" marL="0">
              <a:lnSpc>
                <a:spcPct val="140000"/>
              </a:lnSpc>
              <a:buNone/>
            </a:pPr>
            <a:r>
              <a:rPr lang="en-US" sz="1170" spc="23" kern="0" dirty="0">
                <a:solidFill>
                  <a:srgbClr val="B08D57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pPr algn="l" indent="0" marL="0">
              <a:lnSpc>
                <a:spcPct val="140000"/>
              </a:lnSpc>
              <a:buNone/>
            </a:pPr>
            <a:r>
              <a:rPr lang="en-US" sz="1170" spc="23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开源协作的隐形货币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548640" y="2919740"/>
            <a:ext cx="6400800" cy="358259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548640" y="2919740"/>
            <a:ext cx="0" cy="358259"/>
          </a:xfrm>
          <a:prstGeom prst="line">
            <a:avLst/>
          </a:prstGeom>
          <a:noFill/>
          <a:ln w="11430">
            <a:solidFill>
              <a:srgbClr val="B08D57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19740"/>
            <a:ext cx="7168896" cy="3582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720" spc="14" kern="0" dirty="0">
                <a:solidFill>
                  <a:srgbClr val="A9B4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接下来三页将聚焦论文的</a:t>
            </a:r>
            <a:pPr algn="l" indent="0" marL="0">
              <a:lnSpc>
                <a:spcPct val="190000"/>
              </a:lnSpc>
              <a:buNone/>
            </a:pPr>
            <a:r>
              <a:rPr lang="en-US" sz="765" spc="14" kern="0" dirty="0">
                <a:solidFill>
                  <a:srgbClr val="EDE6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核心论证</a:t>
            </a:r>
            <a:pPr algn="l" indent="0" marL="0">
              <a:lnSpc>
                <a:spcPct val="190000"/>
              </a:lnSpc>
              <a:buNone/>
            </a:pPr>
            <a:r>
              <a:rPr lang="en-US" sz="720" spc="14" kern="0" dirty="0">
                <a:solidFill>
                  <a:srgbClr val="A9B4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：互惠不是抽象口号，而是一套可以在</a:t>
            </a:r>
            <a:pPr algn="l" indent="0" marL="0">
              <a:lnSpc>
                <a:spcPct val="190000"/>
              </a:lnSpc>
              <a:buNone/>
            </a:pPr>
            <a:r>
              <a:rPr lang="en-US" sz="765" spc="14" kern="0" dirty="0">
                <a:solidFill>
                  <a:srgbClr val="EDE6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代码审查、邮件列表、Issue 讨论</a:t>
            </a:r>
            <a:pPr algn="l" indent="0" marL="0">
              <a:lnSpc>
                <a:spcPct val="190000"/>
              </a:lnSpc>
              <a:buNone/>
            </a:pPr>
            <a:r>
              <a:rPr lang="en-US" sz="720" spc="14" kern="0" dirty="0">
                <a:solidFill>
                  <a:srgbClr val="A9B4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中被观察到的具体行为。理解它的分类，才能理解为什么有些项目繁荣而有些项目沉寂。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548640" y="3450431"/>
            <a:ext cx="2575500" cy="984409"/>
          </a:xfrm>
          <a:prstGeom prst="rect">
            <a:avLst/>
          </a:prstGeom>
          <a:solidFill>
            <a:srgbClr val="FFFFFF">
              <a:alpha val="2000"/>
            </a:srgbClr>
          </a:solidFill>
          <a:ln w="5715">
            <a:solidFill>
              <a:srgbClr val="B08D57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2925" y="3444716"/>
            <a:ext cx="217170" cy="571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0" name="Shape 18"/>
          <p:cNvSpPr/>
          <p:nvPr/>
        </p:nvSpPr>
        <p:spPr>
          <a:xfrm>
            <a:off x="542925" y="3444716"/>
            <a:ext cx="5715" cy="21717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1" name="Text 19"/>
          <p:cNvSpPr/>
          <p:nvPr/>
        </p:nvSpPr>
        <p:spPr>
          <a:xfrm>
            <a:off x="702945" y="3604736"/>
            <a:ext cx="2538917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89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630" dirty="0"/>
          </a:p>
        </p:txBody>
      </p:sp>
      <p:sp>
        <p:nvSpPr>
          <p:cNvPr id="22" name="Shape 20"/>
          <p:cNvSpPr/>
          <p:nvPr/>
        </p:nvSpPr>
        <p:spPr>
          <a:xfrm>
            <a:off x="702945" y="3787616"/>
            <a:ext cx="460861" cy="15430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3" name="Text 21"/>
          <p:cNvSpPr/>
          <p:nvPr/>
        </p:nvSpPr>
        <p:spPr>
          <a:xfrm>
            <a:off x="702945" y="3787616"/>
            <a:ext cx="529441" cy="154305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buNone/>
            </a:pPr>
            <a:r>
              <a:rPr lang="en-US" sz="540" spc="97" kern="0" dirty="0">
                <a:solidFill>
                  <a:srgbClr val="0A1A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章节导航</a:t>
            </a:r>
            <a:endParaRPr lang="en-US" sz="540" dirty="0"/>
          </a:p>
        </p:txBody>
      </p:sp>
      <p:sp>
        <p:nvSpPr>
          <p:cNvPr id="24" name="Text 22"/>
          <p:cNvSpPr/>
          <p:nvPr/>
        </p:nvSpPr>
        <p:spPr>
          <a:xfrm>
            <a:off x="702945" y="4021931"/>
            <a:ext cx="2538917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A9B4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从动机、类型到实证，拆解论文中关于互惠的核心论述，勾勒整章的论证骨架。</a:t>
            </a:r>
            <a:endParaRPr lang="en-US" sz="608" dirty="0"/>
          </a:p>
        </p:txBody>
      </p:sp>
      <p:sp>
        <p:nvSpPr>
          <p:cNvPr id="25" name="Shape 23"/>
          <p:cNvSpPr/>
          <p:nvPr/>
        </p:nvSpPr>
        <p:spPr>
          <a:xfrm>
            <a:off x="3284160" y="3450431"/>
            <a:ext cx="2575590" cy="984409"/>
          </a:xfrm>
          <a:prstGeom prst="rect">
            <a:avLst/>
          </a:prstGeom>
          <a:solidFill>
            <a:srgbClr val="FFFFFF">
              <a:alpha val="2000"/>
            </a:srgbClr>
          </a:solidFill>
          <a:ln w="5715">
            <a:solidFill>
              <a:srgbClr val="B08D57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78445" y="3444716"/>
            <a:ext cx="217170" cy="571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7" name="Shape 25"/>
          <p:cNvSpPr/>
          <p:nvPr/>
        </p:nvSpPr>
        <p:spPr>
          <a:xfrm>
            <a:off x="3278445" y="3444716"/>
            <a:ext cx="5715" cy="21717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8" name="Text 26"/>
          <p:cNvSpPr/>
          <p:nvPr/>
        </p:nvSpPr>
        <p:spPr>
          <a:xfrm>
            <a:off x="3438465" y="3604736"/>
            <a:ext cx="2539017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89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3438465" y="3787616"/>
            <a:ext cx="460861" cy="15430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0" name="Text 28"/>
          <p:cNvSpPr/>
          <p:nvPr/>
        </p:nvSpPr>
        <p:spPr>
          <a:xfrm>
            <a:off x="3438465" y="3787616"/>
            <a:ext cx="529441" cy="154305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buNone/>
            </a:pPr>
            <a:r>
              <a:rPr lang="en-US" sz="540" spc="97" kern="0" dirty="0">
                <a:solidFill>
                  <a:srgbClr val="0A1A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关键概念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3438465" y="4021931"/>
            <a:ext cx="2539017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A9B4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直接互惠、间接互惠、社区互惠三类形态并列比较，建立统一的分析框架。</a:t>
            </a:r>
            <a:endParaRPr lang="en-US" sz="608" dirty="0"/>
          </a:p>
        </p:txBody>
      </p:sp>
      <p:sp>
        <p:nvSpPr>
          <p:cNvPr id="32" name="Shape 30"/>
          <p:cNvSpPr/>
          <p:nvPr/>
        </p:nvSpPr>
        <p:spPr>
          <a:xfrm>
            <a:off x="6019770" y="3450431"/>
            <a:ext cx="2575500" cy="984409"/>
          </a:xfrm>
          <a:prstGeom prst="rect">
            <a:avLst/>
          </a:prstGeom>
          <a:solidFill>
            <a:srgbClr val="FFFFFF">
              <a:alpha val="2000"/>
            </a:srgbClr>
          </a:solidFill>
          <a:ln w="5715">
            <a:solidFill>
              <a:srgbClr val="B08D57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14055" y="3444716"/>
            <a:ext cx="217170" cy="571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4" name="Shape 32"/>
          <p:cNvSpPr/>
          <p:nvPr/>
        </p:nvSpPr>
        <p:spPr>
          <a:xfrm>
            <a:off x="6014055" y="3444716"/>
            <a:ext cx="5715" cy="21717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5" name="Text 33"/>
          <p:cNvSpPr/>
          <p:nvPr/>
        </p:nvSpPr>
        <p:spPr>
          <a:xfrm>
            <a:off x="6174075" y="3604736"/>
            <a:ext cx="2538917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189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630" dirty="0"/>
          </a:p>
        </p:txBody>
      </p:sp>
      <p:sp>
        <p:nvSpPr>
          <p:cNvPr id="36" name="Shape 34"/>
          <p:cNvSpPr/>
          <p:nvPr/>
        </p:nvSpPr>
        <p:spPr>
          <a:xfrm>
            <a:off x="6174075" y="3787616"/>
            <a:ext cx="460861" cy="15430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7" name="Text 35"/>
          <p:cNvSpPr/>
          <p:nvPr/>
        </p:nvSpPr>
        <p:spPr>
          <a:xfrm>
            <a:off x="6174075" y="3787616"/>
            <a:ext cx="529441" cy="154305"/>
          </a:xfrm>
          <a:prstGeom prst="rect">
            <a:avLst/>
          </a:prstGeom>
          <a:noFill/>
          <a:ln/>
        </p:spPr>
        <p:txBody>
          <a:bodyPr wrap="none" lIns="28575" tIns="68580" rIns="68580" bIns="28575" rtlCol="0" anchor="ctr"/>
          <a:lstStyle/>
          <a:p>
            <a:pPr algn="l" indent="0" marL="0">
              <a:buNone/>
            </a:pPr>
            <a:r>
              <a:rPr lang="en-US" sz="540" spc="97" kern="0" dirty="0">
                <a:solidFill>
                  <a:srgbClr val="0A1A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阅读节奏</a:t>
            </a:r>
            <a:endParaRPr lang="en-US" sz="540" dirty="0"/>
          </a:p>
        </p:txBody>
      </p:sp>
      <p:sp>
        <p:nvSpPr>
          <p:cNvPr id="38" name="Text 36"/>
          <p:cNvSpPr/>
          <p:nvPr/>
        </p:nvSpPr>
        <p:spPr>
          <a:xfrm>
            <a:off x="6174075" y="4021931"/>
            <a:ext cx="2538917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A9B4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先建立直觉，再进入实证数据，最后讨论对社区治理的启示与边界条件。</a:t>
            </a:r>
            <a:endParaRPr lang="en-US" sz="608" dirty="0"/>
          </a:p>
        </p:txBody>
      </p:sp>
      <p:sp>
        <p:nvSpPr>
          <p:cNvPr id="39" name="Text 37"/>
          <p:cNvSpPr/>
          <p:nvPr/>
        </p:nvSpPr>
        <p:spPr>
          <a:xfrm>
            <a:off x="548640" y="4612005"/>
            <a:ext cx="160050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58" kern="0" dirty="0">
                <a:solidFill>
                  <a:srgbClr val="A9B4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· 01  —  READING GUIDE</a:t>
            </a:r>
            <a:endParaRPr lang="en-US" sz="495" dirty="0"/>
          </a:p>
        </p:txBody>
      </p:sp>
      <p:sp>
        <p:nvSpPr>
          <p:cNvPr id="40" name="Shape 38"/>
          <p:cNvSpPr/>
          <p:nvPr/>
        </p:nvSpPr>
        <p:spPr>
          <a:xfrm>
            <a:off x="8163252" y="4583430"/>
            <a:ext cx="148590" cy="148590"/>
          </a:xfrm>
          <a:prstGeom prst="ellips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63252" y="4583430"/>
            <a:ext cx="21145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495" dirty="0"/>
          </a:p>
        </p:txBody>
      </p:sp>
      <p:sp>
        <p:nvSpPr>
          <p:cNvPr id="42" name="Text 40"/>
          <p:cNvSpPr/>
          <p:nvPr/>
        </p:nvSpPr>
        <p:spPr>
          <a:xfrm>
            <a:off x="8380422" y="4612005"/>
            <a:ext cx="277803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58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  XX</a:t>
            </a:r>
            <a:endParaRPr lang="en-US" sz="49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0050" cy="1714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7145" cy="40005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4" name="Shape 2"/>
          <p:cNvSpPr/>
          <p:nvPr/>
        </p:nvSpPr>
        <p:spPr>
          <a:xfrm>
            <a:off x="8743950" y="5126355"/>
            <a:ext cx="400050" cy="1714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5" name="Shape 3"/>
          <p:cNvSpPr/>
          <p:nvPr/>
        </p:nvSpPr>
        <p:spPr>
          <a:xfrm>
            <a:off x="9126855" y="4743450"/>
            <a:ext cx="17145" cy="40005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Shape 4"/>
          <p:cNvSpPr/>
          <p:nvPr/>
        </p:nvSpPr>
        <p:spPr>
          <a:xfrm>
            <a:off x="7658100" y="342900"/>
            <a:ext cx="1028700" cy="1028700"/>
          </a:xfrm>
          <a:prstGeom prst="ellipse">
            <a:avLst/>
          </a:prstGeom>
          <a:noFill/>
          <a:ln w="5715">
            <a:solidFill>
              <a:srgbClr val="B08D57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60595"/>
            <a:ext cx="82296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C9BEA3"/>
              </a:gs>
              <a:gs pos="85000">
                <a:srgbClr val="C9BEA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Shape 6"/>
          <p:cNvSpPr/>
          <p:nvPr/>
        </p:nvSpPr>
        <p:spPr>
          <a:xfrm>
            <a:off x="457200" y="342900"/>
            <a:ext cx="251460" cy="1143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9" name="Text 7"/>
          <p:cNvSpPr/>
          <p:nvPr/>
        </p:nvSpPr>
        <p:spPr>
          <a:xfrm>
            <a:off x="788670" y="297180"/>
            <a:ext cx="1248156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225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RESEARCH · CH.03</a:t>
            </a:r>
            <a:endParaRPr lang="en-US" sz="540" dirty="0"/>
          </a:p>
        </p:txBody>
      </p:sp>
      <p:sp>
        <p:nvSpPr>
          <p:cNvPr id="10" name="Text 8"/>
          <p:cNvSpPr/>
          <p:nvPr/>
        </p:nvSpPr>
        <p:spPr>
          <a:xfrm>
            <a:off x="1983105" y="297180"/>
            <a:ext cx="52578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135" kern="0" dirty="0">
                <a:solidFill>
                  <a:srgbClr val="6B78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03 / 12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457200" y="468630"/>
            <a:ext cx="7661558" cy="27655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80" b="1" spc="4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互惠的三种形态</a:t>
            </a:r>
            <a:endParaRPr lang="en-US" sz="1980" dirty="0"/>
          </a:p>
        </p:txBody>
      </p:sp>
      <p:sp>
        <p:nvSpPr>
          <p:cNvPr id="12" name="Text 10"/>
          <p:cNvSpPr/>
          <p:nvPr/>
        </p:nvSpPr>
        <p:spPr>
          <a:xfrm>
            <a:off x="457200" y="813762"/>
            <a:ext cx="6912864" cy="3016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720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本研究将开源协作中的</a:t>
            </a:r>
            <a:pPr algn="l" indent="0" marL="0">
              <a:lnSpc>
                <a:spcPct val="165000"/>
              </a:lnSpc>
              <a:buNone/>
            </a:pPr>
            <a:r>
              <a:rPr lang="en-US" sz="720" b="1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"互惠"</a:t>
            </a:r>
            <a:pPr algn="l" indent="0" marL="0">
              <a:lnSpc>
                <a:spcPct val="165000"/>
              </a:lnSpc>
              <a:buNone/>
            </a:pPr>
            <a:r>
              <a:rPr lang="en-US" sz="720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概念拆分为</a:t>
            </a:r>
            <a:pPr algn="l" indent="0" marL="0">
              <a:lnSpc>
                <a:spcPct val="165000"/>
              </a:lnSpc>
              <a:buNone/>
            </a:pPr>
            <a:r>
              <a:rPr lang="en-US" sz="720" b="1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三种机制</a:t>
            </a:r>
            <a:pPr algn="l" indent="0" marL="0">
              <a:lnSpc>
                <a:spcPct val="165000"/>
              </a:lnSpc>
              <a:buNone/>
            </a:pPr>
            <a:r>
              <a:rPr lang="en-US" sz="720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并加以叠加解释：为何开源项目能在无 HR 合同约束的情况下，跨组织、跨年份持续运转——三者共同构成了一张非契约的协作网络。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7526476" y="675352"/>
            <a:ext cx="1299562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495" spc="180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THESIS</a:t>
            </a:r>
            <a:endParaRPr lang="en-US" sz="495" dirty="0"/>
          </a:p>
        </p:txBody>
      </p:sp>
      <p:sp>
        <p:nvSpPr>
          <p:cNvPr id="14" name="Text 12"/>
          <p:cNvSpPr/>
          <p:nvPr/>
        </p:nvSpPr>
        <p:spPr>
          <a:xfrm>
            <a:off x="7526476" y="803940"/>
            <a:ext cx="1299562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spc="4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三种形态 · 一张网络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26476" y="986820"/>
            <a:ext cx="1299562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495" spc="90" kern="0" dirty="0">
                <a:solidFill>
                  <a:srgbClr val="6B78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Modes · One Network</a:t>
            </a:r>
            <a:endParaRPr lang="en-US" sz="495" dirty="0"/>
          </a:p>
        </p:txBody>
      </p:sp>
      <p:sp>
        <p:nvSpPr>
          <p:cNvPr id="16" name="Shape 14"/>
          <p:cNvSpPr/>
          <p:nvPr/>
        </p:nvSpPr>
        <p:spPr>
          <a:xfrm>
            <a:off x="3200309" y="1378297"/>
            <a:ext cx="5715" cy="1756648"/>
          </a:xfrm>
          <a:prstGeom prst="rect">
            <a:avLst/>
          </a:prstGeom>
          <a:solidFill>
            <a:srgbClr val="DFD8C7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509" y="1378297"/>
            <a:ext cx="5715" cy="1756648"/>
          </a:xfrm>
          <a:prstGeom prst="rect">
            <a:avLst/>
          </a:prstGeom>
          <a:solidFill>
            <a:srgbClr val="DFD8C7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" y="1275427"/>
            <a:ext cx="2713939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80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形态 I · DIRECT</a:t>
            </a:r>
            <a:endParaRPr lang="en-US" sz="495" dirty="0"/>
          </a:p>
        </p:txBody>
      </p:sp>
      <p:sp>
        <p:nvSpPr>
          <p:cNvPr id="19" name="Shape 17"/>
          <p:cNvSpPr/>
          <p:nvPr/>
        </p:nvSpPr>
        <p:spPr>
          <a:xfrm>
            <a:off x="1554480" y="1449735"/>
            <a:ext cx="548640" cy="548640"/>
          </a:xfrm>
          <a:prstGeom prst="ellipse">
            <a:avLst/>
          </a:prstGeom>
          <a:solidFill>
            <a:srgbClr val="FFFFFF"/>
          </a:solidFill>
          <a:ln w="5715">
            <a:solidFill>
              <a:srgbClr val="0D2137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8780" y="1564035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17220" y="2101245"/>
            <a:ext cx="2713939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80" b="1" spc="4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直接互惠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617220" y="2329845"/>
            <a:ext cx="2713939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95" spc="135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DIRECT RECIPROCITY</a:t>
            </a:r>
            <a:endParaRPr lang="en-US" sz="495" dirty="0"/>
          </a:p>
        </p:txBody>
      </p:sp>
      <p:sp>
        <p:nvSpPr>
          <p:cNvPr id="23" name="Shape 20"/>
          <p:cNvSpPr/>
          <p:nvPr/>
        </p:nvSpPr>
        <p:spPr>
          <a:xfrm>
            <a:off x="1725930" y="2515582"/>
            <a:ext cx="205740" cy="1143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4" name="Text 21"/>
          <p:cNvSpPr/>
          <p:nvPr/>
        </p:nvSpPr>
        <p:spPr>
          <a:xfrm>
            <a:off x="617220" y="2618452"/>
            <a:ext cx="2713939" cy="287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今天在代码审查中帮助 B，B 明天以技术解答回馈 A——</a:t>
            </a:r>
            <a:pPr algn="just" indent="0" marL="0">
              <a:lnSpc>
                <a:spcPct val="180000"/>
              </a:lnSpc>
              <a:buNone/>
            </a:pPr>
            <a:r>
              <a:rPr lang="en-US" sz="630" b="1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一对一的闭环交易</a:t>
            </a:r>
            <a:pPr algn="just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，回报对象明确，可归因、可追溯。</a:t>
            </a:r>
            <a:endParaRPr lang="en-US" sz="630" dirty="0"/>
          </a:p>
        </p:txBody>
      </p:sp>
      <p:sp>
        <p:nvSpPr>
          <p:cNvPr id="25" name="Shape 22"/>
          <p:cNvSpPr/>
          <p:nvPr/>
        </p:nvSpPr>
        <p:spPr>
          <a:xfrm>
            <a:off x="617220" y="2986355"/>
            <a:ext cx="2423160" cy="25146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26" name="Shape 23"/>
          <p:cNvSpPr/>
          <p:nvPr/>
        </p:nvSpPr>
        <p:spPr>
          <a:xfrm>
            <a:off x="617220" y="2986355"/>
            <a:ext cx="0" cy="251460"/>
          </a:xfrm>
          <a:prstGeom prst="line">
            <a:avLst/>
          </a:prstGeom>
          <a:noFill/>
          <a:ln w="11430">
            <a:solidFill>
              <a:srgbClr val="B08D5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7220" y="2986355"/>
            <a:ext cx="2713939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b="1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案例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 审阅者与被审阅者之间的双向互动</a:t>
            </a:r>
            <a:endParaRPr lang="en-US" sz="563" dirty="0"/>
          </a:p>
        </p:txBody>
      </p:sp>
      <p:sp>
        <p:nvSpPr>
          <p:cNvPr id="28" name="Text 25"/>
          <p:cNvSpPr/>
          <p:nvPr/>
        </p:nvSpPr>
        <p:spPr>
          <a:xfrm>
            <a:off x="3360420" y="1275427"/>
            <a:ext cx="2713939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80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形态 II · INDIRECT</a:t>
            </a:r>
            <a:endParaRPr lang="en-US" sz="495" dirty="0"/>
          </a:p>
        </p:txBody>
      </p:sp>
      <p:sp>
        <p:nvSpPr>
          <p:cNvPr id="29" name="Shape 26"/>
          <p:cNvSpPr/>
          <p:nvPr/>
        </p:nvSpPr>
        <p:spPr>
          <a:xfrm>
            <a:off x="4297680" y="1449735"/>
            <a:ext cx="548640" cy="548640"/>
          </a:xfrm>
          <a:prstGeom prst="ellipse">
            <a:avLst/>
          </a:prstGeom>
          <a:solidFill>
            <a:srgbClr val="FFFFFF"/>
          </a:solidFill>
          <a:ln w="5715">
            <a:solidFill>
              <a:srgbClr val="0D2137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1980" y="1564035"/>
            <a:ext cx="320040" cy="32004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360420" y="2101245"/>
            <a:ext cx="2713939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80" b="1" spc="4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间接互惠</a:t>
            </a:r>
            <a:endParaRPr lang="en-US" sz="1080" dirty="0"/>
          </a:p>
        </p:txBody>
      </p:sp>
      <p:sp>
        <p:nvSpPr>
          <p:cNvPr id="32" name="Text 28"/>
          <p:cNvSpPr/>
          <p:nvPr/>
        </p:nvSpPr>
        <p:spPr>
          <a:xfrm>
            <a:off x="3360420" y="2329845"/>
            <a:ext cx="2713939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95" spc="135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INDIRECT RECIPROCITY</a:t>
            </a:r>
            <a:endParaRPr lang="en-US" sz="495" dirty="0"/>
          </a:p>
        </p:txBody>
      </p:sp>
      <p:sp>
        <p:nvSpPr>
          <p:cNvPr id="33" name="Shape 29"/>
          <p:cNvSpPr/>
          <p:nvPr/>
        </p:nvSpPr>
        <p:spPr>
          <a:xfrm>
            <a:off x="4469130" y="2515582"/>
            <a:ext cx="205740" cy="1143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4" name="Text 30"/>
          <p:cNvSpPr/>
          <p:nvPr/>
        </p:nvSpPr>
        <p:spPr>
          <a:xfrm>
            <a:off x="3360420" y="2618452"/>
            <a:ext cx="2713939" cy="287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贡献者向社区投入时间，</a:t>
            </a:r>
            <a:pPr algn="just" indent="0" marL="0">
              <a:lnSpc>
                <a:spcPct val="180000"/>
              </a:lnSpc>
              <a:buNone/>
            </a:pPr>
            <a:r>
              <a:rPr lang="en-US" sz="630" b="1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不指望特定对象回报</a:t>
            </a:r>
            <a:pPr algn="just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；未来他可能从任何一位其他成员处获得帮助，周期长、边界宽。</a:t>
            </a:r>
            <a:endParaRPr lang="en-US" sz="630" dirty="0"/>
          </a:p>
        </p:txBody>
      </p:sp>
      <p:sp>
        <p:nvSpPr>
          <p:cNvPr id="35" name="Shape 31"/>
          <p:cNvSpPr/>
          <p:nvPr/>
        </p:nvSpPr>
        <p:spPr>
          <a:xfrm>
            <a:off x="3360420" y="2986355"/>
            <a:ext cx="2423160" cy="25146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36" name="Shape 32"/>
          <p:cNvSpPr/>
          <p:nvPr/>
        </p:nvSpPr>
        <p:spPr>
          <a:xfrm>
            <a:off x="3360420" y="2986355"/>
            <a:ext cx="0" cy="251460"/>
          </a:xfrm>
          <a:prstGeom prst="line">
            <a:avLst/>
          </a:prstGeom>
          <a:noFill/>
          <a:ln w="11430">
            <a:solidFill>
              <a:srgbClr val="B08D57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360420" y="2986355"/>
            <a:ext cx="2713939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b="1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案例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贡献代码后数年，被陌生维护者协助发布版本</a:t>
            </a:r>
            <a:endParaRPr lang="en-US" sz="563" dirty="0"/>
          </a:p>
        </p:txBody>
      </p:sp>
      <p:sp>
        <p:nvSpPr>
          <p:cNvPr id="38" name="Text 34"/>
          <p:cNvSpPr/>
          <p:nvPr/>
        </p:nvSpPr>
        <p:spPr>
          <a:xfrm>
            <a:off x="6103620" y="1275427"/>
            <a:ext cx="2713939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180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形态 III · COMMUNITY</a:t>
            </a:r>
            <a:endParaRPr lang="en-US" sz="495" dirty="0"/>
          </a:p>
        </p:txBody>
      </p:sp>
      <p:sp>
        <p:nvSpPr>
          <p:cNvPr id="39" name="Shape 35"/>
          <p:cNvSpPr/>
          <p:nvPr/>
        </p:nvSpPr>
        <p:spPr>
          <a:xfrm>
            <a:off x="7040880" y="1449735"/>
            <a:ext cx="548640" cy="548640"/>
          </a:xfrm>
          <a:prstGeom prst="ellipse">
            <a:avLst/>
          </a:prstGeom>
          <a:solidFill>
            <a:srgbClr val="FFFFFF"/>
          </a:solidFill>
          <a:ln w="5715">
            <a:solidFill>
              <a:srgbClr val="0D2137"/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5180" y="1564035"/>
            <a:ext cx="320040" cy="32004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103620" y="2101245"/>
            <a:ext cx="2713939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80" b="1" spc="4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社区互惠</a:t>
            </a:r>
            <a:endParaRPr lang="en-US" sz="1080" dirty="0"/>
          </a:p>
        </p:txBody>
      </p:sp>
      <p:sp>
        <p:nvSpPr>
          <p:cNvPr id="42" name="Text 37"/>
          <p:cNvSpPr/>
          <p:nvPr/>
        </p:nvSpPr>
        <p:spPr>
          <a:xfrm>
            <a:off x="6103620" y="2329845"/>
            <a:ext cx="2713939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495" spc="135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COMMUNITY RECIPROCITY</a:t>
            </a:r>
            <a:endParaRPr lang="en-US" sz="495" dirty="0"/>
          </a:p>
        </p:txBody>
      </p:sp>
      <p:sp>
        <p:nvSpPr>
          <p:cNvPr id="43" name="Shape 38"/>
          <p:cNvSpPr/>
          <p:nvPr/>
        </p:nvSpPr>
        <p:spPr>
          <a:xfrm>
            <a:off x="7212330" y="2515582"/>
            <a:ext cx="205740" cy="1143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44" name="Text 39"/>
          <p:cNvSpPr/>
          <p:nvPr/>
        </p:nvSpPr>
        <p:spPr>
          <a:xfrm>
            <a:off x="6103620" y="2618452"/>
            <a:ext cx="2713939" cy="287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项目整体形成"</a:t>
            </a:r>
            <a:pPr algn="just" indent="0" marL="0">
              <a:lnSpc>
                <a:spcPct val="180000"/>
              </a:lnSpc>
              <a:buNone/>
            </a:pPr>
            <a:r>
              <a:rPr lang="en-US" sz="630" b="1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回报文化</a:t>
            </a:r>
            <a:pPr algn="just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"：每一次贡献都被集体</a:t>
            </a:r>
            <a:pPr algn="just" indent="0" marL="0">
              <a:lnSpc>
                <a:spcPct val="180000"/>
              </a:lnSpc>
              <a:buNone/>
            </a:pPr>
            <a:r>
              <a:rPr lang="en-US" sz="630" b="1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"记账"</a:t>
            </a:r>
            <a:pPr algn="just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，社区成为一张隐形的</a:t>
            </a:r>
            <a:pPr algn="just" indent="0" marL="0">
              <a:lnSpc>
                <a:spcPct val="180000"/>
              </a:lnSpc>
              <a:buNone/>
            </a:pPr>
            <a:r>
              <a:rPr lang="en-US" sz="630" b="1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信任网络</a:t>
            </a:r>
            <a:pPr algn="just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。</a:t>
            </a:r>
            <a:endParaRPr lang="en-US" sz="630" dirty="0"/>
          </a:p>
        </p:txBody>
      </p:sp>
      <p:sp>
        <p:nvSpPr>
          <p:cNvPr id="45" name="Shape 40"/>
          <p:cNvSpPr/>
          <p:nvPr/>
        </p:nvSpPr>
        <p:spPr>
          <a:xfrm>
            <a:off x="6103620" y="2986355"/>
            <a:ext cx="2423160" cy="251460"/>
          </a:xfrm>
          <a:prstGeom prst="rect">
            <a:avLst/>
          </a:prstGeom>
          <a:solidFill>
            <a:srgbClr val="FBF9F3"/>
          </a:solidFill>
          <a:ln/>
        </p:spPr>
      </p:sp>
      <p:sp>
        <p:nvSpPr>
          <p:cNvPr id="46" name="Shape 41"/>
          <p:cNvSpPr/>
          <p:nvPr/>
        </p:nvSpPr>
        <p:spPr>
          <a:xfrm>
            <a:off x="6103620" y="2986355"/>
            <a:ext cx="0" cy="251460"/>
          </a:xfrm>
          <a:prstGeom prst="line">
            <a:avLst/>
          </a:prstGeom>
          <a:noFill/>
          <a:ln w="11430">
            <a:solidFill>
              <a:srgbClr val="B08D57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103620" y="2986355"/>
            <a:ext cx="2713939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50" b="1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案例</a:t>
            </a:r>
            <a:pPr algn="l" indent="0" marL="0">
              <a:lnSpc>
                <a:spcPct val="160000"/>
              </a:lnSpc>
              <a:buNone/>
            </a:pPr>
            <a:r>
              <a:rPr lang="en-US" sz="563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Kubernetes、Linux 内核的长期贡献者梯队</a:t>
            </a:r>
            <a:endParaRPr lang="en-US" sz="563" dirty="0"/>
          </a:p>
        </p:txBody>
      </p:sp>
      <p:sp>
        <p:nvSpPr>
          <p:cNvPr id="48" name="Shape 43"/>
          <p:cNvSpPr/>
          <p:nvPr/>
        </p:nvSpPr>
        <p:spPr>
          <a:xfrm>
            <a:off x="457200" y="3386405"/>
            <a:ext cx="2659350" cy="638026"/>
          </a:xfrm>
          <a:prstGeom prst="rect">
            <a:avLst/>
          </a:prstGeom>
          <a:solidFill>
            <a:srgbClr val="FFFFFF"/>
          </a:solidFill>
          <a:ln w="5715">
            <a:solidFill>
              <a:srgbClr val="DFD8C7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457200" y="3386405"/>
            <a:ext cx="320040" cy="1143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50" name="Shape 45"/>
          <p:cNvSpPr/>
          <p:nvPr/>
        </p:nvSpPr>
        <p:spPr>
          <a:xfrm>
            <a:off x="588645" y="3556784"/>
            <a:ext cx="297180" cy="297180"/>
          </a:xfrm>
          <a:prstGeom prst="ellipse">
            <a:avLst/>
          </a:prstGeom>
          <a:solidFill>
            <a:srgbClr val="FDFAF3"/>
          </a:solidFill>
          <a:ln w="5715">
            <a:solidFill>
              <a:srgbClr val="B08D57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225" y="3625364"/>
            <a:ext cx="160020" cy="160020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988695" y="3494990"/>
            <a:ext cx="2235979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35" kern="0" dirty="0">
                <a:solidFill>
                  <a:srgbClr val="6B78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互惠类型</a:t>
            </a:r>
            <a:endParaRPr lang="en-US" sz="473" dirty="0"/>
          </a:p>
        </p:txBody>
      </p:sp>
      <p:sp>
        <p:nvSpPr>
          <p:cNvPr id="53" name="Text 47"/>
          <p:cNvSpPr/>
          <p:nvPr/>
        </p:nvSpPr>
        <p:spPr>
          <a:xfrm>
            <a:off x="988695" y="3619292"/>
            <a:ext cx="2235979" cy="170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70" b="1" spc="45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pPr algn="l" indent="0" marL="0">
              <a:lnSpc>
                <a:spcPct val="115000"/>
              </a:lnSpc>
              <a:buNone/>
            </a:pPr>
            <a:r>
              <a:rPr lang="en-US" sz="990" b="1" spc="4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类</a:t>
            </a:r>
            <a:endParaRPr lang="en-US" sz="990" dirty="0"/>
          </a:p>
        </p:txBody>
      </p:sp>
      <p:sp>
        <p:nvSpPr>
          <p:cNvPr id="54" name="Text 48"/>
          <p:cNvSpPr/>
          <p:nvPr/>
        </p:nvSpPr>
        <p:spPr>
          <a:xfrm>
            <a:off x="988695" y="3812977"/>
            <a:ext cx="2235979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6B78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直接 / 间接 / 社区</a:t>
            </a:r>
            <a:endParaRPr lang="en-US" sz="540" dirty="0"/>
          </a:p>
        </p:txBody>
      </p:sp>
      <p:sp>
        <p:nvSpPr>
          <p:cNvPr id="55" name="Shape 49"/>
          <p:cNvSpPr/>
          <p:nvPr/>
        </p:nvSpPr>
        <p:spPr>
          <a:xfrm>
            <a:off x="3242280" y="3386405"/>
            <a:ext cx="2659440" cy="638026"/>
          </a:xfrm>
          <a:prstGeom prst="rect">
            <a:avLst/>
          </a:prstGeom>
          <a:solidFill>
            <a:srgbClr val="FFFFFF"/>
          </a:solidFill>
          <a:ln w="5715">
            <a:solidFill>
              <a:srgbClr val="DFD8C7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3242280" y="3386405"/>
            <a:ext cx="320040" cy="1143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57" name="Shape 51"/>
          <p:cNvSpPr/>
          <p:nvPr/>
        </p:nvSpPr>
        <p:spPr>
          <a:xfrm>
            <a:off x="3373725" y="3556784"/>
            <a:ext cx="297180" cy="297180"/>
          </a:xfrm>
          <a:prstGeom prst="ellipse">
            <a:avLst/>
          </a:prstGeom>
          <a:solidFill>
            <a:srgbClr val="FDFAF3"/>
          </a:solidFill>
          <a:ln w="5715">
            <a:solidFill>
              <a:srgbClr val="B08D57"/>
            </a:solidFill>
            <a:prstDash val="solid"/>
          </a:ln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42305" y="3625364"/>
            <a:ext cx="160020" cy="160020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3773775" y="3508117"/>
            <a:ext cx="2236079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35" kern="0" dirty="0">
                <a:solidFill>
                  <a:srgbClr val="6B78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凭证形式</a:t>
            </a:r>
            <a:endParaRPr lang="en-US" sz="473" dirty="0"/>
          </a:p>
        </p:txBody>
      </p:sp>
      <p:sp>
        <p:nvSpPr>
          <p:cNvPr id="60" name="Text 53"/>
          <p:cNvSpPr/>
          <p:nvPr/>
        </p:nvSpPr>
        <p:spPr>
          <a:xfrm>
            <a:off x="3773775" y="3632418"/>
            <a:ext cx="2236079" cy="1445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90" b="1" spc="4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声誉 · Reputation</a:t>
            </a:r>
            <a:endParaRPr lang="en-US" sz="990" dirty="0"/>
          </a:p>
        </p:txBody>
      </p:sp>
      <p:sp>
        <p:nvSpPr>
          <p:cNvPr id="61" name="Text 54"/>
          <p:cNvSpPr/>
          <p:nvPr/>
        </p:nvSpPr>
        <p:spPr>
          <a:xfrm>
            <a:off x="3773775" y="3799850"/>
            <a:ext cx="2236079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6B78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贡献记录而非货币</a:t>
            </a:r>
            <a:endParaRPr lang="en-US" sz="540" dirty="0"/>
          </a:p>
        </p:txBody>
      </p:sp>
      <p:sp>
        <p:nvSpPr>
          <p:cNvPr id="62" name="Shape 55"/>
          <p:cNvSpPr/>
          <p:nvPr/>
        </p:nvSpPr>
        <p:spPr>
          <a:xfrm>
            <a:off x="6027450" y="3386405"/>
            <a:ext cx="2659350" cy="638026"/>
          </a:xfrm>
          <a:prstGeom prst="rect">
            <a:avLst/>
          </a:prstGeom>
          <a:solidFill>
            <a:srgbClr val="FFFFFF"/>
          </a:solidFill>
          <a:ln w="5715">
            <a:solidFill>
              <a:srgbClr val="DFD8C7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6027450" y="3386405"/>
            <a:ext cx="320040" cy="1143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4" name="Shape 57"/>
          <p:cNvSpPr/>
          <p:nvPr/>
        </p:nvSpPr>
        <p:spPr>
          <a:xfrm>
            <a:off x="6158895" y="3556784"/>
            <a:ext cx="297180" cy="297180"/>
          </a:xfrm>
          <a:prstGeom prst="ellipse">
            <a:avLst/>
          </a:prstGeom>
          <a:solidFill>
            <a:srgbClr val="FDFAF3"/>
          </a:solidFill>
          <a:ln w="5715">
            <a:solidFill>
              <a:srgbClr val="B08D57"/>
            </a:solidFill>
            <a:prstDash val="solid"/>
          </a:ln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27475" y="3625364"/>
            <a:ext cx="160020" cy="160020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6558945" y="3508117"/>
            <a:ext cx="2235979" cy="9001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spc="135" kern="0" dirty="0">
                <a:solidFill>
                  <a:srgbClr val="6B78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时间跨度</a:t>
            </a:r>
            <a:endParaRPr lang="en-US" sz="473" dirty="0"/>
          </a:p>
        </p:txBody>
      </p:sp>
      <p:sp>
        <p:nvSpPr>
          <p:cNvPr id="67" name="Text 59"/>
          <p:cNvSpPr/>
          <p:nvPr/>
        </p:nvSpPr>
        <p:spPr>
          <a:xfrm>
            <a:off x="6558945" y="3632418"/>
            <a:ext cx="2235979" cy="1445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90" b="1" spc="4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数年 · Multi-year</a:t>
            </a:r>
            <a:endParaRPr lang="en-US" sz="990" dirty="0"/>
          </a:p>
        </p:txBody>
      </p:sp>
      <p:sp>
        <p:nvSpPr>
          <p:cNvPr id="68" name="Text 60"/>
          <p:cNvSpPr/>
          <p:nvPr/>
        </p:nvSpPr>
        <p:spPr>
          <a:xfrm>
            <a:off x="6558945" y="3799850"/>
            <a:ext cx="2235979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dirty="0">
                <a:solidFill>
                  <a:srgbClr val="6B78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间接互惠周期较长</a:t>
            </a:r>
            <a:endParaRPr lang="en-US" sz="540" dirty="0"/>
          </a:p>
        </p:txBody>
      </p:sp>
      <p:sp>
        <p:nvSpPr>
          <p:cNvPr id="69" name="Shape 61"/>
          <p:cNvSpPr/>
          <p:nvPr/>
        </p:nvSpPr>
        <p:spPr>
          <a:xfrm>
            <a:off x="457200" y="4173022"/>
            <a:ext cx="4051935" cy="610255"/>
          </a:xfrm>
          <a:prstGeom prst="rect">
            <a:avLst/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70" name="Shape 62"/>
          <p:cNvSpPr/>
          <p:nvPr/>
        </p:nvSpPr>
        <p:spPr>
          <a:xfrm>
            <a:off x="457200" y="4173022"/>
            <a:ext cx="4051935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71" name="Shape 63"/>
          <p:cNvSpPr/>
          <p:nvPr/>
        </p:nvSpPr>
        <p:spPr>
          <a:xfrm>
            <a:off x="457200" y="4167307"/>
            <a:ext cx="457200" cy="1714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2" name="Text 64"/>
          <p:cNvSpPr/>
          <p:nvPr/>
        </p:nvSpPr>
        <p:spPr>
          <a:xfrm>
            <a:off x="582930" y="4270177"/>
            <a:ext cx="4256532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b="1" spc="180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与利他主义的差别</a:t>
            </a:r>
            <a:endParaRPr lang="en-US" sz="495" dirty="0"/>
          </a:p>
        </p:txBody>
      </p:sp>
      <p:sp>
        <p:nvSpPr>
          <p:cNvPr id="73" name="Text 65"/>
          <p:cNvSpPr/>
          <p:nvPr/>
        </p:nvSpPr>
        <p:spPr>
          <a:xfrm>
            <a:off x="582930" y="4410194"/>
            <a:ext cx="4256532" cy="2816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互惠</a:t>
            </a:r>
            <a:pPr algn="l" indent="0" marL="0">
              <a:lnSpc>
                <a:spcPct val="170000"/>
              </a:lnSpc>
              <a:buNone/>
            </a:pPr>
            <a:r>
              <a:rPr lang="en-US" sz="653" b="1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允许</a:t>
            </a:r>
            <a:pPr algn="l" indent="0" marL="0">
              <a:lnSpc>
                <a:spcPct val="170000"/>
              </a:lnSpc>
              <a:buNone/>
            </a:pPr>
            <a:r>
              <a:rPr lang="en-US" sz="653" b="1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期望回报</a:t>
            </a:r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——只是回报对象与时间点未必确定；</a:t>
            </a:r>
            <a:pPr algn="l" indent="0" marL="0">
              <a:lnSpc>
                <a:spcPct val="170000"/>
              </a:lnSpc>
              <a:buNone/>
            </a:pPr>
            <a:endParaRPr lang="en-US" sz="65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而利他主义</a:t>
            </a:r>
            <a:pPr algn="l" indent="0" marL="0">
              <a:lnSpc>
                <a:spcPct val="170000"/>
              </a:lnSpc>
              <a:buNone/>
            </a:pPr>
            <a:r>
              <a:rPr lang="en-US" sz="653" b="1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不期待任何回报</a:t>
            </a:r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，纯粹以他人福利为目标。</a:t>
            </a:r>
            <a:endParaRPr lang="en-US" sz="653" dirty="0"/>
          </a:p>
        </p:txBody>
      </p:sp>
      <p:sp>
        <p:nvSpPr>
          <p:cNvPr id="74" name="Shape 66"/>
          <p:cNvSpPr/>
          <p:nvPr/>
        </p:nvSpPr>
        <p:spPr>
          <a:xfrm>
            <a:off x="4634865" y="4173022"/>
            <a:ext cx="4051935" cy="610255"/>
          </a:xfrm>
          <a:prstGeom prst="rect">
            <a:avLst/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75" name="Shape 67"/>
          <p:cNvSpPr/>
          <p:nvPr/>
        </p:nvSpPr>
        <p:spPr>
          <a:xfrm>
            <a:off x="4634865" y="4173022"/>
            <a:ext cx="4051935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76" name="Shape 68"/>
          <p:cNvSpPr/>
          <p:nvPr/>
        </p:nvSpPr>
        <p:spPr>
          <a:xfrm>
            <a:off x="4634865" y="4167307"/>
            <a:ext cx="457200" cy="1714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7" name="Text 69"/>
          <p:cNvSpPr/>
          <p:nvPr/>
        </p:nvSpPr>
        <p:spPr>
          <a:xfrm>
            <a:off x="4760595" y="4270177"/>
            <a:ext cx="4256532" cy="9429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b="1" spc="180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与商业动机的差别</a:t>
            </a:r>
            <a:endParaRPr lang="en-US" sz="495" dirty="0"/>
          </a:p>
        </p:txBody>
      </p:sp>
      <p:sp>
        <p:nvSpPr>
          <p:cNvPr id="78" name="Text 70"/>
          <p:cNvSpPr/>
          <p:nvPr/>
        </p:nvSpPr>
        <p:spPr>
          <a:xfrm>
            <a:off x="4760595" y="4410194"/>
            <a:ext cx="4256532" cy="2816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互惠</a:t>
            </a:r>
            <a:pPr algn="l" indent="0" marL="0">
              <a:lnSpc>
                <a:spcPct val="170000"/>
              </a:lnSpc>
              <a:buNone/>
            </a:pPr>
            <a:r>
              <a:rPr lang="en-US" sz="653" b="1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不要求</a:t>
            </a:r>
            <a:pPr algn="l" indent="0" marL="0">
              <a:lnSpc>
                <a:spcPct val="170000"/>
              </a:lnSpc>
              <a:buNone/>
            </a:pPr>
            <a:r>
              <a:rPr lang="en-US" sz="653" b="1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显性财务合同</a:t>
            </a:r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，报酬形式也非货币；</a:t>
            </a:r>
            <a:pPr algn="l" indent="0" marL="0">
              <a:lnSpc>
                <a:spcPct val="170000"/>
              </a:lnSpc>
              <a:buNone/>
            </a:pPr>
            <a:endParaRPr lang="en-US" sz="653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而商业交换以</a:t>
            </a:r>
            <a:pPr algn="l" indent="0" marL="0">
              <a:lnSpc>
                <a:spcPct val="170000"/>
              </a:lnSpc>
              <a:buNone/>
            </a:pPr>
            <a:r>
              <a:rPr lang="en-US" sz="653" b="1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契约与现金流</a:t>
            </a:r>
            <a:pPr algn="l" indent="0" marL="0">
              <a:lnSpc>
                <a:spcPct val="170000"/>
              </a:lnSpc>
              <a:buNone/>
            </a:pPr>
            <a:r>
              <a:rPr lang="en-US" sz="653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为维系，边界清晰、可诉讼。</a:t>
            </a:r>
            <a:endParaRPr lang="en-US" sz="653" dirty="0"/>
          </a:p>
        </p:txBody>
      </p:sp>
      <p:sp>
        <p:nvSpPr>
          <p:cNvPr id="79" name="Shape 71"/>
          <p:cNvSpPr/>
          <p:nvPr/>
        </p:nvSpPr>
        <p:spPr>
          <a:xfrm>
            <a:off x="457200" y="4909006"/>
            <a:ext cx="8229600" cy="260747"/>
          </a:xfrm>
          <a:prstGeom prst="rect">
            <a:avLst/>
          </a:prstGeom>
          <a:solidFill>
            <a:srgbClr val="F2ECDF"/>
          </a:solidFill>
          <a:ln/>
        </p:spPr>
      </p:sp>
      <p:sp>
        <p:nvSpPr>
          <p:cNvPr id="80" name="Shape 72"/>
          <p:cNvSpPr/>
          <p:nvPr/>
        </p:nvSpPr>
        <p:spPr>
          <a:xfrm>
            <a:off x="457200" y="4909006"/>
            <a:ext cx="0" cy="260747"/>
          </a:xfrm>
          <a:prstGeom prst="line">
            <a:avLst/>
          </a:prstGeom>
          <a:noFill/>
          <a:ln w="17145">
            <a:solidFill>
              <a:srgbClr val="B08D57"/>
            </a:solidFill>
            <a:prstDash val="solid"/>
          </a:ln>
        </p:spPr>
      </p:sp>
      <p:sp>
        <p:nvSpPr>
          <p:cNvPr id="81" name="Text 73"/>
          <p:cNvSpPr/>
          <p:nvPr/>
        </p:nvSpPr>
        <p:spPr>
          <a:xfrm>
            <a:off x="588645" y="4977586"/>
            <a:ext cx="628650" cy="1225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b="1" spc="45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脚注 · 声誉中介</a:t>
            </a:r>
            <a:endParaRPr lang="en-US" sz="585" dirty="0"/>
          </a:p>
        </p:txBody>
      </p:sp>
      <p:sp>
        <p:nvSpPr>
          <p:cNvPr id="82" name="Text 74"/>
          <p:cNvSpPr/>
          <p:nvPr/>
        </p:nvSpPr>
        <p:spPr>
          <a:xfrm>
            <a:off x="1223010" y="4977586"/>
            <a:ext cx="6151169" cy="123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b="1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GitHub 星数、Committers 名单、社区头衔</a:t>
            </a:r>
            <a:pPr algn="l" indent="0" marL="0">
              <a:lnSpc>
                <a:spcPct val="165000"/>
              </a:lnSpc>
              <a:buNone/>
            </a:pPr>
            <a:r>
              <a:rPr lang="en-US" sz="563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（Maintainer / Reviewer / PMC）在开源生态中充当互惠的</a:t>
            </a:r>
            <a:pPr algn="l" indent="0" marL="0">
              <a:lnSpc>
                <a:spcPct val="165000"/>
              </a:lnSpc>
              <a:buNone/>
            </a:pPr>
            <a:r>
              <a:rPr lang="en-US" sz="563" b="1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凭证</a:t>
            </a:r>
            <a:pPr algn="l" indent="0" marL="0">
              <a:lnSpc>
                <a:spcPct val="165000"/>
              </a:lnSpc>
              <a:buNone/>
            </a:pPr>
            <a:r>
              <a:rPr lang="en-US" sz="563" dirty="0">
                <a:solidFill>
                  <a:srgbClr val="3B4A5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——它们不是货币，却承载了贡献者对彼此的长期信用记录。</a:t>
            </a:r>
            <a:endParaRPr lang="en-US" sz="56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25717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B08D57">
                  <a:alpha val="8000"/>
                </a:srgbClr>
              </a:gs>
              <a:gs pos="100000">
                <a:srgbClr val="B08D5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5029200" y="1800225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D2137">
                  <a:alpha val="4800"/>
                </a:srgbClr>
              </a:gs>
              <a:gs pos="100000">
                <a:srgbClr val="0D213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365760" y="262890"/>
            <a:ext cx="8412480" cy="7734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365760" y="1036290"/>
            <a:ext cx="8412480" cy="0"/>
          </a:xfrm>
          <a:prstGeom prst="line">
            <a:avLst/>
          </a:prstGeom>
          <a:noFill/>
          <a:ln w="11430">
            <a:solidFill>
              <a:srgbClr val="0D21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62890"/>
            <a:ext cx="160020" cy="1143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62890"/>
            <a:ext cx="2105863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b="1" spc="135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EMPIRICAL EVIDENCE · CHAPTER 05</a:t>
            </a:r>
            <a:endParaRPr lang="en-US" sz="585" dirty="0"/>
          </a:p>
        </p:txBody>
      </p:sp>
      <p:sp>
        <p:nvSpPr>
          <p:cNvPr id="8" name="Text 6"/>
          <p:cNvSpPr/>
          <p:nvPr/>
        </p:nvSpPr>
        <p:spPr>
          <a:xfrm>
            <a:off x="365760" y="435144"/>
            <a:ext cx="9114739" cy="27655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80" b="1" spc="45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实证：互惠如何被观测</a:t>
            </a:r>
            <a:endParaRPr lang="en-US" sz="1980" dirty="0"/>
          </a:p>
        </p:txBody>
      </p:sp>
      <p:sp>
        <p:nvSpPr>
          <p:cNvPr id="9" name="Text 7"/>
          <p:cNvSpPr/>
          <p:nvPr/>
        </p:nvSpPr>
        <p:spPr>
          <a:xfrm>
            <a:off x="365760" y="780276"/>
            <a:ext cx="9114739" cy="1417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20" i="1" spc="23" kern="0" dirty="0">
                <a:solidFill>
                  <a:srgbClr val="6B6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多源数据交叉验证：实验、社区、企业三条证据链相互支撑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8503920" y="564267"/>
            <a:ext cx="54864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03920" y="815727"/>
            <a:ext cx="342900" cy="1062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540" spc="135" kern="0" dirty="0">
                <a:solidFill>
                  <a:srgbClr val="6B65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</a:t>
            </a:r>
            <a:endParaRPr lang="en-US" sz="540" dirty="0"/>
          </a:p>
        </p:txBody>
      </p:sp>
      <p:sp>
        <p:nvSpPr>
          <p:cNvPr id="12" name="Shape 10"/>
          <p:cNvSpPr/>
          <p:nvPr/>
        </p:nvSpPr>
        <p:spPr>
          <a:xfrm>
            <a:off x="365760" y="1184880"/>
            <a:ext cx="2720340" cy="1063972"/>
          </a:xfrm>
          <a:prstGeom prst="rect">
            <a:avLst/>
          </a:prstGeom>
          <a:solidFill>
            <a:srgbClr val="FFFFFF"/>
          </a:solidFill>
          <a:ln w="22860">
            <a:solidFill>
              <a:srgbClr val="0D2137"/>
            </a:solidFill>
            <a:prstDash val="solid"/>
          </a:ln>
          <a:effectLst>
            <a:outerShdw sx="100000" sy="100000" kx="0" ky="0" algn="bl" rotWithShape="0" blurRad="190500" dist="57150" dir="16200000">
              <a:srgbClr val="0D2137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51249" y="1287750"/>
            <a:ext cx="200561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b="1" spc="90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85" dirty="0"/>
          </a:p>
        </p:txBody>
      </p:sp>
      <p:sp>
        <p:nvSpPr>
          <p:cNvPr id="14" name="Text 12"/>
          <p:cNvSpPr/>
          <p:nvPr/>
        </p:nvSpPr>
        <p:spPr>
          <a:xfrm>
            <a:off x="508635" y="1333470"/>
            <a:ext cx="2726741" cy="1062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spc="135" kern="0" dirty="0">
                <a:solidFill>
                  <a:srgbClr val="6B65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 · EXPERIMENT</a:t>
            </a:r>
            <a:endParaRPr lang="en-US" sz="540" dirty="0"/>
          </a:p>
        </p:txBody>
      </p:sp>
      <p:sp>
        <p:nvSpPr>
          <p:cNvPr id="15" name="Text 13"/>
          <p:cNvSpPr/>
          <p:nvPr/>
        </p:nvSpPr>
        <p:spPr>
          <a:xfrm>
            <a:off x="508635" y="1474024"/>
            <a:ext cx="2726741" cy="263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90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数百人</a:t>
            </a:r>
            <a:endParaRPr lang="en-US" sz="1890" dirty="0"/>
          </a:p>
        </p:txBody>
      </p:sp>
      <p:sp>
        <p:nvSpPr>
          <p:cNvPr id="16" name="Shape 14"/>
          <p:cNvSpPr/>
          <p:nvPr/>
        </p:nvSpPr>
        <p:spPr>
          <a:xfrm>
            <a:off x="508635" y="1795135"/>
            <a:ext cx="2434590" cy="195739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508635" y="1795135"/>
            <a:ext cx="2434590" cy="0"/>
          </a:xfrm>
          <a:prstGeom prst="line">
            <a:avLst/>
          </a:prstGeom>
          <a:noFill/>
          <a:ln w="5715">
            <a:solidFill>
              <a:srgbClr val="D9D2C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08635" y="1795135"/>
            <a:ext cx="2726741" cy="195739"/>
          </a:xfrm>
          <a:prstGeom prst="rect">
            <a:avLst/>
          </a:prstGeom>
          <a:noFill/>
          <a:ln/>
        </p:spPr>
        <p:txBody>
          <a:bodyPr wrap="none" lIns="5715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75" b="1" spc="45" kern="0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实验参与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08635" y="2013734"/>
            <a:ext cx="2726741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6B65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实验室受控任务</a:t>
            </a:r>
            <a:endParaRPr lang="en-US" sz="585" dirty="0"/>
          </a:p>
        </p:txBody>
      </p:sp>
      <p:sp>
        <p:nvSpPr>
          <p:cNvPr id="20" name="Shape 18"/>
          <p:cNvSpPr/>
          <p:nvPr/>
        </p:nvSpPr>
        <p:spPr>
          <a:xfrm>
            <a:off x="3211830" y="1184880"/>
            <a:ext cx="2720340" cy="1063972"/>
          </a:xfrm>
          <a:prstGeom prst="rect">
            <a:avLst/>
          </a:prstGeom>
          <a:solidFill>
            <a:srgbClr val="FFFFFF"/>
          </a:solidFill>
          <a:ln w="22860">
            <a:solidFill>
              <a:srgbClr val="0D2137"/>
            </a:solidFill>
            <a:prstDash val="solid"/>
          </a:ln>
          <a:effectLst>
            <a:outerShdw sx="100000" sy="100000" kx="0" ky="0" algn="bl" rotWithShape="0" blurRad="190500" dist="57150" dir="16200000">
              <a:srgbClr val="0D2137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97319" y="1287750"/>
            <a:ext cx="200561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b="1" spc="90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85" dirty="0"/>
          </a:p>
        </p:txBody>
      </p:sp>
      <p:sp>
        <p:nvSpPr>
          <p:cNvPr id="22" name="Text 20"/>
          <p:cNvSpPr/>
          <p:nvPr/>
        </p:nvSpPr>
        <p:spPr>
          <a:xfrm>
            <a:off x="3354705" y="1333470"/>
            <a:ext cx="2726741" cy="1062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spc="135" kern="0" dirty="0">
                <a:solidFill>
                  <a:srgbClr val="6B65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 · COMMUNITY</a:t>
            </a:r>
            <a:endParaRPr lang="en-US" sz="540" dirty="0"/>
          </a:p>
        </p:txBody>
      </p:sp>
      <p:sp>
        <p:nvSpPr>
          <p:cNvPr id="23" name="Text 21"/>
          <p:cNvSpPr/>
          <p:nvPr/>
        </p:nvSpPr>
        <p:spPr>
          <a:xfrm>
            <a:off x="3354705" y="1474024"/>
            <a:ext cx="2726741" cy="22627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20" b="1" spc="45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GIMP / Apache</a:t>
            </a:r>
            <a:endParaRPr lang="en-US" sz="1620" dirty="0"/>
          </a:p>
        </p:txBody>
      </p:sp>
      <p:sp>
        <p:nvSpPr>
          <p:cNvPr id="24" name="Shape 22"/>
          <p:cNvSpPr/>
          <p:nvPr/>
        </p:nvSpPr>
        <p:spPr>
          <a:xfrm>
            <a:off x="3354705" y="1757452"/>
            <a:ext cx="2434590" cy="195739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3354705" y="1757452"/>
            <a:ext cx="2434590" cy="0"/>
          </a:xfrm>
          <a:prstGeom prst="line">
            <a:avLst/>
          </a:prstGeom>
          <a:noFill/>
          <a:ln w="5715">
            <a:solidFill>
              <a:srgbClr val="D9D2C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354705" y="1757452"/>
            <a:ext cx="2726741" cy="195739"/>
          </a:xfrm>
          <a:prstGeom prst="rect">
            <a:avLst/>
          </a:prstGeom>
          <a:noFill/>
          <a:ln/>
        </p:spPr>
        <p:txBody>
          <a:bodyPr wrap="none" lIns="5715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75" b="1" spc="45" kern="0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社区样本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354705" y="1976051"/>
            <a:ext cx="2726741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6B65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两大成熟开源项目</a:t>
            </a:r>
            <a:endParaRPr lang="en-US" sz="585" dirty="0"/>
          </a:p>
        </p:txBody>
      </p:sp>
      <p:sp>
        <p:nvSpPr>
          <p:cNvPr id="28" name="Shape 26"/>
          <p:cNvSpPr/>
          <p:nvPr/>
        </p:nvSpPr>
        <p:spPr>
          <a:xfrm>
            <a:off x="6057900" y="1184880"/>
            <a:ext cx="2720340" cy="1063972"/>
          </a:xfrm>
          <a:prstGeom prst="rect">
            <a:avLst/>
          </a:prstGeom>
          <a:solidFill>
            <a:srgbClr val="FFFFFF"/>
          </a:solidFill>
          <a:ln w="22860">
            <a:solidFill>
              <a:srgbClr val="0D2137"/>
            </a:solidFill>
            <a:prstDash val="solid"/>
          </a:ln>
          <a:effectLst>
            <a:outerShdw sx="100000" sy="100000" kx="0" ky="0" algn="bl" rotWithShape="0" blurRad="190500" dist="57150" dir="16200000">
              <a:srgbClr val="0D2137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43389" y="1287750"/>
            <a:ext cx="200561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b="1" spc="90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85" dirty="0"/>
          </a:p>
        </p:txBody>
      </p:sp>
      <p:sp>
        <p:nvSpPr>
          <p:cNvPr id="30" name="Text 28"/>
          <p:cNvSpPr/>
          <p:nvPr/>
        </p:nvSpPr>
        <p:spPr>
          <a:xfrm>
            <a:off x="6200775" y="1333470"/>
            <a:ext cx="2726741" cy="1062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spc="135" kern="0" dirty="0">
                <a:solidFill>
                  <a:srgbClr val="6B65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STRENGTH · EFFECT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6200775" y="1474024"/>
            <a:ext cx="2726741" cy="22627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20" b="1" spc="23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显著正相关</a:t>
            </a:r>
            <a:endParaRPr lang="en-US" sz="1620" dirty="0"/>
          </a:p>
        </p:txBody>
      </p:sp>
      <p:sp>
        <p:nvSpPr>
          <p:cNvPr id="32" name="Shape 30"/>
          <p:cNvSpPr/>
          <p:nvPr/>
        </p:nvSpPr>
        <p:spPr>
          <a:xfrm>
            <a:off x="6200775" y="1757452"/>
            <a:ext cx="2434590" cy="195739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200775" y="1757452"/>
            <a:ext cx="2434590" cy="0"/>
          </a:xfrm>
          <a:prstGeom prst="line">
            <a:avLst/>
          </a:prstGeom>
          <a:noFill/>
          <a:ln w="5715">
            <a:solidFill>
              <a:srgbClr val="D9D2C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200775" y="1757452"/>
            <a:ext cx="2726741" cy="195739"/>
          </a:xfrm>
          <a:prstGeom prst="rect">
            <a:avLst/>
          </a:prstGeom>
          <a:noFill/>
          <a:ln/>
        </p:spPr>
        <p:txBody>
          <a:bodyPr wrap="none" lIns="5715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75" b="1" spc="45" kern="0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效应强度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6200775" y="1976051"/>
            <a:ext cx="2726741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6B65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统计检验通过</a:t>
            </a:r>
            <a:endParaRPr lang="en-US" sz="585" dirty="0"/>
          </a:p>
        </p:txBody>
      </p:sp>
      <p:sp>
        <p:nvSpPr>
          <p:cNvPr id="36" name="Shape 34"/>
          <p:cNvSpPr/>
          <p:nvPr/>
        </p:nvSpPr>
        <p:spPr>
          <a:xfrm>
            <a:off x="365760" y="2397443"/>
            <a:ext cx="4126230" cy="240030"/>
          </a:xfrm>
          <a:prstGeom prst="rect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365760" y="2637473"/>
            <a:ext cx="4126230" cy="0"/>
          </a:xfrm>
          <a:prstGeom prst="line">
            <a:avLst/>
          </a:prstGeom>
          <a:noFill/>
          <a:ln w="5715">
            <a:solidFill>
              <a:srgbClr val="D9D2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2446020"/>
            <a:ext cx="80010" cy="8001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9" name="Text 37"/>
          <p:cNvSpPr/>
          <p:nvPr/>
        </p:nvSpPr>
        <p:spPr>
          <a:xfrm>
            <a:off x="514350" y="2397443"/>
            <a:ext cx="1459382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b="1" spc="45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实验证据 · Laboratory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66235" y="2432893"/>
            <a:ext cx="394335" cy="1062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spc="90" kern="0" dirty="0">
                <a:solidFill>
                  <a:srgbClr val="6B65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FIELD A</a:t>
            </a:r>
            <a:endParaRPr lang="en-US" sz="540" dirty="0"/>
          </a:p>
        </p:txBody>
      </p:sp>
      <p:sp>
        <p:nvSpPr>
          <p:cNvPr id="41" name="Shape 39"/>
          <p:cNvSpPr/>
          <p:nvPr/>
        </p:nvSpPr>
        <p:spPr>
          <a:xfrm>
            <a:off x="365760" y="2717483"/>
            <a:ext cx="4126230" cy="402818"/>
          </a:xfrm>
          <a:prstGeom prst="rect">
            <a:avLst/>
          </a:prstGeom>
          <a:noFill/>
          <a:ln/>
        </p:spPr>
      </p:sp>
      <p:sp>
        <p:nvSpPr>
          <p:cNvPr id="42" name="Shape 40"/>
          <p:cNvSpPr/>
          <p:nvPr/>
        </p:nvSpPr>
        <p:spPr>
          <a:xfrm>
            <a:off x="365760" y="3120301"/>
            <a:ext cx="4126230" cy="0"/>
          </a:xfrm>
          <a:prstGeom prst="line">
            <a:avLst/>
          </a:prstGeom>
          <a:noFill/>
          <a:ln w="5715">
            <a:solidFill>
              <a:srgbClr val="D9D2C4"/>
            </a:solidFill>
            <a:prstDash val="dot"/>
          </a:ln>
        </p:spPr>
      </p:sp>
      <p:sp>
        <p:nvSpPr>
          <p:cNvPr id="43" name="Text 41"/>
          <p:cNvSpPr/>
          <p:nvPr/>
        </p:nvSpPr>
        <p:spPr>
          <a:xfrm>
            <a:off x="365760" y="2774633"/>
            <a:ext cx="274320" cy="282803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1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617220" y="2774633"/>
            <a:ext cx="4339742" cy="1417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20" b="1" spc="23" kern="0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匿名回报行为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617220" y="2933492"/>
            <a:ext cx="4339742" cy="123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实验室任务中参与者会主动回报先前帮助过自己的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匿名对象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，说明互惠机制不依赖身份识别或声誉压力。</a:t>
            </a:r>
            <a:endParaRPr lang="en-US" sz="630" dirty="0"/>
          </a:p>
        </p:txBody>
      </p:sp>
      <p:sp>
        <p:nvSpPr>
          <p:cNvPr id="46" name="Shape 44"/>
          <p:cNvSpPr/>
          <p:nvPr/>
        </p:nvSpPr>
        <p:spPr>
          <a:xfrm>
            <a:off x="365760" y="3120301"/>
            <a:ext cx="4126230" cy="402818"/>
          </a:xfrm>
          <a:prstGeom prst="rect">
            <a:avLst/>
          </a:prstGeom>
          <a:noFill/>
          <a:ln/>
        </p:spPr>
      </p:sp>
      <p:sp>
        <p:nvSpPr>
          <p:cNvPr id="47" name="Shape 45"/>
          <p:cNvSpPr/>
          <p:nvPr/>
        </p:nvSpPr>
        <p:spPr>
          <a:xfrm>
            <a:off x="365760" y="3523119"/>
            <a:ext cx="4126230" cy="0"/>
          </a:xfrm>
          <a:prstGeom prst="line">
            <a:avLst/>
          </a:prstGeom>
          <a:noFill/>
          <a:ln w="5715">
            <a:solidFill>
              <a:srgbClr val="D9D2C4"/>
            </a:solidFill>
            <a:prstDash val="dot"/>
          </a:ln>
        </p:spPr>
      </p:sp>
      <p:sp>
        <p:nvSpPr>
          <p:cNvPr id="48" name="Text 46"/>
          <p:cNvSpPr/>
          <p:nvPr/>
        </p:nvSpPr>
        <p:spPr>
          <a:xfrm>
            <a:off x="365760" y="3177451"/>
            <a:ext cx="318897" cy="282803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1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810" dirty="0"/>
          </a:p>
        </p:txBody>
      </p:sp>
      <p:sp>
        <p:nvSpPr>
          <p:cNvPr id="49" name="Text 47"/>
          <p:cNvSpPr/>
          <p:nvPr/>
        </p:nvSpPr>
        <p:spPr>
          <a:xfrm>
            <a:off x="617220" y="3177451"/>
            <a:ext cx="4339742" cy="1417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20" b="1" spc="23" kern="0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回应延迟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617220" y="3336310"/>
            <a:ext cx="4339742" cy="123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直接互惠响应通常在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数日之内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，间接互惠则跨越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数月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——时间尺度与互惠类型强相关。</a:t>
            </a:r>
            <a:endParaRPr lang="en-US" sz="630" dirty="0"/>
          </a:p>
        </p:txBody>
      </p:sp>
      <p:sp>
        <p:nvSpPr>
          <p:cNvPr id="51" name="Text 49"/>
          <p:cNvSpPr/>
          <p:nvPr/>
        </p:nvSpPr>
        <p:spPr>
          <a:xfrm>
            <a:off x="365760" y="3580269"/>
            <a:ext cx="390906" cy="282803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1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810" dirty="0"/>
          </a:p>
        </p:txBody>
      </p:sp>
      <p:sp>
        <p:nvSpPr>
          <p:cNvPr id="52" name="Text 50"/>
          <p:cNvSpPr/>
          <p:nvPr/>
        </p:nvSpPr>
        <p:spPr>
          <a:xfrm>
            <a:off x="617220" y="3580269"/>
            <a:ext cx="4339742" cy="1417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20" b="1" spc="23" kern="0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关键控制变量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617220" y="3739128"/>
            <a:ext cx="4339742" cy="123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排除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声望与商业收益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后，互惠效应依然显著，表明其并非市场激励的伪装。</a:t>
            </a:r>
            <a:endParaRPr lang="en-US" sz="630" dirty="0"/>
          </a:p>
        </p:txBody>
      </p:sp>
      <p:sp>
        <p:nvSpPr>
          <p:cNvPr id="54" name="Shape 52"/>
          <p:cNvSpPr/>
          <p:nvPr/>
        </p:nvSpPr>
        <p:spPr>
          <a:xfrm>
            <a:off x="4652010" y="2397443"/>
            <a:ext cx="4126230" cy="240030"/>
          </a:xfrm>
          <a:prstGeom prst="rect">
            <a:avLst/>
          </a:prstGeom>
          <a:noFill/>
          <a:ln/>
        </p:spPr>
      </p:sp>
      <p:sp>
        <p:nvSpPr>
          <p:cNvPr id="55" name="Shape 53"/>
          <p:cNvSpPr/>
          <p:nvPr/>
        </p:nvSpPr>
        <p:spPr>
          <a:xfrm>
            <a:off x="4652010" y="2637473"/>
            <a:ext cx="4126230" cy="0"/>
          </a:xfrm>
          <a:prstGeom prst="line">
            <a:avLst/>
          </a:prstGeom>
          <a:noFill/>
          <a:ln w="5715">
            <a:solidFill>
              <a:srgbClr val="D9D2C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52010" y="2446020"/>
            <a:ext cx="80010" cy="8001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57" name="Text 55"/>
          <p:cNvSpPr/>
          <p:nvPr/>
        </p:nvSpPr>
        <p:spPr>
          <a:xfrm>
            <a:off x="4800600" y="2397443"/>
            <a:ext cx="2432304" cy="1771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b="1" spc="45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社区观测 · Community &amp; Enterprise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446770" y="2432893"/>
            <a:ext cx="400050" cy="1062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spc="90" kern="0" dirty="0">
                <a:solidFill>
                  <a:srgbClr val="6B65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FIELD B</a:t>
            </a:r>
            <a:endParaRPr lang="en-US" sz="540" dirty="0"/>
          </a:p>
        </p:txBody>
      </p:sp>
      <p:sp>
        <p:nvSpPr>
          <p:cNvPr id="59" name="Shape 57"/>
          <p:cNvSpPr/>
          <p:nvPr/>
        </p:nvSpPr>
        <p:spPr>
          <a:xfrm>
            <a:off x="4652010" y="2717483"/>
            <a:ext cx="4126230" cy="526762"/>
          </a:xfrm>
          <a:prstGeom prst="rect">
            <a:avLst/>
          </a:prstGeom>
          <a:noFill/>
          <a:ln/>
        </p:spPr>
      </p:sp>
      <p:sp>
        <p:nvSpPr>
          <p:cNvPr id="60" name="Shape 58"/>
          <p:cNvSpPr/>
          <p:nvPr/>
        </p:nvSpPr>
        <p:spPr>
          <a:xfrm>
            <a:off x="4652010" y="3244245"/>
            <a:ext cx="4126230" cy="0"/>
          </a:xfrm>
          <a:prstGeom prst="line">
            <a:avLst/>
          </a:prstGeom>
          <a:noFill/>
          <a:ln w="5715">
            <a:solidFill>
              <a:srgbClr val="D9D2C4"/>
            </a:solidFill>
            <a:prstDash val="dot"/>
          </a:ln>
        </p:spPr>
      </p:sp>
      <p:sp>
        <p:nvSpPr>
          <p:cNvPr id="61" name="Text 59"/>
          <p:cNvSpPr/>
          <p:nvPr/>
        </p:nvSpPr>
        <p:spPr>
          <a:xfrm>
            <a:off x="4652010" y="2774633"/>
            <a:ext cx="274320" cy="406747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1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810" dirty="0"/>
          </a:p>
        </p:txBody>
      </p:sp>
      <p:sp>
        <p:nvSpPr>
          <p:cNvPr id="62" name="Text 60"/>
          <p:cNvSpPr/>
          <p:nvPr/>
        </p:nvSpPr>
        <p:spPr>
          <a:xfrm>
            <a:off x="4903470" y="2774633"/>
            <a:ext cx="4339742" cy="1417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20" b="1" spc="23" kern="0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社区贡献日志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4903470" y="2933492"/>
            <a:ext cx="4339742" cy="247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GIMP、Apache 等社区的完整贡献日志显示，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收到帮助者贡献率显著提高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——互惠在自然环境中同样稳定可测。</a:t>
            </a:r>
            <a:endParaRPr lang="en-US" sz="630" dirty="0"/>
          </a:p>
        </p:txBody>
      </p:sp>
      <p:sp>
        <p:nvSpPr>
          <p:cNvPr id="64" name="Shape 62"/>
          <p:cNvSpPr/>
          <p:nvPr/>
        </p:nvSpPr>
        <p:spPr>
          <a:xfrm>
            <a:off x="4652010" y="3244245"/>
            <a:ext cx="4126230" cy="402818"/>
          </a:xfrm>
          <a:prstGeom prst="rect">
            <a:avLst/>
          </a:prstGeom>
          <a:noFill/>
          <a:ln/>
        </p:spPr>
      </p:sp>
      <p:sp>
        <p:nvSpPr>
          <p:cNvPr id="65" name="Shape 63"/>
          <p:cNvSpPr/>
          <p:nvPr/>
        </p:nvSpPr>
        <p:spPr>
          <a:xfrm>
            <a:off x="4652010" y="3647063"/>
            <a:ext cx="4126230" cy="0"/>
          </a:xfrm>
          <a:prstGeom prst="line">
            <a:avLst/>
          </a:prstGeom>
          <a:noFill/>
          <a:ln w="5715">
            <a:solidFill>
              <a:srgbClr val="D9D2C4"/>
            </a:solidFill>
            <a:prstDash val="dot"/>
          </a:ln>
        </p:spPr>
      </p:sp>
      <p:sp>
        <p:nvSpPr>
          <p:cNvPr id="66" name="Text 64"/>
          <p:cNvSpPr/>
          <p:nvPr/>
        </p:nvSpPr>
        <p:spPr>
          <a:xfrm>
            <a:off x="4652010" y="3301395"/>
            <a:ext cx="318897" cy="282803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1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810" dirty="0"/>
          </a:p>
        </p:txBody>
      </p:sp>
      <p:sp>
        <p:nvSpPr>
          <p:cNvPr id="67" name="Text 65"/>
          <p:cNvSpPr/>
          <p:nvPr/>
        </p:nvSpPr>
        <p:spPr>
          <a:xfrm>
            <a:off x="4903470" y="3301395"/>
            <a:ext cx="4339742" cy="1417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20" b="1" spc="23" kern="0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企业工程师参与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903470" y="3460254"/>
            <a:ext cx="4339742" cy="123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商业公司工程师参与开源项目的比例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远高于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纯个人开发者，形成规模化贡献主体。</a:t>
            </a:r>
            <a:endParaRPr lang="en-US" sz="630" dirty="0"/>
          </a:p>
        </p:txBody>
      </p:sp>
      <p:sp>
        <p:nvSpPr>
          <p:cNvPr id="69" name="Text 67"/>
          <p:cNvSpPr/>
          <p:nvPr/>
        </p:nvSpPr>
        <p:spPr>
          <a:xfrm>
            <a:off x="4652010" y="3704213"/>
            <a:ext cx="390906" cy="282803"/>
          </a:xfrm>
          <a:prstGeom prst="rect">
            <a:avLst/>
          </a:prstGeom>
          <a:noFill/>
          <a:ln/>
        </p:spPr>
        <p:txBody>
          <a:bodyPr wrap="none" lIns="1143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1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810" dirty="0"/>
          </a:p>
        </p:txBody>
      </p:sp>
      <p:sp>
        <p:nvSpPr>
          <p:cNvPr id="70" name="Text 68"/>
          <p:cNvSpPr/>
          <p:nvPr/>
        </p:nvSpPr>
        <p:spPr>
          <a:xfrm>
            <a:off x="4903470" y="3704213"/>
            <a:ext cx="4339742" cy="14171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20" b="1" spc="23" kern="0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组织化互惠通道</a:t>
            </a:r>
            <a:endParaRPr lang="en-US" sz="720" dirty="0"/>
          </a:p>
        </p:txBody>
      </p:sp>
      <p:sp>
        <p:nvSpPr>
          <p:cNvPr id="71" name="Text 69"/>
          <p:cNvSpPr/>
          <p:nvPr/>
        </p:nvSpPr>
        <p:spPr>
          <a:xfrm>
            <a:off x="4903470" y="3863072"/>
            <a:ext cx="4339742" cy="123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呈现"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企业更高、组织化互惠</a:t>
            </a:r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3B3A3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"特征——个体间的互惠在机构层面被制度化放大。</a:t>
            </a:r>
            <a:endParaRPr lang="en-US" sz="630" dirty="0"/>
          </a:p>
        </p:txBody>
      </p:sp>
      <p:sp>
        <p:nvSpPr>
          <p:cNvPr id="72" name="Shape 70"/>
          <p:cNvSpPr/>
          <p:nvPr/>
        </p:nvSpPr>
        <p:spPr>
          <a:xfrm>
            <a:off x="365760" y="4828371"/>
            <a:ext cx="8412480" cy="189399"/>
          </a:xfrm>
          <a:prstGeom prst="rect">
            <a:avLst/>
          </a:prstGeom>
          <a:noFill/>
          <a:ln/>
        </p:spPr>
      </p:sp>
      <p:sp>
        <p:nvSpPr>
          <p:cNvPr id="73" name="Shape 71"/>
          <p:cNvSpPr/>
          <p:nvPr/>
        </p:nvSpPr>
        <p:spPr>
          <a:xfrm>
            <a:off x="365760" y="4828371"/>
            <a:ext cx="8412480" cy="0"/>
          </a:xfrm>
          <a:prstGeom prst="line">
            <a:avLst/>
          </a:prstGeom>
          <a:noFill/>
          <a:ln w="5715">
            <a:solidFill>
              <a:srgbClr val="D9D2C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5760" y="4937314"/>
            <a:ext cx="45720" cy="4572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75" name="Text 73"/>
          <p:cNvSpPr/>
          <p:nvPr/>
        </p:nvSpPr>
        <p:spPr>
          <a:xfrm>
            <a:off x="491490" y="4902666"/>
            <a:ext cx="2976372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论文说服力来自多源数据交叉验证，让"互惠"从直觉上升为可检验的经济学命题。</a:t>
            </a:r>
            <a:endParaRPr lang="en-US" sz="585" dirty="0"/>
          </a:p>
        </p:txBody>
      </p:sp>
      <p:sp>
        <p:nvSpPr>
          <p:cNvPr id="76" name="Text 74"/>
          <p:cNvSpPr/>
          <p:nvPr/>
        </p:nvSpPr>
        <p:spPr>
          <a:xfrm>
            <a:off x="6680835" y="4911507"/>
            <a:ext cx="2349094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90" kern="0" dirty="0">
                <a:solidFill>
                  <a:srgbClr val="6B65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· EXPERIMENT / COMMUNITY / ENTERPRISE</a:t>
            </a:r>
            <a:endParaRPr lang="en-US" sz="49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2743200"/>
          </a:xfrm>
          <a:prstGeom prst="rect">
            <a:avLst/>
          </a:prstGeom>
          <a:solidFill>
            <a:srgbClr val="B08D57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172200" y="2171700"/>
            <a:ext cx="2971800" cy="2971800"/>
          </a:xfrm>
          <a:prstGeom prst="rect">
            <a:avLst/>
          </a:prstGeom>
          <a:solidFill>
            <a:srgbClr val="0D2137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62890"/>
            <a:ext cx="8412480" cy="18288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365760" y="445770"/>
            <a:ext cx="8412480" cy="0"/>
          </a:xfrm>
          <a:prstGeom prst="line">
            <a:avLst/>
          </a:prstGeom>
          <a:noFill/>
          <a:ln w="5715">
            <a:solidFill>
              <a:srgbClr val="D6D0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62890"/>
            <a:ext cx="45264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16" kern="0" dirty="0">
                <a:solidFill>
                  <a:srgbClr val="9CA3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章节过渡</a:t>
            </a:r>
            <a:endParaRPr lang="en-US" sz="540" dirty="0"/>
          </a:p>
        </p:txBody>
      </p:sp>
      <p:sp>
        <p:nvSpPr>
          <p:cNvPr id="7" name="Shape 5"/>
          <p:cNvSpPr/>
          <p:nvPr/>
        </p:nvSpPr>
        <p:spPr>
          <a:xfrm>
            <a:off x="829836" y="308610"/>
            <a:ext cx="137160" cy="571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8" name="Text 6"/>
          <p:cNvSpPr/>
          <p:nvPr/>
        </p:nvSpPr>
        <p:spPr>
          <a:xfrm>
            <a:off x="1047006" y="262890"/>
            <a:ext cx="137237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16" kern="0" dirty="0">
                <a:solidFill>
                  <a:srgbClr val="9CA3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CHAPTER TRANSITION</a:t>
            </a:r>
            <a:endParaRPr lang="en-US" sz="540" dirty="0"/>
          </a:p>
        </p:txBody>
      </p:sp>
      <p:sp>
        <p:nvSpPr>
          <p:cNvPr id="9" name="Shape 7"/>
          <p:cNvSpPr/>
          <p:nvPr/>
        </p:nvSpPr>
        <p:spPr>
          <a:xfrm>
            <a:off x="8307288" y="308610"/>
            <a:ext cx="68580" cy="571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0" name="Text 8"/>
          <p:cNvSpPr/>
          <p:nvPr/>
        </p:nvSpPr>
        <p:spPr>
          <a:xfrm>
            <a:off x="8455878" y="265748"/>
            <a:ext cx="39665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76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· 06</a:t>
            </a:r>
            <a:endParaRPr lang="en-US" sz="585" dirty="0"/>
          </a:p>
        </p:txBody>
      </p:sp>
      <p:sp>
        <p:nvSpPr>
          <p:cNvPr id="11" name="Shape 9"/>
          <p:cNvSpPr/>
          <p:nvPr/>
        </p:nvSpPr>
        <p:spPr>
          <a:xfrm>
            <a:off x="365760" y="834390"/>
            <a:ext cx="262890" cy="571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834390"/>
            <a:ext cx="195224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315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· INTERLUDE</a:t>
            </a:r>
            <a:endParaRPr lang="en-US" sz="630" dirty="0"/>
          </a:p>
        </p:txBody>
      </p:sp>
      <p:sp>
        <p:nvSpPr>
          <p:cNvPr id="13" name="Text 11"/>
          <p:cNvSpPr/>
          <p:nvPr/>
        </p:nvSpPr>
        <p:spPr>
          <a:xfrm>
            <a:off x="365760" y="1102995"/>
            <a:ext cx="4937760" cy="230421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080" spc="-202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02</a:t>
            </a:r>
            <a:endParaRPr lang="en-US" sz="10080" dirty="0"/>
          </a:p>
        </p:txBody>
      </p:sp>
      <p:sp>
        <p:nvSpPr>
          <p:cNvPr id="14" name="Text 12"/>
          <p:cNvSpPr/>
          <p:nvPr/>
        </p:nvSpPr>
        <p:spPr>
          <a:xfrm>
            <a:off x="365760" y="3544372"/>
            <a:ext cx="4096512" cy="3429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890" spc="529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第二部分</a:t>
            </a:r>
            <a:endParaRPr lang="en-US" sz="1890" dirty="0"/>
          </a:p>
        </p:txBody>
      </p:sp>
      <p:sp>
        <p:nvSpPr>
          <p:cNvPr id="15" name="Shape 13"/>
          <p:cNvSpPr/>
          <p:nvPr/>
        </p:nvSpPr>
        <p:spPr>
          <a:xfrm>
            <a:off x="365760" y="4081582"/>
            <a:ext cx="434340" cy="1714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247317"/>
            <a:ext cx="4096512" cy="2400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60" spc="6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从理论到实践:企业、社区与布道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365760" y="4590217"/>
            <a:ext cx="4096512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i="1" spc="122" kern="0" dirty="0">
                <a:solidFill>
                  <a:srgbClr val="24365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Theory to Practice · Enterprise, Community &amp; Evangelists</a:t>
            </a:r>
            <a:endParaRPr lang="en-US" sz="675" dirty="0"/>
          </a:p>
        </p:txBody>
      </p:sp>
      <p:sp>
        <p:nvSpPr>
          <p:cNvPr id="18" name="Shape 16"/>
          <p:cNvSpPr/>
          <p:nvPr/>
        </p:nvSpPr>
        <p:spPr>
          <a:xfrm>
            <a:off x="4480560" y="834390"/>
            <a:ext cx="4297680" cy="3858697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4480560" y="834390"/>
            <a:ext cx="0" cy="3858697"/>
          </a:xfrm>
          <a:prstGeom prst="lin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7735" y="868680"/>
            <a:ext cx="819602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265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549533" y="857250"/>
            <a:ext cx="677228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20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章 节 目 录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737735" y="1183005"/>
            <a:ext cx="4242530" cy="22418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2A2E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2A2E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章节导航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2A2E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把论文结论映射到当代开源生态的现实问题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2A2E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2A2E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讨论议题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2A2E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企业为何投人开源、社区如何设计声誉、布道者如何运用互惠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2A2E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2A2E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阅读输出</a:t>
            </a:r>
            <a:endParaRPr lang="en-US" sz="720" dirty="0"/>
          </a:p>
          <a:p>
            <a:pPr algn="l" marL="342900" indent="-342900">
              <a:buSzPct val="100000"/>
              <a:buChar char="•"/>
            </a:pPr>
            <a:r>
              <a:rPr lang="en-US" sz="720" dirty="0">
                <a:solidFill>
                  <a:srgbClr val="2A2E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把学术洞察转化为可执行的开源治理与传播策略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365760" y="4784527"/>
            <a:ext cx="8412480" cy="350847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365760" y="4784527"/>
            <a:ext cx="8412480" cy="0"/>
          </a:xfrm>
          <a:prstGeom prst="line">
            <a:avLst/>
          </a:prstGeom>
          <a:noFill/>
          <a:ln w="5715">
            <a:solidFill>
              <a:srgbClr val="D6D0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15972"/>
            <a:ext cx="524637" cy="219402"/>
          </a:xfrm>
          <a:prstGeom prst="rect">
            <a:avLst/>
          </a:prstGeom>
          <a:noFill/>
          <a:ln/>
        </p:spPr>
        <p:txBody>
          <a:bodyPr wrap="none" lIns="34290" tIns="0" rIns="0" bIns="0" rtlCol="0" anchor="ctr"/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243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430" dirty="0"/>
          </a:p>
        </p:txBody>
      </p:sp>
      <p:sp>
        <p:nvSpPr>
          <p:cNvPr id="26" name="Text 24"/>
          <p:cNvSpPr/>
          <p:nvPr/>
        </p:nvSpPr>
        <p:spPr>
          <a:xfrm>
            <a:off x="662940" y="4947940"/>
            <a:ext cx="8218227" cy="15537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720" i="1" spc="22" kern="0" dirty="0">
                <a:solidFill>
                  <a:srgbClr val="24365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读完理论后,适兕要带大家把视角拉回当下:2023 年的中国开源生态已经与 2000 年的美国完全不同,但互惠机制依然是底层原理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8172093" y="4979908"/>
            <a:ext cx="68044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05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Ⅱ · 06 / 12</a:t>
            </a:r>
            <a:endParaRPr lang="en-US" sz="5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251460"/>
            <a:ext cx="8458200" cy="85153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342900" y="1102995"/>
            <a:ext cx="8458200" cy="0"/>
          </a:xfrm>
          <a:prstGeom prst="lin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" y="251460"/>
            <a:ext cx="691286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58" kern="0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SOURCE STRATEGY · 互惠循环 · MUTUAL BENEFIT</a:t>
            </a:r>
            <a:endParaRPr lang="en-US" sz="495" dirty="0"/>
          </a:p>
        </p:txBody>
      </p:sp>
      <p:sp>
        <p:nvSpPr>
          <p:cNvPr id="5" name="Text 3"/>
          <p:cNvSpPr/>
          <p:nvPr/>
        </p:nvSpPr>
        <p:spPr>
          <a:xfrm>
            <a:off x="342900" y="388620"/>
            <a:ext cx="6912864" cy="2800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530" b="1" spc="31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企业参与开源的互惠动因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342900" y="725805"/>
            <a:ext cx="6912864" cy="28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4A556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企业投入开源并不仅是为自家产品。更普遍的动因是互惠——帮助社区、建立声誉、吸引工程师、反向受益，构成一条长期、非现金、非契约的循环。理解这条链条，方能设计合理的开源战略，而非把它简化成市场公关。</a:t>
            </a:r>
            <a:endParaRPr lang="en-US" sz="630" dirty="0"/>
          </a:p>
        </p:txBody>
      </p:sp>
      <p:sp>
        <p:nvSpPr>
          <p:cNvPr id="7" name="Shape 5"/>
          <p:cNvSpPr/>
          <p:nvPr/>
        </p:nvSpPr>
        <p:spPr>
          <a:xfrm>
            <a:off x="7658100" y="702945"/>
            <a:ext cx="1143000" cy="302895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7658100" y="702945"/>
            <a:ext cx="0" cy="302895"/>
          </a:xfrm>
          <a:prstGeom prst="line">
            <a:avLst/>
          </a:prstGeom>
          <a:noFill/>
          <a:ln w="5715">
            <a:solidFill>
              <a:srgbClr val="D8D2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46695" y="702945"/>
            <a:ext cx="1160145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7846695" y="942975"/>
            <a:ext cx="1068934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50" spc="99" kern="0" dirty="0">
                <a:solidFill>
                  <a:srgbClr val="7A81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MOTIVATIONS</a:t>
            </a:r>
            <a:endParaRPr lang="en-US" sz="450" dirty="0"/>
          </a:p>
        </p:txBody>
      </p:sp>
      <p:sp>
        <p:nvSpPr>
          <p:cNvPr id="11" name="Shape 9"/>
          <p:cNvSpPr/>
          <p:nvPr/>
        </p:nvSpPr>
        <p:spPr>
          <a:xfrm>
            <a:off x="342900" y="1194435"/>
            <a:ext cx="8458200" cy="448628"/>
          </a:xfrm>
          <a:prstGeom prst="roundRect">
            <a:avLst>
              <a:gd name="adj" fmla="val 2548"/>
            </a:avLst>
          </a:prstGeom>
          <a:solidFill>
            <a:srgbClr val="FBF8F2"/>
          </a:solidFill>
          <a:ln w="5715">
            <a:solidFill>
              <a:srgbClr val="D8D2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915" y="1338739"/>
            <a:ext cx="60579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pPr algn="l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4A556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类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1000125" y="1306592"/>
            <a:ext cx="2291486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08" spc="12" kern="0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常见动因分类</a:t>
            </a:r>
            <a:endParaRPr lang="en-US" sz="608" dirty="0"/>
          </a:p>
        </p:txBody>
      </p:sp>
      <p:sp>
        <p:nvSpPr>
          <p:cNvPr id="14" name="Text 12"/>
          <p:cNvSpPr/>
          <p:nvPr/>
        </p:nvSpPr>
        <p:spPr>
          <a:xfrm>
            <a:off x="1000125" y="1432322"/>
            <a:ext cx="2291486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7A81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人才吸引 / 标准影响 / 问题回流 / 社区关系 / 声誉</a:t>
            </a:r>
            <a:endParaRPr lang="en-US" sz="518" dirty="0"/>
          </a:p>
        </p:txBody>
      </p:sp>
      <p:sp>
        <p:nvSpPr>
          <p:cNvPr id="15" name="Shape 13"/>
          <p:cNvSpPr/>
          <p:nvPr/>
        </p:nvSpPr>
        <p:spPr>
          <a:xfrm>
            <a:off x="3160395" y="1200150"/>
            <a:ext cx="2817495" cy="437198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3160395" y="1200150"/>
            <a:ext cx="0" cy="437198"/>
          </a:xfrm>
          <a:prstGeom prst="line">
            <a:avLst/>
          </a:prstGeom>
          <a:noFill/>
          <a:ln w="5715">
            <a:solidFill>
              <a:srgbClr val="D8D2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0410" y="1338739"/>
            <a:ext cx="60579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≠0</a:t>
            </a:r>
            <a:pPr algn="l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4A556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显著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3817620" y="1306592"/>
            <a:ext cx="2291486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08" spc="12" kern="0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短期 ROI 常不显著</a:t>
            </a:r>
            <a:endParaRPr lang="en-US" sz="608" dirty="0"/>
          </a:p>
        </p:txBody>
      </p:sp>
      <p:sp>
        <p:nvSpPr>
          <p:cNvPr id="19" name="Text 17"/>
          <p:cNvSpPr/>
          <p:nvPr/>
        </p:nvSpPr>
        <p:spPr>
          <a:xfrm>
            <a:off x="3817620" y="1432322"/>
            <a:ext cx="2291486" cy="985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7A81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企业常低估长期价值，误判开源投入的财务回报周期</a:t>
            </a:r>
            <a:endParaRPr lang="en-US" sz="518" dirty="0"/>
          </a:p>
        </p:txBody>
      </p:sp>
      <p:sp>
        <p:nvSpPr>
          <p:cNvPr id="20" name="Shape 18"/>
          <p:cNvSpPr/>
          <p:nvPr/>
        </p:nvSpPr>
        <p:spPr>
          <a:xfrm>
            <a:off x="5977890" y="1200150"/>
            <a:ext cx="2817495" cy="437198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5977890" y="1200150"/>
            <a:ext cx="0" cy="437198"/>
          </a:xfrm>
          <a:prstGeom prst="line">
            <a:avLst/>
          </a:prstGeom>
          <a:noFill/>
          <a:ln w="5715">
            <a:solidFill>
              <a:srgbClr val="D8D2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7905" y="1338739"/>
            <a:ext cx="1068526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B08D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Apache</a:t>
            </a:r>
            <a:pPr algn="l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4A556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委员会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7097851" y="1257300"/>
            <a:ext cx="1773222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08" spc="12" kern="0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代表案例</a:t>
            </a:r>
            <a:endParaRPr lang="en-US" sz="608" dirty="0"/>
          </a:p>
        </p:txBody>
      </p:sp>
      <p:sp>
        <p:nvSpPr>
          <p:cNvPr id="24" name="Text 22"/>
          <p:cNvSpPr/>
          <p:nvPr/>
        </p:nvSpPr>
        <p:spPr>
          <a:xfrm>
            <a:off x="7097851" y="1383030"/>
            <a:ext cx="1773222" cy="19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7A81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Apache Software Foundation — 多家公司工程师联合的贡献机制</a:t>
            </a:r>
            <a:endParaRPr lang="en-US" sz="518" dirty="0"/>
          </a:p>
        </p:txBody>
      </p:sp>
      <p:sp>
        <p:nvSpPr>
          <p:cNvPr id="25" name="Shape 23"/>
          <p:cNvSpPr/>
          <p:nvPr/>
        </p:nvSpPr>
        <p:spPr>
          <a:xfrm>
            <a:off x="342900" y="1734503"/>
            <a:ext cx="4194810" cy="801529"/>
          </a:xfrm>
          <a:prstGeom prst="rect">
            <a:avLst/>
          </a:prstGeom>
          <a:solidFill>
            <a:srgbClr val="FFFFFF"/>
          </a:solidFill>
          <a:ln w="5715">
            <a:solidFill>
              <a:srgbClr val="D8D2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" y="1734503"/>
            <a:ext cx="17145" cy="26289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7" name="Shape 25"/>
          <p:cNvSpPr/>
          <p:nvPr/>
        </p:nvSpPr>
        <p:spPr>
          <a:xfrm>
            <a:off x="474345" y="1843088"/>
            <a:ext cx="285750" cy="285750"/>
          </a:xfrm>
          <a:prstGeom prst="ellipse">
            <a:avLst/>
          </a:prstGeom>
          <a:solidFill>
            <a:srgbClr val="FBF8F2"/>
          </a:solidFill>
          <a:ln w="5715">
            <a:solidFill>
              <a:srgbClr val="0D21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345" y="1843088"/>
            <a:ext cx="411480" cy="2857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❦</a:t>
            </a:r>
            <a:endParaRPr lang="en-US" sz="990" dirty="0"/>
          </a:p>
        </p:txBody>
      </p:sp>
      <p:sp>
        <p:nvSpPr>
          <p:cNvPr id="29" name="Shape 27"/>
          <p:cNvSpPr/>
          <p:nvPr/>
        </p:nvSpPr>
        <p:spPr>
          <a:xfrm>
            <a:off x="862965" y="1843088"/>
            <a:ext cx="3543300" cy="188595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862965" y="2031682"/>
            <a:ext cx="3543300" cy="0"/>
          </a:xfrm>
          <a:prstGeom prst="line">
            <a:avLst/>
          </a:prstGeom>
          <a:noFill/>
          <a:ln w="5715">
            <a:solidFill>
              <a:srgbClr val="D8D2C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2965" y="1883093"/>
            <a:ext cx="15010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i="1" spc="12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Ⅰ</a:t>
            </a:r>
            <a:endParaRPr lang="en-US" sz="585" dirty="0"/>
          </a:p>
        </p:txBody>
      </p:sp>
      <p:sp>
        <p:nvSpPr>
          <p:cNvPr id="32" name="Text 30"/>
          <p:cNvSpPr/>
          <p:nvPr/>
        </p:nvSpPr>
        <p:spPr>
          <a:xfrm>
            <a:off x="995928" y="1843088"/>
            <a:ext cx="551676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17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人才吸引</a:t>
            </a:r>
            <a:endParaRPr lang="en-US" sz="855" dirty="0"/>
          </a:p>
        </p:txBody>
      </p:sp>
      <p:sp>
        <p:nvSpPr>
          <p:cNvPr id="33" name="Text 31"/>
          <p:cNvSpPr/>
          <p:nvPr/>
        </p:nvSpPr>
        <p:spPr>
          <a:xfrm>
            <a:off x="4159359" y="1900238"/>
            <a:ext cx="30691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76" kern="0" dirty="0">
                <a:solidFill>
                  <a:srgbClr val="7A81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左上 · Ⅰ</a:t>
            </a:r>
            <a:endParaRPr lang="en-US" sz="473" dirty="0"/>
          </a:p>
        </p:txBody>
      </p:sp>
      <p:sp>
        <p:nvSpPr>
          <p:cNvPr id="34" name="Text 32"/>
          <p:cNvSpPr/>
          <p:nvPr/>
        </p:nvSpPr>
        <p:spPr>
          <a:xfrm>
            <a:off x="862965" y="2054543"/>
            <a:ext cx="3968496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i="1" spc="57" kern="0" dirty="0">
                <a:solidFill>
                  <a:srgbClr val="7A819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Talent Attraction</a:t>
            </a:r>
            <a:endParaRPr lang="en-US" sz="473" dirty="0"/>
          </a:p>
        </p:txBody>
      </p:sp>
      <p:sp>
        <p:nvSpPr>
          <p:cNvPr id="35" name="Text 33"/>
          <p:cNvSpPr/>
          <p:nvPr/>
        </p:nvSpPr>
        <p:spPr>
          <a:xfrm>
            <a:off x="862965" y="2157413"/>
            <a:ext cx="3968496" cy="270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4A556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参与关键开源项目成为高端工程师的简历加分项；雇主借此获得人才红利，形成"贡献—声誉—招募"的正向循环。</a:t>
            </a:r>
            <a:endParaRPr lang="en-US" sz="608" dirty="0"/>
          </a:p>
        </p:txBody>
      </p:sp>
      <p:sp>
        <p:nvSpPr>
          <p:cNvPr id="36" name="Shape 34"/>
          <p:cNvSpPr/>
          <p:nvPr/>
        </p:nvSpPr>
        <p:spPr>
          <a:xfrm>
            <a:off x="4606290" y="1734503"/>
            <a:ext cx="4194810" cy="801529"/>
          </a:xfrm>
          <a:prstGeom prst="rect">
            <a:avLst/>
          </a:prstGeom>
          <a:solidFill>
            <a:srgbClr val="FFFFFF"/>
          </a:solidFill>
          <a:ln w="5715">
            <a:solidFill>
              <a:srgbClr val="D8D2C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06290" y="1734503"/>
            <a:ext cx="17145" cy="26289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8" name="Shape 36"/>
          <p:cNvSpPr/>
          <p:nvPr/>
        </p:nvSpPr>
        <p:spPr>
          <a:xfrm>
            <a:off x="4737735" y="1843088"/>
            <a:ext cx="285750" cy="285750"/>
          </a:xfrm>
          <a:prstGeom prst="ellipse">
            <a:avLst/>
          </a:prstGeom>
          <a:solidFill>
            <a:srgbClr val="FBF8F2"/>
          </a:solidFill>
          <a:ln w="5715">
            <a:solidFill>
              <a:srgbClr val="0D21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7735" y="1843088"/>
            <a:ext cx="411480" cy="2857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⚖</a:t>
            </a:r>
            <a:endParaRPr lang="en-US" sz="990" dirty="0"/>
          </a:p>
        </p:txBody>
      </p:sp>
      <p:sp>
        <p:nvSpPr>
          <p:cNvPr id="40" name="Shape 38"/>
          <p:cNvSpPr/>
          <p:nvPr/>
        </p:nvSpPr>
        <p:spPr>
          <a:xfrm>
            <a:off x="5126355" y="1843088"/>
            <a:ext cx="3543300" cy="188595"/>
          </a:xfrm>
          <a:prstGeom prst="rect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5126355" y="2031682"/>
            <a:ext cx="3543300" cy="0"/>
          </a:xfrm>
          <a:prstGeom prst="line">
            <a:avLst/>
          </a:prstGeom>
          <a:noFill/>
          <a:ln w="5715">
            <a:solidFill>
              <a:srgbClr val="D8D2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6355" y="1843088"/>
            <a:ext cx="3968496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5" i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Ⅱ</a:t>
            </a:r>
            <a:endParaRPr lang="en-US" sz="720" dirty="0"/>
          </a:p>
          <a:p>
            <a:pPr algn="l" indent="0" marL="0">
              <a:buNone/>
            </a:pPr>
            <a:r>
              <a:rPr lang="en-US" sz="855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标准影响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0D21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deus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00050" cy="5715"/>
          </a:xfrm>
          <a:prstGeom prst="rect">
            <a:avLst/>
          </a:prstGeom>
          <a:solidFill>
            <a:srgbClr val="B08D57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86750" y="4680585"/>
            <a:ext cx="400050" cy="5715"/>
          </a:xfrm>
          <a:prstGeom prst="rect">
            <a:avLst/>
          </a:prstGeom>
          <a:solidFill>
            <a:srgbClr val="B08D57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85750"/>
            <a:ext cx="8229600" cy="634365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57200" y="920115"/>
            <a:ext cx="8229600" cy="0"/>
          </a:xfrm>
          <a:prstGeom prst="line">
            <a:avLst/>
          </a:prstGeom>
          <a:noFill/>
          <a:ln w="5715">
            <a:solidFill>
              <a:srgbClr val="E8E1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31470"/>
            <a:ext cx="28575" cy="45720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7" name="Text 5"/>
          <p:cNvSpPr/>
          <p:nvPr/>
        </p:nvSpPr>
        <p:spPr>
          <a:xfrm>
            <a:off x="611505" y="251460"/>
            <a:ext cx="2560320" cy="3143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10" b="1" spc="90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对中国开源生态的启示</a:t>
            </a:r>
            <a:endParaRPr lang="en-US" sz="1710" dirty="0"/>
          </a:p>
        </p:txBody>
      </p:sp>
      <p:sp>
        <p:nvSpPr>
          <p:cNvPr id="8" name="Text 6"/>
          <p:cNvSpPr/>
          <p:nvPr/>
        </p:nvSpPr>
        <p:spPr>
          <a:xfrm>
            <a:off x="611505" y="586859"/>
            <a:ext cx="3674059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7A7D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中国开源起步较晚，但互惠机制具有普适性——缺的不是动机，而是把互惠显性化的制度设计</a:t>
            </a:r>
            <a:endParaRPr lang="en-US" sz="630" dirty="0"/>
          </a:p>
        </p:txBody>
      </p:sp>
      <p:sp>
        <p:nvSpPr>
          <p:cNvPr id="9" name="Text 7"/>
          <p:cNvSpPr/>
          <p:nvPr/>
        </p:nvSpPr>
        <p:spPr>
          <a:xfrm>
            <a:off x="7989570" y="440055"/>
            <a:ext cx="78089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spc="180" kern="0" dirty="0">
                <a:solidFill>
                  <a:srgbClr val="B08D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IMPLICATIONS</a:t>
            </a:r>
            <a:endParaRPr lang="en-US" sz="495" dirty="0"/>
          </a:p>
        </p:txBody>
      </p:sp>
      <p:sp>
        <p:nvSpPr>
          <p:cNvPr id="10" name="Text 8"/>
          <p:cNvSpPr/>
          <p:nvPr/>
        </p:nvSpPr>
        <p:spPr>
          <a:xfrm>
            <a:off x="8503920" y="554355"/>
            <a:ext cx="356616" cy="2114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1170" b="1" spc="45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457200" y="1034415"/>
            <a:ext cx="8229600" cy="308610"/>
          </a:xfrm>
          <a:prstGeom prst="rect">
            <a:avLst/>
          </a:prstGeom>
          <a:solidFill>
            <a:srgbClr val="FBF7E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034415"/>
            <a:ext cx="8229600" cy="0"/>
          </a:xfrm>
          <a:prstGeom prst="line">
            <a:avLst/>
          </a:prstGeom>
          <a:noFill/>
          <a:ln w="5715">
            <a:solidFill>
              <a:srgbClr val="E8E1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343025"/>
            <a:ext cx="8229600" cy="0"/>
          </a:xfrm>
          <a:prstGeom prst="line">
            <a:avLst/>
          </a:prstGeom>
          <a:noFill/>
          <a:ln w="5715">
            <a:solidFill>
              <a:srgbClr val="E8E1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034415"/>
            <a:ext cx="0" cy="308610"/>
          </a:xfrm>
          <a:prstGeom prst="line">
            <a:avLst/>
          </a:prstGeom>
          <a:noFill/>
          <a:ln w="17145">
            <a:solidFill>
              <a:srgbClr val="B08D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75" y="1125855"/>
            <a:ext cx="5354269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spc="2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开源之道社区持续倡导的方向，是建立</a:t>
            </a:r>
            <a:pPr algn="l" indent="0" marL="0">
              <a:lnSpc>
                <a:spcPct val="160000"/>
              </a:lnSpc>
              <a:buNone/>
            </a:pPr>
            <a:r>
              <a:rPr lang="en-US" sz="675" b="1" spc="23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清晰的贡献记录</a:t>
            </a:r>
            <a:pPr algn="l" indent="0" marL="0">
              <a:lnSpc>
                <a:spcPct val="160000"/>
              </a:lnSpc>
              <a:buNone/>
            </a:pPr>
            <a:r>
              <a:rPr lang="en-US" sz="675" spc="2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pPr algn="l" indent="0" marL="0">
              <a:lnSpc>
                <a:spcPct val="160000"/>
              </a:lnSpc>
              <a:buNone/>
            </a:pPr>
            <a:r>
              <a:rPr lang="en-US" sz="675" b="1" spc="23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可查的声誉</a:t>
            </a:r>
            <a:pPr algn="l" indent="0" marL="0">
              <a:lnSpc>
                <a:spcPct val="160000"/>
              </a:lnSpc>
              <a:buNone/>
            </a:pPr>
            <a:r>
              <a:rPr lang="en-US" sz="675" spc="2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与</a:t>
            </a:r>
            <a:pPr algn="l" indent="0" marL="0">
              <a:lnSpc>
                <a:spcPct val="160000"/>
              </a:lnSpc>
              <a:buNone/>
            </a:pPr>
            <a:r>
              <a:rPr lang="en-US" sz="675" b="1" spc="23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可继承的规范</a:t>
            </a:r>
            <a:pPr algn="l" indent="0" marL="0">
              <a:lnSpc>
                <a:spcPct val="160000"/>
              </a:lnSpc>
              <a:buNone/>
            </a:pPr>
            <a:r>
              <a:rPr lang="en-US" sz="675" spc="23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——让贡献者看见、被看见、被传承。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457200" y="1445895"/>
            <a:ext cx="3943350" cy="445770"/>
          </a:xfrm>
          <a:prstGeom prst="rect">
            <a:avLst/>
          </a:prstGeom>
          <a:solidFill>
            <a:srgbClr val="FFFDF8"/>
          </a:solidFill>
          <a:ln w="17145">
            <a:solidFill>
              <a:srgbClr val="B08D57"/>
            </a:solidFill>
            <a:prstDash val="solid"/>
          </a:ln>
          <a:effectLst>
            <a:outerShdw sx="100000" sy="100000" kx="0" ky="0" algn="bl" rotWithShape="0" blurRad="19050" dist="9525" dir="16200000">
              <a:srgbClr val="0D2137">
                <a:alpha val="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5785" y="1543050"/>
            <a:ext cx="251460" cy="251460"/>
          </a:xfrm>
          <a:prstGeom prst="ellipse">
            <a:avLst/>
          </a:prstGeom>
          <a:solidFill>
            <a:srgbClr val="B08D57"/>
          </a:solidFill>
          <a:ln/>
          <a:effectLst>
            <a:outerShdw sx="100000" sy="100000" kx="0" ky="0" algn="bl" rotWithShape="0" blurRad="38100" dist="9525" dir="16200000">
              <a:srgbClr val="B08D57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4365" y="1591628"/>
            <a:ext cx="260604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dirty="0">
                <a:solidFill>
                  <a:srgbClr val="FFFDF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874395" y="1543943"/>
            <a:ext cx="480060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20" b="1" spc="45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声誉体系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874395" y="1676460"/>
            <a:ext cx="216347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dirty="0">
                <a:solidFill>
                  <a:srgbClr val="4A53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建立可查的贡献记录与开源奖项，让隐性互惠变成显性凭证</a:t>
            </a:r>
            <a:endParaRPr lang="en-US" sz="563" dirty="0"/>
          </a:p>
        </p:txBody>
      </p:sp>
      <p:sp>
        <p:nvSpPr>
          <p:cNvPr id="21" name="Shape 19"/>
          <p:cNvSpPr/>
          <p:nvPr/>
        </p:nvSpPr>
        <p:spPr>
          <a:xfrm>
            <a:off x="4569143" y="1445895"/>
            <a:ext cx="5715" cy="24688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B08D57"/>
              </a:gs>
              <a:gs pos="80000">
                <a:srgbClr val="B08D57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22" name="Shape 20"/>
          <p:cNvSpPr/>
          <p:nvPr/>
        </p:nvSpPr>
        <p:spPr>
          <a:xfrm>
            <a:off x="4540568" y="3949065"/>
            <a:ext cx="62865" cy="6858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4540568" y="3949065"/>
            <a:ext cx="62865" cy="0"/>
          </a:xfrm>
          <a:prstGeom prst="line">
            <a:avLst/>
          </a:prstGeom>
          <a:noFill/>
          <a:ln w="3429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0568" y="4017645"/>
            <a:ext cx="62865" cy="0"/>
          </a:xfrm>
          <a:prstGeom prst="line">
            <a:avLst/>
          </a:prstGeom>
          <a:noFill/>
          <a:ln w="3429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0568" y="3949065"/>
            <a:ext cx="0" cy="68580"/>
          </a:xfrm>
          <a:prstGeom prst="line">
            <a:avLst/>
          </a:prstGeom>
          <a:noFill/>
          <a:ln w="62865">
            <a:solidFill>
              <a:srgbClr val="B08D5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43450" y="1445895"/>
            <a:ext cx="3943350" cy="2548890"/>
          </a:xfrm>
          <a:prstGeom prst="rect">
            <a:avLst/>
          </a:prstGeom>
          <a:gradFill rotWithShape="1">
            <a:gsLst>
              <a:gs pos="0">
                <a:srgbClr val="FFFDF8">
                  <a:alpha val="70000"/>
                </a:srgbClr>
              </a:gs>
              <a:gs pos="100000">
                <a:srgbClr val="E8E1D0">
                  <a:alpha val="40000"/>
                </a:srgbClr>
              </a:gs>
            </a:gsLst>
            <a:lin ang="2700000" scaled="0"/>
          </a:gradFill>
          <a:ln w="17145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6325" y="1423035"/>
            <a:ext cx="64008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40000"/>
              </a:lnSpc>
              <a:buNone/>
            </a:pPr>
            <a:r>
              <a:rPr lang="en-US" sz="252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</a:t>
            </a:r>
            <a:endParaRPr lang="en-US" sz="2520" dirty="0"/>
          </a:p>
        </p:txBody>
      </p:sp>
      <p:sp>
        <p:nvSpPr>
          <p:cNvPr id="28" name="Text 26"/>
          <p:cNvSpPr/>
          <p:nvPr/>
        </p:nvSpPr>
        <p:spPr>
          <a:xfrm>
            <a:off x="4886325" y="1802457"/>
            <a:ext cx="263913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i="1" spc="14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互惠的可持续性，取决于机制设计的成熟度，而非参与者的道德自觉。</a:t>
            </a:r>
            <a:endParaRPr lang="en-US" sz="608" dirty="0"/>
          </a:p>
        </p:txBody>
      </p:sp>
      <p:sp>
        <p:nvSpPr>
          <p:cNvPr id="29" name="Shape 27"/>
          <p:cNvSpPr/>
          <p:nvPr/>
        </p:nvSpPr>
        <p:spPr>
          <a:xfrm>
            <a:off x="4886325" y="2709803"/>
            <a:ext cx="251460" cy="122247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0" name="Text 28"/>
          <p:cNvSpPr/>
          <p:nvPr/>
        </p:nvSpPr>
        <p:spPr>
          <a:xfrm>
            <a:off x="4943475" y="2721233"/>
            <a:ext cx="20002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spc="45" kern="0" dirty="0">
                <a:solidFill>
                  <a:srgbClr val="FFFDF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学术</a:t>
            </a:r>
            <a:endParaRPr lang="en-US" sz="495" dirty="0"/>
          </a:p>
        </p:txBody>
      </p:sp>
      <p:sp>
        <p:nvSpPr>
          <p:cNvPr id="31" name="Text 29"/>
          <p:cNvSpPr/>
          <p:nvPr/>
        </p:nvSpPr>
        <p:spPr>
          <a:xfrm>
            <a:off x="5206365" y="2722930"/>
            <a:ext cx="1152144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40" dirty="0">
                <a:solidFill>
                  <a:srgbClr val="4A53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基于开源社区机制研究的理论推演</a:t>
            </a:r>
            <a:endParaRPr lang="en-US" sz="540" dirty="0"/>
          </a:p>
        </p:txBody>
      </p:sp>
      <p:sp>
        <p:nvSpPr>
          <p:cNvPr id="32" name="Shape 30"/>
          <p:cNvSpPr/>
          <p:nvPr/>
        </p:nvSpPr>
        <p:spPr>
          <a:xfrm>
            <a:off x="4886325" y="2877770"/>
            <a:ext cx="251460" cy="122247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3" name="Text 31"/>
          <p:cNvSpPr/>
          <p:nvPr/>
        </p:nvSpPr>
        <p:spPr>
          <a:xfrm>
            <a:off x="4943475" y="2889200"/>
            <a:ext cx="20002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spc="45" kern="0" dirty="0">
                <a:solidFill>
                  <a:srgbClr val="FFFDF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参照</a:t>
            </a:r>
            <a:endParaRPr lang="en-US" sz="495" dirty="0"/>
          </a:p>
        </p:txBody>
      </p:sp>
      <p:sp>
        <p:nvSpPr>
          <p:cNvPr id="34" name="Text 32"/>
          <p:cNvSpPr/>
          <p:nvPr/>
        </p:nvSpPr>
        <p:spPr>
          <a:xfrm>
            <a:off x="5206365" y="2890897"/>
            <a:ext cx="1440180" cy="9599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40" dirty="0">
                <a:solidFill>
                  <a:srgbClr val="4A53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开源之道（OSWA）与 Apache 基金会实践</a:t>
            </a:r>
            <a:endParaRPr lang="en-US" sz="540" dirty="0"/>
          </a:p>
        </p:txBody>
      </p:sp>
      <p:sp>
        <p:nvSpPr>
          <p:cNvPr id="35" name="Shape 33"/>
          <p:cNvSpPr/>
          <p:nvPr/>
        </p:nvSpPr>
        <p:spPr>
          <a:xfrm>
            <a:off x="4886325" y="3690461"/>
            <a:ext cx="3657600" cy="172879"/>
          </a:xfrm>
          <a:prstGeom prst="rect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4886325" y="3690461"/>
            <a:ext cx="3657600" cy="0"/>
          </a:xfrm>
          <a:prstGeom prst="line">
            <a:avLst/>
          </a:prstGeom>
          <a:noFill/>
          <a:ln w="5715">
            <a:solidFill>
              <a:srgbClr val="E8E1D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886325" y="3764756"/>
            <a:ext cx="232029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spc="23" kern="0" dirty="0">
                <a:solidFill>
                  <a:srgbClr val="7A7D8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本页内容以制度设计为主线，兼顾社区、企业与高校的三方角色。</a:t>
            </a:r>
            <a:endParaRPr lang="en-US" sz="518" dirty="0"/>
          </a:p>
        </p:txBody>
      </p:sp>
      <p:sp>
        <p:nvSpPr>
          <p:cNvPr id="38" name="Shape 36"/>
          <p:cNvSpPr/>
          <p:nvPr/>
        </p:nvSpPr>
        <p:spPr>
          <a:xfrm>
            <a:off x="457200" y="1971675"/>
            <a:ext cx="3943350" cy="445770"/>
          </a:xfrm>
          <a:prstGeom prst="rect">
            <a:avLst/>
          </a:prstGeom>
          <a:solidFill>
            <a:srgbClr val="FFFDF8"/>
          </a:solidFill>
          <a:ln w="17145">
            <a:solidFill>
              <a:srgbClr val="B08D57"/>
            </a:solidFill>
            <a:prstDash val="solid"/>
          </a:ln>
          <a:effectLst>
            <a:outerShdw sx="100000" sy="100000" kx="0" ky="0" algn="bl" rotWithShape="0" blurRad="19050" dist="9525" dir="16200000">
              <a:srgbClr val="0D2137">
                <a:alpha val="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5785" y="2068830"/>
            <a:ext cx="251460" cy="251460"/>
          </a:xfrm>
          <a:prstGeom prst="ellipse">
            <a:avLst/>
          </a:prstGeom>
          <a:solidFill>
            <a:srgbClr val="B08D57"/>
          </a:solidFill>
          <a:ln/>
          <a:effectLst>
            <a:outerShdw sx="100000" sy="100000" kx="0" ky="0" algn="bl" rotWithShape="0" blurRad="38100" dist="9525" dir="16200000">
              <a:srgbClr val="B08D57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8650" y="2117408"/>
            <a:ext cx="260604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dirty="0">
                <a:solidFill>
                  <a:srgbClr val="FFFDF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855" dirty="0"/>
          </a:p>
        </p:txBody>
      </p:sp>
      <p:sp>
        <p:nvSpPr>
          <p:cNvPr id="41" name="Text 39"/>
          <p:cNvSpPr/>
          <p:nvPr/>
        </p:nvSpPr>
        <p:spPr>
          <a:xfrm>
            <a:off x="874395" y="2069723"/>
            <a:ext cx="480060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20" b="1" spc="45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本土规范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874395" y="2202240"/>
            <a:ext cx="216347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dirty="0">
                <a:solidFill>
                  <a:srgbClr val="4A53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推动中文社区形成明确行为准则，降低新人的互惠学习成本</a:t>
            </a:r>
            <a:endParaRPr lang="en-US" sz="563" dirty="0"/>
          </a:p>
        </p:txBody>
      </p:sp>
      <p:sp>
        <p:nvSpPr>
          <p:cNvPr id="43" name="Shape 41"/>
          <p:cNvSpPr/>
          <p:nvPr/>
        </p:nvSpPr>
        <p:spPr>
          <a:xfrm>
            <a:off x="457200" y="2497455"/>
            <a:ext cx="3943350" cy="445770"/>
          </a:xfrm>
          <a:prstGeom prst="rect">
            <a:avLst/>
          </a:prstGeom>
          <a:solidFill>
            <a:srgbClr val="FFFDF8"/>
          </a:solidFill>
          <a:ln w="17145">
            <a:solidFill>
              <a:srgbClr val="B08D57"/>
            </a:solidFill>
            <a:prstDash val="solid"/>
          </a:ln>
          <a:effectLst>
            <a:outerShdw sx="100000" sy="100000" kx="0" ky="0" algn="bl" rotWithShape="0" blurRad="19050" dist="9525" dir="16200000">
              <a:srgbClr val="0D2137">
                <a:alpha val="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65785" y="2594610"/>
            <a:ext cx="251460" cy="251460"/>
          </a:xfrm>
          <a:prstGeom prst="ellipse">
            <a:avLst/>
          </a:prstGeom>
          <a:solidFill>
            <a:srgbClr val="B08D57"/>
          </a:solidFill>
          <a:ln/>
          <a:effectLst>
            <a:outerShdw sx="100000" sy="100000" kx="0" ky="0" algn="bl" rotWithShape="0" blurRad="38100" dist="9525" dir="16200000">
              <a:srgbClr val="B08D57">
                <a:alpha val="4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28650" y="2643188"/>
            <a:ext cx="260604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dirty="0">
                <a:solidFill>
                  <a:srgbClr val="FFFDF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855" dirty="0"/>
          </a:p>
        </p:txBody>
      </p:sp>
      <p:sp>
        <p:nvSpPr>
          <p:cNvPr id="46" name="Text 44"/>
          <p:cNvSpPr/>
          <p:nvPr/>
        </p:nvSpPr>
        <p:spPr>
          <a:xfrm>
            <a:off x="874395" y="2595503"/>
            <a:ext cx="480060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20" b="1" spc="45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企业开放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874395" y="2728020"/>
            <a:ext cx="1913839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dirty="0">
                <a:solidFill>
                  <a:srgbClr val="4A53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鼓励企业把内部贡献者的开源成果作为绩效考核维度</a:t>
            </a:r>
            <a:endParaRPr lang="en-US" sz="563" dirty="0"/>
          </a:p>
        </p:txBody>
      </p:sp>
      <p:sp>
        <p:nvSpPr>
          <p:cNvPr id="48" name="Shape 46"/>
          <p:cNvSpPr/>
          <p:nvPr/>
        </p:nvSpPr>
        <p:spPr>
          <a:xfrm>
            <a:off x="457200" y="3023235"/>
            <a:ext cx="3943350" cy="445770"/>
          </a:xfrm>
          <a:prstGeom prst="rect">
            <a:avLst/>
          </a:prstGeom>
          <a:solidFill>
            <a:srgbClr val="FFFDF8"/>
          </a:solidFill>
          <a:ln w="17145">
            <a:solidFill>
              <a:srgbClr val="B08D57"/>
            </a:solidFill>
            <a:prstDash val="solid"/>
          </a:ln>
          <a:effectLst>
            <a:outerShdw sx="100000" sy="100000" kx="0" ky="0" algn="bl" rotWithShape="0" blurRad="19050" dist="9525" dir="16200000">
              <a:srgbClr val="0D2137">
                <a:alpha val="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65785" y="3120390"/>
            <a:ext cx="251460" cy="251460"/>
          </a:xfrm>
          <a:prstGeom prst="ellipse">
            <a:avLst/>
          </a:prstGeom>
          <a:solidFill>
            <a:srgbClr val="B08D57"/>
          </a:solidFill>
          <a:ln/>
          <a:effectLst>
            <a:outerShdw sx="100000" sy="100000" kx="0" ky="0" algn="bl" rotWithShape="0" blurRad="38100" dist="9525" dir="16200000">
              <a:srgbClr val="B08D57">
                <a:alpha val="4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28650" y="3168968"/>
            <a:ext cx="260604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dirty="0">
                <a:solidFill>
                  <a:srgbClr val="FFFDF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855" dirty="0"/>
          </a:p>
        </p:txBody>
      </p:sp>
      <p:sp>
        <p:nvSpPr>
          <p:cNvPr id="51" name="Text 49"/>
          <p:cNvSpPr/>
          <p:nvPr/>
        </p:nvSpPr>
        <p:spPr>
          <a:xfrm>
            <a:off x="874395" y="3121283"/>
            <a:ext cx="480060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20" b="1" spc="45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人才培养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874395" y="3253800"/>
            <a:ext cx="1913839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dirty="0">
                <a:solidFill>
                  <a:srgbClr val="4A53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高校课程引入开源实践，让互惠意识从校园开始建立</a:t>
            </a:r>
            <a:endParaRPr lang="en-US" sz="563" dirty="0"/>
          </a:p>
        </p:txBody>
      </p:sp>
      <p:sp>
        <p:nvSpPr>
          <p:cNvPr id="53" name="Shape 51"/>
          <p:cNvSpPr/>
          <p:nvPr/>
        </p:nvSpPr>
        <p:spPr>
          <a:xfrm>
            <a:off x="457200" y="3549015"/>
            <a:ext cx="3943350" cy="445770"/>
          </a:xfrm>
          <a:prstGeom prst="rect">
            <a:avLst/>
          </a:prstGeom>
          <a:solidFill>
            <a:srgbClr val="FFFDF8"/>
          </a:solidFill>
          <a:ln w="17145">
            <a:solidFill>
              <a:srgbClr val="B08D57"/>
            </a:solidFill>
            <a:prstDash val="solid"/>
          </a:ln>
          <a:effectLst>
            <a:outerShdw sx="100000" sy="100000" kx="0" ky="0" algn="bl" rotWithShape="0" blurRad="19050" dist="9525" dir="16200000">
              <a:srgbClr val="0D2137">
                <a:alpha val="4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65785" y="3646170"/>
            <a:ext cx="251460" cy="251460"/>
          </a:xfrm>
          <a:prstGeom prst="ellipse">
            <a:avLst/>
          </a:prstGeom>
          <a:solidFill>
            <a:srgbClr val="B08D57"/>
          </a:solidFill>
          <a:ln/>
          <a:effectLst>
            <a:outerShdw sx="100000" sy="100000" kx="0" ky="0" algn="bl" rotWithShape="0" blurRad="38100" dist="9525" dir="16200000">
              <a:srgbClr val="B08D57">
                <a:alpha val="4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28650" y="3694748"/>
            <a:ext cx="260604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dirty="0">
                <a:solidFill>
                  <a:srgbClr val="FFFDF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855" dirty="0"/>
          </a:p>
        </p:txBody>
      </p:sp>
      <p:sp>
        <p:nvSpPr>
          <p:cNvPr id="56" name="Text 54"/>
          <p:cNvSpPr/>
          <p:nvPr/>
        </p:nvSpPr>
        <p:spPr>
          <a:xfrm>
            <a:off x="874395" y="3647063"/>
            <a:ext cx="577215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20" b="1" spc="45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跨生态协作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874395" y="3779580"/>
            <a:ext cx="2291486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563" dirty="0">
                <a:solidFill>
                  <a:srgbClr val="4A53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打破 GitHub / Gitee / 自建平台壁垒，让互惠关系可跨项目延续</a:t>
            </a:r>
            <a:endParaRPr lang="en-US" sz="563" dirty="0"/>
          </a:p>
        </p:txBody>
      </p:sp>
      <p:sp>
        <p:nvSpPr>
          <p:cNvPr id="58" name="Shape 56"/>
          <p:cNvSpPr/>
          <p:nvPr/>
        </p:nvSpPr>
        <p:spPr>
          <a:xfrm>
            <a:off x="457200" y="4086225"/>
            <a:ext cx="8229600" cy="491490"/>
          </a:xfrm>
          <a:prstGeom prst="rect">
            <a:avLst/>
          </a:prstGeom>
          <a:solidFill>
            <a:srgbClr val="F2EEE4"/>
          </a:solidFill>
          <a:ln/>
        </p:spPr>
      </p:sp>
      <p:sp>
        <p:nvSpPr>
          <p:cNvPr id="59" name="Shape 57"/>
          <p:cNvSpPr/>
          <p:nvPr/>
        </p:nvSpPr>
        <p:spPr>
          <a:xfrm>
            <a:off x="457200" y="4086225"/>
            <a:ext cx="8229600" cy="0"/>
          </a:xfrm>
          <a:prstGeom prst="line">
            <a:avLst/>
          </a:prstGeom>
          <a:noFill/>
          <a:ln w="5715">
            <a:solidFill>
              <a:srgbClr val="E8E1D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4577715"/>
            <a:ext cx="8229600" cy="0"/>
          </a:xfrm>
          <a:prstGeom prst="line">
            <a:avLst/>
          </a:prstGeom>
          <a:noFill/>
          <a:ln w="5715">
            <a:solidFill>
              <a:srgbClr val="E8E1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" y="4194810"/>
            <a:ext cx="50577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80" kern="0" dirty="0">
                <a:solidFill>
                  <a:srgbClr val="0D21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 键 差 距</a:t>
            </a:r>
            <a:endParaRPr lang="en-US" sz="473" dirty="0"/>
          </a:p>
        </p:txBody>
      </p:sp>
      <p:sp>
        <p:nvSpPr>
          <p:cNvPr id="62" name="Text 60"/>
          <p:cNvSpPr/>
          <p:nvPr/>
        </p:nvSpPr>
        <p:spPr>
          <a:xfrm>
            <a:off x="685800" y="4309110"/>
            <a:ext cx="700088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b="1" spc="23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显性化不足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328738" y="4360545"/>
            <a:ext cx="69128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40" dirty="0">
                <a:solidFill>
                  <a:srgbClr val="7A7D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（声誉凭证碎片化）</a:t>
            </a:r>
            <a:endParaRPr lang="en-US" sz="540" dirty="0"/>
          </a:p>
        </p:txBody>
      </p:sp>
      <p:sp>
        <p:nvSpPr>
          <p:cNvPr id="64" name="Shape 62"/>
          <p:cNvSpPr/>
          <p:nvPr/>
        </p:nvSpPr>
        <p:spPr>
          <a:xfrm>
            <a:off x="3219420" y="4171950"/>
            <a:ext cx="5715" cy="320040"/>
          </a:xfrm>
          <a:prstGeom prst="rect">
            <a:avLst/>
          </a:prstGeom>
          <a:solidFill>
            <a:srgbClr val="E8E1D0"/>
          </a:solidFill>
          <a:ln/>
        </p:spPr>
      </p:sp>
      <p:sp>
        <p:nvSpPr>
          <p:cNvPr id="65" name="Text 63"/>
          <p:cNvSpPr/>
          <p:nvPr/>
        </p:nvSpPr>
        <p:spPr>
          <a:xfrm>
            <a:off x="3385155" y="4194810"/>
            <a:ext cx="50577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80" kern="0" dirty="0">
                <a:solidFill>
                  <a:srgbClr val="0D21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 动 主 体</a:t>
            </a:r>
            <a:endParaRPr lang="en-US" sz="473" dirty="0"/>
          </a:p>
        </p:txBody>
      </p:sp>
      <p:sp>
        <p:nvSpPr>
          <p:cNvPr id="66" name="Text 64"/>
          <p:cNvSpPr/>
          <p:nvPr/>
        </p:nvSpPr>
        <p:spPr>
          <a:xfrm>
            <a:off x="3385155" y="4309110"/>
            <a:ext cx="1219352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b="1" spc="23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企业 + 高校 + 基金会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531013" y="4360545"/>
            <a:ext cx="4800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40" dirty="0">
                <a:solidFill>
                  <a:srgbClr val="7A7D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（多方协同）</a:t>
            </a:r>
            <a:endParaRPr lang="en-US" sz="540" dirty="0"/>
          </a:p>
        </p:txBody>
      </p:sp>
      <p:sp>
        <p:nvSpPr>
          <p:cNvPr id="68" name="Shape 66"/>
          <p:cNvSpPr/>
          <p:nvPr/>
        </p:nvSpPr>
        <p:spPr>
          <a:xfrm>
            <a:off x="5918775" y="4171950"/>
            <a:ext cx="5715" cy="320040"/>
          </a:xfrm>
          <a:prstGeom prst="rect">
            <a:avLst/>
          </a:prstGeom>
          <a:solidFill>
            <a:srgbClr val="E8E1D0"/>
          </a:solidFill>
          <a:ln/>
        </p:spPr>
      </p:sp>
      <p:sp>
        <p:nvSpPr>
          <p:cNvPr id="69" name="Text 67"/>
          <p:cNvSpPr/>
          <p:nvPr/>
        </p:nvSpPr>
        <p:spPr>
          <a:xfrm>
            <a:off x="6084510" y="4194810"/>
            <a:ext cx="50577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80" kern="0" dirty="0">
                <a:solidFill>
                  <a:srgbClr val="0D21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 标 周 期</a:t>
            </a:r>
            <a:endParaRPr lang="en-US" sz="473" dirty="0"/>
          </a:p>
        </p:txBody>
      </p:sp>
      <p:sp>
        <p:nvSpPr>
          <p:cNvPr id="70" name="Text 68"/>
          <p:cNvSpPr/>
          <p:nvPr/>
        </p:nvSpPr>
        <p:spPr>
          <a:xfrm>
            <a:off x="6084510" y="4309110"/>
            <a:ext cx="511493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b="1" spc="23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3 - 5 年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538853" y="4360545"/>
            <a:ext cx="84490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540" dirty="0">
                <a:solidFill>
                  <a:srgbClr val="7A7D8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（制度建设的合理时长）</a:t>
            </a:r>
            <a:endParaRPr lang="en-US" sz="5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gradFill rotWithShape="1">
            <a:gsLst>
              <a:gs pos="0">
                <a:srgbClr val="0D2137"/>
              </a:gs>
              <a:gs pos="60000">
                <a:srgbClr val="0D2137"/>
              </a:gs>
              <a:gs pos="60000">
                <a:srgbClr val="B08D57"/>
              </a:gs>
              <a:gs pos="100000">
                <a:srgbClr val="B08D57"/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001000" y="-342900"/>
            <a:ext cx="1485900" cy="1485900"/>
          </a:xfrm>
          <a:prstGeom prst="ellips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886200"/>
            <a:ext cx="1828800" cy="1828800"/>
          </a:xfrm>
          <a:prstGeom prst="ellipse">
            <a:avLst/>
          </a:prstGeom>
          <a:noFill/>
          <a:ln w="5715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75370" y="4994910"/>
            <a:ext cx="34290" cy="34290"/>
          </a:xfrm>
          <a:prstGeom prst="ellipse">
            <a:avLst/>
          </a:prstGeom>
          <a:solidFill>
            <a:srgbClr val="B08D57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743950" y="4994910"/>
            <a:ext cx="34290" cy="34290"/>
          </a:xfrm>
          <a:prstGeom prst="ellipse">
            <a:avLst/>
          </a:prstGeom>
          <a:solidFill>
            <a:srgbClr val="B08D57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12530" y="4994910"/>
            <a:ext cx="34290" cy="34290"/>
          </a:xfrm>
          <a:prstGeom prst="ellipse">
            <a:avLst/>
          </a:prstGeom>
          <a:solidFill>
            <a:srgbClr val="B08D57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881110" y="4994910"/>
            <a:ext cx="34290" cy="34290"/>
          </a:xfrm>
          <a:prstGeom prst="ellipse">
            <a:avLst/>
          </a:prstGeom>
          <a:solidFill>
            <a:srgbClr val="B08D57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320040"/>
            <a:ext cx="8321040" cy="668655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411480" y="988695"/>
            <a:ext cx="8321040" cy="0"/>
          </a:xfrm>
          <a:prstGeom prst="line">
            <a:avLst/>
          </a:prstGeom>
          <a:noFill/>
          <a:ln w="5715">
            <a:solidFill>
              <a:srgbClr val="D9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20040"/>
            <a:ext cx="3584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布道者如何运用</a:t>
            </a:r>
            <a:pPr algn="l" indent="0" marL="0">
              <a:lnSpc>
                <a:spcPct val="160000"/>
              </a:lnSpc>
              <a:buNone/>
            </a:pPr>
            <a:r>
              <a:rPr lang="en-US" sz="1800" b="1" spc="23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互惠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731520"/>
            <a:ext cx="35844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2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论文最大的实操启示：</a:t>
            </a:r>
            <a:pPr algn="l" indent="0" marL="0">
              <a:lnSpc>
                <a:spcPct val="150000"/>
              </a:lnSpc>
              <a:buNone/>
            </a:pPr>
            <a:r>
              <a:rPr lang="en-US" sz="720" i="1" dirty="0">
                <a:solidFill>
                  <a:srgbClr val="000000">
                    <a:alpha val="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互惠不是一次性交易</a:t>
            </a:r>
            <a:pPr algn="l" indent="0" marL="0">
              <a:lnSpc>
                <a:spcPct val="150000"/>
              </a:lnSpc>
              <a:buNone/>
            </a:pPr>
            <a:r>
              <a:rPr lang="en-US" sz="720" i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，而是一条需要持续浇灌的关系链。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1325880" y="748665"/>
            <a:ext cx="82296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1325880" y="862965"/>
            <a:ext cx="822960" cy="0"/>
          </a:xfrm>
          <a:prstGeom prst="lin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748665"/>
            <a:ext cx="921715" cy="114300"/>
          </a:xfrm>
          <a:prstGeom prst="rect">
            <a:avLst/>
          </a:prstGeom>
          <a:noFill/>
          <a:ln/>
        </p:spPr>
        <p:txBody>
          <a:bodyPr wrap="none" lIns="0" tIns="0" rIns="0" bIns="5715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2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互惠不是一次性交易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7309485" y="500777"/>
            <a:ext cx="1593799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540" spc="135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THEORY · TO PRACTICE</a:t>
            </a:r>
            <a:endParaRPr lang="en-US" sz="540" dirty="0"/>
          </a:p>
        </p:txBody>
      </p:sp>
      <p:sp>
        <p:nvSpPr>
          <p:cNvPr id="17" name="Text 15"/>
          <p:cNvSpPr/>
          <p:nvPr/>
        </p:nvSpPr>
        <p:spPr>
          <a:xfrm>
            <a:off x="7309485" y="633293"/>
            <a:ext cx="1593799" cy="20109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99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90" dirty="0"/>
          </a:p>
        </p:txBody>
      </p:sp>
      <p:sp>
        <p:nvSpPr>
          <p:cNvPr id="18" name="Text 16"/>
          <p:cNvSpPr/>
          <p:nvPr/>
        </p:nvSpPr>
        <p:spPr>
          <a:xfrm>
            <a:off x="411480" y="1157823"/>
            <a:ext cx="314325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spc="90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 04.1</a:t>
            </a:r>
            <a:endParaRPr lang="en-US" sz="540" dirty="0"/>
          </a:p>
        </p:txBody>
      </p:sp>
      <p:sp>
        <p:nvSpPr>
          <p:cNvPr id="19" name="Text 17"/>
          <p:cNvSpPr/>
          <p:nvPr/>
        </p:nvSpPr>
        <p:spPr>
          <a:xfrm>
            <a:off x="725805" y="1148715"/>
            <a:ext cx="1331366" cy="12796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b="1" spc="45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开源布道五步法 · 互惠落地路径</a:t>
            </a:r>
            <a:endParaRPr lang="en-US" sz="630" dirty="0"/>
          </a:p>
        </p:txBody>
      </p:sp>
      <p:sp>
        <p:nvSpPr>
          <p:cNvPr id="20" name="Shape 18"/>
          <p:cNvSpPr/>
          <p:nvPr/>
        </p:nvSpPr>
        <p:spPr>
          <a:xfrm>
            <a:off x="2005965" y="1209794"/>
            <a:ext cx="6726555" cy="5715"/>
          </a:xfrm>
          <a:prstGeom prst="rect">
            <a:avLst/>
          </a:prstGeom>
          <a:solidFill>
            <a:srgbClr val="D9D2C5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1368117"/>
            <a:ext cx="1499562" cy="1371600"/>
          </a:xfrm>
          <a:prstGeom prst="rect">
            <a:avLst/>
          </a:prstGeom>
          <a:solidFill>
            <a:srgbClr val="FFFFFF"/>
          </a:solidFill>
          <a:ln w="17145">
            <a:solidFill>
              <a:srgbClr val="0D21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777" y="1293822"/>
            <a:ext cx="182880" cy="182880"/>
          </a:xfrm>
          <a:prstGeom prst="ellipse">
            <a:avLst/>
          </a:prstGeom>
          <a:solidFill>
            <a:srgbClr val="F7F5F0"/>
          </a:solidFill>
          <a:ln w="5715">
            <a:solidFill>
              <a:srgbClr val="B08D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777" y="1293822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30" dirty="0"/>
          </a:p>
        </p:txBody>
      </p:sp>
      <p:sp>
        <p:nvSpPr>
          <p:cNvPr id="24" name="Shape 22"/>
          <p:cNvSpPr/>
          <p:nvPr/>
        </p:nvSpPr>
        <p:spPr>
          <a:xfrm>
            <a:off x="1006912" y="1568142"/>
            <a:ext cx="308610" cy="308610"/>
          </a:xfrm>
          <a:prstGeom prst="ellipse">
            <a:avLst/>
          </a:prstGeom>
          <a:solidFill>
            <a:srgbClr val="EDE8DE"/>
          </a:solidFill>
          <a:ln w="5715">
            <a:solidFill>
              <a:srgbClr val="B08D57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6922" y="1648152"/>
            <a:ext cx="148590" cy="14859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44047" y="1968192"/>
            <a:ext cx="531495" cy="263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65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先给后取</a:t>
            </a:r>
            <a:pPr algn="ctr" indent="0" marL="0">
              <a:lnSpc>
                <a:spcPct val="160000"/>
              </a:lnSpc>
              <a:buNone/>
            </a:pPr>
            <a:r>
              <a:rPr lang="en-US" sz="450" b="1" i="1" spc="23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FIRST</a:t>
            </a:r>
            <a:endParaRPr lang="en-US" sz="765" dirty="0"/>
          </a:p>
        </p:txBody>
      </p:sp>
      <p:sp>
        <p:nvSpPr>
          <p:cNvPr id="27" name="Text 24"/>
          <p:cNvSpPr/>
          <p:nvPr/>
        </p:nvSpPr>
        <p:spPr>
          <a:xfrm>
            <a:off x="497205" y="2277874"/>
            <a:ext cx="1487486" cy="212527"/>
          </a:xfrm>
          <a:prstGeom prst="rect">
            <a:avLst/>
          </a:prstGeom>
          <a:noFill/>
          <a:ln/>
        </p:spPr>
        <p:txBody>
          <a:bodyPr wrap="square" lIns="0" tIns="22860" rIns="2286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2A2A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活动设计让参与者先获得具体收益，再请求后续投入</a:t>
            </a:r>
            <a:endParaRPr lang="en-US" sz="540" dirty="0"/>
          </a:p>
        </p:txBody>
      </p:sp>
      <p:sp>
        <p:nvSpPr>
          <p:cNvPr id="28" name="Shape 25"/>
          <p:cNvSpPr/>
          <p:nvPr/>
        </p:nvSpPr>
        <p:spPr>
          <a:xfrm>
            <a:off x="1933902" y="2051060"/>
            <a:ext cx="114300" cy="571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9" name="Shape 26"/>
          <p:cNvSpPr/>
          <p:nvPr/>
        </p:nvSpPr>
        <p:spPr>
          <a:xfrm>
            <a:off x="2116782" y="1368117"/>
            <a:ext cx="1499652" cy="1371600"/>
          </a:xfrm>
          <a:prstGeom prst="rect">
            <a:avLst/>
          </a:prstGeom>
          <a:solidFill>
            <a:srgbClr val="FFFFFF"/>
          </a:solidFill>
          <a:ln w="17145">
            <a:solidFill>
              <a:srgbClr val="0D213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75168" y="1293822"/>
            <a:ext cx="182880" cy="182880"/>
          </a:xfrm>
          <a:prstGeom prst="ellipse">
            <a:avLst/>
          </a:prstGeom>
          <a:solidFill>
            <a:srgbClr val="F7F5F0"/>
          </a:solidFill>
          <a:ln w="5715">
            <a:solidFill>
              <a:srgbClr val="B08D5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75168" y="1293822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30" dirty="0"/>
          </a:p>
        </p:txBody>
      </p:sp>
      <p:sp>
        <p:nvSpPr>
          <p:cNvPr id="32" name="Shape 29"/>
          <p:cNvSpPr/>
          <p:nvPr/>
        </p:nvSpPr>
        <p:spPr>
          <a:xfrm>
            <a:off x="2712303" y="1568142"/>
            <a:ext cx="308610" cy="308610"/>
          </a:xfrm>
          <a:prstGeom prst="ellipse">
            <a:avLst/>
          </a:prstGeom>
          <a:solidFill>
            <a:srgbClr val="EDE8DE"/>
          </a:solidFill>
          <a:ln w="5715">
            <a:solidFill>
              <a:srgbClr val="B08D57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2313" y="1648152"/>
            <a:ext cx="148590" cy="14859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2497991" y="1968192"/>
            <a:ext cx="834390" cy="263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65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可见反馈</a:t>
            </a:r>
            <a:pPr algn="ctr" indent="0" marL="0">
              <a:lnSpc>
                <a:spcPct val="160000"/>
              </a:lnSpc>
              <a:buNone/>
            </a:pPr>
            <a:r>
              <a:rPr lang="en-US" sz="450" b="1" i="1" spc="23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VISIBLE FEEDBACK</a:t>
            </a:r>
            <a:endParaRPr lang="en-US" sz="765" dirty="0"/>
          </a:p>
        </p:txBody>
      </p:sp>
      <p:sp>
        <p:nvSpPr>
          <p:cNvPr id="35" name="Text 31"/>
          <p:cNvSpPr/>
          <p:nvPr/>
        </p:nvSpPr>
        <p:spPr>
          <a:xfrm>
            <a:off x="2202507" y="2277874"/>
            <a:ext cx="1487586" cy="212527"/>
          </a:xfrm>
          <a:prstGeom prst="rect">
            <a:avLst/>
          </a:prstGeom>
          <a:noFill/>
          <a:ln/>
        </p:spPr>
        <p:txBody>
          <a:bodyPr wrap="square" lIns="0" tIns="22860" rIns="2286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2A2A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把参与者的贡献即时展示给社区，让互惠循环被集体看见</a:t>
            </a:r>
            <a:endParaRPr lang="en-US" sz="540" dirty="0"/>
          </a:p>
        </p:txBody>
      </p:sp>
      <p:sp>
        <p:nvSpPr>
          <p:cNvPr id="36" name="Shape 32"/>
          <p:cNvSpPr/>
          <p:nvPr/>
        </p:nvSpPr>
        <p:spPr>
          <a:xfrm>
            <a:off x="3639294" y="2051060"/>
            <a:ext cx="114300" cy="571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37" name="Shape 33"/>
          <p:cNvSpPr/>
          <p:nvPr/>
        </p:nvSpPr>
        <p:spPr>
          <a:xfrm>
            <a:off x="3822174" y="1368117"/>
            <a:ext cx="1499562" cy="1371600"/>
          </a:xfrm>
          <a:prstGeom prst="rect">
            <a:avLst/>
          </a:prstGeom>
          <a:solidFill>
            <a:srgbClr val="FFFFFF"/>
          </a:solidFill>
          <a:ln w="17145">
            <a:solidFill>
              <a:srgbClr val="0D2137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480471" y="1293822"/>
            <a:ext cx="182880" cy="182880"/>
          </a:xfrm>
          <a:prstGeom prst="ellipse">
            <a:avLst/>
          </a:prstGeom>
          <a:solidFill>
            <a:srgbClr val="F7F5F0"/>
          </a:solidFill>
          <a:ln w="5715">
            <a:solidFill>
              <a:srgbClr val="B08D57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480471" y="1293822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30" dirty="0"/>
          </a:p>
        </p:txBody>
      </p:sp>
      <p:sp>
        <p:nvSpPr>
          <p:cNvPr id="40" name="Shape 36"/>
          <p:cNvSpPr/>
          <p:nvPr/>
        </p:nvSpPr>
        <p:spPr>
          <a:xfrm>
            <a:off x="4417606" y="1568142"/>
            <a:ext cx="308610" cy="308610"/>
          </a:xfrm>
          <a:prstGeom prst="ellipse">
            <a:avLst/>
          </a:prstGeom>
          <a:solidFill>
            <a:srgbClr val="EDE8DE"/>
          </a:solidFill>
          <a:ln w="5715">
            <a:solidFill>
              <a:srgbClr val="B08D57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7616" y="1648152"/>
            <a:ext cx="148590" cy="14859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4314736" y="1968192"/>
            <a:ext cx="611505" cy="263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65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角色设计</a:t>
            </a:r>
            <a:pPr algn="ctr" indent="0" marL="0">
              <a:lnSpc>
                <a:spcPct val="160000"/>
              </a:lnSpc>
              <a:buNone/>
            </a:pPr>
            <a:r>
              <a:rPr lang="en-US" sz="450" b="1" i="1" spc="23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DESIGN</a:t>
            </a:r>
            <a:endParaRPr lang="en-US" sz="765" dirty="0"/>
          </a:p>
        </p:txBody>
      </p:sp>
      <p:sp>
        <p:nvSpPr>
          <p:cNvPr id="43" name="Text 38"/>
          <p:cNvSpPr/>
          <p:nvPr/>
        </p:nvSpPr>
        <p:spPr>
          <a:xfrm>
            <a:off x="3907899" y="2277874"/>
            <a:ext cx="1487486" cy="212527"/>
          </a:xfrm>
          <a:prstGeom prst="rect">
            <a:avLst/>
          </a:prstGeom>
          <a:noFill/>
          <a:ln/>
        </p:spPr>
        <p:txBody>
          <a:bodyPr wrap="square" lIns="0" tIns="22860" rIns="2286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2A2A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设置 Mentor、Reviewer、Ambassador 等角色，让间接互惠有承载物</a:t>
            </a:r>
            <a:endParaRPr lang="en-US" sz="540" dirty="0"/>
          </a:p>
        </p:txBody>
      </p:sp>
      <p:sp>
        <p:nvSpPr>
          <p:cNvPr id="44" name="Shape 39"/>
          <p:cNvSpPr/>
          <p:nvPr/>
        </p:nvSpPr>
        <p:spPr>
          <a:xfrm>
            <a:off x="5344597" y="2051060"/>
            <a:ext cx="114300" cy="571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45" name="Shape 40"/>
          <p:cNvSpPr/>
          <p:nvPr/>
        </p:nvSpPr>
        <p:spPr>
          <a:xfrm>
            <a:off x="5527477" y="1368117"/>
            <a:ext cx="1499652" cy="1371600"/>
          </a:xfrm>
          <a:prstGeom prst="rect">
            <a:avLst/>
          </a:prstGeom>
          <a:solidFill>
            <a:srgbClr val="FFFFFF"/>
          </a:solidFill>
          <a:ln w="17145">
            <a:solidFill>
              <a:srgbClr val="0D2137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185862" y="1293822"/>
            <a:ext cx="182880" cy="182880"/>
          </a:xfrm>
          <a:prstGeom prst="ellipse">
            <a:avLst/>
          </a:prstGeom>
          <a:solidFill>
            <a:srgbClr val="F7F5F0"/>
          </a:solidFill>
          <a:ln w="5715">
            <a:solidFill>
              <a:srgbClr val="B08D57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185862" y="1293822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30" dirty="0"/>
          </a:p>
        </p:txBody>
      </p:sp>
      <p:sp>
        <p:nvSpPr>
          <p:cNvPr id="48" name="Shape 43"/>
          <p:cNvSpPr/>
          <p:nvPr/>
        </p:nvSpPr>
        <p:spPr>
          <a:xfrm>
            <a:off x="6122997" y="1568142"/>
            <a:ext cx="308610" cy="308610"/>
          </a:xfrm>
          <a:prstGeom prst="ellipse">
            <a:avLst/>
          </a:prstGeom>
          <a:solidFill>
            <a:srgbClr val="EDE8DE"/>
          </a:solidFill>
          <a:ln w="5715">
            <a:solidFill>
              <a:srgbClr val="B08D57"/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3007" y="1648152"/>
            <a:ext cx="148590" cy="148590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6051560" y="1968192"/>
            <a:ext cx="548640" cy="263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65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叙事连接</a:t>
            </a:r>
            <a:pPr algn="ctr" indent="0" marL="0">
              <a:lnSpc>
                <a:spcPct val="160000"/>
              </a:lnSpc>
              <a:buNone/>
            </a:pPr>
            <a:r>
              <a:rPr lang="en-US" sz="450" b="1" i="1" spc="23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LINK</a:t>
            </a:r>
            <a:endParaRPr lang="en-US" sz="765" dirty="0"/>
          </a:p>
        </p:txBody>
      </p:sp>
      <p:sp>
        <p:nvSpPr>
          <p:cNvPr id="51" name="Text 45"/>
          <p:cNvSpPr/>
          <p:nvPr/>
        </p:nvSpPr>
        <p:spPr>
          <a:xfrm>
            <a:off x="5613202" y="2277874"/>
            <a:ext cx="1487586" cy="212527"/>
          </a:xfrm>
          <a:prstGeom prst="rect">
            <a:avLst/>
          </a:prstGeom>
          <a:noFill/>
          <a:ln/>
        </p:spPr>
        <p:txBody>
          <a:bodyPr wrap="square" lIns="0" tIns="22860" rIns="2286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2A2A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分享故事时强调具体的互惠案例，而非抽象口号</a:t>
            </a:r>
            <a:endParaRPr lang="en-US" sz="540" dirty="0"/>
          </a:p>
        </p:txBody>
      </p:sp>
      <p:sp>
        <p:nvSpPr>
          <p:cNvPr id="52" name="Shape 46"/>
          <p:cNvSpPr/>
          <p:nvPr/>
        </p:nvSpPr>
        <p:spPr>
          <a:xfrm>
            <a:off x="7049988" y="2051060"/>
            <a:ext cx="114300" cy="571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53" name="Shape 47"/>
          <p:cNvSpPr/>
          <p:nvPr/>
        </p:nvSpPr>
        <p:spPr>
          <a:xfrm>
            <a:off x="7232868" y="1368117"/>
            <a:ext cx="1499652" cy="1371600"/>
          </a:xfrm>
          <a:prstGeom prst="rect">
            <a:avLst/>
          </a:prstGeom>
          <a:solidFill>
            <a:srgbClr val="FFFFFF"/>
          </a:solidFill>
          <a:ln w="17145">
            <a:solidFill>
              <a:srgbClr val="0D2137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7891254" y="1293822"/>
            <a:ext cx="182880" cy="182880"/>
          </a:xfrm>
          <a:prstGeom prst="ellipse">
            <a:avLst/>
          </a:prstGeom>
          <a:solidFill>
            <a:srgbClr val="F7F5F0"/>
          </a:solidFill>
          <a:ln w="5715">
            <a:solidFill>
              <a:srgbClr val="B08D57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7891254" y="1293822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b="1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630" dirty="0"/>
          </a:p>
        </p:txBody>
      </p:sp>
      <p:sp>
        <p:nvSpPr>
          <p:cNvPr id="56" name="Shape 50"/>
          <p:cNvSpPr/>
          <p:nvPr/>
        </p:nvSpPr>
        <p:spPr>
          <a:xfrm>
            <a:off x="7828389" y="1568142"/>
            <a:ext cx="308610" cy="308610"/>
          </a:xfrm>
          <a:prstGeom prst="ellipse">
            <a:avLst/>
          </a:prstGeom>
          <a:solidFill>
            <a:srgbClr val="EDE8DE"/>
          </a:solidFill>
          <a:ln w="5715">
            <a:solidFill>
              <a:srgbClr val="B08D57"/>
            </a:solidFill>
            <a:prstDash val="solid"/>
          </a:ln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08399" y="1648152"/>
            <a:ext cx="148590" cy="148590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7645509" y="1968192"/>
            <a:ext cx="771525" cy="263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765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长期陪伴</a:t>
            </a:r>
            <a:pPr algn="ctr" indent="0" marL="0">
              <a:lnSpc>
                <a:spcPct val="160000"/>
              </a:lnSpc>
              <a:buNone/>
            </a:pPr>
            <a:r>
              <a:rPr lang="en-US" sz="450" b="1" i="1" spc="23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CARE</a:t>
            </a:r>
            <a:endParaRPr lang="en-US" sz="765" dirty="0"/>
          </a:p>
        </p:txBody>
      </p:sp>
      <p:sp>
        <p:nvSpPr>
          <p:cNvPr id="59" name="Text 52"/>
          <p:cNvSpPr/>
          <p:nvPr/>
        </p:nvSpPr>
        <p:spPr>
          <a:xfrm>
            <a:off x="7318593" y="2277874"/>
            <a:ext cx="1487586" cy="212527"/>
          </a:xfrm>
          <a:prstGeom prst="rect">
            <a:avLst/>
          </a:prstGeom>
          <a:noFill/>
          <a:ln/>
        </p:spPr>
        <p:txBody>
          <a:bodyPr wrap="square" lIns="0" tIns="22860" rIns="2286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2A2A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社区运营的核心是维系长期关系，而不是追求单次活动数据</a:t>
            </a:r>
            <a:endParaRPr lang="en-US" sz="540" dirty="0"/>
          </a:p>
        </p:txBody>
      </p:sp>
      <p:sp>
        <p:nvSpPr>
          <p:cNvPr id="60" name="Shape 53"/>
          <p:cNvSpPr/>
          <p:nvPr/>
        </p:nvSpPr>
        <p:spPr>
          <a:xfrm>
            <a:off x="411480" y="4036576"/>
            <a:ext cx="3477399" cy="87832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1" name="Text 54"/>
          <p:cNvSpPr/>
          <p:nvPr/>
        </p:nvSpPr>
        <p:spPr>
          <a:xfrm>
            <a:off x="742950" y="4162306"/>
            <a:ext cx="3344218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135" kern="0" dirty="0">
                <a:solidFill>
                  <a:srgbClr val="D4B4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PRACTITIONER'S TAKEAWAY</a:t>
            </a:r>
            <a:endParaRPr lang="en-US" sz="495" dirty="0"/>
          </a:p>
        </p:txBody>
      </p:sp>
      <p:sp>
        <p:nvSpPr>
          <p:cNvPr id="62" name="Text 55"/>
          <p:cNvSpPr/>
          <p:nvPr/>
        </p:nvSpPr>
        <p:spPr>
          <a:xfrm>
            <a:off x="742950" y="4320004"/>
            <a:ext cx="3344218" cy="300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对开源布道者而言，设计活动时，</a:t>
            </a:r>
            <a:pPr algn="l" indent="0" marL="0">
              <a:lnSpc>
                <a:spcPct val="175000"/>
              </a:lnSpc>
              <a:buNone/>
            </a:pPr>
            <a:r>
              <a:rPr lang="en-US" sz="675" b="1" dirty="0">
                <a:solidFill>
                  <a:srgbClr val="D4B4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先想"参与者能立即得到什么"</a:t>
            </a:r>
            <a:pPr algn="l" indent="0" marL="0">
              <a:lnSpc>
                <a:spcPct val="175000"/>
              </a:lnSpc>
              <a:buNone/>
            </a:pPr>
            <a:r>
              <a:rPr lang="en-US" sz="675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，再想"我们能邀请他做什么"。这种顺序，是把互惠从理论搬到实践的关键。</a:t>
            </a:r>
            <a:endParaRPr lang="en-US" sz="675" dirty="0"/>
          </a:p>
        </p:txBody>
      </p:sp>
      <p:sp>
        <p:nvSpPr>
          <p:cNvPr id="63" name="Text 56"/>
          <p:cNvSpPr/>
          <p:nvPr/>
        </p:nvSpPr>
        <p:spPr>
          <a:xfrm>
            <a:off x="742950" y="4688622"/>
            <a:ext cx="3344218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i="1" spc="45" kern="0" dirty="0">
                <a:solidFill>
                  <a:srgbClr val="D4B48A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逆向营销逻辑 · 关系优先于数据</a:t>
            </a:r>
            <a:endParaRPr lang="en-US" sz="495" dirty="0"/>
          </a:p>
        </p:txBody>
      </p:sp>
      <p:sp>
        <p:nvSpPr>
          <p:cNvPr id="64" name="Shape 57"/>
          <p:cNvSpPr/>
          <p:nvPr/>
        </p:nvSpPr>
        <p:spPr>
          <a:xfrm>
            <a:off x="4071759" y="4036576"/>
            <a:ext cx="1500188" cy="878324"/>
          </a:xfrm>
          <a:prstGeom prst="rect">
            <a:avLst/>
          </a:prstGeom>
          <a:solidFill>
            <a:srgbClr val="FFFFFF"/>
          </a:solidFill>
          <a:ln w="17145">
            <a:solidFill>
              <a:srgbClr val="B08D57"/>
            </a:solidFill>
            <a:prstDash val="solid"/>
          </a:ln>
        </p:spPr>
      </p:sp>
      <p:sp>
        <p:nvSpPr>
          <p:cNvPr id="65" name="Text 58"/>
          <p:cNvSpPr/>
          <p:nvPr/>
        </p:nvSpPr>
        <p:spPr>
          <a:xfrm>
            <a:off x="5309056" y="4110871"/>
            <a:ext cx="240030" cy="822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05" b="1" spc="45" kern="0" dirty="0">
                <a:solidFill>
                  <a:srgbClr val="D9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01</a:t>
            </a:r>
            <a:endParaRPr lang="en-US" sz="405" dirty="0"/>
          </a:p>
        </p:txBody>
      </p:sp>
      <p:sp>
        <p:nvSpPr>
          <p:cNvPr id="66" name="Text 59"/>
          <p:cNvSpPr/>
          <p:nvPr/>
        </p:nvSpPr>
        <p:spPr>
          <a:xfrm>
            <a:off x="4180344" y="4133731"/>
            <a:ext cx="1449781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b="1" spc="90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设计原则</a:t>
            </a:r>
            <a:endParaRPr lang="en-US" sz="495" dirty="0"/>
          </a:p>
        </p:txBody>
      </p:sp>
      <p:sp>
        <p:nvSpPr>
          <p:cNvPr id="67" name="Text 60"/>
          <p:cNvSpPr/>
          <p:nvPr/>
        </p:nvSpPr>
        <p:spPr>
          <a:xfrm>
            <a:off x="4180344" y="4338489"/>
            <a:ext cx="1488758" cy="21368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30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先给后取</a:t>
            </a:r>
            <a:endParaRPr lang="en-US" sz="1530" dirty="0"/>
          </a:p>
        </p:txBody>
      </p:sp>
      <p:sp>
        <p:nvSpPr>
          <p:cNvPr id="68" name="Shape 61"/>
          <p:cNvSpPr/>
          <p:nvPr/>
        </p:nvSpPr>
        <p:spPr>
          <a:xfrm>
            <a:off x="4180344" y="4679156"/>
            <a:ext cx="1294448" cy="150019"/>
          </a:xfrm>
          <a:prstGeom prst="rect">
            <a:avLst/>
          </a:prstGeom>
          <a:noFill/>
          <a:ln/>
        </p:spPr>
      </p:sp>
      <p:sp>
        <p:nvSpPr>
          <p:cNvPr id="69" name="Shape 62"/>
          <p:cNvSpPr/>
          <p:nvPr/>
        </p:nvSpPr>
        <p:spPr>
          <a:xfrm>
            <a:off x="4180344" y="4679156"/>
            <a:ext cx="1294448" cy="0"/>
          </a:xfrm>
          <a:prstGeom prst="line">
            <a:avLst/>
          </a:prstGeom>
          <a:noFill/>
          <a:ln w="5715">
            <a:solidFill>
              <a:srgbClr val="D9D2C5"/>
            </a:solidFill>
            <a:prstDash val="dash"/>
          </a:ln>
        </p:spPr>
      </p:sp>
      <p:sp>
        <p:nvSpPr>
          <p:cNvPr id="70" name="Text 63"/>
          <p:cNvSpPr/>
          <p:nvPr/>
        </p:nvSpPr>
        <p:spPr>
          <a:xfrm>
            <a:off x="4180344" y="4679156"/>
            <a:ext cx="1449781" cy="150019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6B6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反向传统营销逻辑，让利在前、请求在后</a:t>
            </a:r>
            <a:endParaRPr lang="en-US" sz="518" dirty="0"/>
          </a:p>
        </p:txBody>
      </p:sp>
      <p:sp>
        <p:nvSpPr>
          <p:cNvPr id="71" name="Shape 64"/>
          <p:cNvSpPr/>
          <p:nvPr/>
        </p:nvSpPr>
        <p:spPr>
          <a:xfrm>
            <a:off x="5651956" y="4036576"/>
            <a:ext cx="1500277" cy="878324"/>
          </a:xfrm>
          <a:prstGeom prst="rect">
            <a:avLst/>
          </a:prstGeom>
          <a:solidFill>
            <a:srgbClr val="FFFFFF"/>
          </a:solidFill>
          <a:ln w="17145">
            <a:solidFill>
              <a:srgbClr val="B08D57"/>
            </a:solidFill>
            <a:prstDash val="solid"/>
          </a:ln>
        </p:spPr>
      </p:sp>
      <p:sp>
        <p:nvSpPr>
          <p:cNvPr id="72" name="Text 65"/>
          <p:cNvSpPr/>
          <p:nvPr/>
        </p:nvSpPr>
        <p:spPr>
          <a:xfrm>
            <a:off x="6883628" y="4110871"/>
            <a:ext cx="245745" cy="822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05" b="1" spc="45" kern="0" dirty="0">
                <a:solidFill>
                  <a:srgbClr val="D9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02</a:t>
            </a:r>
            <a:endParaRPr lang="en-US" sz="405" dirty="0"/>
          </a:p>
        </p:txBody>
      </p:sp>
      <p:sp>
        <p:nvSpPr>
          <p:cNvPr id="73" name="Text 66"/>
          <p:cNvSpPr/>
          <p:nvPr/>
        </p:nvSpPr>
        <p:spPr>
          <a:xfrm>
            <a:off x="5760541" y="4133731"/>
            <a:ext cx="1449881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b="1" spc="90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角色数量</a:t>
            </a:r>
            <a:endParaRPr lang="en-US" sz="495" dirty="0"/>
          </a:p>
        </p:txBody>
      </p:sp>
      <p:sp>
        <p:nvSpPr>
          <p:cNvPr id="74" name="Text 67"/>
          <p:cNvSpPr/>
          <p:nvPr/>
        </p:nvSpPr>
        <p:spPr>
          <a:xfrm>
            <a:off x="5760541" y="4289197"/>
            <a:ext cx="1488847" cy="21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30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algn="l" indent="0" marL="0">
              <a:lnSpc>
                <a:spcPct val="110000"/>
              </a:lnSpc>
              <a:buNone/>
            </a:pPr>
            <a:r>
              <a:rPr lang="en-US" sz="675" b="1" spc="23" kern="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种</a:t>
            </a:r>
            <a:endParaRPr lang="en-US" sz="1530" dirty="0"/>
          </a:p>
        </p:txBody>
      </p:sp>
      <p:sp>
        <p:nvSpPr>
          <p:cNvPr id="75" name="Shape 68"/>
          <p:cNvSpPr/>
          <p:nvPr/>
        </p:nvSpPr>
        <p:spPr>
          <a:xfrm>
            <a:off x="5760541" y="4580573"/>
            <a:ext cx="1294537" cy="248603"/>
          </a:xfrm>
          <a:prstGeom prst="rect">
            <a:avLst/>
          </a:prstGeom>
          <a:noFill/>
          <a:ln/>
        </p:spPr>
      </p:sp>
      <p:sp>
        <p:nvSpPr>
          <p:cNvPr id="76" name="Shape 69"/>
          <p:cNvSpPr/>
          <p:nvPr/>
        </p:nvSpPr>
        <p:spPr>
          <a:xfrm>
            <a:off x="5760541" y="4580573"/>
            <a:ext cx="1294537" cy="0"/>
          </a:xfrm>
          <a:prstGeom prst="line">
            <a:avLst/>
          </a:prstGeom>
          <a:noFill/>
          <a:ln w="5715">
            <a:solidFill>
              <a:srgbClr val="D9D2C5"/>
            </a:solidFill>
            <a:prstDash val="dash"/>
          </a:ln>
        </p:spPr>
      </p:sp>
      <p:sp>
        <p:nvSpPr>
          <p:cNvPr id="77" name="Text 70"/>
          <p:cNvSpPr/>
          <p:nvPr/>
        </p:nvSpPr>
        <p:spPr>
          <a:xfrm>
            <a:off x="5760541" y="4580573"/>
            <a:ext cx="1449881" cy="248603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6B6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Mentor / Reviewer / Ambassador 三类承载角色</a:t>
            </a:r>
            <a:endParaRPr lang="en-US" sz="518" dirty="0"/>
          </a:p>
        </p:txBody>
      </p:sp>
      <p:sp>
        <p:nvSpPr>
          <p:cNvPr id="78" name="Shape 71"/>
          <p:cNvSpPr/>
          <p:nvPr/>
        </p:nvSpPr>
        <p:spPr>
          <a:xfrm>
            <a:off x="7232243" y="4036576"/>
            <a:ext cx="1500277" cy="878324"/>
          </a:xfrm>
          <a:prstGeom prst="rect">
            <a:avLst/>
          </a:prstGeom>
          <a:solidFill>
            <a:srgbClr val="FFFFFF"/>
          </a:solidFill>
          <a:ln w="17145">
            <a:solidFill>
              <a:srgbClr val="B08D57"/>
            </a:solidFill>
            <a:prstDash val="solid"/>
          </a:ln>
        </p:spPr>
      </p:sp>
      <p:sp>
        <p:nvSpPr>
          <p:cNvPr id="79" name="Text 72"/>
          <p:cNvSpPr/>
          <p:nvPr/>
        </p:nvSpPr>
        <p:spPr>
          <a:xfrm>
            <a:off x="8463915" y="4110871"/>
            <a:ext cx="245745" cy="8224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05" b="1" spc="45" kern="0" dirty="0">
                <a:solidFill>
                  <a:srgbClr val="D9D2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03</a:t>
            </a:r>
            <a:endParaRPr lang="en-US" sz="405" dirty="0"/>
          </a:p>
        </p:txBody>
      </p:sp>
      <p:sp>
        <p:nvSpPr>
          <p:cNvPr id="80" name="Text 73"/>
          <p:cNvSpPr/>
          <p:nvPr/>
        </p:nvSpPr>
        <p:spPr>
          <a:xfrm>
            <a:off x="7340828" y="4133731"/>
            <a:ext cx="1449881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b="1" spc="90" kern="0" dirty="0">
                <a:solidFill>
                  <a:srgbClr val="B08D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反馈时效</a:t>
            </a:r>
            <a:endParaRPr lang="en-US" sz="495" dirty="0"/>
          </a:p>
        </p:txBody>
      </p:sp>
      <p:sp>
        <p:nvSpPr>
          <p:cNvPr id="81" name="Text 74"/>
          <p:cNvSpPr/>
          <p:nvPr/>
        </p:nvSpPr>
        <p:spPr>
          <a:xfrm>
            <a:off x="7340828" y="4338489"/>
            <a:ext cx="1488847" cy="213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30" b="1" spc="23" kern="0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pPr algn="l" indent="0" marL="0">
              <a:lnSpc>
                <a:spcPct val="110000"/>
              </a:lnSpc>
              <a:buNone/>
            </a:pPr>
            <a:r>
              <a:rPr lang="en-US" sz="675" b="1" spc="23" kern="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小时内</a:t>
            </a:r>
            <a:endParaRPr lang="en-US" sz="1530" dirty="0"/>
          </a:p>
        </p:txBody>
      </p:sp>
      <p:sp>
        <p:nvSpPr>
          <p:cNvPr id="82" name="Shape 75"/>
          <p:cNvSpPr/>
          <p:nvPr/>
        </p:nvSpPr>
        <p:spPr>
          <a:xfrm>
            <a:off x="7340828" y="4679156"/>
            <a:ext cx="1294537" cy="150019"/>
          </a:xfrm>
          <a:prstGeom prst="rect">
            <a:avLst/>
          </a:prstGeom>
          <a:noFill/>
          <a:ln/>
        </p:spPr>
      </p:sp>
      <p:sp>
        <p:nvSpPr>
          <p:cNvPr id="83" name="Shape 76"/>
          <p:cNvSpPr/>
          <p:nvPr/>
        </p:nvSpPr>
        <p:spPr>
          <a:xfrm>
            <a:off x="7340828" y="4679156"/>
            <a:ext cx="1294537" cy="0"/>
          </a:xfrm>
          <a:prstGeom prst="line">
            <a:avLst/>
          </a:prstGeom>
          <a:noFill/>
          <a:ln w="5715">
            <a:solidFill>
              <a:srgbClr val="D9D2C5"/>
            </a:solidFill>
            <a:prstDash val="dash"/>
          </a:ln>
        </p:spPr>
      </p:sp>
      <p:sp>
        <p:nvSpPr>
          <p:cNvPr id="84" name="Text 77"/>
          <p:cNvSpPr/>
          <p:nvPr/>
        </p:nvSpPr>
        <p:spPr>
          <a:xfrm>
            <a:off x="7340828" y="4679156"/>
            <a:ext cx="1449881" cy="150019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18" dirty="0">
                <a:solidFill>
                  <a:srgbClr val="6B65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让贡献及时可见，避免互惠链断裂</a:t>
            </a:r>
            <a:endParaRPr lang="en-US" sz="518" dirty="0"/>
          </a:p>
        </p:txBody>
      </p:sp>
      <p:sp>
        <p:nvSpPr>
          <p:cNvPr id="85" name="Text 78"/>
          <p:cNvSpPr/>
          <p:nvPr/>
        </p:nvSpPr>
        <p:spPr>
          <a:xfrm>
            <a:off x="411480" y="4940082"/>
            <a:ext cx="1257757" cy="1005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68" kern="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04 · 互惠原理的实操化</a:t>
            </a:r>
            <a:endParaRPr lang="en-US" sz="495" dirty="0"/>
          </a:p>
        </p:txBody>
      </p:sp>
      <p:sp>
        <p:nvSpPr>
          <p:cNvPr id="86" name="Text 79"/>
          <p:cNvSpPr/>
          <p:nvPr/>
        </p:nvSpPr>
        <p:spPr>
          <a:xfrm>
            <a:off x="6455093" y="4940082"/>
            <a:ext cx="2550719" cy="100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495" spc="68" kern="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 EVANGELISM</a:t>
            </a:r>
            <a:pPr algn="l" indent="0" marL="0">
              <a:lnSpc>
                <a:spcPct val="160000"/>
              </a:lnSpc>
              <a:buNone/>
            </a:pPr>
            <a:r>
              <a:rPr lang="en-US" sz="495" spc="68" kern="0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RECIPROCITY IN PRACTICE</a:t>
            </a:r>
            <a:endParaRPr lang="en-US" sz="495" dirty="0"/>
          </a:p>
        </p:txBody>
      </p:sp>
      <p:sp>
        <p:nvSpPr>
          <p:cNvPr id="87" name="Shape 80"/>
          <p:cNvSpPr/>
          <p:nvPr/>
        </p:nvSpPr>
        <p:spPr>
          <a:xfrm>
            <a:off x="7589520" y="4977229"/>
            <a:ext cx="28575" cy="28575"/>
          </a:xfrm>
          <a:prstGeom prst="ellipse">
            <a:avLst/>
          </a:prstGeom>
          <a:solidFill>
            <a:srgbClr val="B08D5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" cy="685800"/>
          </a:xfrm>
          <a:prstGeom prst="rect">
            <a:avLst/>
          </a:prstGeom>
          <a:gradFill rotWithShape="1">
            <a:gsLst>
              <a:gs pos="0">
                <a:srgbClr val="B08D57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458200" y="4457700"/>
            <a:ext cx="685800" cy="685800"/>
          </a:xfrm>
          <a:prstGeom prst="rect">
            <a:avLst/>
          </a:prstGeom>
          <a:gradFill rotWithShape="1">
            <a:gsLst>
              <a:gs pos="0">
                <a:srgbClr val="0D2137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135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457200" y="0"/>
            <a:ext cx="5715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B08D57">
                  <a:alpha val="12000"/>
                </a:srgbClr>
              </a:gs>
              <a:gs pos="80000">
                <a:srgbClr val="B08D57">
                  <a:alpha val="12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8681085" y="0"/>
            <a:ext cx="5715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B08D57">
                  <a:alpha val="12000"/>
                </a:srgbClr>
              </a:gs>
              <a:gs pos="80000">
                <a:srgbClr val="B08D57">
                  <a:alpha val="12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7772400" y="171450"/>
            <a:ext cx="2057400" cy="10287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dirty="0">
                <a:solidFill>
                  <a:srgbClr val="0D2137">
                    <a:alpha val="3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”</a:t>
            </a:r>
            <a:endParaRPr lang="en-US" sz="8100" dirty="0"/>
          </a:p>
        </p:txBody>
      </p:sp>
      <p:sp>
        <p:nvSpPr>
          <p:cNvPr id="7" name="Text 5"/>
          <p:cNvSpPr/>
          <p:nvPr/>
        </p:nvSpPr>
        <p:spPr>
          <a:xfrm>
            <a:off x="342900" y="342900"/>
            <a:ext cx="36576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80" kern="0" dirty="0">
                <a:solidFill>
                  <a:srgbClr val="B08D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结·语</a:t>
            </a:r>
            <a:endParaRPr lang="en-US" sz="585" dirty="0"/>
          </a:p>
        </p:txBody>
      </p:sp>
      <p:sp>
        <p:nvSpPr>
          <p:cNvPr id="8" name="Text 6"/>
          <p:cNvSpPr/>
          <p:nvPr/>
        </p:nvSpPr>
        <p:spPr>
          <a:xfrm>
            <a:off x="342900" y="485775"/>
            <a:ext cx="2274570" cy="3943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60" b="1" spc="90" kern="0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致谢与延伸阅读</a:t>
            </a:r>
            <a:endParaRPr lang="en-US" sz="2160" dirty="0"/>
          </a:p>
        </p:txBody>
      </p:sp>
      <p:sp>
        <p:nvSpPr>
          <p:cNvPr id="9" name="Text 7"/>
          <p:cNvSpPr/>
          <p:nvPr/>
        </p:nvSpPr>
        <p:spPr>
          <a:xfrm>
            <a:off x="342900" y="957798"/>
            <a:ext cx="419892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spc="45" kern="0" dirty="0">
                <a:solidFill>
                  <a:srgbClr val="5A64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感谢每一位读者与我们共同探索开源治理与互惠分享之道。以下是本期核心回顾与下期预告。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342900" y="1214973"/>
            <a:ext cx="8458200" cy="5715"/>
          </a:xfrm>
          <a:prstGeom prst="rect">
            <a:avLst/>
          </a:prstGeom>
          <a:gradFill rotWithShape="1">
            <a:gsLst>
              <a:gs pos="0">
                <a:srgbClr val="B08D57"/>
              </a:gs>
              <a:gs pos="40000">
                <a:srgbClr val="C9BFAE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1" name="Shape 9"/>
          <p:cNvSpPr/>
          <p:nvPr/>
        </p:nvSpPr>
        <p:spPr>
          <a:xfrm>
            <a:off x="342900" y="1357848"/>
            <a:ext cx="342900" cy="1143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2" name="Shape 10"/>
          <p:cNvSpPr/>
          <p:nvPr/>
        </p:nvSpPr>
        <p:spPr>
          <a:xfrm>
            <a:off x="342900" y="1655028"/>
            <a:ext cx="2712660" cy="1890951"/>
          </a:xfrm>
          <a:prstGeom prst="rect">
            <a:avLst/>
          </a:prstGeom>
          <a:solidFill>
            <a:srgbClr val="0D2137">
              <a:alpha val="3000"/>
            </a:srgbClr>
          </a:solidFill>
          <a:ln w="17145">
            <a:solidFill>
              <a:srgbClr val="B08D57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" y="1637883"/>
            <a:ext cx="228600" cy="1714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" name="Text 12"/>
          <p:cNvSpPr/>
          <p:nvPr/>
        </p:nvSpPr>
        <p:spPr>
          <a:xfrm>
            <a:off x="508635" y="1809333"/>
            <a:ext cx="493776" cy="2914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1620" dirty="0"/>
          </a:p>
        </p:txBody>
      </p:sp>
      <p:sp>
        <p:nvSpPr>
          <p:cNvPr id="15" name="Shape 13"/>
          <p:cNvSpPr/>
          <p:nvPr/>
        </p:nvSpPr>
        <p:spPr>
          <a:xfrm>
            <a:off x="508635" y="2152233"/>
            <a:ext cx="251460" cy="251460"/>
          </a:xfrm>
          <a:prstGeom prst="ellipse">
            <a:avLst/>
          </a:prstGeom>
          <a:solidFill>
            <a:srgbClr val="B08D57">
              <a:alpha val="6000"/>
            </a:srgbClr>
          </a:solidFill>
          <a:ln w="11430">
            <a:solidFill>
              <a:srgbClr val="B08D57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2215098"/>
            <a:ext cx="125730" cy="1257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8635" y="2500848"/>
            <a:ext cx="68580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互惠三形态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8635" y="2740878"/>
            <a:ext cx="2598725" cy="384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5A64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从直接互惠、间接互惠到网络互惠，揭示了开源生态中互惠机制的多元路径与核心逻辑，阐明开源贡献者如何通过多重形态实现价值流转与社群维系。</a:t>
            </a:r>
            <a:endParaRPr lang="en-US" sz="608" dirty="0"/>
          </a:p>
        </p:txBody>
      </p:sp>
      <p:sp>
        <p:nvSpPr>
          <p:cNvPr id="19" name="Shape 16"/>
          <p:cNvSpPr/>
          <p:nvPr/>
        </p:nvSpPr>
        <p:spPr>
          <a:xfrm>
            <a:off x="508635" y="3220224"/>
            <a:ext cx="400050" cy="137160"/>
          </a:xfrm>
          <a:prstGeom prst="rect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" y="3243084"/>
            <a:ext cx="3371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8D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核心逻辑</a:t>
            </a:r>
            <a:endParaRPr lang="en-US" sz="495" dirty="0"/>
          </a:p>
        </p:txBody>
      </p:sp>
      <p:sp>
        <p:nvSpPr>
          <p:cNvPr id="21" name="Shape 18"/>
          <p:cNvSpPr/>
          <p:nvPr/>
        </p:nvSpPr>
        <p:spPr>
          <a:xfrm>
            <a:off x="3215580" y="1655028"/>
            <a:ext cx="2712750" cy="1890951"/>
          </a:xfrm>
          <a:prstGeom prst="rect">
            <a:avLst/>
          </a:prstGeom>
          <a:solidFill>
            <a:srgbClr val="0D2137">
              <a:alpha val="3000"/>
            </a:srgbClr>
          </a:solidFill>
          <a:ln w="17145">
            <a:solidFill>
              <a:srgbClr val="B08D57">
                <a:alpha val="2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15580" y="1637883"/>
            <a:ext cx="228600" cy="1714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3" name="Text 20"/>
          <p:cNvSpPr/>
          <p:nvPr/>
        </p:nvSpPr>
        <p:spPr>
          <a:xfrm>
            <a:off x="3381315" y="1809333"/>
            <a:ext cx="493776" cy="2914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1620" dirty="0"/>
          </a:p>
        </p:txBody>
      </p:sp>
      <p:sp>
        <p:nvSpPr>
          <p:cNvPr id="24" name="Shape 21"/>
          <p:cNvSpPr/>
          <p:nvPr/>
        </p:nvSpPr>
        <p:spPr>
          <a:xfrm>
            <a:off x="3381315" y="2152233"/>
            <a:ext cx="251460" cy="251460"/>
          </a:xfrm>
          <a:prstGeom prst="ellipse">
            <a:avLst/>
          </a:prstGeom>
          <a:solidFill>
            <a:srgbClr val="B08D57">
              <a:alpha val="6000"/>
            </a:srgbClr>
          </a:solidFill>
          <a:ln w="11430">
            <a:solidFill>
              <a:srgbClr val="B08D57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4180" y="2215098"/>
            <a:ext cx="125730" cy="12573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381315" y="2500848"/>
            <a:ext cx="1152144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企业动因与布道实践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381315" y="2740878"/>
            <a:ext cx="2598725" cy="384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5A64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剖析企业参与开源的战略动因，涵盖技术生态建设、品牌影响力塑造与人才培养等多维目标，并结合布道实践与落地策略提供可操作的行动框架。</a:t>
            </a:r>
            <a:endParaRPr lang="en-US" sz="608" dirty="0"/>
          </a:p>
        </p:txBody>
      </p:sp>
      <p:sp>
        <p:nvSpPr>
          <p:cNvPr id="28" name="Shape 24"/>
          <p:cNvSpPr/>
          <p:nvPr/>
        </p:nvSpPr>
        <p:spPr>
          <a:xfrm>
            <a:off x="3381315" y="3220224"/>
            <a:ext cx="400050" cy="137160"/>
          </a:xfrm>
          <a:prstGeom prst="rect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444180" y="3243084"/>
            <a:ext cx="3371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8D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落地策略</a:t>
            </a:r>
            <a:endParaRPr lang="en-US" sz="495" dirty="0"/>
          </a:p>
        </p:txBody>
      </p:sp>
      <p:sp>
        <p:nvSpPr>
          <p:cNvPr id="30" name="Shape 26"/>
          <p:cNvSpPr/>
          <p:nvPr/>
        </p:nvSpPr>
        <p:spPr>
          <a:xfrm>
            <a:off x="6088350" y="1655028"/>
            <a:ext cx="2712750" cy="1890951"/>
          </a:xfrm>
          <a:prstGeom prst="rect">
            <a:avLst/>
          </a:prstGeom>
          <a:solidFill>
            <a:srgbClr val="0D2137">
              <a:alpha val="3000"/>
            </a:srgbClr>
          </a:solidFill>
          <a:ln w="17145">
            <a:solidFill>
              <a:srgbClr val="B08D57">
                <a:alpha val="2000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088350" y="1637883"/>
            <a:ext cx="228600" cy="17145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2" name="Text 28"/>
          <p:cNvSpPr/>
          <p:nvPr/>
        </p:nvSpPr>
        <p:spPr>
          <a:xfrm>
            <a:off x="6254085" y="1809333"/>
            <a:ext cx="493776" cy="2914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1620" dirty="0"/>
          </a:p>
        </p:txBody>
      </p:sp>
      <p:sp>
        <p:nvSpPr>
          <p:cNvPr id="33" name="Shape 29"/>
          <p:cNvSpPr/>
          <p:nvPr/>
        </p:nvSpPr>
        <p:spPr>
          <a:xfrm>
            <a:off x="6254085" y="2152233"/>
            <a:ext cx="251460" cy="251460"/>
          </a:xfrm>
          <a:prstGeom prst="ellipse">
            <a:avLst/>
          </a:prstGeom>
          <a:solidFill>
            <a:srgbClr val="B08D57">
              <a:alpha val="6000"/>
            </a:srgbClr>
          </a:solidFill>
          <a:ln w="11430">
            <a:solidFill>
              <a:srgbClr val="B08D57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6950" y="2215098"/>
            <a:ext cx="125730" cy="12573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254085" y="2500848"/>
            <a:ext cx="160020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D213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下期预告：《大教堂与集市》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254085" y="2740878"/>
            <a:ext cx="2579522" cy="2493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5A64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下期将深入对比开源治理的两种经典模式——"大教堂"集中式治理与"集市"开放分布式治理，探讨各自的演进路径与适用场景。</a:t>
            </a:r>
            <a:endParaRPr lang="en-US" sz="608" dirty="0"/>
          </a:p>
        </p:txBody>
      </p:sp>
      <p:sp>
        <p:nvSpPr>
          <p:cNvPr id="37" name="Shape 32"/>
          <p:cNvSpPr/>
          <p:nvPr/>
        </p:nvSpPr>
        <p:spPr>
          <a:xfrm>
            <a:off x="6254085" y="3085207"/>
            <a:ext cx="400050" cy="137160"/>
          </a:xfrm>
          <a:prstGeom prst="rect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316950" y="3108067"/>
            <a:ext cx="3371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B08D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开源治理</a:t>
            </a:r>
            <a:endParaRPr lang="en-US" sz="495" dirty="0"/>
          </a:p>
        </p:txBody>
      </p:sp>
      <p:sp>
        <p:nvSpPr>
          <p:cNvPr id="39" name="Text 34"/>
          <p:cNvSpPr/>
          <p:nvPr/>
        </p:nvSpPr>
        <p:spPr>
          <a:xfrm>
            <a:off x="342900" y="4208919"/>
            <a:ext cx="23431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8D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期 数</a:t>
            </a:r>
            <a:endParaRPr lang="en-US" sz="495" dirty="0"/>
          </a:p>
        </p:txBody>
      </p:sp>
      <p:sp>
        <p:nvSpPr>
          <p:cNvPr id="40" name="Text 35"/>
          <p:cNvSpPr/>
          <p:nvPr/>
        </p:nvSpPr>
        <p:spPr>
          <a:xfrm>
            <a:off x="342900" y="4323219"/>
            <a:ext cx="35433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5A64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10 期</a:t>
            </a:r>
            <a:endParaRPr lang="en-US" sz="585" dirty="0"/>
          </a:p>
        </p:txBody>
      </p:sp>
      <p:sp>
        <p:nvSpPr>
          <p:cNvPr id="41" name="Text 36"/>
          <p:cNvSpPr/>
          <p:nvPr/>
        </p:nvSpPr>
        <p:spPr>
          <a:xfrm>
            <a:off x="897255" y="4208919"/>
            <a:ext cx="36004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8D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下期主题</a:t>
            </a:r>
            <a:endParaRPr lang="en-US" sz="495" dirty="0"/>
          </a:p>
        </p:txBody>
      </p:sp>
      <p:sp>
        <p:nvSpPr>
          <p:cNvPr id="42" name="Text 37"/>
          <p:cNvSpPr/>
          <p:nvPr/>
        </p:nvSpPr>
        <p:spPr>
          <a:xfrm>
            <a:off x="897255" y="4323219"/>
            <a:ext cx="69151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5A64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《大教堂与集市》</a:t>
            </a:r>
            <a:endParaRPr lang="en-US" sz="585" dirty="0"/>
          </a:p>
        </p:txBody>
      </p:sp>
      <p:sp>
        <p:nvSpPr>
          <p:cNvPr id="43" name="Text 38"/>
          <p:cNvSpPr/>
          <p:nvPr/>
        </p:nvSpPr>
        <p:spPr>
          <a:xfrm>
            <a:off x="1788795" y="4208919"/>
            <a:ext cx="23431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B08D5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致 谢</a:t>
            </a:r>
            <a:endParaRPr lang="en-US" sz="495" dirty="0"/>
          </a:p>
        </p:txBody>
      </p:sp>
      <p:sp>
        <p:nvSpPr>
          <p:cNvPr id="44" name="Text 39"/>
          <p:cNvSpPr/>
          <p:nvPr/>
        </p:nvSpPr>
        <p:spPr>
          <a:xfrm>
            <a:off x="1788795" y="4323219"/>
            <a:ext cx="38290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3" kern="0" dirty="0">
                <a:solidFill>
                  <a:srgbClr val="5A64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全体读者</a:t>
            </a:r>
            <a:endParaRPr lang="en-US" sz="585" dirty="0"/>
          </a:p>
        </p:txBody>
      </p:sp>
      <p:sp>
        <p:nvSpPr>
          <p:cNvPr id="45" name="Shape 40"/>
          <p:cNvSpPr/>
          <p:nvPr/>
        </p:nvSpPr>
        <p:spPr>
          <a:xfrm>
            <a:off x="8172450" y="3803154"/>
            <a:ext cx="628650" cy="628650"/>
          </a:xfrm>
          <a:prstGeom prst="roundRect">
            <a:avLst>
              <a:gd name="adj" fmla="val 9091"/>
            </a:avLst>
          </a:prstGeom>
          <a:solidFill>
            <a:srgbClr val="B08D57">
              <a:alpha val="4000"/>
            </a:srgbClr>
          </a:solidFill>
          <a:ln w="17145">
            <a:solidFill>
              <a:srgbClr val="B08D57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166735" y="3797439"/>
            <a:ext cx="45720" cy="45720"/>
          </a:xfrm>
          <a:prstGeom prst="rect">
            <a:avLst/>
          </a:prstGeom>
          <a:noFill/>
          <a:ln/>
        </p:spPr>
      </p:sp>
      <p:sp>
        <p:nvSpPr>
          <p:cNvPr id="47" name="Shape 42"/>
          <p:cNvSpPr/>
          <p:nvPr/>
        </p:nvSpPr>
        <p:spPr>
          <a:xfrm>
            <a:off x="8166735" y="3797439"/>
            <a:ext cx="45720" cy="0"/>
          </a:xfrm>
          <a:prstGeom prst="lin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8166735" y="3797439"/>
            <a:ext cx="0" cy="45720"/>
          </a:xfrm>
          <a:prstGeom prst="lin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8761095" y="3797439"/>
            <a:ext cx="45720" cy="45720"/>
          </a:xfrm>
          <a:prstGeom prst="rect">
            <a:avLst/>
          </a:prstGeom>
          <a:noFill/>
          <a:ln/>
        </p:spPr>
      </p:sp>
      <p:sp>
        <p:nvSpPr>
          <p:cNvPr id="50" name="Shape 45"/>
          <p:cNvSpPr/>
          <p:nvPr/>
        </p:nvSpPr>
        <p:spPr>
          <a:xfrm>
            <a:off x="8761095" y="3797439"/>
            <a:ext cx="45720" cy="0"/>
          </a:xfrm>
          <a:prstGeom prst="lin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8806815" y="3797439"/>
            <a:ext cx="0" cy="45720"/>
          </a:xfrm>
          <a:prstGeom prst="lin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8166735" y="4391799"/>
            <a:ext cx="45720" cy="45720"/>
          </a:xfrm>
          <a:prstGeom prst="rect">
            <a:avLst/>
          </a:prstGeom>
          <a:noFill/>
          <a:ln/>
        </p:spPr>
      </p:sp>
      <p:sp>
        <p:nvSpPr>
          <p:cNvPr id="53" name="Shape 48"/>
          <p:cNvSpPr/>
          <p:nvPr/>
        </p:nvSpPr>
        <p:spPr>
          <a:xfrm>
            <a:off x="8166735" y="4437519"/>
            <a:ext cx="45720" cy="0"/>
          </a:xfrm>
          <a:prstGeom prst="lin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8166735" y="4391799"/>
            <a:ext cx="0" cy="45720"/>
          </a:xfrm>
          <a:prstGeom prst="lin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761095" y="4391799"/>
            <a:ext cx="45720" cy="45720"/>
          </a:xfrm>
          <a:prstGeom prst="rect">
            <a:avLst/>
          </a:prstGeom>
          <a:noFill/>
          <a:ln/>
        </p:spPr>
      </p:sp>
      <p:sp>
        <p:nvSpPr>
          <p:cNvPr id="56" name="Shape 51"/>
          <p:cNvSpPr/>
          <p:nvPr/>
        </p:nvSpPr>
        <p:spPr>
          <a:xfrm>
            <a:off x="8806815" y="4391799"/>
            <a:ext cx="0" cy="45720"/>
          </a:xfrm>
          <a:prstGeom prst="lin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8761095" y="4437519"/>
            <a:ext cx="45720" cy="0"/>
          </a:xfrm>
          <a:prstGeom prst="line">
            <a:avLst/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8235315" y="3866019"/>
            <a:ext cx="502920" cy="502920"/>
          </a:xfrm>
          <a:prstGeom prst="roundRect">
            <a:avLst>
              <a:gd name="adj" fmla="val 6818"/>
            </a:avLst>
          </a:prstGeom>
          <a:noFill/>
          <a:ln w="5715">
            <a:solidFill>
              <a:srgbClr val="B08D57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8277552" y="4043184"/>
            <a:ext cx="15430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spc="90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互惠</a:t>
            </a:r>
            <a:endParaRPr lang="en-US" sz="495" dirty="0"/>
          </a:p>
        </p:txBody>
      </p:sp>
      <p:sp>
        <p:nvSpPr>
          <p:cNvPr id="60" name="Text 55"/>
          <p:cNvSpPr/>
          <p:nvPr/>
        </p:nvSpPr>
        <p:spPr>
          <a:xfrm>
            <a:off x="8395335" y="3986570"/>
            <a:ext cx="26289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30" b="1" spc="90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开源</a:t>
            </a:r>
            <a:endParaRPr lang="en-US" sz="630" dirty="0"/>
          </a:p>
        </p:txBody>
      </p:sp>
      <p:sp>
        <p:nvSpPr>
          <p:cNvPr id="61" name="Shape 56"/>
          <p:cNvSpPr/>
          <p:nvPr/>
        </p:nvSpPr>
        <p:spPr>
          <a:xfrm>
            <a:off x="8343900" y="4116854"/>
            <a:ext cx="285750" cy="5715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2" name="Text 57"/>
          <p:cNvSpPr/>
          <p:nvPr/>
        </p:nvSpPr>
        <p:spPr>
          <a:xfrm>
            <a:off x="8406765" y="4145429"/>
            <a:ext cx="22288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分享</a:t>
            </a:r>
            <a:endParaRPr lang="en-US" sz="495" dirty="0"/>
          </a:p>
        </p:txBody>
      </p:sp>
      <p:sp>
        <p:nvSpPr>
          <p:cNvPr id="63" name="Text 58"/>
          <p:cNvSpPr/>
          <p:nvPr/>
        </p:nvSpPr>
        <p:spPr>
          <a:xfrm>
            <a:off x="8612505" y="4043184"/>
            <a:ext cx="15430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spc="90" kern="0" dirty="0">
                <a:solidFill>
                  <a:srgbClr val="B08D5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布道</a:t>
            </a:r>
            <a:endParaRPr lang="en-US" sz="495" dirty="0"/>
          </a:p>
        </p:txBody>
      </p:sp>
      <p:sp>
        <p:nvSpPr>
          <p:cNvPr id="64" name="Shape 59"/>
          <p:cNvSpPr/>
          <p:nvPr/>
        </p:nvSpPr>
        <p:spPr>
          <a:xfrm>
            <a:off x="342900" y="4880610"/>
            <a:ext cx="8458200" cy="5715"/>
          </a:xfrm>
          <a:prstGeom prst="rect">
            <a:avLst/>
          </a:prstGeom>
          <a:gradFill rotWithShape="1">
            <a:gsLst>
              <a:gs pos="0">
                <a:srgbClr val="C9BFAE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5" name="Text 60"/>
          <p:cNvSpPr/>
          <p:nvPr/>
        </p:nvSpPr>
        <p:spPr>
          <a:xfrm>
            <a:off x="342900" y="4703445"/>
            <a:ext cx="28003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5A647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P. 10</a:t>
            </a:r>
            <a:endParaRPr lang="en-US" sz="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2026-08-28T18:35:15Z</dcterms:created>
  <dcterms:modified xsi:type="dcterms:W3CDTF">2026-08-28T18:35:15Z</dcterms:modified>
</cp:coreProperties>
</file>