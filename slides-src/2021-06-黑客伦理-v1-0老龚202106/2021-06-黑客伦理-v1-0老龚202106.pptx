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GitHub 仓库数 (百万)</c:v>
                </c:pt>
              </c:strCache>
            </c:strRef>
          </c:tx>
          <c:spPr>
            <a:solidFill>
              <a:srgbClr val="00BC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2.2</c:v>
                </c:pt>
                <c:pt idx="1">
                  <c:v>3.5</c:v>
                </c:pt>
                <c:pt idx="2">
                  <c:v>5</c:v>
                </c:pt>
                <c:pt idx="3">
                  <c:v>9</c:v>
                </c:pt>
                <c:pt idx="4">
                  <c:v>14</c:v>
                </c:pt>
                <c:pt idx="5">
                  <c:v>20</c:v>
                </c:pt>
                <c:pt idx="6">
                  <c:v>28</c:v>
                </c:pt>
                <c:pt idx="7">
                  <c:v>40</c:v>
                </c:pt>
                <c:pt idx="8">
                  <c:v>55</c:v>
                </c:pt>
                <c:pt idx="9">
                  <c:v>80</c:v>
                </c:pt>
                <c:pt idx="10">
                  <c:v>130</c:v>
                </c:pt>
                <c:pt idx="11">
                  <c:v>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A3A52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AA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B0BEC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6E707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A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B0BEC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BCD4">
              <a:alpha val="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BCD4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19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71450"/>
            <a:ext cx="47434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546E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系统就绪</a:t>
            </a:r>
            <a:endParaRPr lang="en-US" sz="495" dirty="0"/>
          </a:p>
        </p:txBody>
      </p:sp>
      <p:sp>
        <p:nvSpPr>
          <p:cNvPr id="6" name="Text 4"/>
          <p:cNvSpPr/>
          <p:nvPr/>
        </p:nvSpPr>
        <p:spPr>
          <a:xfrm>
            <a:off x="8343900" y="171450"/>
            <a:ext cx="54292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546E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协议初始化</a:t>
            </a:r>
            <a:endParaRPr lang="en-US" sz="495" dirty="0"/>
          </a:p>
        </p:txBody>
      </p:sp>
      <p:sp>
        <p:nvSpPr>
          <p:cNvPr id="7" name="Text 5"/>
          <p:cNvSpPr/>
          <p:nvPr/>
        </p:nvSpPr>
        <p:spPr>
          <a:xfrm>
            <a:off x="320040" y="4903470"/>
            <a:ext cx="49720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546E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[状态：在线]</a:t>
            </a:r>
            <a:endParaRPr lang="en-US" sz="495" dirty="0"/>
          </a:p>
        </p:txBody>
      </p:sp>
      <p:sp>
        <p:nvSpPr>
          <p:cNvPr id="8" name="Text 6"/>
          <p:cNvSpPr/>
          <p:nvPr/>
        </p:nvSpPr>
        <p:spPr>
          <a:xfrm>
            <a:off x="8389620" y="4903470"/>
            <a:ext cx="49720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546E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[渲染：活跃]</a:t>
            </a:r>
            <a:endParaRPr lang="en-US" sz="495" dirty="0"/>
          </a:p>
        </p:txBody>
      </p:sp>
      <p:sp>
        <p:nvSpPr>
          <p:cNvPr id="9" name="Text 7"/>
          <p:cNvSpPr/>
          <p:nvPr/>
        </p:nvSpPr>
        <p:spPr>
          <a:xfrm>
            <a:off x="320040" y="434340"/>
            <a:ext cx="992124" cy="97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5" spc="45" kern="0" dirty="0">
                <a:solidFill>
                  <a:srgbClr val="546E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pPr algn="l" indent="0" marL="0">
              <a:buNone/>
            </a:pPr>
            <a:r>
              <a:rPr lang="en-US" sz="585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 </a:t>
            </a:r>
            <a:pPr algn="l" indent="0" marL="0">
              <a:buNone/>
            </a:pPr>
            <a:r>
              <a:rPr lang="en-US" sz="585" spc="45" kern="0" dirty="0">
                <a:solidFill>
                  <a:srgbClr val="546E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黑客伦理.txt </a:t>
            </a:r>
            <a:endParaRPr lang="en-US" sz="585" dirty="0"/>
          </a:p>
        </p:txBody>
      </p:sp>
      <p:sp>
        <p:nvSpPr>
          <p:cNvPr id="10" name="Shape 8"/>
          <p:cNvSpPr/>
          <p:nvPr/>
        </p:nvSpPr>
        <p:spPr>
          <a:xfrm>
            <a:off x="1234440" y="428625"/>
            <a:ext cx="51435" cy="914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622935"/>
            <a:ext cx="1268730" cy="7829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680" b="1" spc="630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黑</a:t>
            </a:r>
            <a:endParaRPr lang="en-US" sz="4680" dirty="0"/>
          </a:p>
        </p:txBody>
      </p:sp>
      <p:sp>
        <p:nvSpPr>
          <p:cNvPr id="12" name="Text 10"/>
          <p:cNvSpPr/>
          <p:nvPr/>
        </p:nvSpPr>
        <p:spPr>
          <a:xfrm>
            <a:off x="994410" y="622935"/>
            <a:ext cx="1268730" cy="782955"/>
          </a:xfrm>
          <a:prstGeom prst="rect">
            <a:avLst/>
          </a:prstGeom>
          <a:noFill/>
          <a:ln/>
          <a:effectLst>
            <a:outerShdw sx="100000" sy="100000" kx="0" ky="0" algn="bl" rotWithShape="0" blurRad="125730" dist="50800" dir="5400000">
              <a:srgbClr val="00BCD4">
                <a:alpha val="5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680" b="1" spc="63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客</a:t>
            </a:r>
            <a:endParaRPr lang="en-US" sz="4680" dirty="0"/>
          </a:p>
        </p:txBody>
      </p:sp>
      <p:sp>
        <p:nvSpPr>
          <p:cNvPr id="13" name="Text 11"/>
          <p:cNvSpPr/>
          <p:nvPr/>
        </p:nvSpPr>
        <p:spPr>
          <a:xfrm>
            <a:off x="1668780" y="622935"/>
            <a:ext cx="1268730" cy="7829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680" b="1" spc="630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伦</a:t>
            </a:r>
            <a:endParaRPr lang="en-US" sz="4680" dirty="0"/>
          </a:p>
        </p:txBody>
      </p:sp>
      <p:sp>
        <p:nvSpPr>
          <p:cNvPr id="14" name="Text 12"/>
          <p:cNvSpPr/>
          <p:nvPr/>
        </p:nvSpPr>
        <p:spPr>
          <a:xfrm>
            <a:off x="2343150" y="622935"/>
            <a:ext cx="1268730" cy="782955"/>
          </a:xfrm>
          <a:prstGeom prst="rect">
            <a:avLst/>
          </a:prstGeom>
          <a:noFill/>
          <a:ln/>
          <a:effectLst>
            <a:outerShdw sx="100000" sy="100000" kx="0" ky="0" algn="bl" rotWithShape="0" blurRad="125730" dist="50800" dir="5400000">
              <a:srgbClr val="00BCD4">
                <a:alpha val="5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680" b="1" spc="63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理</a:t>
            </a:r>
            <a:endParaRPr lang="en-US" sz="4680" dirty="0"/>
          </a:p>
        </p:txBody>
      </p:sp>
      <p:sp>
        <p:nvSpPr>
          <p:cNvPr id="15" name="Shape 13"/>
          <p:cNvSpPr/>
          <p:nvPr/>
        </p:nvSpPr>
        <p:spPr>
          <a:xfrm>
            <a:off x="320040" y="1470987"/>
            <a:ext cx="1257300" cy="1143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6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1625292"/>
            <a:ext cx="196632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spc="180" kern="0" dirty="0">
                <a:solidFill>
                  <a:srgbClr val="546E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▶</a:t>
            </a:r>
            <a:endParaRPr lang="en-US" sz="855" dirty="0"/>
          </a:p>
        </p:txBody>
      </p:sp>
      <p:sp>
        <p:nvSpPr>
          <p:cNvPr id="17" name="Text 15"/>
          <p:cNvSpPr/>
          <p:nvPr/>
        </p:nvSpPr>
        <p:spPr>
          <a:xfrm>
            <a:off x="465237" y="1625292"/>
            <a:ext cx="897255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spc="18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开源之书分享</a:t>
            </a:r>
            <a:endParaRPr lang="en-US" sz="855" dirty="0"/>
          </a:p>
        </p:txBody>
      </p:sp>
      <p:sp>
        <p:nvSpPr>
          <p:cNvPr id="18" name="Text 16"/>
          <p:cNvSpPr/>
          <p:nvPr/>
        </p:nvSpPr>
        <p:spPr>
          <a:xfrm>
            <a:off x="1311057" y="1625292"/>
            <a:ext cx="194310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spc="180" kern="0" dirty="0">
                <a:solidFill>
                  <a:srgbClr val="546E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855" dirty="0"/>
          </a:p>
        </p:txBody>
      </p:sp>
      <p:sp>
        <p:nvSpPr>
          <p:cNvPr id="19" name="Text 17"/>
          <p:cNvSpPr/>
          <p:nvPr/>
        </p:nvSpPr>
        <p:spPr>
          <a:xfrm>
            <a:off x="1453932" y="1625292"/>
            <a:ext cx="708660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spc="180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2021-06</a:t>
            </a:r>
            <a:endParaRPr lang="en-US" sz="855" dirty="0"/>
          </a:p>
        </p:txBody>
      </p:sp>
      <p:sp>
        <p:nvSpPr>
          <p:cNvPr id="20" name="Shape 18"/>
          <p:cNvSpPr/>
          <p:nvPr/>
        </p:nvSpPr>
        <p:spPr>
          <a:xfrm>
            <a:off x="320040" y="2019627"/>
            <a:ext cx="4400550" cy="991553"/>
          </a:xfrm>
          <a:prstGeom prst="roundRect">
            <a:avLst>
              <a:gd name="adj" fmla="val 1729"/>
            </a:avLst>
          </a:prstGeom>
          <a:solidFill>
            <a:srgbClr val="262637"/>
          </a:solidFill>
          <a:ln w="17145">
            <a:solidFill>
              <a:srgbClr val="00BCD4">
                <a:alpha val="22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00BCD4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1962477"/>
            <a:ext cx="171450" cy="74295"/>
          </a:xfrm>
          <a:prstGeom prst="roundRect">
            <a:avLst>
              <a:gd name="adj" fmla="val 15385"/>
            </a:avLst>
          </a:prstGeom>
          <a:solidFill>
            <a:srgbClr val="00BCD4"/>
          </a:solidFill>
          <a:ln/>
        </p:spPr>
      </p:sp>
      <p:sp>
        <p:nvSpPr>
          <p:cNvPr id="22" name="Text 20"/>
          <p:cNvSpPr/>
          <p:nvPr/>
        </p:nvSpPr>
        <p:spPr>
          <a:xfrm>
            <a:off x="497205" y="2219652"/>
            <a:ext cx="145733" cy="14573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75" b="1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628650" y="2231082"/>
            <a:ext cx="440055" cy="12626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546E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share_by</a:t>
            </a:r>
            <a:endParaRPr lang="en-US" sz="585" dirty="0"/>
          </a:p>
        </p:txBody>
      </p:sp>
      <p:sp>
        <p:nvSpPr>
          <p:cNvPr id="24" name="Text 22"/>
          <p:cNvSpPr/>
          <p:nvPr/>
        </p:nvSpPr>
        <p:spPr>
          <a:xfrm>
            <a:off x="1074420" y="2213937"/>
            <a:ext cx="960120" cy="1408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53" dirty="0">
                <a:solidFill>
                  <a:srgbClr val="B0BEC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老龚，开源之道·适兕</a:t>
            </a:r>
            <a:endParaRPr lang="en-US" sz="653" dirty="0"/>
          </a:p>
        </p:txBody>
      </p:sp>
      <p:sp>
        <p:nvSpPr>
          <p:cNvPr id="25" name="Shape 23"/>
          <p:cNvSpPr/>
          <p:nvPr/>
        </p:nvSpPr>
        <p:spPr>
          <a:xfrm>
            <a:off x="497205" y="2405390"/>
            <a:ext cx="4057650" cy="237173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497205" y="2405390"/>
            <a:ext cx="4057650" cy="0"/>
          </a:xfrm>
          <a:prstGeom prst="line">
            <a:avLst/>
          </a:prstGeom>
          <a:noFill/>
          <a:ln w="5715">
            <a:solidFill>
              <a:srgbClr val="B0BEC5">
                <a:alpha val="10000"/>
              </a:srgbClr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97205" y="2456825"/>
            <a:ext cx="145733" cy="14573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75" b="1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628650" y="2468255"/>
            <a:ext cx="302895" cy="12626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546E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topic</a:t>
            </a:r>
            <a:endParaRPr lang="en-US" sz="585" dirty="0"/>
          </a:p>
        </p:txBody>
      </p:sp>
      <p:sp>
        <p:nvSpPr>
          <p:cNvPr id="29" name="Text 27"/>
          <p:cNvSpPr/>
          <p:nvPr/>
        </p:nvSpPr>
        <p:spPr>
          <a:xfrm>
            <a:off x="937260" y="2451110"/>
            <a:ext cx="1248156" cy="1408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53" dirty="0">
                <a:solidFill>
                  <a:srgbClr val="B0BEC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从黑客伦理看开源精神的内核</a:t>
            </a:r>
            <a:endParaRPr lang="en-US" sz="653" dirty="0"/>
          </a:p>
        </p:txBody>
      </p:sp>
      <p:sp>
        <p:nvSpPr>
          <p:cNvPr id="30" name="Shape 28"/>
          <p:cNvSpPr/>
          <p:nvPr/>
        </p:nvSpPr>
        <p:spPr>
          <a:xfrm>
            <a:off x="497205" y="2642562"/>
            <a:ext cx="4057650" cy="237173"/>
          </a:xfrm>
          <a:prstGeom prst="rect">
            <a:avLst/>
          </a:prstGeom>
          <a:noFill/>
          <a:ln/>
        </p:spPr>
      </p:sp>
      <p:sp>
        <p:nvSpPr>
          <p:cNvPr id="31" name="Shape 29"/>
          <p:cNvSpPr/>
          <p:nvPr/>
        </p:nvSpPr>
        <p:spPr>
          <a:xfrm>
            <a:off x="497205" y="2642562"/>
            <a:ext cx="4057650" cy="0"/>
          </a:xfrm>
          <a:prstGeom prst="line">
            <a:avLst/>
          </a:prstGeom>
          <a:noFill/>
          <a:ln w="5715">
            <a:solidFill>
              <a:srgbClr val="B0BEC5">
                <a:alpha val="10000"/>
              </a:srgbClr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497205" y="2693997"/>
            <a:ext cx="145733" cy="14573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75" b="1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628650" y="2705427"/>
            <a:ext cx="394335" cy="12626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546E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version</a:t>
            </a:r>
            <a:endParaRPr lang="en-US" sz="585" dirty="0"/>
          </a:p>
        </p:txBody>
      </p:sp>
      <p:sp>
        <p:nvSpPr>
          <p:cNvPr id="34" name="Text 32"/>
          <p:cNvSpPr/>
          <p:nvPr/>
        </p:nvSpPr>
        <p:spPr>
          <a:xfrm>
            <a:off x="1028700" y="2688282"/>
            <a:ext cx="921715" cy="1408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53" dirty="0">
                <a:solidFill>
                  <a:srgbClr val="B0BEC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V1.0，2021年6月制作</a:t>
            </a:r>
            <a:endParaRPr lang="en-US" sz="653" dirty="0"/>
          </a:p>
        </p:txBody>
      </p:sp>
      <p:sp>
        <p:nvSpPr>
          <p:cNvPr id="35" name="Shape 33"/>
          <p:cNvSpPr/>
          <p:nvPr/>
        </p:nvSpPr>
        <p:spPr>
          <a:xfrm>
            <a:off x="320040" y="3171200"/>
            <a:ext cx="4114800" cy="245120"/>
          </a:xfrm>
          <a:prstGeom prst="rect">
            <a:avLst/>
          </a:prstGeom>
          <a:noFill/>
          <a:ln/>
        </p:spPr>
      </p:sp>
      <p:sp>
        <p:nvSpPr>
          <p:cNvPr id="36" name="Shape 34"/>
          <p:cNvSpPr/>
          <p:nvPr/>
        </p:nvSpPr>
        <p:spPr>
          <a:xfrm>
            <a:off x="320040" y="3171200"/>
            <a:ext cx="4114800" cy="0"/>
          </a:xfrm>
          <a:prstGeom prst="line">
            <a:avLst/>
          </a:prstGeom>
          <a:noFill/>
          <a:ln w="5715">
            <a:solidFill>
              <a:srgbClr val="B0BEC5">
                <a:alpha val="8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314075"/>
            <a:ext cx="33718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495" spc="45" kern="0" dirty="0">
                <a:solidFill>
                  <a:srgbClr val="0083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叙事</a:t>
            </a:r>
            <a:endParaRPr lang="en-US" sz="495" dirty="0"/>
          </a:p>
        </p:txBody>
      </p:sp>
      <p:sp>
        <p:nvSpPr>
          <p:cNvPr id="38" name="Text 36"/>
          <p:cNvSpPr/>
          <p:nvPr/>
        </p:nvSpPr>
        <p:spPr>
          <a:xfrm>
            <a:off x="651510" y="3291215"/>
            <a:ext cx="301198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563" spc="18" kern="0" dirty="0">
                <a:solidFill>
                  <a:srgbClr val="546E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围绕《</a:t>
            </a:r>
            <a:endParaRPr lang="en-US" sz="563" dirty="0"/>
          </a:p>
        </p:txBody>
      </p:sp>
      <p:sp>
        <p:nvSpPr>
          <p:cNvPr id="39" name="Text 37"/>
          <p:cNvSpPr/>
          <p:nvPr/>
        </p:nvSpPr>
        <p:spPr>
          <a:xfrm>
            <a:off x="881271" y="3291215"/>
            <a:ext cx="37781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563" spc="18" kern="0" dirty="0">
                <a:solidFill>
                  <a:srgbClr val="B0BEC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黑客伦理</a:t>
            </a:r>
            <a:endParaRPr lang="en-US" sz="563" dirty="0"/>
          </a:p>
        </p:txBody>
      </p:sp>
      <p:sp>
        <p:nvSpPr>
          <p:cNvPr id="40" name="Text 38"/>
          <p:cNvSpPr/>
          <p:nvPr/>
        </p:nvSpPr>
        <p:spPr>
          <a:xfrm>
            <a:off x="1187648" y="3291215"/>
            <a:ext cx="3345118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563" spc="18" kern="0" dirty="0">
                <a:solidFill>
                  <a:srgbClr val="546E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》展开，探讨黑客文化如何塑造开源社区的价值观与行动准则，为开发者提供思想底色。</a:t>
            </a:r>
            <a:endParaRPr lang="en-US" sz="563" dirty="0"/>
          </a:p>
        </p:txBody>
      </p:sp>
      <p:sp>
        <p:nvSpPr>
          <p:cNvPr id="41" name="Shape 39"/>
          <p:cNvSpPr/>
          <p:nvPr/>
        </p:nvSpPr>
        <p:spPr>
          <a:xfrm>
            <a:off x="4932045" y="1263015"/>
            <a:ext cx="102870" cy="102870"/>
          </a:xfrm>
          <a:prstGeom prst="rect">
            <a:avLst/>
          </a:prstGeom>
          <a:noFill/>
          <a:ln/>
        </p:spPr>
      </p:sp>
      <p:sp>
        <p:nvSpPr>
          <p:cNvPr id="42" name="Shape 40"/>
          <p:cNvSpPr/>
          <p:nvPr/>
        </p:nvSpPr>
        <p:spPr>
          <a:xfrm>
            <a:off x="4932045" y="1263015"/>
            <a:ext cx="10287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32045" y="1263015"/>
            <a:ext cx="0" cy="10287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78265" y="1263015"/>
            <a:ext cx="102870" cy="102870"/>
          </a:xfrm>
          <a:prstGeom prst="rect">
            <a:avLst/>
          </a:prstGeom>
          <a:noFill/>
          <a:ln/>
        </p:spPr>
      </p:sp>
      <p:sp>
        <p:nvSpPr>
          <p:cNvPr id="45" name="Shape 43"/>
          <p:cNvSpPr/>
          <p:nvPr/>
        </p:nvSpPr>
        <p:spPr>
          <a:xfrm>
            <a:off x="8978265" y="1263015"/>
            <a:ext cx="10287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81135" y="1263015"/>
            <a:ext cx="0" cy="10287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32045" y="3709035"/>
            <a:ext cx="102870" cy="102870"/>
          </a:xfrm>
          <a:prstGeom prst="rect">
            <a:avLst/>
          </a:prstGeom>
          <a:noFill/>
          <a:ln/>
        </p:spPr>
      </p:sp>
      <p:sp>
        <p:nvSpPr>
          <p:cNvPr id="48" name="Shape 46"/>
          <p:cNvSpPr/>
          <p:nvPr/>
        </p:nvSpPr>
        <p:spPr>
          <a:xfrm>
            <a:off x="4932045" y="3811905"/>
            <a:ext cx="10287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32045" y="3709035"/>
            <a:ext cx="0" cy="10287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978265" y="3709035"/>
            <a:ext cx="102870" cy="102870"/>
          </a:xfrm>
          <a:prstGeom prst="rect">
            <a:avLst/>
          </a:prstGeom>
          <a:noFill/>
          <a:ln/>
        </p:spPr>
      </p:sp>
      <p:sp>
        <p:nvSpPr>
          <p:cNvPr id="51" name="Shape 49"/>
          <p:cNvSpPr/>
          <p:nvPr/>
        </p:nvSpPr>
        <p:spPr>
          <a:xfrm>
            <a:off x="9081135" y="3709035"/>
            <a:ext cx="0" cy="10287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978265" y="3811905"/>
            <a:ext cx="10287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pic>
        <p:nvPicPr>
          <p:cNvPr id="53" name="Image 0" descr="/home/lee/developing/oscar-open-source-book/website/slides-src/2021-06-黑客伦理-v1-0老龚202106/images/page_001_hero.png">    </p:cNvPr>
          <p:cNvPicPr>
            <a:picLocks noChangeAspect="1"/>
          </p:cNvPicPr>
          <p:nvPr/>
        </p:nvPicPr>
        <p:blipFill>
          <a:blip r:embed="rId1"/>
          <a:srcRect l="17" r="17" t="0" b="0"/>
          <a:stretch/>
        </p:blipFill>
        <p:spPr>
          <a:xfrm>
            <a:off x="4949190" y="1388745"/>
            <a:ext cx="4114800" cy="2297430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5740360" y="3886200"/>
            <a:ext cx="1033729" cy="80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</a:t>
            </a:r>
            <a:pPr algn="l" indent="0" marL="0">
              <a:buNone/>
            </a:pPr>
            <a:r>
              <a:rPr lang="en-US" sz="495" spc="68" kern="0" dirty="0">
                <a:solidFill>
                  <a:srgbClr val="546E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vis_mode</a:t>
            </a:r>
            <a:pPr algn="l" indent="0" marL="0">
              <a:buNone/>
            </a:pPr>
            <a:r>
              <a:rPr lang="en-US" sz="495" spc="68" kern="0" dirty="0">
                <a:solidFill>
                  <a:srgbClr val="546E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buNone/>
            </a:pPr>
            <a:r>
              <a:rPr lang="en-US" sz="495" spc="68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active</a:t>
            </a:r>
            <a:endParaRPr lang="en-US" sz="495" dirty="0"/>
          </a:p>
        </p:txBody>
      </p:sp>
      <p:sp>
        <p:nvSpPr>
          <p:cNvPr id="55" name="Text 52"/>
          <p:cNvSpPr/>
          <p:nvPr/>
        </p:nvSpPr>
        <p:spPr>
          <a:xfrm>
            <a:off x="6789063" y="3886200"/>
            <a:ext cx="704788" cy="80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●</a:t>
            </a:r>
            <a:pPr algn="l" indent="0" marL="0">
              <a:buNone/>
            </a:pPr>
            <a:r>
              <a:rPr lang="en-US" sz="495" spc="68" kern="0" dirty="0">
                <a:solidFill>
                  <a:srgbClr val="546E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2752 × 1536</a:t>
            </a:r>
            <a:endParaRPr lang="en-US" sz="495" dirty="0"/>
          </a:p>
        </p:txBody>
      </p:sp>
      <p:sp>
        <p:nvSpPr>
          <p:cNvPr id="56" name="Text 53"/>
          <p:cNvSpPr/>
          <p:nvPr/>
        </p:nvSpPr>
        <p:spPr>
          <a:xfrm>
            <a:off x="7544068" y="3886200"/>
            <a:ext cx="50006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546E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glitch://</a:t>
            </a:r>
            <a:endParaRPr lang="en-US" sz="495" dirty="0"/>
          </a:p>
        </p:txBody>
      </p:sp>
      <p:sp>
        <p:nvSpPr>
          <p:cNvPr id="57" name="Text 54"/>
          <p:cNvSpPr/>
          <p:nvPr/>
        </p:nvSpPr>
        <p:spPr>
          <a:xfrm>
            <a:off x="7981265" y="3886200"/>
            <a:ext cx="35433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matrix</a:t>
            </a:r>
            <a:endParaRPr lang="en-US" sz="49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205740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00BCD4">
                  <a:alpha val="64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3657600" y="1543050"/>
            <a:ext cx="10058400" cy="5657850"/>
          </a:xfrm>
          <a:prstGeom prst="ellipse">
            <a:avLst/>
          </a:prstGeom>
          <a:gradFill rotWithShape="1">
            <a:gsLst>
              <a:gs pos="0">
                <a:srgbClr val="00BCD4">
                  <a:alpha val="40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411480" y="274320"/>
            <a:ext cx="251460" cy="1143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2950" y="274320"/>
            <a:ext cx="1536192" cy="102870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00BCD4">
                <a:alpha val="6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spc="18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02 / SECTION</a:t>
            </a:r>
            <a:endParaRPr lang="en-US" sz="630" dirty="0"/>
          </a:p>
        </p:txBody>
      </p:sp>
      <p:sp>
        <p:nvSpPr>
          <p:cNvPr id="6" name="Text 4"/>
          <p:cNvSpPr/>
          <p:nvPr/>
        </p:nvSpPr>
        <p:spPr>
          <a:xfrm>
            <a:off x="7669530" y="274320"/>
            <a:ext cx="1267358" cy="1096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540" spc="90" kern="0" dirty="0">
                <a:solidFill>
                  <a:srgbClr val="546E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BACKGROUND &amp; ORIGIN</a:t>
            </a:r>
            <a:endParaRPr lang="en-US" sz="540" dirty="0"/>
          </a:p>
        </p:txBody>
      </p:sp>
      <p:sp>
        <p:nvSpPr>
          <p:cNvPr id="7" name="Text 5"/>
          <p:cNvSpPr/>
          <p:nvPr/>
        </p:nvSpPr>
        <p:spPr>
          <a:xfrm>
            <a:off x="7669530" y="383977"/>
            <a:ext cx="1267358" cy="1096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540" spc="90" kern="0" dirty="0">
                <a:solidFill>
                  <a:srgbClr val="455A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0x02</a:t>
            </a:r>
            <a:endParaRPr lang="en-US" sz="540" dirty="0"/>
          </a:p>
        </p:txBody>
      </p:sp>
      <p:sp>
        <p:nvSpPr>
          <p:cNvPr id="8" name="Text 6"/>
          <p:cNvSpPr/>
          <p:nvPr/>
        </p:nvSpPr>
        <p:spPr>
          <a:xfrm>
            <a:off x="342900" y="1269355"/>
            <a:ext cx="4608576" cy="97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5" spc="27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buNone/>
            </a:pPr>
            <a:r>
              <a:rPr lang="en-US" sz="585" spc="270" kern="0" dirty="0">
                <a:solidFill>
                  <a:srgbClr val="546E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02 — BACKGROUND</a:t>
            </a:r>
            <a:endParaRPr lang="en-US" sz="585" dirty="0"/>
          </a:p>
        </p:txBody>
      </p:sp>
      <p:sp>
        <p:nvSpPr>
          <p:cNvPr id="9" name="Text 7"/>
          <p:cNvSpPr/>
          <p:nvPr/>
        </p:nvSpPr>
        <p:spPr>
          <a:xfrm>
            <a:off x="342900" y="1503670"/>
            <a:ext cx="4663440" cy="576054"/>
          </a:xfrm>
          <a:prstGeom prst="rect">
            <a:avLst/>
          </a:prstGeom>
          <a:noFill/>
          <a:ln/>
          <a:effectLst>
            <a:outerShdw sx="100000" sy="100000" kx="0" ky="0" algn="bl" rotWithShape="0" blurRad="137160" dist="50800" dir="5400000">
              <a:srgbClr val="00BCD4">
                <a:alpha val="1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320" b="1" spc="90" kern="0" dirty="0">
                <a:solidFill>
                  <a:srgbClr val="ECEF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背景与</a:t>
            </a:r>
            <a:pPr algn="l" indent="0" marL="0">
              <a:lnSpc>
                <a:spcPct val="105000"/>
              </a:lnSpc>
              <a:buNone/>
            </a:pPr>
            <a:r>
              <a:rPr lang="en-US" sz="4320" b="1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缘起</a:t>
            </a:r>
            <a:endParaRPr lang="en-US" sz="4320" dirty="0"/>
          </a:p>
        </p:txBody>
      </p:sp>
      <p:sp>
        <p:nvSpPr>
          <p:cNvPr id="10" name="Text 8"/>
          <p:cNvSpPr/>
          <p:nvPr/>
        </p:nvSpPr>
        <p:spPr>
          <a:xfrm>
            <a:off x="342900" y="2216884"/>
            <a:ext cx="4608576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70" spc="45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为什么读黑客伦理</a:t>
            </a:r>
            <a:endParaRPr lang="en-US" sz="1170" dirty="0"/>
          </a:p>
        </p:txBody>
      </p:sp>
      <p:sp>
        <p:nvSpPr>
          <p:cNvPr id="11" name="Shape 9"/>
          <p:cNvSpPr/>
          <p:nvPr/>
        </p:nvSpPr>
        <p:spPr>
          <a:xfrm>
            <a:off x="1805940" y="2262604"/>
            <a:ext cx="68580" cy="148590"/>
          </a:xfrm>
          <a:prstGeom prst="rect">
            <a:avLst/>
          </a:prstGeom>
          <a:solidFill>
            <a:srgbClr val="00BCD4">
              <a:alpha val="50000"/>
            </a:srgbClr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" y="2594074"/>
            <a:ext cx="3314700" cy="338257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19050" dir="16200000">
              <a:srgbClr val="00BCD4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" y="2594074"/>
            <a:ext cx="0" cy="338257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" y="2594074"/>
            <a:ext cx="3712464" cy="338257"/>
          </a:xfrm>
          <a:prstGeom prst="rect">
            <a:avLst/>
          </a:prstGeom>
          <a:noFill/>
          <a:ln/>
        </p:spPr>
        <p:txBody>
          <a:bodyPr wrap="square" lIns="0" tIns="102870" rIns="0" bIns="0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720" dirty="0">
                <a:solidFill>
                  <a:srgbClr val="7890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本节介绍黑客伦理产生的历史背景，以及分享者选择这一主题的初衷，为后续深入奠定基础。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342900" y="3138071"/>
            <a:ext cx="3657600" cy="436572"/>
          </a:xfrm>
          <a:prstGeom prst="rect">
            <a:avLst/>
          </a:prstGeom>
          <a:solidFill>
            <a:srgbClr val="26263A">
              <a:alpha val="70000"/>
            </a:srgbClr>
          </a:solidFill>
          <a:ln w="17145">
            <a:solidFill>
              <a:srgbClr val="00BCD4">
                <a:alpha val="25000"/>
              </a:srgbClr>
            </a:solidFill>
            <a:prstDash val="solid"/>
          </a:ln>
          <a:effectLst>
            <a:outerShdw sx="100000" sy="100000" kx="0" ky="0" algn="bl" rotWithShape="0" blurRad="190500" dist="50800" dir="16200000">
              <a:srgbClr val="00BCD4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4345" y="3223796"/>
            <a:ext cx="33147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01</a:t>
            </a:r>
            <a:endParaRPr lang="en-US" sz="585" dirty="0"/>
          </a:p>
        </p:txBody>
      </p:sp>
      <p:sp>
        <p:nvSpPr>
          <p:cNvPr id="17" name="Text 15"/>
          <p:cNvSpPr/>
          <p:nvPr/>
        </p:nvSpPr>
        <p:spPr>
          <a:xfrm>
            <a:off x="822960" y="3223796"/>
            <a:ext cx="1792224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ECEF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时代背景</a:t>
            </a:r>
            <a:endParaRPr lang="en-US" sz="630" dirty="0"/>
          </a:p>
        </p:txBody>
      </p:sp>
      <p:sp>
        <p:nvSpPr>
          <p:cNvPr id="18" name="Text 16"/>
          <p:cNvSpPr/>
          <p:nvPr/>
        </p:nvSpPr>
        <p:spPr>
          <a:xfrm>
            <a:off x="822960" y="3372386"/>
            <a:ext cx="179222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3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互联网初期，黑客文化萌芽并影响技术社群。</a:t>
            </a:r>
            <a:endParaRPr lang="en-US" sz="630" dirty="0"/>
          </a:p>
        </p:txBody>
      </p:sp>
      <p:sp>
        <p:nvSpPr>
          <p:cNvPr id="19" name="Shape 17"/>
          <p:cNvSpPr/>
          <p:nvPr/>
        </p:nvSpPr>
        <p:spPr>
          <a:xfrm>
            <a:off x="342900" y="3666083"/>
            <a:ext cx="3657600" cy="436572"/>
          </a:xfrm>
          <a:prstGeom prst="rect">
            <a:avLst/>
          </a:prstGeom>
          <a:solidFill>
            <a:srgbClr val="26263A">
              <a:alpha val="70000"/>
            </a:srgbClr>
          </a:solidFill>
          <a:ln w="17145">
            <a:solidFill>
              <a:srgbClr val="00BCD4">
                <a:alpha val="25000"/>
              </a:srgbClr>
            </a:solidFill>
            <a:prstDash val="solid"/>
          </a:ln>
          <a:effectLst>
            <a:outerShdw sx="100000" sy="100000" kx="0" ky="0" algn="bl" rotWithShape="0" blurRad="190500" dist="50800" dir="16200000">
              <a:srgbClr val="00BCD4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4345" y="3751808"/>
            <a:ext cx="33147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02</a:t>
            </a:r>
            <a:endParaRPr lang="en-US" sz="585" dirty="0"/>
          </a:p>
        </p:txBody>
      </p:sp>
      <p:sp>
        <p:nvSpPr>
          <p:cNvPr id="21" name="Text 19"/>
          <p:cNvSpPr/>
          <p:nvPr/>
        </p:nvSpPr>
        <p:spPr>
          <a:xfrm>
            <a:off x="822960" y="3751808"/>
            <a:ext cx="1702613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ECEF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个人动机</a:t>
            </a:r>
            <a:endParaRPr lang="en-US" sz="630" dirty="0"/>
          </a:p>
        </p:txBody>
      </p:sp>
      <p:sp>
        <p:nvSpPr>
          <p:cNvPr id="22" name="Text 20"/>
          <p:cNvSpPr/>
          <p:nvPr/>
        </p:nvSpPr>
        <p:spPr>
          <a:xfrm>
            <a:off x="822960" y="3900398"/>
            <a:ext cx="1702613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3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从开源实践回溯伦理源头，理解协作根基。</a:t>
            </a:r>
            <a:endParaRPr lang="en-US" sz="630" dirty="0"/>
          </a:p>
        </p:txBody>
      </p:sp>
      <p:sp>
        <p:nvSpPr>
          <p:cNvPr id="23" name="Shape 21"/>
          <p:cNvSpPr/>
          <p:nvPr/>
        </p:nvSpPr>
        <p:spPr>
          <a:xfrm>
            <a:off x="4857750" y="1371600"/>
            <a:ext cx="4343400" cy="2423160"/>
          </a:xfrm>
          <a:prstGeom prst="rect">
            <a:avLst/>
          </a:prstGeom>
          <a:solidFill>
            <a:srgbClr val="0E0E18">
              <a:alpha val="60000"/>
            </a:srgbClr>
          </a:solidFill>
          <a:ln w="5715">
            <a:solidFill>
              <a:srgbClr val="00BCD4">
                <a:alpha val="20000"/>
              </a:srgbClr>
            </a:solidFill>
            <a:prstDash val="solid"/>
          </a:ln>
          <a:effectLst>
            <a:outerShdw sx="100000" sy="100000" kx="0" ky="0" algn="bl" rotWithShape="0" blurRad="381000" dist="50800" dir="16200000">
              <a:srgbClr val="00BCD4">
                <a:alpha val="8000"/>
              </a:srgbClr>
            </a:outerShdw>
          </a:effectLst>
        </p:spPr>
      </p:sp>
      <p:pic>
        <p:nvPicPr>
          <p:cNvPr id="24" name="Image 0" descr="/home/lee/developing/oscar-open-source-book/website/slides-src/2021-06-黑客伦理-v1-0老龚202106/images/page_002_deco.png">    </p:cNvPr>
          <p:cNvPicPr>
            <a:picLocks noChangeAspect="1"/>
          </p:cNvPicPr>
          <p:nvPr/>
        </p:nvPicPr>
        <p:blipFill>
          <a:blip r:embed="rId1"/>
          <a:srcRect l="0" r="0" t="22" b="22"/>
          <a:stretch/>
        </p:blipFill>
        <p:spPr>
          <a:xfrm>
            <a:off x="4920615" y="1434465"/>
            <a:ext cx="4343400" cy="24231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857750" y="3886200"/>
            <a:ext cx="1894637" cy="114300"/>
          </a:xfrm>
          <a:prstGeom prst="rect">
            <a:avLst/>
          </a:prstGeom>
          <a:noFill/>
          <a:ln/>
        </p:spPr>
        <p:txBody>
          <a:bodyPr wrap="none" lIns="0" tIns="22860" rIns="0" bIns="0" rtlCol="0" anchor="ctr"/>
          <a:lstStyle/>
          <a:p>
            <a:pPr algn="l" indent="0" marL="0">
              <a:buNone/>
            </a:pPr>
            <a:r>
              <a:rPr lang="en-US" sz="630" spc="45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从早期终端到代码协作，黑客伦理的起点</a:t>
            </a:r>
            <a:endParaRPr lang="en-US" sz="630" dirty="0"/>
          </a:p>
        </p:txBody>
      </p:sp>
      <p:sp>
        <p:nvSpPr>
          <p:cNvPr id="26" name="Text 23"/>
          <p:cNvSpPr/>
          <p:nvPr/>
        </p:nvSpPr>
        <p:spPr>
          <a:xfrm>
            <a:off x="411480" y="4777740"/>
            <a:ext cx="1209751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546E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HACKER ETHICS // 2024</a:t>
            </a:r>
            <a:endParaRPr lang="en-US" sz="540" dirty="0"/>
          </a:p>
        </p:txBody>
      </p:sp>
      <p:sp>
        <p:nvSpPr>
          <p:cNvPr id="27" name="Shape 24"/>
          <p:cNvSpPr/>
          <p:nvPr/>
        </p:nvSpPr>
        <p:spPr>
          <a:xfrm>
            <a:off x="1605915" y="4820603"/>
            <a:ext cx="6652260" cy="5715"/>
          </a:xfrm>
          <a:prstGeom prst="rect">
            <a:avLst/>
          </a:prstGeom>
          <a:gradFill rotWithShape="1">
            <a:gsLst>
              <a:gs pos="0">
                <a:srgbClr val="00BCD4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8" name="Text 25"/>
          <p:cNvSpPr/>
          <p:nvPr/>
        </p:nvSpPr>
        <p:spPr>
          <a:xfrm>
            <a:off x="8372475" y="4777740"/>
            <a:ext cx="42862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546E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06</a:t>
            </a:r>
            <a:endParaRPr lang="en-US" sz="5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057400"/>
            <a:ext cx="9144000" cy="5143500"/>
          </a:xfrm>
          <a:prstGeom prst="ellipse">
            <a:avLst/>
          </a:prstGeom>
          <a:gradFill rotWithShape="1">
            <a:gsLst>
              <a:gs pos="0">
                <a:srgbClr val="00BCD4">
                  <a:alpha val="48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2743200" y="2057400"/>
            <a:ext cx="9144000" cy="5143500"/>
          </a:xfrm>
          <a:prstGeom prst="ellipse">
            <a:avLst/>
          </a:prstGeom>
          <a:gradFill rotWithShape="1">
            <a:gsLst>
              <a:gs pos="0">
                <a:srgbClr val="00BCD4">
                  <a:alpha val="32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BCD4">
              <a:alpha val="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85750" y="228600"/>
            <a:ext cx="8572500" cy="200025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285750" y="428625"/>
            <a:ext cx="8572500" cy="0"/>
          </a:xfrm>
          <a:prstGeom prst="line">
            <a:avLst/>
          </a:prstGeom>
          <a:noFill/>
          <a:ln w="5715">
            <a:solidFill>
              <a:srgbClr val="3747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750" y="268605"/>
            <a:ext cx="57150" cy="5715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8" name="Shape 6"/>
          <p:cNvSpPr/>
          <p:nvPr/>
        </p:nvSpPr>
        <p:spPr>
          <a:xfrm>
            <a:off x="377190" y="268605"/>
            <a:ext cx="57150" cy="57150"/>
          </a:xfrm>
          <a:prstGeom prst="ellipse">
            <a:avLst/>
          </a:prstGeom>
          <a:solidFill>
            <a:srgbClr val="FFB74D"/>
          </a:solidFill>
          <a:ln/>
        </p:spPr>
      </p:sp>
      <p:sp>
        <p:nvSpPr>
          <p:cNvPr id="9" name="Shape 7"/>
          <p:cNvSpPr/>
          <p:nvPr/>
        </p:nvSpPr>
        <p:spPr>
          <a:xfrm>
            <a:off x="468630" y="268605"/>
            <a:ext cx="57150" cy="5715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1460"/>
            <a:ext cx="120015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3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~/hacker-ethics/origin.md</a:t>
            </a:r>
            <a:endParaRPr lang="en-US" sz="540" dirty="0"/>
          </a:p>
        </p:txBody>
      </p:sp>
      <p:sp>
        <p:nvSpPr>
          <p:cNvPr id="11" name="Shape 9"/>
          <p:cNvSpPr/>
          <p:nvPr/>
        </p:nvSpPr>
        <p:spPr>
          <a:xfrm>
            <a:off x="8012430" y="228600"/>
            <a:ext cx="845820" cy="137160"/>
          </a:xfrm>
          <a:prstGeom prst="roundRect">
            <a:avLst>
              <a:gd name="adj" fmla="val 12500"/>
            </a:avLst>
          </a:prstGeom>
          <a:noFill/>
          <a:ln w="5715">
            <a:solidFill>
              <a:srgbClr val="3747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12430" y="228600"/>
            <a:ext cx="947318" cy="137160"/>
          </a:xfrm>
          <a:prstGeom prst="rect">
            <a:avLst/>
          </a:prstGeom>
          <a:noFill/>
          <a:ln/>
        </p:spPr>
        <p:txBody>
          <a:bodyPr wrap="square" lIns="17145" tIns="57150" rIns="57150" bIns="17145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PAGE 03 / CONTENTS</a:t>
            </a:r>
            <a:endParaRPr lang="en-US" sz="540" dirty="0"/>
          </a:p>
        </p:txBody>
      </p:sp>
      <p:sp>
        <p:nvSpPr>
          <p:cNvPr id="13" name="Text 11"/>
          <p:cNvSpPr/>
          <p:nvPr/>
        </p:nvSpPr>
        <p:spPr>
          <a:xfrm>
            <a:off x="285750" y="685800"/>
            <a:ext cx="497205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cat</a:t>
            </a:r>
            <a:endParaRPr lang="en-US" sz="990" dirty="0"/>
          </a:p>
        </p:txBody>
      </p:sp>
      <p:sp>
        <p:nvSpPr>
          <p:cNvPr id="14" name="Text 12"/>
          <p:cNvSpPr/>
          <p:nvPr/>
        </p:nvSpPr>
        <p:spPr>
          <a:xfrm>
            <a:off x="748665" y="531495"/>
            <a:ext cx="1748790" cy="35433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00BCD4">
                <a:alpha val="15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890" b="1" spc="90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黑客伦理起源</a:t>
            </a:r>
            <a:endParaRPr lang="en-US" sz="1890" dirty="0"/>
          </a:p>
        </p:txBody>
      </p:sp>
      <p:sp>
        <p:nvSpPr>
          <p:cNvPr id="15" name="Shape 13"/>
          <p:cNvSpPr/>
          <p:nvPr/>
        </p:nvSpPr>
        <p:spPr>
          <a:xfrm>
            <a:off x="285750" y="931545"/>
            <a:ext cx="8572500" cy="1143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30000">
                <a:srgbClr val="0097A7"/>
              </a:gs>
              <a:gs pos="8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6" name="Text 14"/>
          <p:cNvSpPr/>
          <p:nvPr/>
        </p:nvSpPr>
        <p:spPr>
          <a:xfrm>
            <a:off x="285750" y="1011555"/>
            <a:ext cx="7680960" cy="135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30" dirty="0">
                <a:solidFill>
                  <a:srgbClr val="90A4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黑客伦理源自早期计算机科学实验室，强调</a:t>
            </a:r>
            <a:pPr algn="l" indent="0" marL="0">
              <a:lnSpc>
                <a:spcPct val="170000"/>
              </a:lnSpc>
              <a:buNone/>
            </a:pPr>
            <a:r>
              <a:rPr lang="en-US" sz="630" dirty="0">
                <a:solidFill>
                  <a:srgbClr val="00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信息自由</a:t>
            </a:r>
            <a:pPr algn="l" indent="0" marL="0">
              <a:lnSpc>
                <a:spcPct val="170000"/>
              </a:lnSpc>
              <a:buNone/>
            </a:pPr>
            <a:r>
              <a:rPr lang="en-US" sz="630" dirty="0">
                <a:solidFill>
                  <a:srgbClr val="90A4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</a:t>
            </a:r>
            <a:pPr algn="l" indent="0" marL="0">
              <a:lnSpc>
                <a:spcPct val="170000"/>
              </a:lnSpc>
              <a:buNone/>
            </a:pPr>
            <a:r>
              <a:rPr lang="en-US" sz="630" dirty="0">
                <a:solidFill>
                  <a:srgbClr val="00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共享</a:t>
            </a:r>
            <a:pPr algn="l" indent="0" marL="0">
              <a:lnSpc>
                <a:spcPct val="170000"/>
              </a:lnSpc>
              <a:buNone/>
            </a:pPr>
            <a:r>
              <a:rPr lang="en-US" sz="630" dirty="0">
                <a:solidFill>
                  <a:srgbClr val="90A4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</a:t>
            </a:r>
            <a:pPr algn="l" indent="0" marL="0">
              <a:lnSpc>
                <a:spcPct val="170000"/>
              </a:lnSpc>
              <a:buNone/>
            </a:pPr>
            <a:r>
              <a:rPr lang="en-US" sz="630" dirty="0">
                <a:solidFill>
                  <a:srgbClr val="00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对技术的热爱</a:t>
            </a:r>
            <a:pPr algn="l" indent="0" marL="0">
              <a:lnSpc>
                <a:spcPct val="170000"/>
              </a:lnSpc>
              <a:buNone/>
            </a:pPr>
            <a:r>
              <a:rPr lang="en-US" sz="630" dirty="0">
                <a:solidFill>
                  <a:srgbClr val="90A4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，这些价值观深刻影响了后来的</a:t>
            </a:r>
            <a:pPr algn="l" indent="0" marL="0">
              <a:lnSpc>
                <a:spcPct val="170000"/>
              </a:lnSpc>
              <a:buNone/>
            </a:pPr>
            <a:r>
              <a:rPr lang="en-US" sz="630" dirty="0">
                <a:solidFill>
                  <a:srgbClr val="00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开源运动</a:t>
            </a:r>
            <a:pPr algn="l" indent="0" marL="0">
              <a:lnSpc>
                <a:spcPct val="170000"/>
              </a:lnSpc>
              <a:buNone/>
            </a:pPr>
            <a:r>
              <a:rPr lang="en-US" sz="630" dirty="0">
                <a:solidFill>
                  <a:srgbClr val="90A4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630" dirty="0"/>
          </a:p>
        </p:txBody>
      </p:sp>
      <p:sp>
        <p:nvSpPr>
          <p:cNvPr id="17" name="Shape 15"/>
          <p:cNvSpPr/>
          <p:nvPr/>
        </p:nvSpPr>
        <p:spPr>
          <a:xfrm>
            <a:off x="285750" y="1261854"/>
            <a:ext cx="3200400" cy="3035379"/>
          </a:xfrm>
          <a:prstGeom prst="roundRect">
            <a:avLst>
              <a:gd name="adj" fmla="val 1506"/>
            </a:avLst>
          </a:prstGeom>
          <a:solidFill>
            <a:srgbClr val="2A2A3E"/>
          </a:solidFill>
          <a:ln w="5715">
            <a:solidFill>
              <a:srgbClr val="3747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1465" y="1267569"/>
            <a:ext cx="3188970" cy="177165"/>
          </a:xfrm>
          <a:prstGeom prst="rect">
            <a:avLst/>
          </a:prstGeom>
          <a:solidFill>
            <a:srgbClr val="222238"/>
          </a:solidFill>
          <a:ln/>
        </p:spPr>
      </p:sp>
      <p:sp>
        <p:nvSpPr>
          <p:cNvPr id="19" name="Shape 17"/>
          <p:cNvSpPr/>
          <p:nvPr/>
        </p:nvSpPr>
        <p:spPr>
          <a:xfrm>
            <a:off x="291465" y="1444734"/>
            <a:ext cx="3188970" cy="0"/>
          </a:xfrm>
          <a:prstGeom prst="line">
            <a:avLst/>
          </a:prstGeom>
          <a:noFill/>
          <a:ln w="5715">
            <a:solidFill>
              <a:srgbClr val="3747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1475" y="1313289"/>
            <a:ext cx="1433779" cy="80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FFB7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hacker_ethics.origin</a:t>
            </a:r>
            <a:pPr algn="l" indent="0" marL="0">
              <a:buNone/>
            </a:pPr>
            <a:r>
              <a:rPr lang="en-US" sz="495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read-only</a:t>
            </a:r>
            <a:endParaRPr lang="en-US" sz="495" dirty="0"/>
          </a:p>
        </p:txBody>
      </p:sp>
      <p:sp>
        <p:nvSpPr>
          <p:cNvPr id="21" name="Text 19"/>
          <p:cNvSpPr/>
          <p:nvPr/>
        </p:nvSpPr>
        <p:spPr>
          <a:xfrm>
            <a:off x="2682567" y="1313289"/>
            <a:ext cx="804000" cy="80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utf-8 ]</a:t>
            </a:r>
            <a:pPr algn="l" indent="0" marL="0">
              <a:buNone/>
            </a:pPr>
            <a:r>
              <a:rPr lang="en-US" sz="495" dirty="0">
                <a:solidFill>
                  <a:srgbClr val="66BB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●</a:t>
            </a:r>
            <a:pPr algn="l" indent="0" marL="0">
              <a:buNone/>
            </a:pPr>
            <a:r>
              <a:rPr lang="en-US" sz="495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synced</a:t>
            </a:r>
            <a:endParaRPr lang="en-US" sz="495" dirty="0"/>
          </a:p>
        </p:txBody>
      </p:sp>
      <p:sp>
        <p:nvSpPr>
          <p:cNvPr id="22" name="Text 20"/>
          <p:cNvSpPr/>
          <p:nvPr/>
        </p:nvSpPr>
        <p:spPr>
          <a:xfrm>
            <a:off x="405765" y="1547604"/>
            <a:ext cx="20002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200000"/>
              </a:lnSpc>
              <a:buNone/>
            </a:pPr>
            <a:r>
              <a:rPr lang="en-US" sz="585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585" dirty="0"/>
          </a:p>
        </p:txBody>
      </p:sp>
      <p:sp>
        <p:nvSpPr>
          <p:cNvPr id="23" name="Text 21"/>
          <p:cNvSpPr/>
          <p:nvPr/>
        </p:nvSpPr>
        <p:spPr>
          <a:xfrm>
            <a:off x="600075" y="1570464"/>
            <a:ext cx="126302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585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endParaRPr lang="en-US" sz="585" dirty="0"/>
          </a:p>
        </p:txBody>
      </p:sp>
      <p:sp>
        <p:nvSpPr>
          <p:cNvPr id="24" name="Text 22"/>
          <p:cNvSpPr/>
          <p:nvPr/>
        </p:nvSpPr>
        <p:spPr>
          <a:xfrm>
            <a:off x="737235" y="1570464"/>
            <a:ext cx="1382573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585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init hacker_ethics --origin</a:t>
            </a:r>
            <a:endParaRPr lang="en-US" sz="585" dirty="0"/>
          </a:p>
        </p:txBody>
      </p:sp>
      <p:sp>
        <p:nvSpPr>
          <p:cNvPr id="25" name="Text 23"/>
          <p:cNvSpPr/>
          <p:nvPr/>
        </p:nvSpPr>
        <p:spPr>
          <a:xfrm>
            <a:off x="405765" y="1696194"/>
            <a:ext cx="20002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200000"/>
              </a:lnSpc>
              <a:buNone/>
            </a:pPr>
            <a:r>
              <a:rPr lang="en-US" sz="585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585" dirty="0"/>
          </a:p>
        </p:txBody>
      </p:sp>
      <p:sp>
        <p:nvSpPr>
          <p:cNvPr id="26" name="Text 24"/>
          <p:cNvSpPr/>
          <p:nvPr/>
        </p:nvSpPr>
        <p:spPr>
          <a:xfrm>
            <a:off x="600075" y="1719054"/>
            <a:ext cx="148498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585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loading historical data...</a:t>
            </a:r>
            <a:endParaRPr lang="en-US" sz="585" dirty="0"/>
          </a:p>
        </p:txBody>
      </p:sp>
      <p:sp>
        <p:nvSpPr>
          <p:cNvPr id="27" name="Text 25"/>
          <p:cNvSpPr/>
          <p:nvPr/>
        </p:nvSpPr>
        <p:spPr>
          <a:xfrm>
            <a:off x="405765" y="1844784"/>
            <a:ext cx="20002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200000"/>
              </a:lnSpc>
              <a:buNone/>
            </a:pPr>
            <a:r>
              <a:rPr lang="en-US" sz="585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585" dirty="0"/>
          </a:p>
        </p:txBody>
      </p:sp>
      <p:sp>
        <p:nvSpPr>
          <p:cNvPr id="28" name="Text 26"/>
          <p:cNvSpPr/>
          <p:nvPr/>
        </p:nvSpPr>
        <p:spPr>
          <a:xfrm>
            <a:off x="405765" y="1993374"/>
            <a:ext cx="200025" cy="114371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200000"/>
              </a:lnSpc>
              <a:buNone/>
            </a:pPr>
            <a:r>
              <a:rPr lang="en-US" sz="585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585" dirty="0"/>
          </a:p>
        </p:txBody>
      </p:sp>
      <p:sp>
        <p:nvSpPr>
          <p:cNvPr id="29" name="Shape 27"/>
          <p:cNvSpPr/>
          <p:nvPr/>
        </p:nvSpPr>
        <p:spPr>
          <a:xfrm>
            <a:off x="600075" y="1930509"/>
            <a:ext cx="1091565" cy="1263729"/>
          </a:xfrm>
          <a:prstGeom prst="roundRect">
            <a:avLst>
              <a:gd name="adj" fmla="val 2094"/>
            </a:avLst>
          </a:prstGeom>
          <a:solidFill>
            <a:srgbClr val="181828"/>
          </a:solidFill>
          <a:ln w="17145">
            <a:solidFill>
              <a:srgbClr val="00BC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0075" y="2141964"/>
            <a:ext cx="1222553" cy="1410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585" dirty="0">
                <a:solidFill>
                  <a:srgbClr val="66BB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 ORIGIN</a:t>
            </a:r>
            <a:pPr algn="l" indent="0" marL="0">
              <a:lnSpc>
                <a:spcPct val="190000"/>
              </a:lnSpc>
              <a:buNone/>
            </a:pPr>
            <a:r>
              <a:rPr lang="en-US" sz="585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90000"/>
              </a:lnSpc>
              <a:buNone/>
            </a:pPr>
            <a:r>
              <a:rPr lang="en-US" sz="585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585" dirty="0"/>
          </a:p>
        </p:txBody>
      </p:sp>
      <p:sp>
        <p:nvSpPr>
          <p:cNvPr id="31" name="Text 29"/>
          <p:cNvSpPr/>
          <p:nvPr/>
        </p:nvSpPr>
        <p:spPr>
          <a:xfrm>
            <a:off x="600075" y="2283053"/>
            <a:ext cx="1222553" cy="1410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585" dirty="0">
                <a:solidFill>
                  <a:srgbClr val="66BB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born</a:t>
            </a:r>
            <a:pPr algn="l" indent="0" marL="0">
              <a:lnSpc>
                <a:spcPct val="190000"/>
              </a:lnSpc>
              <a:buNone/>
            </a:pPr>
            <a:r>
              <a:rPr lang="en-US" sz="585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lnSpc>
                <a:spcPct val="190000"/>
              </a:lnSpc>
              <a:buNone/>
            </a:pPr>
            <a:r>
              <a:rPr lang="en-US" sz="585" dirty="0">
                <a:solidFill>
                  <a:srgbClr val="FFB7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"1950s"</a:t>
            </a:r>
            <a:pPr algn="l" indent="0" marL="0">
              <a:lnSpc>
                <a:spcPct val="190000"/>
              </a:lnSpc>
              <a:buNone/>
            </a:pPr>
            <a:r>
              <a:rPr lang="en-US" sz="585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585" dirty="0"/>
          </a:p>
        </p:txBody>
      </p:sp>
      <p:sp>
        <p:nvSpPr>
          <p:cNvPr id="32" name="Text 30"/>
          <p:cNvSpPr/>
          <p:nvPr/>
        </p:nvSpPr>
        <p:spPr>
          <a:xfrm>
            <a:off x="600075" y="2424142"/>
            <a:ext cx="1222553" cy="1410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585" dirty="0">
                <a:solidFill>
                  <a:srgbClr val="66BB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location</a:t>
            </a:r>
            <a:pPr algn="l" indent="0" marL="0">
              <a:lnSpc>
                <a:spcPct val="190000"/>
              </a:lnSpc>
              <a:buNone/>
            </a:pPr>
            <a:r>
              <a:rPr lang="en-US" sz="585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lnSpc>
                <a:spcPct val="190000"/>
              </a:lnSpc>
              <a:buNone/>
            </a:pPr>
            <a:r>
              <a:rPr lang="en-US" sz="585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"MIT 实验室"</a:t>
            </a:r>
            <a:pPr algn="l" indent="0" marL="0">
              <a:lnSpc>
                <a:spcPct val="190000"/>
              </a:lnSpc>
              <a:buNone/>
            </a:pPr>
            <a:r>
              <a:rPr lang="en-US" sz="585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585" dirty="0"/>
          </a:p>
        </p:txBody>
      </p:sp>
      <p:sp>
        <p:nvSpPr>
          <p:cNvPr id="33" name="Text 31"/>
          <p:cNvSpPr/>
          <p:nvPr/>
        </p:nvSpPr>
        <p:spPr>
          <a:xfrm>
            <a:off x="600075" y="2565231"/>
            <a:ext cx="1222553" cy="1410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585" dirty="0">
                <a:solidFill>
                  <a:srgbClr val="66BB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systematized</a:t>
            </a:r>
            <a:pPr algn="l" indent="0" marL="0">
              <a:lnSpc>
                <a:spcPct val="190000"/>
              </a:lnSpc>
              <a:buNone/>
            </a:pPr>
            <a:r>
              <a:rPr lang="en-US" sz="585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lnSpc>
                <a:spcPct val="190000"/>
              </a:lnSpc>
              <a:buNone/>
            </a:pPr>
            <a:r>
              <a:rPr lang="en-US" sz="585" dirty="0">
                <a:solidFill>
                  <a:srgbClr val="FFB7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1984</a:t>
            </a:r>
            <a:pPr algn="l" indent="0" marL="0">
              <a:lnSpc>
                <a:spcPct val="190000"/>
              </a:lnSpc>
              <a:buNone/>
            </a:pPr>
            <a:r>
              <a:rPr lang="en-US" sz="585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585" dirty="0"/>
          </a:p>
        </p:txBody>
      </p:sp>
      <p:sp>
        <p:nvSpPr>
          <p:cNvPr id="34" name="Text 32"/>
          <p:cNvSpPr/>
          <p:nvPr/>
        </p:nvSpPr>
        <p:spPr>
          <a:xfrm>
            <a:off x="600075" y="2706320"/>
            <a:ext cx="1222553" cy="1410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585" dirty="0">
                <a:solidFill>
                  <a:srgbClr val="66BB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author</a:t>
            </a:r>
            <a:pPr algn="l" indent="0" marL="0">
              <a:lnSpc>
                <a:spcPct val="190000"/>
              </a:lnSpc>
              <a:buNone/>
            </a:pPr>
            <a:r>
              <a:rPr lang="en-US" sz="585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lnSpc>
                <a:spcPct val="190000"/>
              </a:lnSpc>
              <a:buNone/>
            </a:pPr>
            <a:r>
              <a:rPr lang="en-US" sz="585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"利维·史蒂文"</a:t>
            </a:r>
            <a:endParaRPr lang="en-US" sz="585" dirty="0"/>
          </a:p>
        </p:txBody>
      </p:sp>
      <p:sp>
        <p:nvSpPr>
          <p:cNvPr id="35" name="Text 33"/>
          <p:cNvSpPr/>
          <p:nvPr/>
        </p:nvSpPr>
        <p:spPr>
          <a:xfrm>
            <a:off x="600075" y="2847409"/>
            <a:ext cx="1222553" cy="1410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585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pPr algn="l" indent="0" marL="0">
              <a:lnSpc>
                <a:spcPct val="190000"/>
              </a:lnSpc>
              <a:buNone/>
            </a:pPr>
            <a:r>
              <a:rPr lang="en-US" sz="585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585" dirty="0"/>
          </a:p>
        </p:txBody>
      </p:sp>
      <p:sp>
        <p:nvSpPr>
          <p:cNvPr id="36" name="Text 34"/>
          <p:cNvSpPr/>
          <p:nvPr/>
        </p:nvSpPr>
        <p:spPr>
          <a:xfrm>
            <a:off x="405765" y="3137089"/>
            <a:ext cx="20002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200000"/>
              </a:lnSpc>
              <a:buNone/>
            </a:pPr>
            <a:r>
              <a:rPr lang="en-US" sz="585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585" dirty="0"/>
          </a:p>
        </p:txBody>
      </p:sp>
      <p:sp>
        <p:nvSpPr>
          <p:cNvPr id="37" name="Text 35"/>
          <p:cNvSpPr/>
          <p:nvPr/>
        </p:nvSpPr>
        <p:spPr>
          <a:xfrm>
            <a:off x="405765" y="3285679"/>
            <a:ext cx="20002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200000"/>
              </a:lnSpc>
              <a:buNone/>
            </a:pPr>
            <a:r>
              <a:rPr lang="en-US" sz="585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585" dirty="0"/>
          </a:p>
        </p:txBody>
      </p:sp>
      <p:sp>
        <p:nvSpPr>
          <p:cNvPr id="38" name="Text 36"/>
          <p:cNvSpPr/>
          <p:nvPr/>
        </p:nvSpPr>
        <p:spPr>
          <a:xfrm>
            <a:off x="600075" y="3308539"/>
            <a:ext cx="126302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585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endParaRPr lang="en-US" sz="585" dirty="0"/>
          </a:p>
        </p:txBody>
      </p:sp>
      <p:sp>
        <p:nvSpPr>
          <p:cNvPr id="39" name="Text 37"/>
          <p:cNvSpPr/>
          <p:nvPr/>
        </p:nvSpPr>
        <p:spPr>
          <a:xfrm>
            <a:off x="737235" y="3308539"/>
            <a:ext cx="1382573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585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log --oneline | head -2</a:t>
            </a:r>
            <a:endParaRPr lang="en-US" sz="585" dirty="0"/>
          </a:p>
        </p:txBody>
      </p:sp>
      <p:sp>
        <p:nvSpPr>
          <p:cNvPr id="40" name="Text 38"/>
          <p:cNvSpPr/>
          <p:nvPr/>
        </p:nvSpPr>
        <p:spPr>
          <a:xfrm>
            <a:off x="405765" y="3434269"/>
            <a:ext cx="20002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200000"/>
              </a:lnSpc>
              <a:buNone/>
            </a:pPr>
            <a:r>
              <a:rPr lang="en-US" sz="585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585" dirty="0"/>
          </a:p>
        </p:txBody>
      </p:sp>
      <p:sp>
        <p:nvSpPr>
          <p:cNvPr id="41" name="Text 39"/>
          <p:cNvSpPr/>
          <p:nvPr/>
        </p:nvSpPr>
        <p:spPr>
          <a:xfrm>
            <a:off x="600075" y="3434269"/>
            <a:ext cx="394335" cy="148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585" dirty="0">
                <a:solidFill>
                  <a:srgbClr val="66BB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a3f8c21</a:t>
            </a:r>
            <a:endParaRPr lang="en-US" sz="585" dirty="0"/>
          </a:p>
        </p:txBody>
      </p:sp>
      <p:sp>
        <p:nvSpPr>
          <p:cNvPr id="42" name="Text 40"/>
          <p:cNvSpPr/>
          <p:nvPr/>
        </p:nvSpPr>
        <p:spPr>
          <a:xfrm>
            <a:off x="988695" y="3434269"/>
            <a:ext cx="394335" cy="148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585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[1950s]</a:t>
            </a:r>
            <a:endParaRPr lang="en-US" sz="585" dirty="0"/>
          </a:p>
        </p:txBody>
      </p:sp>
      <p:sp>
        <p:nvSpPr>
          <p:cNvPr id="43" name="Text 41"/>
          <p:cNvSpPr/>
          <p:nvPr/>
        </p:nvSpPr>
        <p:spPr>
          <a:xfrm>
            <a:off x="1377315" y="3434269"/>
            <a:ext cx="755294" cy="148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585" dirty="0">
                <a:solidFill>
                  <a:srgbClr val="90A4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萌芽于 MIT 实验室</a:t>
            </a:r>
            <a:endParaRPr lang="en-US" sz="585" dirty="0"/>
          </a:p>
        </p:txBody>
      </p:sp>
      <p:sp>
        <p:nvSpPr>
          <p:cNvPr id="44" name="Text 42"/>
          <p:cNvSpPr/>
          <p:nvPr/>
        </p:nvSpPr>
        <p:spPr>
          <a:xfrm>
            <a:off x="405765" y="3582859"/>
            <a:ext cx="20002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200000"/>
              </a:lnSpc>
              <a:buNone/>
            </a:pPr>
            <a:r>
              <a:rPr lang="en-US" sz="585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585" dirty="0"/>
          </a:p>
        </p:txBody>
      </p:sp>
      <p:sp>
        <p:nvSpPr>
          <p:cNvPr id="45" name="Text 43"/>
          <p:cNvSpPr/>
          <p:nvPr/>
        </p:nvSpPr>
        <p:spPr>
          <a:xfrm>
            <a:off x="600075" y="3582859"/>
            <a:ext cx="394335" cy="148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585" dirty="0">
                <a:solidFill>
                  <a:srgbClr val="FFB7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b7e1d09</a:t>
            </a:r>
            <a:endParaRPr lang="en-US" sz="585" dirty="0"/>
          </a:p>
        </p:txBody>
      </p:sp>
      <p:sp>
        <p:nvSpPr>
          <p:cNvPr id="46" name="Text 44"/>
          <p:cNvSpPr/>
          <p:nvPr/>
        </p:nvSpPr>
        <p:spPr>
          <a:xfrm>
            <a:off x="988695" y="3582859"/>
            <a:ext cx="394335" cy="148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585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[1984 ]</a:t>
            </a:r>
            <a:endParaRPr lang="en-US" sz="585" dirty="0"/>
          </a:p>
        </p:txBody>
      </p:sp>
      <p:sp>
        <p:nvSpPr>
          <p:cNvPr id="47" name="Text 45"/>
          <p:cNvSpPr/>
          <p:nvPr/>
        </p:nvSpPr>
        <p:spPr>
          <a:xfrm>
            <a:off x="1377315" y="3582859"/>
            <a:ext cx="915314" cy="148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585" dirty="0">
                <a:solidFill>
                  <a:srgbClr val="90A4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利维《黑客伦理》系统化</a:t>
            </a:r>
            <a:endParaRPr lang="en-US" sz="585" dirty="0"/>
          </a:p>
        </p:txBody>
      </p:sp>
      <p:sp>
        <p:nvSpPr>
          <p:cNvPr id="48" name="Text 46"/>
          <p:cNvSpPr/>
          <p:nvPr/>
        </p:nvSpPr>
        <p:spPr>
          <a:xfrm>
            <a:off x="405765" y="3731449"/>
            <a:ext cx="20002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200000"/>
              </a:lnSpc>
              <a:buNone/>
            </a:pPr>
            <a:r>
              <a:rPr lang="en-US" sz="585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585" dirty="0"/>
          </a:p>
        </p:txBody>
      </p:sp>
      <p:sp>
        <p:nvSpPr>
          <p:cNvPr id="49" name="Text 47"/>
          <p:cNvSpPr/>
          <p:nvPr/>
        </p:nvSpPr>
        <p:spPr>
          <a:xfrm>
            <a:off x="405765" y="3880039"/>
            <a:ext cx="20002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200000"/>
              </a:lnSpc>
              <a:buNone/>
            </a:pPr>
            <a:r>
              <a:rPr lang="en-US" sz="585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585" dirty="0"/>
          </a:p>
        </p:txBody>
      </p:sp>
      <p:sp>
        <p:nvSpPr>
          <p:cNvPr id="50" name="Text 48"/>
          <p:cNvSpPr/>
          <p:nvPr/>
        </p:nvSpPr>
        <p:spPr>
          <a:xfrm>
            <a:off x="600075" y="3902899"/>
            <a:ext cx="126302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585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endParaRPr lang="en-US" sz="585" dirty="0"/>
          </a:p>
        </p:txBody>
      </p:sp>
      <p:sp>
        <p:nvSpPr>
          <p:cNvPr id="51" name="Text 49"/>
          <p:cNvSpPr/>
          <p:nvPr/>
        </p:nvSpPr>
        <p:spPr>
          <a:xfrm>
            <a:off x="737235" y="3902899"/>
            <a:ext cx="1638605" cy="97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585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echo</a:t>
            </a:r>
            <a:pPr algn="l" indent="0" marL="0">
              <a:lnSpc>
                <a:spcPct val="200000"/>
              </a:lnSpc>
              <a:buNone/>
            </a:pPr>
            <a:r>
              <a:rPr lang="en-US" sz="585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"info_free &gt; closed_garden"</a:t>
            </a:r>
            <a:endParaRPr lang="en-US" sz="585" dirty="0"/>
          </a:p>
        </p:txBody>
      </p:sp>
      <p:sp>
        <p:nvSpPr>
          <p:cNvPr id="52" name="Text 50"/>
          <p:cNvSpPr/>
          <p:nvPr/>
        </p:nvSpPr>
        <p:spPr>
          <a:xfrm>
            <a:off x="405765" y="4028629"/>
            <a:ext cx="20002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200000"/>
              </a:lnSpc>
              <a:buNone/>
            </a:pPr>
            <a:r>
              <a:rPr lang="en-US" sz="585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585" dirty="0"/>
          </a:p>
        </p:txBody>
      </p:sp>
      <p:sp>
        <p:nvSpPr>
          <p:cNvPr id="53" name="Text 51"/>
          <p:cNvSpPr/>
          <p:nvPr/>
        </p:nvSpPr>
        <p:spPr>
          <a:xfrm>
            <a:off x="600075" y="4028629"/>
            <a:ext cx="23031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585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&gt;&gt;&gt;</a:t>
            </a:r>
            <a:endParaRPr lang="en-US" sz="585" dirty="0"/>
          </a:p>
        </p:txBody>
      </p:sp>
      <p:sp>
        <p:nvSpPr>
          <p:cNvPr id="54" name="Text 52"/>
          <p:cNvSpPr/>
          <p:nvPr/>
        </p:nvSpPr>
        <p:spPr>
          <a:xfrm>
            <a:off x="805815" y="4028629"/>
            <a:ext cx="282321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585" dirty="0">
                <a:solidFill>
                  <a:srgbClr val="66BB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true</a:t>
            </a:r>
            <a:endParaRPr lang="en-US" sz="585" dirty="0"/>
          </a:p>
        </p:txBody>
      </p:sp>
      <p:sp>
        <p:nvSpPr>
          <p:cNvPr id="55" name="Text 53"/>
          <p:cNvSpPr/>
          <p:nvPr/>
        </p:nvSpPr>
        <p:spPr>
          <a:xfrm>
            <a:off x="3623310" y="1270427"/>
            <a:ext cx="57721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&gt;&gt; TIMELINE</a:t>
            </a:r>
            <a:endParaRPr lang="en-US" sz="585" dirty="0"/>
          </a:p>
        </p:txBody>
      </p:sp>
      <p:sp>
        <p:nvSpPr>
          <p:cNvPr id="56" name="Shape 54"/>
          <p:cNvSpPr/>
          <p:nvPr/>
        </p:nvSpPr>
        <p:spPr>
          <a:xfrm>
            <a:off x="4171950" y="1261854"/>
            <a:ext cx="525780" cy="114300"/>
          </a:xfrm>
          <a:prstGeom prst="roundRect">
            <a:avLst>
              <a:gd name="adj" fmla="val 15000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97A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71950" y="1261854"/>
            <a:ext cx="588874" cy="114300"/>
          </a:xfrm>
          <a:prstGeom prst="rect">
            <a:avLst/>
          </a:prstGeom>
          <a:noFill/>
          <a:ln/>
        </p:spPr>
        <p:txBody>
          <a:bodyPr wrap="none" lIns="11430" tIns="57150" rIns="57150" bIns="11430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 EVENTS</a:t>
            </a:r>
            <a:endParaRPr lang="en-US" sz="495" dirty="0"/>
          </a:p>
        </p:txBody>
      </p:sp>
      <p:sp>
        <p:nvSpPr>
          <p:cNvPr id="58" name="Text 56"/>
          <p:cNvSpPr/>
          <p:nvPr/>
        </p:nvSpPr>
        <p:spPr>
          <a:xfrm>
            <a:off x="7989570" y="1270427"/>
            <a:ext cx="972922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nodes · 4 aspects</a:t>
            </a:r>
            <a:endParaRPr lang="en-US" sz="585" dirty="0"/>
          </a:p>
        </p:txBody>
      </p:sp>
      <p:sp>
        <p:nvSpPr>
          <p:cNvPr id="59" name="Shape 57"/>
          <p:cNvSpPr/>
          <p:nvPr/>
        </p:nvSpPr>
        <p:spPr>
          <a:xfrm>
            <a:off x="3851910" y="1661904"/>
            <a:ext cx="4777740" cy="11430"/>
          </a:xfrm>
          <a:prstGeom prst="rect">
            <a:avLst/>
          </a:prstGeom>
          <a:gradFill rotWithShape="1">
            <a:gsLst>
              <a:gs pos="0">
                <a:srgbClr val="0097A7"/>
              </a:gs>
              <a:gs pos="50000">
                <a:srgbClr val="00BCD4"/>
              </a:gs>
              <a:gs pos="100000">
                <a:srgbClr val="0097A7"/>
              </a:gs>
            </a:gsLst>
            <a:lin ang="0" scaled="0"/>
          </a:gradFill>
          <a:ln/>
        </p:spPr>
      </p:sp>
      <p:sp>
        <p:nvSpPr>
          <p:cNvPr id="60" name="Text 58"/>
          <p:cNvSpPr/>
          <p:nvPr/>
        </p:nvSpPr>
        <p:spPr>
          <a:xfrm>
            <a:off x="4291965" y="1467594"/>
            <a:ext cx="417195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1950s</a:t>
            </a:r>
            <a:endParaRPr lang="en-US" sz="810" dirty="0"/>
          </a:p>
        </p:txBody>
      </p:sp>
      <p:sp>
        <p:nvSpPr>
          <p:cNvPr id="61" name="Text 59"/>
          <p:cNvSpPr/>
          <p:nvPr/>
        </p:nvSpPr>
        <p:spPr>
          <a:xfrm>
            <a:off x="4186238" y="1770489"/>
            <a:ext cx="58887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MIT 实验室 · 萌芽</a:t>
            </a:r>
            <a:endParaRPr lang="en-US" sz="450" dirty="0"/>
          </a:p>
        </p:txBody>
      </p:sp>
      <p:sp>
        <p:nvSpPr>
          <p:cNvPr id="62" name="Shape 60"/>
          <p:cNvSpPr/>
          <p:nvPr/>
        </p:nvSpPr>
        <p:spPr>
          <a:xfrm>
            <a:off x="4409123" y="1644759"/>
            <a:ext cx="80010" cy="80010"/>
          </a:xfrm>
          <a:prstGeom prst="ellipse">
            <a:avLst/>
          </a:prstGeom>
          <a:solidFill>
            <a:srgbClr val="00BCD4"/>
          </a:solidFill>
          <a:ln w="17145">
            <a:solidFill>
              <a:srgbClr val="1E1E2E"/>
            </a:solidFill>
            <a:prstDash val="solid"/>
          </a:ln>
          <a:effectLst>
            <a:outerShdw sx="100000" sy="100000" kx="0" ky="0" algn="bl" rotWithShape="0" blurRad="95250" dist="50800" dir="16200000">
              <a:srgbClr val="00BCD4">
                <a:alpha val="50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7906703" y="1467594"/>
            <a:ext cx="390906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1984</a:t>
            </a:r>
            <a:endParaRPr lang="en-US" sz="810" dirty="0"/>
          </a:p>
        </p:txBody>
      </p:sp>
      <p:sp>
        <p:nvSpPr>
          <p:cNvPr id="64" name="Text 62"/>
          <p:cNvSpPr/>
          <p:nvPr/>
        </p:nvSpPr>
        <p:spPr>
          <a:xfrm>
            <a:off x="7803833" y="1770489"/>
            <a:ext cx="51435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利维《黑客伦理》</a:t>
            </a:r>
            <a:endParaRPr lang="en-US" sz="450" dirty="0"/>
          </a:p>
        </p:txBody>
      </p:sp>
      <p:sp>
        <p:nvSpPr>
          <p:cNvPr id="65" name="Shape 63"/>
          <p:cNvSpPr/>
          <p:nvPr/>
        </p:nvSpPr>
        <p:spPr>
          <a:xfrm>
            <a:off x="7992428" y="1644759"/>
            <a:ext cx="80010" cy="80010"/>
          </a:xfrm>
          <a:prstGeom prst="ellipse">
            <a:avLst/>
          </a:prstGeom>
          <a:solidFill>
            <a:srgbClr val="00BCD4"/>
          </a:solidFill>
          <a:ln w="17145">
            <a:solidFill>
              <a:srgbClr val="1E1E2E"/>
            </a:solidFill>
            <a:prstDash val="solid"/>
          </a:ln>
          <a:effectLst>
            <a:outerShdw sx="100000" sy="100000" kx="0" ky="0" algn="bl" rotWithShape="0" blurRad="95250" dist="50800" dir="16200000">
              <a:srgbClr val="00BCD4">
                <a:alpha val="5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3623310" y="1936224"/>
            <a:ext cx="2583180" cy="1146215"/>
          </a:xfrm>
          <a:prstGeom prst="roundRect">
            <a:avLst>
              <a:gd name="adj" fmla="val 2992"/>
            </a:avLst>
          </a:prstGeom>
          <a:solidFill>
            <a:srgbClr val="2A2A3E"/>
          </a:solidFill>
          <a:ln w="5715">
            <a:solidFill>
              <a:srgbClr val="37474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623310" y="1993374"/>
            <a:ext cx="17145" cy="102048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8" name="Shape 66"/>
          <p:cNvSpPr/>
          <p:nvPr/>
        </p:nvSpPr>
        <p:spPr>
          <a:xfrm>
            <a:off x="3720465" y="2033379"/>
            <a:ext cx="320040" cy="102870"/>
          </a:xfrm>
          <a:prstGeom prst="roundRect">
            <a:avLst>
              <a:gd name="adj" fmla="val 11111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97A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20465" y="2033379"/>
            <a:ext cx="382905" cy="102870"/>
          </a:xfrm>
          <a:prstGeom prst="rect">
            <a:avLst/>
          </a:prstGeom>
          <a:noFill/>
          <a:ln/>
        </p:spPr>
        <p:txBody>
          <a:bodyPr wrap="none" lIns="5715" tIns="40005" rIns="40005" bIns="5715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01</a:t>
            </a:r>
            <a:endParaRPr lang="en-US" sz="495" dirty="0"/>
          </a:p>
        </p:txBody>
      </p:sp>
      <p:sp>
        <p:nvSpPr>
          <p:cNvPr id="70" name="Text 68"/>
          <p:cNvSpPr/>
          <p:nvPr/>
        </p:nvSpPr>
        <p:spPr>
          <a:xfrm>
            <a:off x="4086225" y="2021949"/>
            <a:ext cx="548640" cy="125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萌芽于 MIT</a:t>
            </a:r>
            <a:endParaRPr lang="en-US" sz="675" dirty="0"/>
          </a:p>
        </p:txBody>
      </p:sp>
      <p:sp>
        <p:nvSpPr>
          <p:cNvPr id="71" name="Text 69"/>
          <p:cNvSpPr/>
          <p:nvPr/>
        </p:nvSpPr>
        <p:spPr>
          <a:xfrm>
            <a:off x="3720465" y="2181969"/>
            <a:ext cx="2675534" cy="85725"/>
          </a:xfrm>
          <a:prstGeom prst="rect">
            <a:avLst/>
          </a:prstGeom>
          <a:noFill/>
          <a:ln/>
        </p:spPr>
        <p:txBody>
          <a:bodyPr wrap="none" lIns="0" tIns="205740" rIns="0" bIns="0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20世纪 50-60 年代</a:t>
            </a:r>
            <a:endParaRPr lang="en-US" sz="450" dirty="0"/>
          </a:p>
        </p:txBody>
      </p:sp>
      <p:sp>
        <p:nvSpPr>
          <p:cNvPr id="72" name="Text 70"/>
          <p:cNvSpPr/>
          <p:nvPr/>
        </p:nvSpPr>
        <p:spPr>
          <a:xfrm>
            <a:off x="3720465" y="2313414"/>
            <a:ext cx="2675534" cy="219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dirty="0">
                <a:solidFill>
                  <a:srgbClr val="00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MIT 人工智能实验室</a:t>
            </a:r>
            <a:pPr algn="l" indent="0" marL="0">
              <a:lnSpc>
                <a:spcPct val="160000"/>
              </a:lnSpc>
              <a:buNone/>
            </a:pPr>
            <a:r>
              <a:rPr lang="en-US" sz="540" dirty="0">
                <a:solidFill>
                  <a:srgbClr val="90A4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成为黑客文化摇篮，技术人员以热情和创造力推动早期计算研究。</a:t>
            </a:r>
            <a:endParaRPr lang="en-US" sz="540" dirty="0"/>
          </a:p>
        </p:txBody>
      </p:sp>
      <p:sp>
        <p:nvSpPr>
          <p:cNvPr id="73" name="Shape 71"/>
          <p:cNvSpPr/>
          <p:nvPr/>
        </p:nvSpPr>
        <p:spPr>
          <a:xfrm>
            <a:off x="6275070" y="1936224"/>
            <a:ext cx="2583180" cy="1146215"/>
          </a:xfrm>
          <a:prstGeom prst="roundRect">
            <a:avLst>
              <a:gd name="adj" fmla="val 2992"/>
            </a:avLst>
          </a:prstGeom>
          <a:solidFill>
            <a:srgbClr val="2A2A3E"/>
          </a:solidFill>
          <a:ln w="5715">
            <a:solidFill>
              <a:srgbClr val="37474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275070" y="1993374"/>
            <a:ext cx="17145" cy="102048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75" name="Shape 73"/>
          <p:cNvSpPr/>
          <p:nvPr/>
        </p:nvSpPr>
        <p:spPr>
          <a:xfrm>
            <a:off x="6372225" y="2033379"/>
            <a:ext cx="320040" cy="102870"/>
          </a:xfrm>
          <a:prstGeom prst="roundRect">
            <a:avLst>
              <a:gd name="adj" fmla="val 11111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97A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372225" y="2033379"/>
            <a:ext cx="382905" cy="102870"/>
          </a:xfrm>
          <a:prstGeom prst="rect">
            <a:avLst/>
          </a:prstGeom>
          <a:noFill/>
          <a:ln/>
        </p:spPr>
        <p:txBody>
          <a:bodyPr wrap="none" lIns="5715" tIns="40005" rIns="40005" bIns="5715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02</a:t>
            </a:r>
            <a:endParaRPr lang="en-US" sz="495" dirty="0"/>
          </a:p>
        </p:txBody>
      </p:sp>
      <p:sp>
        <p:nvSpPr>
          <p:cNvPr id="77" name="Text 75"/>
          <p:cNvSpPr/>
          <p:nvPr/>
        </p:nvSpPr>
        <p:spPr>
          <a:xfrm>
            <a:off x="6737985" y="2021949"/>
            <a:ext cx="600075" cy="125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《黑客伦理》</a:t>
            </a:r>
            <a:endParaRPr lang="en-US" sz="675" dirty="0"/>
          </a:p>
        </p:txBody>
      </p:sp>
      <p:sp>
        <p:nvSpPr>
          <p:cNvPr id="78" name="Text 76"/>
          <p:cNvSpPr/>
          <p:nvPr/>
        </p:nvSpPr>
        <p:spPr>
          <a:xfrm>
            <a:off x="6372225" y="2181969"/>
            <a:ext cx="2675534" cy="85725"/>
          </a:xfrm>
          <a:prstGeom prst="rect">
            <a:avLst/>
          </a:prstGeom>
          <a:noFill/>
          <a:ln/>
        </p:spPr>
        <p:txBody>
          <a:bodyPr wrap="none" lIns="0" tIns="205740" rIns="0" bIns="0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1984 · 史蒂文·利维</a:t>
            </a:r>
            <a:endParaRPr lang="en-US" sz="450" dirty="0"/>
          </a:p>
        </p:txBody>
      </p:sp>
      <p:sp>
        <p:nvSpPr>
          <p:cNvPr id="79" name="Text 77"/>
          <p:cNvSpPr/>
          <p:nvPr/>
        </p:nvSpPr>
        <p:spPr>
          <a:xfrm>
            <a:off x="6372225" y="2313414"/>
            <a:ext cx="2675534" cy="219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dirty="0">
                <a:solidFill>
                  <a:srgbClr val="90A4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系统总结黑客伦理</a:t>
            </a:r>
            <a:pPr algn="l" indent="0" marL="0">
              <a:lnSpc>
                <a:spcPct val="160000"/>
              </a:lnSpc>
              <a:buNone/>
            </a:pPr>
            <a:r>
              <a:rPr lang="en-US" sz="540" dirty="0">
                <a:solidFill>
                  <a:srgbClr val="00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六条原则</a:t>
            </a:r>
            <a:pPr algn="l" indent="0" marL="0">
              <a:lnSpc>
                <a:spcPct val="160000"/>
              </a:lnSpc>
              <a:buNone/>
            </a:pPr>
            <a:r>
              <a:rPr lang="en-US" sz="540" dirty="0">
                <a:solidFill>
                  <a:srgbClr val="90A4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，将散落在社区中的价值观凝聚为清晰的纲领性宣言。</a:t>
            </a:r>
            <a:endParaRPr lang="en-US" sz="540" dirty="0"/>
          </a:p>
        </p:txBody>
      </p:sp>
      <p:sp>
        <p:nvSpPr>
          <p:cNvPr id="80" name="Shape 78"/>
          <p:cNvSpPr/>
          <p:nvPr/>
        </p:nvSpPr>
        <p:spPr>
          <a:xfrm>
            <a:off x="3623310" y="3151019"/>
            <a:ext cx="2583180" cy="1146215"/>
          </a:xfrm>
          <a:prstGeom prst="roundRect">
            <a:avLst>
              <a:gd name="adj" fmla="val 2992"/>
            </a:avLst>
          </a:prstGeom>
          <a:solidFill>
            <a:srgbClr val="2A2A3E"/>
          </a:solidFill>
          <a:ln w="5715">
            <a:solidFill>
              <a:srgbClr val="37474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623310" y="3208169"/>
            <a:ext cx="17145" cy="102048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82" name="Shape 80"/>
          <p:cNvSpPr/>
          <p:nvPr/>
        </p:nvSpPr>
        <p:spPr>
          <a:xfrm>
            <a:off x="3720465" y="3248174"/>
            <a:ext cx="320040" cy="102870"/>
          </a:xfrm>
          <a:prstGeom prst="roundRect">
            <a:avLst>
              <a:gd name="adj" fmla="val 11111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97A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720465" y="3248174"/>
            <a:ext cx="382905" cy="102870"/>
          </a:xfrm>
          <a:prstGeom prst="rect">
            <a:avLst/>
          </a:prstGeom>
          <a:noFill/>
          <a:ln/>
        </p:spPr>
        <p:txBody>
          <a:bodyPr wrap="none" lIns="5715" tIns="40005" rIns="40005" bIns="5715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03</a:t>
            </a:r>
            <a:endParaRPr lang="en-US" sz="495" dirty="0"/>
          </a:p>
        </p:txBody>
      </p:sp>
      <p:sp>
        <p:nvSpPr>
          <p:cNvPr id="84" name="Text 82"/>
          <p:cNvSpPr/>
          <p:nvPr/>
        </p:nvSpPr>
        <p:spPr>
          <a:xfrm>
            <a:off x="4086225" y="3236744"/>
            <a:ext cx="514350" cy="125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与开源关系</a:t>
            </a:r>
            <a:endParaRPr lang="en-US" sz="675" dirty="0"/>
          </a:p>
        </p:txBody>
      </p:sp>
      <p:sp>
        <p:nvSpPr>
          <p:cNvPr id="85" name="Text 83"/>
          <p:cNvSpPr/>
          <p:nvPr/>
        </p:nvSpPr>
        <p:spPr>
          <a:xfrm>
            <a:off x="3720465" y="3396764"/>
            <a:ext cx="2675534" cy="85725"/>
          </a:xfrm>
          <a:prstGeom prst="rect">
            <a:avLst/>
          </a:prstGeom>
          <a:noFill/>
          <a:ln/>
        </p:spPr>
        <p:txBody>
          <a:bodyPr wrap="none" lIns="0" tIns="205740" rIns="0" bIns="0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思想源头 · 一脉相承</a:t>
            </a:r>
            <a:endParaRPr lang="en-US" sz="450" dirty="0"/>
          </a:p>
        </p:txBody>
      </p:sp>
      <p:sp>
        <p:nvSpPr>
          <p:cNvPr id="86" name="Text 84"/>
          <p:cNvSpPr/>
          <p:nvPr/>
        </p:nvSpPr>
        <p:spPr>
          <a:xfrm>
            <a:off x="3720465" y="3528209"/>
            <a:ext cx="2675534" cy="219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dirty="0">
                <a:solidFill>
                  <a:srgbClr val="90A4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黑客伦理是</a:t>
            </a:r>
            <a:pPr algn="l" indent="0" marL="0">
              <a:lnSpc>
                <a:spcPct val="160000"/>
              </a:lnSpc>
              <a:buNone/>
            </a:pPr>
            <a:r>
              <a:rPr lang="en-US" sz="540" dirty="0">
                <a:solidFill>
                  <a:srgbClr val="00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自由软件运动</a:t>
            </a:r>
            <a:pPr algn="l" indent="0" marL="0">
              <a:lnSpc>
                <a:spcPct val="160000"/>
              </a:lnSpc>
              <a:buNone/>
            </a:pPr>
            <a:r>
              <a:rPr lang="en-US" sz="540" dirty="0">
                <a:solidFill>
                  <a:srgbClr val="90A4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和</a:t>
            </a:r>
            <a:pPr algn="l" indent="0" marL="0">
              <a:lnSpc>
                <a:spcPct val="160000"/>
              </a:lnSpc>
              <a:buNone/>
            </a:pPr>
            <a:r>
              <a:rPr lang="en-US" sz="540" dirty="0">
                <a:solidFill>
                  <a:srgbClr val="00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开源精神</a:t>
            </a:r>
            <a:pPr algn="l" indent="0" marL="0">
              <a:lnSpc>
                <a:spcPct val="160000"/>
              </a:lnSpc>
              <a:buNone/>
            </a:pPr>
            <a:r>
              <a:rPr lang="en-US" sz="540" dirty="0">
                <a:solidFill>
                  <a:srgbClr val="90A4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的直接思想源头，深刻塑造了现代协作开发模式。</a:t>
            </a:r>
            <a:endParaRPr lang="en-US" sz="540" dirty="0"/>
          </a:p>
        </p:txBody>
      </p:sp>
      <p:sp>
        <p:nvSpPr>
          <p:cNvPr id="87" name="Shape 85"/>
          <p:cNvSpPr/>
          <p:nvPr/>
        </p:nvSpPr>
        <p:spPr>
          <a:xfrm>
            <a:off x="6275070" y="3151019"/>
            <a:ext cx="2583180" cy="1146215"/>
          </a:xfrm>
          <a:prstGeom prst="roundRect">
            <a:avLst>
              <a:gd name="adj" fmla="val 2992"/>
            </a:avLst>
          </a:prstGeom>
          <a:solidFill>
            <a:srgbClr val="2A2A3E"/>
          </a:solidFill>
          <a:ln w="5715">
            <a:solidFill>
              <a:srgbClr val="37474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275070" y="3208169"/>
            <a:ext cx="17145" cy="102048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89" name="Shape 87"/>
          <p:cNvSpPr/>
          <p:nvPr/>
        </p:nvSpPr>
        <p:spPr>
          <a:xfrm>
            <a:off x="6372225" y="3248174"/>
            <a:ext cx="320040" cy="102870"/>
          </a:xfrm>
          <a:prstGeom prst="roundRect">
            <a:avLst>
              <a:gd name="adj" fmla="val 11111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97A7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372225" y="3248174"/>
            <a:ext cx="382905" cy="102870"/>
          </a:xfrm>
          <a:prstGeom prst="rect">
            <a:avLst/>
          </a:prstGeom>
          <a:noFill/>
          <a:ln/>
        </p:spPr>
        <p:txBody>
          <a:bodyPr wrap="none" lIns="5715" tIns="40005" rIns="40005" bIns="5715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04</a:t>
            </a:r>
            <a:endParaRPr lang="en-US" sz="495" dirty="0"/>
          </a:p>
        </p:txBody>
      </p:sp>
      <p:sp>
        <p:nvSpPr>
          <p:cNvPr id="91" name="Text 89"/>
          <p:cNvSpPr/>
          <p:nvPr/>
        </p:nvSpPr>
        <p:spPr>
          <a:xfrm>
            <a:off x="6737985" y="3236744"/>
            <a:ext cx="428625" cy="125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传播影响</a:t>
            </a:r>
            <a:endParaRPr lang="en-US" sz="675" dirty="0"/>
          </a:p>
        </p:txBody>
      </p:sp>
      <p:sp>
        <p:nvSpPr>
          <p:cNvPr id="92" name="Text 90"/>
          <p:cNvSpPr/>
          <p:nvPr/>
        </p:nvSpPr>
        <p:spPr>
          <a:xfrm>
            <a:off x="6372225" y="3396764"/>
            <a:ext cx="2675534" cy="85725"/>
          </a:xfrm>
          <a:prstGeom prst="rect">
            <a:avLst/>
          </a:prstGeom>
          <a:noFill/>
          <a:ln/>
        </p:spPr>
        <p:txBody>
          <a:bodyPr wrap="none" lIns="0" tIns="205740" rIns="0" bIns="0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社区 · 书籍 · 全球</a:t>
            </a:r>
            <a:endParaRPr lang="en-US" sz="450" dirty="0"/>
          </a:p>
        </p:txBody>
      </p:sp>
      <p:sp>
        <p:nvSpPr>
          <p:cNvPr id="93" name="Text 91"/>
          <p:cNvSpPr/>
          <p:nvPr/>
        </p:nvSpPr>
        <p:spPr>
          <a:xfrm>
            <a:off x="6372225" y="3528209"/>
            <a:ext cx="2675534" cy="219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dirty="0">
                <a:solidFill>
                  <a:srgbClr val="90A4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</a:t>
            </a:r>
            <a:pPr algn="l" indent="0" marL="0">
              <a:lnSpc>
                <a:spcPct val="160000"/>
              </a:lnSpc>
              <a:buNone/>
            </a:pPr>
            <a:r>
              <a:rPr lang="en-US" sz="540" dirty="0">
                <a:solidFill>
                  <a:srgbClr val="00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技术社区</a:t>
            </a:r>
            <a:pPr algn="l" indent="0" marL="0">
              <a:lnSpc>
                <a:spcPct val="160000"/>
              </a:lnSpc>
              <a:buNone/>
            </a:pPr>
            <a:r>
              <a:rPr lang="en-US" sz="540" dirty="0">
                <a:solidFill>
                  <a:srgbClr val="90A4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和</a:t>
            </a:r>
            <a:pPr algn="l" indent="0" marL="0">
              <a:lnSpc>
                <a:spcPct val="160000"/>
              </a:lnSpc>
              <a:buNone/>
            </a:pPr>
            <a:r>
              <a:rPr lang="en-US" sz="540" dirty="0">
                <a:solidFill>
                  <a:srgbClr val="00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书籍出版</a:t>
            </a:r>
            <a:pPr algn="l" indent="0" marL="0">
              <a:lnSpc>
                <a:spcPct val="160000"/>
              </a:lnSpc>
              <a:buNone/>
            </a:pPr>
            <a:r>
              <a:rPr lang="en-US" sz="540" dirty="0">
                <a:solidFill>
                  <a:srgbClr val="90A4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，伦理观念扩散至全球开发者，成为数字时代的通用准则。</a:t>
            </a:r>
            <a:endParaRPr lang="en-US" sz="540" dirty="0"/>
          </a:p>
        </p:txBody>
      </p:sp>
      <p:sp>
        <p:nvSpPr>
          <p:cNvPr id="94" name="Shape 92"/>
          <p:cNvSpPr/>
          <p:nvPr/>
        </p:nvSpPr>
        <p:spPr>
          <a:xfrm>
            <a:off x="285750" y="4388674"/>
            <a:ext cx="8572500" cy="285750"/>
          </a:xfrm>
          <a:prstGeom prst="roundRect">
            <a:avLst>
              <a:gd name="adj" fmla="val 12000"/>
            </a:avLst>
          </a:prstGeom>
          <a:solidFill>
            <a:srgbClr val="2A2A3E"/>
          </a:solidFill>
          <a:ln w="5715">
            <a:solidFill>
              <a:srgbClr val="37474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05765" y="4480114"/>
            <a:ext cx="136017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endParaRPr lang="en-US" sz="630" dirty="0"/>
          </a:p>
        </p:txBody>
      </p:sp>
      <p:sp>
        <p:nvSpPr>
          <p:cNvPr id="96" name="Text 94"/>
          <p:cNvSpPr/>
          <p:nvPr/>
        </p:nvSpPr>
        <p:spPr>
          <a:xfrm>
            <a:off x="531495" y="4474399"/>
            <a:ext cx="2355494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30" spc="23" kern="0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echo "</a:t>
            </a:r>
            <a:pPr algn="l" indent="0" marL="0">
              <a:buNone/>
            </a:pPr>
            <a:r>
              <a:rPr lang="en-US" sz="630" spc="23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黑客精神 </a:t>
            </a:r>
            <a:pPr algn="l" indent="0" marL="0">
              <a:buNone/>
            </a:pPr>
            <a:r>
              <a:rPr lang="en-US" sz="630" spc="23" kern="0" dirty="0">
                <a:solidFill>
                  <a:srgbClr val="FFB7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</a:t>
            </a:r>
            <a:pPr algn="l" indent="0" marL="0">
              <a:buNone/>
            </a:pPr>
            <a:r>
              <a:rPr lang="en-US" sz="630" spc="23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信息自由 </a:t>
            </a:r>
            <a:pPr algn="l" indent="0" marL="0">
              <a:buNone/>
            </a:pPr>
            <a:r>
              <a:rPr lang="en-US" sz="630" spc="23" kern="0" dirty="0">
                <a:solidFill>
                  <a:srgbClr val="FFB7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</a:t>
            </a:r>
            <a:pPr algn="l" indent="0" marL="0">
              <a:buNone/>
            </a:pPr>
            <a:r>
              <a:rPr lang="en-US" sz="630" spc="23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技术热爱 </a:t>
            </a:r>
            <a:pPr algn="l" indent="0" marL="0">
              <a:buNone/>
            </a:pPr>
            <a:r>
              <a:rPr lang="en-US" sz="630" spc="23" kern="0" dirty="0">
                <a:solidFill>
                  <a:srgbClr val="FFB7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</a:t>
            </a:r>
            <a:pPr algn="l" indent="0" marL="0">
              <a:buNone/>
            </a:pPr>
            <a:r>
              <a:rPr lang="en-US" sz="630" spc="23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开放共享</a:t>
            </a:r>
            <a:pPr algn="l" indent="0" marL="0">
              <a:buNone/>
            </a:pPr>
            <a:r>
              <a:rPr lang="en-US" sz="630" spc="23" kern="0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</a:t>
            </a:r>
            <a:endParaRPr lang="en-US" sz="630" dirty="0"/>
          </a:p>
        </p:txBody>
      </p:sp>
      <p:sp>
        <p:nvSpPr>
          <p:cNvPr id="97" name="Shape 95"/>
          <p:cNvSpPr/>
          <p:nvPr/>
        </p:nvSpPr>
        <p:spPr>
          <a:xfrm>
            <a:off x="2748915" y="4480114"/>
            <a:ext cx="45720" cy="102870"/>
          </a:xfrm>
          <a:prstGeom prst="rect">
            <a:avLst/>
          </a:prstGeom>
          <a:solidFill>
            <a:srgbClr val="00BCD4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5151E"/>
              </a:gs>
              <a:gs pos="50000">
                <a:srgbClr val="1E1E2E"/>
              </a:gs>
              <a:gs pos="100000">
                <a:srgbClr val="15151E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00BCD4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240030"/>
            <a:ext cx="460857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3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HACKER_ETHIC.CORE</a:t>
            </a:r>
            <a:endParaRPr lang="en-US" sz="585" dirty="0"/>
          </a:p>
        </p:txBody>
      </p:sp>
      <p:sp>
        <p:nvSpPr>
          <p:cNvPr id="6" name="Text 4"/>
          <p:cNvSpPr/>
          <p:nvPr/>
        </p:nvSpPr>
        <p:spPr>
          <a:xfrm>
            <a:off x="342900" y="382905"/>
            <a:ext cx="1383030" cy="4457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510" b="1" spc="180" kern="0" dirty="0">
                <a:solidFill>
                  <a:srgbClr val="ECEF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核心</a:t>
            </a:r>
            <a:endParaRPr lang="en-US" sz="3510" dirty="0"/>
          </a:p>
        </p:txBody>
      </p:sp>
      <p:sp>
        <p:nvSpPr>
          <p:cNvPr id="7" name="Text 5"/>
          <p:cNvSpPr/>
          <p:nvPr/>
        </p:nvSpPr>
        <p:spPr>
          <a:xfrm>
            <a:off x="1314450" y="382905"/>
            <a:ext cx="1383030" cy="4457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510" b="1" spc="18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原则</a:t>
            </a:r>
            <a:endParaRPr lang="en-US" sz="3510" dirty="0"/>
          </a:p>
        </p:txBody>
      </p:sp>
      <p:sp>
        <p:nvSpPr>
          <p:cNvPr id="8" name="Shape 6"/>
          <p:cNvSpPr/>
          <p:nvPr/>
        </p:nvSpPr>
        <p:spPr>
          <a:xfrm>
            <a:off x="2331720" y="411480"/>
            <a:ext cx="217170" cy="388620"/>
          </a:xfrm>
          <a:prstGeom prst="rect">
            <a:avLst/>
          </a:prstGeom>
          <a:solidFill>
            <a:srgbClr val="00BCD4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42900" y="908685"/>
            <a:ext cx="4608576" cy="125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75" spc="68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&lt;PEER · PETER LEVY / 1984&gt; ·</a:t>
            </a:r>
            <a:pPr algn="l" indent="0" marL="0">
              <a:buNone/>
            </a:pPr>
            <a:r>
              <a:rPr lang="en-US" sz="675" spc="68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六条黑客伦理基石</a:t>
            </a:r>
            <a:pPr algn="l" indent="0" marL="0">
              <a:buNone/>
            </a:pPr>
            <a:r>
              <a:rPr lang="en-US" sz="675" spc="68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定义了一个技术社群的精神坐标</a:t>
            </a:r>
            <a:endParaRPr lang="en-US" sz="675" dirty="0"/>
          </a:p>
        </p:txBody>
      </p:sp>
      <p:sp>
        <p:nvSpPr>
          <p:cNvPr id="10" name="Shape 8"/>
          <p:cNvSpPr/>
          <p:nvPr/>
        </p:nvSpPr>
        <p:spPr>
          <a:xfrm>
            <a:off x="8035290" y="485775"/>
            <a:ext cx="765810" cy="160020"/>
          </a:xfrm>
          <a:prstGeom prst="rect">
            <a:avLst/>
          </a:prstGeom>
          <a:noFill/>
          <a:ln w="5715">
            <a:solidFill>
              <a:srgbClr val="0083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35290" y="485775"/>
            <a:ext cx="857707" cy="160020"/>
          </a:xfrm>
          <a:prstGeom prst="rect">
            <a:avLst/>
          </a:prstGeom>
          <a:noFill/>
          <a:ln/>
        </p:spPr>
        <p:txBody>
          <a:bodyPr wrap="square" lIns="28575" tIns="68580" rIns="68580" bIns="28575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 · 01</a:t>
            </a:r>
            <a:endParaRPr lang="en-US" sz="540" dirty="0"/>
          </a:p>
        </p:txBody>
      </p:sp>
      <p:sp>
        <p:nvSpPr>
          <p:cNvPr id="12" name="Shape 10"/>
          <p:cNvSpPr/>
          <p:nvPr/>
        </p:nvSpPr>
        <p:spPr>
          <a:xfrm>
            <a:off x="8035290" y="680085"/>
            <a:ext cx="765810" cy="160020"/>
          </a:xfrm>
          <a:prstGeom prst="rect">
            <a:avLst/>
          </a:prstGeom>
          <a:noFill/>
          <a:ln w="5715">
            <a:solidFill>
              <a:srgbClr val="F0629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35290" y="680085"/>
            <a:ext cx="857707" cy="160020"/>
          </a:xfrm>
          <a:prstGeom prst="rect">
            <a:avLst/>
          </a:prstGeom>
          <a:noFill/>
          <a:ln/>
        </p:spPr>
        <p:txBody>
          <a:bodyPr wrap="square" lIns="28575" tIns="68580" rIns="68580" bIns="28575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F062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ETHIC · CORE</a:t>
            </a:r>
            <a:endParaRPr lang="en-US" sz="540" dirty="0"/>
          </a:p>
        </p:txBody>
      </p:sp>
      <p:sp>
        <p:nvSpPr>
          <p:cNvPr id="14" name="Text 12"/>
          <p:cNvSpPr/>
          <p:nvPr/>
        </p:nvSpPr>
        <p:spPr>
          <a:xfrm>
            <a:off x="7246620" y="874395"/>
            <a:ext cx="1741018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95" spc="68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SYS</a:t>
            </a:r>
            <a:pPr algn="r" indent="0" marL="0">
              <a:buNone/>
            </a:pPr>
            <a:r>
              <a:rPr lang="en-US" sz="495" spc="68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://principle.load</a:t>
            </a:r>
            <a:pPr algn="r" indent="0" marL="0">
              <a:buNone/>
            </a:pPr>
            <a:r>
              <a:rPr lang="en-US" sz="495" spc="68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OK</a:t>
            </a:r>
            <a:pPr algn="r" indent="0" marL="0">
              <a:buNone/>
            </a:pPr>
            <a:endParaRPr lang="en-US" sz="495" dirty="0"/>
          </a:p>
          <a:p>
            <a:pPr algn="r" indent="0" marL="0">
              <a:buNone/>
            </a:pPr>
            <a:r>
              <a:rPr lang="en-US" sz="495" spc="68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version 1.0 · 4 cards · 6 tenets</a:t>
            </a:r>
            <a:endParaRPr lang="en-US" sz="495" dirty="0"/>
          </a:p>
        </p:txBody>
      </p:sp>
      <p:sp>
        <p:nvSpPr>
          <p:cNvPr id="15" name="Shape 13"/>
          <p:cNvSpPr/>
          <p:nvPr/>
        </p:nvSpPr>
        <p:spPr>
          <a:xfrm>
            <a:off x="342900" y="1188720"/>
            <a:ext cx="34290" cy="3429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" y="1160145"/>
            <a:ext cx="147858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cat hacker_ethic.md | grep "^#"</a:t>
            </a:r>
            <a:endParaRPr lang="en-US" sz="540" dirty="0"/>
          </a:p>
        </p:txBody>
      </p:sp>
      <p:sp>
        <p:nvSpPr>
          <p:cNvPr id="17" name="Shape 15"/>
          <p:cNvSpPr/>
          <p:nvPr/>
        </p:nvSpPr>
        <p:spPr>
          <a:xfrm>
            <a:off x="1811655" y="1203008"/>
            <a:ext cx="6898005" cy="571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8" name="Shape 16"/>
          <p:cNvSpPr/>
          <p:nvPr/>
        </p:nvSpPr>
        <p:spPr>
          <a:xfrm>
            <a:off x="8766810" y="1188720"/>
            <a:ext cx="34290" cy="3429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9" name="Shape 17"/>
          <p:cNvSpPr/>
          <p:nvPr/>
        </p:nvSpPr>
        <p:spPr>
          <a:xfrm>
            <a:off x="342900" y="1365885"/>
            <a:ext cx="4177665" cy="1451610"/>
          </a:xfrm>
          <a:prstGeom prst="rect">
            <a:avLst/>
          </a:prstGeom>
          <a:solidFill>
            <a:srgbClr val="1E1E2E"/>
          </a:solidFill>
          <a:ln w="5715">
            <a:solidFill>
              <a:srgbClr val="0083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" y="1365885"/>
            <a:ext cx="22860" cy="144018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1" name="Shape 19"/>
          <p:cNvSpPr/>
          <p:nvPr/>
        </p:nvSpPr>
        <p:spPr>
          <a:xfrm>
            <a:off x="474345" y="1485900"/>
            <a:ext cx="331470" cy="331470"/>
          </a:xfrm>
          <a:prstGeom prst="rect">
            <a:avLst/>
          </a:prstGeom>
          <a:solidFill>
            <a:srgbClr val="15151E"/>
          </a:solidFill>
          <a:ln w="5715">
            <a:solidFill>
              <a:srgbClr val="00BC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1468755"/>
            <a:ext cx="365760" cy="365760"/>
          </a:xfrm>
          <a:prstGeom prst="rect">
            <a:avLst/>
          </a:prstGeom>
          <a:noFill/>
          <a:ln w="5715">
            <a:solidFill>
              <a:srgbClr val="00BCD4">
                <a:alpha val="15000"/>
              </a:srgbClr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2925" y="1554480"/>
            <a:ext cx="194310" cy="19431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85825" y="1497330"/>
            <a:ext cx="1408176" cy="2171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70" b="1" spc="90" kern="0" dirty="0">
                <a:solidFill>
                  <a:srgbClr val="ECEF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信息自由</a:t>
            </a:r>
            <a:endParaRPr lang="en-US" sz="1170" dirty="0"/>
          </a:p>
        </p:txBody>
      </p:sp>
      <p:sp>
        <p:nvSpPr>
          <p:cNvPr id="25" name="Text 22"/>
          <p:cNvSpPr/>
          <p:nvPr/>
        </p:nvSpPr>
        <p:spPr>
          <a:xfrm>
            <a:off x="885825" y="1725930"/>
            <a:ext cx="1408176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FREEDOM OF INFORMATION</a:t>
            </a:r>
            <a:endParaRPr lang="en-US" sz="495" dirty="0"/>
          </a:p>
        </p:txBody>
      </p:sp>
      <p:sp>
        <p:nvSpPr>
          <p:cNvPr id="26" name="Text 23"/>
          <p:cNvSpPr/>
          <p:nvPr/>
        </p:nvSpPr>
        <p:spPr>
          <a:xfrm>
            <a:off x="474345" y="1874520"/>
            <a:ext cx="4384548" cy="80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PRINCIPLE /</a:t>
            </a:r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pPr algn="l" indent="0" marL="0">
              <a:buNone/>
            </a:pPr>
            <a:r>
              <a:rPr lang="en-US" sz="495" spc="90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of 06</a:t>
            </a:r>
            <a:endParaRPr lang="en-US" sz="495" dirty="0"/>
          </a:p>
        </p:txBody>
      </p:sp>
      <p:sp>
        <p:nvSpPr>
          <p:cNvPr id="27" name="Text 24"/>
          <p:cNvSpPr/>
          <p:nvPr/>
        </p:nvSpPr>
        <p:spPr>
          <a:xfrm>
            <a:off x="474345" y="2011680"/>
            <a:ext cx="4384548" cy="136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653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信息应当免费获取</a:t>
            </a:r>
            <a:pPr algn="l" indent="0" marL="0">
              <a:lnSpc>
                <a:spcPct val="165000"/>
              </a:lnSpc>
              <a:buNone/>
            </a:pPr>
            <a:r>
              <a:rPr lang="en-US" sz="65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，知识不应被围墙圈禁——反对知识垄断，让每一个人都能触及数据、代码与思想的源头。</a:t>
            </a:r>
            <a:endParaRPr lang="en-US" sz="653" dirty="0"/>
          </a:p>
        </p:txBody>
      </p:sp>
      <p:sp>
        <p:nvSpPr>
          <p:cNvPr id="28" name="Shape 25"/>
          <p:cNvSpPr/>
          <p:nvPr/>
        </p:nvSpPr>
        <p:spPr>
          <a:xfrm>
            <a:off x="474345" y="2371725"/>
            <a:ext cx="445770" cy="131445"/>
          </a:xfrm>
          <a:prstGeom prst="rect">
            <a:avLst/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4345" y="2371725"/>
            <a:ext cx="505778" cy="131445"/>
          </a:xfrm>
          <a:prstGeom prst="rect">
            <a:avLst/>
          </a:prstGeom>
          <a:noFill/>
          <a:ln/>
        </p:spPr>
        <p:txBody>
          <a:bodyPr wrap="squar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免费获取</a:t>
            </a:r>
            <a:endParaRPr lang="en-US" sz="473" dirty="0"/>
          </a:p>
        </p:txBody>
      </p:sp>
      <p:sp>
        <p:nvSpPr>
          <p:cNvPr id="30" name="Shape 27"/>
          <p:cNvSpPr/>
          <p:nvPr/>
        </p:nvSpPr>
        <p:spPr>
          <a:xfrm>
            <a:off x="954405" y="2371725"/>
            <a:ext cx="382905" cy="131445"/>
          </a:xfrm>
          <a:prstGeom prst="rect">
            <a:avLst/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54405" y="2371725"/>
            <a:ext cx="442913" cy="131445"/>
          </a:xfrm>
          <a:prstGeom prst="rect">
            <a:avLst/>
          </a:prstGeom>
          <a:noFill/>
          <a:ln/>
        </p:spPr>
        <p:txBody>
          <a:bodyPr wrap="squar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反垄断</a:t>
            </a:r>
            <a:endParaRPr lang="en-US" sz="473" dirty="0"/>
          </a:p>
        </p:txBody>
      </p:sp>
      <p:sp>
        <p:nvSpPr>
          <p:cNvPr id="32" name="Shape 29"/>
          <p:cNvSpPr/>
          <p:nvPr/>
        </p:nvSpPr>
        <p:spPr>
          <a:xfrm>
            <a:off x="1371600" y="2371725"/>
            <a:ext cx="634365" cy="131445"/>
          </a:xfrm>
          <a:prstGeom prst="rect">
            <a:avLst/>
          </a:prstGeom>
          <a:noFill/>
          <a:ln w="5715">
            <a:solidFill>
              <a:srgbClr val="B0BEC5">
                <a:alpha val="25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371600" y="2371725"/>
            <a:ext cx="710489" cy="131445"/>
          </a:xfrm>
          <a:prstGeom prst="rect">
            <a:avLst/>
          </a:prstGeom>
          <a:noFill/>
          <a:ln/>
        </p:spPr>
        <p:txBody>
          <a:bodyPr wrap="squar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open_access</a:t>
            </a:r>
            <a:endParaRPr lang="en-US" sz="473" dirty="0"/>
          </a:p>
        </p:txBody>
      </p:sp>
      <p:sp>
        <p:nvSpPr>
          <p:cNvPr id="34" name="Shape 31"/>
          <p:cNvSpPr/>
          <p:nvPr/>
        </p:nvSpPr>
        <p:spPr>
          <a:xfrm>
            <a:off x="474345" y="2560320"/>
            <a:ext cx="3914775" cy="148590"/>
          </a:xfrm>
          <a:prstGeom prst="rect">
            <a:avLst/>
          </a:prstGeom>
          <a:noFill/>
          <a:ln/>
        </p:spPr>
      </p:sp>
      <p:sp>
        <p:nvSpPr>
          <p:cNvPr id="35" name="Shape 32"/>
          <p:cNvSpPr/>
          <p:nvPr/>
        </p:nvSpPr>
        <p:spPr>
          <a:xfrm>
            <a:off x="474345" y="2560320"/>
            <a:ext cx="3914775" cy="0"/>
          </a:xfrm>
          <a:prstGeom prst="line">
            <a:avLst/>
          </a:prstGeom>
          <a:noFill/>
          <a:ln w="5715">
            <a:solidFill>
              <a:srgbClr val="00BCD4">
                <a:alpha val="25000"/>
              </a:srgbClr>
            </a:solidFill>
            <a:prstDash val="dash"/>
          </a:ln>
        </p:spPr>
      </p:sp>
      <p:sp>
        <p:nvSpPr>
          <p:cNvPr id="36" name="Text 33"/>
          <p:cNvSpPr/>
          <p:nvPr/>
        </p:nvSpPr>
        <p:spPr>
          <a:xfrm>
            <a:off x="474345" y="2617470"/>
            <a:ext cx="94481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E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pPr algn="l" indent="0" marL="0">
              <a:buNone/>
            </a:pPr>
            <a:r>
              <a:rPr lang="en-US" sz="495" spc="45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信息越自由，智慧越繁荣</a:t>
            </a:r>
            <a:endParaRPr lang="en-US" sz="495" dirty="0"/>
          </a:p>
        </p:txBody>
      </p:sp>
      <p:sp>
        <p:nvSpPr>
          <p:cNvPr id="37" name="Text 34"/>
          <p:cNvSpPr/>
          <p:nvPr/>
        </p:nvSpPr>
        <p:spPr>
          <a:xfrm>
            <a:off x="3886200" y="2623185"/>
            <a:ext cx="565785" cy="80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weight</a:t>
            </a:r>
            <a:pPr algn="l" indent="0" marL="0">
              <a:buNone/>
            </a:pPr>
            <a:r>
              <a:rPr lang="en-US" sz="495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0.28</a:t>
            </a:r>
            <a:endParaRPr lang="en-US" sz="495" dirty="0"/>
          </a:p>
        </p:txBody>
      </p:sp>
      <p:sp>
        <p:nvSpPr>
          <p:cNvPr id="38" name="Shape 35"/>
          <p:cNvSpPr/>
          <p:nvPr/>
        </p:nvSpPr>
        <p:spPr>
          <a:xfrm>
            <a:off x="4623435" y="1365885"/>
            <a:ext cx="4177665" cy="1451610"/>
          </a:xfrm>
          <a:prstGeom prst="rect">
            <a:avLst/>
          </a:prstGeom>
          <a:solidFill>
            <a:srgbClr val="1E1E2E"/>
          </a:solidFill>
          <a:ln w="5715">
            <a:solidFill>
              <a:srgbClr val="00838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623435" y="1365885"/>
            <a:ext cx="22860" cy="144018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0" name="Shape 37"/>
          <p:cNvSpPr/>
          <p:nvPr/>
        </p:nvSpPr>
        <p:spPr>
          <a:xfrm>
            <a:off x="4754880" y="1485900"/>
            <a:ext cx="331470" cy="331470"/>
          </a:xfrm>
          <a:prstGeom prst="rect">
            <a:avLst/>
          </a:prstGeom>
          <a:solidFill>
            <a:srgbClr val="15151E"/>
          </a:solidFill>
          <a:ln w="5715">
            <a:solidFill>
              <a:srgbClr val="00BCD4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737735" y="1468755"/>
            <a:ext cx="365760" cy="365760"/>
          </a:xfrm>
          <a:prstGeom prst="rect">
            <a:avLst/>
          </a:prstGeom>
          <a:noFill/>
          <a:ln w="5715">
            <a:solidFill>
              <a:srgbClr val="00BCD4">
                <a:alpha val="15000"/>
              </a:srgbClr>
            </a:solidFill>
            <a:prstDash val="solid"/>
          </a:ln>
        </p:spPr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3460" y="1554480"/>
            <a:ext cx="194310" cy="194310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5166360" y="1497330"/>
            <a:ext cx="1472184" cy="2171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70" b="1" spc="90" kern="0" dirty="0">
                <a:solidFill>
                  <a:srgbClr val="ECEF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共享协作</a:t>
            </a:r>
            <a:endParaRPr lang="en-US" sz="1170" dirty="0"/>
          </a:p>
        </p:txBody>
      </p:sp>
      <p:sp>
        <p:nvSpPr>
          <p:cNvPr id="44" name="Text 40"/>
          <p:cNvSpPr/>
          <p:nvPr/>
        </p:nvSpPr>
        <p:spPr>
          <a:xfrm>
            <a:off x="5166360" y="1725930"/>
            <a:ext cx="1472184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SHARING &amp; COLLABORATION</a:t>
            </a:r>
            <a:endParaRPr lang="en-US" sz="495" dirty="0"/>
          </a:p>
        </p:txBody>
      </p:sp>
      <p:sp>
        <p:nvSpPr>
          <p:cNvPr id="45" name="Text 41"/>
          <p:cNvSpPr/>
          <p:nvPr/>
        </p:nvSpPr>
        <p:spPr>
          <a:xfrm>
            <a:off x="4754880" y="1874520"/>
            <a:ext cx="4384548" cy="80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PRINCIPLE /</a:t>
            </a:r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pPr algn="l" indent="0" marL="0">
              <a:buNone/>
            </a:pPr>
            <a:r>
              <a:rPr lang="en-US" sz="495" spc="90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of 06</a:t>
            </a:r>
            <a:endParaRPr lang="en-US" sz="495" dirty="0"/>
          </a:p>
        </p:txBody>
      </p:sp>
      <p:sp>
        <p:nvSpPr>
          <p:cNvPr id="46" name="Text 42"/>
          <p:cNvSpPr/>
          <p:nvPr/>
        </p:nvSpPr>
        <p:spPr>
          <a:xfrm>
            <a:off x="4754880" y="2011680"/>
            <a:ext cx="4384548" cy="273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653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通过共享代码与知识</a:t>
            </a:r>
            <a:pPr algn="l" indent="0" marL="0">
              <a:lnSpc>
                <a:spcPct val="165000"/>
              </a:lnSpc>
              <a:buNone/>
            </a:pPr>
            <a:r>
              <a:rPr lang="en-US" sz="65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促进共同进步——每一次提交都是接力，每一份开源都是礼物，协作放大个体的创造极限。</a:t>
            </a:r>
            <a:endParaRPr lang="en-US" sz="653" dirty="0"/>
          </a:p>
        </p:txBody>
      </p:sp>
      <p:sp>
        <p:nvSpPr>
          <p:cNvPr id="47" name="Shape 43"/>
          <p:cNvSpPr/>
          <p:nvPr/>
        </p:nvSpPr>
        <p:spPr>
          <a:xfrm>
            <a:off x="4754880" y="2371725"/>
            <a:ext cx="445770" cy="131445"/>
          </a:xfrm>
          <a:prstGeom prst="rect">
            <a:avLst/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4754880" y="2371725"/>
            <a:ext cx="505778" cy="131445"/>
          </a:xfrm>
          <a:prstGeom prst="rect">
            <a:avLst/>
          </a:prstGeom>
          <a:noFill/>
          <a:ln/>
        </p:spPr>
        <p:txBody>
          <a:bodyPr wrap="squar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代码共享</a:t>
            </a:r>
            <a:endParaRPr lang="en-US" sz="473" dirty="0"/>
          </a:p>
        </p:txBody>
      </p:sp>
      <p:sp>
        <p:nvSpPr>
          <p:cNvPr id="49" name="Shape 45"/>
          <p:cNvSpPr/>
          <p:nvPr/>
        </p:nvSpPr>
        <p:spPr>
          <a:xfrm>
            <a:off x="5234940" y="2371725"/>
            <a:ext cx="445770" cy="131445"/>
          </a:xfrm>
          <a:prstGeom prst="rect">
            <a:avLst/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234940" y="2371725"/>
            <a:ext cx="505778" cy="131445"/>
          </a:xfrm>
          <a:prstGeom prst="rect">
            <a:avLst/>
          </a:prstGeom>
          <a:noFill/>
          <a:ln/>
        </p:spPr>
        <p:txBody>
          <a:bodyPr wrap="squar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开源社区</a:t>
            </a:r>
            <a:endParaRPr lang="en-US" sz="473" dirty="0"/>
          </a:p>
        </p:txBody>
      </p:sp>
      <p:sp>
        <p:nvSpPr>
          <p:cNvPr id="51" name="Shape 47"/>
          <p:cNvSpPr/>
          <p:nvPr/>
        </p:nvSpPr>
        <p:spPr>
          <a:xfrm>
            <a:off x="5715000" y="2371725"/>
            <a:ext cx="674370" cy="131445"/>
          </a:xfrm>
          <a:prstGeom prst="rect">
            <a:avLst/>
          </a:prstGeom>
          <a:noFill/>
          <a:ln w="5715">
            <a:solidFill>
              <a:srgbClr val="B0BEC5">
                <a:alpha val="25000"/>
              </a:srgbClr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5715000" y="2371725"/>
            <a:ext cx="755294" cy="131445"/>
          </a:xfrm>
          <a:prstGeom prst="rect">
            <a:avLst/>
          </a:prstGeom>
          <a:noFill/>
          <a:ln/>
        </p:spPr>
        <p:txBody>
          <a:bodyPr wrap="squar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pull_request</a:t>
            </a:r>
            <a:endParaRPr lang="en-US" sz="473" dirty="0"/>
          </a:p>
        </p:txBody>
      </p:sp>
      <p:sp>
        <p:nvSpPr>
          <p:cNvPr id="53" name="Shape 49"/>
          <p:cNvSpPr/>
          <p:nvPr/>
        </p:nvSpPr>
        <p:spPr>
          <a:xfrm>
            <a:off x="4754880" y="2560320"/>
            <a:ext cx="3914775" cy="148590"/>
          </a:xfrm>
          <a:prstGeom prst="rect">
            <a:avLst/>
          </a:prstGeom>
          <a:noFill/>
          <a:ln/>
        </p:spPr>
      </p:sp>
      <p:sp>
        <p:nvSpPr>
          <p:cNvPr id="54" name="Shape 50"/>
          <p:cNvSpPr/>
          <p:nvPr/>
        </p:nvSpPr>
        <p:spPr>
          <a:xfrm>
            <a:off x="4754880" y="2560320"/>
            <a:ext cx="3914775" cy="0"/>
          </a:xfrm>
          <a:prstGeom prst="line">
            <a:avLst/>
          </a:prstGeom>
          <a:noFill/>
          <a:ln w="5715">
            <a:solidFill>
              <a:srgbClr val="00BCD4">
                <a:alpha val="25000"/>
              </a:srgbClr>
            </a:solidFill>
            <a:prstDash val="dash"/>
          </a:ln>
        </p:spPr>
      </p:sp>
      <p:sp>
        <p:nvSpPr>
          <p:cNvPr id="55" name="Text 51"/>
          <p:cNvSpPr/>
          <p:nvPr/>
        </p:nvSpPr>
        <p:spPr>
          <a:xfrm>
            <a:off x="4754880" y="2617470"/>
            <a:ext cx="6375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E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pPr algn="l" indent="0" marL="0">
              <a:buNone/>
            </a:pPr>
            <a:r>
              <a:rPr lang="en-US" sz="495" spc="45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众人拾柴火焰高</a:t>
            </a:r>
            <a:endParaRPr lang="en-US" sz="495" dirty="0"/>
          </a:p>
        </p:txBody>
      </p:sp>
      <p:sp>
        <p:nvSpPr>
          <p:cNvPr id="56" name="Text 52"/>
          <p:cNvSpPr/>
          <p:nvPr/>
        </p:nvSpPr>
        <p:spPr>
          <a:xfrm>
            <a:off x="8166735" y="2623185"/>
            <a:ext cx="565785" cy="80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weight</a:t>
            </a:r>
            <a:pPr algn="l" indent="0" marL="0">
              <a:buNone/>
            </a:pPr>
            <a:r>
              <a:rPr lang="en-US" sz="495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0.24</a:t>
            </a:r>
            <a:endParaRPr lang="en-US" sz="495" dirty="0"/>
          </a:p>
        </p:txBody>
      </p:sp>
      <p:sp>
        <p:nvSpPr>
          <p:cNvPr id="57" name="Shape 53"/>
          <p:cNvSpPr/>
          <p:nvPr/>
        </p:nvSpPr>
        <p:spPr>
          <a:xfrm>
            <a:off x="342900" y="2920365"/>
            <a:ext cx="4177665" cy="1451610"/>
          </a:xfrm>
          <a:prstGeom prst="rect">
            <a:avLst/>
          </a:prstGeom>
          <a:solidFill>
            <a:srgbClr val="1E1E2E"/>
          </a:solidFill>
          <a:ln w="5715">
            <a:solidFill>
              <a:srgbClr val="00838F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342900" y="2920365"/>
            <a:ext cx="22860" cy="144018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9" name="Shape 55"/>
          <p:cNvSpPr/>
          <p:nvPr/>
        </p:nvSpPr>
        <p:spPr>
          <a:xfrm>
            <a:off x="474345" y="3040380"/>
            <a:ext cx="331470" cy="331470"/>
          </a:xfrm>
          <a:prstGeom prst="rect">
            <a:avLst/>
          </a:prstGeom>
          <a:solidFill>
            <a:srgbClr val="15151E"/>
          </a:solidFill>
          <a:ln w="5715">
            <a:solidFill>
              <a:srgbClr val="00BCD4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457200" y="3023235"/>
            <a:ext cx="365760" cy="365760"/>
          </a:xfrm>
          <a:prstGeom prst="rect">
            <a:avLst/>
          </a:prstGeom>
          <a:noFill/>
          <a:ln w="5715">
            <a:solidFill>
              <a:srgbClr val="00BCD4">
                <a:alpha val="15000"/>
              </a:srgbClr>
            </a:solidFill>
            <a:prstDash val="solid"/>
          </a:ln>
        </p:spPr>
      </p:sp>
      <p:pic>
        <p:nvPicPr>
          <p:cNvPr id="6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2925" y="3108960"/>
            <a:ext cx="194310" cy="194310"/>
          </a:xfrm>
          <a:prstGeom prst="rect">
            <a:avLst/>
          </a:prstGeom>
        </p:spPr>
      </p:pic>
      <p:sp>
        <p:nvSpPr>
          <p:cNvPr id="62" name="Text 57"/>
          <p:cNvSpPr/>
          <p:nvPr/>
        </p:nvSpPr>
        <p:spPr>
          <a:xfrm>
            <a:off x="885825" y="3051810"/>
            <a:ext cx="1062990" cy="2171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70" b="1" spc="90" kern="0" dirty="0">
                <a:solidFill>
                  <a:srgbClr val="ECEF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去中心化</a:t>
            </a:r>
            <a:endParaRPr lang="en-US" sz="1170" dirty="0"/>
          </a:p>
        </p:txBody>
      </p:sp>
      <p:sp>
        <p:nvSpPr>
          <p:cNvPr id="63" name="Text 58"/>
          <p:cNvSpPr/>
          <p:nvPr/>
        </p:nvSpPr>
        <p:spPr>
          <a:xfrm>
            <a:off x="885825" y="3280410"/>
            <a:ext cx="102412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DECENTRALIZATION</a:t>
            </a:r>
            <a:endParaRPr lang="en-US" sz="495" dirty="0"/>
          </a:p>
        </p:txBody>
      </p:sp>
      <p:sp>
        <p:nvSpPr>
          <p:cNvPr id="64" name="Text 59"/>
          <p:cNvSpPr/>
          <p:nvPr/>
        </p:nvSpPr>
        <p:spPr>
          <a:xfrm>
            <a:off x="474345" y="3429000"/>
            <a:ext cx="4384548" cy="80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PRINCIPLE /</a:t>
            </a:r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pPr algn="l" indent="0" marL="0">
              <a:buNone/>
            </a:pPr>
            <a:r>
              <a:rPr lang="en-US" sz="495" spc="90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of 06</a:t>
            </a:r>
            <a:endParaRPr lang="en-US" sz="495" dirty="0"/>
          </a:p>
        </p:txBody>
      </p:sp>
      <p:sp>
        <p:nvSpPr>
          <p:cNvPr id="65" name="Text 60"/>
          <p:cNvSpPr/>
          <p:nvPr/>
        </p:nvSpPr>
        <p:spPr>
          <a:xfrm>
            <a:off x="474345" y="3566160"/>
            <a:ext cx="4384548" cy="136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653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反对权威控制</a:t>
            </a:r>
            <a:pPr algn="l" indent="0" marL="0">
              <a:lnSpc>
                <a:spcPct val="165000"/>
              </a:lnSpc>
              <a:buNone/>
            </a:pPr>
            <a:r>
              <a:rPr lang="en-US" sz="65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、鼓励分布式决策——权力不应聚集于单点，网络结构赋予每个人发声与自治的平等权利。</a:t>
            </a:r>
            <a:endParaRPr lang="en-US" sz="653" dirty="0"/>
          </a:p>
        </p:txBody>
      </p:sp>
      <p:sp>
        <p:nvSpPr>
          <p:cNvPr id="66" name="Shape 61"/>
          <p:cNvSpPr/>
          <p:nvPr/>
        </p:nvSpPr>
        <p:spPr>
          <a:xfrm>
            <a:off x="474345" y="3926205"/>
            <a:ext cx="382905" cy="131445"/>
          </a:xfrm>
          <a:prstGeom prst="rect">
            <a:avLst/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474345" y="3926205"/>
            <a:ext cx="442913" cy="131445"/>
          </a:xfrm>
          <a:prstGeom prst="rect">
            <a:avLst/>
          </a:prstGeom>
          <a:noFill/>
          <a:ln/>
        </p:spPr>
        <p:txBody>
          <a:bodyPr wrap="squar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反权威</a:t>
            </a:r>
            <a:endParaRPr lang="en-US" sz="473" dirty="0"/>
          </a:p>
        </p:txBody>
      </p:sp>
      <p:sp>
        <p:nvSpPr>
          <p:cNvPr id="68" name="Shape 63"/>
          <p:cNvSpPr/>
          <p:nvPr/>
        </p:nvSpPr>
        <p:spPr>
          <a:xfrm>
            <a:off x="891540" y="3926205"/>
            <a:ext cx="382905" cy="131445"/>
          </a:xfrm>
          <a:prstGeom prst="rect">
            <a:avLst/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91540" y="3926205"/>
            <a:ext cx="442913" cy="131445"/>
          </a:xfrm>
          <a:prstGeom prst="rect">
            <a:avLst/>
          </a:prstGeom>
          <a:noFill/>
          <a:ln/>
        </p:spPr>
        <p:txBody>
          <a:bodyPr wrap="squar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分布式</a:t>
            </a:r>
            <a:endParaRPr lang="en-US" sz="473" dirty="0"/>
          </a:p>
        </p:txBody>
      </p:sp>
      <p:sp>
        <p:nvSpPr>
          <p:cNvPr id="70" name="Shape 65"/>
          <p:cNvSpPr/>
          <p:nvPr/>
        </p:nvSpPr>
        <p:spPr>
          <a:xfrm>
            <a:off x="1308735" y="3926205"/>
            <a:ext cx="674370" cy="131445"/>
          </a:xfrm>
          <a:prstGeom prst="rect">
            <a:avLst/>
          </a:prstGeom>
          <a:noFill/>
          <a:ln w="5715">
            <a:solidFill>
              <a:srgbClr val="B0BEC5">
                <a:alpha val="25000"/>
              </a:srgbClr>
            </a:solidFill>
            <a:prstDash val="solid"/>
          </a:ln>
        </p:spPr>
      </p:sp>
      <p:sp>
        <p:nvSpPr>
          <p:cNvPr id="71" name="Text 66"/>
          <p:cNvSpPr/>
          <p:nvPr/>
        </p:nvSpPr>
        <p:spPr>
          <a:xfrm>
            <a:off x="1308735" y="3926205"/>
            <a:ext cx="755294" cy="131445"/>
          </a:xfrm>
          <a:prstGeom prst="rect">
            <a:avLst/>
          </a:prstGeom>
          <a:noFill/>
          <a:ln/>
        </p:spPr>
        <p:txBody>
          <a:bodyPr wrap="squar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peer_to_peer</a:t>
            </a:r>
            <a:endParaRPr lang="en-US" sz="473" dirty="0"/>
          </a:p>
        </p:txBody>
      </p:sp>
      <p:sp>
        <p:nvSpPr>
          <p:cNvPr id="72" name="Shape 67"/>
          <p:cNvSpPr/>
          <p:nvPr/>
        </p:nvSpPr>
        <p:spPr>
          <a:xfrm>
            <a:off x="474345" y="4114800"/>
            <a:ext cx="3914775" cy="148590"/>
          </a:xfrm>
          <a:prstGeom prst="rect">
            <a:avLst/>
          </a:prstGeom>
          <a:noFill/>
          <a:ln/>
        </p:spPr>
      </p:sp>
      <p:sp>
        <p:nvSpPr>
          <p:cNvPr id="73" name="Shape 68"/>
          <p:cNvSpPr/>
          <p:nvPr/>
        </p:nvSpPr>
        <p:spPr>
          <a:xfrm>
            <a:off x="474345" y="4114800"/>
            <a:ext cx="3914775" cy="0"/>
          </a:xfrm>
          <a:prstGeom prst="line">
            <a:avLst/>
          </a:prstGeom>
          <a:noFill/>
          <a:ln w="5715">
            <a:solidFill>
              <a:srgbClr val="00BCD4">
                <a:alpha val="25000"/>
              </a:srgbClr>
            </a:solidFill>
            <a:prstDash val="dash"/>
          </a:ln>
        </p:spPr>
      </p:sp>
      <p:sp>
        <p:nvSpPr>
          <p:cNvPr id="74" name="Text 69"/>
          <p:cNvSpPr/>
          <p:nvPr/>
        </p:nvSpPr>
        <p:spPr>
          <a:xfrm>
            <a:off x="474345" y="4171950"/>
            <a:ext cx="791199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E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pPr algn="l" indent="0" marL="0">
              <a:buNone/>
            </a:pPr>
            <a:r>
              <a:rPr lang="en-US" sz="495" spc="45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节点越多，网络越强</a:t>
            </a:r>
            <a:endParaRPr lang="en-US" sz="495" dirty="0"/>
          </a:p>
        </p:txBody>
      </p:sp>
      <p:sp>
        <p:nvSpPr>
          <p:cNvPr id="75" name="Text 70"/>
          <p:cNvSpPr/>
          <p:nvPr/>
        </p:nvSpPr>
        <p:spPr>
          <a:xfrm>
            <a:off x="3886200" y="4177665"/>
            <a:ext cx="565785" cy="80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weight</a:t>
            </a:r>
            <a:pPr algn="l" indent="0" marL="0">
              <a:buNone/>
            </a:pPr>
            <a:r>
              <a:rPr lang="en-US" sz="495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0.22</a:t>
            </a:r>
            <a:endParaRPr lang="en-US" sz="495" dirty="0"/>
          </a:p>
        </p:txBody>
      </p:sp>
      <p:sp>
        <p:nvSpPr>
          <p:cNvPr id="76" name="Shape 71"/>
          <p:cNvSpPr/>
          <p:nvPr/>
        </p:nvSpPr>
        <p:spPr>
          <a:xfrm>
            <a:off x="4623435" y="2920365"/>
            <a:ext cx="4177665" cy="1451610"/>
          </a:xfrm>
          <a:prstGeom prst="rect">
            <a:avLst/>
          </a:prstGeom>
          <a:solidFill>
            <a:srgbClr val="1E1E2E"/>
          </a:solidFill>
          <a:ln w="5715">
            <a:solidFill>
              <a:srgbClr val="00838F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4623435" y="2920365"/>
            <a:ext cx="22860" cy="144018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78" name="Shape 73"/>
          <p:cNvSpPr/>
          <p:nvPr/>
        </p:nvSpPr>
        <p:spPr>
          <a:xfrm>
            <a:off x="4754880" y="3040380"/>
            <a:ext cx="331470" cy="331470"/>
          </a:xfrm>
          <a:prstGeom prst="rect">
            <a:avLst/>
          </a:prstGeom>
          <a:solidFill>
            <a:srgbClr val="15151E"/>
          </a:solidFill>
          <a:ln w="5715">
            <a:solidFill>
              <a:srgbClr val="00BCD4"/>
            </a:solidFill>
            <a:prstDash val="solid"/>
          </a:ln>
        </p:spPr>
      </p:sp>
      <p:sp>
        <p:nvSpPr>
          <p:cNvPr id="79" name="Shape 74"/>
          <p:cNvSpPr/>
          <p:nvPr/>
        </p:nvSpPr>
        <p:spPr>
          <a:xfrm>
            <a:off x="4737735" y="3023235"/>
            <a:ext cx="365760" cy="365760"/>
          </a:xfrm>
          <a:prstGeom prst="rect">
            <a:avLst/>
          </a:prstGeom>
          <a:noFill/>
          <a:ln w="5715">
            <a:solidFill>
              <a:srgbClr val="00BCD4">
                <a:alpha val="15000"/>
              </a:srgbClr>
            </a:solidFill>
            <a:prstDash val="solid"/>
          </a:ln>
        </p:spPr>
      </p:sp>
      <p:pic>
        <p:nvPicPr>
          <p:cNvPr id="8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3460" y="3108960"/>
            <a:ext cx="194310" cy="194310"/>
          </a:xfrm>
          <a:prstGeom prst="rect">
            <a:avLst/>
          </a:prstGeom>
        </p:spPr>
      </p:pic>
      <p:sp>
        <p:nvSpPr>
          <p:cNvPr id="81" name="Text 75"/>
          <p:cNvSpPr/>
          <p:nvPr/>
        </p:nvSpPr>
        <p:spPr>
          <a:xfrm>
            <a:off x="5166360" y="3051810"/>
            <a:ext cx="1120140" cy="2171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70" b="1" spc="90" kern="0" dirty="0">
                <a:solidFill>
                  <a:srgbClr val="ECEF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技术热爱</a:t>
            </a:r>
            <a:endParaRPr lang="en-US" sz="1170" dirty="0"/>
          </a:p>
        </p:txBody>
      </p:sp>
      <p:sp>
        <p:nvSpPr>
          <p:cNvPr id="82" name="Text 76"/>
          <p:cNvSpPr/>
          <p:nvPr/>
        </p:nvSpPr>
        <p:spPr>
          <a:xfrm>
            <a:off x="5166360" y="3280410"/>
            <a:ext cx="1088136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PASSION FOR CRAFT</a:t>
            </a:r>
            <a:endParaRPr lang="en-US" sz="495" dirty="0"/>
          </a:p>
        </p:txBody>
      </p:sp>
      <p:sp>
        <p:nvSpPr>
          <p:cNvPr id="83" name="Text 77"/>
          <p:cNvSpPr/>
          <p:nvPr/>
        </p:nvSpPr>
        <p:spPr>
          <a:xfrm>
            <a:off x="4754880" y="3429000"/>
            <a:ext cx="4384548" cy="80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PRINCIPLE /</a:t>
            </a:r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pPr algn="l" indent="0" marL="0">
              <a:buNone/>
            </a:pPr>
            <a:r>
              <a:rPr lang="en-US" sz="495" spc="90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of 06</a:t>
            </a:r>
            <a:endParaRPr lang="en-US" sz="495" dirty="0"/>
          </a:p>
        </p:txBody>
      </p:sp>
      <p:sp>
        <p:nvSpPr>
          <p:cNvPr id="84" name="Text 78"/>
          <p:cNvSpPr/>
          <p:nvPr/>
        </p:nvSpPr>
        <p:spPr>
          <a:xfrm>
            <a:off x="4754880" y="3566160"/>
            <a:ext cx="4384548" cy="136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653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以解决实际问题为乐趣</a:t>
            </a:r>
            <a:pPr algn="l" indent="0" marL="0">
              <a:lnSpc>
                <a:spcPct val="165000"/>
              </a:lnSpc>
              <a:buNone/>
            </a:pPr>
            <a:r>
              <a:rPr lang="en-US" sz="65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、追求卓越——把难题当作谜题，把代码当作艺术，在极致打磨中见证手艺人的骄傲。</a:t>
            </a:r>
            <a:endParaRPr lang="en-US" sz="653" dirty="0"/>
          </a:p>
        </p:txBody>
      </p:sp>
      <p:sp>
        <p:nvSpPr>
          <p:cNvPr id="85" name="Shape 79"/>
          <p:cNvSpPr/>
          <p:nvPr/>
        </p:nvSpPr>
        <p:spPr>
          <a:xfrm>
            <a:off x="4754880" y="3926205"/>
            <a:ext cx="445770" cy="131445"/>
          </a:xfrm>
          <a:prstGeom prst="rect">
            <a:avLst/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86" name="Text 80"/>
          <p:cNvSpPr/>
          <p:nvPr/>
        </p:nvSpPr>
        <p:spPr>
          <a:xfrm>
            <a:off x="4754880" y="3926205"/>
            <a:ext cx="505778" cy="131445"/>
          </a:xfrm>
          <a:prstGeom prst="rect">
            <a:avLst/>
          </a:prstGeom>
          <a:noFill/>
          <a:ln/>
        </p:spPr>
        <p:txBody>
          <a:bodyPr wrap="squar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卓越追求</a:t>
            </a:r>
            <a:endParaRPr lang="en-US" sz="473" dirty="0"/>
          </a:p>
        </p:txBody>
      </p:sp>
      <p:sp>
        <p:nvSpPr>
          <p:cNvPr id="87" name="Shape 81"/>
          <p:cNvSpPr/>
          <p:nvPr/>
        </p:nvSpPr>
        <p:spPr>
          <a:xfrm>
            <a:off x="5234940" y="3926205"/>
            <a:ext cx="445770" cy="131445"/>
          </a:xfrm>
          <a:prstGeom prst="rect">
            <a:avLst/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88" name="Text 82"/>
          <p:cNvSpPr/>
          <p:nvPr/>
        </p:nvSpPr>
        <p:spPr>
          <a:xfrm>
            <a:off x="5234940" y="3926205"/>
            <a:ext cx="505778" cy="131445"/>
          </a:xfrm>
          <a:prstGeom prst="rect">
            <a:avLst/>
          </a:prstGeom>
          <a:noFill/>
          <a:ln/>
        </p:spPr>
        <p:txBody>
          <a:bodyPr wrap="squar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工匠之心</a:t>
            </a:r>
            <a:endParaRPr lang="en-US" sz="473" dirty="0"/>
          </a:p>
        </p:txBody>
      </p:sp>
      <p:sp>
        <p:nvSpPr>
          <p:cNvPr id="89" name="Shape 83"/>
          <p:cNvSpPr/>
          <p:nvPr/>
        </p:nvSpPr>
        <p:spPr>
          <a:xfrm>
            <a:off x="5715000" y="3926205"/>
            <a:ext cx="394335" cy="131445"/>
          </a:xfrm>
          <a:prstGeom prst="rect">
            <a:avLst/>
          </a:prstGeom>
          <a:noFill/>
          <a:ln w="5715">
            <a:solidFill>
              <a:srgbClr val="B0BEC5">
                <a:alpha val="25000"/>
              </a:srgbClr>
            </a:solidFill>
            <a:prstDash val="solid"/>
          </a:ln>
        </p:spPr>
      </p:sp>
      <p:sp>
        <p:nvSpPr>
          <p:cNvPr id="90" name="Text 84"/>
          <p:cNvSpPr/>
          <p:nvPr/>
        </p:nvSpPr>
        <p:spPr>
          <a:xfrm>
            <a:off x="5715000" y="3926205"/>
            <a:ext cx="454343" cy="131445"/>
          </a:xfrm>
          <a:prstGeom prst="rect">
            <a:avLst/>
          </a:prstGeom>
          <a:noFill/>
          <a:ln/>
        </p:spPr>
        <p:txBody>
          <a:bodyPr wrap="squar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craft</a:t>
            </a:r>
            <a:endParaRPr lang="en-US" sz="473" dirty="0"/>
          </a:p>
        </p:txBody>
      </p:sp>
      <p:sp>
        <p:nvSpPr>
          <p:cNvPr id="91" name="Shape 85"/>
          <p:cNvSpPr/>
          <p:nvPr/>
        </p:nvSpPr>
        <p:spPr>
          <a:xfrm>
            <a:off x="4754880" y="4114800"/>
            <a:ext cx="3914775" cy="148590"/>
          </a:xfrm>
          <a:prstGeom prst="rect">
            <a:avLst/>
          </a:prstGeom>
          <a:noFill/>
          <a:ln/>
        </p:spPr>
      </p:sp>
      <p:sp>
        <p:nvSpPr>
          <p:cNvPr id="92" name="Shape 86"/>
          <p:cNvSpPr/>
          <p:nvPr/>
        </p:nvSpPr>
        <p:spPr>
          <a:xfrm>
            <a:off x="4754880" y="4114800"/>
            <a:ext cx="3914775" cy="0"/>
          </a:xfrm>
          <a:prstGeom prst="line">
            <a:avLst/>
          </a:prstGeom>
          <a:noFill/>
          <a:ln w="5715">
            <a:solidFill>
              <a:srgbClr val="00BCD4">
                <a:alpha val="25000"/>
              </a:srgbClr>
            </a:solidFill>
            <a:prstDash val="dash"/>
          </a:ln>
        </p:spPr>
      </p:sp>
      <p:sp>
        <p:nvSpPr>
          <p:cNvPr id="93" name="Text 87"/>
          <p:cNvSpPr/>
          <p:nvPr/>
        </p:nvSpPr>
        <p:spPr>
          <a:xfrm>
            <a:off x="4754880" y="4171950"/>
            <a:ext cx="94481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E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pPr algn="l" indent="0" marL="0">
              <a:buNone/>
            </a:pPr>
            <a:r>
              <a:rPr lang="en-US" sz="495" spc="45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代码即表达，创造即乐趣</a:t>
            </a:r>
            <a:endParaRPr lang="en-US" sz="495" dirty="0"/>
          </a:p>
        </p:txBody>
      </p:sp>
      <p:sp>
        <p:nvSpPr>
          <p:cNvPr id="94" name="Text 88"/>
          <p:cNvSpPr/>
          <p:nvPr/>
        </p:nvSpPr>
        <p:spPr>
          <a:xfrm>
            <a:off x="8166735" y="4177665"/>
            <a:ext cx="565785" cy="80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weight</a:t>
            </a:r>
            <a:pPr algn="l" indent="0" marL="0">
              <a:buNone/>
            </a:pPr>
            <a:r>
              <a:rPr lang="en-US" sz="495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0.26</a:t>
            </a:r>
            <a:endParaRPr lang="en-US" sz="495" dirty="0"/>
          </a:p>
        </p:txBody>
      </p:sp>
      <p:sp>
        <p:nvSpPr>
          <p:cNvPr id="95" name="Shape 89"/>
          <p:cNvSpPr/>
          <p:nvPr/>
        </p:nvSpPr>
        <p:spPr>
          <a:xfrm>
            <a:off x="342900" y="4463415"/>
            <a:ext cx="8458200" cy="474345"/>
          </a:xfrm>
          <a:prstGeom prst="rect">
            <a:avLst/>
          </a:prstGeom>
          <a:solidFill>
            <a:srgbClr val="15151E"/>
          </a:solidFill>
          <a:ln w="5715">
            <a:solidFill>
              <a:srgbClr val="00BCD4">
                <a:alpha val="25000"/>
              </a:srgbClr>
            </a:solidFill>
            <a:prstDash val="solid"/>
          </a:ln>
        </p:spPr>
      </p:sp>
      <p:sp>
        <p:nvSpPr>
          <p:cNvPr id="96" name="Text 90"/>
          <p:cNvSpPr/>
          <p:nvPr/>
        </p:nvSpPr>
        <p:spPr>
          <a:xfrm>
            <a:off x="462915" y="4652010"/>
            <a:ext cx="69128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63" spc="45" kern="0" dirty="0">
                <a:solidFill>
                  <a:srgbClr val="00E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~/community$</a:t>
            </a:r>
            <a:endParaRPr lang="en-US" sz="563" dirty="0"/>
          </a:p>
        </p:txBody>
      </p:sp>
      <p:sp>
        <p:nvSpPr>
          <p:cNvPr id="97" name="Shape 91"/>
          <p:cNvSpPr/>
          <p:nvPr/>
        </p:nvSpPr>
        <p:spPr>
          <a:xfrm>
            <a:off x="1160145" y="4697730"/>
            <a:ext cx="342900" cy="571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98" name="Text 92"/>
          <p:cNvSpPr/>
          <p:nvPr/>
        </p:nvSpPr>
        <p:spPr>
          <a:xfrm>
            <a:off x="1583055" y="4646295"/>
            <a:ext cx="4090111" cy="108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3" spc="45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这些原则直接映射到</a:t>
            </a:r>
            <a:pPr algn="l" indent="0" marL="0">
              <a:buNone/>
            </a:pPr>
            <a:r>
              <a:rPr lang="en-US" sz="563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开源许可证</a:t>
            </a:r>
            <a:pPr algn="l" indent="0" marL="0">
              <a:buNone/>
            </a:pPr>
            <a:r>
              <a:rPr lang="en-US" sz="563" spc="45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与</a:t>
            </a:r>
            <a:pPr algn="l" indent="0" marL="0">
              <a:buNone/>
            </a:pPr>
            <a:r>
              <a:rPr lang="en-US" sz="563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社区治理实践</a:t>
            </a:r>
            <a:pPr algn="l" indent="0" marL="0">
              <a:buNone/>
            </a:pPr>
            <a:r>
              <a:rPr lang="en-US" sz="563" spc="45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之中，塑造了从 Linux 到 Apache 的现代协作范式</a:t>
            </a:r>
            <a:endParaRPr lang="en-US" sz="563" dirty="0"/>
          </a:p>
        </p:txBody>
      </p:sp>
      <p:sp>
        <p:nvSpPr>
          <p:cNvPr id="99" name="Shape 93"/>
          <p:cNvSpPr/>
          <p:nvPr/>
        </p:nvSpPr>
        <p:spPr>
          <a:xfrm>
            <a:off x="5314950" y="4666298"/>
            <a:ext cx="45720" cy="68580"/>
          </a:xfrm>
          <a:prstGeom prst="rect">
            <a:avLst/>
          </a:prstGeom>
          <a:solidFill>
            <a:srgbClr val="00BCD4">
              <a:alpha val="50000"/>
            </a:srgbClr>
          </a:solidFill>
          <a:ln/>
        </p:spPr>
      </p:sp>
      <p:sp>
        <p:nvSpPr>
          <p:cNvPr id="100" name="Shape 94"/>
          <p:cNvSpPr/>
          <p:nvPr/>
        </p:nvSpPr>
        <p:spPr>
          <a:xfrm>
            <a:off x="7246620" y="4537710"/>
            <a:ext cx="1434465" cy="325755"/>
          </a:xfrm>
          <a:prstGeom prst="rect">
            <a:avLst/>
          </a:prstGeom>
          <a:noFill/>
          <a:ln/>
        </p:spPr>
      </p:sp>
      <p:sp>
        <p:nvSpPr>
          <p:cNvPr id="101" name="Shape 95"/>
          <p:cNvSpPr/>
          <p:nvPr/>
        </p:nvSpPr>
        <p:spPr>
          <a:xfrm>
            <a:off x="7246620" y="4537710"/>
            <a:ext cx="0" cy="325755"/>
          </a:xfrm>
          <a:prstGeom prst="line">
            <a:avLst/>
          </a:prstGeom>
          <a:noFill/>
          <a:ln w="5715">
            <a:solidFill>
              <a:srgbClr val="00838F"/>
            </a:solidFill>
            <a:prstDash val="solid"/>
          </a:ln>
        </p:spPr>
      </p:sp>
      <p:sp>
        <p:nvSpPr>
          <p:cNvPr id="102" name="Text 96"/>
          <p:cNvSpPr/>
          <p:nvPr/>
        </p:nvSpPr>
        <p:spPr>
          <a:xfrm>
            <a:off x="7435215" y="4572000"/>
            <a:ext cx="252603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70" b="1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1170" dirty="0"/>
          </a:p>
        </p:txBody>
      </p:sp>
      <p:sp>
        <p:nvSpPr>
          <p:cNvPr id="103" name="Text 97"/>
          <p:cNvSpPr/>
          <p:nvPr/>
        </p:nvSpPr>
        <p:spPr>
          <a:xfrm>
            <a:off x="7343775" y="4743450"/>
            <a:ext cx="33432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90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原则数量</a:t>
            </a:r>
            <a:endParaRPr lang="en-US" sz="473" dirty="0"/>
          </a:p>
        </p:txBody>
      </p:sp>
      <p:sp>
        <p:nvSpPr>
          <p:cNvPr id="104" name="Shape 98"/>
          <p:cNvSpPr/>
          <p:nvPr/>
        </p:nvSpPr>
        <p:spPr>
          <a:xfrm>
            <a:off x="7720965" y="4597718"/>
            <a:ext cx="5715" cy="205740"/>
          </a:xfrm>
          <a:prstGeom prst="rect">
            <a:avLst/>
          </a:prstGeom>
          <a:solidFill>
            <a:srgbClr val="00BCD4">
              <a:alpha val="25000"/>
            </a:srgbClr>
          </a:solidFill>
          <a:ln/>
        </p:spPr>
      </p:sp>
      <p:sp>
        <p:nvSpPr>
          <p:cNvPr id="105" name="Text 99"/>
          <p:cNvSpPr/>
          <p:nvPr/>
        </p:nvSpPr>
        <p:spPr>
          <a:xfrm>
            <a:off x="7829550" y="4589145"/>
            <a:ext cx="43434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E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LEVY</a:t>
            </a:r>
            <a:endParaRPr lang="en-US" sz="900" dirty="0"/>
          </a:p>
        </p:txBody>
      </p:sp>
      <p:sp>
        <p:nvSpPr>
          <p:cNvPr id="106" name="Text 100"/>
          <p:cNvSpPr/>
          <p:nvPr/>
        </p:nvSpPr>
        <p:spPr>
          <a:xfrm>
            <a:off x="7829550" y="4726305"/>
            <a:ext cx="33432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90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定义来源</a:t>
            </a:r>
            <a:endParaRPr lang="en-US" sz="473" dirty="0"/>
          </a:p>
        </p:txBody>
      </p:sp>
      <p:sp>
        <p:nvSpPr>
          <p:cNvPr id="107" name="Shape 101"/>
          <p:cNvSpPr/>
          <p:nvPr/>
        </p:nvSpPr>
        <p:spPr>
          <a:xfrm>
            <a:off x="8206740" y="4597718"/>
            <a:ext cx="5715" cy="205740"/>
          </a:xfrm>
          <a:prstGeom prst="rect">
            <a:avLst/>
          </a:prstGeom>
          <a:solidFill>
            <a:srgbClr val="00BCD4">
              <a:alpha val="25000"/>
            </a:srgbClr>
          </a:solidFill>
          <a:ln/>
        </p:spPr>
      </p:sp>
      <p:sp>
        <p:nvSpPr>
          <p:cNvPr id="108" name="Text 102"/>
          <p:cNvSpPr/>
          <p:nvPr/>
        </p:nvSpPr>
        <p:spPr>
          <a:xfrm>
            <a:off x="8315325" y="4589145"/>
            <a:ext cx="43434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E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1984</a:t>
            </a:r>
            <a:endParaRPr lang="en-US" sz="900" dirty="0"/>
          </a:p>
        </p:txBody>
      </p:sp>
      <p:sp>
        <p:nvSpPr>
          <p:cNvPr id="109" name="Text 103"/>
          <p:cNvSpPr/>
          <p:nvPr/>
        </p:nvSpPr>
        <p:spPr>
          <a:xfrm>
            <a:off x="8315325" y="4726305"/>
            <a:ext cx="33432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90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成书年份</a:t>
            </a:r>
            <a:endParaRPr lang="en-US" sz="47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A1A28"/>
              </a:gs>
              <a:gs pos="40000">
                <a:srgbClr val="1E1E2E"/>
              </a:gs>
              <a:gs pos="100000">
                <a:srgbClr val="16162A"/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3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3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BCD4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268605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4340" y="251460"/>
            <a:ext cx="42291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ETHICS-OS</a:t>
            </a:r>
            <a:endParaRPr lang="en-US" sz="495" dirty="0"/>
          </a:p>
        </p:txBody>
      </p:sp>
      <p:sp>
        <p:nvSpPr>
          <p:cNvPr id="7" name="Text 5"/>
          <p:cNvSpPr/>
          <p:nvPr/>
        </p:nvSpPr>
        <p:spPr>
          <a:xfrm>
            <a:off x="862965" y="251460"/>
            <a:ext cx="106871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B0BEC5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</a:t>
            </a:r>
            <a:endParaRPr lang="en-US" sz="495" dirty="0"/>
          </a:p>
        </p:txBody>
      </p:sp>
      <p:sp>
        <p:nvSpPr>
          <p:cNvPr id="8" name="Text 6"/>
          <p:cNvSpPr/>
          <p:nvPr/>
        </p:nvSpPr>
        <p:spPr>
          <a:xfrm>
            <a:off x="971550" y="251460"/>
            <a:ext cx="89611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data-quant-dashboard</a:t>
            </a:r>
            <a:endParaRPr lang="en-US" sz="495" dirty="0"/>
          </a:p>
        </p:txBody>
      </p:sp>
      <p:sp>
        <p:nvSpPr>
          <p:cNvPr id="9" name="Text 7"/>
          <p:cNvSpPr/>
          <p:nvPr/>
        </p:nvSpPr>
        <p:spPr>
          <a:xfrm>
            <a:off x="1840230" y="251460"/>
            <a:ext cx="106871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B0BEC5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</a:t>
            </a:r>
            <a:endParaRPr lang="en-US" sz="495" dirty="0"/>
          </a:p>
        </p:txBody>
      </p:sp>
      <p:sp>
        <p:nvSpPr>
          <p:cNvPr id="10" name="Text 8"/>
          <p:cNvSpPr/>
          <p:nvPr/>
        </p:nvSpPr>
        <p:spPr>
          <a:xfrm>
            <a:off x="1948815" y="251460"/>
            <a:ext cx="50292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open-source</a:t>
            </a:r>
            <a:endParaRPr lang="en-US" sz="495" dirty="0"/>
          </a:p>
        </p:txBody>
      </p:sp>
      <p:sp>
        <p:nvSpPr>
          <p:cNvPr id="11" name="Text 9"/>
          <p:cNvSpPr/>
          <p:nvPr/>
        </p:nvSpPr>
        <p:spPr>
          <a:xfrm>
            <a:off x="320040" y="377190"/>
            <a:ext cx="2366010" cy="3268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340" b="1" spc="18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10000"/>
              </a:lnSpc>
              <a:buNone/>
            </a:pPr>
            <a:r>
              <a:rPr lang="en-US" sz="2340" b="1" spc="180" kern="0" dirty="0">
                <a:solidFill>
                  <a:srgbClr val="E8E8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伦理量化</a:t>
            </a:r>
            <a:pPr algn="l" indent="0" marL="0">
              <a:lnSpc>
                <a:spcPct val="110000"/>
              </a:lnSpc>
              <a:buNone/>
            </a:pPr>
            <a:r>
              <a:rPr lang="en-US" sz="2340" b="1" spc="18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</a:t>
            </a:r>
            <a:endParaRPr lang="en-US" sz="2340" dirty="0"/>
          </a:p>
        </p:txBody>
      </p:sp>
      <p:sp>
        <p:nvSpPr>
          <p:cNvPr id="12" name="Text 10"/>
          <p:cNvSpPr/>
          <p:nvPr/>
        </p:nvSpPr>
        <p:spPr>
          <a:xfrm>
            <a:off x="320040" y="784027"/>
            <a:ext cx="231709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spc="45" kern="0" dirty="0">
                <a:solidFill>
                  <a:srgbClr val="B0BEC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以数据量化视角看开源世界背后的伦理共识</a:t>
            </a:r>
            <a:endParaRPr lang="en-US" sz="675" dirty="0"/>
          </a:p>
        </p:txBody>
      </p:sp>
      <p:sp>
        <p:nvSpPr>
          <p:cNvPr id="13" name="Shape 11"/>
          <p:cNvSpPr/>
          <p:nvPr/>
        </p:nvSpPr>
        <p:spPr>
          <a:xfrm>
            <a:off x="7966710" y="561142"/>
            <a:ext cx="857250" cy="342900"/>
          </a:xfrm>
          <a:prstGeom prst="roundRect">
            <a:avLst>
              <a:gd name="adj" fmla="val 10000"/>
            </a:avLst>
          </a:prstGeom>
          <a:solidFill>
            <a:srgbClr val="2A2A3E">
              <a:alpha val="60000"/>
            </a:srgbClr>
          </a:solidFill>
          <a:ln w="5715">
            <a:solidFill>
              <a:srgbClr val="3A3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52435" y="612577"/>
            <a:ext cx="54292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dashboard</a:t>
            </a:r>
            <a:endParaRPr lang="en-US" sz="495" dirty="0"/>
          </a:p>
        </p:txBody>
      </p:sp>
      <p:sp>
        <p:nvSpPr>
          <p:cNvPr id="15" name="Text 13"/>
          <p:cNvSpPr/>
          <p:nvPr/>
        </p:nvSpPr>
        <p:spPr>
          <a:xfrm>
            <a:off x="8578215" y="612577"/>
            <a:ext cx="23888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v2.0</a:t>
            </a:r>
            <a:endParaRPr lang="en-US" sz="495" dirty="0"/>
          </a:p>
        </p:txBody>
      </p:sp>
      <p:sp>
        <p:nvSpPr>
          <p:cNvPr id="16" name="Text 14"/>
          <p:cNvSpPr/>
          <p:nvPr/>
        </p:nvSpPr>
        <p:spPr>
          <a:xfrm>
            <a:off x="8052435" y="692587"/>
            <a:ext cx="42291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status</a:t>
            </a:r>
            <a:endParaRPr lang="en-US" sz="495" dirty="0"/>
          </a:p>
        </p:txBody>
      </p:sp>
      <p:sp>
        <p:nvSpPr>
          <p:cNvPr id="17" name="Text 15"/>
          <p:cNvSpPr/>
          <p:nvPr/>
        </p:nvSpPr>
        <p:spPr>
          <a:xfrm>
            <a:off x="8458200" y="692587"/>
            <a:ext cx="23888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</a:t>
            </a:r>
            <a:endParaRPr lang="en-US" sz="495" dirty="0"/>
          </a:p>
        </p:txBody>
      </p:sp>
      <p:sp>
        <p:nvSpPr>
          <p:cNvPr id="18" name="Text 16"/>
          <p:cNvSpPr/>
          <p:nvPr/>
        </p:nvSpPr>
        <p:spPr>
          <a:xfrm>
            <a:off x="8052435" y="772597"/>
            <a:ext cx="42291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region</a:t>
            </a:r>
            <a:endParaRPr lang="en-US" sz="495" dirty="0"/>
          </a:p>
        </p:txBody>
      </p:sp>
      <p:sp>
        <p:nvSpPr>
          <p:cNvPr id="19" name="Text 17"/>
          <p:cNvSpPr/>
          <p:nvPr/>
        </p:nvSpPr>
        <p:spPr>
          <a:xfrm>
            <a:off x="8458200" y="772597"/>
            <a:ext cx="30289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GLOBAL</a:t>
            </a:r>
            <a:endParaRPr lang="en-US" sz="495" dirty="0"/>
          </a:p>
        </p:txBody>
      </p:sp>
      <p:sp>
        <p:nvSpPr>
          <p:cNvPr id="20" name="Shape 18"/>
          <p:cNvSpPr/>
          <p:nvPr/>
        </p:nvSpPr>
        <p:spPr>
          <a:xfrm>
            <a:off x="320040" y="1029772"/>
            <a:ext cx="3429000" cy="846981"/>
          </a:xfrm>
          <a:prstGeom prst="roundRect">
            <a:avLst>
              <a:gd name="adj" fmla="val 5398"/>
            </a:avLst>
          </a:prstGeom>
          <a:gradFill rotWithShape="1">
            <a:gsLst>
              <a:gs pos="0">
                <a:srgbClr val="252538"/>
              </a:gs>
              <a:gs pos="100000">
                <a:srgbClr val="2A2A3E"/>
              </a:gs>
            </a:gsLst>
            <a:lin ang="2700000" scaled="0"/>
          </a:gradFill>
          <a:ln w="5715">
            <a:solidFill>
              <a:srgbClr val="3A3A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1029772"/>
            <a:ext cx="17145" cy="83555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22" name="Shape 20"/>
          <p:cNvSpPr/>
          <p:nvPr/>
        </p:nvSpPr>
        <p:spPr>
          <a:xfrm>
            <a:off x="3383280" y="915472"/>
            <a:ext cx="457200" cy="457200"/>
          </a:xfrm>
          <a:prstGeom prst="ellipse">
            <a:avLst/>
          </a:prstGeom>
          <a:gradFill rotWithShape="1">
            <a:gsLst>
              <a:gs pos="0">
                <a:srgbClr val="00BCD4">
                  <a:alpha val="3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5715">
            <a:solidFill>
              <a:srgbClr val="3A3A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94735" y="1081207"/>
            <a:ext cx="13716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8A8AA0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450" dirty="0"/>
          </a:p>
        </p:txBody>
      </p:sp>
      <p:sp>
        <p:nvSpPr>
          <p:cNvPr id="24" name="Shape 22"/>
          <p:cNvSpPr/>
          <p:nvPr/>
        </p:nvSpPr>
        <p:spPr>
          <a:xfrm>
            <a:off x="440055" y="1304627"/>
            <a:ext cx="297180" cy="297180"/>
          </a:xfrm>
          <a:prstGeom prst="roundRect">
            <a:avLst>
              <a:gd name="adj" fmla="val 15385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83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0055" y="1304627"/>
            <a:ext cx="422910" cy="2971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 }</a:t>
            </a:r>
            <a:endParaRPr lang="en-US" sz="990" dirty="0"/>
          </a:p>
        </p:txBody>
      </p:sp>
      <p:sp>
        <p:nvSpPr>
          <p:cNvPr id="26" name="Text 24"/>
          <p:cNvSpPr/>
          <p:nvPr/>
        </p:nvSpPr>
        <p:spPr>
          <a:xfrm>
            <a:off x="840105" y="1264712"/>
            <a:ext cx="312359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开源项目增长</a:t>
            </a:r>
            <a:endParaRPr lang="en-US" sz="495" dirty="0"/>
          </a:p>
        </p:txBody>
      </p:sp>
      <p:sp>
        <p:nvSpPr>
          <p:cNvPr id="27" name="Text 25"/>
          <p:cNvSpPr/>
          <p:nvPr/>
        </p:nvSpPr>
        <p:spPr>
          <a:xfrm>
            <a:off x="840105" y="1367582"/>
            <a:ext cx="3123590" cy="1634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70" b="1" dirty="0">
                <a:solidFill>
                  <a:srgbClr val="E8E8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200M</a:t>
            </a:r>
            <a:pPr algn="l" indent="0" marL="0">
              <a:lnSpc>
                <a:spcPct val="110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仓库</a:t>
            </a:r>
            <a:endParaRPr lang="en-US" sz="1170" dirty="0"/>
          </a:p>
        </p:txBody>
      </p:sp>
      <p:sp>
        <p:nvSpPr>
          <p:cNvPr id="28" name="Text 26"/>
          <p:cNvSpPr/>
          <p:nvPr/>
        </p:nvSpPr>
        <p:spPr>
          <a:xfrm>
            <a:off x="840105" y="1553855"/>
            <a:ext cx="3123590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8A8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全球开源项目数量近年激增，GitHub 托管超 2 亿仓库</a:t>
            </a:r>
            <a:endParaRPr lang="en-US" sz="495" dirty="0"/>
          </a:p>
        </p:txBody>
      </p:sp>
      <p:sp>
        <p:nvSpPr>
          <p:cNvPr id="29" name="Shape 27"/>
          <p:cNvSpPr/>
          <p:nvPr/>
        </p:nvSpPr>
        <p:spPr>
          <a:xfrm>
            <a:off x="320040" y="1956762"/>
            <a:ext cx="3429000" cy="846981"/>
          </a:xfrm>
          <a:prstGeom prst="roundRect">
            <a:avLst>
              <a:gd name="adj" fmla="val 5398"/>
            </a:avLst>
          </a:prstGeom>
          <a:gradFill rotWithShape="1">
            <a:gsLst>
              <a:gs pos="0">
                <a:srgbClr val="252538"/>
              </a:gs>
              <a:gs pos="100000">
                <a:srgbClr val="2A2A3E"/>
              </a:gs>
            </a:gsLst>
            <a:lin ang="2700000" scaled="0"/>
          </a:gradFill>
          <a:ln w="5715">
            <a:solidFill>
              <a:srgbClr val="3A3A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1956762"/>
            <a:ext cx="17145" cy="83555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1" name="Shape 29"/>
          <p:cNvSpPr/>
          <p:nvPr/>
        </p:nvSpPr>
        <p:spPr>
          <a:xfrm>
            <a:off x="3383280" y="1842462"/>
            <a:ext cx="457200" cy="457200"/>
          </a:xfrm>
          <a:prstGeom prst="ellipse">
            <a:avLst/>
          </a:prstGeom>
          <a:gradFill rotWithShape="1">
            <a:gsLst>
              <a:gs pos="0">
                <a:srgbClr val="00BCD4">
                  <a:alpha val="3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5715">
            <a:solidFill>
              <a:srgbClr val="3A3A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94735" y="2008197"/>
            <a:ext cx="13716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8A8AA0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450" dirty="0"/>
          </a:p>
        </p:txBody>
      </p:sp>
      <p:sp>
        <p:nvSpPr>
          <p:cNvPr id="33" name="Shape 31"/>
          <p:cNvSpPr/>
          <p:nvPr/>
        </p:nvSpPr>
        <p:spPr>
          <a:xfrm>
            <a:off x="440055" y="2231618"/>
            <a:ext cx="297180" cy="297180"/>
          </a:xfrm>
          <a:prstGeom prst="roundRect">
            <a:avLst>
              <a:gd name="adj" fmla="val 15385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83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0055" y="2231618"/>
            <a:ext cx="422910" cy="2971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◎</a:t>
            </a:r>
            <a:endParaRPr lang="en-US" sz="990" dirty="0"/>
          </a:p>
        </p:txBody>
      </p:sp>
      <p:sp>
        <p:nvSpPr>
          <p:cNvPr id="35" name="Text 33"/>
          <p:cNvSpPr/>
          <p:nvPr/>
        </p:nvSpPr>
        <p:spPr>
          <a:xfrm>
            <a:off x="840105" y="2191703"/>
            <a:ext cx="312359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贡献者分布</a:t>
            </a:r>
            <a:endParaRPr lang="en-US" sz="495" dirty="0"/>
          </a:p>
        </p:txBody>
      </p:sp>
      <p:sp>
        <p:nvSpPr>
          <p:cNvPr id="36" name="Text 34"/>
          <p:cNvSpPr/>
          <p:nvPr/>
        </p:nvSpPr>
        <p:spPr>
          <a:xfrm>
            <a:off x="840105" y="2294573"/>
            <a:ext cx="3123590" cy="1634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70" b="1" dirty="0">
                <a:solidFill>
                  <a:srgbClr val="E8E8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200</a:t>
            </a:r>
            <a:pPr algn="l" indent="0" marL="0">
              <a:lnSpc>
                <a:spcPct val="110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国家 / 地区</a:t>
            </a:r>
            <a:endParaRPr lang="en-US" sz="1170" dirty="0"/>
          </a:p>
        </p:txBody>
      </p:sp>
      <p:sp>
        <p:nvSpPr>
          <p:cNvPr id="37" name="Text 35"/>
          <p:cNvSpPr/>
          <p:nvPr/>
        </p:nvSpPr>
        <p:spPr>
          <a:xfrm>
            <a:off x="840105" y="2480846"/>
            <a:ext cx="3123590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8A8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贡献者来自世界各地，跨国协作为常态</a:t>
            </a:r>
            <a:endParaRPr lang="en-US" sz="495" dirty="0"/>
          </a:p>
        </p:txBody>
      </p:sp>
      <p:sp>
        <p:nvSpPr>
          <p:cNvPr id="38" name="Shape 36"/>
          <p:cNvSpPr/>
          <p:nvPr/>
        </p:nvSpPr>
        <p:spPr>
          <a:xfrm>
            <a:off x="320040" y="2883753"/>
            <a:ext cx="3429000" cy="846981"/>
          </a:xfrm>
          <a:prstGeom prst="roundRect">
            <a:avLst>
              <a:gd name="adj" fmla="val 5398"/>
            </a:avLst>
          </a:prstGeom>
          <a:gradFill rotWithShape="1">
            <a:gsLst>
              <a:gs pos="0">
                <a:srgbClr val="252538"/>
              </a:gs>
              <a:gs pos="100000">
                <a:srgbClr val="2A2A3E"/>
              </a:gs>
            </a:gsLst>
            <a:lin ang="2700000" scaled="0"/>
          </a:gradFill>
          <a:ln w="5715">
            <a:solidFill>
              <a:srgbClr val="3A3A5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2883753"/>
            <a:ext cx="17145" cy="83555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0" name="Shape 38"/>
          <p:cNvSpPr/>
          <p:nvPr/>
        </p:nvSpPr>
        <p:spPr>
          <a:xfrm>
            <a:off x="3383280" y="2769453"/>
            <a:ext cx="457200" cy="457200"/>
          </a:xfrm>
          <a:prstGeom prst="ellipse">
            <a:avLst/>
          </a:prstGeom>
          <a:gradFill rotWithShape="1">
            <a:gsLst>
              <a:gs pos="0">
                <a:srgbClr val="00BCD4">
                  <a:alpha val="3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5715">
            <a:solidFill>
              <a:srgbClr val="3A3A5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94735" y="2935188"/>
            <a:ext cx="13716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8A8AA0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450" dirty="0"/>
          </a:p>
        </p:txBody>
      </p:sp>
      <p:sp>
        <p:nvSpPr>
          <p:cNvPr id="42" name="Shape 40"/>
          <p:cNvSpPr/>
          <p:nvPr/>
        </p:nvSpPr>
        <p:spPr>
          <a:xfrm>
            <a:off x="440055" y="3158609"/>
            <a:ext cx="297180" cy="297180"/>
          </a:xfrm>
          <a:prstGeom prst="roundRect">
            <a:avLst>
              <a:gd name="adj" fmla="val 15385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838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0055" y="3158609"/>
            <a:ext cx="422910" cy="2971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⚖</a:t>
            </a:r>
            <a:endParaRPr lang="en-US" sz="990" dirty="0"/>
          </a:p>
        </p:txBody>
      </p:sp>
      <p:sp>
        <p:nvSpPr>
          <p:cNvPr id="44" name="Text 42"/>
          <p:cNvSpPr/>
          <p:nvPr/>
        </p:nvSpPr>
        <p:spPr>
          <a:xfrm>
            <a:off x="840105" y="3118693"/>
            <a:ext cx="312359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许可证采用</a:t>
            </a:r>
            <a:endParaRPr lang="en-US" sz="495" dirty="0"/>
          </a:p>
        </p:txBody>
      </p:sp>
      <p:sp>
        <p:nvSpPr>
          <p:cNvPr id="45" name="Text 43"/>
          <p:cNvSpPr/>
          <p:nvPr/>
        </p:nvSpPr>
        <p:spPr>
          <a:xfrm>
            <a:off x="840105" y="3221563"/>
            <a:ext cx="3123590" cy="1634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70" b="1" dirty="0">
                <a:solidFill>
                  <a:srgbClr val="E8E8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MIT &amp; Apache</a:t>
            </a:r>
            <a:pPr algn="l" indent="0" marL="0">
              <a:lnSpc>
                <a:spcPct val="110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主导</a:t>
            </a:r>
            <a:endParaRPr lang="en-US" sz="1170" dirty="0"/>
          </a:p>
        </p:txBody>
      </p:sp>
      <p:sp>
        <p:nvSpPr>
          <p:cNvPr id="46" name="Text 44"/>
          <p:cNvSpPr/>
          <p:nvPr/>
        </p:nvSpPr>
        <p:spPr>
          <a:xfrm>
            <a:off x="840105" y="3407837"/>
            <a:ext cx="3123590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8A8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 和 Apache 许可证占据主导，体现自由共享</a:t>
            </a:r>
            <a:endParaRPr lang="en-US" sz="495" dirty="0"/>
          </a:p>
        </p:txBody>
      </p:sp>
      <p:sp>
        <p:nvSpPr>
          <p:cNvPr id="47" name="Shape 45"/>
          <p:cNvSpPr/>
          <p:nvPr/>
        </p:nvSpPr>
        <p:spPr>
          <a:xfrm>
            <a:off x="320040" y="3810744"/>
            <a:ext cx="3429000" cy="846981"/>
          </a:xfrm>
          <a:prstGeom prst="roundRect">
            <a:avLst>
              <a:gd name="adj" fmla="val 5398"/>
            </a:avLst>
          </a:prstGeom>
          <a:gradFill rotWithShape="1">
            <a:gsLst>
              <a:gs pos="0">
                <a:srgbClr val="252538"/>
              </a:gs>
              <a:gs pos="100000">
                <a:srgbClr val="2A2A3E"/>
              </a:gs>
            </a:gsLst>
            <a:lin ang="2700000" scaled="0"/>
          </a:gradFill>
          <a:ln w="5715">
            <a:solidFill>
              <a:srgbClr val="3A3A5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3810744"/>
            <a:ext cx="17145" cy="83555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9" name="Shape 47"/>
          <p:cNvSpPr/>
          <p:nvPr/>
        </p:nvSpPr>
        <p:spPr>
          <a:xfrm>
            <a:off x="3383280" y="3696444"/>
            <a:ext cx="457200" cy="457200"/>
          </a:xfrm>
          <a:prstGeom prst="ellipse">
            <a:avLst/>
          </a:prstGeom>
          <a:gradFill rotWithShape="1">
            <a:gsLst>
              <a:gs pos="0">
                <a:srgbClr val="00BCD4">
                  <a:alpha val="3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5715">
            <a:solidFill>
              <a:srgbClr val="3A3A5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94735" y="3862179"/>
            <a:ext cx="13716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8A8AA0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450" dirty="0"/>
          </a:p>
        </p:txBody>
      </p:sp>
      <p:sp>
        <p:nvSpPr>
          <p:cNvPr id="51" name="Shape 49"/>
          <p:cNvSpPr/>
          <p:nvPr/>
        </p:nvSpPr>
        <p:spPr>
          <a:xfrm>
            <a:off x="440055" y="4085600"/>
            <a:ext cx="297180" cy="297180"/>
          </a:xfrm>
          <a:prstGeom prst="roundRect">
            <a:avLst>
              <a:gd name="adj" fmla="val 15385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838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0055" y="4085600"/>
            <a:ext cx="422910" cy="2971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▲</a:t>
            </a:r>
            <a:endParaRPr lang="en-US" sz="990" dirty="0"/>
          </a:p>
        </p:txBody>
      </p:sp>
      <p:sp>
        <p:nvSpPr>
          <p:cNvPr id="53" name="Text 51"/>
          <p:cNvSpPr/>
          <p:nvPr/>
        </p:nvSpPr>
        <p:spPr>
          <a:xfrm>
            <a:off x="840105" y="4045684"/>
            <a:ext cx="312359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社区活跃度</a:t>
            </a:r>
            <a:endParaRPr lang="en-US" sz="495" dirty="0"/>
          </a:p>
        </p:txBody>
      </p:sp>
      <p:sp>
        <p:nvSpPr>
          <p:cNvPr id="54" name="Text 52"/>
          <p:cNvSpPr/>
          <p:nvPr/>
        </p:nvSpPr>
        <p:spPr>
          <a:xfrm>
            <a:off x="840105" y="4148554"/>
            <a:ext cx="3123590" cy="1634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70" b="1" dirty="0">
                <a:solidFill>
                  <a:srgbClr val="E8E8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~1%</a:t>
            </a:r>
            <a:pPr algn="l" indent="0" marL="0">
              <a:lnSpc>
                <a:spcPct val="110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核心贡献者</a:t>
            </a:r>
            <a:endParaRPr lang="en-US" sz="1170" dirty="0"/>
          </a:p>
        </p:txBody>
      </p:sp>
      <p:sp>
        <p:nvSpPr>
          <p:cNvPr id="55" name="Text 53"/>
          <p:cNvSpPr/>
          <p:nvPr/>
        </p:nvSpPr>
        <p:spPr>
          <a:xfrm>
            <a:off x="840105" y="4334828"/>
            <a:ext cx="3123590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8A8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核心贡献者比例约 1%，但影响辐射巨大</a:t>
            </a:r>
            <a:endParaRPr lang="en-US" sz="495" dirty="0"/>
          </a:p>
        </p:txBody>
      </p:sp>
      <p:sp>
        <p:nvSpPr>
          <p:cNvPr id="56" name="Text 54"/>
          <p:cNvSpPr/>
          <p:nvPr/>
        </p:nvSpPr>
        <p:spPr>
          <a:xfrm>
            <a:off x="3931920" y="1029772"/>
            <a:ext cx="1589999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30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▎</a:t>
            </a:r>
            <a:pPr algn="l" indent="0" marL="0">
              <a:buNone/>
            </a:pPr>
            <a:r>
              <a:rPr lang="en-US" sz="630" spc="45" kern="0" dirty="0">
                <a:solidFill>
                  <a:srgbClr val="E8E8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 · 全球开源仓库增长趋势</a:t>
            </a:r>
            <a:endParaRPr lang="en-US" sz="630" dirty="0"/>
          </a:p>
        </p:txBody>
      </p:sp>
      <p:sp>
        <p:nvSpPr>
          <p:cNvPr id="57" name="Text 55"/>
          <p:cNvSpPr/>
          <p:nvPr/>
        </p:nvSpPr>
        <p:spPr>
          <a:xfrm>
            <a:off x="7612380" y="1044059"/>
            <a:ext cx="525780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UNIT</a:t>
            </a:r>
            <a:pPr algn="l" indent="0" marL="0">
              <a:buNone/>
            </a:pPr>
            <a:r>
              <a:rPr lang="en-US" sz="450" dirty="0">
                <a:solidFill>
                  <a:srgbClr val="8A8A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百万仓库</a:t>
            </a:r>
            <a:endParaRPr lang="en-US" sz="450" dirty="0"/>
          </a:p>
        </p:txBody>
      </p:sp>
      <p:sp>
        <p:nvSpPr>
          <p:cNvPr id="58" name="Text 56"/>
          <p:cNvSpPr/>
          <p:nvPr/>
        </p:nvSpPr>
        <p:spPr>
          <a:xfrm>
            <a:off x="8149590" y="1044059"/>
            <a:ext cx="729691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RANGE</a:t>
            </a:r>
            <a:pPr algn="l" indent="0" marL="0">
              <a:buNone/>
            </a:pPr>
            <a:r>
              <a:rPr lang="en-US" sz="450" dirty="0">
                <a:solidFill>
                  <a:srgbClr val="8A8A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2010 — 2021</a:t>
            </a:r>
            <a:endParaRPr lang="en-US" sz="450" dirty="0"/>
          </a:p>
        </p:txBody>
      </p:sp>
      <p:sp>
        <p:nvSpPr>
          <p:cNvPr id="59" name="Shape 57"/>
          <p:cNvSpPr/>
          <p:nvPr/>
        </p:nvSpPr>
        <p:spPr>
          <a:xfrm>
            <a:off x="3909060" y="1212652"/>
            <a:ext cx="4914900" cy="2996446"/>
          </a:xfrm>
          <a:prstGeom prst="roundRect">
            <a:avLst>
              <a:gd name="adj" fmla="val 1526"/>
            </a:avLst>
          </a:prstGeom>
          <a:gradFill rotWithShape="1">
            <a:gsLst>
              <a:gs pos="0">
                <a:srgbClr val="252538"/>
              </a:gs>
              <a:gs pos="100000">
                <a:srgbClr val="1E1E2E"/>
              </a:gs>
            </a:gsLst>
            <a:lin ang="5400000" scaled="0"/>
          </a:gradFill>
          <a:ln w="5715">
            <a:solidFill>
              <a:srgbClr val="3A3A5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989070" y="1292662"/>
            <a:ext cx="474345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838F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graphicFrame>
        <p:nvGraphicFramePr>
          <p:cNvPr id="61" name="Chart 0" descr=""/>
          <p:cNvGraphicFramePr/>
          <p:nvPr/>
        </p:nvGraphicFramePr>
        <p:xfrm>
          <a:off x="3994785" y="1298377"/>
          <a:ext cx="4743450" cy="2847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2" name="Shape 59"/>
          <p:cNvSpPr/>
          <p:nvPr/>
        </p:nvSpPr>
        <p:spPr>
          <a:xfrm>
            <a:off x="3909060" y="4277678"/>
            <a:ext cx="1600200" cy="380048"/>
          </a:xfrm>
          <a:prstGeom prst="roundRect">
            <a:avLst>
              <a:gd name="adj" fmla="val 6015"/>
            </a:avLst>
          </a:prstGeom>
          <a:solidFill>
            <a:srgbClr val="00BCD4">
              <a:alpha val="5000"/>
            </a:srgbClr>
          </a:solidFill>
          <a:ln w="11430">
            <a:solidFill>
              <a:srgbClr val="00BCD4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3989070" y="4329113"/>
            <a:ext cx="1619402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DATA · 01</a:t>
            </a:r>
            <a:endParaRPr lang="en-US" sz="405" dirty="0"/>
          </a:p>
        </p:txBody>
      </p:sp>
      <p:sp>
        <p:nvSpPr>
          <p:cNvPr id="64" name="Text 61"/>
          <p:cNvSpPr/>
          <p:nvPr/>
        </p:nvSpPr>
        <p:spPr>
          <a:xfrm>
            <a:off x="3989070" y="4409123"/>
            <a:ext cx="1619402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200M+ 仓库</a:t>
            </a:r>
            <a:endParaRPr lang="en-US" sz="585" dirty="0"/>
          </a:p>
        </p:txBody>
      </p:sp>
      <p:sp>
        <p:nvSpPr>
          <p:cNvPr id="65" name="Text 62"/>
          <p:cNvSpPr/>
          <p:nvPr/>
        </p:nvSpPr>
        <p:spPr>
          <a:xfrm>
            <a:off x="3989070" y="4529138"/>
            <a:ext cx="1619402" cy="7715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450" dirty="0">
                <a:solidFill>
                  <a:srgbClr val="8A8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仓库数 2 亿+（2021 年统计）</a:t>
            </a:r>
            <a:endParaRPr lang="en-US" sz="450" dirty="0"/>
          </a:p>
        </p:txBody>
      </p:sp>
      <p:sp>
        <p:nvSpPr>
          <p:cNvPr id="66" name="Shape 63"/>
          <p:cNvSpPr/>
          <p:nvPr/>
        </p:nvSpPr>
        <p:spPr>
          <a:xfrm>
            <a:off x="5566410" y="4277678"/>
            <a:ext cx="1600200" cy="380048"/>
          </a:xfrm>
          <a:prstGeom prst="roundRect">
            <a:avLst>
              <a:gd name="adj" fmla="val 6015"/>
            </a:avLst>
          </a:prstGeom>
          <a:solidFill>
            <a:srgbClr val="00BCD4">
              <a:alpha val="5000"/>
            </a:srgbClr>
          </a:solidFill>
          <a:ln w="11430">
            <a:solidFill>
              <a:srgbClr val="00BCD4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646420" y="4329113"/>
            <a:ext cx="1619402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DATA · 02</a:t>
            </a:r>
            <a:endParaRPr lang="en-US" sz="405" dirty="0"/>
          </a:p>
        </p:txBody>
      </p:sp>
      <p:sp>
        <p:nvSpPr>
          <p:cNvPr id="68" name="Text 65"/>
          <p:cNvSpPr/>
          <p:nvPr/>
        </p:nvSpPr>
        <p:spPr>
          <a:xfrm>
            <a:off x="5646420" y="4409123"/>
            <a:ext cx="1619402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MIT ~ 30%</a:t>
            </a:r>
            <a:endParaRPr lang="en-US" sz="585" dirty="0"/>
          </a:p>
        </p:txBody>
      </p:sp>
      <p:sp>
        <p:nvSpPr>
          <p:cNvPr id="69" name="Text 66"/>
          <p:cNvSpPr/>
          <p:nvPr/>
        </p:nvSpPr>
        <p:spPr>
          <a:xfrm>
            <a:off x="5646420" y="4517708"/>
            <a:ext cx="1619402" cy="7715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450" dirty="0">
                <a:solidFill>
                  <a:srgbClr val="8A8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 许可证占比约 30%（常用许可证）</a:t>
            </a:r>
            <a:endParaRPr lang="en-US" sz="450" dirty="0"/>
          </a:p>
        </p:txBody>
      </p:sp>
      <p:sp>
        <p:nvSpPr>
          <p:cNvPr id="70" name="Shape 67"/>
          <p:cNvSpPr/>
          <p:nvPr/>
        </p:nvSpPr>
        <p:spPr>
          <a:xfrm>
            <a:off x="7223760" y="4277678"/>
            <a:ext cx="1600200" cy="380048"/>
          </a:xfrm>
          <a:prstGeom prst="roundRect">
            <a:avLst>
              <a:gd name="adj" fmla="val 6015"/>
            </a:avLst>
          </a:prstGeom>
          <a:solidFill>
            <a:srgbClr val="00BCD4">
              <a:alpha val="5000"/>
            </a:srgbClr>
          </a:solidFill>
          <a:ln w="11430">
            <a:solidFill>
              <a:srgbClr val="00BCD4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7303770" y="4329113"/>
            <a:ext cx="1619402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DATA · 03</a:t>
            </a:r>
            <a:endParaRPr lang="en-US" sz="405" dirty="0"/>
          </a:p>
        </p:txBody>
      </p:sp>
      <p:sp>
        <p:nvSpPr>
          <p:cNvPr id="72" name="Text 69"/>
          <p:cNvSpPr/>
          <p:nvPr/>
        </p:nvSpPr>
        <p:spPr>
          <a:xfrm>
            <a:off x="7303770" y="4409123"/>
            <a:ext cx="1619402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 5 人 / 项目</a:t>
            </a:r>
            <a:endParaRPr lang="en-US" sz="585" dirty="0"/>
          </a:p>
        </p:txBody>
      </p:sp>
      <p:sp>
        <p:nvSpPr>
          <p:cNvPr id="73" name="Text 70"/>
          <p:cNvSpPr/>
          <p:nvPr/>
        </p:nvSpPr>
        <p:spPr>
          <a:xfrm>
            <a:off x="7303770" y="4529138"/>
            <a:ext cx="1619402" cy="7715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450" dirty="0">
                <a:solidFill>
                  <a:srgbClr val="8A8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每项目平均贡献者约 5 人（小项目常见）</a:t>
            </a:r>
            <a:endParaRPr lang="en-US" sz="450" dirty="0"/>
          </a:p>
        </p:txBody>
      </p:sp>
      <p:sp>
        <p:nvSpPr>
          <p:cNvPr id="74" name="Shape 71"/>
          <p:cNvSpPr/>
          <p:nvPr/>
        </p:nvSpPr>
        <p:spPr>
          <a:xfrm>
            <a:off x="320040" y="4760595"/>
            <a:ext cx="8503920" cy="177165"/>
          </a:xfrm>
          <a:prstGeom prst="rect">
            <a:avLst/>
          </a:prstGeom>
          <a:noFill/>
          <a:ln/>
        </p:spPr>
      </p:sp>
      <p:sp>
        <p:nvSpPr>
          <p:cNvPr id="75" name="Shape 72"/>
          <p:cNvSpPr/>
          <p:nvPr/>
        </p:nvSpPr>
        <p:spPr>
          <a:xfrm>
            <a:off x="320040" y="4760595"/>
            <a:ext cx="8503920" cy="0"/>
          </a:xfrm>
          <a:prstGeom prst="line">
            <a:avLst/>
          </a:prstGeom>
          <a:noFill/>
          <a:ln w="5715">
            <a:solidFill>
              <a:srgbClr val="3A3A52"/>
            </a:solidFill>
            <a:prstDash val="dash"/>
          </a:ln>
        </p:spPr>
      </p:sp>
      <p:sp>
        <p:nvSpPr>
          <p:cNvPr id="76" name="Text 73"/>
          <p:cNvSpPr/>
          <p:nvPr/>
        </p:nvSpPr>
        <p:spPr>
          <a:xfrm>
            <a:off x="320040" y="4834890"/>
            <a:ext cx="2374697" cy="102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echo</a:t>
            </a:r>
            <a:pPr algn="l" indent="0" marL="0">
              <a:buNone/>
            </a:pPr>
            <a:r>
              <a:rPr lang="en-US" sz="540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"数字背后是开源精神对自由、共享、协作的持续信仰"</a:t>
            </a:r>
            <a:endParaRPr lang="en-US" sz="540" dirty="0"/>
          </a:p>
        </p:txBody>
      </p:sp>
      <p:sp>
        <p:nvSpPr>
          <p:cNvPr id="77" name="Text 74"/>
          <p:cNvSpPr/>
          <p:nvPr/>
        </p:nvSpPr>
        <p:spPr>
          <a:xfrm>
            <a:off x="7440930" y="4849178"/>
            <a:ext cx="844906" cy="742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8A8A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STREAM · ACTIVE</a:t>
            </a:r>
            <a:endParaRPr lang="en-US" sz="450" dirty="0"/>
          </a:p>
        </p:txBody>
      </p:sp>
      <p:sp>
        <p:nvSpPr>
          <p:cNvPr id="78" name="Shape 75"/>
          <p:cNvSpPr/>
          <p:nvPr/>
        </p:nvSpPr>
        <p:spPr>
          <a:xfrm>
            <a:off x="7440930" y="4872038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79" name="Text 76"/>
          <p:cNvSpPr/>
          <p:nvPr/>
        </p:nvSpPr>
        <p:spPr>
          <a:xfrm>
            <a:off x="8275320" y="4849178"/>
            <a:ext cx="614477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8A8A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ETHICS-OS / 2021</a:t>
            </a:r>
            <a:endParaRPr lang="en-US" sz="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35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35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71450" y="-411480"/>
            <a:ext cx="3566160" cy="19602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700" b="1" spc="-360" kern="0" dirty="0">
                <a:solidFill>
                  <a:srgbClr val="00BCD4">
                    <a:alpha val="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1700" dirty="0"/>
          </a:p>
        </p:txBody>
      </p:sp>
      <p:sp>
        <p:nvSpPr>
          <p:cNvPr id="4" name="Shape 2"/>
          <p:cNvSpPr/>
          <p:nvPr/>
        </p:nvSpPr>
        <p:spPr>
          <a:xfrm rot="2700000">
            <a:off x="7429500" y="628650"/>
            <a:ext cx="342900" cy="342900"/>
          </a:xfrm>
          <a:prstGeom prst="rect">
            <a:avLst/>
          </a:prstGeom>
          <a:noFill/>
          <a:ln w="5715">
            <a:solidFill>
              <a:srgbClr val="00BCD4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69580" y="1714500"/>
            <a:ext cx="102870" cy="102870"/>
          </a:xfrm>
          <a:prstGeom prst="rect">
            <a:avLst/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4274820"/>
            <a:ext cx="240030" cy="240030"/>
          </a:xfrm>
          <a:prstGeom prst="ellipse">
            <a:avLst/>
          </a:prstGeom>
          <a:noFill/>
          <a:ln w="5715">
            <a:solidFill>
              <a:srgbClr val="B0BEC5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0100" y="2857500"/>
            <a:ext cx="57150" cy="57150"/>
          </a:xfrm>
          <a:prstGeom prst="ellipse">
            <a:avLst/>
          </a:prstGeom>
          <a:solidFill>
            <a:srgbClr val="00BCD4">
              <a:alpha val="35000"/>
            </a:srgbClr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172450" y="228600"/>
            <a:ext cx="4572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9" name="Shape 7"/>
          <p:cNvSpPr/>
          <p:nvPr/>
        </p:nvSpPr>
        <p:spPr>
          <a:xfrm>
            <a:off x="7995285" y="4572000"/>
            <a:ext cx="5715" cy="28575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B0BEC5"/>
              </a:gs>
            </a:gsLst>
            <a:lin ang="5400000" scaled="0"/>
          </a:gradFill>
          <a:ln/>
        </p:spPr>
      </p:sp>
      <p:sp>
        <p:nvSpPr>
          <p:cNvPr id="10" name="Text 8"/>
          <p:cNvSpPr/>
          <p:nvPr/>
        </p:nvSpPr>
        <p:spPr>
          <a:xfrm>
            <a:off x="7612380" y="285750"/>
            <a:ext cx="1267358" cy="119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90000"/>
              </a:lnSpc>
              <a:buNone/>
            </a:pPr>
            <a:r>
              <a:rPr lang="en-US" sz="495" spc="90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</a:t>
            </a:r>
            <a:pPr algn="r" indent="0" marL="0">
              <a:lnSpc>
                <a:spcPct val="190000"/>
              </a:lnSpc>
              <a:buNone/>
            </a:pPr>
            <a:r>
              <a:rPr lang="en-US" sz="495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pPr algn="r" indent="0" marL="0">
              <a:lnSpc>
                <a:spcPct val="190000"/>
              </a:lnSpc>
              <a:buNone/>
            </a:pPr>
            <a:r>
              <a:rPr lang="en-US" sz="495" spc="90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12</a:t>
            </a:r>
            <a:endParaRPr lang="en-US" sz="495" dirty="0"/>
          </a:p>
        </p:txBody>
      </p:sp>
      <p:sp>
        <p:nvSpPr>
          <p:cNvPr id="11" name="Text 9"/>
          <p:cNvSpPr/>
          <p:nvPr/>
        </p:nvSpPr>
        <p:spPr>
          <a:xfrm>
            <a:off x="7612380" y="405140"/>
            <a:ext cx="1267358" cy="1193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90000"/>
              </a:lnSpc>
              <a:buNone/>
            </a:pPr>
            <a:r>
              <a:rPr lang="en-US" sz="495" spc="90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× IMPACT</a:t>
            </a:r>
            <a:endParaRPr lang="en-US" sz="495" dirty="0"/>
          </a:p>
        </p:txBody>
      </p:sp>
      <p:sp>
        <p:nvSpPr>
          <p:cNvPr id="12" name="Text 10"/>
          <p:cNvSpPr/>
          <p:nvPr/>
        </p:nvSpPr>
        <p:spPr>
          <a:xfrm>
            <a:off x="7612380" y="524530"/>
            <a:ext cx="1267358" cy="1193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90000"/>
              </a:lnSpc>
              <a:buNone/>
            </a:pPr>
            <a:r>
              <a:rPr lang="en-US" sz="495" spc="90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CLASSIFIED // INTERNAL</a:t>
            </a:r>
            <a:endParaRPr lang="en-US" sz="495" dirty="0"/>
          </a:p>
        </p:txBody>
      </p:sp>
      <p:sp>
        <p:nvSpPr>
          <p:cNvPr id="13" name="Text 11"/>
          <p:cNvSpPr/>
          <p:nvPr/>
        </p:nvSpPr>
        <p:spPr>
          <a:xfrm>
            <a:off x="400050" y="4960620"/>
            <a:ext cx="1094537" cy="80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pPr algn="l" indent="0" marL="0">
              <a:buNone/>
            </a:pPr>
            <a:r>
              <a:rPr lang="en-US" sz="495" spc="90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init chapter_06</a:t>
            </a:r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</a:t>
            </a:r>
            <a:endParaRPr lang="en-US" sz="495" dirty="0"/>
          </a:p>
        </p:txBody>
      </p:sp>
      <p:sp>
        <p:nvSpPr>
          <p:cNvPr id="14" name="Shape 12"/>
          <p:cNvSpPr/>
          <p:nvPr/>
        </p:nvSpPr>
        <p:spPr>
          <a:xfrm>
            <a:off x="400050" y="308610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0070" y="285750"/>
            <a:ext cx="58293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06</a:t>
            </a:r>
            <a:endParaRPr lang="en-US" sz="540" dirty="0"/>
          </a:p>
        </p:txBody>
      </p:sp>
      <p:sp>
        <p:nvSpPr>
          <p:cNvPr id="16" name="Shape 14"/>
          <p:cNvSpPr/>
          <p:nvPr/>
        </p:nvSpPr>
        <p:spPr>
          <a:xfrm>
            <a:off x="1188720" y="328613"/>
            <a:ext cx="6406515" cy="571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7" name="Text 15"/>
          <p:cNvSpPr/>
          <p:nvPr/>
        </p:nvSpPr>
        <p:spPr>
          <a:xfrm>
            <a:off x="7709535" y="285750"/>
            <a:ext cx="97932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&amp; IMPACT</a:t>
            </a:r>
            <a:endParaRPr lang="en-US" sz="540" dirty="0"/>
          </a:p>
        </p:txBody>
      </p:sp>
      <p:sp>
        <p:nvSpPr>
          <p:cNvPr id="18" name="Shape 16"/>
          <p:cNvSpPr/>
          <p:nvPr/>
        </p:nvSpPr>
        <p:spPr>
          <a:xfrm>
            <a:off x="8698230" y="308610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00050" y="1285875"/>
            <a:ext cx="9345168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spc="45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 理 念 到 行 动</a:t>
            </a:r>
            <a:endParaRPr lang="en-US" sz="990" dirty="0"/>
          </a:p>
        </p:txBody>
      </p:sp>
      <p:sp>
        <p:nvSpPr>
          <p:cNvPr id="20" name="Text 18"/>
          <p:cNvSpPr/>
          <p:nvPr/>
        </p:nvSpPr>
        <p:spPr>
          <a:xfrm>
            <a:off x="400050" y="1537335"/>
            <a:ext cx="305578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</a:t>
            </a:r>
            <a:pPr algn="l" indent="0" marL="0">
              <a:buNone/>
            </a:pPr>
            <a:r>
              <a:rPr lang="en-US" sz="540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ETHICS</a:t>
            </a:r>
            <a:pPr algn="l" indent="0" marL="0">
              <a:buNone/>
            </a:pPr>
            <a:r>
              <a:rPr lang="en-US" sz="540" spc="90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pPr algn="l" indent="0" marL="0">
              <a:buNone/>
            </a:pPr>
            <a:r>
              <a:rPr lang="en-US" sz="540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</a:t>
            </a:r>
            <a:pPr algn="l" indent="0" marL="0">
              <a:buNone/>
            </a:pPr>
            <a:r>
              <a:rPr lang="en-US" sz="540" spc="90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pPr algn="l" indent="0" marL="0">
              <a:buNone/>
            </a:pPr>
            <a:r>
              <a:rPr lang="en-US" sz="540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REALITY</a:t>
            </a:r>
            <a:pPr algn="l" indent="0" marL="0">
              <a:buNone/>
            </a:pPr>
            <a:r>
              <a:rPr lang="en-US" sz="540" spc="90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hacker ethos in practice</a:t>
            </a:r>
            <a:endParaRPr lang="en-US" sz="540" dirty="0"/>
          </a:p>
        </p:txBody>
      </p:sp>
      <p:sp>
        <p:nvSpPr>
          <p:cNvPr id="21" name="Text 19"/>
          <p:cNvSpPr/>
          <p:nvPr/>
        </p:nvSpPr>
        <p:spPr>
          <a:xfrm>
            <a:off x="400050" y="537210"/>
            <a:ext cx="9345168" cy="6686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3600" b="1" spc="270" kern="0" dirty="0">
                <a:solidFill>
                  <a:srgbClr val="E8EE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实践与影响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400050" y="1811655"/>
            <a:ext cx="3771900" cy="2057400"/>
          </a:xfrm>
          <a:prstGeom prst="roundRect">
            <a:avLst>
              <a:gd name="adj" fmla="val 3333"/>
            </a:avLst>
          </a:prstGeom>
          <a:gradFill rotWithShape="1">
            <a:gsLst>
              <a:gs pos="0">
                <a:srgbClr val="242438"/>
              </a:gs>
              <a:gs pos="100000">
                <a:srgbClr val="1E1E2E"/>
              </a:gs>
            </a:gsLst>
            <a:lin ang="2700000" scaled="0"/>
          </a:gradFill>
          <a:ln w="17145">
            <a:solidFill>
              <a:srgbClr val="00BC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5785" y="1965960"/>
            <a:ext cx="491490" cy="131445"/>
          </a:xfrm>
          <a:prstGeom prst="roundRect">
            <a:avLst>
              <a:gd name="adj" fmla="val 13043"/>
            </a:avLst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5785" y="1965960"/>
            <a:ext cx="550469" cy="131445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IDEAL</a:t>
            </a:r>
            <a:endParaRPr lang="en-US" sz="450" dirty="0"/>
          </a:p>
        </p:txBody>
      </p:sp>
      <p:sp>
        <p:nvSpPr>
          <p:cNvPr id="25" name="Text 23"/>
          <p:cNvSpPr/>
          <p:nvPr/>
        </p:nvSpPr>
        <p:spPr>
          <a:xfrm>
            <a:off x="1125855" y="1985963"/>
            <a:ext cx="75529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理念侧 · 抽象源头</a:t>
            </a:r>
            <a:endParaRPr lang="en-US" sz="495" dirty="0"/>
          </a:p>
        </p:txBody>
      </p:sp>
      <p:sp>
        <p:nvSpPr>
          <p:cNvPr id="26" name="Text 24"/>
          <p:cNvSpPr/>
          <p:nvPr/>
        </p:nvSpPr>
        <p:spPr>
          <a:xfrm>
            <a:off x="565785" y="2188845"/>
            <a:ext cx="3866083" cy="2514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EE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开源社区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65785" y="2463165"/>
            <a:ext cx="386608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B0BEC5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 source community</a:t>
            </a:r>
            <a:endParaRPr lang="en-US" sz="540" dirty="0"/>
          </a:p>
        </p:txBody>
      </p:sp>
      <p:sp>
        <p:nvSpPr>
          <p:cNvPr id="28" name="Text 26"/>
          <p:cNvSpPr/>
          <p:nvPr/>
        </p:nvSpPr>
        <p:spPr>
          <a:xfrm>
            <a:off x="565785" y="2646045"/>
            <a:ext cx="3624453" cy="785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内核全球协作，数万贡献者共同维护操作系统基石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 基金会以开放治理践行自由、协作、去中心化精神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Git、Python、Node.js 等工具重新定义软件生产关系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"公开、协作、共享"从理念沉淀为行业基础设施</a:t>
            </a:r>
            <a:endParaRPr lang="en-US" sz="563" dirty="0"/>
          </a:p>
        </p:txBody>
      </p:sp>
      <p:sp>
        <p:nvSpPr>
          <p:cNvPr id="29" name="Shape 27"/>
          <p:cNvSpPr/>
          <p:nvPr/>
        </p:nvSpPr>
        <p:spPr>
          <a:xfrm>
            <a:off x="565785" y="3523298"/>
            <a:ext cx="3451860" cy="211455"/>
          </a:xfrm>
          <a:prstGeom prst="rect">
            <a:avLst/>
          </a:prstGeom>
          <a:noFill/>
          <a:ln/>
        </p:spPr>
      </p:sp>
      <p:sp>
        <p:nvSpPr>
          <p:cNvPr id="30" name="Shape 28"/>
          <p:cNvSpPr/>
          <p:nvPr/>
        </p:nvSpPr>
        <p:spPr>
          <a:xfrm>
            <a:off x="565785" y="3523298"/>
            <a:ext cx="3451860" cy="0"/>
          </a:xfrm>
          <a:prstGeom prst="line">
            <a:avLst/>
          </a:prstGeom>
          <a:noFill/>
          <a:ln w="5715">
            <a:solidFill>
              <a:srgbClr val="3A3A5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65785" y="3597593"/>
            <a:ext cx="325755" cy="137160"/>
          </a:xfrm>
          <a:prstGeom prst="roundRect">
            <a:avLst>
              <a:gd name="adj" fmla="val 12500"/>
            </a:avLst>
          </a:prstGeom>
          <a:solidFill>
            <a:srgbClr val="00BCD4">
              <a:alpha val="8000"/>
            </a:srgbClr>
          </a:solidFill>
          <a:ln w="5715">
            <a:solidFill>
              <a:srgbClr val="00BCD4">
                <a:alpha val="2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5785" y="3597593"/>
            <a:ext cx="385763" cy="137160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Linux</a:t>
            </a:r>
            <a:endParaRPr lang="en-US" sz="473" dirty="0"/>
          </a:p>
        </p:txBody>
      </p:sp>
      <p:sp>
        <p:nvSpPr>
          <p:cNvPr id="33" name="Shape 31"/>
          <p:cNvSpPr/>
          <p:nvPr/>
        </p:nvSpPr>
        <p:spPr>
          <a:xfrm>
            <a:off x="925830" y="3597593"/>
            <a:ext cx="365760" cy="137160"/>
          </a:xfrm>
          <a:prstGeom prst="roundRect">
            <a:avLst>
              <a:gd name="adj" fmla="val 12500"/>
            </a:avLst>
          </a:prstGeom>
          <a:solidFill>
            <a:srgbClr val="00BCD4">
              <a:alpha val="8000"/>
            </a:srgbClr>
          </a:solidFill>
          <a:ln w="5715">
            <a:solidFill>
              <a:srgbClr val="00BCD4">
                <a:alpha val="22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5830" y="3597593"/>
            <a:ext cx="425768" cy="137160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Apache</a:t>
            </a:r>
            <a:endParaRPr lang="en-US" sz="473" dirty="0"/>
          </a:p>
        </p:txBody>
      </p:sp>
      <p:sp>
        <p:nvSpPr>
          <p:cNvPr id="35" name="Shape 33"/>
          <p:cNvSpPr/>
          <p:nvPr/>
        </p:nvSpPr>
        <p:spPr>
          <a:xfrm>
            <a:off x="1325880" y="3597593"/>
            <a:ext cx="245745" cy="137160"/>
          </a:xfrm>
          <a:prstGeom prst="roundRect">
            <a:avLst>
              <a:gd name="adj" fmla="val 12500"/>
            </a:avLst>
          </a:prstGeom>
          <a:solidFill>
            <a:srgbClr val="00BCD4">
              <a:alpha val="8000"/>
            </a:srgbClr>
          </a:solidFill>
          <a:ln w="5715">
            <a:solidFill>
              <a:srgbClr val="00BCD4">
                <a:alpha val="22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25880" y="3597593"/>
            <a:ext cx="305753" cy="137160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FSF</a:t>
            </a:r>
            <a:endParaRPr lang="en-US" sz="473" dirty="0"/>
          </a:p>
        </p:txBody>
      </p:sp>
      <p:sp>
        <p:nvSpPr>
          <p:cNvPr id="37" name="Shape 35"/>
          <p:cNvSpPr/>
          <p:nvPr/>
        </p:nvSpPr>
        <p:spPr>
          <a:xfrm>
            <a:off x="1605915" y="3597593"/>
            <a:ext cx="245745" cy="137160"/>
          </a:xfrm>
          <a:prstGeom prst="roundRect">
            <a:avLst>
              <a:gd name="adj" fmla="val 12500"/>
            </a:avLst>
          </a:prstGeom>
          <a:solidFill>
            <a:srgbClr val="00BCD4">
              <a:alpha val="8000"/>
            </a:srgbClr>
          </a:solidFill>
          <a:ln w="5715">
            <a:solidFill>
              <a:srgbClr val="00BCD4">
                <a:alpha val="22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05915" y="3597593"/>
            <a:ext cx="305753" cy="137160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GPL</a:t>
            </a:r>
            <a:endParaRPr lang="en-US" sz="473" dirty="0"/>
          </a:p>
        </p:txBody>
      </p:sp>
      <p:sp>
        <p:nvSpPr>
          <p:cNvPr id="39" name="Shape 37"/>
          <p:cNvSpPr/>
          <p:nvPr/>
        </p:nvSpPr>
        <p:spPr>
          <a:xfrm>
            <a:off x="4569143" y="1811655"/>
            <a:ext cx="5715" cy="22940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0" name="Text 38"/>
          <p:cNvSpPr/>
          <p:nvPr/>
        </p:nvSpPr>
        <p:spPr>
          <a:xfrm>
            <a:off x="4534853" y="2075349"/>
            <a:ext cx="128588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8" spc="180" kern="0" dirty="0">
                <a:solidFill>
                  <a:srgbClr val="B0BEC5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TRANSITION</a:t>
            </a:r>
            <a:endParaRPr lang="en-US" sz="428" dirty="0"/>
          </a:p>
        </p:txBody>
      </p:sp>
      <p:sp>
        <p:nvSpPr>
          <p:cNvPr id="41" name="Text 39"/>
          <p:cNvSpPr/>
          <p:nvPr/>
        </p:nvSpPr>
        <p:spPr>
          <a:xfrm>
            <a:off x="4506813" y="2726859"/>
            <a:ext cx="369189" cy="285750"/>
          </a:xfrm>
          <a:prstGeom prst="rect">
            <a:avLst/>
          </a:prstGeom>
          <a:noFill/>
          <a:ln/>
          <a:effectLst>
            <a:outerShdw sx="100000" sy="100000" kx="0" ky="0" algn="bl" rotWithShape="0" blurRad="85725" dist="50800" dir="5400000">
              <a:srgbClr val="00BCD4">
                <a:alpha val="5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71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▶</a:t>
            </a:r>
            <a:endParaRPr lang="en-US" sz="1710" dirty="0"/>
          </a:p>
        </p:txBody>
      </p:sp>
      <p:sp>
        <p:nvSpPr>
          <p:cNvPr id="42" name="Text 40"/>
          <p:cNvSpPr/>
          <p:nvPr/>
        </p:nvSpPr>
        <p:spPr>
          <a:xfrm>
            <a:off x="4534853" y="3092619"/>
            <a:ext cx="128588" cy="5126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8" spc="180" kern="0" dirty="0">
                <a:solidFill>
                  <a:srgbClr val="B0BEC5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→ TO</a:t>
            </a:r>
            <a:endParaRPr lang="en-US" sz="428" dirty="0"/>
          </a:p>
        </p:txBody>
      </p:sp>
      <p:sp>
        <p:nvSpPr>
          <p:cNvPr id="43" name="Shape 41"/>
          <p:cNvSpPr/>
          <p:nvPr/>
        </p:nvSpPr>
        <p:spPr>
          <a:xfrm>
            <a:off x="4569143" y="3639562"/>
            <a:ext cx="5715" cy="229493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4" name="Shape 42"/>
          <p:cNvSpPr/>
          <p:nvPr/>
        </p:nvSpPr>
        <p:spPr>
          <a:xfrm>
            <a:off x="4972050" y="1811655"/>
            <a:ext cx="3771900" cy="2057400"/>
          </a:xfrm>
          <a:prstGeom prst="roundRect">
            <a:avLst>
              <a:gd name="adj" fmla="val 3333"/>
            </a:avLst>
          </a:prstGeom>
          <a:gradFill rotWithShape="1">
            <a:gsLst>
              <a:gs pos="0">
                <a:srgbClr val="242438"/>
              </a:gs>
              <a:gs pos="100000">
                <a:srgbClr val="1E1E2E"/>
              </a:gs>
            </a:gsLst>
            <a:lin ang="2700000" scaled="0"/>
          </a:gradFill>
          <a:ln w="17145">
            <a:solidFill>
              <a:srgbClr val="B0BEC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26355" y="1965960"/>
            <a:ext cx="582930" cy="131445"/>
          </a:xfrm>
          <a:prstGeom prst="roundRect">
            <a:avLst>
              <a:gd name="adj" fmla="val 13043"/>
            </a:avLst>
          </a:prstGeom>
          <a:noFill/>
          <a:ln w="5715">
            <a:solidFill>
              <a:srgbClr val="B0BEC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26355" y="1965960"/>
            <a:ext cx="652882" cy="131445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REALITY</a:t>
            </a:r>
            <a:endParaRPr lang="en-US" sz="450" dirty="0"/>
          </a:p>
        </p:txBody>
      </p:sp>
      <p:sp>
        <p:nvSpPr>
          <p:cNvPr id="47" name="Text 45"/>
          <p:cNvSpPr/>
          <p:nvPr/>
        </p:nvSpPr>
        <p:spPr>
          <a:xfrm>
            <a:off x="5777865" y="1985963"/>
            <a:ext cx="75529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现实侧 · 落地实践</a:t>
            </a:r>
            <a:endParaRPr lang="en-US" sz="495" dirty="0"/>
          </a:p>
        </p:txBody>
      </p:sp>
      <p:sp>
        <p:nvSpPr>
          <p:cNvPr id="48" name="Text 46"/>
          <p:cNvSpPr/>
          <p:nvPr/>
        </p:nvSpPr>
        <p:spPr>
          <a:xfrm>
            <a:off x="5126355" y="2188845"/>
            <a:ext cx="3866083" cy="2514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EE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商业拥抱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5126355" y="2463165"/>
            <a:ext cx="386608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B0BEC5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enterprise adoption</a:t>
            </a:r>
            <a:endParaRPr lang="en-US" sz="540" dirty="0"/>
          </a:p>
        </p:txBody>
      </p:sp>
      <p:sp>
        <p:nvSpPr>
          <p:cNvPr id="50" name="Text 48"/>
          <p:cNvSpPr/>
          <p:nvPr/>
        </p:nvSpPr>
        <p:spPr>
          <a:xfrm>
            <a:off x="5126355" y="2646045"/>
            <a:ext cx="3624453" cy="785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依托 Linux、Chrome、Android 构建开源商业帝国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拥抱开源，Azure + VS Code 引领企业级协作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红帽并购、Kubernetes 主导，开源成为云时代核心战略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黑客伦理从亚文化走向全球企业的技术哲学与商业引擎</a:t>
            </a:r>
            <a:endParaRPr lang="en-US" sz="563" dirty="0"/>
          </a:p>
        </p:txBody>
      </p:sp>
      <p:sp>
        <p:nvSpPr>
          <p:cNvPr id="51" name="Shape 49"/>
          <p:cNvSpPr/>
          <p:nvPr/>
        </p:nvSpPr>
        <p:spPr>
          <a:xfrm>
            <a:off x="5126355" y="3523298"/>
            <a:ext cx="3451860" cy="211455"/>
          </a:xfrm>
          <a:prstGeom prst="rect">
            <a:avLst/>
          </a:prstGeom>
          <a:noFill/>
          <a:ln/>
        </p:spPr>
      </p:sp>
      <p:sp>
        <p:nvSpPr>
          <p:cNvPr id="52" name="Shape 50"/>
          <p:cNvSpPr/>
          <p:nvPr/>
        </p:nvSpPr>
        <p:spPr>
          <a:xfrm>
            <a:off x="5126355" y="3523298"/>
            <a:ext cx="3451860" cy="0"/>
          </a:xfrm>
          <a:prstGeom prst="line">
            <a:avLst/>
          </a:prstGeom>
          <a:noFill/>
          <a:ln w="5715">
            <a:solidFill>
              <a:srgbClr val="3A3A52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5126355" y="3597593"/>
            <a:ext cx="365760" cy="137160"/>
          </a:xfrm>
          <a:prstGeom prst="roundRect">
            <a:avLst>
              <a:gd name="adj" fmla="val 12500"/>
            </a:avLst>
          </a:prstGeom>
          <a:solidFill>
            <a:srgbClr val="B0BEC5">
              <a:alpha val="8000"/>
            </a:srgbClr>
          </a:solidFill>
          <a:ln w="5715">
            <a:solidFill>
              <a:srgbClr val="B0BEC5">
                <a:alpha val="22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26355" y="3597593"/>
            <a:ext cx="425768" cy="137160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Google</a:t>
            </a:r>
            <a:endParaRPr lang="en-US" sz="473" dirty="0"/>
          </a:p>
        </p:txBody>
      </p:sp>
      <p:sp>
        <p:nvSpPr>
          <p:cNvPr id="55" name="Shape 53"/>
          <p:cNvSpPr/>
          <p:nvPr/>
        </p:nvSpPr>
        <p:spPr>
          <a:xfrm>
            <a:off x="5526405" y="3597593"/>
            <a:ext cx="485775" cy="137160"/>
          </a:xfrm>
          <a:prstGeom prst="roundRect">
            <a:avLst>
              <a:gd name="adj" fmla="val 12500"/>
            </a:avLst>
          </a:prstGeom>
          <a:solidFill>
            <a:srgbClr val="B0BEC5">
              <a:alpha val="8000"/>
            </a:srgbClr>
          </a:solidFill>
          <a:ln w="5715">
            <a:solidFill>
              <a:srgbClr val="B0BEC5">
                <a:alpha val="22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26405" y="3597593"/>
            <a:ext cx="545783" cy="137160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Microsoft</a:t>
            </a:r>
            <a:endParaRPr lang="en-US" sz="473" dirty="0"/>
          </a:p>
        </p:txBody>
      </p:sp>
      <p:sp>
        <p:nvSpPr>
          <p:cNvPr id="57" name="Shape 55"/>
          <p:cNvSpPr/>
          <p:nvPr/>
        </p:nvSpPr>
        <p:spPr>
          <a:xfrm>
            <a:off x="6046470" y="3597593"/>
            <a:ext cx="405765" cy="137160"/>
          </a:xfrm>
          <a:prstGeom prst="roundRect">
            <a:avLst>
              <a:gd name="adj" fmla="val 12500"/>
            </a:avLst>
          </a:prstGeom>
          <a:solidFill>
            <a:srgbClr val="B0BEC5">
              <a:alpha val="8000"/>
            </a:srgbClr>
          </a:solidFill>
          <a:ln w="5715">
            <a:solidFill>
              <a:srgbClr val="B0BEC5">
                <a:alpha val="22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46470" y="3597593"/>
            <a:ext cx="465773" cy="137160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 Hat</a:t>
            </a:r>
            <a:endParaRPr lang="en-US" sz="473" dirty="0"/>
          </a:p>
        </p:txBody>
      </p:sp>
      <p:sp>
        <p:nvSpPr>
          <p:cNvPr id="59" name="Shape 57"/>
          <p:cNvSpPr/>
          <p:nvPr/>
        </p:nvSpPr>
        <p:spPr>
          <a:xfrm>
            <a:off x="6486525" y="3597593"/>
            <a:ext cx="245745" cy="137160"/>
          </a:xfrm>
          <a:prstGeom prst="roundRect">
            <a:avLst>
              <a:gd name="adj" fmla="val 12500"/>
            </a:avLst>
          </a:prstGeom>
          <a:solidFill>
            <a:srgbClr val="B0BEC5">
              <a:alpha val="8000"/>
            </a:srgbClr>
          </a:solidFill>
          <a:ln w="5715">
            <a:solidFill>
              <a:srgbClr val="B0BEC5">
                <a:alpha val="22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86525" y="3597593"/>
            <a:ext cx="305753" cy="137160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K8s</a:t>
            </a:r>
            <a:endParaRPr lang="en-US" sz="473" dirty="0"/>
          </a:p>
        </p:txBody>
      </p:sp>
      <p:sp>
        <p:nvSpPr>
          <p:cNvPr id="61" name="Text 59"/>
          <p:cNvSpPr/>
          <p:nvPr/>
        </p:nvSpPr>
        <p:spPr>
          <a:xfrm>
            <a:off x="400050" y="4006215"/>
            <a:ext cx="2144268" cy="108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5" spc="135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从</a:t>
            </a:r>
            <a:pPr algn="l" indent="0" marL="0">
              <a:buNone/>
            </a:pPr>
            <a:r>
              <a:rPr lang="en-US" sz="585" spc="13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理 念</a:t>
            </a:r>
            <a:pPr algn="l" indent="0" marL="0">
              <a:buNone/>
            </a:pPr>
            <a:r>
              <a:rPr lang="en-US" sz="585" spc="135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到</a:t>
            </a:r>
            <a:pPr algn="l" indent="0" marL="0">
              <a:buNone/>
            </a:pPr>
            <a:r>
              <a:rPr lang="en-US" sz="585" spc="13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行 动</a:t>
            </a:r>
            <a:pPr algn="l" indent="0" marL="0">
              <a:buNone/>
            </a:pPr>
            <a:r>
              <a:rPr lang="en-US" sz="585" spc="135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585" spc="135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从</a:t>
            </a:r>
            <a:pPr algn="l" indent="0" marL="0">
              <a:buNone/>
            </a:pPr>
            <a:r>
              <a:rPr lang="en-US" sz="585" spc="13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理 想</a:t>
            </a:r>
            <a:pPr algn="l" indent="0" marL="0">
              <a:buNone/>
            </a:pPr>
            <a:r>
              <a:rPr lang="en-US" sz="585" spc="135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到</a:t>
            </a:r>
            <a:pPr algn="l" indent="0" marL="0">
              <a:buNone/>
            </a:pPr>
            <a:r>
              <a:rPr lang="en-US" sz="585" spc="13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现 实</a:t>
            </a:r>
            <a:endParaRPr lang="en-US" sz="585" dirty="0"/>
          </a:p>
        </p:txBody>
      </p:sp>
      <p:sp>
        <p:nvSpPr>
          <p:cNvPr id="62" name="Shape 60"/>
          <p:cNvSpPr/>
          <p:nvPr/>
        </p:nvSpPr>
        <p:spPr>
          <a:xfrm>
            <a:off x="2428875" y="4054793"/>
            <a:ext cx="5213152" cy="11430"/>
          </a:xfrm>
          <a:prstGeom prst="roundRect">
            <a:avLst>
              <a:gd name="adj" fmla="val 50000"/>
            </a:avLst>
          </a:prstGeom>
          <a:solidFill>
            <a:srgbClr val="B0BEC5">
              <a:alpha val="1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2428875" y="4054793"/>
            <a:ext cx="2867233" cy="1143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BCD4"/>
              </a:gs>
              <a:gs pos="100000">
                <a:srgbClr val="B0BEC5"/>
              </a:gs>
            </a:gsLst>
            <a:lin ang="0" scaled="0"/>
          </a:gradFill>
          <a:ln/>
        </p:spPr>
      </p:sp>
      <p:sp>
        <p:nvSpPr>
          <p:cNvPr id="64" name="Text 62"/>
          <p:cNvSpPr/>
          <p:nvPr/>
        </p:nvSpPr>
        <p:spPr>
          <a:xfrm>
            <a:off x="7756327" y="4006215"/>
            <a:ext cx="1106138" cy="108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5" spc="13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</a:t>
            </a:r>
            <a:pPr algn="l" indent="0" marL="0">
              <a:buNone/>
            </a:pPr>
            <a:r>
              <a:rPr lang="en-US" sz="585" spc="135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pPr algn="l" indent="0" marL="0">
              <a:buNone/>
            </a:pPr>
            <a:r>
              <a:rPr lang="en-US" sz="585" spc="13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现代软件范式</a:t>
            </a:r>
            <a:endParaRPr lang="en-US" sz="58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BCD4">
              <a:alpha val="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4989195"/>
            <a:ext cx="417195" cy="742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b="1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▌</a:t>
            </a:r>
            <a:pPr algn="l" indent="0" marL="0">
              <a:buNone/>
            </a:pPr>
            <a:r>
              <a:rPr lang="en-US" sz="450" spc="45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03</a:t>
            </a:r>
            <a:endParaRPr lang="en-US" sz="450" dirty="0"/>
          </a:p>
        </p:txBody>
      </p:sp>
      <p:sp>
        <p:nvSpPr>
          <p:cNvPr id="4" name="Shape 2"/>
          <p:cNvSpPr/>
          <p:nvPr/>
        </p:nvSpPr>
        <p:spPr>
          <a:xfrm>
            <a:off x="0" y="1285875"/>
            <a:ext cx="91440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0" y="2828925"/>
            <a:ext cx="91440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" name="Shape 4"/>
          <p:cNvSpPr/>
          <p:nvPr/>
        </p:nvSpPr>
        <p:spPr>
          <a:xfrm>
            <a:off x="0" y="4114800"/>
            <a:ext cx="91440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" name="Shape 5"/>
          <p:cNvSpPr/>
          <p:nvPr/>
        </p:nvSpPr>
        <p:spPr>
          <a:xfrm>
            <a:off x="342900" y="297180"/>
            <a:ext cx="68580" cy="6858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7180"/>
            <a:ext cx="68580" cy="68580"/>
          </a:xfrm>
          <a:prstGeom prst="ellipse">
            <a:avLst/>
          </a:prstGeom>
          <a:solidFill>
            <a:srgbClr val="FFB74D"/>
          </a:solidFill>
          <a:ln/>
        </p:spPr>
      </p:sp>
      <p:sp>
        <p:nvSpPr>
          <p:cNvPr id="9" name="Shape 7"/>
          <p:cNvSpPr/>
          <p:nvPr/>
        </p:nvSpPr>
        <p:spPr>
          <a:xfrm>
            <a:off x="571500" y="297180"/>
            <a:ext cx="68580" cy="6858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0" name="Text 8"/>
          <p:cNvSpPr/>
          <p:nvPr/>
        </p:nvSpPr>
        <p:spPr>
          <a:xfrm>
            <a:off x="754380" y="285750"/>
            <a:ext cx="72009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3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~/hackers-ethic</a:t>
            </a:r>
            <a:endParaRPr lang="en-US" sz="540" dirty="0"/>
          </a:p>
        </p:txBody>
      </p:sp>
      <p:sp>
        <p:nvSpPr>
          <p:cNvPr id="11" name="Text 9"/>
          <p:cNvSpPr/>
          <p:nvPr/>
        </p:nvSpPr>
        <p:spPr>
          <a:xfrm>
            <a:off x="1420178" y="285750"/>
            <a:ext cx="116586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3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</a:t>
            </a:r>
            <a:endParaRPr lang="en-US" sz="540" dirty="0"/>
          </a:p>
        </p:txBody>
      </p:sp>
      <p:sp>
        <p:nvSpPr>
          <p:cNvPr id="12" name="Text 10"/>
          <p:cNvSpPr/>
          <p:nvPr/>
        </p:nvSpPr>
        <p:spPr>
          <a:xfrm>
            <a:off x="1485900" y="285750"/>
            <a:ext cx="115214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3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open_source_community.md</a:t>
            </a:r>
            <a:endParaRPr lang="en-US" sz="540" dirty="0"/>
          </a:p>
        </p:txBody>
      </p:sp>
      <p:sp>
        <p:nvSpPr>
          <p:cNvPr id="13" name="Text 11"/>
          <p:cNvSpPr/>
          <p:nvPr/>
        </p:nvSpPr>
        <p:spPr>
          <a:xfrm>
            <a:off x="342900" y="480060"/>
            <a:ext cx="9473184" cy="97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5" spc="45" kern="0" dirty="0">
                <a:solidFill>
                  <a:srgbClr val="66BB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pPr algn="l" indent="0" marL="0">
              <a:buNone/>
            </a:pPr>
            <a:r>
              <a:rPr lang="en-US" sz="585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checkout main &amp;&amp; echo "OPEN SOURCE COMMUNITY"</a:t>
            </a:r>
            <a:endParaRPr lang="en-US" sz="585" dirty="0"/>
          </a:p>
        </p:txBody>
      </p:sp>
      <p:sp>
        <p:nvSpPr>
          <p:cNvPr id="14" name="Text 12"/>
          <p:cNvSpPr/>
          <p:nvPr/>
        </p:nvSpPr>
        <p:spPr>
          <a:xfrm>
            <a:off x="365760" y="634365"/>
            <a:ext cx="9447581" cy="326827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00BCD4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340" b="1" spc="18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开源</a:t>
            </a:r>
            <a:pPr algn="l" indent="0" marL="0">
              <a:lnSpc>
                <a:spcPct val="110000"/>
              </a:lnSpc>
              <a:buNone/>
            </a:pPr>
            <a:r>
              <a:rPr lang="en-US" sz="2340" b="1" spc="180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社区</a:t>
            </a:r>
            <a:pPr algn="l" indent="0" marL="0">
              <a:lnSpc>
                <a:spcPct val="110000"/>
              </a:lnSpc>
              <a:buNone/>
            </a:pPr>
            <a:r>
              <a:rPr lang="en-US" sz="2340" b="1" spc="18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应用</a:t>
            </a:r>
            <a:endParaRPr lang="en-US" sz="2340" dirty="0"/>
          </a:p>
        </p:txBody>
      </p:sp>
      <p:sp>
        <p:nvSpPr>
          <p:cNvPr id="15" name="Shape 13"/>
          <p:cNvSpPr/>
          <p:nvPr/>
        </p:nvSpPr>
        <p:spPr>
          <a:xfrm>
            <a:off x="2320290" y="674370"/>
            <a:ext cx="160020" cy="274320"/>
          </a:xfrm>
          <a:prstGeom prst="rect">
            <a:avLst/>
          </a:prstGeom>
          <a:solidFill>
            <a:srgbClr val="00BCD4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1041202"/>
            <a:ext cx="8833104" cy="145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75" spc="14" kern="0" dirty="0">
                <a:solidFill>
                  <a:srgbClr val="7890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开源社区将黑客伦理转化为具体制度：</a:t>
            </a:r>
            <a:pPr algn="l" indent="0" marL="0">
              <a:lnSpc>
                <a:spcPct val="170000"/>
              </a:lnSpc>
              <a:buNone/>
            </a:pPr>
            <a:r>
              <a:rPr lang="en-US" sz="675" spc="14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开放治理</a:t>
            </a:r>
            <a:pPr algn="l" indent="0" marL="0">
              <a:lnSpc>
                <a:spcPct val="170000"/>
              </a:lnSpc>
              <a:buNone/>
            </a:pPr>
            <a:r>
              <a:rPr lang="en-US" sz="675" spc="14" kern="0" dirty="0">
                <a:solidFill>
                  <a:srgbClr val="7890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l" indent="0" marL="0">
              <a:lnSpc>
                <a:spcPct val="170000"/>
              </a:lnSpc>
              <a:buNone/>
            </a:pPr>
            <a:r>
              <a:rPr lang="en-US" sz="675" spc="14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代码审查</a:t>
            </a:r>
            <a:pPr algn="l" indent="0" marL="0">
              <a:lnSpc>
                <a:spcPct val="170000"/>
              </a:lnSpc>
              <a:buNone/>
            </a:pPr>
            <a:r>
              <a:rPr lang="en-US" sz="675" spc="14" kern="0" dirty="0">
                <a:solidFill>
                  <a:srgbClr val="7890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l" indent="0" marL="0">
              <a:lnSpc>
                <a:spcPct val="170000"/>
              </a:lnSpc>
              <a:buNone/>
            </a:pPr>
            <a:r>
              <a:rPr lang="en-US" sz="675" spc="14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行为准则</a:t>
            </a:r>
            <a:pPr algn="l" indent="0" marL="0">
              <a:lnSpc>
                <a:spcPct val="170000"/>
              </a:lnSpc>
              <a:buNone/>
            </a:pPr>
            <a:r>
              <a:rPr lang="en-US" sz="675" spc="14" kern="0" dirty="0">
                <a:solidFill>
                  <a:srgbClr val="7890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等，确保协作可持续。</a:t>
            </a:r>
            <a:endParaRPr lang="en-US" sz="675" dirty="0"/>
          </a:p>
        </p:txBody>
      </p:sp>
      <p:sp>
        <p:nvSpPr>
          <p:cNvPr id="17" name="Shape 15"/>
          <p:cNvSpPr/>
          <p:nvPr/>
        </p:nvSpPr>
        <p:spPr>
          <a:xfrm>
            <a:off x="342900" y="1406962"/>
            <a:ext cx="2735520" cy="5715"/>
          </a:xfrm>
          <a:prstGeom prst="rect">
            <a:avLst/>
          </a:prstGeom>
          <a:solidFill>
            <a:srgbClr val="3A3A4F"/>
          </a:solidFill>
          <a:ln/>
        </p:spPr>
      </p:sp>
      <p:sp>
        <p:nvSpPr>
          <p:cNvPr id="18" name="Shape 16"/>
          <p:cNvSpPr/>
          <p:nvPr/>
        </p:nvSpPr>
        <p:spPr>
          <a:xfrm>
            <a:off x="3124140" y="1392674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4150" y="1406962"/>
            <a:ext cx="273561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0" name="Shape 18"/>
          <p:cNvSpPr/>
          <p:nvPr/>
        </p:nvSpPr>
        <p:spPr>
          <a:xfrm>
            <a:off x="5985480" y="1392674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65490" y="1406962"/>
            <a:ext cx="2735610" cy="5715"/>
          </a:xfrm>
          <a:prstGeom prst="rect">
            <a:avLst/>
          </a:prstGeom>
          <a:solidFill>
            <a:srgbClr val="3A3A4F"/>
          </a:solidFill>
          <a:ln/>
        </p:spPr>
      </p:sp>
      <p:sp>
        <p:nvSpPr>
          <p:cNvPr id="22" name="Shape 20"/>
          <p:cNvSpPr/>
          <p:nvPr/>
        </p:nvSpPr>
        <p:spPr>
          <a:xfrm>
            <a:off x="342900" y="1564124"/>
            <a:ext cx="2743200" cy="1492508"/>
          </a:xfrm>
          <a:prstGeom prst="rect">
            <a:avLst/>
          </a:prstGeom>
          <a:solidFill>
            <a:srgbClr val="252536"/>
          </a:solidFill>
          <a:ln w="17145">
            <a:solidFill>
              <a:srgbClr val="00BC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34665" y="1672709"/>
            <a:ext cx="11430" cy="1275338"/>
          </a:xfrm>
          <a:prstGeom prst="roundRect">
            <a:avLst>
              <a:gd name="adj" fmla="val 50000"/>
            </a:avLst>
          </a:prstGeom>
          <a:solidFill>
            <a:srgbClr val="00BCD4">
              <a:alpha val="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34665" y="1672709"/>
            <a:ext cx="11430" cy="382548"/>
          </a:xfrm>
          <a:prstGeom prst="roundRect">
            <a:avLst>
              <a:gd name="adj" fmla="val 50000"/>
            </a:avLst>
          </a:prstGeom>
          <a:solidFill>
            <a:srgbClr val="00BCD4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85775" y="1840676"/>
            <a:ext cx="109453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DATA.01 — KERNEL</a:t>
            </a:r>
            <a:endParaRPr lang="en-US" sz="495" dirty="0"/>
          </a:p>
        </p:txBody>
      </p:sp>
      <p:sp>
        <p:nvSpPr>
          <p:cNvPr id="26" name="Shape 24"/>
          <p:cNvSpPr/>
          <p:nvPr/>
        </p:nvSpPr>
        <p:spPr>
          <a:xfrm>
            <a:off x="2691765" y="1826389"/>
            <a:ext cx="262890" cy="108585"/>
          </a:xfrm>
          <a:prstGeom prst="roundRect">
            <a:avLst>
              <a:gd name="adj" fmla="val 10526"/>
            </a:avLst>
          </a:prstGeom>
          <a:noFill/>
          <a:ln w="5715">
            <a:solidFill>
              <a:srgbClr val="0083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91765" y="1826389"/>
            <a:ext cx="320040" cy="108585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</a:t>
            </a:r>
            <a:endParaRPr lang="en-US" sz="450" dirty="0"/>
          </a:p>
        </p:txBody>
      </p:sp>
      <p:sp>
        <p:nvSpPr>
          <p:cNvPr id="28" name="Text 26"/>
          <p:cNvSpPr/>
          <p:nvPr/>
        </p:nvSpPr>
        <p:spPr>
          <a:xfrm>
            <a:off x="485775" y="2003554"/>
            <a:ext cx="2765146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spc="45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Linux 贡献者规模</a:t>
            </a:r>
            <a:endParaRPr lang="en-US" sz="765" dirty="0"/>
          </a:p>
        </p:txBody>
      </p:sp>
      <p:sp>
        <p:nvSpPr>
          <p:cNvPr id="29" name="Text 27"/>
          <p:cNvSpPr/>
          <p:nvPr/>
        </p:nvSpPr>
        <p:spPr>
          <a:xfrm>
            <a:off x="485775" y="2203579"/>
            <a:ext cx="2765146" cy="228600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00BCD4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~2000</a:t>
            </a:r>
            <a:pPr algn="l" indent="0" marL="0">
              <a:lnSpc>
                <a:spcPct val="100000"/>
              </a:lnSpc>
              <a:buNone/>
            </a:pPr>
            <a:r>
              <a:rPr lang="en-US" sz="720" b="1" spc="45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版本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85775" y="2489329"/>
            <a:ext cx="2765146" cy="219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// 内核开发每次大版本发布均有约 2000 名开发者参与提交，体现了开放协作模式的极致规模化。</a:t>
            </a:r>
            <a:endParaRPr lang="en-US" sz="540" dirty="0"/>
          </a:p>
        </p:txBody>
      </p:sp>
      <p:sp>
        <p:nvSpPr>
          <p:cNvPr id="31" name="Shape 29"/>
          <p:cNvSpPr/>
          <p:nvPr/>
        </p:nvSpPr>
        <p:spPr>
          <a:xfrm>
            <a:off x="485775" y="2777222"/>
            <a:ext cx="2468880" cy="17145"/>
          </a:xfrm>
          <a:prstGeom prst="rect">
            <a:avLst/>
          </a:prstGeom>
          <a:solidFill>
            <a:srgbClr val="00BCD4">
              <a:alpha val="1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85775" y="2777222"/>
            <a:ext cx="2098479" cy="1714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3" name="Shape 31"/>
          <p:cNvSpPr/>
          <p:nvPr/>
        </p:nvSpPr>
        <p:spPr>
          <a:xfrm>
            <a:off x="342900" y="3148072"/>
            <a:ext cx="2743200" cy="1492508"/>
          </a:xfrm>
          <a:prstGeom prst="rect">
            <a:avLst/>
          </a:prstGeom>
          <a:solidFill>
            <a:srgbClr val="252536"/>
          </a:solidFill>
          <a:ln w="17145">
            <a:solidFill>
              <a:srgbClr val="00BC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34665" y="3256657"/>
            <a:ext cx="11430" cy="1275338"/>
          </a:xfrm>
          <a:prstGeom prst="roundRect">
            <a:avLst>
              <a:gd name="adj" fmla="val 50000"/>
            </a:avLst>
          </a:prstGeom>
          <a:solidFill>
            <a:srgbClr val="00BCD4">
              <a:alpha val="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034665" y="3256657"/>
            <a:ext cx="11430" cy="382548"/>
          </a:xfrm>
          <a:prstGeom prst="roundRect">
            <a:avLst>
              <a:gd name="adj" fmla="val 50000"/>
            </a:avLst>
          </a:prstGeom>
          <a:solidFill>
            <a:srgbClr val="00BCD4">
              <a:alpha val="4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85775" y="3424624"/>
            <a:ext cx="109453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DATA.02 — APACHE</a:t>
            </a:r>
            <a:endParaRPr lang="en-US" sz="495" dirty="0"/>
          </a:p>
        </p:txBody>
      </p:sp>
      <p:sp>
        <p:nvSpPr>
          <p:cNvPr id="37" name="Shape 35"/>
          <p:cNvSpPr/>
          <p:nvPr/>
        </p:nvSpPr>
        <p:spPr>
          <a:xfrm>
            <a:off x="2571750" y="3410337"/>
            <a:ext cx="382905" cy="108585"/>
          </a:xfrm>
          <a:prstGeom prst="roundRect">
            <a:avLst>
              <a:gd name="adj" fmla="val 10526"/>
            </a:avLst>
          </a:prstGeom>
          <a:noFill/>
          <a:ln w="5715">
            <a:solidFill>
              <a:srgbClr val="0083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71750" y="3410337"/>
            <a:ext cx="440055" cy="108585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INDEXED</a:t>
            </a:r>
            <a:endParaRPr lang="en-US" sz="450" dirty="0"/>
          </a:p>
        </p:txBody>
      </p:sp>
      <p:sp>
        <p:nvSpPr>
          <p:cNvPr id="39" name="Text 37"/>
          <p:cNvSpPr/>
          <p:nvPr/>
        </p:nvSpPr>
        <p:spPr>
          <a:xfrm>
            <a:off x="485775" y="3587502"/>
            <a:ext cx="2765146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spc="45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Apache 顶级项目数</a:t>
            </a:r>
            <a:endParaRPr lang="en-US" sz="765" dirty="0"/>
          </a:p>
        </p:txBody>
      </p:sp>
      <p:sp>
        <p:nvSpPr>
          <p:cNvPr id="40" name="Text 38"/>
          <p:cNvSpPr/>
          <p:nvPr/>
        </p:nvSpPr>
        <p:spPr>
          <a:xfrm>
            <a:off x="485775" y="3787527"/>
            <a:ext cx="2765146" cy="228600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00BCD4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300+</a:t>
            </a:r>
            <a:pPr algn="l" indent="0" marL="0">
              <a:lnSpc>
                <a:spcPct val="100000"/>
              </a:lnSpc>
              <a:buNone/>
            </a:pPr>
            <a:r>
              <a:rPr lang="en-US" sz="720" b="1" spc="45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个项目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485775" y="4073277"/>
            <a:ext cx="2765146" cy="219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// Apache 软件基金会托管超过 300 个顶级开源项目，是社区自治与透明治理的典范。</a:t>
            </a:r>
            <a:endParaRPr lang="en-US" sz="540" dirty="0"/>
          </a:p>
        </p:txBody>
      </p:sp>
      <p:sp>
        <p:nvSpPr>
          <p:cNvPr id="42" name="Shape 40"/>
          <p:cNvSpPr/>
          <p:nvPr/>
        </p:nvSpPr>
        <p:spPr>
          <a:xfrm>
            <a:off x="485775" y="4361170"/>
            <a:ext cx="2468880" cy="17145"/>
          </a:xfrm>
          <a:prstGeom prst="rect">
            <a:avLst/>
          </a:prstGeom>
          <a:solidFill>
            <a:srgbClr val="00BCD4">
              <a:alpha val="1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85775" y="4361170"/>
            <a:ext cx="1728165" cy="1714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4" name="Shape 42"/>
          <p:cNvSpPr/>
          <p:nvPr/>
        </p:nvSpPr>
        <p:spPr>
          <a:xfrm>
            <a:off x="3223260" y="1564124"/>
            <a:ext cx="5577840" cy="160020"/>
          </a:xfrm>
          <a:prstGeom prst="rect">
            <a:avLst/>
          </a:prstGeom>
          <a:noFill/>
          <a:ln/>
        </p:spPr>
      </p:sp>
      <p:sp>
        <p:nvSpPr>
          <p:cNvPr id="45" name="Shape 43"/>
          <p:cNvSpPr/>
          <p:nvPr/>
        </p:nvSpPr>
        <p:spPr>
          <a:xfrm>
            <a:off x="3223260" y="1724144"/>
            <a:ext cx="5577840" cy="0"/>
          </a:xfrm>
          <a:prstGeom prst="line">
            <a:avLst/>
          </a:prstGeom>
          <a:noFill/>
          <a:ln w="5715">
            <a:solidFill>
              <a:srgbClr val="3A3A4F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3223260" y="1564124"/>
            <a:ext cx="2176272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COMMUNITY PRACTICES — 社区实践案例</a:t>
            </a:r>
            <a:endParaRPr lang="en-US" sz="585" dirty="0"/>
          </a:p>
        </p:txBody>
      </p:sp>
      <p:sp>
        <p:nvSpPr>
          <p:cNvPr id="47" name="Text 45"/>
          <p:cNvSpPr/>
          <p:nvPr/>
        </p:nvSpPr>
        <p:spPr>
          <a:xfrm>
            <a:off x="7932420" y="1578412"/>
            <a:ext cx="972922" cy="80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total:</a:t>
            </a:r>
            <a:pPr algn="l" indent="0" marL="0">
              <a:buNone/>
            </a:pPr>
            <a:r>
              <a:rPr lang="en-US" sz="495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pPr algn="l" indent="0" marL="0">
              <a:buNone/>
            </a:pPr>
            <a:r>
              <a:rPr lang="en-US" sz="495" spc="45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entries</a:t>
            </a:r>
            <a:endParaRPr lang="en-US" sz="495" dirty="0"/>
          </a:p>
        </p:txBody>
      </p:sp>
      <p:sp>
        <p:nvSpPr>
          <p:cNvPr id="48" name="Shape 46"/>
          <p:cNvSpPr/>
          <p:nvPr/>
        </p:nvSpPr>
        <p:spPr>
          <a:xfrm>
            <a:off x="3223260" y="1804154"/>
            <a:ext cx="5577840" cy="674816"/>
          </a:xfrm>
          <a:prstGeom prst="rect">
            <a:avLst/>
          </a:prstGeom>
          <a:solidFill>
            <a:srgbClr val="252536"/>
          </a:solidFill>
          <a:ln w="5715">
            <a:solidFill>
              <a:srgbClr val="3A3A4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31845" y="1889879"/>
            <a:ext cx="445770" cy="148590"/>
          </a:xfrm>
          <a:prstGeom prst="rect">
            <a:avLst/>
          </a:prstGeom>
          <a:solidFill>
            <a:srgbClr val="00BCD4">
              <a:alpha val="8000"/>
            </a:srgbClr>
          </a:solidFill>
          <a:ln w="5715">
            <a:solidFill>
              <a:srgbClr val="00838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31845" y="1889879"/>
            <a:ext cx="514350" cy="148590"/>
          </a:xfrm>
          <a:prstGeom prst="rect">
            <a:avLst/>
          </a:prstGeom>
          <a:noFill/>
          <a:ln/>
        </p:spPr>
        <p:txBody>
          <a:bodyPr wrap="none" lIns="22860" tIns="45720" rIns="45720" bIns="22860" rtlCol="0" anchor="ctr"/>
          <a:lstStyle/>
          <a:p>
            <a:pPr algn="l" indent="0" marL="0">
              <a:buNone/>
            </a:pPr>
            <a:r>
              <a:rPr lang="en-US" sz="540" spc="23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&gt;_ linux</a:t>
            </a:r>
            <a:endParaRPr lang="en-US" sz="540" dirty="0"/>
          </a:p>
        </p:txBody>
      </p:sp>
      <p:sp>
        <p:nvSpPr>
          <p:cNvPr id="51" name="Text 49"/>
          <p:cNvSpPr/>
          <p:nvPr/>
        </p:nvSpPr>
        <p:spPr>
          <a:xfrm>
            <a:off x="3857625" y="1878449"/>
            <a:ext cx="611505" cy="125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45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Linux 内核</a:t>
            </a:r>
            <a:endParaRPr lang="en-US" sz="675" dirty="0"/>
          </a:p>
        </p:txBody>
      </p:sp>
      <p:sp>
        <p:nvSpPr>
          <p:cNvPr id="52" name="Shape 50"/>
          <p:cNvSpPr/>
          <p:nvPr/>
        </p:nvSpPr>
        <p:spPr>
          <a:xfrm>
            <a:off x="4429125" y="1895594"/>
            <a:ext cx="217170" cy="91440"/>
          </a:xfrm>
          <a:prstGeom prst="roundRect">
            <a:avLst>
              <a:gd name="adj" fmla="val 12500"/>
            </a:avLst>
          </a:prstGeom>
          <a:noFill/>
          <a:ln w="5715">
            <a:solidFill>
              <a:srgbClr val="FFB74D">
                <a:alpha val="3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29125" y="1895594"/>
            <a:ext cx="268605" cy="91440"/>
          </a:xfrm>
          <a:prstGeom prst="rect">
            <a:avLst/>
          </a:prstGeom>
          <a:noFill/>
          <a:ln/>
        </p:spPr>
        <p:txBody>
          <a:bodyPr wrap="none" lIns="5715" tIns="34290" rIns="34290" bIns="5715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FFB7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</a:t>
            </a:r>
            <a:endParaRPr lang="en-US" sz="405" dirty="0"/>
          </a:p>
        </p:txBody>
      </p:sp>
      <p:sp>
        <p:nvSpPr>
          <p:cNvPr id="54" name="Text 52"/>
          <p:cNvSpPr/>
          <p:nvPr/>
        </p:nvSpPr>
        <p:spPr>
          <a:xfrm>
            <a:off x="3857625" y="2027039"/>
            <a:ext cx="5146243" cy="11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spc="9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采用</a:t>
            </a:r>
            <a:pPr algn="l" indent="0" marL="0">
              <a:lnSpc>
                <a:spcPct val="155000"/>
              </a:lnSpc>
              <a:buNone/>
            </a:pPr>
            <a:r>
              <a:rPr lang="en-US" sz="563" spc="9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开放协作模式</a:t>
            </a:r>
            <a:pPr algn="l" indent="0" marL="0">
              <a:lnSpc>
                <a:spcPct val="155000"/>
              </a:lnSpc>
              <a:buNone/>
            </a:pPr>
            <a:r>
              <a:rPr lang="en-US" sz="563" spc="9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，全球数千开发者参与内核开发、驱动维护与安全补丁编写。</a:t>
            </a:r>
            <a:endParaRPr lang="en-US" sz="563" dirty="0"/>
          </a:p>
        </p:txBody>
      </p:sp>
      <p:sp>
        <p:nvSpPr>
          <p:cNvPr id="55" name="Text 53"/>
          <p:cNvSpPr/>
          <p:nvPr/>
        </p:nvSpPr>
        <p:spPr>
          <a:xfrm>
            <a:off x="8532495" y="1901309"/>
            <a:ext cx="23888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[01]</a:t>
            </a:r>
            <a:endParaRPr lang="en-US" sz="495" dirty="0"/>
          </a:p>
        </p:txBody>
      </p:sp>
      <p:sp>
        <p:nvSpPr>
          <p:cNvPr id="56" name="Shape 54"/>
          <p:cNvSpPr/>
          <p:nvPr/>
        </p:nvSpPr>
        <p:spPr>
          <a:xfrm>
            <a:off x="3223260" y="2524691"/>
            <a:ext cx="5577840" cy="674816"/>
          </a:xfrm>
          <a:prstGeom prst="rect">
            <a:avLst/>
          </a:prstGeom>
          <a:solidFill>
            <a:srgbClr val="252536"/>
          </a:solidFill>
          <a:ln w="5715">
            <a:solidFill>
              <a:srgbClr val="3A3A4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331845" y="2610416"/>
            <a:ext cx="488633" cy="148590"/>
          </a:xfrm>
          <a:prstGeom prst="rect">
            <a:avLst/>
          </a:prstGeom>
          <a:solidFill>
            <a:srgbClr val="00BCD4">
              <a:alpha val="8000"/>
            </a:srgbClr>
          </a:solidFill>
          <a:ln w="5715">
            <a:solidFill>
              <a:srgbClr val="00838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31845" y="2610416"/>
            <a:ext cx="557213" cy="148590"/>
          </a:xfrm>
          <a:prstGeom prst="rect">
            <a:avLst/>
          </a:prstGeom>
          <a:noFill/>
          <a:ln/>
        </p:spPr>
        <p:txBody>
          <a:bodyPr wrap="none" lIns="22860" tIns="45720" rIns="45720" bIns="22860" rtlCol="0" anchor="ctr"/>
          <a:lstStyle/>
          <a:p>
            <a:pPr algn="l" indent="0" marL="0">
              <a:buNone/>
            </a:pPr>
            <a:r>
              <a:rPr lang="en-US" sz="540" spc="23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&gt;_ apache</a:t>
            </a:r>
            <a:endParaRPr lang="en-US" sz="540" dirty="0"/>
          </a:p>
        </p:txBody>
      </p:sp>
      <p:sp>
        <p:nvSpPr>
          <p:cNvPr id="59" name="Text 57"/>
          <p:cNvSpPr/>
          <p:nvPr/>
        </p:nvSpPr>
        <p:spPr>
          <a:xfrm>
            <a:off x="3900488" y="2598986"/>
            <a:ext cx="760095" cy="125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45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Apache 基金会</a:t>
            </a:r>
            <a:endParaRPr lang="en-US" sz="675" dirty="0"/>
          </a:p>
        </p:txBody>
      </p:sp>
      <p:sp>
        <p:nvSpPr>
          <p:cNvPr id="60" name="Shape 58"/>
          <p:cNvSpPr/>
          <p:nvPr/>
        </p:nvSpPr>
        <p:spPr>
          <a:xfrm>
            <a:off x="4620578" y="2616131"/>
            <a:ext cx="285750" cy="91440"/>
          </a:xfrm>
          <a:prstGeom prst="roundRect">
            <a:avLst>
              <a:gd name="adj" fmla="val 12500"/>
            </a:avLst>
          </a:prstGeom>
          <a:noFill/>
          <a:ln w="5715">
            <a:solidFill>
              <a:srgbClr val="FFB74D">
                <a:alpha val="3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20578" y="2616131"/>
            <a:ext cx="337185" cy="91440"/>
          </a:xfrm>
          <a:prstGeom prst="rect">
            <a:avLst/>
          </a:prstGeom>
          <a:noFill/>
          <a:ln/>
        </p:spPr>
        <p:txBody>
          <a:bodyPr wrap="none" lIns="5715" tIns="34290" rIns="34290" bIns="5715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FFB7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GOVERN</a:t>
            </a:r>
            <a:endParaRPr lang="en-US" sz="405" dirty="0"/>
          </a:p>
        </p:txBody>
      </p:sp>
      <p:sp>
        <p:nvSpPr>
          <p:cNvPr id="62" name="Text 60"/>
          <p:cNvSpPr/>
          <p:nvPr/>
        </p:nvSpPr>
        <p:spPr>
          <a:xfrm>
            <a:off x="3900488" y="2747576"/>
            <a:ext cx="5098237" cy="11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spc="9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强调</a:t>
            </a:r>
            <a:pPr algn="l" indent="0" marL="0">
              <a:lnSpc>
                <a:spcPct val="155000"/>
              </a:lnSpc>
              <a:buNone/>
            </a:pPr>
            <a:r>
              <a:rPr lang="en-US" sz="563" spc="9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社区治理</a:t>
            </a:r>
            <a:pPr algn="l" indent="0" marL="0">
              <a:lnSpc>
                <a:spcPct val="155000"/>
              </a:lnSpc>
              <a:buNone/>
            </a:pPr>
            <a:r>
              <a:rPr lang="en-US" sz="563" spc="9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、共识决策与透明流程，以"meritocracy"机制驱动项目长期演进。</a:t>
            </a:r>
            <a:endParaRPr lang="en-US" sz="563" dirty="0"/>
          </a:p>
        </p:txBody>
      </p:sp>
      <p:sp>
        <p:nvSpPr>
          <p:cNvPr id="63" name="Text 61"/>
          <p:cNvSpPr/>
          <p:nvPr/>
        </p:nvSpPr>
        <p:spPr>
          <a:xfrm>
            <a:off x="8532495" y="2621846"/>
            <a:ext cx="23888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[02]</a:t>
            </a:r>
            <a:endParaRPr lang="en-US" sz="495" dirty="0"/>
          </a:p>
        </p:txBody>
      </p:sp>
      <p:sp>
        <p:nvSpPr>
          <p:cNvPr id="64" name="Shape 62"/>
          <p:cNvSpPr/>
          <p:nvPr/>
        </p:nvSpPr>
        <p:spPr>
          <a:xfrm>
            <a:off x="3223260" y="3245227"/>
            <a:ext cx="5577840" cy="674816"/>
          </a:xfrm>
          <a:prstGeom prst="rect">
            <a:avLst/>
          </a:prstGeom>
          <a:solidFill>
            <a:srgbClr val="252536"/>
          </a:solidFill>
          <a:ln w="5715">
            <a:solidFill>
              <a:srgbClr val="3A3A4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331845" y="3330952"/>
            <a:ext cx="360045" cy="148590"/>
          </a:xfrm>
          <a:prstGeom prst="rect">
            <a:avLst/>
          </a:prstGeom>
          <a:solidFill>
            <a:srgbClr val="00BCD4">
              <a:alpha val="8000"/>
            </a:srgbClr>
          </a:solidFill>
          <a:ln w="5715">
            <a:solidFill>
              <a:srgbClr val="00838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331845" y="3330952"/>
            <a:ext cx="428625" cy="148590"/>
          </a:xfrm>
          <a:prstGeom prst="rect">
            <a:avLst/>
          </a:prstGeom>
          <a:noFill/>
          <a:ln/>
        </p:spPr>
        <p:txBody>
          <a:bodyPr wrap="none" lIns="22860" tIns="45720" rIns="45720" bIns="22860" rtlCol="0" anchor="ctr"/>
          <a:lstStyle/>
          <a:p>
            <a:pPr algn="l" indent="0" marL="0">
              <a:buNone/>
            </a:pPr>
            <a:r>
              <a:rPr lang="en-US" sz="540" spc="23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&gt;_ git</a:t>
            </a:r>
            <a:endParaRPr lang="en-US" sz="540" dirty="0"/>
          </a:p>
        </p:txBody>
      </p:sp>
      <p:sp>
        <p:nvSpPr>
          <p:cNvPr id="67" name="Text 65"/>
          <p:cNvSpPr/>
          <p:nvPr/>
        </p:nvSpPr>
        <p:spPr>
          <a:xfrm>
            <a:off x="3771900" y="3319522"/>
            <a:ext cx="497205" cy="125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45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协作</a:t>
            </a:r>
            <a:endParaRPr lang="en-US" sz="675" dirty="0"/>
          </a:p>
        </p:txBody>
      </p:sp>
      <p:sp>
        <p:nvSpPr>
          <p:cNvPr id="68" name="Shape 66"/>
          <p:cNvSpPr/>
          <p:nvPr/>
        </p:nvSpPr>
        <p:spPr>
          <a:xfrm>
            <a:off x="4229100" y="3336667"/>
            <a:ext cx="251460" cy="91440"/>
          </a:xfrm>
          <a:prstGeom prst="roundRect">
            <a:avLst>
              <a:gd name="adj" fmla="val 12500"/>
            </a:avLst>
          </a:prstGeom>
          <a:noFill/>
          <a:ln w="5715">
            <a:solidFill>
              <a:srgbClr val="FFB74D">
                <a:alpha val="3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29100" y="3336667"/>
            <a:ext cx="302895" cy="91440"/>
          </a:xfrm>
          <a:prstGeom prst="rect">
            <a:avLst/>
          </a:prstGeom>
          <a:noFill/>
          <a:ln/>
        </p:spPr>
        <p:txBody>
          <a:bodyPr wrap="none" lIns="5715" tIns="34290" rIns="34290" bIns="5715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FFB7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DISTR</a:t>
            </a:r>
            <a:endParaRPr lang="en-US" sz="405" dirty="0"/>
          </a:p>
        </p:txBody>
      </p:sp>
      <p:sp>
        <p:nvSpPr>
          <p:cNvPr id="70" name="Text 68"/>
          <p:cNvSpPr/>
          <p:nvPr/>
        </p:nvSpPr>
        <p:spPr>
          <a:xfrm>
            <a:off x="3771900" y="3468112"/>
            <a:ext cx="5242255" cy="11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spc="9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分布式版本控制</a:t>
            </a:r>
            <a:pPr algn="l" indent="0" marL="0">
              <a:lnSpc>
                <a:spcPct val="155000"/>
              </a:lnSpc>
              <a:buNone/>
            </a:pPr>
            <a:r>
              <a:rPr lang="en-US" sz="563" spc="9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天然符合去中心化伦理，每个节点独立、平等且可追溯。</a:t>
            </a:r>
            <a:endParaRPr lang="en-US" sz="563" dirty="0"/>
          </a:p>
        </p:txBody>
      </p:sp>
      <p:sp>
        <p:nvSpPr>
          <p:cNvPr id="71" name="Text 69"/>
          <p:cNvSpPr/>
          <p:nvPr/>
        </p:nvSpPr>
        <p:spPr>
          <a:xfrm>
            <a:off x="8532495" y="3342382"/>
            <a:ext cx="23888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[03]</a:t>
            </a:r>
            <a:endParaRPr lang="en-US" sz="495" dirty="0"/>
          </a:p>
        </p:txBody>
      </p:sp>
      <p:sp>
        <p:nvSpPr>
          <p:cNvPr id="72" name="Shape 70"/>
          <p:cNvSpPr/>
          <p:nvPr/>
        </p:nvSpPr>
        <p:spPr>
          <a:xfrm>
            <a:off x="3223260" y="3965764"/>
            <a:ext cx="5577840" cy="674816"/>
          </a:xfrm>
          <a:prstGeom prst="rect">
            <a:avLst/>
          </a:prstGeom>
          <a:solidFill>
            <a:srgbClr val="252536"/>
          </a:solidFill>
          <a:ln w="5715">
            <a:solidFill>
              <a:srgbClr val="3A3A4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331845" y="4051489"/>
            <a:ext cx="360045" cy="148590"/>
          </a:xfrm>
          <a:prstGeom prst="rect">
            <a:avLst/>
          </a:prstGeom>
          <a:solidFill>
            <a:srgbClr val="00BCD4">
              <a:alpha val="8000"/>
            </a:srgbClr>
          </a:solidFill>
          <a:ln w="5715">
            <a:solidFill>
              <a:srgbClr val="00838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331845" y="4051489"/>
            <a:ext cx="428625" cy="148590"/>
          </a:xfrm>
          <a:prstGeom prst="rect">
            <a:avLst/>
          </a:prstGeom>
          <a:noFill/>
          <a:ln/>
        </p:spPr>
        <p:txBody>
          <a:bodyPr wrap="none" lIns="22860" tIns="45720" rIns="45720" bIns="22860" rtlCol="0" anchor="ctr"/>
          <a:lstStyle/>
          <a:p>
            <a:pPr algn="l" indent="0" marL="0">
              <a:buNone/>
            </a:pPr>
            <a:r>
              <a:rPr lang="en-US" sz="540" spc="23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&gt;_ coc</a:t>
            </a:r>
            <a:endParaRPr lang="en-US" sz="540" dirty="0"/>
          </a:p>
        </p:txBody>
      </p:sp>
      <p:sp>
        <p:nvSpPr>
          <p:cNvPr id="75" name="Text 73"/>
          <p:cNvSpPr/>
          <p:nvPr/>
        </p:nvSpPr>
        <p:spPr>
          <a:xfrm>
            <a:off x="3771900" y="4040059"/>
            <a:ext cx="451485" cy="125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45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行为准则</a:t>
            </a:r>
            <a:endParaRPr lang="en-US" sz="675" dirty="0"/>
          </a:p>
        </p:txBody>
      </p:sp>
      <p:sp>
        <p:nvSpPr>
          <p:cNvPr id="76" name="Shape 74"/>
          <p:cNvSpPr/>
          <p:nvPr/>
        </p:nvSpPr>
        <p:spPr>
          <a:xfrm>
            <a:off x="4183380" y="4057204"/>
            <a:ext cx="217170" cy="91440"/>
          </a:xfrm>
          <a:prstGeom prst="roundRect">
            <a:avLst>
              <a:gd name="adj" fmla="val 12500"/>
            </a:avLst>
          </a:prstGeom>
          <a:noFill/>
          <a:ln w="5715">
            <a:solidFill>
              <a:srgbClr val="FFB74D">
                <a:alpha val="30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83380" y="4057204"/>
            <a:ext cx="268605" cy="91440"/>
          </a:xfrm>
          <a:prstGeom prst="rect">
            <a:avLst/>
          </a:prstGeom>
          <a:noFill/>
          <a:ln/>
        </p:spPr>
        <p:txBody>
          <a:bodyPr wrap="none" lIns="5715" tIns="34290" rIns="34290" bIns="5715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FFB7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</a:t>
            </a:r>
            <a:endParaRPr lang="en-US" sz="405" dirty="0"/>
          </a:p>
        </p:txBody>
      </p:sp>
      <p:sp>
        <p:nvSpPr>
          <p:cNvPr id="78" name="Text 76"/>
          <p:cNvSpPr/>
          <p:nvPr/>
        </p:nvSpPr>
        <p:spPr>
          <a:xfrm>
            <a:off x="3771900" y="4188649"/>
            <a:ext cx="5242255" cy="11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spc="9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许多项目引入</a:t>
            </a:r>
            <a:pPr algn="l" indent="0" marL="0">
              <a:lnSpc>
                <a:spcPct val="155000"/>
              </a:lnSpc>
              <a:buNone/>
            </a:pPr>
            <a:r>
              <a:rPr lang="en-US" sz="563" spc="9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贡献者公约</a:t>
            </a:r>
            <a:pPr algn="l" indent="0" marL="0">
              <a:lnSpc>
                <a:spcPct val="155000"/>
              </a:lnSpc>
              <a:buNone/>
            </a:pPr>
            <a:r>
              <a:rPr lang="en-US" sz="563" spc="9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（Contributor Covenant），维护友善、包容的协作环境。</a:t>
            </a:r>
            <a:endParaRPr lang="en-US" sz="563" dirty="0"/>
          </a:p>
        </p:txBody>
      </p:sp>
      <p:sp>
        <p:nvSpPr>
          <p:cNvPr id="79" name="Text 77"/>
          <p:cNvSpPr/>
          <p:nvPr/>
        </p:nvSpPr>
        <p:spPr>
          <a:xfrm>
            <a:off x="8532495" y="4062919"/>
            <a:ext cx="23888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[04]</a:t>
            </a:r>
            <a:endParaRPr lang="en-US" sz="495" dirty="0"/>
          </a:p>
        </p:txBody>
      </p:sp>
      <p:sp>
        <p:nvSpPr>
          <p:cNvPr id="80" name="Text 78"/>
          <p:cNvSpPr/>
          <p:nvPr/>
        </p:nvSpPr>
        <p:spPr>
          <a:xfrm>
            <a:off x="342900" y="4766310"/>
            <a:ext cx="1766621" cy="80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66BB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pPr algn="l" indent="0" marL="0">
              <a:buNone/>
            </a:pPr>
            <a:r>
              <a:rPr lang="en-US" sz="495" spc="45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echo "hacker_ethic &gt; institution"</a:t>
            </a:r>
            <a:endParaRPr lang="en-US" sz="495" dirty="0"/>
          </a:p>
        </p:txBody>
      </p:sp>
      <p:sp>
        <p:nvSpPr>
          <p:cNvPr id="81" name="Text 79"/>
          <p:cNvSpPr/>
          <p:nvPr/>
        </p:nvSpPr>
        <p:spPr>
          <a:xfrm>
            <a:off x="4361706" y="4754880"/>
            <a:ext cx="468630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开放治理</a:t>
            </a:r>
            <a:endParaRPr lang="en-US" sz="540" dirty="0"/>
          </a:p>
        </p:txBody>
      </p:sp>
      <p:sp>
        <p:nvSpPr>
          <p:cNvPr id="82" name="Text 80"/>
          <p:cNvSpPr/>
          <p:nvPr/>
        </p:nvSpPr>
        <p:spPr>
          <a:xfrm>
            <a:off x="4841766" y="4754880"/>
            <a:ext cx="137160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90" kern="0" dirty="0">
                <a:solidFill>
                  <a:srgbClr val="3A3A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630" dirty="0"/>
          </a:p>
        </p:txBody>
      </p:sp>
      <p:sp>
        <p:nvSpPr>
          <p:cNvPr id="83" name="Text 81"/>
          <p:cNvSpPr/>
          <p:nvPr/>
        </p:nvSpPr>
        <p:spPr>
          <a:xfrm>
            <a:off x="4978926" y="4754880"/>
            <a:ext cx="468630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代码审查</a:t>
            </a:r>
            <a:endParaRPr lang="en-US" sz="540" dirty="0"/>
          </a:p>
        </p:txBody>
      </p:sp>
      <p:sp>
        <p:nvSpPr>
          <p:cNvPr id="84" name="Text 82"/>
          <p:cNvSpPr/>
          <p:nvPr/>
        </p:nvSpPr>
        <p:spPr>
          <a:xfrm>
            <a:off x="5458986" y="4754880"/>
            <a:ext cx="137160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90" kern="0" dirty="0">
                <a:solidFill>
                  <a:srgbClr val="3A3A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630" dirty="0"/>
          </a:p>
        </p:txBody>
      </p:sp>
      <p:sp>
        <p:nvSpPr>
          <p:cNvPr id="85" name="Text 83"/>
          <p:cNvSpPr/>
          <p:nvPr/>
        </p:nvSpPr>
        <p:spPr>
          <a:xfrm>
            <a:off x="5596146" y="4754880"/>
            <a:ext cx="468630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行为准则</a:t>
            </a:r>
            <a:endParaRPr lang="en-US" sz="540" dirty="0"/>
          </a:p>
        </p:txBody>
      </p:sp>
      <p:sp>
        <p:nvSpPr>
          <p:cNvPr id="86" name="Text 84"/>
          <p:cNvSpPr/>
          <p:nvPr/>
        </p:nvSpPr>
        <p:spPr>
          <a:xfrm>
            <a:off x="8437572" y="4766310"/>
            <a:ext cx="426393" cy="80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exit</a:t>
            </a:r>
            <a:pPr algn="l" indent="0" marL="0">
              <a:buNone/>
            </a:pPr>
            <a:r>
              <a:rPr lang="en-US" sz="495" spc="45" kern="0" dirty="0">
                <a:solidFill>
                  <a:srgbClr val="66BB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pPr algn="l" indent="0" marL="0">
              <a:buNone/>
            </a:pPr>
            <a:r>
              <a:rPr lang="en-US" sz="495" spc="45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495" dirty="0"/>
          </a:p>
        </p:txBody>
      </p:sp>
      <p:sp>
        <p:nvSpPr>
          <p:cNvPr id="87" name="Text 85"/>
          <p:cNvSpPr/>
          <p:nvPr/>
        </p:nvSpPr>
        <p:spPr>
          <a:xfrm>
            <a:off x="6657975" y="80010"/>
            <a:ext cx="474345" cy="742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CONNECTED</a:t>
            </a:r>
            <a:endParaRPr lang="en-US" sz="450" dirty="0"/>
          </a:p>
        </p:txBody>
      </p:sp>
      <p:sp>
        <p:nvSpPr>
          <p:cNvPr id="88" name="Shape 86"/>
          <p:cNvSpPr/>
          <p:nvPr/>
        </p:nvSpPr>
        <p:spPr>
          <a:xfrm>
            <a:off x="6657975" y="102870"/>
            <a:ext cx="34290" cy="34290"/>
          </a:xfrm>
          <a:prstGeom prst="ellipse">
            <a:avLst/>
          </a:prstGeom>
          <a:solidFill>
            <a:srgbClr val="66BB6A"/>
          </a:solidFill>
          <a:ln/>
          <a:effectLst>
            <a:outerShdw sx="100000" sy="100000" kx="0" ky="0" algn="bl" rotWithShape="0" blurRad="38100" dist="50800" dir="16200000">
              <a:srgbClr val="66BB6A">
                <a:alpha val="100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7166610" y="80010"/>
            <a:ext cx="9715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3A3A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</a:t>
            </a:r>
            <a:endParaRPr lang="en-US" sz="450" dirty="0"/>
          </a:p>
        </p:txBody>
      </p:sp>
      <p:sp>
        <p:nvSpPr>
          <p:cNvPr id="90" name="Text 88"/>
          <p:cNvSpPr/>
          <p:nvPr/>
        </p:nvSpPr>
        <p:spPr>
          <a:xfrm>
            <a:off x="7298055" y="80010"/>
            <a:ext cx="851306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REPO: oss-community</a:t>
            </a:r>
            <a:endParaRPr lang="en-US" sz="450" dirty="0"/>
          </a:p>
        </p:txBody>
      </p:sp>
      <p:sp>
        <p:nvSpPr>
          <p:cNvPr id="91" name="Text 89"/>
          <p:cNvSpPr/>
          <p:nvPr/>
        </p:nvSpPr>
        <p:spPr>
          <a:xfrm>
            <a:off x="8149590" y="80010"/>
            <a:ext cx="9715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3A3A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</a:t>
            </a:r>
            <a:endParaRPr lang="en-US" sz="450" dirty="0"/>
          </a:p>
        </p:txBody>
      </p:sp>
      <p:sp>
        <p:nvSpPr>
          <p:cNvPr id="92" name="Text 90"/>
          <p:cNvSpPr/>
          <p:nvPr/>
        </p:nvSpPr>
        <p:spPr>
          <a:xfrm>
            <a:off x="8281035" y="80010"/>
            <a:ext cx="582473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7890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BUILD: v2.4.1</a:t>
            </a:r>
            <a:endParaRPr lang="en-US" sz="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E1E2E"/>
              </a:gs>
              <a:gs pos="50000">
                <a:srgbClr val="14141F"/>
              </a:gs>
              <a:gs pos="100000">
                <a:srgbClr val="1E1E2E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3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342900" y="311468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68630" y="285750"/>
            <a:ext cx="896112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90" kern="0" dirty="0">
                <a:solidFill>
                  <a:srgbClr val="7E8C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CASE_STUDY.log</a:t>
            </a:r>
            <a:endParaRPr lang="en-US" sz="585" dirty="0"/>
          </a:p>
        </p:txBody>
      </p:sp>
      <p:sp>
        <p:nvSpPr>
          <p:cNvPr id="6" name="Text 4"/>
          <p:cNvSpPr/>
          <p:nvPr/>
        </p:nvSpPr>
        <p:spPr>
          <a:xfrm>
            <a:off x="1348740" y="285750"/>
            <a:ext cx="18859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90" kern="0" dirty="0">
                <a:solidFill>
                  <a:srgbClr val="7E8C96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</a:t>
            </a:r>
            <a:endParaRPr lang="en-US" sz="585" dirty="0"/>
          </a:p>
        </p:txBody>
      </p:sp>
      <p:sp>
        <p:nvSpPr>
          <p:cNvPr id="7" name="Text 5"/>
          <p:cNvSpPr/>
          <p:nvPr/>
        </p:nvSpPr>
        <p:spPr>
          <a:xfrm>
            <a:off x="1543050" y="285750"/>
            <a:ext cx="83210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hacker_ethics</a:t>
            </a:r>
            <a:endParaRPr lang="en-US" sz="585" dirty="0"/>
          </a:p>
        </p:txBody>
      </p:sp>
      <p:sp>
        <p:nvSpPr>
          <p:cNvPr id="8" name="Text 6"/>
          <p:cNvSpPr/>
          <p:nvPr/>
        </p:nvSpPr>
        <p:spPr>
          <a:xfrm>
            <a:off x="2366010" y="285750"/>
            <a:ext cx="18859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90" kern="0" dirty="0">
                <a:solidFill>
                  <a:srgbClr val="7E8C96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</a:t>
            </a:r>
            <a:endParaRPr lang="en-US" sz="585" dirty="0"/>
          </a:p>
        </p:txBody>
      </p:sp>
      <p:sp>
        <p:nvSpPr>
          <p:cNvPr id="9" name="Text 7"/>
          <p:cNvSpPr/>
          <p:nvPr/>
        </p:nvSpPr>
        <p:spPr>
          <a:xfrm>
            <a:off x="2560320" y="285750"/>
            <a:ext cx="140817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90" kern="0" dirty="0">
                <a:solidFill>
                  <a:srgbClr val="7E8C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global_sharing_culture</a:t>
            </a:r>
            <a:endParaRPr lang="en-US" sz="585" dirty="0"/>
          </a:p>
        </p:txBody>
      </p:sp>
      <p:sp>
        <p:nvSpPr>
          <p:cNvPr id="10" name="Text 8"/>
          <p:cNvSpPr/>
          <p:nvPr/>
        </p:nvSpPr>
        <p:spPr>
          <a:xfrm>
            <a:off x="342900" y="451485"/>
            <a:ext cx="5555894" cy="3239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30" b="1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05000"/>
              </a:lnSpc>
              <a:buNone/>
            </a:pPr>
            <a:r>
              <a:rPr lang="en-US" sz="2430" b="1" spc="90" kern="0" dirty="0">
                <a:solidFill>
                  <a:srgbClr val="E0E6E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经典案例</a:t>
            </a:r>
            <a:endParaRPr lang="en-US" sz="2430" dirty="0"/>
          </a:p>
        </p:txBody>
      </p:sp>
      <p:sp>
        <p:nvSpPr>
          <p:cNvPr id="11" name="Shape 9"/>
          <p:cNvSpPr/>
          <p:nvPr/>
        </p:nvSpPr>
        <p:spPr>
          <a:xfrm>
            <a:off x="2045970" y="502920"/>
            <a:ext cx="80010" cy="251460"/>
          </a:xfrm>
          <a:prstGeom prst="rect">
            <a:avLst/>
          </a:prstGeom>
          <a:solidFill>
            <a:srgbClr val="00BCD4">
              <a:alpha val="50000"/>
            </a:srgbClr>
          </a:solidFill>
          <a:ln/>
          <a:effectLst>
            <a:outerShdw sx="100000" sy="100000" kx="0" ky="0" algn="bl" rotWithShape="0" blurRad="114300" dist="50800" dir="16200000">
              <a:srgbClr val="00BCD4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2900" y="832604"/>
            <a:ext cx="5555894" cy="145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75" spc="23" kern="0" dirty="0">
                <a:solidFill>
                  <a:srgbClr val="7E8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经典案例展示了黑客伦理如何从</a:t>
            </a:r>
            <a:pPr algn="l" indent="0" marL="0">
              <a:lnSpc>
                <a:spcPct val="170000"/>
              </a:lnSpc>
              <a:buNone/>
            </a:pPr>
            <a:r>
              <a:rPr lang="en-US" sz="675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软件</a:t>
            </a:r>
            <a:pPr algn="l" indent="0" marL="0">
              <a:lnSpc>
                <a:spcPct val="170000"/>
              </a:lnSpc>
              <a:buNone/>
            </a:pPr>
            <a:r>
              <a:rPr lang="en-US" sz="675" spc="23" kern="0" dirty="0">
                <a:solidFill>
                  <a:srgbClr val="7E8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扩展到</a:t>
            </a:r>
            <a:pPr algn="l" indent="0" marL="0">
              <a:lnSpc>
                <a:spcPct val="170000"/>
              </a:lnSpc>
              <a:buNone/>
            </a:pPr>
            <a:r>
              <a:rPr lang="en-US" sz="675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内容</a:t>
            </a:r>
            <a:pPr algn="l" indent="0" marL="0">
              <a:lnSpc>
                <a:spcPct val="170000"/>
              </a:lnSpc>
              <a:buNone/>
            </a:pPr>
            <a:r>
              <a:rPr lang="en-US" sz="675" spc="23" kern="0" dirty="0">
                <a:solidFill>
                  <a:srgbClr val="7E8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l" indent="0" marL="0">
              <a:lnSpc>
                <a:spcPct val="170000"/>
              </a:lnSpc>
              <a:buNone/>
            </a:pPr>
            <a:r>
              <a:rPr lang="en-US" sz="675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硬件</a:t>
            </a:r>
            <a:pPr algn="l" indent="0" marL="0">
              <a:lnSpc>
                <a:spcPct val="170000"/>
              </a:lnSpc>
              <a:buNone/>
            </a:pPr>
            <a:r>
              <a:rPr lang="en-US" sz="675" spc="23" kern="0" dirty="0">
                <a:solidFill>
                  <a:srgbClr val="7E8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等领域，跨越地域与行业边界，最终形成一场席卷全球的</a:t>
            </a:r>
            <a:pPr algn="l" indent="0" marL="0">
              <a:lnSpc>
                <a:spcPct val="170000"/>
              </a:lnSpc>
              <a:buNone/>
            </a:pPr>
            <a:r>
              <a:rPr lang="en-US" sz="675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共享文化运动</a:t>
            </a:r>
            <a:pPr algn="l" indent="0" marL="0">
              <a:lnSpc>
                <a:spcPct val="170000"/>
              </a:lnSpc>
              <a:buNone/>
            </a:pPr>
            <a:r>
              <a:rPr lang="en-US" sz="675" spc="23" kern="0" dirty="0">
                <a:solidFill>
                  <a:srgbClr val="7E8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8441055" y="669727"/>
            <a:ext cx="542925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40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8441055" y="852607"/>
            <a:ext cx="42862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40" spc="90" kern="0" dirty="0">
                <a:solidFill>
                  <a:srgbClr val="7E8C96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PAGES</a:t>
            </a:r>
            <a:endParaRPr lang="en-US" sz="540" dirty="0"/>
          </a:p>
        </p:txBody>
      </p:sp>
      <p:sp>
        <p:nvSpPr>
          <p:cNvPr id="15" name="Shape 13"/>
          <p:cNvSpPr/>
          <p:nvPr/>
        </p:nvSpPr>
        <p:spPr>
          <a:xfrm>
            <a:off x="342900" y="1115497"/>
            <a:ext cx="2037398" cy="3165038"/>
          </a:xfrm>
          <a:prstGeom prst="roundRect">
            <a:avLst>
              <a:gd name="adj" fmla="val 1683"/>
            </a:avLst>
          </a:prstGeom>
          <a:solidFill>
            <a:srgbClr val="252537"/>
          </a:solidFill>
          <a:ln w="5715">
            <a:solidFill>
              <a:srgbClr val="B0BEC5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" y="1115497"/>
            <a:ext cx="2025968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7" name="Shape 15"/>
          <p:cNvSpPr/>
          <p:nvPr/>
        </p:nvSpPr>
        <p:spPr>
          <a:xfrm>
            <a:off x="2288858" y="1161217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88833" y="949762"/>
            <a:ext cx="457200" cy="457200"/>
          </a:xfrm>
          <a:prstGeom prst="ellipse">
            <a:avLst/>
          </a:prstGeom>
          <a:gradFill rotWithShape="1">
            <a:gsLst>
              <a:gs pos="0">
                <a:srgbClr val="00BCD4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9" name="Text 17"/>
          <p:cNvSpPr/>
          <p:nvPr/>
        </p:nvSpPr>
        <p:spPr>
          <a:xfrm>
            <a:off x="451485" y="1246942"/>
            <a:ext cx="203865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7E8C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CASE_01</a:t>
            </a:r>
            <a:endParaRPr lang="en-US" sz="495" dirty="0"/>
          </a:p>
        </p:txBody>
      </p:sp>
      <p:sp>
        <p:nvSpPr>
          <p:cNvPr id="20" name="Shape 18"/>
          <p:cNvSpPr/>
          <p:nvPr/>
        </p:nvSpPr>
        <p:spPr>
          <a:xfrm>
            <a:off x="451485" y="1384102"/>
            <a:ext cx="308610" cy="308610"/>
          </a:xfrm>
          <a:prstGeom prst="roundRect">
            <a:avLst>
              <a:gd name="adj" fmla="val 14815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5780" y="1458397"/>
            <a:ext cx="160020" cy="1600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51485" y="1749862"/>
            <a:ext cx="2038655" cy="742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SOFTWARE · KERNEL</a:t>
            </a:r>
            <a:endParaRPr lang="en-US" sz="450" dirty="0"/>
          </a:p>
        </p:txBody>
      </p:sp>
      <p:sp>
        <p:nvSpPr>
          <p:cNvPr id="23" name="Shape 20"/>
          <p:cNvSpPr/>
          <p:nvPr/>
        </p:nvSpPr>
        <p:spPr>
          <a:xfrm>
            <a:off x="451485" y="1775579"/>
            <a:ext cx="22860" cy="2286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4" name="Text 21"/>
          <p:cNvSpPr/>
          <p:nvPr/>
        </p:nvSpPr>
        <p:spPr>
          <a:xfrm>
            <a:off x="451485" y="1881307"/>
            <a:ext cx="2038655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45" kern="0" dirty="0">
                <a:solidFill>
                  <a:srgbClr val="E0E6E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Linux 诞生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1485" y="2081332"/>
            <a:ext cx="2038655" cy="1896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spc="14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Linus Torvalds 于 1991 年发布 Linux，以开放协作的开发模式成为开源运动的典范与基石。</a:t>
            </a:r>
            <a:endParaRPr lang="en-US" sz="585" dirty="0"/>
          </a:p>
        </p:txBody>
      </p:sp>
      <p:sp>
        <p:nvSpPr>
          <p:cNvPr id="26" name="Shape 23"/>
          <p:cNvSpPr/>
          <p:nvPr/>
        </p:nvSpPr>
        <p:spPr>
          <a:xfrm>
            <a:off x="451485" y="4034790"/>
            <a:ext cx="1820228" cy="137160"/>
          </a:xfrm>
          <a:prstGeom prst="rect">
            <a:avLst/>
          </a:prstGeom>
          <a:noFill/>
          <a:ln/>
        </p:spPr>
      </p:sp>
      <p:sp>
        <p:nvSpPr>
          <p:cNvPr id="27" name="Shape 24"/>
          <p:cNvSpPr/>
          <p:nvPr/>
        </p:nvSpPr>
        <p:spPr>
          <a:xfrm>
            <a:off x="451485" y="4034790"/>
            <a:ext cx="1820228" cy="0"/>
          </a:xfrm>
          <a:prstGeom prst="line">
            <a:avLst/>
          </a:prstGeom>
          <a:noFill/>
          <a:ln w="5715">
            <a:solidFill>
              <a:srgbClr val="B0BEC5">
                <a:alpha val="15000"/>
              </a:srgbClr>
            </a:solidFill>
            <a:prstDash val="dash"/>
          </a:ln>
        </p:spPr>
      </p:sp>
      <p:sp>
        <p:nvSpPr>
          <p:cNvPr id="28" name="Text 25"/>
          <p:cNvSpPr/>
          <p:nvPr/>
        </p:nvSpPr>
        <p:spPr>
          <a:xfrm>
            <a:off x="451485" y="4097655"/>
            <a:ext cx="576072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7E8C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SOURCE_FORGE</a:t>
            </a:r>
            <a:endParaRPr lang="en-US" sz="450" dirty="0"/>
          </a:p>
        </p:txBody>
      </p:sp>
      <p:sp>
        <p:nvSpPr>
          <p:cNvPr id="29" name="Text 26"/>
          <p:cNvSpPr/>
          <p:nvPr/>
        </p:nvSpPr>
        <p:spPr>
          <a:xfrm>
            <a:off x="2100263" y="4097655"/>
            <a:ext cx="22860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1991</a:t>
            </a:r>
            <a:endParaRPr lang="en-US" sz="450" dirty="0"/>
          </a:p>
        </p:txBody>
      </p:sp>
      <p:sp>
        <p:nvSpPr>
          <p:cNvPr id="30" name="Shape 27"/>
          <p:cNvSpPr/>
          <p:nvPr/>
        </p:nvSpPr>
        <p:spPr>
          <a:xfrm>
            <a:off x="2483168" y="1115497"/>
            <a:ext cx="2037398" cy="3165038"/>
          </a:xfrm>
          <a:prstGeom prst="roundRect">
            <a:avLst>
              <a:gd name="adj" fmla="val 1683"/>
            </a:avLst>
          </a:prstGeom>
          <a:solidFill>
            <a:srgbClr val="252537"/>
          </a:solidFill>
          <a:ln w="5715">
            <a:solidFill>
              <a:srgbClr val="B0BEC5">
                <a:alpha val="18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483168" y="1115497"/>
            <a:ext cx="2025968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2" name="Shape 29"/>
          <p:cNvSpPr/>
          <p:nvPr/>
        </p:nvSpPr>
        <p:spPr>
          <a:xfrm>
            <a:off x="4429125" y="1161217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3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229100" y="949762"/>
            <a:ext cx="457200" cy="457200"/>
          </a:xfrm>
          <a:prstGeom prst="ellipse">
            <a:avLst/>
          </a:prstGeom>
          <a:gradFill rotWithShape="1">
            <a:gsLst>
              <a:gs pos="0">
                <a:srgbClr val="00BCD4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4" name="Text 31"/>
          <p:cNvSpPr/>
          <p:nvPr/>
        </p:nvSpPr>
        <p:spPr>
          <a:xfrm>
            <a:off x="2591753" y="1246942"/>
            <a:ext cx="203865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7E8C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CASE_02</a:t>
            </a:r>
            <a:endParaRPr lang="en-US" sz="495" dirty="0"/>
          </a:p>
        </p:txBody>
      </p:sp>
      <p:sp>
        <p:nvSpPr>
          <p:cNvPr id="35" name="Shape 32"/>
          <p:cNvSpPr/>
          <p:nvPr/>
        </p:nvSpPr>
        <p:spPr>
          <a:xfrm>
            <a:off x="2591753" y="1384102"/>
            <a:ext cx="308610" cy="308610"/>
          </a:xfrm>
          <a:prstGeom prst="roundRect">
            <a:avLst>
              <a:gd name="adj" fmla="val 14815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66048" y="1458397"/>
            <a:ext cx="160020" cy="16002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2591753" y="1749862"/>
            <a:ext cx="2038655" cy="742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 · WIKI</a:t>
            </a:r>
            <a:endParaRPr lang="en-US" sz="450" dirty="0"/>
          </a:p>
        </p:txBody>
      </p:sp>
      <p:sp>
        <p:nvSpPr>
          <p:cNvPr id="38" name="Shape 34"/>
          <p:cNvSpPr/>
          <p:nvPr/>
        </p:nvSpPr>
        <p:spPr>
          <a:xfrm>
            <a:off x="2591753" y="1775579"/>
            <a:ext cx="22860" cy="2286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9" name="Text 35"/>
          <p:cNvSpPr/>
          <p:nvPr/>
        </p:nvSpPr>
        <p:spPr>
          <a:xfrm>
            <a:off x="2591753" y="1881307"/>
            <a:ext cx="2038655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45" kern="0" dirty="0">
                <a:solidFill>
                  <a:srgbClr val="E0E6E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维基百科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2591753" y="2081332"/>
            <a:ext cx="2038655" cy="1896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spc="14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内容开放共享、人人可编辑的百科全书，将信息自由原则推向极致，重塑知识获取方式。</a:t>
            </a:r>
            <a:endParaRPr lang="en-US" sz="585" dirty="0"/>
          </a:p>
        </p:txBody>
      </p:sp>
      <p:sp>
        <p:nvSpPr>
          <p:cNvPr id="41" name="Shape 37"/>
          <p:cNvSpPr/>
          <p:nvPr/>
        </p:nvSpPr>
        <p:spPr>
          <a:xfrm>
            <a:off x="2591753" y="4034790"/>
            <a:ext cx="1820228" cy="137160"/>
          </a:xfrm>
          <a:prstGeom prst="rect">
            <a:avLst/>
          </a:prstGeom>
          <a:noFill/>
          <a:ln/>
        </p:spPr>
      </p:sp>
      <p:sp>
        <p:nvSpPr>
          <p:cNvPr id="42" name="Shape 38"/>
          <p:cNvSpPr/>
          <p:nvPr/>
        </p:nvSpPr>
        <p:spPr>
          <a:xfrm>
            <a:off x="2591753" y="4034790"/>
            <a:ext cx="1820228" cy="0"/>
          </a:xfrm>
          <a:prstGeom prst="line">
            <a:avLst/>
          </a:prstGeom>
          <a:noFill/>
          <a:ln w="5715">
            <a:solidFill>
              <a:srgbClr val="B0BEC5">
                <a:alpha val="15000"/>
              </a:srgbClr>
            </a:solidFill>
            <a:prstDash val="dash"/>
          </a:ln>
        </p:spPr>
      </p:sp>
      <p:sp>
        <p:nvSpPr>
          <p:cNvPr id="43" name="Text 39"/>
          <p:cNvSpPr/>
          <p:nvPr/>
        </p:nvSpPr>
        <p:spPr>
          <a:xfrm>
            <a:off x="2591753" y="4097655"/>
            <a:ext cx="672084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7E8C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OPEN_KNOWLEDGE</a:t>
            </a:r>
            <a:endParaRPr lang="en-US" sz="450" dirty="0"/>
          </a:p>
        </p:txBody>
      </p:sp>
      <p:sp>
        <p:nvSpPr>
          <p:cNvPr id="44" name="Text 40"/>
          <p:cNvSpPr/>
          <p:nvPr/>
        </p:nvSpPr>
        <p:spPr>
          <a:xfrm>
            <a:off x="4240530" y="4097655"/>
            <a:ext cx="22860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2001</a:t>
            </a:r>
            <a:endParaRPr lang="en-US" sz="450" dirty="0"/>
          </a:p>
        </p:txBody>
      </p:sp>
      <p:sp>
        <p:nvSpPr>
          <p:cNvPr id="45" name="Shape 41"/>
          <p:cNvSpPr/>
          <p:nvPr/>
        </p:nvSpPr>
        <p:spPr>
          <a:xfrm>
            <a:off x="4623435" y="1115497"/>
            <a:ext cx="2037398" cy="3165038"/>
          </a:xfrm>
          <a:prstGeom prst="roundRect">
            <a:avLst>
              <a:gd name="adj" fmla="val 1683"/>
            </a:avLst>
          </a:prstGeom>
          <a:solidFill>
            <a:srgbClr val="252537"/>
          </a:solidFill>
          <a:ln w="5715">
            <a:solidFill>
              <a:srgbClr val="B0BEC5">
                <a:alpha val="1800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4623435" y="1115497"/>
            <a:ext cx="2025968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7" name="Shape 43"/>
          <p:cNvSpPr/>
          <p:nvPr/>
        </p:nvSpPr>
        <p:spPr>
          <a:xfrm>
            <a:off x="6569393" y="1161217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35000"/>
              </a:srgbClr>
            </a:outerShdw>
          </a:effectLst>
        </p:spPr>
      </p:sp>
      <p:sp>
        <p:nvSpPr>
          <p:cNvPr id="48" name="Shape 44"/>
          <p:cNvSpPr/>
          <p:nvPr/>
        </p:nvSpPr>
        <p:spPr>
          <a:xfrm>
            <a:off x="6369368" y="949762"/>
            <a:ext cx="457200" cy="457200"/>
          </a:xfrm>
          <a:prstGeom prst="ellipse">
            <a:avLst/>
          </a:prstGeom>
          <a:gradFill rotWithShape="1">
            <a:gsLst>
              <a:gs pos="0">
                <a:srgbClr val="00BCD4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9" name="Text 45"/>
          <p:cNvSpPr/>
          <p:nvPr/>
        </p:nvSpPr>
        <p:spPr>
          <a:xfrm>
            <a:off x="4732020" y="1246942"/>
            <a:ext cx="203865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7E8C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CASE_03</a:t>
            </a:r>
            <a:endParaRPr lang="en-US" sz="495" dirty="0"/>
          </a:p>
        </p:txBody>
      </p:sp>
      <p:sp>
        <p:nvSpPr>
          <p:cNvPr id="50" name="Shape 46"/>
          <p:cNvSpPr/>
          <p:nvPr/>
        </p:nvSpPr>
        <p:spPr>
          <a:xfrm>
            <a:off x="4732020" y="1384102"/>
            <a:ext cx="308610" cy="308610"/>
          </a:xfrm>
          <a:prstGeom prst="roundRect">
            <a:avLst>
              <a:gd name="adj" fmla="val 14815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06315" y="1458397"/>
            <a:ext cx="160020" cy="160020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4732020" y="1749862"/>
            <a:ext cx="2038655" cy="742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MOBILE · AOSP</a:t>
            </a:r>
            <a:endParaRPr lang="en-US" sz="450" dirty="0"/>
          </a:p>
        </p:txBody>
      </p:sp>
      <p:sp>
        <p:nvSpPr>
          <p:cNvPr id="53" name="Shape 48"/>
          <p:cNvSpPr/>
          <p:nvPr/>
        </p:nvSpPr>
        <p:spPr>
          <a:xfrm>
            <a:off x="4732020" y="1775579"/>
            <a:ext cx="22860" cy="2286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4" name="Text 49"/>
          <p:cNvSpPr/>
          <p:nvPr/>
        </p:nvSpPr>
        <p:spPr>
          <a:xfrm>
            <a:off x="4732020" y="1881307"/>
            <a:ext cx="2038655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45" kern="0" dirty="0">
                <a:solidFill>
                  <a:srgbClr val="E0E6E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Android 开源</a:t>
            </a:r>
            <a:endParaRPr lang="en-US" sz="900" dirty="0"/>
          </a:p>
        </p:txBody>
      </p:sp>
      <p:sp>
        <p:nvSpPr>
          <p:cNvPr id="55" name="Text 50"/>
          <p:cNvSpPr/>
          <p:nvPr/>
        </p:nvSpPr>
        <p:spPr>
          <a:xfrm>
            <a:off x="4732020" y="2081332"/>
            <a:ext cx="2038655" cy="1896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spc="14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开源移动操作系统，构建起数十亿设备与全球开发者的庞大生态，让开源进入主流商业世界。</a:t>
            </a:r>
            <a:endParaRPr lang="en-US" sz="585" dirty="0"/>
          </a:p>
        </p:txBody>
      </p:sp>
      <p:sp>
        <p:nvSpPr>
          <p:cNvPr id="56" name="Shape 51"/>
          <p:cNvSpPr/>
          <p:nvPr/>
        </p:nvSpPr>
        <p:spPr>
          <a:xfrm>
            <a:off x="4732020" y="4034790"/>
            <a:ext cx="1820228" cy="137160"/>
          </a:xfrm>
          <a:prstGeom prst="rect">
            <a:avLst/>
          </a:prstGeom>
          <a:noFill/>
          <a:ln/>
        </p:spPr>
      </p:sp>
      <p:sp>
        <p:nvSpPr>
          <p:cNvPr id="57" name="Shape 52"/>
          <p:cNvSpPr/>
          <p:nvPr/>
        </p:nvSpPr>
        <p:spPr>
          <a:xfrm>
            <a:off x="4732020" y="4034790"/>
            <a:ext cx="1820228" cy="0"/>
          </a:xfrm>
          <a:prstGeom prst="line">
            <a:avLst/>
          </a:prstGeom>
          <a:noFill/>
          <a:ln w="5715">
            <a:solidFill>
              <a:srgbClr val="B0BEC5">
                <a:alpha val="15000"/>
              </a:srgbClr>
            </a:solidFill>
            <a:prstDash val="dash"/>
          </a:ln>
        </p:spPr>
      </p:sp>
      <p:sp>
        <p:nvSpPr>
          <p:cNvPr id="58" name="Text 53"/>
          <p:cNvSpPr/>
          <p:nvPr/>
        </p:nvSpPr>
        <p:spPr>
          <a:xfrm>
            <a:off x="4732020" y="4097655"/>
            <a:ext cx="624078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7E8C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GOOGLE · AOSP</a:t>
            </a:r>
            <a:endParaRPr lang="en-US" sz="450" dirty="0"/>
          </a:p>
        </p:txBody>
      </p:sp>
      <p:sp>
        <p:nvSpPr>
          <p:cNvPr id="59" name="Text 54"/>
          <p:cNvSpPr/>
          <p:nvPr/>
        </p:nvSpPr>
        <p:spPr>
          <a:xfrm>
            <a:off x="6380798" y="4097655"/>
            <a:ext cx="22860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2008</a:t>
            </a:r>
            <a:endParaRPr lang="en-US" sz="450" dirty="0"/>
          </a:p>
        </p:txBody>
      </p:sp>
      <p:sp>
        <p:nvSpPr>
          <p:cNvPr id="60" name="Shape 55"/>
          <p:cNvSpPr/>
          <p:nvPr/>
        </p:nvSpPr>
        <p:spPr>
          <a:xfrm>
            <a:off x="6763703" y="1115497"/>
            <a:ext cx="2037398" cy="3165038"/>
          </a:xfrm>
          <a:prstGeom prst="roundRect">
            <a:avLst>
              <a:gd name="adj" fmla="val 1683"/>
            </a:avLst>
          </a:prstGeom>
          <a:solidFill>
            <a:srgbClr val="252537"/>
          </a:solidFill>
          <a:ln w="5715">
            <a:solidFill>
              <a:srgbClr val="B0BEC5">
                <a:alpha val="18000"/>
              </a:srgbClr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6763703" y="1115497"/>
            <a:ext cx="2025968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2" name="Shape 57"/>
          <p:cNvSpPr/>
          <p:nvPr/>
        </p:nvSpPr>
        <p:spPr>
          <a:xfrm>
            <a:off x="8709660" y="1161217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35000"/>
              </a:srgbClr>
            </a:outerShdw>
          </a:effectLst>
        </p:spPr>
      </p:sp>
      <p:sp>
        <p:nvSpPr>
          <p:cNvPr id="63" name="Shape 58"/>
          <p:cNvSpPr/>
          <p:nvPr/>
        </p:nvSpPr>
        <p:spPr>
          <a:xfrm>
            <a:off x="8509635" y="949762"/>
            <a:ext cx="457200" cy="457200"/>
          </a:xfrm>
          <a:prstGeom prst="ellipse">
            <a:avLst/>
          </a:prstGeom>
          <a:gradFill rotWithShape="1">
            <a:gsLst>
              <a:gs pos="0">
                <a:srgbClr val="00BCD4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64" name="Text 59"/>
          <p:cNvSpPr/>
          <p:nvPr/>
        </p:nvSpPr>
        <p:spPr>
          <a:xfrm>
            <a:off x="6872288" y="1246942"/>
            <a:ext cx="203865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7E8C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CASE_04</a:t>
            </a:r>
            <a:endParaRPr lang="en-US" sz="495" dirty="0"/>
          </a:p>
        </p:txBody>
      </p:sp>
      <p:sp>
        <p:nvSpPr>
          <p:cNvPr id="65" name="Shape 60"/>
          <p:cNvSpPr/>
          <p:nvPr/>
        </p:nvSpPr>
        <p:spPr>
          <a:xfrm>
            <a:off x="6872288" y="1384102"/>
            <a:ext cx="308610" cy="308610"/>
          </a:xfrm>
          <a:prstGeom prst="roundRect">
            <a:avLst>
              <a:gd name="adj" fmla="val 14815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pic>
        <p:nvPicPr>
          <p:cNvPr id="6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46583" y="1458397"/>
            <a:ext cx="160020" cy="160020"/>
          </a:xfrm>
          <a:prstGeom prst="rect">
            <a:avLst/>
          </a:prstGeom>
        </p:spPr>
      </p:pic>
      <p:sp>
        <p:nvSpPr>
          <p:cNvPr id="67" name="Text 61"/>
          <p:cNvSpPr/>
          <p:nvPr/>
        </p:nvSpPr>
        <p:spPr>
          <a:xfrm>
            <a:off x="6872288" y="1749862"/>
            <a:ext cx="2038655" cy="742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HARDWARE · MCU</a:t>
            </a:r>
            <a:endParaRPr lang="en-US" sz="450" dirty="0"/>
          </a:p>
        </p:txBody>
      </p:sp>
      <p:sp>
        <p:nvSpPr>
          <p:cNvPr id="68" name="Shape 62"/>
          <p:cNvSpPr/>
          <p:nvPr/>
        </p:nvSpPr>
        <p:spPr>
          <a:xfrm>
            <a:off x="6872288" y="1775579"/>
            <a:ext cx="22860" cy="2286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9" name="Text 63"/>
          <p:cNvSpPr/>
          <p:nvPr/>
        </p:nvSpPr>
        <p:spPr>
          <a:xfrm>
            <a:off x="6872288" y="1881307"/>
            <a:ext cx="2038655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45" kern="0" dirty="0">
                <a:solidFill>
                  <a:srgbClr val="E0E6E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开源硬件</a:t>
            </a:r>
            <a:endParaRPr lang="en-US" sz="900" dirty="0"/>
          </a:p>
        </p:txBody>
      </p:sp>
      <p:sp>
        <p:nvSpPr>
          <p:cNvPr id="70" name="Text 64"/>
          <p:cNvSpPr/>
          <p:nvPr/>
        </p:nvSpPr>
        <p:spPr>
          <a:xfrm>
            <a:off x="6872288" y="2081332"/>
            <a:ext cx="2038655" cy="1896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spc="14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Arduino 等项目推动硬件设计共享，让电子工程门槛大幅降低，创意从代码延伸至物理世界。</a:t>
            </a:r>
            <a:endParaRPr lang="en-US" sz="585" dirty="0"/>
          </a:p>
        </p:txBody>
      </p:sp>
      <p:sp>
        <p:nvSpPr>
          <p:cNvPr id="71" name="Shape 65"/>
          <p:cNvSpPr/>
          <p:nvPr/>
        </p:nvSpPr>
        <p:spPr>
          <a:xfrm>
            <a:off x="6872288" y="4034790"/>
            <a:ext cx="1820228" cy="137160"/>
          </a:xfrm>
          <a:prstGeom prst="rect">
            <a:avLst/>
          </a:prstGeom>
          <a:noFill/>
          <a:ln/>
        </p:spPr>
      </p:sp>
      <p:sp>
        <p:nvSpPr>
          <p:cNvPr id="72" name="Shape 66"/>
          <p:cNvSpPr/>
          <p:nvPr/>
        </p:nvSpPr>
        <p:spPr>
          <a:xfrm>
            <a:off x="6872288" y="4034790"/>
            <a:ext cx="1820228" cy="0"/>
          </a:xfrm>
          <a:prstGeom prst="line">
            <a:avLst/>
          </a:prstGeom>
          <a:noFill/>
          <a:ln w="5715">
            <a:solidFill>
              <a:srgbClr val="B0BEC5">
                <a:alpha val="15000"/>
              </a:srgbClr>
            </a:solidFill>
            <a:prstDash val="dash"/>
          </a:ln>
        </p:spPr>
      </p:sp>
      <p:sp>
        <p:nvSpPr>
          <p:cNvPr id="73" name="Text 67"/>
          <p:cNvSpPr/>
          <p:nvPr/>
        </p:nvSpPr>
        <p:spPr>
          <a:xfrm>
            <a:off x="6872288" y="4097655"/>
            <a:ext cx="912114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7E8C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ARDUINO / RASPBERRY</a:t>
            </a:r>
            <a:endParaRPr lang="en-US" sz="450" dirty="0"/>
          </a:p>
        </p:txBody>
      </p:sp>
      <p:sp>
        <p:nvSpPr>
          <p:cNvPr id="74" name="Text 68"/>
          <p:cNvSpPr/>
          <p:nvPr/>
        </p:nvSpPr>
        <p:spPr>
          <a:xfrm>
            <a:off x="8521065" y="4097655"/>
            <a:ext cx="22860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2005</a:t>
            </a:r>
            <a:endParaRPr lang="en-US" sz="450" dirty="0"/>
          </a:p>
        </p:txBody>
      </p:sp>
      <p:sp>
        <p:nvSpPr>
          <p:cNvPr id="75" name="Shape 69"/>
          <p:cNvSpPr/>
          <p:nvPr/>
        </p:nvSpPr>
        <p:spPr>
          <a:xfrm>
            <a:off x="342900" y="4394835"/>
            <a:ext cx="8458200" cy="542925"/>
          </a:xfrm>
          <a:prstGeom prst="roundRect">
            <a:avLst>
              <a:gd name="adj" fmla="val 6316"/>
            </a:avLst>
          </a:prstGeom>
          <a:solidFill>
            <a:srgbClr val="14141F"/>
          </a:solidFill>
          <a:ln w="5715">
            <a:solidFill>
              <a:srgbClr val="B0BEC5">
                <a:alpha val="18000"/>
              </a:srgbClr>
            </a:solidFill>
            <a:prstDash val="solid"/>
          </a:ln>
        </p:spPr>
      </p:sp>
      <p:sp>
        <p:nvSpPr>
          <p:cNvPr id="76" name="Shape 70"/>
          <p:cNvSpPr/>
          <p:nvPr/>
        </p:nvSpPr>
        <p:spPr>
          <a:xfrm>
            <a:off x="342900" y="4394835"/>
            <a:ext cx="17145" cy="531495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35000"/>
              </a:srgbClr>
            </a:outerShdw>
          </a:effectLst>
        </p:spPr>
      </p:sp>
      <p:sp>
        <p:nvSpPr>
          <p:cNvPr id="77" name="Text 71"/>
          <p:cNvSpPr/>
          <p:nvPr/>
        </p:nvSpPr>
        <p:spPr>
          <a:xfrm>
            <a:off x="520065" y="4626293"/>
            <a:ext cx="70408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7E8C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KEY_DATA</a:t>
            </a:r>
            <a:endParaRPr lang="en-US" sz="495" dirty="0"/>
          </a:p>
        </p:txBody>
      </p:sp>
      <p:sp>
        <p:nvSpPr>
          <p:cNvPr id="78" name="Shape 72"/>
          <p:cNvSpPr/>
          <p:nvPr/>
        </p:nvSpPr>
        <p:spPr>
          <a:xfrm>
            <a:off x="1320165" y="4546283"/>
            <a:ext cx="5715" cy="240030"/>
          </a:xfrm>
          <a:prstGeom prst="rect">
            <a:avLst/>
          </a:prstGeom>
          <a:solidFill>
            <a:srgbClr val="B0BEC5">
              <a:alpha val="20000"/>
            </a:srgbClr>
          </a:solidFill>
          <a:ln/>
        </p:spPr>
      </p:sp>
      <p:sp>
        <p:nvSpPr>
          <p:cNvPr id="79" name="Text 73"/>
          <p:cNvSpPr/>
          <p:nvPr/>
        </p:nvSpPr>
        <p:spPr>
          <a:xfrm>
            <a:off x="1497330" y="4503420"/>
            <a:ext cx="955548" cy="25146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00BCD4">
                <a:alpha val="3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80" b="1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0.01</a:t>
            </a:r>
            <a:endParaRPr lang="en-US" sz="1980" dirty="0"/>
          </a:p>
        </p:txBody>
      </p:sp>
      <p:sp>
        <p:nvSpPr>
          <p:cNvPr id="80" name="Text 74"/>
          <p:cNvSpPr/>
          <p:nvPr/>
        </p:nvSpPr>
        <p:spPr>
          <a:xfrm>
            <a:off x="2194560" y="4640580"/>
            <a:ext cx="67208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E0E6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初版版本号</a:t>
            </a:r>
            <a:endParaRPr lang="en-US" sz="540" dirty="0"/>
          </a:p>
        </p:txBody>
      </p:sp>
      <p:sp>
        <p:nvSpPr>
          <p:cNvPr id="81" name="Text 75"/>
          <p:cNvSpPr/>
          <p:nvPr/>
        </p:nvSpPr>
        <p:spPr>
          <a:xfrm>
            <a:off x="2194560" y="4754880"/>
            <a:ext cx="672084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7E8C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RELEASE · 1991</a:t>
            </a:r>
            <a:endParaRPr lang="en-US" sz="450" dirty="0"/>
          </a:p>
        </p:txBody>
      </p:sp>
      <p:sp>
        <p:nvSpPr>
          <p:cNvPr id="82" name="Shape 76"/>
          <p:cNvSpPr/>
          <p:nvPr/>
        </p:nvSpPr>
        <p:spPr>
          <a:xfrm>
            <a:off x="3811905" y="4546283"/>
            <a:ext cx="5715" cy="240030"/>
          </a:xfrm>
          <a:prstGeom prst="rect">
            <a:avLst/>
          </a:prstGeom>
          <a:solidFill>
            <a:srgbClr val="B0BEC5">
              <a:alpha val="20000"/>
            </a:srgbClr>
          </a:solidFill>
          <a:ln/>
        </p:spPr>
      </p:sp>
      <p:sp>
        <p:nvSpPr>
          <p:cNvPr id="83" name="Text 77"/>
          <p:cNvSpPr/>
          <p:nvPr/>
        </p:nvSpPr>
        <p:spPr>
          <a:xfrm>
            <a:off x="3989070" y="4503420"/>
            <a:ext cx="1062990" cy="25146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00BCD4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80" b="1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5500</a:t>
            </a:r>
            <a:pPr algn="l" indent="0" marL="0">
              <a:lnSpc>
                <a:spcPct val="100000"/>
              </a:lnSpc>
              <a:buNone/>
            </a:pPr>
            <a:r>
              <a:rPr lang="en-US" sz="900" b="1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万+</a:t>
            </a:r>
            <a:endParaRPr lang="en-US" sz="1980" dirty="0"/>
          </a:p>
        </p:txBody>
      </p:sp>
      <p:sp>
        <p:nvSpPr>
          <p:cNvPr id="84" name="Text 78"/>
          <p:cNvSpPr/>
          <p:nvPr/>
        </p:nvSpPr>
        <p:spPr>
          <a:xfrm>
            <a:off x="4880610" y="4640580"/>
            <a:ext cx="67208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E0E6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维基词条数量</a:t>
            </a:r>
            <a:endParaRPr lang="en-US" sz="540" dirty="0"/>
          </a:p>
        </p:txBody>
      </p:sp>
      <p:sp>
        <p:nvSpPr>
          <p:cNvPr id="85" name="Text 79"/>
          <p:cNvSpPr/>
          <p:nvPr/>
        </p:nvSpPr>
        <p:spPr>
          <a:xfrm>
            <a:off x="4880610" y="4754880"/>
            <a:ext cx="672084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7E8C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ENTRIES · 2021</a:t>
            </a:r>
            <a:endParaRPr lang="en-US" sz="450" dirty="0"/>
          </a:p>
        </p:txBody>
      </p:sp>
      <p:sp>
        <p:nvSpPr>
          <p:cNvPr id="86" name="Shape 80"/>
          <p:cNvSpPr/>
          <p:nvPr/>
        </p:nvSpPr>
        <p:spPr>
          <a:xfrm>
            <a:off x="6303645" y="4546283"/>
            <a:ext cx="5715" cy="240030"/>
          </a:xfrm>
          <a:prstGeom prst="rect">
            <a:avLst/>
          </a:prstGeom>
          <a:solidFill>
            <a:srgbClr val="B0BEC5">
              <a:alpha val="20000"/>
            </a:srgbClr>
          </a:solidFill>
          <a:ln/>
        </p:spPr>
      </p:sp>
      <p:sp>
        <p:nvSpPr>
          <p:cNvPr id="87" name="Text 81"/>
          <p:cNvSpPr/>
          <p:nvPr/>
        </p:nvSpPr>
        <p:spPr>
          <a:xfrm>
            <a:off x="6480810" y="4574858"/>
            <a:ext cx="1248156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7E8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 0.01 到 5500 万</a:t>
            </a:r>
            <a:endParaRPr lang="en-US" sz="495" dirty="0"/>
          </a:p>
        </p:txBody>
      </p:sp>
      <p:sp>
        <p:nvSpPr>
          <p:cNvPr id="88" name="Text 82"/>
          <p:cNvSpPr/>
          <p:nvPr/>
        </p:nvSpPr>
        <p:spPr>
          <a:xfrm>
            <a:off x="6480810" y="4683443"/>
            <a:ext cx="1248156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7E8C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THIRTY YEARS · OPEN &amp; FREE</a:t>
            </a:r>
            <a:endParaRPr lang="en-US" sz="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2314575"/>
            <a:ext cx="10058400" cy="5657850"/>
          </a:xfrm>
          <a:prstGeom prst="ellipse">
            <a:avLst/>
          </a:prstGeom>
          <a:gradFill rotWithShape="1">
            <a:gsLst>
              <a:gs pos="0">
                <a:srgbClr val="00BCD4">
                  <a:alpha val="64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2571750"/>
            <a:ext cx="9144000" cy="5143500"/>
          </a:xfrm>
          <a:prstGeom prst="ellipse">
            <a:avLst/>
          </a:prstGeom>
          <a:gradFill rotWithShape="1">
            <a:gsLst>
              <a:gs pos="0">
                <a:srgbClr val="00BCD4">
                  <a:alpha val="40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3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3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457200" y="457200"/>
            <a:ext cx="8229600" cy="0"/>
          </a:xfrm>
          <a:prstGeom prst="line">
            <a:avLst/>
          </a:prstGeom>
          <a:noFill/>
          <a:ln w="5715">
            <a:solidFill>
              <a:srgbClr val="B0BEC5">
                <a:alpha val="12000"/>
              </a:srgbClr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57200" y="300038"/>
            <a:ext cx="45720" cy="4572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628650" y="300038"/>
            <a:ext cx="45720" cy="4572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800100" y="300038"/>
            <a:ext cx="45720" cy="4572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971550" y="274320"/>
            <a:ext cx="1088136" cy="97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5" spc="23" kern="0" dirty="0">
                <a:solidFill>
                  <a:srgbClr val="7885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~/presentation</a:t>
            </a:r>
            <a:pPr algn="l" indent="0" marL="0">
              <a:buNone/>
            </a:pPr>
            <a:r>
              <a:rPr lang="en-US" sz="585" spc="23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/final</a:t>
            </a:r>
            <a:endParaRPr lang="en-US" sz="585" dirty="0"/>
          </a:p>
        </p:txBody>
      </p:sp>
      <p:sp>
        <p:nvSpPr>
          <p:cNvPr id="11" name="Text 9"/>
          <p:cNvSpPr/>
          <p:nvPr/>
        </p:nvSpPr>
        <p:spPr>
          <a:xfrm>
            <a:off x="2068830" y="274320"/>
            <a:ext cx="461843" cy="97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5" spc="23" kern="0" dirty="0">
                <a:solidFill>
                  <a:srgbClr val="7885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●</a:t>
            </a:r>
            <a:pPr algn="l" indent="0" marL="0">
              <a:buNone/>
            </a:pPr>
            <a:r>
              <a:rPr lang="en-US" sz="585" spc="23" kern="0" dirty="0">
                <a:solidFill>
                  <a:srgbClr val="7885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closed</a:t>
            </a:r>
            <a:endParaRPr lang="en-US" sz="585" dirty="0"/>
          </a:p>
        </p:txBody>
      </p:sp>
      <p:sp>
        <p:nvSpPr>
          <p:cNvPr id="12" name="Text 10"/>
          <p:cNvSpPr/>
          <p:nvPr/>
        </p:nvSpPr>
        <p:spPr>
          <a:xfrm>
            <a:off x="7195185" y="274320"/>
            <a:ext cx="761695" cy="97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5" spc="23" kern="0" dirty="0">
                <a:solidFill>
                  <a:srgbClr val="7885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slide:</a:t>
            </a:r>
            <a:pPr algn="l" indent="0" marL="0">
              <a:buNone/>
            </a:pPr>
            <a:r>
              <a:rPr lang="en-US" sz="585" spc="23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07</a:t>
            </a:r>
            <a:endParaRPr lang="en-US" sz="585" dirty="0"/>
          </a:p>
        </p:txBody>
      </p:sp>
      <p:sp>
        <p:nvSpPr>
          <p:cNvPr id="13" name="Text 11"/>
          <p:cNvSpPr/>
          <p:nvPr/>
        </p:nvSpPr>
        <p:spPr>
          <a:xfrm>
            <a:off x="7989570" y="274320"/>
            <a:ext cx="608648" cy="97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5" spc="23" kern="0" dirty="0">
                <a:solidFill>
                  <a:srgbClr val="7885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mode:</a:t>
            </a:r>
            <a:pPr algn="l" indent="0" marL="0">
              <a:buNone/>
            </a:pPr>
            <a:r>
              <a:rPr lang="en-US" sz="585" spc="23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close</a:t>
            </a:r>
            <a:endParaRPr lang="en-US" sz="585" dirty="0"/>
          </a:p>
        </p:txBody>
      </p:sp>
      <p:sp>
        <p:nvSpPr>
          <p:cNvPr id="14" name="Text 12"/>
          <p:cNvSpPr/>
          <p:nvPr/>
        </p:nvSpPr>
        <p:spPr>
          <a:xfrm>
            <a:off x="8638223" y="274320"/>
            <a:ext cx="126302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23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endParaRPr lang="en-US" sz="585" dirty="0"/>
          </a:p>
        </p:txBody>
      </p:sp>
      <p:sp>
        <p:nvSpPr>
          <p:cNvPr id="15" name="Text 13"/>
          <p:cNvSpPr/>
          <p:nvPr/>
        </p:nvSpPr>
        <p:spPr>
          <a:xfrm>
            <a:off x="171450" y="525780"/>
            <a:ext cx="1177747" cy="5027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B0BEC5">
                    <a:alpha val="2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</a:t>
            </a:r>
            <a:pPr algn="l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00BCD4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</a:t>
            </a:r>
            <a:pPr algn="l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00BCD4">
                    <a:alpha val="3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HackerEthics {</a:t>
            </a:r>
            <a:pPr algn="l" indent="0" marL="0">
              <a:lnSpc>
                <a:spcPct val="160000"/>
              </a:lnSpc>
              <a:buNone/>
            </a:pPr>
            <a:endParaRPr lang="en-US" sz="495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B0BEC5">
                    <a:alpha val="2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</a:t>
            </a:r>
            <a:pPr algn="l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00BCD4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static</a:t>
            </a:r>
            <a:pPr algn="l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00BCD4">
                    <a:alpha val="3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freedom() {</a:t>
            </a:r>
            <a:pPr algn="l" indent="0" marL="0">
              <a:lnSpc>
                <a:spcPct val="160000"/>
              </a:lnSpc>
              <a:buNone/>
            </a:pPr>
            <a:endParaRPr lang="en-US" sz="495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B0BEC5">
                    <a:alpha val="2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</a:t>
            </a:r>
            <a:pPr algn="l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00BCD4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pPr algn="l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00BCD4">
                    <a:alpha val="3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open;</a:t>
            </a:r>
            <a:pPr algn="l" indent="0" marL="0">
              <a:lnSpc>
                <a:spcPct val="160000"/>
              </a:lnSpc>
              <a:buNone/>
            </a:pPr>
            <a:endParaRPr lang="en-US" sz="495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B0BEC5">
                    <a:alpha val="2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pPr algn="l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00BCD4">
                    <a:alpha val="3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pPr algn="l" indent="0" marL="0">
              <a:lnSpc>
                <a:spcPct val="160000"/>
              </a:lnSpc>
              <a:buNone/>
            </a:pPr>
            <a:endParaRPr lang="en-US" sz="495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B0BEC5">
                    <a:alpha val="2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pPr algn="l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00BCD4">
                    <a:alpha val="3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495" dirty="0"/>
          </a:p>
        </p:txBody>
      </p:sp>
      <p:sp>
        <p:nvSpPr>
          <p:cNvPr id="16" name="Text 14"/>
          <p:cNvSpPr/>
          <p:nvPr/>
        </p:nvSpPr>
        <p:spPr>
          <a:xfrm>
            <a:off x="8058150" y="525780"/>
            <a:ext cx="1024128" cy="6032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B0BEC5">
                    <a:alpha val="2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0x07_final</a:t>
            </a:r>
            <a:pPr algn="r" indent="0" marL="0">
              <a:lnSpc>
                <a:spcPct val="160000"/>
              </a:lnSpc>
              <a:buNone/>
            </a:pPr>
            <a:endParaRPr lang="en-US" sz="495" dirty="0"/>
          </a:p>
          <a:p>
            <a:pPr algn="r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00BCD4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#include</a:t>
            </a:r>
            <a:pPr algn="r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00BCD4">
                    <a:alpha val="3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&lt;open.mind&gt;</a:t>
            </a:r>
            <a:pPr algn="r" indent="0" marL="0">
              <a:lnSpc>
                <a:spcPct val="160000"/>
              </a:lnSpc>
              <a:buNone/>
            </a:pPr>
            <a:endParaRPr lang="en-US" sz="495" dirty="0"/>
          </a:p>
          <a:p>
            <a:pPr algn="r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00BCD4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</a:t>
            </a:r>
            <a:pPr algn="r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00BCD4">
                    <a:alpha val="3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main() {</a:t>
            </a:r>
            <a:pPr algn="r" indent="0" marL="0">
              <a:lnSpc>
                <a:spcPct val="160000"/>
              </a:lnSpc>
              <a:buNone/>
            </a:pPr>
            <a:endParaRPr lang="en-US" sz="495" dirty="0"/>
          </a:p>
          <a:p>
            <a:pPr algn="r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00BCD4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share</a:t>
            </a:r>
            <a:pPr algn="r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00BCD4">
                    <a:alpha val="3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(knowledge);</a:t>
            </a:r>
            <a:pPr algn="r" indent="0" marL="0">
              <a:lnSpc>
                <a:spcPct val="160000"/>
              </a:lnSpc>
              <a:buNone/>
            </a:pPr>
            <a:endParaRPr lang="en-US" sz="495" dirty="0"/>
          </a:p>
          <a:p>
            <a:pPr algn="r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00BCD4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pPr algn="r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00BCD4">
                    <a:alpha val="3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0;</a:t>
            </a:r>
            <a:pPr algn="r" indent="0" marL="0">
              <a:lnSpc>
                <a:spcPct val="160000"/>
              </a:lnSpc>
              <a:buNone/>
            </a:pPr>
            <a:endParaRPr lang="en-US" sz="495" dirty="0"/>
          </a:p>
          <a:p>
            <a:pPr algn="r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00BCD4">
                    <a:alpha val="3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495" dirty="0"/>
          </a:p>
        </p:txBody>
      </p:sp>
      <p:sp>
        <p:nvSpPr>
          <p:cNvPr id="17" name="Text 15"/>
          <p:cNvSpPr/>
          <p:nvPr/>
        </p:nvSpPr>
        <p:spPr>
          <a:xfrm>
            <a:off x="3817620" y="605790"/>
            <a:ext cx="1689811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30" spc="13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— END OF SESSION — //</a:t>
            </a:r>
            <a:endParaRPr lang="en-US" sz="630" dirty="0"/>
          </a:p>
        </p:txBody>
      </p:sp>
      <p:sp>
        <p:nvSpPr>
          <p:cNvPr id="18" name="Shape 16"/>
          <p:cNvSpPr/>
          <p:nvPr/>
        </p:nvSpPr>
        <p:spPr>
          <a:xfrm>
            <a:off x="3646170" y="845820"/>
            <a:ext cx="342900" cy="5715"/>
          </a:xfrm>
          <a:prstGeom prst="rect">
            <a:avLst/>
          </a:prstGeom>
          <a:solidFill>
            <a:srgbClr val="00BCD4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069080" y="788670"/>
            <a:ext cx="15544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7885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4206240" y="788670"/>
            <a:ext cx="43434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4629150" y="788670"/>
            <a:ext cx="219456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7885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0;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4823460" y="788670"/>
            <a:ext cx="15544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60620" y="788670"/>
            <a:ext cx="219456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7885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5154930" y="845820"/>
            <a:ext cx="342900" cy="5715"/>
          </a:xfrm>
          <a:prstGeom prst="rect">
            <a:avLst/>
          </a:prstGeom>
          <a:solidFill>
            <a:srgbClr val="00BCD4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663315" y="988695"/>
            <a:ext cx="1360170" cy="62865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00BCD4">
                <a:alpha val="18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950" b="1" spc="810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结</a:t>
            </a:r>
            <a:endParaRPr lang="en-US" sz="4950" dirty="0"/>
          </a:p>
        </p:txBody>
      </p:sp>
      <p:sp>
        <p:nvSpPr>
          <p:cNvPr id="26" name="Text 24"/>
          <p:cNvSpPr/>
          <p:nvPr/>
        </p:nvSpPr>
        <p:spPr>
          <a:xfrm>
            <a:off x="4531995" y="988695"/>
            <a:ext cx="1360170" cy="62865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00BCD4">
                <a:alpha val="18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950" b="1" spc="810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语</a:t>
            </a:r>
            <a:endParaRPr lang="en-US" sz="4950" dirty="0"/>
          </a:p>
        </p:txBody>
      </p:sp>
      <p:sp>
        <p:nvSpPr>
          <p:cNvPr id="27" name="Shape 25"/>
          <p:cNvSpPr/>
          <p:nvPr/>
        </p:nvSpPr>
        <p:spPr>
          <a:xfrm>
            <a:off x="5400675" y="1051560"/>
            <a:ext cx="80010" cy="50292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209550" dist="50800" dir="16200000">
              <a:srgbClr val="00BCD4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94710" y="1748790"/>
            <a:ext cx="400050" cy="2000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70" spc="27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</a:t>
            </a:r>
            <a:endParaRPr lang="en-US" sz="1170" dirty="0"/>
          </a:p>
        </p:txBody>
      </p:sp>
      <p:sp>
        <p:nvSpPr>
          <p:cNvPr id="29" name="Text 27"/>
          <p:cNvSpPr/>
          <p:nvPr/>
        </p:nvSpPr>
        <p:spPr>
          <a:xfrm>
            <a:off x="3749040" y="1743075"/>
            <a:ext cx="1843430" cy="2114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70" spc="270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让伦理照亮开源之路</a:t>
            </a:r>
            <a:endParaRPr lang="en-US" sz="1170" dirty="0"/>
          </a:p>
        </p:txBody>
      </p:sp>
      <p:sp>
        <p:nvSpPr>
          <p:cNvPr id="30" name="Text 28"/>
          <p:cNvSpPr/>
          <p:nvPr/>
        </p:nvSpPr>
        <p:spPr>
          <a:xfrm>
            <a:off x="5497830" y="1748790"/>
            <a:ext cx="400050" cy="2000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70" spc="27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\\</a:t>
            </a:r>
            <a:endParaRPr lang="en-US" sz="1170" dirty="0"/>
          </a:p>
        </p:txBody>
      </p:sp>
      <p:sp>
        <p:nvSpPr>
          <p:cNvPr id="31" name="Shape 29"/>
          <p:cNvSpPr/>
          <p:nvPr/>
        </p:nvSpPr>
        <p:spPr>
          <a:xfrm>
            <a:off x="2234565" y="2068830"/>
            <a:ext cx="800100" cy="5715"/>
          </a:xfrm>
          <a:prstGeom prst="rect">
            <a:avLst/>
          </a:prstGeom>
          <a:solidFill>
            <a:srgbClr val="B0BEC5">
              <a:alpha val="2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114675" y="2023110"/>
            <a:ext cx="3264408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85" spc="90" kern="0" dirty="0">
                <a:solidFill>
                  <a:srgbClr val="7885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echo "Ethics illuminates the open source journey"</a:t>
            </a:r>
            <a:endParaRPr lang="en-US" sz="585" dirty="0"/>
          </a:p>
        </p:txBody>
      </p:sp>
      <p:sp>
        <p:nvSpPr>
          <p:cNvPr id="33" name="Shape 31"/>
          <p:cNvSpPr/>
          <p:nvPr/>
        </p:nvSpPr>
        <p:spPr>
          <a:xfrm>
            <a:off x="6109335" y="2068830"/>
            <a:ext cx="800100" cy="5715"/>
          </a:xfrm>
          <a:prstGeom prst="rect">
            <a:avLst/>
          </a:prstGeom>
          <a:solidFill>
            <a:srgbClr val="B0BEC5">
              <a:alpha val="2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2348865"/>
            <a:ext cx="2644080" cy="1291590"/>
          </a:xfrm>
          <a:prstGeom prst="roundRect">
            <a:avLst>
              <a:gd name="adj" fmla="val 2655"/>
            </a:avLst>
          </a:prstGeom>
          <a:gradFill rotWithShape="1">
            <a:gsLst>
              <a:gs pos="0">
                <a:srgbClr val="262637"/>
              </a:gs>
              <a:gs pos="100000">
                <a:srgbClr val="212132"/>
              </a:gs>
            </a:gsLst>
            <a:lin ang="5400000" scaled="0"/>
          </a:gra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2348865"/>
            <a:ext cx="17145" cy="128016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6" name="Shape 34"/>
          <p:cNvSpPr/>
          <p:nvPr/>
        </p:nvSpPr>
        <p:spPr>
          <a:xfrm>
            <a:off x="611505" y="2491740"/>
            <a:ext cx="194310" cy="102870"/>
          </a:xfrm>
          <a:prstGeom prst="roundRect">
            <a:avLst>
              <a:gd name="adj" fmla="val 16667"/>
            </a:avLst>
          </a:prstGeom>
          <a:solidFill>
            <a:srgbClr val="00BCD4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11505" y="2491740"/>
            <a:ext cx="257175" cy="102870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95" b="1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495" dirty="0"/>
          </a:p>
        </p:txBody>
      </p:sp>
      <p:sp>
        <p:nvSpPr>
          <p:cNvPr id="38" name="Text 36"/>
          <p:cNvSpPr/>
          <p:nvPr/>
        </p:nvSpPr>
        <p:spPr>
          <a:xfrm>
            <a:off x="851535" y="2497455"/>
            <a:ext cx="53149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LOOK_BACK</a:t>
            </a:r>
            <a:endParaRPr lang="en-US" sz="540" dirty="0"/>
          </a:p>
        </p:txBody>
      </p:sp>
      <p:sp>
        <p:nvSpPr>
          <p:cNvPr id="39" name="Text 37"/>
          <p:cNvSpPr/>
          <p:nvPr/>
        </p:nvSpPr>
        <p:spPr>
          <a:xfrm>
            <a:off x="611505" y="2651760"/>
            <a:ext cx="261572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60" b="1" spc="18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pPr algn="l" indent="0" marL="0">
              <a:buNone/>
            </a:pPr>
            <a:r>
              <a:rPr lang="en-US" sz="1260" b="1" spc="180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回顾</a:t>
            </a:r>
            <a:pPr algn="l" indent="0" marL="0">
              <a:buNone/>
            </a:pPr>
            <a:r>
              <a:rPr lang="en-US" sz="1260" b="1" spc="18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60" dirty="0"/>
          </a:p>
        </p:txBody>
      </p:sp>
      <p:sp>
        <p:nvSpPr>
          <p:cNvPr id="40" name="Shape 38"/>
          <p:cNvSpPr/>
          <p:nvPr/>
        </p:nvSpPr>
        <p:spPr>
          <a:xfrm>
            <a:off x="611505" y="2948940"/>
            <a:ext cx="228600" cy="1143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11505" y="3028950"/>
            <a:ext cx="2615727" cy="291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75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黑客伦理是开源精神的源头。一切共享与开放的代码文化，皆孕育于此。</a:t>
            </a:r>
            <a:endParaRPr lang="en-US" sz="675" dirty="0"/>
          </a:p>
        </p:txBody>
      </p:sp>
      <p:sp>
        <p:nvSpPr>
          <p:cNvPr id="42" name="Shape 40"/>
          <p:cNvSpPr/>
          <p:nvPr/>
        </p:nvSpPr>
        <p:spPr>
          <a:xfrm>
            <a:off x="611505" y="3320415"/>
            <a:ext cx="2335470" cy="165735"/>
          </a:xfrm>
          <a:prstGeom prst="rect">
            <a:avLst/>
          </a:prstGeom>
          <a:noFill/>
          <a:ln/>
        </p:spPr>
      </p:sp>
      <p:sp>
        <p:nvSpPr>
          <p:cNvPr id="43" name="Shape 41"/>
          <p:cNvSpPr/>
          <p:nvPr/>
        </p:nvSpPr>
        <p:spPr>
          <a:xfrm>
            <a:off x="611505" y="3320415"/>
            <a:ext cx="2335470" cy="0"/>
          </a:xfrm>
          <a:prstGeom prst="line">
            <a:avLst/>
          </a:prstGeom>
          <a:noFill/>
          <a:ln w="5715">
            <a:solidFill>
              <a:srgbClr val="B0BEC5">
                <a:alpha val="12000"/>
              </a:srgbClr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611505" y="3406140"/>
            <a:ext cx="50292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7885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chapter_001</a:t>
            </a:r>
            <a:endParaRPr lang="en-US" sz="495" dirty="0"/>
          </a:p>
        </p:txBody>
      </p:sp>
      <p:sp>
        <p:nvSpPr>
          <p:cNvPr id="45" name="Text 43"/>
          <p:cNvSpPr/>
          <p:nvPr/>
        </p:nvSpPr>
        <p:spPr>
          <a:xfrm>
            <a:off x="2549158" y="3406140"/>
            <a:ext cx="46068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continue</a:t>
            </a:r>
            <a:endParaRPr lang="en-US" sz="495" dirty="0"/>
          </a:p>
        </p:txBody>
      </p:sp>
      <p:sp>
        <p:nvSpPr>
          <p:cNvPr id="46" name="Shape 44"/>
          <p:cNvSpPr/>
          <p:nvPr/>
        </p:nvSpPr>
        <p:spPr>
          <a:xfrm>
            <a:off x="3249870" y="2348865"/>
            <a:ext cx="2644170" cy="1291590"/>
          </a:xfrm>
          <a:prstGeom prst="roundRect">
            <a:avLst>
              <a:gd name="adj" fmla="val 2655"/>
            </a:avLst>
          </a:prstGeom>
          <a:gradFill rotWithShape="1">
            <a:gsLst>
              <a:gs pos="0">
                <a:srgbClr val="262637"/>
              </a:gs>
              <a:gs pos="100000">
                <a:srgbClr val="212132"/>
              </a:gs>
            </a:gsLst>
            <a:lin ang="5400000" scaled="0"/>
          </a:gra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49870" y="2348865"/>
            <a:ext cx="17145" cy="128016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8" name="Shape 46"/>
          <p:cNvSpPr/>
          <p:nvPr/>
        </p:nvSpPr>
        <p:spPr>
          <a:xfrm>
            <a:off x="3404175" y="2491740"/>
            <a:ext cx="194310" cy="102870"/>
          </a:xfrm>
          <a:prstGeom prst="roundRect">
            <a:avLst>
              <a:gd name="adj" fmla="val 16667"/>
            </a:avLst>
          </a:prstGeom>
          <a:solidFill>
            <a:srgbClr val="00BCD4">
              <a:alpha val="15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3404175" y="2491740"/>
            <a:ext cx="257175" cy="102870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95" b="1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495" dirty="0"/>
          </a:p>
        </p:txBody>
      </p:sp>
      <p:sp>
        <p:nvSpPr>
          <p:cNvPr id="50" name="Text 48"/>
          <p:cNvSpPr/>
          <p:nvPr/>
        </p:nvSpPr>
        <p:spPr>
          <a:xfrm>
            <a:off x="3644205" y="2497455"/>
            <a:ext cx="63436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TAKE_ACTION</a:t>
            </a:r>
            <a:endParaRPr lang="en-US" sz="540" dirty="0"/>
          </a:p>
        </p:txBody>
      </p:sp>
      <p:sp>
        <p:nvSpPr>
          <p:cNvPr id="51" name="Text 49"/>
          <p:cNvSpPr/>
          <p:nvPr/>
        </p:nvSpPr>
        <p:spPr>
          <a:xfrm>
            <a:off x="3404175" y="2651760"/>
            <a:ext cx="261582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60" b="1" spc="18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pPr algn="l" indent="0" marL="0">
              <a:buNone/>
            </a:pPr>
            <a:r>
              <a:rPr lang="en-US" sz="1260" b="1" spc="180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行动</a:t>
            </a:r>
            <a:pPr algn="l" indent="0" marL="0">
              <a:buNone/>
            </a:pPr>
            <a:r>
              <a:rPr lang="en-US" sz="1260" b="1" spc="18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60" dirty="0"/>
          </a:p>
        </p:txBody>
      </p:sp>
      <p:sp>
        <p:nvSpPr>
          <p:cNvPr id="52" name="Shape 50"/>
          <p:cNvSpPr/>
          <p:nvPr/>
        </p:nvSpPr>
        <p:spPr>
          <a:xfrm>
            <a:off x="3404175" y="2948940"/>
            <a:ext cx="228600" cy="1143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3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3404175" y="3028950"/>
            <a:ext cx="2615827" cy="291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75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在日常开发中践行共享与开放，让每一次 commit 都成为传承的一部分。</a:t>
            </a:r>
            <a:endParaRPr lang="en-US" sz="675" dirty="0"/>
          </a:p>
        </p:txBody>
      </p:sp>
      <p:sp>
        <p:nvSpPr>
          <p:cNvPr id="54" name="Shape 52"/>
          <p:cNvSpPr/>
          <p:nvPr/>
        </p:nvSpPr>
        <p:spPr>
          <a:xfrm>
            <a:off x="3404175" y="3320415"/>
            <a:ext cx="2335560" cy="165735"/>
          </a:xfrm>
          <a:prstGeom prst="rect">
            <a:avLst/>
          </a:prstGeom>
          <a:noFill/>
          <a:ln/>
        </p:spPr>
      </p:sp>
      <p:sp>
        <p:nvSpPr>
          <p:cNvPr id="55" name="Shape 53"/>
          <p:cNvSpPr/>
          <p:nvPr/>
        </p:nvSpPr>
        <p:spPr>
          <a:xfrm>
            <a:off x="3404175" y="3320415"/>
            <a:ext cx="2335560" cy="0"/>
          </a:xfrm>
          <a:prstGeom prst="line">
            <a:avLst/>
          </a:prstGeom>
          <a:noFill/>
          <a:ln w="5715">
            <a:solidFill>
              <a:srgbClr val="B0BEC5">
                <a:alpha val="12000"/>
              </a:srgbClr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3404175" y="3406140"/>
            <a:ext cx="50292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7885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chapter_002</a:t>
            </a:r>
            <a:endParaRPr lang="en-US" sz="495" dirty="0"/>
          </a:p>
        </p:txBody>
      </p:sp>
      <p:sp>
        <p:nvSpPr>
          <p:cNvPr id="57" name="Text 55"/>
          <p:cNvSpPr/>
          <p:nvPr/>
        </p:nvSpPr>
        <p:spPr>
          <a:xfrm>
            <a:off x="5341918" y="3406140"/>
            <a:ext cx="46068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continue</a:t>
            </a:r>
            <a:endParaRPr lang="en-US" sz="495" dirty="0"/>
          </a:p>
        </p:txBody>
      </p:sp>
      <p:sp>
        <p:nvSpPr>
          <p:cNvPr id="58" name="Shape 56"/>
          <p:cNvSpPr/>
          <p:nvPr/>
        </p:nvSpPr>
        <p:spPr>
          <a:xfrm>
            <a:off x="6042630" y="2348865"/>
            <a:ext cx="2644080" cy="1291590"/>
          </a:xfrm>
          <a:prstGeom prst="roundRect">
            <a:avLst>
              <a:gd name="adj" fmla="val 2655"/>
            </a:avLst>
          </a:prstGeom>
          <a:gradFill rotWithShape="1">
            <a:gsLst>
              <a:gs pos="0">
                <a:srgbClr val="262637"/>
              </a:gs>
              <a:gs pos="100000">
                <a:srgbClr val="212132"/>
              </a:gs>
            </a:gsLst>
            <a:lin ang="5400000" scaled="0"/>
          </a:gra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42630" y="2348865"/>
            <a:ext cx="17145" cy="128016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60" name="Shape 58"/>
          <p:cNvSpPr/>
          <p:nvPr/>
        </p:nvSpPr>
        <p:spPr>
          <a:xfrm>
            <a:off x="6196935" y="2491740"/>
            <a:ext cx="194310" cy="102870"/>
          </a:xfrm>
          <a:prstGeom prst="roundRect">
            <a:avLst>
              <a:gd name="adj" fmla="val 16667"/>
            </a:avLst>
          </a:prstGeom>
          <a:solidFill>
            <a:srgbClr val="00BCD4">
              <a:alpha val="15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6196935" y="2491740"/>
            <a:ext cx="257175" cy="102870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95" b="1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495" dirty="0"/>
          </a:p>
        </p:txBody>
      </p:sp>
      <p:sp>
        <p:nvSpPr>
          <p:cNvPr id="62" name="Text 60"/>
          <p:cNvSpPr/>
          <p:nvPr/>
        </p:nvSpPr>
        <p:spPr>
          <a:xfrm>
            <a:off x="6436965" y="2497455"/>
            <a:ext cx="691286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LOOK_FORWARD</a:t>
            </a:r>
            <a:endParaRPr lang="en-US" sz="540" dirty="0"/>
          </a:p>
        </p:txBody>
      </p:sp>
      <p:sp>
        <p:nvSpPr>
          <p:cNvPr id="63" name="Text 61"/>
          <p:cNvSpPr/>
          <p:nvPr/>
        </p:nvSpPr>
        <p:spPr>
          <a:xfrm>
            <a:off x="6196935" y="2651760"/>
            <a:ext cx="261572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60" b="1" spc="18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pPr algn="l" indent="0" marL="0">
              <a:buNone/>
            </a:pPr>
            <a:r>
              <a:rPr lang="en-US" sz="1260" b="1" spc="180" kern="0" dirty="0">
                <a:solidFill>
                  <a:srgbClr val="B0BE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展望</a:t>
            </a:r>
            <a:pPr algn="l" indent="0" marL="0">
              <a:buNone/>
            </a:pPr>
            <a:r>
              <a:rPr lang="en-US" sz="1260" b="1" spc="18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60" dirty="0"/>
          </a:p>
        </p:txBody>
      </p:sp>
      <p:sp>
        <p:nvSpPr>
          <p:cNvPr id="64" name="Shape 62"/>
          <p:cNvSpPr/>
          <p:nvPr/>
        </p:nvSpPr>
        <p:spPr>
          <a:xfrm>
            <a:off x="6196935" y="2948940"/>
            <a:ext cx="228600" cy="1143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3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6196935" y="3028950"/>
            <a:ext cx="2615727" cy="291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75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期待更多人加入开源社区，共同书写一段属于我们自己的自由代码史。</a:t>
            </a:r>
            <a:endParaRPr lang="en-US" sz="675" dirty="0"/>
          </a:p>
        </p:txBody>
      </p:sp>
      <p:sp>
        <p:nvSpPr>
          <p:cNvPr id="66" name="Shape 64"/>
          <p:cNvSpPr/>
          <p:nvPr/>
        </p:nvSpPr>
        <p:spPr>
          <a:xfrm>
            <a:off x="6196935" y="3320415"/>
            <a:ext cx="2335470" cy="165735"/>
          </a:xfrm>
          <a:prstGeom prst="rect">
            <a:avLst/>
          </a:prstGeom>
          <a:noFill/>
          <a:ln/>
        </p:spPr>
      </p:sp>
      <p:sp>
        <p:nvSpPr>
          <p:cNvPr id="67" name="Shape 65"/>
          <p:cNvSpPr/>
          <p:nvPr/>
        </p:nvSpPr>
        <p:spPr>
          <a:xfrm>
            <a:off x="6196935" y="3320415"/>
            <a:ext cx="2335470" cy="0"/>
          </a:xfrm>
          <a:prstGeom prst="line">
            <a:avLst/>
          </a:prstGeom>
          <a:noFill/>
          <a:ln w="5715">
            <a:solidFill>
              <a:srgbClr val="B0BEC5">
                <a:alpha val="12000"/>
              </a:srgbClr>
            </a:solidFill>
            <a:prstDash val="dash"/>
          </a:ln>
        </p:spPr>
      </p:sp>
      <p:sp>
        <p:nvSpPr>
          <p:cNvPr id="68" name="Text 66"/>
          <p:cNvSpPr/>
          <p:nvPr/>
        </p:nvSpPr>
        <p:spPr>
          <a:xfrm>
            <a:off x="6196935" y="3406140"/>
            <a:ext cx="50292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7885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chapter_003</a:t>
            </a:r>
            <a:endParaRPr lang="en-US" sz="495" dirty="0"/>
          </a:p>
        </p:txBody>
      </p:sp>
      <p:sp>
        <p:nvSpPr>
          <p:cNvPr id="69" name="Text 67"/>
          <p:cNvSpPr/>
          <p:nvPr/>
        </p:nvSpPr>
        <p:spPr>
          <a:xfrm>
            <a:off x="8214598" y="3406140"/>
            <a:ext cx="38067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future</a:t>
            </a:r>
            <a:endParaRPr lang="en-US" sz="495" dirty="0"/>
          </a:p>
        </p:txBody>
      </p:sp>
      <p:sp>
        <p:nvSpPr>
          <p:cNvPr id="70" name="Shape 68"/>
          <p:cNvSpPr/>
          <p:nvPr/>
        </p:nvSpPr>
        <p:spPr>
          <a:xfrm>
            <a:off x="457200" y="3811905"/>
            <a:ext cx="8229600" cy="365760"/>
          </a:xfrm>
          <a:prstGeom prst="rect">
            <a:avLst/>
          </a:prstGeom>
          <a:solidFill>
            <a:srgbClr val="00BCD4">
              <a:alpha val="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457200" y="3811905"/>
            <a:ext cx="0" cy="365760"/>
          </a:xfrm>
          <a:prstGeom prst="line">
            <a:avLst/>
          </a:prstGeom>
          <a:noFill/>
          <a:ln w="17145">
            <a:solidFill>
              <a:srgbClr val="00BCD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4365" y="3914775"/>
            <a:ext cx="915314" cy="120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75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./summary.sh</a:t>
            </a:r>
            <a:pPr algn="l" indent="0" marL="0">
              <a:buNone/>
            </a:pPr>
            <a:r>
              <a:rPr lang="en-US" sz="675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▮</a:t>
            </a:r>
            <a:endParaRPr lang="en-US" sz="675" dirty="0"/>
          </a:p>
        </p:txBody>
      </p:sp>
      <p:sp>
        <p:nvSpPr>
          <p:cNvPr id="73" name="Text 71"/>
          <p:cNvSpPr/>
          <p:nvPr/>
        </p:nvSpPr>
        <p:spPr>
          <a:xfrm>
            <a:off x="1554480" y="3914775"/>
            <a:ext cx="4330141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720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本次分享从</a:t>
            </a:r>
            <a:pPr algn="l" indent="0" marL="0">
              <a:lnSpc>
                <a:spcPct val="175000"/>
              </a:lnSpc>
              <a:buNone/>
            </a:pPr>
            <a:r>
              <a:rPr lang="en-US" sz="720" b="1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起源</a:t>
            </a:r>
            <a:pPr algn="l" indent="0" marL="0">
              <a:lnSpc>
                <a:spcPct val="175000"/>
              </a:lnSpc>
              <a:buNone/>
            </a:pPr>
            <a:r>
              <a:rPr lang="en-US" sz="720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到</a:t>
            </a:r>
            <a:pPr algn="l" indent="0" marL="0">
              <a:lnSpc>
                <a:spcPct val="175000"/>
              </a:lnSpc>
              <a:buNone/>
            </a:pPr>
            <a:r>
              <a:rPr lang="en-US" sz="720" b="1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实践</a:t>
            </a:r>
            <a:pPr algn="l" indent="0" marL="0">
              <a:lnSpc>
                <a:spcPct val="175000"/>
              </a:lnSpc>
              <a:buNone/>
            </a:pPr>
            <a:r>
              <a:rPr lang="en-US" sz="720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，展现了黑客伦理的持久生命力。愿我们都能成为</a:t>
            </a:r>
            <a:pPr algn="l" indent="0" marL="0">
              <a:lnSpc>
                <a:spcPct val="175000"/>
              </a:lnSpc>
              <a:buNone/>
            </a:pPr>
            <a:r>
              <a:rPr lang="en-US" sz="720" b="1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开放文化</a:t>
            </a:r>
            <a:pPr algn="l" indent="0" marL="0">
              <a:lnSpc>
                <a:spcPct val="175000"/>
              </a:lnSpc>
              <a:buNone/>
            </a:pPr>
            <a:r>
              <a:rPr lang="en-US" sz="720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的传承者。</a:t>
            </a:r>
            <a:endParaRPr lang="en-US" sz="720" dirty="0"/>
          </a:p>
        </p:txBody>
      </p:sp>
      <p:sp>
        <p:nvSpPr>
          <p:cNvPr id="74" name="Shape 72"/>
          <p:cNvSpPr/>
          <p:nvPr/>
        </p:nvSpPr>
        <p:spPr>
          <a:xfrm>
            <a:off x="457200" y="4640580"/>
            <a:ext cx="8229600" cy="228600"/>
          </a:xfrm>
          <a:prstGeom prst="rect">
            <a:avLst/>
          </a:prstGeom>
          <a:noFill/>
          <a:ln/>
        </p:spPr>
      </p:sp>
      <p:sp>
        <p:nvSpPr>
          <p:cNvPr id="75" name="Shape 73"/>
          <p:cNvSpPr/>
          <p:nvPr/>
        </p:nvSpPr>
        <p:spPr>
          <a:xfrm>
            <a:off x="457200" y="4640580"/>
            <a:ext cx="8229600" cy="0"/>
          </a:xfrm>
          <a:prstGeom prst="line">
            <a:avLst/>
          </a:prstGeom>
          <a:noFill/>
          <a:ln w="5715">
            <a:solidFill>
              <a:srgbClr val="B0BEC5">
                <a:alpha val="12000"/>
              </a:srgbClr>
            </a:solidFill>
            <a:prstDash val="dash"/>
          </a:ln>
        </p:spPr>
      </p:sp>
      <p:sp>
        <p:nvSpPr>
          <p:cNvPr id="76" name="Text 74"/>
          <p:cNvSpPr/>
          <p:nvPr/>
        </p:nvSpPr>
        <p:spPr>
          <a:xfrm>
            <a:off x="457200" y="4760595"/>
            <a:ext cx="126302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7885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585" dirty="0"/>
          </a:p>
        </p:txBody>
      </p:sp>
      <p:sp>
        <p:nvSpPr>
          <p:cNvPr id="77" name="Text 75"/>
          <p:cNvSpPr/>
          <p:nvPr/>
        </p:nvSpPr>
        <p:spPr>
          <a:xfrm>
            <a:off x="582930" y="4749165"/>
            <a:ext cx="219456" cy="120015"/>
          </a:xfrm>
          <a:prstGeom prst="rect">
            <a:avLst/>
          </a:prstGeom>
          <a:noFill/>
          <a:ln/>
          <a:effectLst>
            <a:outerShdw sx="100000" sy="100000" kx="0" ky="0" algn="bl" rotWithShape="0" blurRad="57150" dist="50800" dir="5400000">
              <a:srgbClr val="00BCD4">
                <a:alpha val="35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&lt;3</a:t>
            </a:r>
            <a:endParaRPr lang="en-US" sz="720" dirty="0"/>
          </a:p>
        </p:txBody>
      </p:sp>
      <p:sp>
        <p:nvSpPr>
          <p:cNvPr id="78" name="Text 76"/>
          <p:cNvSpPr/>
          <p:nvPr/>
        </p:nvSpPr>
        <p:spPr>
          <a:xfrm>
            <a:off x="777240" y="4760595"/>
            <a:ext cx="128016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7885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thank you for being here.</a:t>
            </a:r>
            <a:endParaRPr lang="en-US" sz="585" dirty="0"/>
          </a:p>
        </p:txBody>
      </p:sp>
      <p:sp>
        <p:nvSpPr>
          <p:cNvPr id="79" name="Shape 77"/>
          <p:cNvSpPr/>
          <p:nvPr/>
        </p:nvSpPr>
        <p:spPr>
          <a:xfrm>
            <a:off x="3851910" y="4752023"/>
            <a:ext cx="422910" cy="114300"/>
          </a:xfrm>
          <a:prstGeom prst="roundRect">
            <a:avLst>
              <a:gd name="adj" fmla="val 15000"/>
            </a:avLst>
          </a:prstGeom>
          <a:solidFill>
            <a:srgbClr val="00BCD4">
              <a:alpha val="15000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3851910" y="4752023"/>
            <a:ext cx="485775" cy="114300"/>
          </a:xfrm>
          <a:prstGeom prst="rect">
            <a:avLst/>
          </a:prstGeom>
          <a:noFill/>
          <a:ln/>
        </p:spPr>
        <p:txBody>
          <a:bodyPr wrap="none" lIns="17145" tIns="57150" rIns="57150" bIns="17145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THANKS</a:t>
            </a:r>
            <a:endParaRPr lang="en-US" sz="495" dirty="0"/>
          </a:p>
        </p:txBody>
      </p:sp>
      <p:sp>
        <p:nvSpPr>
          <p:cNvPr id="81" name="Text 79"/>
          <p:cNvSpPr/>
          <p:nvPr/>
        </p:nvSpPr>
        <p:spPr>
          <a:xfrm>
            <a:off x="4354830" y="4749165"/>
            <a:ext cx="1273759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spc="270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感谢聆听 · 致敬开源</a:t>
            </a:r>
            <a:endParaRPr lang="en-US" sz="675" dirty="0"/>
          </a:p>
        </p:txBody>
      </p:sp>
      <p:sp>
        <p:nvSpPr>
          <p:cNvPr id="82" name="Shape 80"/>
          <p:cNvSpPr/>
          <p:nvPr/>
        </p:nvSpPr>
        <p:spPr>
          <a:xfrm>
            <a:off x="5572125" y="4752023"/>
            <a:ext cx="268605" cy="114300"/>
          </a:xfrm>
          <a:prstGeom prst="roundRect">
            <a:avLst>
              <a:gd name="adj" fmla="val 15000"/>
            </a:avLst>
          </a:prstGeom>
          <a:solidFill>
            <a:srgbClr val="00BCD4">
              <a:alpha val="15000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5572125" y="4752023"/>
            <a:ext cx="331470" cy="114300"/>
          </a:xfrm>
          <a:prstGeom prst="rect">
            <a:avLst/>
          </a:prstGeom>
          <a:noFill/>
          <a:ln/>
        </p:spPr>
        <p:txBody>
          <a:bodyPr wrap="none" lIns="17145" tIns="57150" rIns="57150" bIns="17145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EOF</a:t>
            </a:r>
            <a:endParaRPr lang="en-US" sz="495" dirty="0"/>
          </a:p>
        </p:txBody>
      </p:sp>
      <p:sp>
        <p:nvSpPr>
          <p:cNvPr id="84" name="Text 82"/>
          <p:cNvSpPr/>
          <p:nvPr/>
        </p:nvSpPr>
        <p:spPr>
          <a:xfrm>
            <a:off x="7772400" y="4760595"/>
            <a:ext cx="62293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7885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end_session:</a:t>
            </a:r>
            <a:endParaRPr lang="en-US" sz="585" dirty="0"/>
          </a:p>
        </p:txBody>
      </p:sp>
      <p:sp>
        <p:nvSpPr>
          <p:cNvPr id="85" name="Text 83"/>
          <p:cNvSpPr/>
          <p:nvPr/>
        </p:nvSpPr>
        <p:spPr>
          <a:xfrm>
            <a:off x="8389620" y="4760595"/>
            <a:ext cx="282321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true</a:t>
            </a:r>
            <a:endParaRPr lang="en-US" sz="585" dirty="0"/>
          </a:p>
        </p:txBody>
      </p:sp>
      <p:sp>
        <p:nvSpPr>
          <p:cNvPr id="86" name="Text 84"/>
          <p:cNvSpPr/>
          <p:nvPr/>
        </p:nvSpPr>
        <p:spPr>
          <a:xfrm>
            <a:off x="8641080" y="4760595"/>
            <a:ext cx="126302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7885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endParaRPr lang="en-US" sz="58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2026-08-27T17:29:12Z</dcterms:created>
  <dcterms:modified xsi:type="dcterms:W3CDTF">2026-08-27T17:29:12Z</dcterms:modified>
</cp:coreProperties>
</file>