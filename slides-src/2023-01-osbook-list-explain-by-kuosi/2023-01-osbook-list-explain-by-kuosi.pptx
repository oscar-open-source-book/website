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8B3E"/>
              </a:solidFill>
              <a:effectLst/>
            </c:spPr>
          </c:dPt>
          <c:dPt>
            <c:idx val="1"/>
            <c:bubble3D val="0"/>
            <c:spPr>
              <a:solidFill>
                <a:srgbClr val="1A3A5C"/>
              </a:solidFill>
              <a:effectLst/>
            </c:spPr>
          </c:dPt>
          <c:dPt>
            <c:idx val="2"/>
            <c:bubble3D val="0"/>
            <c:spPr>
              <a:solidFill>
                <a:srgbClr val="0D2137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工程实践类</c:v>
                </c:pt>
                <c:pt idx="1">
                  <c:v>社区文化类</c:v>
                </c:pt>
                <c:pt idx="2">
                  <c:v>思想奠基类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</c:v>
                </c:pt>
                <c:pt idx="1">
                  <c:v>33</c:v>
                </c:pt>
                <c:pt idx="2">
                  <c:v>25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l"/>
      <c:overlay val="0"/>
      <c:txPr>
        <a:bodyPr/>
        <a:lstStyle/>
        <a:p>
          <a:pPr>
            <a:defRPr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8F7F4"/>
              </a:gs>
              <a:gs pos="100000">
                <a:srgbClr val="F1EDE6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29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9109710" y="0"/>
            <a:ext cx="3429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28600" y="228600"/>
            <a:ext cx="22860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28600"/>
            <a:ext cx="0" cy="22860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2286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686800" y="228600"/>
            <a:ext cx="22860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0" y="228600"/>
            <a:ext cx="0" cy="22860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46863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228600" y="4914900"/>
            <a:ext cx="22860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4686300"/>
            <a:ext cx="0" cy="22860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46863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8915400" y="4686300"/>
            <a:ext cx="0" cy="22860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4914900"/>
            <a:ext cx="22860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" y="571500"/>
            <a:ext cx="5715" cy="4000500"/>
          </a:xfrm>
          <a:prstGeom prst="rect">
            <a:avLst/>
          </a:prstGeom>
          <a:solidFill>
            <a:srgbClr val="0D2137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795385" y="571500"/>
            <a:ext cx="5715" cy="4000500"/>
          </a:xfrm>
          <a:prstGeom prst="rect">
            <a:avLst/>
          </a:prstGeom>
          <a:solidFill>
            <a:srgbClr val="0D2137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8618"/>
            <a:ext cx="45720" cy="4572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345758"/>
            <a:ext cx="156819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READING</a:t>
            </a:r>
            <a:endParaRPr lang="en-US" sz="585" dirty="0"/>
          </a:p>
        </p:txBody>
      </p:sp>
      <p:sp>
        <p:nvSpPr>
          <p:cNvPr id="21" name="Text 19"/>
          <p:cNvSpPr/>
          <p:nvPr/>
        </p:nvSpPr>
        <p:spPr>
          <a:xfrm>
            <a:off x="6960870" y="342900"/>
            <a:ext cx="193304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年度书单导读 · ANNUAL BOOK GUIDE 2023</a:t>
            </a:r>
            <a:endParaRPr lang="en-US" sz="540" dirty="0"/>
          </a:p>
        </p:txBody>
      </p:sp>
      <p:sp>
        <p:nvSpPr>
          <p:cNvPr id="22" name="Text 20"/>
          <p:cNvSpPr/>
          <p:nvPr/>
        </p:nvSpPr>
        <p:spPr>
          <a:xfrm>
            <a:off x="3437573" y="1361688"/>
            <a:ext cx="254111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36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SUANU'S OPEN SOURCE DIARY</a:t>
            </a:r>
            <a:endParaRPr lang="en-US" sz="585" dirty="0"/>
          </a:p>
        </p:txBody>
      </p:sp>
      <p:sp>
        <p:nvSpPr>
          <p:cNvPr id="23" name="Shape 21"/>
          <p:cNvSpPr/>
          <p:nvPr/>
        </p:nvSpPr>
        <p:spPr>
          <a:xfrm>
            <a:off x="4000500" y="1544568"/>
            <a:ext cx="114300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1533138"/>
            <a:ext cx="28575" cy="28575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25" name="Text 23"/>
          <p:cNvSpPr/>
          <p:nvPr/>
        </p:nvSpPr>
        <p:spPr>
          <a:xfrm>
            <a:off x="2720340" y="1687443"/>
            <a:ext cx="4251960" cy="6034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320" b="1" spc="54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开源之书记录</a:t>
            </a:r>
            <a:endParaRPr lang="en-US" sz="4320" dirty="0"/>
          </a:p>
        </p:txBody>
      </p:sp>
      <p:sp>
        <p:nvSpPr>
          <p:cNvPr id="26" name="Text 24"/>
          <p:cNvSpPr/>
          <p:nvPr/>
        </p:nvSpPr>
        <p:spPr>
          <a:xfrm>
            <a:off x="2577465" y="2393781"/>
            <a:ext cx="446775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720" kern="0" dirty="0">
                <a:solidFill>
                  <a:srgbClr val="0D213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· OF · OPEN · SOURCE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4000500" y="2650956"/>
            <a:ext cx="114300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2639526"/>
            <a:ext cx="28575" cy="28575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29" name="Text 27"/>
          <p:cNvSpPr/>
          <p:nvPr/>
        </p:nvSpPr>
        <p:spPr>
          <a:xfrm>
            <a:off x="3326130" y="2770971"/>
            <a:ext cx="279074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90" spc="27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pPr algn="ctr" indent="0" marL="0">
              <a:buNone/>
            </a:pPr>
            <a:r>
              <a:rPr lang="en-US" sz="990" spc="27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年开源布道 · 适兕书单导读</a:t>
            </a:r>
            <a:endParaRPr lang="en-US" sz="990" dirty="0"/>
          </a:p>
        </p:txBody>
      </p:sp>
      <p:sp>
        <p:nvSpPr>
          <p:cNvPr id="30" name="Shape 28"/>
          <p:cNvSpPr/>
          <p:nvPr/>
        </p:nvSpPr>
        <p:spPr>
          <a:xfrm>
            <a:off x="457200" y="3898344"/>
            <a:ext cx="2666940" cy="679371"/>
          </a:xfrm>
          <a:prstGeom prst="rect">
            <a:avLst/>
          </a:prstGeom>
          <a:solidFill>
            <a:srgbClr val="FFFFFF"/>
          </a:solidFill>
          <a:ln w="5715">
            <a:solidFill>
              <a:srgbClr val="0D2137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898344"/>
            <a:ext cx="22860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2" name="Text 30"/>
          <p:cNvSpPr/>
          <p:nvPr/>
        </p:nvSpPr>
        <p:spPr>
          <a:xfrm>
            <a:off x="588645" y="4018359"/>
            <a:ext cx="26925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01 —</a:t>
            </a:r>
            <a:endParaRPr lang="en-US" sz="495" dirty="0"/>
          </a:p>
        </p:txBody>
      </p:sp>
      <p:sp>
        <p:nvSpPr>
          <p:cNvPr id="33" name="Text 31"/>
          <p:cNvSpPr/>
          <p:nvPr/>
        </p:nvSpPr>
        <p:spPr>
          <a:xfrm>
            <a:off x="588645" y="4132659"/>
            <a:ext cx="2692537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主题聚焦</a:t>
            </a:r>
            <a:endParaRPr lang="en-US" sz="765" dirty="0"/>
          </a:p>
        </p:txBody>
      </p:sp>
      <p:sp>
        <p:nvSpPr>
          <p:cNvPr id="34" name="Text 32"/>
          <p:cNvSpPr/>
          <p:nvPr/>
        </p:nvSpPr>
        <p:spPr>
          <a:xfrm>
            <a:off x="588645" y="4332684"/>
            <a:ext cx="2692537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2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以开源思想、工程实践与社区文化为主线，回顾年度核心读物</a:t>
            </a:r>
            <a:endParaRPr lang="en-US" sz="563" dirty="0"/>
          </a:p>
        </p:txBody>
      </p:sp>
      <p:sp>
        <p:nvSpPr>
          <p:cNvPr id="35" name="Shape 33"/>
          <p:cNvSpPr/>
          <p:nvPr/>
        </p:nvSpPr>
        <p:spPr>
          <a:xfrm>
            <a:off x="3238440" y="3898344"/>
            <a:ext cx="2667030" cy="679371"/>
          </a:xfrm>
          <a:prstGeom prst="rect">
            <a:avLst/>
          </a:prstGeom>
          <a:solidFill>
            <a:srgbClr val="FFFFFF"/>
          </a:solidFill>
          <a:ln w="5715">
            <a:solidFill>
              <a:srgbClr val="0D2137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8440" y="3898344"/>
            <a:ext cx="22860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7" name="Text 35"/>
          <p:cNvSpPr/>
          <p:nvPr/>
        </p:nvSpPr>
        <p:spPr>
          <a:xfrm>
            <a:off x="3369885" y="4018359"/>
            <a:ext cx="26926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02 —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3369885" y="4132659"/>
            <a:ext cx="2692637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适兕视角</a:t>
            </a:r>
            <a:endParaRPr lang="en-US" sz="765" dirty="0"/>
          </a:p>
        </p:txBody>
      </p:sp>
      <p:sp>
        <p:nvSpPr>
          <p:cNvPr id="39" name="Text 37"/>
          <p:cNvSpPr/>
          <p:nvPr/>
        </p:nvSpPr>
        <p:spPr>
          <a:xfrm>
            <a:off x="3369885" y="4332684"/>
            <a:ext cx="2692637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2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开源之道主笔从一线实践出发，提炼每本书最值得带走的理念</a:t>
            </a:r>
            <a:endParaRPr lang="en-US" sz="563" dirty="0"/>
          </a:p>
        </p:txBody>
      </p:sp>
      <p:sp>
        <p:nvSpPr>
          <p:cNvPr id="40" name="Shape 38"/>
          <p:cNvSpPr/>
          <p:nvPr/>
        </p:nvSpPr>
        <p:spPr>
          <a:xfrm>
            <a:off x="6019770" y="3898344"/>
            <a:ext cx="2666940" cy="679371"/>
          </a:xfrm>
          <a:prstGeom prst="rect">
            <a:avLst/>
          </a:prstGeom>
          <a:solidFill>
            <a:srgbClr val="FFFFFF"/>
          </a:solidFill>
          <a:ln w="5715">
            <a:solidFill>
              <a:srgbClr val="0D2137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19770" y="3898344"/>
            <a:ext cx="22860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42" name="Text 40"/>
          <p:cNvSpPr/>
          <p:nvPr/>
        </p:nvSpPr>
        <p:spPr>
          <a:xfrm>
            <a:off x="6151215" y="4018359"/>
            <a:ext cx="26925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03 —</a:t>
            </a:r>
            <a:endParaRPr lang="en-US" sz="495" dirty="0"/>
          </a:p>
        </p:txBody>
      </p:sp>
      <p:sp>
        <p:nvSpPr>
          <p:cNvPr id="43" name="Text 41"/>
          <p:cNvSpPr/>
          <p:nvPr/>
        </p:nvSpPr>
        <p:spPr>
          <a:xfrm>
            <a:off x="6151215" y="4132659"/>
            <a:ext cx="2692537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共读共建</a:t>
            </a:r>
            <a:endParaRPr lang="en-US" sz="765" dirty="0"/>
          </a:p>
        </p:txBody>
      </p:sp>
      <p:sp>
        <p:nvSpPr>
          <p:cNvPr id="44" name="Text 42"/>
          <p:cNvSpPr/>
          <p:nvPr/>
        </p:nvSpPr>
        <p:spPr>
          <a:xfrm>
            <a:off x="6151215" y="4332684"/>
            <a:ext cx="2692537" cy="12501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spc="2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邀请读者跟随书单重走开源认知之旅，交流心得与延伸阅读</a:t>
            </a:r>
            <a:endParaRPr lang="en-US" sz="563" dirty="0"/>
          </a:p>
        </p:txBody>
      </p:sp>
      <p:sp>
        <p:nvSpPr>
          <p:cNvPr id="45" name="Shape 43"/>
          <p:cNvSpPr/>
          <p:nvPr/>
        </p:nvSpPr>
        <p:spPr>
          <a:xfrm>
            <a:off x="457200" y="4680585"/>
            <a:ext cx="8229600" cy="177165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457200" y="4680585"/>
            <a:ext cx="8229600" cy="0"/>
          </a:xfrm>
          <a:prstGeom prst="line">
            <a:avLst/>
          </a:prstGeom>
          <a:noFill/>
          <a:ln w="5715">
            <a:solidFill>
              <a:srgbClr val="0D2137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800600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48" name="Text 46"/>
          <p:cNvSpPr/>
          <p:nvPr/>
        </p:nvSpPr>
        <p:spPr>
          <a:xfrm>
            <a:off x="525780" y="4766310"/>
            <a:ext cx="40862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书单主题：</a:t>
            </a:r>
            <a:endParaRPr lang="en-US" sz="518" dirty="0"/>
          </a:p>
        </p:txBody>
      </p:sp>
      <p:sp>
        <p:nvSpPr>
          <p:cNvPr id="49" name="Text 47"/>
          <p:cNvSpPr/>
          <p:nvPr/>
        </p:nvSpPr>
        <p:spPr>
          <a:xfrm>
            <a:off x="914400" y="4766310"/>
            <a:ext cx="54578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开源思想与实践</a:t>
            </a:r>
            <a:endParaRPr lang="en-US" sz="518" dirty="0"/>
          </a:p>
        </p:txBody>
      </p:sp>
      <p:sp>
        <p:nvSpPr>
          <p:cNvPr id="50" name="Shape 48"/>
          <p:cNvSpPr/>
          <p:nvPr/>
        </p:nvSpPr>
        <p:spPr>
          <a:xfrm>
            <a:off x="4223385" y="4800600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51" name="Text 49"/>
          <p:cNvSpPr/>
          <p:nvPr/>
        </p:nvSpPr>
        <p:spPr>
          <a:xfrm>
            <a:off x="4291965" y="4766310"/>
            <a:ext cx="34004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整理人：</a:t>
            </a:r>
            <a:endParaRPr lang="en-US" sz="518" dirty="0"/>
          </a:p>
        </p:txBody>
      </p:sp>
      <p:sp>
        <p:nvSpPr>
          <p:cNvPr id="52" name="Text 50"/>
          <p:cNvSpPr/>
          <p:nvPr/>
        </p:nvSpPr>
        <p:spPr>
          <a:xfrm>
            <a:off x="4612005" y="4766310"/>
            <a:ext cx="50006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开源之道·适兕</a:t>
            </a:r>
            <a:endParaRPr lang="en-US" sz="518" dirty="0"/>
          </a:p>
        </p:txBody>
      </p:sp>
      <p:sp>
        <p:nvSpPr>
          <p:cNvPr id="53" name="Shape 51"/>
          <p:cNvSpPr/>
          <p:nvPr/>
        </p:nvSpPr>
        <p:spPr>
          <a:xfrm>
            <a:off x="7875270" y="4800600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54" name="Text 52"/>
          <p:cNvSpPr/>
          <p:nvPr/>
        </p:nvSpPr>
        <p:spPr>
          <a:xfrm>
            <a:off x="7943850" y="4766310"/>
            <a:ext cx="40862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整理时间：</a:t>
            </a:r>
            <a:endParaRPr lang="en-US" sz="518" dirty="0"/>
          </a:p>
        </p:txBody>
      </p:sp>
      <p:sp>
        <p:nvSpPr>
          <p:cNvPr id="55" name="Text 53"/>
          <p:cNvSpPr/>
          <p:nvPr/>
        </p:nvSpPr>
        <p:spPr>
          <a:xfrm>
            <a:off x="8332470" y="4766310"/>
            <a:ext cx="42005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18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2023年1月</a:t>
            </a:r>
            <a:endParaRPr lang="en-US" sz="51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"/>
          </a:xfrm>
          <a:prstGeom prst="rect">
            <a:avLst/>
          </a:prstGeom>
          <a:solidFill>
            <a:srgbClr val="C08B3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37785"/>
            <a:ext cx="9144000" cy="5715"/>
          </a:xfrm>
          <a:prstGeom prst="rect">
            <a:avLst/>
          </a:prstGeom>
          <a:solidFill>
            <a:srgbClr val="0D213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20040"/>
            <a:ext cx="8321040" cy="23431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11480" y="554355"/>
            <a:ext cx="8321040" cy="0"/>
          </a:xfrm>
          <a:prstGeom prst="line">
            <a:avLst/>
          </a:prstGeom>
          <a:noFill/>
          <a:ln w="5715">
            <a:solidFill>
              <a:srgbClr val="D9D5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48615"/>
            <a:ext cx="34290" cy="3429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7" name="Text 5"/>
          <p:cNvSpPr/>
          <p:nvPr/>
        </p:nvSpPr>
        <p:spPr>
          <a:xfrm>
            <a:off x="525780" y="320040"/>
            <a:ext cx="190663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05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CHAPTER OPENING</a:t>
            </a:r>
            <a:endParaRPr lang="en-US" sz="585" dirty="0"/>
          </a:p>
        </p:txBody>
      </p:sp>
      <p:sp>
        <p:nvSpPr>
          <p:cNvPr id="8" name="Shape 6"/>
          <p:cNvSpPr/>
          <p:nvPr/>
        </p:nvSpPr>
        <p:spPr>
          <a:xfrm>
            <a:off x="2308146" y="362903"/>
            <a:ext cx="160020" cy="5715"/>
          </a:xfrm>
          <a:prstGeom prst="rect">
            <a:avLst/>
          </a:prstGeom>
          <a:solidFill>
            <a:srgbClr val="0D213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36083" y="320040"/>
            <a:ext cx="167600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05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ONE / CHAPTER OPENING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411480" y="828675"/>
            <a:ext cx="66188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· ONE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217170" y="1573857"/>
            <a:ext cx="3017520" cy="1309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900" spc="-198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0" dirty="0"/>
          </a:p>
        </p:txBody>
      </p:sp>
      <p:sp>
        <p:nvSpPr>
          <p:cNvPr id="12" name="Shape 10"/>
          <p:cNvSpPr/>
          <p:nvPr/>
        </p:nvSpPr>
        <p:spPr>
          <a:xfrm>
            <a:off x="2177415" y="1200150"/>
            <a:ext cx="5715" cy="20574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0D2137"/>
              </a:gs>
              <a:gs pos="80000">
                <a:srgbClr val="0D2137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411480" y="3543300"/>
            <a:ext cx="1763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5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 · PHILOSOPHY · HISTORY</a:t>
            </a:r>
            <a:endParaRPr lang="en-US" sz="540" dirty="0"/>
          </a:p>
        </p:txBody>
      </p:sp>
      <p:sp>
        <p:nvSpPr>
          <p:cNvPr id="14" name="Shape 12"/>
          <p:cNvSpPr/>
          <p:nvPr/>
        </p:nvSpPr>
        <p:spPr>
          <a:xfrm>
            <a:off x="2468880" y="828675"/>
            <a:ext cx="6263640" cy="280035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2468880" y="828675"/>
            <a:ext cx="0" cy="2800350"/>
          </a:xfrm>
          <a:prstGeom prst="line">
            <a:avLst/>
          </a:prstGeom>
          <a:noFill/>
          <a:ln w="5715">
            <a:solidFill>
              <a:srgbClr val="D9D5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828675"/>
            <a:ext cx="5715" cy="45720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840355" y="891272"/>
            <a:ext cx="22860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8" name="Text 16"/>
          <p:cNvSpPr/>
          <p:nvPr/>
        </p:nvSpPr>
        <p:spPr>
          <a:xfrm>
            <a:off x="3148965" y="840105"/>
            <a:ext cx="131786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64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第一章 · CHAPTER ONE</a:t>
            </a:r>
            <a:endParaRPr lang="en-US" sz="585" dirty="0"/>
          </a:p>
        </p:txBody>
      </p:sp>
      <p:sp>
        <p:nvSpPr>
          <p:cNvPr id="19" name="Text 17"/>
          <p:cNvSpPr/>
          <p:nvPr/>
        </p:nvSpPr>
        <p:spPr>
          <a:xfrm>
            <a:off x="2840355" y="1074420"/>
            <a:ext cx="3875584" cy="4972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40" spc="32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第一部分·思想奠基</a:t>
            </a:r>
            <a:endParaRPr lang="en-US" sz="3240" dirty="0"/>
          </a:p>
        </p:txBody>
      </p:sp>
      <p:sp>
        <p:nvSpPr>
          <p:cNvPr id="20" name="Shape 18"/>
          <p:cNvSpPr/>
          <p:nvPr/>
        </p:nvSpPr>
        <p:spPr>
          <a:xfrm>
            <a:off x="2840355" y="1732717"/>
            <a:ext cx="457200" cy="1714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1" name="Text 19"/>
          <p:cNvSpPr/>
          <p:nvPr/>
        </p:nvSpPr>
        <p:spPr>
          <a:xfrm>
            <a:off x="2840355" y="1932742"/>
            <a:ext cx="2729141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90" spc="20" kern="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从理念出发，理解开源为何诞生、何以繁荣</a:t>
            </a:r>
            <a:endParaRPr lang="en-US" sz="990" dirty="0"/>
          </a:p>
        </p:txBody>
      </p:sp>
      <p:sp>
        <p:nvSpPr>
          <p:cNvPr id="22" name="Shape 20"/>
          <p:cNvSpPr/>
          <p:nvPr/>
        </p:nvSpPr>
        <p:spPr>
          <a:xfrm>
            <a:off x="2840355" y="2293858"/>
            <a:ext cx="3886200" cy="608648"/>
          </a:xfrm>
          <a:prstGeom prst="rect">
            <a:avLst/>
          </a:prstGeom>
          <a:solidFill>
            <a:srgbClr val="0D2137">
              <a:alpha val="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40355" y="2293858"/>
            <a:ext cx="0" cy="608648"/>
          </a:xfrm>
          <a:prstGeom prst="line">
            <a:avLst/>
          </a:prstGeom>
          <a:noFill/>
          <a:ln w="11430">
            <a:solidFill>
              <a:srgbClr val="C08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1805" y="2459593"/>
            <a:ext cx="3975897" cy="275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675" spc="7" kern="0" dirty="0">
                <a:solidFill>
                  <a:srgbClr val="4A5A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思想奠基篇聚焦开源的哲学与历史维度，通过经典著作帮助读者回答一个问题——开源究竟是一种技术选择，还是一种社会运动？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411480" y="3766185"/>
            <a:ext cx="8321040" cy="898327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411480" y="3766185"/>
            <a:ext cx="8321040" cy="0"/>
          </a:xfrm>
          <a:prstGeom prst="line">
            <a:avLst/>
          </a:prstGeom>
          <a:noFill/>
          <a:ln w="5715">
            <a:solidFill>
              <a:srgbClr val="D9D5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31920"/>
            <a:ext cx="2773650" cy="732592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3185130" y="3931920"/>
            <a:ext cx="0" cy="732592"/>
          </a:xfrm>
          <a:prstGeom prst="line">
            <a:avLst/>
          </a:prstGeom>
          <a:noFill/>
          <a:ln w="5715">
            <a:solidFill>
              <a:srgbClr val="D9D5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926205"/>
            <a:ext cx="20574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069080"/>
            <a:ext cx="45246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溯源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411480" y="4251960"/>
            <a:ext cx="496133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spc="6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溯源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411480" y="4543425"/>
            <a:ext cx="19912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spc="6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追溯开源运动的哲学根源与早期思想家的核心主张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3185130" y="3931920"/>
            <a:ext cx="2773650" cy="732592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5958780" y="3931920"/>
            <a:ext cx="0" cy="732592"/>
          </a:xfrm>
          <a:prstGeom prst="line">
            <a:avLst/>
          </a:prstGeom>
          <a:noFill/>
          <a:ln w="5715">
            <a:solidFill>
              <a:srgbClr val="D9D5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45150" y="3926205"/>
            <a:ext cx="20574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6" name="Text 34"/>
          <p:cNvSpPr/>
          <p:nvPr/>
        </p:nvSpPr>
        <p:spPr>
          <a:xfrm>
            <a:off x="3345150" y="4069080"/>
            <a:ext cx="46389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范式</a:t>
            </a:r>
            <a:endParaRPr lang="en-US" sz="540" dirty="0"/>
          </a:p>
        </p:txBody>
      </p:sp>
      <p:sp>
        <p:nvSpPr>
          <p:cNvPr id="37" name="Text 35"/>
          <p:cNvSpPr/>
          <p:nvPr/>
        </p:nvSpPr>
        <p:spPr>
          <a:xfrm>
            <a:off x="3345150" y="4251960"/>
            <a:ext cx="496133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spc="6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范式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3345150" y="4543425"/>
            <a:ext cx="190073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spc="6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理解大教堂与集市两种软件开发模式的本质差异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6118800" y="3926205"/>
            <a:ext cx="20574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40" name="Text 38"/>
          <p:cNvSpPr/>
          <p:nvPr/>
        </p:nvSpPr>
        <p:spPr>
          <a:xfrm>
            <a:off x="6118800" y="4069080"/>
            <a:ext cx="46961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社区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6118800" y="4251960"/>
            <a:ext cx="496133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spc="6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</a:t>
            </a:r>
            <a:endParaRPr lang="en-US" sz="1260" dirty="0"/>
          </a:p>
        </p:txBody>
      </p:sp>
      <p:sp>
        <p:nvSpPr>
          <p:cNvPr id="42" name="Text 40"/>
          <p:cNvSpPr/>
          <p:nvPr/>
        </p:nvSpPr>
        <p:spPr>
          <a:xfrm>
            <a:off x="6118800" y="4543425"/>
            <a:ext cx="19912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spc="6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认识开放协作如何在信任与互惠中形成自组织生态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411480" y="4767382"/>
            <a:ext cx="8321040" cy="194310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411480" y="4767382"/>
            <a:ext cx="8321040" cy="0"/>
          </a:xfrm>
          <a:prstGeom prst="line">
            <a:avLst/>
          </a:prstGeom>
          <a:noFill/>
          <a:ln w="5715">
            <a:solidFill>
              <a:srgbClr val="D9D5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875967"/>
            <a:ext cx="18015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86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A JOURNEY OF IDEAS</a:t>
            </a:r>
            <a:endParaRPr lang="en-US" sz="540" dirty="0"/>
          </a:p>
        </p:txBody>
      </p:sp>
      <p:sp>
        <p:nvSpPr>
          <p:cNvPr id="46" name="Shape 44"/>
          <p:cNvSpPr/>
          <p:nvPr/>
        </p:nvSpPr>
        <p:spPr>
          <a:xfrm>
            <a:off x="4367421" y="4907399"/>
            <a:ext cx="22860" cy="22860"/>
          </a:xfrm>
          <a:prstGeom prst="rect">
            <a:avLst/>
          </a:prstGeom>
          <a:solidFill>
            <a:srgbClr val="0D2137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447431" y="4875967"/>
            <a:ext cx="151598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86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· PARADIGM · COMMUNITY</a:t>
            </a:r>
            <a:endParaRPr lang="en-US" sz="540" dirty="0"/>
          </a:p>
        </p:txBody>
      </p:sp>
      <p:sp>
        <p:nvSpPr>
          <p:cNvPr id="48" name="Shape 46"/>
          <p:cNvSpPr/>
          <p:nvPr/>
        </p:nvSpPr>
        <p:spPr>
          <a:xfrm>
            <a:off x="5858143" y="4907399"/>
            <a:ext cx="22860" cy="22860"/>
          </a:xfrm>
          <a:prstGeom prst="rect">
            <a:avLst/>
          </a:prstGeom>
          <a:solidFill>
            <a:srgbClr val="0D2137">
              <a:alpha val="5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28439" y="4875967"/>
            <a:ext cx="57266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86" kern="0" dirty="0">
                <a:solidFill>
                  <a:srgbClr val="8A9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85750"/>
            <a:ext cx="8458200" cy="1306324"/>
          </a:xfrm>
          <a:prstGeom prst="roundRect">
            <a:avLst>
              <a:gd name="adj" fmla="val 6125"/>
            </a:avLst>
          </a:prstGeom>
          <a:solidFill>
            <a:srgbClr val="0D2137"/>
          </a:solidFill>
          <a:ln/>
          <a:effectLst>
            <a:outerShdw sx="100000" sy="100000" kx="0" ky="0" algn="bl" rotWithShape="0" blurRad="228600" dist="57150" dir="16200000">
              <a:srgbClr val="0D2137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42900" y="285750"/>
            <a:ext cx="34290" cy="1306323"/>
          </a:xfrm>
          <a:prstGeom prst="roundRect">
            <a:avLst>
              <a:gd name="adj" fmla="val 233333"/>
            </a:avLst>
          </a:prstGeom>
          <a:solidFill>
            <a:srgbClr val="C08B3E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91490"/>
            <a:ext cx="12673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经典导读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594360" y="692587"/>
            <a:ext cx="1828800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8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大教堂与集市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594360" y="1157734"/>
            <a:ext cx="5235854" cy="237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D6DA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本书被誉为开源运动的奠基之作，以 Linux 内核与 Apache Web 服务器的开发历程为案例，对比封闭集中式与开放分布式两种软件生产范式的优劣，是每位开源实践者的必读起点。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7880985" y="761792"/>
            <a:ext cx="74889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90" kern="0" dirty="0">
                <a:solidFill>
                  <a:srgbClr val="D9A9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CATHEDRAL</a:t>
            </a:r>
            <a:endParaRPr lang="en-US" sz="495" dirty="0"/>
          </a:p>
        </p:txBody>
      </p:sp>
      <p:sp>
        <p:nvSpPr>
          <p:cNvPr id="8" name="Text 6"/>
          <p:cNvSpPr/>
          <p:nvPr/>
        </p:nvSpPr>
        <p:spPr>
          <a:xfrm>
            <a:off x="7955280" y="896630"/>
            <a:ext cx="66568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90" kern="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THE BAZAAR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7623810" y="1037183"/>
            <a:ext cx="10369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i="1" spc="45" kern="0" dirty="0">
                <a:solidFill>
                  <a:srgbClr val="B7C0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Eric S. Raymond · 1997</a:t>
            </a:r>
            <a:endParaRPr lang="en-US" sz="585" dirty="0"/>
          </a:p>
        </p:txBody>
      </p:sp>
      <p:sp>
        <p:nvSpPr>
          <p:cNvPr id="10" name="Shape 8"/>
          <p:cNvSpPr/>
          <p:nvPr/>
        </p:nvSpPr>
        <p:spPr>
          <a:xfrm>
            <a:off x="342900" y="1717804"/>
            <a:ext cx="2171700" cy="726787"/>
          </a:xfrm>
          <a:prstGeom prst="roundRect">
            <a:avLst>
              <a:gd name="adj" fmla="val 9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16200000">
              <a:srgbClr val="0D2137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" y="1717804"/>
            <a:ext cx="0" cy="726787"/>
          </a:xfrm>
          <a:prstGeom prst="line">
            <a:avLst/>
          </a:prstGeom>
          <a:noFill/>
          <a:ln w="17145">
            <a:solidFill>
              <a:srgbClr val="C08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775" y="1814959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28675" y="1837819"/>
            <a:ext cx="3943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828675" y="1961227"/>
            <a:ext cx="1024128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作者 Eric S. Raymond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828675" y="2123480"/>
            <a:ext cx="1689811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开源运动领军人物，"大教堂与集市"思想的核心倡导者</a:t>
            </a:r>
            <a:endParaRPr lang="en-US" sz="540" dirty="0"/>
          </a:p>
        </p:txBody>
      </p:sp>
      <p:sp>
        <p:nvSpPr>
          <p:cNvPr id="16" name="Shape 14"/>
          <p:cNvSpPr/>
          <p:nvPr/>
        </p:nvSpPr>
        <p:spPr>
          <a:xfrm>
            <a:off x="342900" y="2524601"/>
            <a:ext cx="2171700" cy="620524"/>
          </a:xfrm>
          <a:prstGeom prst="roundRect">
            <a:avLst>
              <a:gd name="adj" fmla="val 110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16200000">
              <a:srgbClr val="0D2137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" y="2524601"/>
            <a:ext cx="0" cy="620524"/>
          </a:xfrm>
          <a:prstGeom prst="line">
            <a:avLst/>
          </a:prstGeom>
          <a:noFill/>
          <a:ln w="17145">
            <a:solidFill>
              <a:srgbClr val="C08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2621756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28675" y="2644616"/>
            <a:ext cx="65928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EDITION</a:t>
            </a:r>
            <a:endParaRPr lang="en-US" sz="495" dirty="0"/>
          </a:p>
        </p:txBody>
      </p:sp>
      <p:sp>
        <p:nvSpPr>
          <p:cNvPr id="20" name="Text 18"/>
          <p:cNvSpPr/>
          <p:nvPr/>
        </p:nvSpPr>
        <p:spPr>
          <a:xfrm>
            <a:off x="828675" y="2768025"/>
            <a:ext cx="80010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首版时间 1997 年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28675" y="2930277"/>
            <a:ext cx="161300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最初作为系列文章发表于互联网，随后结集出版</a:t>
            </a:r>
            <a:endParaRPr lang="en-US" sz="540" dirty="0"/>
          </a:p>
        </p:txBody>
      </p:sp>
      <p:sp>
        <p:nvSpPr>
          <p:cNvPr id="22" name="Shape 20"/>
          <p:cNvSpPr/>
          <p:nvPr/>
        </p:nvSpPr>
        <p:spPr>
          <a:xfrm>
            <a:off x="342900" y="3225135"/>
            <a:ext cx="2171700" cy="726787"/>
          </a:xfrm>
          <a:prstGeom prst="roundRect">
            <a:avLst>
              <a:gd name="adj" fmla="val 9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16200000">
              <a:srgbClr val="0D2137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" y="3225135"/>
            <a:ext cx="0" cy="726787"/>
          </a:xfrm>
          <a:prstGeom prst="line">
            <a:avLst/>
          </a:prstGeom>
          <a:noFill/>
          <a:ln w="17145">
            <a:solidFill>
              <a:srgbClr val="C08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775" y="3322290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828675" y="3345150"/>
            <a:ext cx="58293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828675" y="3468559"/>
            <a:ext cx="117134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2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案例项目 Linux / Apache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28675" y="3630811"/>
            <a:ext cx="1709014" cy="191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内核与 Apache Web 服务器的真实开发历程对照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2640330" y="1717804"/>
            <a:ext cx="3028950" cy="1284178"/>
          </a:xfrm>
          <a:prstGeom prst="roundRect">
            <a:avLst>
              <a:gd name="adj" fmla="val 53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16200000">
              <a:srgbClr val="0D2137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26380" y="2659082"/>
            <a:ext cx="342900" cy="342900"/>
          </a:xfrm>
          <a:prstGeom prst="rect">
            <a:avLst/>
          </a:prstGeom>
          <a:solidFill>
            <a:srgbClr val="C08B3E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77490" y="1845766"/>
            <a:ext cx="160020" cy="16002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1" name="Text 29"/>
          <p:cNvSpPr/>
          <p:nvPr/>
        </p:nvSpPr>
        <p:spPr>
          <a:xfrm>
            <a:off x="2814638" y="1866305"/>
            <a:ext cx="178308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2994660" y="1860679"/>
            <a:ext cx="53721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核心命题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2777490" y="2065258"/>
            <a:ext cx="20574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4" name="Text 32"/>
          <p:cNvSpPr/>
          <p:nvPr/>
        </p:nvSpPr>
        <p:spPr>
          <a:xfrm>
            <a:off x="2777490" y="2150983"/>
            <a:ext cx="3078785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Eric S. Raymond 提出集市式开源比封闭式大教堂更具生命力——开放的协作网络能够孕育出比封闭团队更强大、更持久的软件。</a:t>
            </a:r>
            <a:endParaRPr lang="en-US" sz="585" dirty="0"/>
          </a:p>
        </p:txBody>
      </p:sp>
      <p:sp>
        <p:nvSpPr>
          <p:cNvPr id="35" name="Text 33"/>
          <p:cNvSpPr/>
          <p:nvPr/>
        </p:nvSpPr>
        <p:spPr>
          <a:xfrm>
            <a:off x="2777490" y="2781419"/>
            <a:ext cx="94731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CATHEDRAL vs BAZAAR</a:t>
            </a:r>
            <a:endParaRPr lang="en-US" sz="495" dirty="0"/>
          </a:p>
        </p:txBody>
      </p:sp>
      <p:sp>
        <p:nvSpPr>
          <p:cNvPr id="36" name="Shape 34"/>
          <p:cNvSpPr/>
          <p:nvPr/>
        </p:nvSpPr>
        <p:spPr>
          <a:xfrm>
            <a:off x="5772150" y="1717804"/>
            <a:ext cx="3028950" cy="1284178"/>
          </a:xfrm>
          <a:prstGeom prst="roundRect">
            <a:avLst>
              <a:gd name="adj" fmla="val 53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16200000">
              <a:srgbClr val="0D2137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58200" y="2659082"/>
            <a:ext cx="342900" cy="342900"/>
          </a:xfrm>
          <a:prstGeom prst="rect">
            <a:avLst/>
          </a:prstGeom>
          <a:solidFill>
            <a:srgbClr val="C08B3E">
              <a:alpha val="1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09310" y="1845766"/>
            <a:ext cx="160020" cy="16002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9" name="Text 37"/>
          <p:cNvSpPr/>
          <p:nvPr/>
        </p:nvSpPr>
        <p:spPr>
          <a:xfrm>
            <a:off x="5940743" y="1866305"/>
            <a:ext cx="178308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5" dirty="0"/>
          </a:p>
        </p:txBody>
      </p:sp>
      <p:sp>
        <p:nvSpPr>
          <p:cNvPr id="40" name="Text 38"/>
          <p:cNvSpPr/>
          <p:nvPr/>
        </p:nvSpPr>
        <p:spPr>
          <a:xfrm>
            <a:off x="6126480" y="1860679"/>
            <a:ext cx="53721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关键洞见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5909310" y="2065258"/>
            <a:ext cx="20574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42" name="Text 40"/>
          <p:cNvSpPr/>
          <p:nvPr/>
        </p:nvSpPr>
        <p:spPr>
          <a:xfrm>
            <a:off x="5909310" y="2150983"/>
            <a:ext cx="3072384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"足够多的眼球可发现所有问题"——分布式协作是质量保障的根本机制，广泛的参与本身就是最有效的测试。</a:t>
            </a:r>
            <a:endParaRPr lang="en-US" sz="585" dirty="0"/>
          </a:p>
        </p:txBody>
      </p:sp>
      <p:sp>
        <p:nvSpPr>
          <p:cNvPr id="43" name="Text 41"/>
          <p:cNvSpPr/>
          <p:nvPr/>
        </p:nvSpPr>
        <p:spPr>
          <a:xfrm>
            <a:off x="5909310" y="2781419"/>
            <a:ext cx="92811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enough eyeballs</a:t>
            </a:r>
            <a:endParaRPr lang="en-US" sz="495" dirty="0"/>
          </a:p>
        </p:txBody>
      </p:sp>
      <p:sp>
        <p:nvSpPr>
          <p:cNvPr id="44" name="Shape 42"/>
          <p:cNvSpPr/>
          <p:nvPr/>
        </p:nvSpPr>
        <p:spPr>
          <a:xfrm>
            <a:off x="2640330" y="3104852"/>
            <a:ext cx="3028950" cy="1284268"/>
          </a:xfrm>
          <a:prstGeom prst="roundRect">
            <a:avLst>
              <a:gd name="adj" fmla="val 53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16200000">
              <a:srgbClr val="0D2137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326380" y="4046221"/>
            <a:ext cx="342900" cy="342900"/>
          </a:xfrm>
          <a:prstGeom prst="rect">
            <a:avLst/>
          </a:prstGeom>
          <a:solidFill>
            <a:srgbClr val="C08B3E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777490" y="3232815"/>
            <a:ext cx="160020" cy="16002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7" name="Text 45"/>
          <p:cNvSpPr/>
          <p:nvPr/>
        </p:nvSpPr>
        <p:spPr>
          <a:xfrm>
            <a:off x="2808923" y="3253353"/>
            <a:ext cx="178308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5" dirty="0"/>
          </a:p>
        </p:txBody>
      </p:sp>
      <p:sp>
        <p:nvSpPr>
          <p:cNvPr id="48" name="Text 46"/>
          <p:cNvSpPr/>
          <p:nvPr/>
        </p:nvSpPr>
        <p:spPr>
          <a:xfrm>
            <a:off x="2994660" y="3247727"/>
            <a:ext cx="53721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版本策略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2777490" y="3452306"/>
            <a:ext cx="20574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50" name="Text 48"/>
          <p:cNvSpPr/>
          <p:nvPr/>
        </p:nvSpPr>
        <p:spPr>
          <a:xfrm>
            <a:off x="2777490" y="3538031"/>
            <a:ext cx="3078785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早发常发、快速迭代胜过闭门造车的完美主义——频繁发布让反馈闭环更短，缺陷更早暴露，演进方向更清晰。</a:t>
            </a:r>
            <a:endParaRPr lang="en-US" sz="585" dirty="0"/>
          </a:p>
        </p:txBody>
      </p:sp>
      <p:sp>
        <p:nvSpPr>
          <p:cNvPr id="51" name="Text 49"/>
          <p:cNvSpPr/>
          <p:nvPr/>
        </p:nvSpPr>
        <p:spPr>
          <a:xfrm>
            <a:off x="2777490" y="4168557"/>
            <a:ext cx="1171346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early · release often</a:t>
            </a:r>
            <a:endParaRPr lang="en-US" sz="495" dirty="0"/>
          </a:p>
        </p:txBody>
      </p:sp>
      <p:sp>
        <p:nvSpPr>
          <p:cNvPr id="52" name="Shape 50"/>
          <p:cNvSpPr/>
          <p:nvPr/>
        </p:nvSpPr>
        <p:spPr>
          <a:xfrm>
            <a:off x="5772150" y="3104852"/>
            <a:ext cx="3028950" cy="1284268"/>
          </a:xfrm>
          <a:prstGeom prst="roundRect">
            <a:avLst>
              <a:gd name="adj" fmla="val 53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16200000">
              <a:srgbClr val="0D2137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458200" y="4046221"/>
            <a:ext cx="342900" cy="342900"/>
          </a:xfrm>
          <a:prstGeom prst="rect">
            <a:avLst/>
          </a:prstGeom>
          <a:solidFill>
            <a:srgbClr val="C08B3E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9310" y="3232815"/>
            <a:ext cx="160020" cy="16002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55" name="Text 53"/>
          <p:cNvSpPr/>
          <p:nvPr/>
        </p:nvSpPr>
        <p:spPr>
          <a:xfrm>
            <a:off x="5937885" y="3253353"/>
            <a:ext cx="178308" cy="11885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85" dirty="0"/>
          </a:p>
        </p:txBody>
      </p:sp>
      <p:sp>
        <p:nvSpPr>
          <p:cNvPr id="56" name="Text 54"/>
          <p:cNvSpPr/>
          <p:nvPr/>
        </p:nvSpPr>
        <p:spPr>
          <a:xfrm>
            <a:off x="6126480" y="3247727"/>
            <a:ext cx="53721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适兕点评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5909310" y="3452306"/>
            <a:ext cx="20574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58" name="Text 56"/>
          <p:cNvSpPr/>
          <p:nvPr/>
        </p:nvSpPr>
        <p:spPr>
          <a:xfrm>
            <a:off x="5909310" y="3538031"/>
            <a:ext cx="3078785" cy="22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这本书是理解开源治理模式的第一本读物，至今仍有现实指导意义——从内核社区到现代 SaaS，集市逻辑无处不在。</a:t>
            </a:r>
            <a:endParaRPr lang="en-US" sz="585" dirty="0"/>
          </a:p>
        </p:txBody>
      </p:sp>
      <p:sp>
        <p:nvSpPr>
          <p:cNvPr id="59" name="Text 57"/>
          <p:cNvSpPr/>
          <p:nvPr/>
        </p:nvSpPr>
        <p:spPr>
          <a:xfrm>
            <a:off x="5909310" y="4168557"/>
            <a:ext cx="69768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必读起点 · 现实指导</a:t>
            </a:r>
            <a:endParaRPr lang="en-US" sz="495" dirty="0"/>
          </a:p>
        </p:txBody>
      </p:sp>
      <p:sp>
        <p:nvSpPr>
          <p:cNvPr id="60" name="Shape 58"/>
          <p:cNvSpPr/>
          <p:nvPr/>
        </p:nvSpPr>
        <p:spPr>
          <a:xfrm>
            <a:off x="342900" y="4491990"/>
            <a:ext cx="8458200" cy="422910"/>
          </a:xfrm>
          <a:prstGeom prst="roundRect">
            <a:avLst>
              <a:gd name="adj" fmla="val 16216"/>
            </a:avLst>
          </a:prstGeom>
          <a:solidFill>
            <a:srgbClr val="142B48"/>
          </a:solidFill>
          <a:ln/>
          <a:effectLst>
            <a:outerShdw sx="100000" sy="100000" kx="0" ky="0" algn="bl" rotWithShape="0" blurRad="152400" dist="38100" dir="16200000">
              <a:srgbClr val="0D2137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02920" y="4594860"/>
            <a:ext cx="217170" cy="21717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62" name="Text 60"/>
          <p:cNvSpPr/>
          <p:nvPr/>
        </p:nvSpPr>
        <p:spPr>
          <a:xfrm>
            <a:off x="565339" y="4621113"/>
            <a:ext cx="195114" cy="16457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845820" y="4623435"/>
            <a:ext cx="11430" cy="1600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64" name="Text 62"/>
          <p:cNvSpPr/>
          <p:nvPr/>
        </p:nvSpPr>
        <p:spPr>
          <a:xfrm>
            <a:off x="982980" y="4652546"/>
            <a:ext cx="784418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spc="23" kern="0" dirty="0">
                <a:solidFill>
                  <a:srgbClr val="E5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二十余年来，《大教堂与集市》以其清晰的隐喻与深刻的洞察，持续影响着开源社区的治理实践与协作方式，</a:t>
            </a:r>
            <a:pPr algn="l" indent="0" marL="0">
              <a:lnSpc>
                <a:spcPct val="170000"/>
              </a:lnSpc>
              <a:buNone/>
            </a:pPr>
            <a:r>
              <a:rPr lang="en-US" sz="630" b="1" spc="23" kern="0" dirty="0">
                <a:solidFill>
                  <a:srgbClr val="D9A9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是理解开源精神的永恒起点</a:t>
            </a:r>
            <a:pPr algn="l" indent="0" marL="0">
              <a:lnSpc>
                <a:spcPct val="170000"/>
              </a:lnSpc>
              <a:buNone/>
            </a:pPr>
            <a:r>
              <a:rPr lang="en-US" sz="630" spc="23" kern="0" dirty="0">
                <a:solidFill>
                  <a:srgbClr val="E5E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，也为当代分布式协作模式提供了现实而有力的方法论。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571500"/>
            <a:ext cx="2171700" cy="2171700"/>
          </a:xfrm>
          <a:prstGeom prst="rect">
            <a:avLst/>
          </a:prstGeom>
          <a:solidFill>
            <a:srgbClr val="C08B3E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262890"/>
            <a:ext cx="138257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书籍推介</a:t>
            </a:r>
            <a:endParaRPr lang="en-US" sz="540" dirty="0"/>
          </a:p>
        </p:txBody>
      </p:sp>
      <p:sp>
        <p:nvSpPr>
          <p:cNvPr id="4" name="Text 2"/>
          <p:cNvSpPr/>
          <p:nvPr/>
        </p:nvSpPr>
        <p:spPr>
          <a:xfrm>
            <a:off x="342900" y="440055"/>
            <a:ext cx="1908810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070" b="1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《开源方式》</a:t>
            </a:r>
            <a:endParaRPr lang="en-US" sz="2070" dirty="0"/>
          </a:p>
        </p:txBody>
      </p:sp>
      <p:sp>
        <p:nvSpPr>
          <p:cNvPr id="5" name="Shape 3"/>
          <p:cNvSpPr/>
          <p:nvPr/>
        </p:nvSpPr>
        <p:spPr>
          <a:xfrm>
            <a:off x="2114550" y="571500"/>
            <a:ext cx="571500" cy="22860"/>
          </a:xfrm>
          <a:prstGeom prst="roundRect">
            <a:avLst>
              <a:gd name="adj" fmla="val 50000"/>
            </a:avLst>
          </a:prstGeom>
          <a:solidFill>
            <a:srgbClr val="C08B3E"/>
          </a:solidFill>
          <a:ln/>
        </p:spPr>
      </p:sp>
      <p:sp>
        <p:nvSpPr>
          <p:cNvPr id="6" name="Text 4"/>
          <p:cNvSpPr/>
          <p:nvPr/>
        </p:nvSpPr>
        <p:spPr>
          <a:xfrm>
            <a:off x="2811780" y="537210"/>
            <a:ext cx="113934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 Source Way</a:t>
            </a:r>
            <a:endParaRPr lang="en-US" sz="585" dirty="0"/>
          </a:p>
        </p:txBody>
      </p:sp>
      <p:sp>
        <p:nvSpPr>
          <p:cNvPr id="7" name="Text 5"/>
          <p:cNvSpPr/>
          <p:nvPr/>
        </p:nvSpPr>
        <p:spPr>
          <a:xfrm>
            <a:off x="342900" y="857250"/>
            <a:ext cx="698967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本书由多位</a:t>
            </a:r>
            <a:pPr algn="l" indent="0" marL="0">
              <a:lnSpc>
                <a:spcPct val="175000"/>
              </a:lnSpc>
              <a:buNone/>
            </a:pPr>
            <a:r>
              <a:rPr lang="en-US" sz="608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开源领军人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联合撰写，以「如何正确启动并运营一个开源项目」为核心线索，从</a:t>
            </a:r>
            <a:pPr algn="l" indent="0" marL="0">
              <a:lnSpc>
                <a:spcPct val="175000"/>
              </a:lnSpc>
              <a:buNone/>
            </a:pPr>
            <a:r>
              <a:rPr lang="en-US" sz="608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技术治理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608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法律合规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75000"/>
              </a:lnSpc>
              <a:buNone/>
            </a:pPr>
            <a:r>
              <a:rPr lang="en-US" sz="608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社区建设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三个层面给出可操作的方法论，是工程管理者不可错过的实践指南。</a:t>
            </a:r>
            <a:endParaRPr lang="en-US" sz="608" dirty="0"/>
          </a:p>
        </p:txBody>
      </p:sp>
      <p:sp>
        <p:nvSpPr>
          <p:cNvPr id="8" name="Shape 6"/>
          <p:cNvSpPr/>
          <p:nvPr/>
        </p:nvSpPr>
        <p:spPr>
          <a:xfrm>
            <a:off x="342900" y="1066562"/>
            <a:ext cx="2750790" cy="37147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145">
            <a:solidFill>
              <a:srgbClr val="C08B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4345" y="1155144"/>
            <a:ext cx="194310" cy="19431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0" name="Text 8"/>
          <p:cNvSpPr/>
          <p:nvPr/>
        </p:nvSpPr>
        <p:spPr>
          <a:xfrm>
            <a:off x="535513" y="1198007"/>
            <a:ext cx="15760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748665" y="1152287"/>
            <a:ext cx="20574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作者</a:t>
            </a:r>
            <a:endParaRPr lang="en-US" sz="495" dirty="0"/>
          </a:p>
        </p:txBody>
      </p:sp>
      <p:sp>
        <p:nvSpPr>
          <p:cNvPr id="12" name="Text 10"/>
          <p:cNvSpPr/>
          <p:nvPr/>
        </p:nvSpPr>
        <p:spPr>
          <a:xfrm>
            <a:off x="748665" y="1266587"/>
            <a:ext cx="64865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 DiBona 等</a:t>
            </a:r>
            <a:endParaRPr lang="en-US" sz="608" dirty="0"/>
          </a:p>
        </p:txBody>
      </p:sp>
      <p:sp>
        <p:nvSpPr>
          <p:cNvPr id="13" name="Shape 11"/>
          <p:cNvSpPr/>
          <p:nvPr/>
        </p:nvSpPr>
        <p:spPr>
          <a:xfrm>
            <a:off x="3196560" y="1066562"/>
            <a:ext cx="2750880" cy="37147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145">
            <a:solidFill>
              <a:srgbClr val="C08B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8005" y="1155144"/>
            <a:ext cx="194310" cy="19431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3392120" y="1198007"/>
            <a:ext cx="15171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602325" y="1163717"/>
            <a:ext cx="34861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涵盖项目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3602325" y="1260872"/>
            <a:ext cx="108813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GNOME / Apache / Mozilla</a:t>
            </a:r>
            <a:endParaRPr lang="en-US" sz="608" dirty="0"/>
          </a:p>
        </p:txBody>
      </p:sp>
      <p:sp>
        <p:nvSpPr>
          <p:cNvPr id="18" name="Shape 16"/>
          <p:cNvSpPr/>
          <p:nvPr/>
        </p:nvSpPr>
        <p:spPr>
          <a:xfrm>
            <a:off x="6050310" y="1066562"/>
            <a:ext cx="2750790" cy="37147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145">
            <a:solidFill>
              <a:srgbClr val="C08B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755" y="1155144"/>
            <a:ext cx="194310" cy="19431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6240423" y="1198007"/>
            <a:ext cx="16261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456075" y="1152287"/>
            <a:ext cx="34861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适用读者</a:t>
            </a:r>
            <a:endParaRPr lang="en-US" sz="495" dirty="0"/>
          </a:p>
        </p:txBody>
      </p:sp>
      <p:sp>
        <p:nvSpPr>
          <p:cNvPr id="22" name="Text 20"/>
          <p:cNvSpPr/>
          <p:nvPr/>
        </p:nvSpPr>
        <p:spPr>
          <a:xfrm>
            <a:off x="6456075" y="1266587"/>
            <a:ext cx="73609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项目负责人 / 工程师</a:t>
            </a:r>
            <a:endParaRPr lang="en-US" sz="608" dirty="0"/>
          </a:p>
        </p:txBody>
      </p:sp>
      <p:sp>
        <p:nvSpPr>
          <p:cNvPr id="23" name="Shape 21"/>
          <p:cNvSpPr/>
          <p:nvPr/>
        </p:nvSpPr>
        <p:spPr>
          <a:xfrm>
            <a:off x="342900" y="1540907"/>
            <a:ext cx="2988945" cy="1544122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5715">
            <a:solidFill>
              <a:srgbClr val="E6E2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" y="1540907"/>
            <a:ext cx="2977515" cy="1714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5" name="Text 23"/>
          <p:cNvSpPr/>
          <p:nvPr/>
        </p:nvSpPr>
        <p:spPr>
          <a:xfrm>
            <a:off x="462915" y="1638062"/>
            <a:ext cx="76169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FRAMEWORK</a:t>
            </a:r>
            <a:endParaRPr lang="en-US" sz="473" dirty="0"/>
          </a:p>
        </p:txBody>
      </p:sp>
      <p:sp>
        <p:nvSpPr>
          <p:cNvPr id="26" name="Text 24"/>
          <p:cNvSpPr/>
          <p:nvPr/>
        </p:nvSpPr>
        <p:spPr>
          <a:xfrm>
            <a:off x="462915" y="1758077"/>
            <a:ext cx="50863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全书框架</a:t>
            </a:r>
            <a:endParaRPr lang="en-US" sz="765" dirty="0"/>
          </a:p>
        </p:txBody>
      </p:sp>
      <p:sp>
        <p:nvSpPr>
          <p:cNvPr id="27" name="Text 25"/>
          <p:cNvSpPr/>
          <p:nvPr/>
        </p:nvSpPr>
        <p:spPr>
          <a:xfrm>
            <a:off x="462915" y="1935242"/>
            <a:ext cx="3027578" cy="202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 DiBona 汇集多位开源领军人物，系统阐述开源的运作方式与成功要素，从第一性原理出发拆解开源生态的完整逻辑链条。</a:t>
            </a:r>
            <a:endParaRPr lang="en-US" sz="540" dirty="0"/>
          </a:p>
        </p:txBody>
      </p:sp>
      <p:sp>
        <p:nvSpPr>
          <p:cNvPr id="28" name="Shape 26"/>
          <p:cNvSpPr/>
          <p:nvPr/>
        </p:nvSpPr>
        <p:spPr>
          <a:xfrm>
            <a:off x="3411855" y="1540907"/>
            <a:ext cx="2988945" cy="1544122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5715">
            <a:solidFill>
              <a:srgbClr val="E6E2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1855" y="1540907"/>
            <a:ext cx="2977515" cy="1714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0" name="Text 28"/>
          <p:cNvSpPr/>
          <p:nvPr/>
        </p:nvSpPr>
        <p:spPr>
          <a:xfrm>
            <a:off x="3531870" y="1638062"/>
            <a:ext cx="85770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FOUR PILLARS</a:t>
            </a:r>
            <a:endParaRPr lang="en-US" sz="473" dirty="0"/>
          </a:p>
        </p:txBody>
      </p:sp>
      <p:sp>
        <p:nvSpPr>
          <p:cNvPr id="31" name="Text 29"/>
          <p:cNvSpPr/>
          <p:nvPr/>
        </p:nvSpPr>
        <p:spPr>
          <a:xfrm>
            <a:off x="3531870" y="1758077"/>
            <a:ext cx="50863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四大支柱</a:t>
            </a:r>
            <a:endParaRPr lang="en-US" sz="765" dirty="0"/>
          </a:p>
        </p:txBody>
      </p:sp>
      <p:sp>
        <p:nvSpPr>
          <p:cNvPr id="32" name="Text 30"/>
          <p:cNvSpPr/>
          <p:nvPr/>
        </p:nvSpPr>
        <p:spPr>
          <a:xfrm>
            <a:off x="3531870" y="1935242"/>
            <a:ext cx="3072384" cy="202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透明开发、社区驱动、版本管理、许可证选择构成开源的四基座，缺一不可，共同撑起可持续的开源协作体系。</a:t>
            </a:r>
            <a:endParaRPr lang="en-US" sz="540" dirty="0"/>
          </a:p>
        </p:txBody>
      </p:sp>
      <p:sp>
        <p:nvSpPr>
          <p:cNvPr id="33" name="Shape 31"/>
          <p:cNvSpPr/>
          <p:nvPr/>
        </p:nvSpPr>
        <p:spPr>
          <a:xfrm>
            <a:off x="342900" y="3165038"/>
            <a:ext cx="2988945" cy="1544122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5715">
            <a:solidFill>
              <a:srgbClr val="E6E2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" y="3165038"/>
            <a:ext cx="2977515" cy="1714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5" name="Text 33"/>
          <p:cNvSpPr/>
          <p:nvPr/>
        </p:nvSpPr>
        <p:spPr>
          <a:xfrm>
            <a:off x="462915" y="3262193"/>
            <a:ext cx="588874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LICENSE</a:t>
            </a:r>
            <a:endParaRPr lang="en-US" sz="473" dirty="0"/>
          </a:p>
        </p:txBody>
      </p:sp>
      <p:sp>
        <p:nvSpPr>
          <p:cNvPr id="36" name="Text 34"/>
          <p:cNvSpPr/>
          <p:nvPr/>
        </p:nvSpPr>
        <p:spPr>
          <a:xfrm>
            <a:off x="462915" y="3382208"/>
            <a:ext cx="40576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许可证</a:t>
            </a:r>
            <a:endParaRPr lang="en-US" sz="765" dirty="0"/>
          </a:p>
        </p:txBody>
      </p:sp>
      <p:sp>
        <p:nvSpPr>
          <p:cNvPr id="37" name="Text 35"/>
          <p:cNvSpPr/>
          <p:nvPr/>
        </p:nvSpPr>
        <p:spPr>
          <a:xfrm>
            <a:off x="462915" y="3559373"/>
            <a:ext cx="3053182" cy="202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GPL、BSD、MIT、Apache 等许可证的哲学差异与适用场景深度分析，帮助团队在自由与保护之间做出最优抉择。</a:t>
            </a:r>
            <a:endParaRPr lang="en-US" sz="540" dirty="0"/>
          </a:p>
        </p:txBody>
      </p:sp>
      <p:sp>
        <p:nvSpPr>
          <p:cNvPr id="38" name="Shape 36"/>
          <p:cNvSpPr/>
          <p:nvPr/>
        </p:nvSpPr>
        <p:spPr>
          <a:xfrm>
            <a:off x="3411855" y="3165038"/>
            <a:ext cx="2988945" cy="1544122"/>
          </a:xfrm>
          <a:prstGeom prst="roundRect">
            <a:avLst>
              <a:gd name="adj" fmla="val 2961"/>
            </a:avLst>
          </a:prstGeom>
          <a:solidFill>
            <a:srgbClr val="FFFFFF"/>
          </a:solidFill>
          <a:ln w="5715">
            <a:solidFill>
              <a:srgbClr val="E6E2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11855" y="3165038"/>
            <a:ext cx="2977515" cy="1714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40" name="Text 38"/>
          <p:cNvSpPr/>
          <p:nvPr/>
        </p:nvSpPr>
        <p:spPr>
          <a:xfrm>
            <a:off x="3531870" y="3262193"/>
            <a:ext cx="106253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RECOMMENDATION</a:t>
            </a:r>
            <a:endParaRPr lang="en-US" sz="473" dirty="0"/>
          </a:p>
        </p:txBody>
      </p:sp>
      <p:sp>
        <p:nvSpPr>
          <p:cNvPr id="41" name="Text 39"/>
          <p:cNvSpPr/>
          <p:nvPr/>
        </p:nvSpPr>
        <p:spPr>
          <a:xfrm>
            <a:off x="3531870" y="3382208"/>
            <a:ext cx="50863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适配点评</a:t>
            </a:r>
            <a:endParaRPr lang="en-US" sz="765" dirty="0"/>
          </a:p>
        </p:txBody>
      </p:sp>
      <p:sp>
        <p:nvSpPr>
          <p:cNvPr id="42" name="Text 40"/>
          <p:cNvSpPr/>
          <p:nvPr/>
        </p:nvSpPr>
        <p:spPr>
          <a:xfrm>
            <a:off x="3531870" y="3559373"/>
            <a:ext cx="3072384" cy="202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适合团队负责人与项目发起人，帮助把个人项目推向可持续的社区化运营，让技术热情转化为可延续的公共价值。</a:t>
            </a:r>
            <a:endParaRPr lang="en-US" sz="540" dirty="0"/>
          </a:p>
        </p:txBody>
      </p:sp>
      <p:sp>
        <p:nvSpPr>
          <p:cNvPr id="43" name="Shape 41"/>
          <p:cNvSpPr/>
          <p:nvPr/>
        </p:nvSpPr>
        <p:spPr>
          <a:xfrm>
            <a:off x="6515100" y="1540907"/>
            <a:ext cx="2286000" cy="316825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715">
            <a:solidFill>
              <a:srgbClr val="E6E2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23748" y="2259747"/>
            <a:ext cx="11969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PILLARS · 四大支柱</a:t>
            </a:r>
            <a:endParaRPr lang="en-US" sz="495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2374047"/>
            <a:ext cx="2057400" cy="14859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7049453" y="3911382"/>
            <a:ext cx="13633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473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四柱擎天 · 冠冕象征 — 透明 · 社区 · 版本 · 许可</a:t>
            </a:r>
            <a:endParaRPr lang="en-US" sz="473" dirty="0"/>
          </a:p>
        </p:txBody>
      </p:sp>
      <p:sp>
        <p:nvSpPr>
          <p:cNvPr id="47" name="Shape 44"/>
          <p:cNvSpPr/>
          <p:nvPr/>
        </p:nvSpPr>
        <p:spPr>
          <a:xfrm>
            <a:off x="342900" y="4789170"/>
            <a:ext cx="8458200" cy="148590"/>
          </a:xfrm>
          <a:prstGeom prst="rect">
            <a:avLst/>
          </a:prstGeom>
          <a:noFill/>
          <a:ln/>
        </p:spPr>
      </p:sp>
      <p:sp>
        <p:nvSpPr>
          <p:cNvPr id="48" name="Shape 45"/>
          <p:cNvSpPr/>
          <p:nvPr/>
        </p:nvSpPr>
        <p:spPr>
          <a:xfrm>
            <a:off x="342900" y="4789170"/>
            <a:ext cx="8458200" cy="0"/>
          </a:xfrm>
          <a:prstGeom prst="line">
            <a:avLst/>
          </a:prstGeom>
          <a:noFill/>
          <a:ln w="5715">
            <a:solidFill>
              <a:srgbClr val="E6E2D9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42900" y="4863465"/>
            <a:ext cx="109453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REVIEW · 开源文化系列</a:t>
            </a:r>
            <a:endParaRPr lang="en-US" sz="473" dirty="0"/>
          </a:p>
        </p:txBody>
      </p:sp>
      <p:sp>
        <p:nvSpPr>
          <p:cNvPr id="50" name="Text 47"/>
          <p:cNvSpPr/>
          <p:nvPr/>
        </p:nvSpPr>
        <p:spPr>
          <a:xfrm>
            <a:off x="7749540" y="4857750"/>
            <a:ext cx="117774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 SOURCE WAY</a:t>
            </a:r>
            <a:endParaRPr lang="en-US" sz="47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AF8F4"/>
              </a:gs>
              <a:gs pos="50000">
                <a:srgbClr val="F3EEE6"/>
              </a:gs>
              <a:gs pos="100000">
                <a:srgbClr val="FAF8F4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28600" y="411480"/>
            <a:ext cx="68580" cy="6858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228600" y="411480"/>
            <a:ext cx="6858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11480"/>
            <a:ext cx="0" cy="6858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46820" y="4846320"/>
            <a:ext cx="68580" cy="6858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8915400" y="4846320"/>
            <a:ext cx="0" cy="6858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46820" y="4914900"/>
            <a:ext cx="6858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28600"/>
            <a:ext cx="8321040" cy="5715"/>
          </a:xfrm>
          <a:prstGeom prst="rect">
            <a:avLst/>
          </a:prstGeom>
          <a:gradFill rotWithShape="1">
            <a:gsLst>
              <a:gs pos="0">
                <a:srgbClr val="C08B3E"/>
              </a:gs>
              <a:gs pos="40000">
                <a:srgbClr val="E0B777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411480" y="297180"/>
            <a:ext cx="130576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PRACTICE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8092440" y="297180"/>
            <a:ext cx="7168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02 / 03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411480" y="662940"/>
            <a:ext cx="6629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585" dirty="0"/>
          </a:p>
        </p:txBody>
      </p:sp>
      <p:sp>
        <p:nvSpPr>
          <p:cNvPr id="13" name="Text 11"/>
          <p:cNvSpPr/>
          <p:nvPr/>
        </p:nvSpPr>
        <p:spPr>
          <a:xfrm>
            <a:off x="411480" y="868680"/>
            <a:ext cx="4497705" cy="1851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200" spc="-36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200" dirty="0"/>
          </a:p>
        </p:txBody>
      </p:sp>
      <p:sp>
        <p:nvSpPr>
          <p:cNvPr id="14" name="Shape 12"/>
          <p:cNvSpPr/>
          <p:nvPr/>
        </p:nvSpPr>
        <p:spPr>
          <a:xfrm>
            <a:off x="2451735" y="982980"/>
            <a:ext cx="457200" cy="457200"/>
          </a:xfrm>
          <a:prstGeom prst="ellips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11780"/>
            <a:ext cx="34290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46095"/>
            <a:ext cx="6400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TWO</a:t>
            </a:r>
            <a:endParaRPr lang="en-US" sz="585" dirty="0"/>
          </a:p>
        </p:txBody>
      </p:sp>
      <p:sp>
        <p:nvSpPr>
          <p:cNvPr id="17" name="Text 15"/>
          <p:cNvSpPr/>
          <p:nvPr/>
        </p:nvSpPr>
        <p:spPr>
          <a:xfrm>
            <a:off x="411480" y="3137535"/>
            <a:ext cx="628650" cy="246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40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从代码出发</a:t>
            </a:r>
            <a:pPr algn="l" indent="0" marL="0">
              <a:lnSpc>
                <a:spcPct val="180000"/>
              </a:lnSpc>
              <a:buNone/>
            </a:pPr>
            <a:endParaRPr lang="en-US" sz="540" dirty="0"/>
          </a:p>
          <a:p>
            <a:pPr algn="l" indent="0" marL="0">
              <a:lnSpc>
                <a:spcPct val="180000"/>
              </a:lnSpc>
              <a:buNone/>
            </a:pPr>
            <a:r>
              <a:rPr lang="en-US" sz="540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回到工程的本质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3383280" y="731520"/>
            <a:ext cx="13716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9020" y="731520"/>
            <a:ext cx="3314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  篇</a:t>
            </a:r>
            <a:endParaRPr lang="en-US" sz="540" dirty="0"/>
          </a:p>
        </p:txBody>
      </p:sp>
      <p:sp>
        <p:nvSpPr>
          <p:cNvPr id="20" name="Text 18"/>
          <p:cNvSpPr/>
          <p:nvPr/>
        </p:nvSpPr>
        <p:spPr>
          <a:xfrm>
            <a:off x="3383280" y="942975"/>
            <a:ext cx="5991149" cy="38111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10" b="1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第二部分·工程实践</a:t>
            </a:r>
            <a:endParaRPr lang="en-US" sz="2610" dirty="0"/>
          </a:p>
        </p:txBody>
      </p:sp>
      <p:sp>
        <p:nvSpPr>
          <p:cNvPr id="21" name="Shape 19"/>
          <p:cNvSpPr/>
          <p:nvPr/>
        </p:nvSpPr>
        <p:spPr>
          <a:xfrm>
            <a:off x="3383280" y="1449824"/>
            <a:ext cx="685800" cy="1714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2" name="Shape 20"/>
          <p:cNvSpPr/>
          <p:nvPr/>
        </p:nvSpPr>
        <p:spPr>
          <a:xfrm>
            <a:off x="4126230" y="1455539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1592699"/>
            <a:ext cx="4096512" cy="369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55" spc="45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从代码出发，掌握让软件更优雅、</a:t>
            </a:r>
            <a:pPr algn="l" indent="0" marL="0">
              <a:lnSpc>
                <a:spcPct val="170000"/>
              </a:lnSpc>
              <a:buNone/>
            </a:pPr>
            <a:endParaRPr lang="en-US" sz="85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855" spc="45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可维护的方法</a:t>
            </a:r>
            <a:endParaRPr lang="en-US" sz="855" dirty="0"/>
          </a:p>
        </p:txBody>
      </p:sp>
      <p:sp>
        <p:nvSpPr>
          <p:cNvPr id="24" name="Shape 22"/>
          <p:cNvSpPr/>
          <p:nvPr/>
        </p:nvSpPr>
        <p:spPr>
          <a:xfrm>
            <a:off x="3383280" y="2181880"/>
            <a:ext cx="2045970" cy="571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3"/>
          <p:cNvSpPr/>
          <p:nvPr/>
        </p:nvSpPr>
        <p:spPr>
          <a:xfrm rot="2700000">
            <a:off x="5520690" y="2167592"/>
            <a:ext cx="34290" cy="34290"/>
          </a:xfrm>
          <a:prstGeom prst="rect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6420" y="2144732"/>
            <a:ext cx="92171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DIRECTIONS</a:t>
            </a:r>
            <a:endParaRPr lang="en-US" sz="495" dirty="0"/>
          </a:p>
        </p:txBody>
      </p:sp>
      <p:sp>
        <p:nvSpPr>
          <p:cNvPr id="27" name="Shape 25"/>
          <p:cNvSpPr/>
          <p:nvPr/>
        </p:nvSpPr>
        <p:spPr>
          <a:xfrm rot="2700000">
            <a:off x="6560820" y="2167592"/>
            <a:ext cx="34290" cy="34290"/>
          </a:xfrm>
          <a:prstGeom prst="rect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86550" y="2181880"/>
            <a:ext cx="2045970" cy="571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3383280" y="2361902"/>
            <a:ext cx="1676370" cy="1018342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ln w="5715">
            <a:solidFill>
              <a:srgbClr val="F0E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2361902"/>
            <a:ext cx="20574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1" name="Text 29"/>
          <p:cNvSpPr/>
          <p:nvPr/>
        </p:nvSpPr>
        <p:spPr>
          <a:xfrm>
            <a:off x="3526155" y="2493347"/>
            <a:ext cx="15574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03</a:t>
            </a:r>
            <a:endParaRPr lang="en-US" sz="540" dirty="0"/>
          </a:p>
        </p:txBody>
      </p:sp>
      <p:sp>
        <p:nvSpPr>
          <p:cNvPr id="32" name="Text 30"/>
          <p:cNvSpPr/>
          <p:nvPr/>
        </p:nvSpPr>
        <p:spPr>
          <a:xfrm>
            <a:off x="3526155" y="2624792"/>
            <a:ext cx="155749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代码质量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6155" y="2847677"/>
            <a:ext cx="15574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i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QUALITY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3526155" y="2996267"/>
            <a:ext cx="1557495" cy="25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23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阅读可维护性、可读性、可测试性三位一体的核心工程素养</a:t>
            </a:r>
            <a:endParaRPr lang="en-US" sz="585" dirty="0"/>
          </a:p>
        </p:txBody>
      </p:sp>
      <p:sp>
        <p:nvSpPr>
          <p:cNvPr id="35" name="Shape 33"/>
          <p:cNvSpPr/>
          <p:nvPr/>
        </p:nvSpPr>
        <p:spPr>
          <a:xfrm>
            <a:off x="5219670" y="2361902"/>
            <a:ext cx="1676370" cy="1018342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ln w="5715">
            <a:solidFill>
              <a:srgbClr val="F0EB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9670" y="2361902"/>
            <a:ext cx="20574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7" name="Text 35"/>
          <p:cNvSpPr/>
          <p:nvPr/>
        </p:nvSpPr>
        <p:spPr>
          <a:xfrm>
            <a:off x="5362545" y="2493347"/>
            <a:ext cx="15574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03</a:t>
            </a:r>
            <a:endParaRPr lang="en-US" sz="540" dirty="0"/>
          </a:p>
        </p:txBody>
      </p:sp>
      <p:sp>
        <p:nvSpPr>
          <p:cNvPr id="38" name="Text 36"/>
          <p:cNvSpPr/>
          <p:nvPr/>
        </p:nvSpPr>
        <p:spPr>
          <a:xfrm>
            <a:off x="5362545" y="2624792"/>
            <a:ext cx="155749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重构思维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62545" y="2847677"/>
            <a:ext cx="15574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i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REFACTORING MINDSET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5362545" y="2996267"/>
            <a:ext cx="1557495" cy="25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23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以渐进式改写替代推倒重来，降低系统演进风险</a:t>
            </a:r>
            <a:endParaRPr lang="en-US" sz="585" dirty="0"/>
          </a:p>
        </p:txBody>
      </p:sp>
      <p:sp>
        <p:nvSpPr>
          <p:cNvPr id="41" name="Shape 39"/>
          <p:cNvSpPr/>
          <p:nvPr/>
        </p:nvSpPr>
        <p:spPr>
          <a:xfrm>
            <a:off x="7056060" y="2361902"/>
            <a:ext cx="1676460" cy="1018342"/>
          </a:xfrm>
          <a:prstGeom prst="roundRect">
            <a:avLst>
              <a:gd name="adj" fmla="val 1122"/>
            </a:avLst>
          </a:prstGeom>
          <a:solidFill>
            <a:srgbClr val="FFFFFF"/>
          </a:solidFill>
          <a:ln w="5715">
            <a:solidFill>
              <a:srgbClr val="F0EB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56060" y="2361902"/>
            <a:ext cx="20574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43" name="Text 41"/>
          <p:cNvSpPr/>
          <p:nvPr/>
        </p:nvSpPr>
        <p:spPr>
          <a:xfrm>
            <a:off x="7198935" y="2493347"/>
            <a:ext cx="155759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03</a:t>
            </a:r>
            <a:endParaRPr lang="en-US" sz="540" dirty="0"/>
          </a:p>
        </p:txBody>
      </p:sp>
      <p:sp>
        <p:nvSpPr>
          <p:cNvPr id="44" name="Text 42"/>
          <p:cNvSpPr/>
          <p:nvPr/>
        </p:nvSpPr>
        <p:spPr>
          <a:xfrm>
            <a:off x="7198935" y="2624792"/>
            <a:ext cx="155759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设计智慧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98935" y="2847677"/>
            <a:ext cx="15575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i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WISDOM</a:t>
            </a:r>
            <a:endParaRPr lang="en-US" sz="495" dirty="0"/>
          </a:p>
        </p:txBody>
      </p:sp>
      <p:sp>
        <p:nvSpPr>
          <p:cNvPr id="46" name="Text 44"/>
          <p:cNvSpPr/>
          <p:nvPr/>
        </p:nvSpPr>
        <p:spPr>
          <a:xfrm>
            <a:off x="7198935" y="2996267"/>
            <a:ext cx="1557595" cy="252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spc="23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经典设计模式与架构原则如何服务于长期可维护目标</a:t>
            </a:r>
            <a:endParaRPr lang="en-US" sz="585" dirty="0"/>
          </a:p>
        </p:txBody>
      </p:sp>
      <p:sp>
        <p:nvSpPr>
          <p:cNvPr id="47" name="Shape 45"/>
          <p:cNvSpPr/>
          <p:nvPr/>
        </p:nvSpPr>
        <p:spPr>
          <a:xfrm>
            <a:off x="411480" y="4581198"/>
            <a:ext cx="5715000" cy="133677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411480" y="4581198"/>
            <a:ext cx="0" cy="133677"/>
          </a:xfrm>
          <a:prstGeom prst="line">
            <a:avLst/>
          </a:prstGeom>
          <a:noFill/>
          <a:ln w="11430">
            <a:solidFill>
              <a:srgbClr val="C08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581198"/>
            <a:ext cx="6400800" cy="133677"/>
          </a:xfrm>
          <a:prstGeom prst="rect">
            <a:avLst/>
          </a:prstGeom>
          <a:noFill/>
          <a:ln/>
        </p:spPr>
        <p:txBody>
          <a:bodyPr wrap="none" lIns="0" tIns="91440" rIns="0" bIns="0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工程实践篇关注工程师每天的代码工作——如何写出能活过自己维护期的软件？本书从书单中精选了最具实战价值的三本参考。</a:t>
            </a:r>
            <a:endParaRPr lang="en-US" sz="585" dirty="0"/>
          </a:p>
        </p:txBody>
      </p:sp>
      <p:sp>
        <p:nvSpPr>
          <p:cNvPr id="50" name="Shape 48"/>
          <p:cNvSpPr/>
          <p:nvPr/>
        </p:nvSpPr>
        <p:spPr>
          <a:xfrm>
            <a:off x="411480" y="4794885"/>
            <a:ext cx="832104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E5E7EB"/>
              </a:gs>
              <a:gs pos="80000">
                <a:srgbClr val="E5E7EB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7F8FA"/>
              </a:gs>
              <a:gs pos="100000">
                <a:srgbClr val="EEF1F5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6730" y="274320"/>
            <a:ext cx="78089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· 01</a:t>
            </a:r>
            <a:endParaRPr lang="en-US" sz="495" dirty="0"/>
          </a:p>
        </p:txBody>
      </p:sp>
      <p:sp>
        <p:nvSpPr>
          <p:cNvPr id="4" name="Text 2"/>
          <p:cNvSpPr/>
          <p:nvPr/>
        </p:nvSpPr>
        <p:spPr>
          <a:xfrm>
            <a:off x="320040" y="434340"/>
            <a:ext cx="2560320" cy="3886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60" b="1" spc="-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《重构》</a:t>
            </a:r>
            <a:endParaRPr lang="en-US" sz="3060" dirty="0"/>
          </a:p>
        </p:txBody>
      </p:sp>
      <p:sp>
        <p:nvSpPr>
          <p:cNvPr id="5" name="Text 3"/>
          <p:cNvSpPr/>
          <p:nvPr/>
        </p:nvSpPr>
        <p:spPr>
          <a:xfrm>
            <a:off x="320040" y="89154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REFACTORING · IMPROVING THE DESIGN OF EXISTING CODE</a:t>
            </a:r>
            <a:endParaRPr lang="en-US" sz="585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171700" cy="39433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20040" y="1628775"/>
            <a:ext cx="217170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71048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作者</a:t>
            </a:r>
            <a:endParaRPr lang="en-US" sz="450" dirty="0"/>
          </a:p>
        </p:txBody>
      </p:sp>
      <p:sp>
        <p:nvSpPr>
          <p:cNvPr id="9" name="Text 7"/>
          <p:cNvSpPr/>
          <p:nvPr/>
        </p:nvSpPr>
        <p:spPr>
          <a:xfrm>
            <a:off x="320040" y="1343025"/>
            <a:ext cx="7315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Martin Fowler</a:t>
            </a:r>
            <a:endParaRPr lang="en-US" sz="765" dirty="0"/>
          </a:p>
        </p:txBody>
      </p:sp>
      <p:sp>
        <p:nvSpPr>
          <p:cNvPr id="10" name="Text 8"/>
          <p:cNvSpPr/>
          <p:nvPr/>
        </p:nvSpPr>
        <p:spPr>
          <a:xfrm>
            <a:off x="1057275" y="1234440"/>
            <a:ext cx="67848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</a:t>
            </a:r>
            <a:endParaRPr lang="en-US" sz="450" dirty="0"/>
          </a:p>
        </p:txBody>
      </p:sp>
      <p:sp>
        <p:nvSpPr>
          <p:cNvPr id="11" name="Text 9"/>
          <p:cNvSpPr/>
          <p:nvPr/>
        </p:nvSpPr>
        <p:spPr>
          <a:xfrm>
            <a:off x="1057275" y="1343025"/>
            <a:ext cx="70294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2 版 · 2018</a:t>
            </a:r>
            <a:endParaRPr lang="en-US" sz="765" dirty="0"/>
          </a:p>
        </p:txBody>
      </p:sp>
      <p:sp>
        <p:nvSpPr>
          <p:cNvPr id="12" name="Text 10"/>
          <p:cNvSpPr/>
          <p:nvPr/>
        </p:nvSpPr>
        <p:spPr>
          <a:xfrm>
            <a:off x="1765935" y="1234440"/>
            <a:ext cx="3200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重构手法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1765935" y="1343025"/>
            <a:ext cx="301181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765" dirty="0"/>
          </a:p>
        </p:txBody>
      </p:sp>
      <p:sp>
        <p:nvSpPr>
          <p:cNvPr id="14" name="Shape 12"/>
          <p:cNvSpPr/>
          <p:nvPr/>
        </p:nvSpPr>
        <p:spPr>
          <a:xfrm>
            <a:off x="320040" y="1765935"/>
            <a:ext cx="2171700" cy="412284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20040" y="1765935"/>
            <a:ext cx="0" cy="412284"/>
          </a:xfrm>
          <a:prstGeom prst="line">
            <a:avLst/>
          </a:prstGeom>
          <a:noFill/>
          <a:ln w="11430">
            <a:solidFill>
              <a:srgbClr val="C08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910" y="1765935"/>
            <a:ext cx="2317090" cy="412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</a:t>
            </a:r>
            <a:pPr algn="l" indent="0" marL="0">
              <a:lnSpc>
                <a:spcPct val="185000"/>
              </a:lnSpc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不是重写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，而是在不改变外部行为的前提下持续改善内部结构，本书给出了清晰的重构清单和测试策略，是现代软件工程中</a:t>
            </a:r>
            <a:pPr algn="l" indent="0" marL="0">
              <a:lnSpc>
                <a:spcPct val="185000"/>
              </a:lnSpc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影响最深远的实践手册之一</a:t>
            </a:r>
            <a:pPr algn="l" indent="0" marL="0">
              <a:lnSpc>
                <a:spcPct val="185000"/>
              </a:lnSpc>
              <a:buNone/>
            </a:pPr>
            <a:r>
              <a:rPr lang="en-US" sz="58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585" dirty="0"/>
          </a:p>
        </p:txBody>
      </p:sp>
      <p:sp>
        <p:nvSpPr>
          <p:cNvPr id="17" name="Shape 15"/>
          <p:cNvSpPr/>
          <p:nvPr/>
        </p:nvSpPr>
        <p:spPr>
          <a:xfrm>
            <a:off x="2674620" y="434340"/>
            <a:ext cx="1628775" cy="20345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74620" y="434340"/>
            <a:ext cx="17145" cy="202311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9" name="Text 17"/>
          <p:cNvSpPr/>
          <p:nvPr/>
        </p:nvSpPr>
        <p:spPr>
          <a:xfrm>
            <a:off x="2794635" y="542925"/>
            <a:ext cx="155539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20" name="Text 18"/>
          <p:cNvSpPr/>
          <p:nvPr/>
        </p:nvSpPr>
        <p:spPr>
          <a:xfrm>
            <a:off x="2794635" y="657225"/>
            <a:ext cx="155539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核心方法</a:t>
            </a:r>
            <a:endParaRPr lang="en-US" sz="765" dirty="0"/>
          </a:p>
        </p:txBody>
      </p:sp>
      <p:sp>
        <p:nvSpPr>
          <p:cNvPr id="21" name="Text 19"/>
          <p:cNvSpPr/>
          <p:nvPr/>
        </p:nvSpPr>
        <p:spPr>
          <a:xfrm>
            <a:off x="2794635" y="845820"/>
            <a:ext cx="1555394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Martin Fowler 定义了数十种重构手法，为代码演进提供系统工具箱。</a:t>
            </a:r>
            <a:endParaRPr lang="en-US" sz="540" dirty="0"/>
          </a:p>
        </p:txBody>
      </p:sp>
      <p:sp>
        <p:nvSpPr>
          <p:cNvPr id="22" name="Text 20"/>
          <p:cNvSpPr/>
          <p:nvPr/>
        </p:nvSpPr>
        <p:spPr>
          <a:xfrm>
            <a:off x="2794635" y="2234565"/>
            <a:ext cx="1555394" cy="125730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4383405" y="434340"/>
            <a:ext cx="1628775" cy="20345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3405" y="434340"/>
            <a:ext cx="17145" cy="202311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5" name="Text 23"/>
          <p:cNvSpPr/>
          <p:nvPr/>
        </p:nvSpPr>
        <p:spPr>
          <a:xfrm>
            <a:off x="4503420" y="542925"/>
            <a:ext cx="155539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4503420" y="657225"/>
            <a:ext cx="155539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坏味道</a:t>
            </a:r>
            <a:endParaRPr lang="en-US" sz="765" dirty="0"/>
          </a:p>
        </p:txBody>
      </p:sp>
      <p:sp>
        <p:nvSpPr>
          <p:cNvPr id="27" name="Text 25"/>
          <p:cNvSpPr/>
          <p:nvPr/>
        </p:nvSpPr>
        <p:spPr>
          <a:xfrm>
            <a:off x="4503420" y="845820"/>
            <a:ext cx="1555394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过长函数、重复代码、过大类等坏味道是重构的触发信号。</a:t>
            </a:r>
            <a:endParaRPr lang="en-US" sz="540" dirty="0"/>
          </a:p>
        </p:txBody>
      </p:sp>
      <p:sp>
        <p:nvSpPr>
          <p:cNvPr id="28" name="Text 26"/>
          <p:cNvSpPr/>
          <p:nvPr/>
        </p:nvSpPr>
        <p:spPr>
          <a:xfrm>
            <a:off x="4503420" y="2234565"/>
            <a:ext cx="1555394" cy="125730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SMELL</a:t>
            </a:r>
            <a:endParaRPr lang="en-US" sz="450" dirty="0"/>
          </a:p>
        </p:txBody>
      </p:sp>
      <p:sp>
        <p:nvSpPr>
          <p:cNvPr id="29" name="Shape 27"/>
          <p:cNvSpPr/>
          <p:nvPr/>
        </p:nvSpPr>
        <p:spPr>
          <a:xfrm>
            <a:off x="2674620" y="2548890"/>
            <a:ext cx="1628775" cy="20345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4620" y="2548890"/>
            <a:ext cx="17145" cy="202311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1" name="Text 29"/>
          <p:cNvSpPr/>
          <p:nvPr/>
        </p:nvSpPr>
        <p:spPr>
          <a:xfrm>
            <a:off x="2794635" y="2657475"/>
            <a:ext cx="155539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32" name="Text 30"/>
          <p:cNvSpPr/>
          <p:nvPr/>
        </p:nvSpPr>
        <p:spPr>
          <a:xfrm>
            <a:off x="2794635" y="2771775"/>
            <a:ext cx="155539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测试保障</a:t>
            </a:r>
            <a:endParaRPr lang="en-US" sz="765" dirty="0"/>
          </a:p>
        </p:txBody>
      </p:sp>
      <p:sp>
        <p:nvSpPr>
          <p:cNvPr id="33" name="Text 31"/>
          <p:cNvSpPr/>
          <p:nvPr/>
        </p:nvSpPr>
        <p:spPr>
          <a:xfrm>
            <a:off x="2794635" y="2960370"/>
            <a:ext cx="1555394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重构前先补测试，用自动化测试守护行为不变性。</a:t>
            </a:r>
            <a:endParaRPr lang="en-US" sz="540" dirty="0"/>
          </a:p>
        </p:txBody>
      </p:sp>
      <p:sp>
        <p:nvSpPr>
          <p:cNvPr id="34" name="Text 32"/>
          <p:cNvSpPr/>
          <p:nvPr/>
        </p:nvSpPr>
        <p:spPr>
          <a:xfrm>
            <a:off x="2794635" y="4349115"/>
            <a:ext cx="1555394" cy="125730"/>
          </a:xfrm>
          <a:prstGeom prst="rect">
            <a:avLst/>
          </a:prstGeom>
          <a:noFill/>
          <a:ln/>
        </p:spPr>
        <p:txBody>
          <a:bodyPr wrap="none" lIns="57150" tIns="0" rIns="0" bIns="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4383405" y="2548890"/>
            <a:ext cx="1628775" cy="20345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3405" y="2548890"/>
            <a:ext cx="17145" cy="202311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7" name="Text 35"/>
          <p:cNvSpPr/>
          <p:nvPr/>
        </p:nvSpPr>
        <p:spPr>
          <a:xfrm>
            <a:off x="4503420" y="2657475"/>
            <a:ext cx="155539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4503420" y="2771775"/>
            <a:ext cx="1555394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适兕点评</a:t>
            </a:r>
            <a:endParaRPr lang="en-US" sz="765" dirty="0"/>
          </a:p>
        </p:txBody>
      </p:sp>
      <p:sp>
        <p:nvSpPr>
          <p:cNvPr id="39" name="Text 37"/>
          <p:cNvSpPr/>
          <p:nvPr/>
        </p:nvSpPr>
        <p:spPr>
          <a:xfrm>
            <a:off x="4503420" y="2960370"/>
            <a:ext cx="1555394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每个写代码的人都应把它放在手边，遇到坏味道时随时翻阅对照。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4503420" y="4349115"/>
            <a:ext cx="1555394" cy="125730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450" dirty="0"/>
          </a:p>
        </p:txBody>
      </p:sp>
      <p:sp>
        <p:nvSpPr>
          <p:cNvPr id="41" name="Text 39"/>
          <p:cNvSpPr/>
          <p:nvPr/>
        </p:nvSpPr>
        <p:spPr>
          <a:xfrm>
            <a:off x="6195060" y="434340"/>
            <a:ext cx="294436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重构前后对比示意</a:t>
            </a:r>
            <a:endParaRPr lang="en-US" sz="585" dirty="0"/>
          </a:p>
        </p:txBody>
      </p:sp>
      <p:sp>
        <p:nvSpPr>
          <p:cNvPr id="42" name="Shape 40"/>
          <p:cNvSpPr/>
          <p:nvPr/>
        </p:nvSpPr>
        <p:spPr>
          <a:xfrm>
            <a:off x="6195060" y="434340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95060" y="611505"/>
            <a:ext cx="2628900" cy="3469005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1500000">
            <a:off x="6069375" y="1728788"/>
            <a:ext cx="1571625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900000">
            <a:off x="5937885" y="2317433"/>
            <a:ext cx="1834515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-480000">
            <a:off x="6003608" y="2906078"/>
            <a:ext cx="1703070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2400000">
            <a:off x="6463040" y="1434465"/>
            <a:ext cx="1045845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-2100000">
            <a:off x="6331863" y="2611755"/>
            <a:ext cx="1177290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3300000">
            <a:off x="6594172" y="2023110"/>
            <a:ext cx="914400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320000">
            <a:off x="6135097" y="3200400"/>
            <a:ext cx="1440180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-3000000">
            <a:off x="6725350" y="1140143"/>
            <a:ext cx="782955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80000">
            <a:off x="6264846" y="2170271"/>
            <a:ext cx="1245870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-3600000">
            <a:off x="6526530" y="3347561"/>
            <a:ext cx="657225" cy="11430"/>
          </a:xfrm>
          <a:prstGeom prst="rect">
            <a:avLst/>
          </a:prstGeom>
          <a:solidFill>
            <a:srgbClr val="DC2626">
              <a:alpha val="5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90836" y="3846195"/>
            <a:ext cx="328613" cy="13716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</p:sp>
      <p:sp>
        <p:nvSpPr>
          <p:cNvPr id="55" name="Text 53"/>
          <p:cNvSpPr/>
          <p:nvPr/>
        </p:nvSpPr>
        <p:spPr>
          <a:xfrm>
            <a:off x="6690836" y="3846195"/>
            <a:ext cx="391478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重构前</a:t>
            </a:r>
            <a:endParaRPr lang="en-US" sz="495" dirty="0"/>
          </a:p>
        </p:txBody>
      </p:sp>
      <p:sp>
        <p:nvSpPr>
          <p:cNvPr id="56" name="Shape 54"/>
          <p:cNvSpPr/>
          <p:nvPr/>
        </p:nvSpPr>
        <p:spPr>
          <a:xfrm>
            <a:off x="754380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8096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3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1812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95528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9244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9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22960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6676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0392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64108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7824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1540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52560" y="8686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54380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3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68096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81812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95528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9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09244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6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22960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36676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50392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64108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77824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91540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9052560" y="9829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754380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4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768096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781812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9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95528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6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809244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822960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36676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850392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64108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77824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91540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9052560" y="10972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754380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68096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9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781812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6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795528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09244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22960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36676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50392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864108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77824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91540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052560" y="12115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754380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9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768096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6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781812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795528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809244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822960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836676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850392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864108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877824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891540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9052560" y="13258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754380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6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768096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781812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795528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809244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822960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836676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850392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864108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877824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891540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9052560" y="14401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754380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768096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781812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795528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809244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822960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5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836676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2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850392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46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864108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5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877824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5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891540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36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9052560" y="1554480"/>
            <a:ext cx="102870" cy="80010"/>
          </a:xfrm>
          <a:prstGeom prst="roundRect">
            <a:avLst>
              <a:gd name="adj" fmla="val 14286"/>
            </a:avLst>
          </a:prstGeom>
          <a:solidFill>
            <a:srgbClr val="059669">
              <a:alpha val="26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7999571" y="3846195"/>
            <a:ext cx="328613" cy="13716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</p:sp>
      <p:sp>
        <p:nvSpPr>
          <p:cNvPr id="141" name="Text 139"/>
          <p:cNvSpPr/>
          <p:nvPr/>
        </p:nvSpPr>
        <p:spPr>
          <a:xfrm>
            <a:off x="7999571" y="3846195"/>
            <a:ext cx="391478" cy="13716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重构后</a:t>
            </a:r>
            <a:endParaRPr lang="en-US" sz="495" dirty="0"/>
          </a:p>
        </p:txBody>
      </p:sp>
      <p:sp>
        <p:nvSpPr>
          <p:cNvPr id="142" name="Shape 140"/>
          <p:cNvSpPr/>
          <p:nvPr/>
        </p:nvSpPr>
        <p:spPr>
          <a:xfrm>
            <a:off x="7338060" y="845820"/>
            <a:ext cx="342900" cy="2943225"/>
          </a:xfrm>
          <a:prstGeom prst="rect">
            <a:avLst/>
          </a:prstGeom>
          <a:gradFill rotWithShape="1">
            <a:gsLst>
              <a:gs pos="0">
                <a:srgbClr val="DC2626">
                  <a:alpha val="8000"/>
                </a:srgbClr>
              </a:gs>
              <a:gs pos="50000">
                <a:srgbClr val="C08B3E">
                  <a:alpha val="12000"/>
                </a:srgbClr>
              </a:gs>
              <a:gs pos="100000">
                <a:srgbClr val="059669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143" name="Shape 141"/>
          <p:cNvSpPr/>
          <p:nvPr/>
        </p:nvSpPr>
        <p:spPr>
          <a:xfrm>
            <a:off x="7395210" y="617220"/>
            <a:ext cx="228600" cy="3457575"/>
          </a:xfrm>
          <a:prstGeom prst="rect">
            <a:avLst/>
          </a:prstGeom>
          <a:gradFill rotWithShape="1">
            <a:gsLst>
              <a:gs pos="0">
                <a:srgbClr val="DC2626">
                  <a:alpha val="5000"/>
                </a:srgbClr>
              </a:gs>
              <a:gs pos="50000">
                <a:srgbClr val="C08B3E">
                  <a:alpha val="15000"/>
                </a:srgbClr>
              </a:gs>
              <a:gs pos="100000">
                <a:srgbClr val="059669">
                  <a:alpha val="5000"/>
                </a:srgbClr>
              </a:gs>
            </a:gsLst>
            <a:lin ang="0" scaled="0"/>
          </a:gradFill>
          <a:ln/>
        </p:spPr>
      </p:sp>
      <p:pic>
        <p:nvPicPr>
          <p:cNvPr id="14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9500" y="2265998"/>
            <a:ext cx="160020" cy="160020"/>
          </a:xfrm>
          <a:prstGeom prst="rect">
            <a:avLst/>
          </a:prstGeom>
        </p:spPr>
      </p:pic>
      <p:sp>
        <p:nvSpPr>
          <p:cNvPr id="145" name="Text 142"/>
          <p:cNvSpPr/>
          <p:nvPr/>
        </p:nvSpPr>
        <p:spPr>
          <a:xfrm>
            <a:off x="6217920" y="4149090"/>
            <a:ext cx="5257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混乱·低可维护</a:t>
            </a:r>
            <a:endParaRPr lang="en-US" sz="495" dirty="0"/>
          </a:p>
        </p:txBody>
      </p:sp>
      <p:sp>
        <p:nvSpPr>
          <p:cNvPr id="146" name="Shape 143"/>
          <p:cNvSpPr/>
          <p:nvPr/>
        </p:nvSpPr>
        <p:spPr>
          <a:xfrm>
            <a:off x="6217920" y="4177665"/>
            <a:ext cx="34290" cy="3429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7" name="Text 144"/>
          <p:cNvSpPr/>
          <p:nvPr/>
        </p:nvSpPr>
        <p:spPr>
          <a:xfrm>
            <a:off x="8275320" y="4149090"/>
            <a:ext cx="58887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秩序·清晰可演进</a:t>
            </a:r>
            <a:endParaRPr lang="en-US" sz="495" dirty="0"/>
          </a:p>
        </p:txBody>
      </p:sp>
      <p:sp>
        <p:nvSpPr>
          <p:cNvPr id="148" name="Shape 145"/>
          <p:cNvSpPr/>
          <p:nvPr/>
        </p:nvSpPr>
        <p:spPr>
          <a:xfrm>
            <a:off x="8275320" y="4177665"/>
            <a:ext cx="34290" cy="3429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9" name="Shape 146"/>
          <p:cNvSpPr/>
          <p:nvPr/>
        </p:nvSpPr>
        <p:spPr>
          <a:xfrm>
            <a:off x="6195060" y="4309110"/>
            <a:ext cx="2628900" cy="274320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/>
        </p:spPr>
      </p:sp>
      <p:sp>
        <p:nvSpPr>
          <p:cNvPr id="150" name="Shape 147"/>
          <p:cNvSpPr/>
          <p:nvPr/>
        </p:nvSpPr>
        <p:spPr>
          <a:xfrm>
            <a:off x="6275070" y="4377690"/>
            <a:ext cx="137160" cy="1371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151" name="Text 148"/>
          <p:cNvSpPr/>
          <p:nvPr/>
        </p:nvSpPr>
        <p:spPr>
          <a:xfrm>
            <a:off x="6275070" y="4377690"/>
            <a:ext cx="2057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540" dirty="0"/>
          </a:p>
        </p:txBody>
      </p:sp>
      <p:sp>
        <p:nvSpPr>
          <p:cNvPr id="152" name="Text 149"/>
          <p:cNvSpPr/>
          <p:nvPr/>
        </p:nvSpPr>
        <p:spPr>
          <a:xfrm>
            <a:off x="6469380" y="4396978"/>
            <a:ext cx="1984248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外部行为不变，内部结构持续优化——这正是重构的核心承诺。</a:t>
            </a:r>
            <a:endParaRPr lang="en-US" sz="518" dirty="0"/>
          </a:p>
        </p:txBody>
      </p:sp>
      <p:sp>
        <p:nvSpPr>
          <p:cNvPr id="153" name="Shape 150"/>
          <p:cNvSpPr/>
          <p:nvPr/>
        </p:nvSpPr>
        <p:spPr>
          <a:xfrm>
            <a:off x="320040" y="4697730"/>
            <a:ext cx="8503920" cy="217170"/>
          </a:xfrm>
          <a:prstGeom prst="rect">
            <a:avLst/>
          </a:prstGeom>
          <a:noFill/>
          <a:ln/>
        </p:spPr>
      </p:sp>
      <p:sp>
        <p:nvSpPr>
          <p:cNvPr id="154" name="Shape 151"/>
          <p:cNvSpPr/>
          <p:nvPr/>
        </p:nvSpPr>
        <p:spPr>
          <a:xfrm>
            <a:off x="320040" y="4697730"/>
            <a:ext cx="850392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320040" y="4794885"/>
            <a:ext cx="1091336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重构，让代码持续变好</a:t>
            </a:r>
            <a:pPr algn="l" indent="0" marL="0">
              <a:buNone/>
            </a:pPr>
            <a:r>
              <a:rPr lang="en-US" sz="675" b="1" spc="23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75" dirty="0"/>
          </a:p>
        </p:txBody>
      </p:sp>
      <p:sp>
        <p:nvSpPr>
          <p:cNvPr id="156" name="Text 153"/>
          <p:cNvSpPr/>
          <p:nvPr/>
        </p:nvSpPr>
        <p:spPr>
          <a:xfrm>
            <a:off x="7600950" y="4820603"/>
            <a:ext cx="1369771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REFACTORING · A PRACTICE GUIDE</a:t>
            </a:r>
            <a:endParaRPr lang="en-US" sz="450" dirty="0"/>
          </a:p>
        </p:txBody>
      </p:sp>
      <p:sp>
        <p:nvSpPr>
          <p:cNvPr id="157" name="Shape 154"/>
          <p:cNvSpPr/>
          <p:nvPr/>
        </p:nvSpPr>
        <p:spPr>
          <a:xfrm>
            <a:off x="320040" y="0"/>
            <a:ext cx="411480" cy="17145"/>
          </a:xfrm>
          <a:prstGeom prst="rect">
            <a:avLst/>
          </a:prstGeom>
          <a:solidFill>
            <a:srgbClr val="C08B3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DFCFA"/>
              </a:gs>
              <a:gs pos="100000">
                <a:srgbClr val="F5F1E9"/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3891915" y="262890"/>
            <a:ext cx="15233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spc="27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CODE · 书摘点评</a:t>
            </a:r>
            <a:endParaRPr lang="en-US" sz="540" dirty="0"/>
          </a:p>
        </p:txBody>
      </p:sp>
      <p:sp>
        <p:nvSpPr>
          <p:cNvPr id="4" name="Text 2"/>
          <p:cNvSpPr/>
          <p:nvPr/>
        </p:nvSpPr>
        <p:spPr>
          <a:xfrm>
            <a:off x="3566160" y="445770"/>
            <a:ext cx="2253082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0D21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《代码整洁之道》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00550" y="805815"/>
            <a:ext cx="34290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6" name="Text 4"/>
          <p:cNvSpPr/>
          <p:nvPr/>
        </p:nvSpPr>
        <p:spPr>
          <a:xfrm>
            <a:off x="2120265" y="902970"/>
            <a:ext cx="549188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585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这本书用大量对比示例展示了「好代码」与「坏代码」的差距——它不仅仅关乎格式化规范，更关乎一种工程素养：写代码的人，对自己产出的尊重。</a:t>
            </a:r>
            <a:endParaRPr lang="en-US" sz="585" dirty="0"/>
          </a:p>
        </p:txBody>
      </p:sp>
      <p:sp>
        <p:nvSpPr>
          <p:cNvPr id="7" name="Shape 5"/>
          <p:cNvSpPr/>
          <p:nvPr/>
        </p:nvSpPr>
        <p:spPr>
          <a:xfrm>
            <a:off x="365760" y="1164431"/>
            <a:ext cx="2628900" cy="77474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64431"/>
            <a:ext cx="0" cy="774740"/>
          </a:xfrm>
          <a:prstGeom prst="line">
            <a:avLst/>
          </a:prstGeom>
          <a:noFill/>
          <a:ln w="17145">
            <a:solidFill>
              <a:srgbClr val="C08B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205" y="1418570"/>
            <a:ext cx="171450" cy="11430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/>
        </p:spPr>
      </p:sp>
      <p:sp>
        <p:nvSpPr>
          <p:cNvPr id="10" name="Text 8"/>
          <p:cNvSpPr/>
          <p:nvPr/>
        </p:nvSpPr>
        <p:spPr>
          <a:xfrm>
            <a:off x="497205" y="1418570"/>
            <a:ext cx="234315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725805" y="1424285"/>
            <a:ext cx="4800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0D21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核心理念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97205" y="1590020"/>
            <a:ext cx="264353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 C. Martin 强调：代码首先是写给人读的，其次才是给机器执行。</a:t>
            </a:r>
            <a:endParaRPr lang="en-US" sz="563" dirty="0"/>
          </a:p>
        </p:txBody>
      </p:sp>
      <p:sp>
        <p:nvSpPr>
          <p:cNvPr id="13" name="Shape 11"/>
          <p:cNvSpPr/>
          <p:nvPr/>
        </p:nvSpPr>
        <p:spPr>
          <a:xfrm>
            <a:off x="365760" y="2019181"/>
            <a:ext cx="2628900" cy="77474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19181"/>
            <a:ext cx="0" cy="774740"/>
          </a:xfrm>
          <a:prstGeom prst="line">
            <a:avLst/>
          </a:prstGeom>
          <a:noFill/>
          <a:ln w="17145">
            <a:solidFill>
              <a:srgbClr val="C08B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7205" y="2273320"/>
            <a:ext cx="182880" cy="11430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/>
        </p:spPr>
      </p:sp>
      <p:sp>
        <p:nvSpPr>
          <p:cNvPr id="16" name="Text 14"/>
          <p:cNvSpPr/>
          <p:nvPr/>
        </p:nvSpPr>
        <p:spPr>
          <a:xfrm>
            <a:off x="497205" y="2273320"/>
            <a:ext cx="245745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17" name="Text 15"/>
          <p:cNvSpPr/>
          <p:nvPr/>
        </p:nvSpPr>
        <p:spPr>
          <a:xfrm>
            <a:off x="737235" y="2279035"/>
            <a:ext cx="4800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0D21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命名艺术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97205" y="2444770"/>
            <a:ext cx="21634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有意义的命名是降低认知负荷的第一步，远胜于任何注释。</a:t>
            </a:r>
            <a:endParaRPr lang="en-US" sz="563" dirty="0"/>
          </a:p>
        </p:txBody>
      </p:sp>
      <p:sp>
        <p:nvSpPr>
          <p:cNvPr id="19" name="Shape 17"/>
          <p:cNvSpPr/>
          <p:nvPr/>
        </p:nvSpPr>
        <p:spPr>
          <a:xfrm>
            <a:off x="365760" y="2873931"/>
            <a:ext cx="2628900" cy="77474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73931"/>
            <a:ext cx="0" cy="774740"/>
          </a:xfrm>
          <a:prstGeom prst="line">
            <a:avLst/>
          </a:prstGeom>
          <a:noFill/>
          <a:ln w="17145">
            <a:solidFill>
              <a:srgbClr val="C08B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205" y="3128070"/>
            <a:ext cx="182880" cy="11430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497205" y="3128070"/>
            <a:ext cx="245745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737235" y="3133785"/>
            <a:ext cx="4800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0D21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函数纪律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97205" y="3299520"/>
            <a:ext cx="191383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函数应只做一件事，且尽量短小，便于测试与复用。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365760" y="3728680"/>
            <a:ext cx="2628900" cy="77474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16200000">
              <a:srgbClr val="0D2137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28680"/>
            <a:ext cx="0" cy="774740"/>
          </a:xfrm>
          <a:prstGeom prst="line">
            <a:avLst/>
          </a:prstGeom>
          <a:noFill/>
          <a:ln w="17145">
            <a:solidFill>
              <a:srgbClr val="C08B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205" y="3923883"/>
            <a:ext cx="153591" cy="114300"/>
          </a:xfrm>
          <a:prstGeom prst="roundRect">
            <a:avLst>
              <a:gd name="adj" fmla="val 15000"/>
            </a:avLst>
          </a:prstGeom>
          <a:solidFill>
            <a:srgbClr val="C08B3E"/>
          </a:solidFill>
          <a:ln/>
        </p:spPr>
      </p:sp>
      <p:sp>
        <p:nvSpPr>
          <p:cNvPr id="28" name="Text 26"/>
          <p:cNvSpPr/>
          <p:nvPr/>
        </p:nvSpPr>
        <p:spPr>
          <a:xfrm>
            <a:off x="497205" y="3923883"/>
            <a:ext cx="216456" cy="114300"/>
          </a:xfrm>
          <a:prstGeom prst="rect">
            <a:avLst/>
          </a:prstGeom>
          <a:noFill/>
          <a:ln/>
        </p:spPr>
        <p:txBody>
          <a:bodyPr wrap="none" lIns="17145" tIns="45720" rIns="45720" bIns="17145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495" dirty="0"/>
          </a:p>
        </p:txBody>
      </p:sp>
      <p:sp>
        <p:nvSpPr>
          <p:cNvPr id="29" name="Text 27"/>
          <p:cNvSpPr/>
          <p:nvPr/>
        </p:nvSpPr>
        <p:spPr>
          <a:xfrm>
            <a:off x="707946" y="3929598"/>
            <a:ext cx="48006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0D21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适兕点评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497205" y="4095333"/>
            <a:ext cx="2624328" cy="20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适合作为团队代码评审的共识手册，每次 Code Review 都是对本书的实践。</a:t>
            </a:r>
            <a:endParaRPr lang="en-US" sz="563" dirty="0"/>
          </a:p>
        </p:txBody>
      </p:sp>
      <p:sp>
        <p:nvSpPr>
          <p:cNvPr id="31" name="Shape 29"/>
          <p:cNvSpPr/>
          <p:nvPr/>
        </p:nvSpPr>
        <p:spPr>
          <a:xfrm>
            <a:off x="3154680" y="1164431"/>
            <a:ext cx="5623560" cy="3338989"/>
          </a:xfrm>
          <a:prstGeom prst="roundRect">
            <a:avLst>
              <a:gd name="adj" fmla="val 1712"/>
            </a:avLst>
          </a:prstGeom>
          <a:noFill/>
          <a:ln/>
          <a:effectLst>
            <a:outerShdw sx="100000" sy="100000" kx="0" ky="0" algn="bl" rotWithShape="0" blurRad="152400" dist="38100" dir="16200000">
              <a:srgbClr val="0D2137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1164431"/>
            <a:ext cx="5623560" cy="166092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Shape 31"/>
          <p:cNvSpPr/>
          <p:nvPr/>
        </p:nvSpPr>
        <p:spPr>
          <a:xfrm>
            <a:off x="3280410" y="1290161"/>
            <a:ext cx="45720" cy="4572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34" name="Text 32"/>
          <p:cNvSpPr/>
          <p:nvPr/>
        </p:nvSpPr>
        <p:spPr>
          <a:xfrm>
            <a:off x="3371850" y="1267301"/>
            <a:ext cx="90891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坏代码 · BAD CODE</a:t>
            </a:r>
            <a:endParaRPr lang="en-US" sz="495" dirty="0"/>
          </a:p>
        </p:txBody>
      </p:sp>
      <p:sp>
        <p:nvSpPr>
          <p:cNvPr id="35" name="Text 33"/>
          <p:cNvSpPr/>
          <p:nvPr/>
        </p:nvSpPr>
        <p:spPr>
          <a:xfrm>
            <a:off x="7692390" y="1267301"/>
            <a:ext cx="107533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命名含糊 · 职责混杂 · 难以复用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3280410" y="1415891"/>
            <a:ext cx="601675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E8C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一段真实的「反模式」——变量名自欺欺人，函数同时完成查询、格式化与筛选</a:t>
            </a:r>
            <a:endParaRPr lang="en-US" sz="585" dirty="0"/>
          </a:p>
        </p:txBody>
      </p:sp>
      <p:sp>
        <p:nvSpPr>
          <p:cNvPr id="37" name="Shape 35"/>
          <p:cNvSpPr/>
          <p:nvPr/>
        </p:nvSpPr>
        <p:spPr>
          <a:xfrm>
            <a:off x="3280410" y="1581626"/>
            <a:ext cx="5372100" cy="1152287"/>
          </a:xfrm>
          <a:prstGeom prst="roundRect">
            <a:avLst>
              <a:gd name="adj" fmla="val 2976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80410" y="1581626"/>
            <a:ext cx="6016752" cy="1152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看起来能跑，但没人愿意维护 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7EB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E8C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{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7EB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= db.query(d.q);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7EB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7EB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= 0; i &lt; r.length; i++) { r[i].name = r[i].name.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E8C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toLowerCase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();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7EB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(!r[i].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E8C9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isActive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()) r.splice(i, 1); }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7EB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B8C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r; }</a:t>
            </a:r>
            <a:endParaRPr lang="en-US" sz="518" dirty="0"/>
          </a:p>
        </p:txBody>
      </p:sp>
      <p:sp>
        <p:nvSpPr>
          <p:cNvPr id="39" name="Shape 37"/>
          <p:cNvSpPr/>
          <p:nvPr/>
        </p:nvSpPr>
        <p:spPr>
          <a:xfrm>
            <a:off x="3154680" y="2825353"/>
            <a:ext cx="5623560" cy="1714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40" name="Shape 38"/>
          <p:cNvSpPr/>
          <p:nvPr/>
        </p:nvSpPr>
        <p:spPr>
          <a:xfrm rot="2700000">
            <a:off x="5966460" y="2833926"/>
            <a:ext cx="68580" cy="68580"/>
          </a:xfrm>
          <a:prstGeom prst="rect">
            <a:avLst/>
          </a:prstGeom>
          <a:solidFill>
            <a:srgbClr val="C08B3E"/>
          </a:solidFill>
          <a:ln w="11430">
            <a:solidFill>
              <a:srgbClr val="FDFC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2842498"/>
            <a:ext cx="5623560" cy="16609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280410" y="2968228"/>
            <a:ext cx="45720" cy="4572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43" name="Text 41"/>
          <p:cNvSpPr/>
          <p:nvPr/>
        </p:nvSpPr>
        <p:spPr>
          <a:xfrm>
            <a:off x="3371850" y="2945368"/>
            <a:ext cx="10369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好代码 · CLEAN CODE</a:t>
            </a:r>
            <a:endParaRPr lang="en-US" sz="495" dirty="0"/>
          </a:p>
        </p:txBody>
      </p:sp>
      <p:sp>
        <p:nvSpPr>
          <p:cNvPr id="44" name="Text 42"/>
          <p:cNvSpPr/>
          <p:nvPr/>
        </p:nvSpPr>
        <p:spPr>
          <a:xfrm>
            <a:off x="7623810" y="2945368"/>
            <a:ext cx="115214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命名自解释 · 单一职责 · 易于测试</a:t>
            </a:r>
            <a:endParaRPr lang="en-US" sz="495" dirty="0"/>
          </a:p>
        </p:txBody>
      </p:sp>
      <p:sp>
        <p:nvSpPr>
          <p:cNvPr id="45" name="Text 43"/>
          <p:cNvSpPr/>
          <p:nvPr/>
        </p:nvSpPr>
        <p:spPr>
          <a:xfrm>
            <a:off x="3280410" y="3093958"/>
            <a:ext cx="601675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同样的逻辑，拆解为可组合、可复用的纯函数，让意图一目了然</a:t>
            </a:r>
            <a:endParaRPr lang="en-US" sz="585" dirty="0"/>
          </a:p>
        </p:txBody>
      </p:sp>
      <p:sp>
        <p:nvSpPr>
          <p:cNvPr id="46" name="Shape 44"/>
          <p:cNvSpPr/>
          <p:nvPr/>
        </p:nvSpPr>
        <p:spPr>
          <a:xfrm>
            <a:off x="3280410" y="3259693"/>
            <a:ext cx="5372100" cy="1152287"/>
          </a:xfrm>
          <a:prstGeom prst="roundRect">
            <a:avLst>
              <a:gd name="adj" fmla="val 2976"/>
            </a:avLst>
          </a:prstGeom>
          <a:solidFill>
            <a:srgbClr val="F7F5EE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80410" y="3259693"/>
            <a:ext cx="6016752" cy="1152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// 每个片段都说明自己的意图 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fetchActiveUsers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(startDate) {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db.query(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buildUserQuery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(startDate)) .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normalizeUserName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.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isActive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); }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normalizeUserName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(user) {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 ...user, name: user.name.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toLowerCase</a:t>
            </a:r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() }; }</a:t>
            </a:r>
            <a:endParaRPr lang="en-US" sz="518" dirty="0"/>
          </a:p>
        </p:txBody>
      </p:sp>
      <p:sp>
        <p:nvSpPr>
          <p:cNvPr id="48" name="Shape 46"/>
          <p:cNvSpPr/>
          <p:nvPr/>
        </p:nvSpPr>
        <p:spPr>
          <a:xfrm>
            <a:off x="365760" y="4606290"/>
            <a:ext cx="8412480" cy="308610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365760" y="4606290"/>
            <a:ext cx="8412480" cy="0"/>
          </a:xfrm>
          <a:prstGeom prst="line">
            <a:avLst/>
          </a:prstGeom>
          <a:noFill/>
          <a:ln w="571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60420" y="4709160"/>
            <a:ext cx="40005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</a:t>
            </a:r>
            <a:endParaRPr lang="en-US" sz="450" dirty="0"/>
          </a:p>
        </p:txBody>
      </p:sp>
      <p:sp>
        <p:nvSpPr>
          <p:cNvPr id="51" name="Text 49"/>
          <p:cNvSpPr/>
          <p:nvPr/>
        </p:nvSpPr>
        <p:spPr>
          <a:xfrm>
            <a:off x="3168968" y="4800600"/>
            <a:ext cx="812902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 C. Martin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4169093" y="4729163"/>
            <a:ext cx="5715" cy="1600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4449128" y="4703445"/>
            <a:ext cx="49149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</a:t>
            </a:r>
            <a:endParaRPr lang="en-US" sz="450" dirty="0"/>
          </a:p>
        </p:txBody>
      </p:sp>
      <p:sp>
        <p:nvSpPr>
          <p:cNvPr id="54" name="Text 52"/>
          <p:cNvSpPr/>
          <p:nvPr/>
        </p:nvSpPr>
        <p:spPr>
          <a:xfrm>
            <a:off x="4477703" y="4794885"/>
            <a:ext cx="462915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pPr algn="l" indent="0" marL="0">
              <a:buNone/>
            </a:pPr>
            <a:r>
              <a:rPr lang="en-US" sz="675" b="1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章节</a:t>
            </a:r>
            <a:endParaRPr lang="en-US" sz="675" dirty="0"/>
          </a:p>
        </p:txBody>
      </p:sp>
      <p:sp>
        <p:nvSpPr>
          <p:cNvPr id="55" name="Shape 53"/>
          <p:cNvSpPr/>
          <p:nvPr/>
        </p:nvSpPr>
        <p:spPr>
          <a:xfrm>
            <a:off x="5157788" y="4729163"/>
            <a:ext cx="5715" cy="1600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5437823" y="4703445"/>
            <a:ext cx="60167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VALUE</a:t>
            </a:r>
            <a:endParaRPr lang="en-US" sz="450" dirty="0"/>
          </a:p>
        </p:txBody>
      </p:sp>
      <p:sp>
        <p:nvSpPr>
          <p:cNvPr id="57" name="Text 55"/>
          <p:cNvSpPr/>
          <p:nvPr/>
        </p:nvSpPr>
        <p:spPr>
          <a:xfrm>
            <a:off x="5440680" y="4794885"/>
            <a:ext cx="61722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代码评审基准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7F8FA"/>
              </a:gs>
              <a:gs pos="50000">
                <a:srgbClr val="EEF1F5"/>
              </a:gs>
              <a:gs pos="100000">
                <a:srgbClr val="F7F8F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74320"/>
            <a:ext cx="1062990" cy="142875"/>
          </a:xfrm>
          <a:prstGeom prst="roundRect">
            <a:avLst>
              <a:gd name="adj" fmla="val 80000"/>
            </a:avLst>
          </a:prstGeom>
          <a:solidFill>
            <a:srgbClr val="0D2137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274320"/>
            <a:ext cx="34290" cy="3429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02895"/>
            <a:ext cx="9217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2023</a:t>
            </a:r>
            <a:endParaRPr lang="en-US" sz="540" dirty="0"/>
          </a:p>
        </p:txBody>
      </p:sp>
      <p:sp>
        <p:nvSpPr>
          <p:cNvPr id="6" name="Text 4"/>
          <p:cNvSpPr/>
          <p:nvPr/>
        </p:nvSpPr>
        <p:spPr>
          <a:xfrm>
            <a:off x="342900" y="462915"/>
            <a:ext cx="9473184" cy="23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30" b="1" spc="-22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2023书单</a:t>
            </a:r>
            <a:pPr algn="l" indent="0" marL="0">
              <a:lnSpc>
                <a:spcPct val="120000"/>
              </a:lnSpc>
              <a:buNone/>
            </a:pPr>
            <a:r>
              <a:rPr lang="en-US" sz="1530" b="1" spc="-22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数据速览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342900" y="741789"/>
            <a:ext cx="7680960" cy="127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本次书单共收录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本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开源主题核心读物，横跨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</a:t>
            </a:r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三大方向，为开发者勾勒一条从入门到进阶的完整阅读地图。</a:t>
            </a:r>
            <a:endParaRPr lang="en-US" sz="630" dirty="0"/>
          </a:p>
        </p:txBody>
      </p:sp>
      <p:sp>
        <p:nvSpPr>
          <p:cNvPr id="8" name="Shape 6"/>
          <p:cNvSpPr/>
          <p:nvPr/>
        </p:nvSpPr>
        <p:spPr>
          <a:xfrm>
            <a:off x="342900" y="1006912"/>
            <a:ext cx="2037398" cy="770364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" y="1006912"/>
            <a:ext cx="17145" cy="75893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0" name="Text 8"/>
          <p:cNvSpPr/>
          <p:nvPr/>
        </p:nvSpPr>
        <p:spPr>
          <a:xfrm>
            <a:off x="474345" y="1126927"/>
            <a:ext cx="53721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TOTAL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474345" y="1246942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720090" y="1332667"/>
            <a:ext cx="16002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474345" y="1486972"/>
            <a:ext cx="5486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书单总收录数量</a:t>
            </a:r>
            <a:endParaRPr lang="en-US" sz="540" dirty="0"/>
          </a:p>
        </p:txBody>
      </p:sp>
      <p:sp>
        <p:nvSpPr>
          <p:cNvPr id="14" name="Shape 12"/>
          <p:cNvSpPr/>
          <p:nvPr/>
        </p:nvSpPr>
        <p:spPr>
          <a:xfrm>
            <a:off x="474345" y="1640116"/>
            <a:ext cx="1774508" cy="17145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4345" y="1640116"/>
            <a:ext cx="1774508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C08B3E"/>
              </a:gs>
              <a:gs pos="100000">
                <a:srgbClr val="0D2137"/>
              </a:gs>
            </a:gsLst>
            <a:lin ang="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2483168" y="1006912"/>
            <a:ext cx="2037398" cy="770364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83168" y="1006912"/>
            <a:ext cx="17145" cy="75893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8" name="Text 16"/>
          <p:cNvSpPr/>
          <p:nvPr/>
        </p:nvSpPr>
        <p:spPr>
          <a:xfrm>
            <a:off x="2614613" y="1126927"/>
            <a:ext cx="4457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 SHARE</a:t>
            </a:r>
            <a:endParaRPr lang="en-US" sz="540" dirty="0"/>
          </a:p>
        </p:txBody>
      </p:sp>
      <p:sp>
        <p:nvSpPr>
          <p:cNvPr id="19" name="Text 17"/>
          <p:cNvSpPr/>
          <p:nvPr/>
        </p:nvSpPr>
        <p:spPr>
          <a:xfrm>
            <a:off x="2614613" y="1246942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2894648" y="1344097"/>
            <a:ext cx="1600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2614613" y="1486972"/>
            <a:ext cx="4800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中文译作占比</a:t>
            </a:r>
            <a:endParaRPr lang="en-US" sz="540" dirty="0"/>
          </a:p>
        </p:txBody>
      </p:sp>
      <p:sp>
        <p:nvSpPr>
          <p:cNvPr id="22" name="Shape 20"/>
          <p:cNvSpPr/>
          <p:nvPr/>
        </p:nvSpPr>
        <p:spPr>
          <a:xfrm>
            <a:off x="2614613" y="1640116"/>
            <a:ext cx="1774508" cy="17145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14613" y="1640116"/>
            <a:ext cx="1188899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C08B3E"/>
              </a:gs>
              <a:gs pos="100000">
                <a:srgbClr val="0D2137"/>
              </a:gs>
            </a:gsLst>
            <a:lin ang="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4623435" y="1006912"/>
            <a:ext cx="2037398" cy="770364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3435" y="1006912"/>
            <a:ext cx="17145" cy="75893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26927"/>
            <a:ext cx="38442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5★ RATE</a:t>
            </a:r>
            <a:endParaRPr lang="en-US" sz="540" dirty="0"/>
          </a:p>
        </p:txBody>
      </p:sp>
      <p:sp>
        <p:nvSpPr>
          <p:cNvPr id="27" name="Text 25"/>
          <p:cNvSpPr/>
          <p:nvPr/>
        </p:nvSpPr>
        <p:spPr>
          <a:xfrm>
            <a:off x="4754880" y="1246942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5046345" y="1344097"/>
            <a:ext cx="1600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4754880" y="1486972"/>
            <a:ext cx="4800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五星推荐占比</a:t>
            </a:r>
            <a:endParaRPr lang="en-US" sz="540" dirty="0"/>
          </a:p>
        </p:txBody>
      </p:sp>
      <p:sp>
        <p:nvSpPr>
          <p:cNvPr id="30" name="Shape 28"/>
          <p:cNvSpPr/>
          <p:nvPr/>
        </p:nvSpPr>
        <p:spPr>
          <a:xfrm>
            <a:off x="4754880" y="1640116"/>
            <a:ext cx="1774508" cy="17145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1640116"/>
            <a:ext cx="1029146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C08B3E"/>
              </a:gs>
              <a:gs pos="100000">
                <a:srgbClr val="0D2137"/>
              </a:gs>
            </a:gsLst>
            <a:lin ang="0" scaled="0"/>
          </a:gradFill>
          <a:ln/>
        </p:spPr>
      </p:sp>
      <p:sp>
        <p:nvSpPr>
          <p:cNvPr id="32" name="Shape 30"/>
          <p:cNvSpPr/>
          <p:nvPr/>
        </p:nvSpPr>
        <p:spPr>
          <a:xfrm>
            <a:off x="6763703" y="1006912"/>
            <a:ext cx="2037398" cy="770364"/>
          </a:xfrm>
          <a:prstGeom prst="roundRect">
            <a:avLst>
              <a:gd name="adj" fmla="val 10386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3703" y="1006912"/>
            <a:ext cx="17145" cy="75893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4" name="Text 32"/>
          <p:cNvSpPr/>
          <p:nvPr/>
        </p:nvSpPr>
        <p:spPr>
          <a:xfrm>
            <a:off x="6895148" y="1126927"/>
            <a:ext cx="61150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PRACTICE</a:t>
            </a:r>
            <a:endParaRPr lang="en-US" sz="540" dirty="0"/>
          </a:p>
        </p:txBody>
      </p:sp>
      <p:sp>
        <p:nvSpPr>
          <p:cNvPr id="35" name="Text 33"/>
          <p:cNvSpPr/>
          <p:nvPr/>
        </p:nvSpPr>
        <p:spPr>
          <a:xfrm>
            <a:off x="6895148" y="1246942"/>
            <a:ext cx="493776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620" dirty="0"/>
          </a:p>
        </p:txBody>
      </p:sp>
      <p:sp>
        <p:nvSpPr>
          <p:cNvPr id="36" name="Text 34"/>
          <p:cNvSpPr/>
          <p:nvPr/>
        </p:nvSpPr>
        <p:spPr>
          <a:xfrm>
            <a:off x="7192328" y="1344097"/>
            <a:ext cx="1600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6895148" y="1486972"/>
            <a:ext cx="5486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工程实践类占比</a:t>
            </a:r>
            <a:endParaRPr lang="en-US" sz="540" dirty="0"/>
          </a:p>
        </p:txBody>
      </p:sp>
      <p:sp>
        <p:nvSpPr>
          <p:cNvPr id="38" name="Shape 36"/>
          <p:cNvSpPr/>
          <p:nvPr/>
        </p:nvSpPr>
        <p:spPr>
          <a:xfrm>
            <a:off x="6895148" y="1640116"/>
            <a:ext cx="1774508" cy="17145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39" name="Shape 37"/>
          <p:cNvSpPr/>
          <p:nvPr/>
        </p:nvSpPr>
        <p:spPr>
          <a:xfrm>
            <a:off x="6895148" y="1640116"/>
            <a:ext cx="745272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C08B3E"/>
              </a:gs>
              <a:gs pos="100000">
                <a:srgbClr val="0D2137"/>
              </a:gs>
            </a:gsLst>
            <a:lin ang="0" scaled="0"/>
          </a:gradFill>
          <a:ln/>
        </p:spPr>
      </p:sp>
      <p:sp>
        <p:nvSpPr>
          <p:cNvPr id="40" name="Shape 38"/>
          <p:cNvSpPr/>
          <p:nvPr/>
        </p:nvSpPr>
        <p:spPr>
          <a:xfrm>
            <a:off x="342900" y="1903006"/>
            <a:ext cx="3200400" cy="2891790"/>
          </a:xfrm>
          <a:prstGeom prst="roundRect">
            <a:avLst>
              <a:gd name="adj" fmla="val 2767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4345" y="2023021"/>
            <a:ext cx="22860" cy="80010"/>
          </a:xfrm>
          <a:prstGeom prst="roundRect">
            <a:avLst>
              <a:gd name="adj" fmla="val 50000"/>
            </a:avLst>
          </a:prstGeom>
          <a:solidFill>
            <a:srgbClr val="C08B3E"/>
          </a:solidFill>
          <a:ln/>
        </p:spPr>
      </p:sp>
      <p:sp>
        <p:nvSpPr>
          <p:cNvPr id="42" name="Text 40"/>
          <p:cNvSpPr/>
          <p:nvPr/>
        </p:nvSpPr>
        <p:spPr>
          <a:xfrm>
            <a:off x="542925" y="2023021"/>
            <a:ext cx="60007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主题权重分布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2754630" y="2048738"/>
            <a:ext cx="73609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三大方向占比 · 共 12 本</a:t>
            </a:r>
            <a:endParaRPr lang="en-US" sz="495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474345" y="2637383"/>
          <a:ext cx="16002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5" name="Shape 42"/>
          <p:cNvSpPr/>
          <p:nvPr/>
        </p:nvSpPr>
        <p:spPr>
          <a:xfrm>
            <a:off x="2143125" y="2891701"/>
            <a:ext cx="1268730" cy="325755"/>
          </a:xfrm>
          <a:prstGeom prst="roundRect">
            <a:avLst>
              <a:gd name="adj" fmla="val 14035"/>
            </a:avLst>
          </a:prstGeom>
          <a:solidFill>
            <a:srgbClr val="F7F8FA">
              <a:alpha val="7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205990" y="2951708"/>
            <a:ext cx="51435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思想奠基类</a:t>
            </a:r>
            <a:endParaRPr lang="en-US" sz="540" dirty="0"/>
          </a:p>
        </p:txBody>
      </p:sp>
      <p:sp>
        <p:nvSpPr>
          <p:cNvPr id="47" name="Shape 44"/>
          <p:cNvSpPr/>
          <p:nvPr/>
        </p:nvSpPr>
        <p:spPr>
          <a:xfrm>
            <a:off x="2205990" y="2974568"/>
            <a:ext cx="57150" cy="5715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8" name="Text 45"/>
          <p:cNvSpPr/>
          <p:nvPr/>
        </p:nvSpPr>
        <p:spPr>
          <a:xfrm>
            <a:off x="3143250" y="2943136"/>
            <a:ext cx="2971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2205990" y="3074581"/>
            <a:ext cx="1280160" cy="91440"/>
          </a:xfrm>
          <a:prstGeom prst="rect">
            <a:avLst/>
          </a:prstGeom>
          <a:noFill/>
          <a:ln/>
        </p:spPr>
        <p:txBody>
          <a:bodyPr wrap="none" lIns="0" tIns="102870" rIns="0" bIns="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开源哲学与理念入门</a:t>
            </a:r>
            <a:endParaRPr lang="en-US" sz="495" dirty="0"/>
          </a:p>
        </p:txBody>
      </p:sp>
      <p:sp>
        <p:nvSpPr>
          <p:cNvPr id="50" name="Shape 47"/>
          <p:cNvSpPr/>
          <p:nvPr/>
        </p:nvSpPr>
        <p:spPr>
          <a:xfrm>
            <a:off x="2143125" y="3274606"/>
            <a:ext cx="1268730" cy="325755"/>
          </a:xfrm>
          <a:prstGeom prst="roundRect">
            <a:avLst>
              <a:gd name="adj" fmla="val 14035"/>
            </a:avLst>
          </a:prstGeom>
          <a:solidFill>
            <a:srgbClr val="F7F8FA">
              <a:alpha val="7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205990" y="3334613"/>
            <a:ext cx="51435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工程实践类</a:t>
            </a:r>
            <a:endParaRPr lang="en-US" sz="540" dirty="0"/>
          </a:p>
        </p:txBody>
      </p:sp>
      <p:sp>
        <p:nvSpPr>
          <p:cNvPr id="52" name="Shape 49"/>
          <p:cNvSpPr/>
          <p:nvPr/>
        </p:nvSpPr>
        <p:spPr>
          <a:xfrm>
            <a:off x="2205990" y="3357473"/>
            <a:ext cx="57150" cy="5715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53" name="Text 50"/>
          <p:cNvSpPr/>
          <p:nvPr/>
        </p:nvSpPr>
        <p:spPr>
          <a:xfrm>
            <a:off x="3137535" y="3326041"/>
            <a:ext cx="3028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2205990" y="3457486"/>
            <a:ext cx="1280160" cy="91440"/>
          </a:xfrm>
          <a:prstGeom prst="rect">
            <a:avLst/>
          </a:prstGeom>
          <a:noFill/>
          <a:ln/>
        </p:spPr>
        <p:txBody>
          <a:bodyPr wrap="none" lIns="0" tIns="102870" rIns="0" bIns="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工具链与开发方法论</a:t>
            </a:r>
            <a:endParaRPr lang="en-US" sz="495" dirty="0"/>
          </a:p>
        </p:txBody>
      </p:sp>
      <p:sp>
        <p:nvSpPr>
          <p:cNvPr id="55" name="Shape 52"/>
          <p:cNvSpPr/>
          <p:nvPr/>
        </p:nvSpPr>
        <p:spPr>
          <a:xfrm>
            <a:off x="2143125" y="3657511"/>
            <a:ext cx="1268730" cy="325755"/>
          </a:xfrm>
          <a:prstGeom prst="roundRect">
            <a:avLst>
              <a:gd name="adj" fmla="val 14035"/>
            </a:avLst>
          </a:prstGeom>
          <a:solidFill>
            <a:srgbClr val="F7F8FA">
              <a:alpha val="7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205990" y="3717518"/>
            <a:ext cx="51435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社区文化类</a:t>
            </a:r>
            <a:endParaRPr lang="en-US" sz="540" dirty="0"/>
          </a:p>
        </p:txBody>
      </p:sp>
      <p:sp>
        <p:nvSpPr>
          <p:cNvPr id="57" name="Shape 54"/>
          <p:cNvSpPr/>
          <p:nvPr/>
        </p:nvSpPr>
        <p:spPr>
          <a:xfrm>
            <a:off x="2205990" y="3740378"/>
            <a:ext cx="57150" cy="5715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58" name="Text 55"/>
          <p:cNvSpPr/>
          <p:nvPr/>
        </p:nvSpPr>
        <p:spPr>
          <a:xfrm>
            <a:off x="3131820" y="3708946"/>
            <a:ext cx="30861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33%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2205990" y="3840391"/>
            <a:ext cx="1280160" cy="91440"/>
          </a:xfrm>
          <a:prstGeom prst="rect">
            <a:avLst/>
          </a:prstGeom>
          <a:noFill/>
          <a:ln/>
        </p:spPr>
        <p:txBody>
          <a:bodyPr wrap="none" lIns="0" tIns="102870" rIns="0" bIns="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协作生态与治理模式</a:t>
            </a:r>
            <a:endParaRPr lang="en-US" sz="495" dirty="0"/>
          </a:p>
        </p:txBody>
      </p:sp>
      <p:sp>
        <p:nvSpPr>
          <p:cNvPr id="60" name="Shape 57"/>
          <p:cNvSpPr/>
          <p:nvPr/>
        </p:nvSpPr>
        <p:spPr>
          <a:xfrm>
            <a:off x="3669030" y="1903006"/>
            <a:ext cx="5132070" cy="2891790"/>
          </a:xfrm>
          <a:prstGeom prst="roundRect">
            <a:avLst>
              <a:gd name="adj" fmla="val 2767"/>
            </a:avLst>
          </a:prstGeom>
          <a:solidFill>
            <a:srgbClr val="FFFFFF"/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800475" y="2023021"/>
            <a:ext cx="22860" cy="80010"/>
          </a:xfrm>
          <a:prstGeom prst="roundRect">
            <a:avLst>
              <a:gd name="adj" fmla="val 50000"/>
            </a:avLst>
          </a:prstGeom>
          <a:solidFill>
            <a:srgbClr val="C08B3E"/>
          </a:solidFill>
          <a:ln/>
        </p:spPr>
      </p:sp>
      <p:sp>
        <p:nvSpPr>
          <p:cNvPr id="62" name="Text 59"/>
          <p:cNvSpPr/>
          <p:nvPr/>
        </p:nvSpPr>
        <p:spPr>
          <a:xfrm>
            <a:off x="3869055" y="2023021"/>
            <a:ext cx="60007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核心要点速览</a:t>
            </a:r>
            <a:endParaRPr lang="en-US" sz="675" dirty="0"/>
          </a:p>
        </p:txBody>
      </p:sp>
      <p:sp>
        <p:nvSpPr>
          <p:cNvPr id="63" name="Text 60"/>
          <p:cNvSpPr/>
          <p:nvPr/>
        </p:nvSpPr>
        <p:spPr>
          <a:xfrm>
            <a:off x="8109585" y="2043023"/>
            <a:ext cx="62727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KEY INSIGHTS</a:t>
            </a:r>
            <a:endParaRPr lang="en-US" sz="495" dirty="0"/>
          </a:p>
        </p:txBody>
      </p:sp>
      <p:sp>
        <p:nvSpPr>
          <p:cNvPr id="64" name="Shape 61"/>
          <p:cNvSpPr/>
          <p:nvPr/>
        </p:nvSpPr>
        <p:spPr>
          <a:xfrm>
            <a:off x="3800475" y="2200186"/>
            <a:ext cx="4869180" cy="360045"/>
          </a:xfrm>
          <a:prstGeom prst="roundRect">
            <a:avLst>
              <a:gd name="adj" fmla="val 15873"/>
            </a:avLst>
          </a:prstGeom>
          <a:solidFill>
            <a:srgbClr val="F7F8FA">
              <a:alpha val="6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886200" y="2268766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2137"/>
              </a:gs>
              <a:gs pos="100000">
                <a:srgbClr val="1A3A5C"/>
              </a:gs>
            </a:gsLst>
            <a:lin ang="2700000" scaled="0"/>
          </a:gradFill>
          <a:ln/>
        </p:spPr>
      </p:sp>
      <p:sp>
        <p:nvSpPr>
          <p:cNvPr id="66" name="Text 63"/>
          <p:cNvSpPr/>
          <p:nvPr/>
        </p:nvSpPr>
        <p:spPr>
          <a:xfrm>
            <a:off x="3886200" y="2268766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" dirty="0"/>
          </a:p>
        </p:txBody>
      </p:sp>
      <p:sp>
        <p:nvSpPr>
          <p:cNvPr id="67" name="Text 64"/>
          <p:cNvSpPr/>
          <p:nvPr/>
        </p:nvSpPr>
        <p:spPr>
          <a:xfrm>
            <a:off x="4171950" y="2280196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覆盖范围</a:t>
            </a:r>
            <a:endParaRPr lang="en-US" sz="585" dirty="0"/>
          </a:p>
        </p:txBody>
      </p:sp>
      <p:sp>
        <p:nvSpPr>
          <p:cNvPr id="68" name="Text 65"/>
          <p:cNvSpPr/>
          <p:nvPr/>
        </p:nvSpPr>
        <p:spPr>
          <a:xfrm>
            <a:off x="4171950" y="2394496"/>
            <a:ext cx="2355494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横跨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 · 工程 · 社区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三大方向，构建从理念到实践的完整知识图谱。</a:t>
            </a:r>
            <a:endParaRPr lang="en-US" sz="540" dirty="0"/>
          </a:p>
        </p:txBody>
      </p:sp>
      <p:sp>
        <p:nvSpPr>
          <p:cNvPr id="69" name="Shape 66"/>
          <p:cNvSpPr/>
          <p:nvPr/>
        </p:nvSpPr>
        <p:spPr>
          <a:xfrm>
            <a:off x="3800475" y="2623096"/>
            <a:ext cx="4869180" cy="360045"/>
          </a:xfrm>
          <a:prstGeom prst="roundRect">
            <a:avLst>
              <a:gd name="adj" fmla="val 15873"/>
            </a:avLst>
          </a:prstGeom>
          <a:solidFill>
            <a:srgbClr val="F7F8FA">
              <a:alpha val="6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886200" y="2691676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2137"/>
              </a:gs>
              <a:gs pos="100000">
                <a:srgbClr val="1A3A5C"/>
              </a:gs>
            </a:gsLst>
            <a:lin ang="2700000" scaled="0"/>
          </a:gradFill>
          <a:ln/>
        </p:spPr>
      </p:sp>
      <p:sp>
        <p:nvSpPr>
          <p:cNvPr id="71" name="Text 68"/>
          <p:cNvSpPr/>
          <p:nvPr/>
        </p:nvSpPr>
        <p:spPr>
          <a:xfrm>
            <a:off x="3886200" y="2691676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" dirty="0"/>
          </a:p>
        </p:txBody>
      </p:sp>
      <p:sp>
        <p:nvSpPr>
          <p:cNvPr id="72" name="Text 69"/>
          <p:cNvSpPr/>
          <p:nvPr/>
        </p:nvSpPr>
        <p:spPr>
          <a:xfrm>
            <a:off x="4171950" y="2703106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语言分布</a:t>
            </a:r>
            <a:endParaRPr lang="en-US" sz="585" dirty="0"/>
          </a:p>
        </p:txBody>
      </p:sp>
      <p:sp>
        <p:nvSpPr>
          <p:cNvPr id="73" name="Text 70"/>
          <p:cNvSpPr/>
          <p:nvPr/>
        </p:nvSpPr>
        <p:spPr>
          <a:xfrm>
            <a:off x="4171950" y="2817406"/>
            <a:ext cx="238749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中文译作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，英文原版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；中文内容为主，兼顾国际前沿视野。</a:t>
            </a:r>
            <a:endParaRPr lang="en-US" sz="540" dirty="0"/>
          </a:p>
        </p:txBody>
      </p:sp>
      <p:sp>
        <p:nvSpPr>
          <p:cNvPr id="74" name="Shape 71"/>
          <p:cNvSpPr/>
          <p:nvPr/>
        </p:nvSpPr>
        <p:spPr>
          <a:xfrm>
            <a:off x="3800475" y="3046006"/>
            <a:ext cx="4869180" cy="360045"/>
          </a:xfrm>
          <a:prstGeom prst="roundRect">
            <a:avLst>
              <a:gd name="adj" fmla="val 15873"/>
            </a:avLst>
          </a:prstGeom>
          <a:solidFill>
            <a:srgbClr val="F7F8FA">
              <a:alpha val="6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886200" y="3114586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2137"/>
              </a:gs>
              <a:gs pos="100000">
                <a:srgbClr val="1A3A5C"/>
              </a:gs>
            </a:gsLst>
            <a:lin ang="2700000" scaled="0"/>
          </a:gradFill>
          <a:ln/>
        </p:spPr>
      </p:sp>
      <p:sp>
        <p:nvSpPr>
          <p:cNvPr id="76" name="Text 73"/>
          <p:cNvSpPr/>
          <p:nvPr/>
        </p:nvSpPr>
        <p:spPr>
          <a:xfrm>
            <a:off x="3886200" y="3114586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30" dirty="0"/>
          </a:p>
        </p:txBody>
      </p:sp>
      <p:sp>
        <p:nvSpPr>
          <p:cNvPr id="77" name="Text 74"/>
          <p:cNvSpPr/>
          <p:nvPr/>
        </p:nvSpPr>
        <p:spPr>
          <a:xfrm>
            <a:off x="4171950" y="3126016"/>
            <a:ext cx="4457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推荐度评级</a:t>
            </a:r>
            <a:endParaRPr lang="en-US" sz="585" dirty="0"/>
          </a:p>
        </p:txBody>
      </p:sp>
      <p:sp>
        <p:nvSpPr>
          <p:cNvPr id="78" name="Text 75"/>
          <p:cNvSpPr/>
          <p:nvPr/>
        </p:nvSpPr>
        <p:spPr>
          <a:xfrm>
            <a:off x="4171950" y="3240316"/>
            <a:ext cx="2265883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五星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四星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三星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，整体口碑优异，高评分占九成。</a:t>
            </a:r>
            <a:endParaRPr lang="en-US" sz="540" dirty="0"/>
          </a:p>
        </p:txBody>
      </p:sp>
      <p:sp>
        <p:nvSpPr>
          <p:cNvPr id="79" name="Shape 76"/>
          <p:cNvSpPr/>
          <p:nvPr/>
        </p:nvSpPr>
        <p:spPr>
          <a:xfrm>
            <a:off x="3800475" y="3468916"/>
            <a:ext cx="4869180" cy="360045"/>
          </a:xfrm>
          <a:prstGeom prst="roundRect">
            <a:avLst>
              <a:gd name="adj" fmla="val 15873"/>
            </a:avLst>
          </a:prstGeom>
          <a:solidFill>
            <a:srgbClr val="F7F8FA">
              <a:alpha val="6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886200" y="3537496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2137"/>
              </a:gs>
              <a:gs pos="100000">
                <a:srgbClr val="1A3A5C"/>
              </a:gs>
            </a:gsLst>
            <a:lin ang="2700000" scaled="0"/>
          </a:gradFill>
          <a:ln/>
        </p:spPr>
      </p:sp>
      <p:sp>
        <p:nvSpPr>
          <p:cNvPr id="81" name="Text 78"/>
          <p:cNvSpPr/>
          <p:nvPr/>
        </p:nvSpPr>
        <p:spPr>
          <a:xfrm>
            <a:off x="3886200" y="3537496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30" dirty="0"/>
          </a:p>
        </p:txBody>
      </p:sp>
      <p:sp>
        <p:nvSpPr>
          <p:cNvPr id="82" name="Text 79"/>
          <p:cNvSpPr/>
          <p:nvPr/>
        </p:nvSpPr>
        <p:spPr>
          <a:xfrm>
            <a:off x="4171950" y="3548926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主题权重</a:t>
            </a:r>
            <a:endParaRPr lang="en-US" sz="585" dirty="0"/>
          </a:p>
        </p:txBody>
      </p:sp>
      <p:sp>
        <p:nvSpPr>
          <p:cNvPr id="83" name="Text 80"/>
          <p:cNvSpPr/>
          <p:nvPr/>
        </p:nvSpPr>
        <p:spPr>
          <a:xfrm>
            <a:off x="4171950" y="3663226"/>
            <a:ext cx="2304288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思想奠基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工程实践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社区文化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33%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，工程类权重最高。</a:t>
            </a:r>
            <a:endParaRPr lang="en-US" sz="540" dirty="0"/>
          </a:p>
        </p:txBody>
      </p:sp>
      <p:sp>
        <p:nvSpPr>
          <p:cNvPr id="84" name="Shape 81"/>
          <p:cNvSpPr/>
          <p:nvPr/>
        </p:nvSpPr>
        <p:spPr>
          <a:xfrm>
            <a:off x="3800475" y="3891826"/>
            <a:ext cx="4869180" cy="360045"/>
          </a:xfrm>
          <a:prstGeom prst="roundRect">
            <a:avLst>
              <a:gd name="adj" fmla="val 15873"/>
            </a:avLst>
          </a:prstGeom>
          <a:solidFill>
            <a:srgbClr val="F7F8FA">
              <a:alpha val="6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886200" y="3960406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2137"/>
              </a:gs>
              <a:gs pos="100000">
                <a:srgbClr val="1A3A5C"/>
              </a:gs>
            </a:gsLst>
            <a:lin ang="2700000" scaled="0"/>
          </a:gradFill>
          <a:ln/>
        </p:spPr>
      </p:sp>
      <p:sp>
        <p:nvSpPr>
          <p:cNvPr id="86" name="Text 83"/>
          <p:cNvSpPr/>
          <p:nvPr/>
        </p:nvSpPr>
        <p:spPr>
          <a:xfrm>
            <a:off x="3886200" y="3960406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30" dirty="0"/>
          </a:p>
        </p:txBody>
      </p:sp>
      <p:sp>
        <p:nvSpPr>
          <p:cNvPr id="87" name="Text 84"/>
          <p:cNvSpPr/>
          <p:nvPr/>
        </p:nvSpPr>
        <p:spPr>
          <a:xfrm>
            <a:off x="4171950" y="3971836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推荐路径</a:t>
            </a:r>
            <a:endParaRPr lang="en-US" sz="585" dirty="0"/>
          </a:p>
        </p:txBody>
      </p:sp>
      <p:sp>
        <p:nvSpPr>
          <p:cNvPr id="88" name="Text 85"/>
          <p:cNvSpPr/>
          <p:nvPr/>
        </p:nvSpPr>
        <p:spPr>
          <a:xfrm>
            <a:off x="4171950" y="4086136"/>
            <a:ext cx="2356295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入门先读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思想类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再进入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工程类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最后拓展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社区文化类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，循序渐进。</a:t>
            </a:r>
            <a:endParaRPr lang="en-US" sz="540" dirty="0"/>
          </a:p>
        </p:txBody>
      </p:sp>
      <p:sp>
        <p:nvSpPr>
          <p:cNvPr id="89" name="Shape 86"/>
          <p:cNvSpPr/>
          <p:nvPr/>
        </p:nvSpPr>
        <p:spPr>
          <a:xfrm>
            <a:off x="3800475" y="4314736"/>
            <a:ext cx="4869180" cy="360045"/>
          </a:xfrm>
          <a:prstGeom prst="roundRect">
            <a:avLst>
              <a:gd name="adj" fmla="val 15873"/>
            </a:avLst>
          </a:prstGeom>
          <a:solidFill>
            <a:srgbClr val="F7F8FA">
              <a:alpha val="60000"/>
            </a:srgbClr>
          </a:solidFill>
          <a:ln w="5715">
            <a:solidFill>
              <a:srgbClr val="E5E7EB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886200" y="4383316"/>
            <a:ext cx="205740" cy="2057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D2137"/>
              </a:gs>
              <a:gs pos="100000">
                <a:srgbClr val="1A3A5C"/>
              </a:gs>
            </a:gsLst>
            <a:lin ang="2700000" scaled="0"/>
          </a:gradFill>
          <a:ln/>
        </p:spPr>
      </p:sp>
      <p:sp>
        <p:nvSpPr>
          <p:cNvPr id="91" name="Text 88"/>
          <p:cNvSpPr/>
          <p:nvPr/>
        </p:nvSpPr>
        <p:spPr>
          <a:xfrm>
            <a:off x="3886200" y="4383316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30" dirty="0"/>
          </a:p>
        </p:txBody>
      </p:sp>
      <p:sp>
        <p:nvSpPr>
          <p:cNvPr id="92" name="Text 89"/>
          <p:cNvSpPr/>
          <p:nvPr/>
        </p:nvSpPr>
        <p:spPr>
          <a:xfrm>
            <a:off x="4171950" y="4394746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延伸资源</a:t>
            </a:r>
            <a:endParaRPr lang="en-US" sz="585" dirty="0"/>
          </a:p>
        </p:txBody>
      </p:sp>
      <p:sp>
        <p:nvSpPr>
          <p:cNvPr id="93" name="Text 90"/>
          <p:cNvSpPr/>
          <p:nvPr/>
        </p:nvSpPr>
        <p:spPr>
          <a:xfrm>
            <a:off x="4171950" y="4509046"/>
            <a:ext cx="2150669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每本书附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延伸阅读链接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50000"/>
              </a:lnSpc>
              <a:buNone/>
            </a:pPr>
            <a:r>
              <a:rPr lang="en-US" sz="54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社区讨论帖索引</a:t>
            </a:r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，方便读者持续深入。</a:t>
            </a:r>
            <a:endParaRPr lang="en-US" sz="540" dirty="0"/>
          </a:p>
        </p:txBody>
      </p:sp>
      <p:sp>
        <p:nvSpPr>
          <p:cNvPr id="94" name="Shape 91"/>
          <p:cNvSpPr/>
          <p:nvPr/>
        </p:nvSpPr>
        <p:spPr>
          <a:xfrm>
            <a:off x="342900" y="4567446"/>
            <a:ext cx="8458200" cy="347454"/>
          </a:xfrm>
          <a:prstGeom prst="roundRect">
            <a:avLst>
              <a:gd name="adj" fmla="val 19738"/>
            </a:avLst>
          </a:prstGeom>
          <a:gradFill rotWithShape="1">
            <a:gsLst>
              <a:gs pos="0">
                <a:srgbClr val="0D2137">
                  <a:alpha val="95000"/>
                </a:srgbClr>
              </a:gs>
              <a:gs pos="100000">
                <a:srgbClr val="1A3A5C">
                  <a:alpha val="90000"/>
                </a:srgbClr>
              </a:gs>
            </a:gsLst>
            <a:lin ang="2700000" scaled="0"/>
          </a:gradFill>
          <a:ln/>
        </p:spPr>
      </p:sp>
      <p:sp>
        <p:nvSpPr>
          <p:cNvPr id="95" name="Shape 92"/>
          <p:cNvSpPr/>
          <p:nvPr/>
        </p:nvSpPr>
        <p:spPr>
          <a:xfrm>
            <a:off x="8401050" y="4395996"/>
            <a:ext cx="571500" cy="571500"/>
          </a:xfrm>
          <a:prstGeom prst="ellipse">
            <a:avLst/>
          </a:prstGeom>
          <a:solidFill>
            <a:srgbClr val="C08B3E">
              <a:alpha val="15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8229600" y="4686300"/>
            <a:ext cx="342900" cy="342900"/>
          </a:xfrm>
          <a:prstGeom prst="ellipse">
            <a:avLst/>
          </a:prstGeom>
          <a:solidFill>
            <a:srgbClr val="C08B3E">
              <a:alpha val="10000"/>
            </a:srgbClr>
          </a:solidFill>
          <a:ln/>
        </p:spPr>
      </p:sp>
      <p:sp>
        <p:nvSpPr>
          <p:cNvPr id="97" name="Text 94"/>
          <p:cNvSpPr/>
          <p:nvPr/>
        </p:nvSpPr>
        <p:spPr>
          <a:xfrm>
            <a:off x="468630" y="4658886"/>
            <a:ext cx="349758" cy="16457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20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620" dirty="0"/>
          </a:p>
        </p:txBody>
      </p:sp>
      <p:sp>
        <p:nvSpPr>
          <p:cNvPr id="98" name="Text 95"/>
          <p:cNvSpPr/>
          <p:nvPr/>
        </p:nvSpPr>
        <p:spPr>
          <a:xfrm>
            <a:off x="680085" y="4679871"/>
            <a:ext cx="8954719" cy="122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从数据统计的视角看，这份书单</a:t>
            </a:r>
            <a:pPr algn="l" indent="0" marL="0">
              <a:lnSpc>
                <a:spcPct val="165000"/>
              </a:lnSpc>
              <a:buNone/>
            </a:pPr>
            <a:r>
              <a:rPr lang="en-US" sz="585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偏向工程实践</a:t>
            </a:r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，反映当下开源开发者最迫切的诉求。</a:t>
            </a:r>
            <a:pPr algn="l" indent="0" marL="0">
              <a:lnSpc>
                <a:spcPct val="165000"/>
              </a:lnSpc>
              <a:buNone/>
            </a:pPr>
            <a:r>
              <a:rPr lang="en-US" sz="585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思想奠基类</a:t>
            </a:r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作为入口，</a:t>
            </a:r>
            <a:pPr algn="l" indent="0" marL="0">
              <a:lnSpc>
                <a:spcPct val="165000"/>
              </a:lnSpc>
              <a:buNone/>
            </a:pPr>
            <a:r>
              <a:rPr lang="en-US" sz="585" b="1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社区文化类</a:t>
            </a:r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作为升华，共同构成一条从入门到进阶的阅读路径。</a:t>
            </a:r>
            <a:endParaRPr lang="en-US" sz="5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8F7F4"/>
              </a:gs>
              <a:gs pos="50000">
                <a:srgbClr val="F5F1EA"/>
              </a:gs>
              <a:gs pos="100000">
                <a:srgbClr val="F8F7F4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02920" y="468630"/>
            <a:ext cx="17145" cy="148590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4" name="Text 2"/>
          <p:cNvSpPr/>
          <p:nvPr/>
        </p:nvSpPr>
        <p:spPr>
          <a:xfrm>
            <a:off x="617220" y="342900"/>
            <a:ext cx="72969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36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1017270" y="277178"/>
            <a:ext cx="2068830" cy="1020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450" b="1" spc="-36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450" dirty="0"/>
          </a:p>
        </p:txBody>
      </p:sp>
      <p:sp>
        <p:nvSpPr>
          <p:cNvPr id="6" name="Text 4"/>
          <p:cNvSpPr/>
          <p:nvPr/>
        </p:nvSpPr>
        <p:spPr>
          <a:xfrm>
            <a:off x="1154430" y="1125855"/>
            <a:ext cx="2040255" cy="1020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450" b="1" spc="-36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450" dirty="0"/>
          </a:p>
        </p:txBody>
      </p:sp>
      <p:sp>
        <p:nvSpPr>
          <p:cNvPr id="7" name="Text 5"/>
          <p:cNvSpPr/>
          <p:nvPr/>
        </p:nvSpPr>
        <p:spPr>
          <a:xfrm>
            <a:off x="617220" y="1983105"/>
            <a:ext cx="748894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章 节 启 幕</a:t>
            </a:r>
            <a:endParaRPr lang="en-US" sz="585" dirty="0"/>
          </a:p>
        </p:txBody>
      </p:sp>
      <p:sp>
        <p:nvSpPr>
          <p:cNvPr id="8" name="Shape 6"/>
          <p:cNvSpPr/>
          <p:nvPr/>
        </p:nvSpPr>
        <p:spPr>
          <a:xfrm>
            <a:off x="617220" y="2025700"/>
            <a:ext cx="34290" cy="3429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9" name="Text 7"/>
          <p:cNvSpPr/>
          <p:nvPr/>
        </p:nvSpPr>
        <p:spPr>
          <a:xfrm>
            <a:off x="2857500" y="724376"/>
            <a:ext cx="3429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</a:t>
            </a:r>
            <a:endParaRPr lang="en-US" sz="540" dirty="0"/>
          </a:p>
        </p:txBody>
      </p:sp>
      <p:sp>
        <p:nvSpPr>
          <p:cNvPr id="10" name="Shape 8"/>
          <p:cNvSpPr/>
          <p:nvPr/>
        </p:nvSpPr>
        <p:spPr>
          <a:xfrm>
            <a:off x="3211830" y="764381"/>
            <a:ext cx="251460" cy="571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Text 9"/>
          <p:cNvSpPr/>
          <p:nvPr/>
        </p:nvSpPr>
        <p:spPr>
          <a:xfrm>
            <a:off x="3543300" y="724376"/>
            <a:ext cx="4629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05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2857500" y="901541"/>
            <a:ext cx="1703070" cy="4000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10" b="1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第三部分</a:t>
            </a:r>
            <a:endParaRPr lang="en-US" sz="2610" dirty="0"/>
          </a:p>
        </p:txBody>
      </p:sp>
      <p:sp>
        <p:nvSpPr>
          <p:cNvPr id="13" name="Text 11"/>
          <p:cNvSpPr/>
          <p:nvPr/>
        </p:nvSpPr>
        <p:spPr>
          <a:xfrm>
            <a:off x="4251960" y="901541"/>
            <a:ext cx="563499" cy="4000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10" b="1" spc="9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610" dirty="0"/>
          </a:p>
        </p:txBody>
      </p:sp>
      <p:sp>
        <p:nvSpPr>
          <p:cNvPr id="14" name="Text 12"/>
          <p:cNvSpPr/>
          <p:nvPr/>
        </p:nvSpPr>
        <p:spPr>
          <a:xfrm>
            <a:off x="4394835" y="901541"/>
            <a:ext cx="2045970" cy="4000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10" b="1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共读共成长</a:t>
            </a:r>
            <a:endParaRPr lang="en-US" sz="2610" dirty="0"/>
          </a:p>
        </p:txBody>
      </p:sp>
      <p:sp>
        <p:nvSpPr>
          <p:cNvPr id="15" name="Shape 13"/>
          <p:cNvSpPr/>
          <p:nvPr/>
        </p:nvSpPr>
        <p:spPr>
          <a:xfrm>
            <a:off x="2857500" y="1419820"/>
            <a:ext cx="57150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486150" y="1425535"/>
            <a:ext cx="34290" cy="3429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17" name="Text 15"/>
          <p:cNvSpPr/>
          <p:nvPr/>
        </p:nvSpPr>
        <p:spPr>
          <a:xfrm>
            <a:off x="2857500" y="1551265"/>
            <a:ext cx="224668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10" spc="68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从个人阅读到社区交流，让知识流动起来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2712660" cy="820817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>
                <a:alpha val="6000"/>
              </a:srgbClr>
            </a:solidFill>
            <a:prstDash val="solid"/>
          </a:ln>
          <a:effectLst>
            <a:outerShdw sx="100000" sy="100000" kx="0" ky="0" algn="bl" rotWithShape="0" blurRad="133350" dist="19050" dir="16200000">
              <a:srgbClr val="0D2137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81240" y="2383155"/>
            <a:ext cx="41148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08B3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0065" y="2428875"/>
            <a:ext cx="26925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RHYTHM</a:t>
            </a:r>
            <a:endParaRPr lang="en-US" sz="495" dirty="0"/>
          </a:p>
        </p:txBody>
      </p:sp>
      <p:sp>
        <p:nvSpPr>
          <p:cNvPr id="21" name="Text 19"/>
          <p:cNvSpPr/>
          <p:nvPr/>
        </p:nvSpPr>
        <p:spPr>
          <a:xfrm>
            <a:off x="520065" y="2566035"/>
            <a:ext cx="59436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阅读节奏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0065" y="2754630"/>
            <a:ext cx="18288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3" name="Text 21"/>
          <p:cNvSpPr/>
          <p:nvPr/>
        </p:nvSpPr>
        <p:spPr>
          <a:xfrm>
            <a:off x="520065" y="2846070"/>
            <a:ext cx="198744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每月精读一本、写一段笔记，比速读十本更有收获。</a:t>
            </a:r>
            <a:endParaRPr lang="en-US" sz="608" dirty="0"/>
          </a:p>
        </p:txBody>
      </p:sp>
      <p:sp>
        <p:nvSpPr>
          <p:cNvPr id="24" name="Shape 22"/>
          <p:cNvSpPr/>
          <p:nvPr/>
        </p:nvSpPr>
        <p:spPr>
          <a:xfrm>
            <a:off x="3215580" y="2286000"/>
            <a:ext cx="2712750" cy="820817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>
                <a:alpha val="6000"/>
              </a:srgbClr>
            </a:solidFill>
            <a:prstDash val="solid"/>
          </a:ln>
          <a:effectLst>
            <a:outerShdw sx="100000" sy="100000" kx="0" ky="0" algn="bl" rotWithShape="0" blurRad="133350" dist="19050" dir="16200000">
              <a:srgbClr val="0D2137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96860" y="2383155"/>
            <a:ext cx="41148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08B3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369885" y="2428875"/>
            <a:ext cx="26926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 MODE</a:t>
            </a:r>
            <a:endParaRPr lang="en-US" sz="495" dirty="0"/>
          </a:p>
        </p:txBody>
      </p:sp>
      <p:sp>
        <p:nvSpPr>
          <p:cNvPr id="27" name="Text 25"/>
          <p:cNvSpPr/>
          <p:nvPr/>
        </p:nvSpPr>
        <p:spPr>
          <a:xfrm>
            <a:off x="3369885" y="2566035"/>
            <a:ext cx="59436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讨论方式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9885" y="2754630"/>
            <a:ext cx="18288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9" name="Text 27"/>
          <p:cNvSpPr/>
          <p:nvPr/>
        </p:nvSpPr>
        <p:spPr>
          <a:xfrm>
            <a:off x="3369885" y="2846070"/>
            <a:ext cx="229748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适兕推荐的"先独读 → 笔记 → 群聊 → 整理"四步共读模式。</a:t>
            </a:r>
            <a:endParaRPr lang="en-US" sz="608" dirty="0"/>
          </a:p>
        </p:txBody>
      </p:sp>
      <p:sp>
        <p:nvSpPr>
          <p:cNvPr id="30" name="Shape 28"/>
          <p:cNvSpPr/>
          <p:nvPr/>
        </p:nvSpPr>
        <p:spPr>
          <a:xfrm>
            <a:off x="6065490" y="2286000"/>
            <a:ext cx="2712750" cy="820817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>
                <a:alpha val="6000"/>
              </a:srgbClr>
            </a:solidFill>
            <a:prstDash val="solid"/>
          </a:ln>
          <a:effectLst>
            <a:outerShdw sx="100000" sy="100000" kx="0" ky="0" algn="bl" rotWithShape="0" blurRad="133350" dist="19050" dir="16200000">
              <a:srgbClr val="0D2137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46770" y="2383155"/>
            <a:ext cx="41148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08B3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219795" y="2428875"/>
            <a:ext cx="269263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ACCUM</a:t>
            </a:r>
            <a:endParaRPr lang="en-US" sz="495" dirty="0"/>
          </a:p>
        </p:txBody>
      </p:sp>
      <p:sp>
        <p:nvSpPr>
          <p:cNvPr id="33" name="Text 31"/>
          <p:cNvSpPr/>
          <p:nvPr/>
        </p:nvSpPr>
        <p:spPr>
          <a:xfrm>
            <a:off x="6219795" y="2566035"/>
            <a:ext cx="59436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长期积累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9795" y="2754630"/>
            <a:ext cx="18288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35" name="Text 33"/>
          <p:cNvSpPr/>
          <p:nvPr/>
        </p:nvSpPr>
        <p:spPr>
          <a:xfrm>
            <a:off x="6219795" y="2846070"/>
            <a:ext cx="190103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坚持一年下来将拥有一个系统化的开源知识图谱。</a:t>
            </a:r>
            <a:endParaRPr lang="en-US" sz="608" dirty="0"/>
          </a:p>
        </p:txBody>
      </p:sp>
      <p:sp>
        <p:nvSpPr>
          <p:cNvPr id="36" name="Shape 34"/>
          <p:cNvSpPr/>
          <p:nvPr/>
        </p:nvSpPr>
        <p:spPr>
          <a:xfrm>
            <a:off x="365760" y="3255407"/>
            <a:ext cx="8412480" cy="377190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365760" y="3255407"/>
            <a:ext cx="8412480" cy="0"/>
          </a:xfrm>
          <a:prstGeom prst="line">
            <a:avLst/>
          </a:prstGeom>
          <a:noFill/>
          <a:ln w="5715">
            <a:solidFill>
              <a:srgbClr val="0D2137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632597"/>
            <a:ext cx="8412480" cy="0"/>
          </a:xfrm>
          <a:prstGeom prst="line">
            <a:avLst/>
          </a:prstGeom>
          <a:noFill/>
          <a:ln w="5715">
            <a:solidFill>
              <a:srgbClr val="0D2137">
                <a:alpha val="1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62033" y="3395424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建议节奏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1696373" y="3352562"/>
            <a:ext cx="70294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每月</a:t>
            </a:r>
            <a:pPr algn="l" indent="0" marL="0">
              <a:buNone/>
            </a:pPr>
            <a:r>
              <a:rPr lang="en-US" sz="585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本精读</a:t>
            </a:r>
            <a:endParaRPr lang="en-US" sz="990" dirty="0"/>
          </a:p>
        </p:txBody>
      </p:sp>
      <p:sp>
        <p:nvSpPr>
          <p:cNvPr id="41" name="Shape 39"/>
          <p:cNvSpPr/>
          <p:nvPr/>
        </p:nvSpPr>
        <p:spPr>
          <a:xfrm>
            <a:off x="3169860" y="3374440"/>
            <a:ext cx="5715" cy="138946"/>
          </a:xfrm>
          <a:prstGeom prst="rect">
            <a:avLst/>
          </a:prstGeom>
          <a:solidFill>
            <a:srgbClr val="0D2137">
              <a:alpha val="9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873788" y="3395424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共读步骤</a:t>
            </a:r>
            <a:endParaRPr lang="en-US" sz="540" dirty="0"/>
          </a:p>
        </p:txBody>
      </p:sp>
      <p:sp>
        <p:nvSpPr>
          <p:cNvPr id="43" name="Text 41"/>
          <p:cNvSpPr/>
          <p:nvPr/>
        </p:nvSpPr>
        <p:spPr>
          <a:xfrm>
            <a:off x="4308128" y="3352562"/>
            <a:ext cx="10876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写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聊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pPr algn="l" indent="0" marL="0">
              <a:buNone/>
            </a:pPr>
            <a:r>
              <a:rPr lang="en-US" sz="990" b="1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</a:t>
            </a:r>
            <a:endParaRPr lang="en-US" sz="990" dirty="0"/>
          </a:p>
        </p:txBody>
      </p:sp>
      <p:sp>
        <p:nvSpPr>
          <p:cNvPr id="44" name="Shape 42"/>
          <p:cNvSpPr/>
          <p:nvPr/>
        </p:nvSpPr>
        <p:spPr>
          <a:xfrm>
            <a:off x="5974050" y="3387477"/>
            <a:ext cx="5715" cy="112871"/>
          </a:xfrm>
          <a:prstGeom prst="rect">
            <a:avLst/>
          </a:prstGeom>
          <a:solidFill>
            <a:srgbClr val="0D2137">
              <a:alpha val="9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947475" y="3395424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年度目标</a:t>
            </a:r>
            <a:endParaRPr lang="en-US" sz="540" dirty="0"/>
          </a:p>
        </p:txBody>
      </p:sp>
      <p:sp>
        <p:nvSpPr>
          <p:cNvPr id="46" name="Text 44"/>
          <p:cNvSpPr/>
          <p:nvPr/>
        </p:nvSpPr>
        <p:spPr>
          <a:xfrm>
            <a:off x="7381815" y="3369707"/>
            <a:ext cx="548640" cy="148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algn="l" indent="0" marL="0">
              <a:buNone/>
            </a:pPr>
            <a:r>
              <a:rPr lang="en-US" sz="585" b="1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本精读</a:t>
            </a:r>
            <a:endParaRPr lang="en-US" sz="990" dirty="0"/>
          </a:p>
        </p:txBody>
      </p:sp>
      <p:sp>
        <p:nvSpPr>
          <p:cNvPr id="47" name="Shape 45"/>
          <p:cNvSpPr/>
          <p:nvPr/>
        </p:nvSpPr>
        <p:spPr>
          <a:xfrm>
            <a:off x="594360" y="3781187"/>
            <a:ext cx="228600" cy="5715"/>
          </a:xfrm>
          <a:prstGeom prst="rect">
            <a:avLst/>
          </a:prstGeom>
          <a:solidFill>
            <a:srgbClr val="C08B3E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94360" y="3781187"/>
            <a:ext cx="228600" cy="5715"/>
          </a:xfrm>
          <a:prstGeom prst="rect">
            <a:avLst/>
          </a:prstGeom>
          <a:solidFill>
            <a:srgbClr val="C08B3E">
              <a:alpha val="5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100513" y="3781187"/>
            <a:ext cx="105613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31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NOTE</a:t>
            </a:r>
            <a:endParaRPr lang="en-US" sz="495" dirty="0"/>
          </a:p>
        </p:txBody>
      </p:sp>
      <p:sp>
        <p:nvSpPr>
          <p:cNvPr id="50" name="Text 48"/>
          <p:cNvSpPr/>
          <p:nvPr/>
        </p:nvSpPr>
        <p:spPr>
          <a:xfrm>
            <a:off x="594360" y="3929777"/>
            <a:ext cx="8909914" cy="220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990" spc="36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pPr algn="ctr" indent="0" marL="0">
              <a:lnSpc>
                <a:spcPct val="175000"/>
              </a:lnSpc>
              <a:buNone/>
            </a:pPr>
            <a:r>
              <a:rPr lang="en-US" sz="653" b="1" spc="36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读书不是终点，而是起点</a:t>
            </a:r>
            <a:pPr algn="ctr" indent="0" marL="0">
              <a:lnSpc>
                <a:spcPct val="175000"/>
              </a:lnSpc>
              <a:buNone/>
            </a:pPr>
            <a:r>
              <a:rPr lang="en-US" sz="653" spc="36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——读一点、写一点、聊一点，让知识从纸面流淌到实践，最终形成个人的开源认知体系。</a:t>
            </a:r>
            <a:endParaRPr lang="en-US" sz="65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5740" y="205740"/>
            <a:ext cx="285750" cy="28575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205740" y="205740"/>
            <a:ext cx="28575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" y="205740"/>
            <a:ext cx="0" cy="28575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2510" y="205740"/>
            <a:ext cx="285750" cy="28575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8652510" y="205740"/>
            <a:ext cx="28575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38260" y="205740"/>
            <a:ext cx="0" cy="28575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" y="4652010"/>
            <a:ext cx="285750" cy="2857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05740" y="4937760"/>
            <a:ext cx="28575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" y="4652010"/>
            <a:ext cx="0" cy="28575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2510" y="4652010"/>
            <a:ext cx="285750" cy="28575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8938260" y="4652010"/>
            <a:ext cx="0" cy="28575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52510" y="4937760"/>
            <a:ext cx="285750" cy="0"/>
          </a:xfrm>
          <a:prstGeom prst="line">
            <a:avLst/>
          </a:prstGeom>
          <a:noFill/>
          <a:ln w="5715">
            <a:solidFill>
              <a:srgbClr val="C08B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012055"/>
            <a:ext cx="914400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6183" y="4903470"/>
            <a:ext cx="1651635" cy="6858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16" name="Text 14"/>
          <p:cNvSpPr/>
          <p:nvPr/>
        </p:nvSpPr>
        <p:spPr>
          <a:xfrm>
            <a:off x="3746183" y="4903470"/>
            <a:ext cx="1849831" cy="68580"/>
          </a:xfrm>
          <a:prstGeom prst="rect">
            <a:avLst/>
          </a:prstGeom>
          <a:noFill/>
          <a:ln/>
        </p:spPr>
        <p:txBody>
          <a:bodyPr wrap="none" lIns="0" tIns="91440" rIns="91440" bIns="0" rtlCol="0" anchor="ctr"/>
          <a:lstStyle/>
          <a:p>
            <a:pPr algn="l" indent="0" marL="0">
              <a:buNone/>
            </a:pPr>
            <a:r>
              <a:rPr lang="en-US" sz="450" spc="180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  ·  OPEN SOURCE READING</a:t>
            </a:r>
            <a:endParaRPr lang="en-US" sz="450" dirty="0"/>
          </a:p>
        </p:txBody>
      </p:sp>
      <p:sp>
        <p:nvSpPr>
          <p:cNvPr id="17" name="Shape 15"/>
          <p:cNvSpPr/>
          <p:nvPr/>
        </p:nvSpPr>
        <p:spPr>
          <a:xfrm>
            <a:off x="4006215" y="334328"/>
            <a:ext cx="45720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8" name="Shape 16"/>
          <p:cNvSpPr/>
          <p:nvPr/>
        </p:nvSpPr>
        <p:spPr>
          <a:xfrm rot="2700000">
            <a:off x="4554855" y="320040"/>
            <a:ext cx="34290" cy="3429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680585" y="334328"/>
            <a:ext cx="457200" cy="5715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0" name="Text 18"/>
          <p:cNvSpPr/>
          <p:nvPr/>
        </p:nvSpPr>
        <p:spPr>
          <a:xfrm>
            <a:off x="3228975" y="457200"/>
            <a:ext cx="3154680" cy="5154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90" b="1" spc="54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共读共成长</a:t>
            </a:r>
            <a:endParaRPr lang="en-US" sz="3690" dirty="0"/>
          </a:p>
        </p:txBody>
      </p:sp>
      <p:sp>
        <p:nvSpPr>
          <p:cNvPr id="21" name="Text 19"/>
          <p:cNvSpPr/>
          <p:nvPr/>
        </p:nvSpPr>
        <p:spPr>
          <a:xfrm>
            <a:off x="3829050" y="1064062"/>
            <a:ext cx="1664208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90" spc="27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感谢阅读 · 期待交流</a:t>
            </a:r>
            <a:endParaRPr lang="en-US" sz="990" dirty="0"/>
          </a:p>
        </p:txBody>
      </p:sp>
      <p:sp>
        <p:nvSpPr>
          <p:cNvPr id="22" name="Shape 20"/>
          <p:cNvSpPr/>
          <p:nvPr/>
        </p:nvSpPr>
        <p:spPr>
          <a:xfrm>
            <a:off x="4400550" y="1372672"/>
            <a:ext cx="342900" cy="11430"/>
          </a:xfrm>
          <a:prstGeom prst="rect">
            <a:avLst/>
          </a:prstGeom>
          <a:solidFill>
            <a:srgbClr val="C08B3E"/>
          </a:solidFill>
          <a:ln/>
        </p:spPr>
      </p:sp>
      <p:sp>
        <p:nvSpPr>
          <p:cNvPr id="23" name="Text 21"/>
          <p:cNvSpPr/>
          <p:nvPr/>
        </p:nvSpPr>
        <p:spPr>
          <a:xfrm>
            <a:off x="3286125" y="1498402"/>
            <a:ext cx="288036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765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开源不止于代码，更在于人的联结。</a:t>
            </a:r>
            <a:pPr algn="ctr" indent="0" marL="0">
              <a:lnSpc>
                <a:spcPct val="200000"/>
              </a:lnSpc>
              <a:buNone/>
            </a:pPr>
            <a:endParaRPr lang="en-US" sz="765" dirty="0"/>
          </a:p>
          <a:p>
            <a:pPr algn="ctr" indent="0" marL="0">
              <a:lnSpc>
                <a:spcPct val="200000"/>
              </a:lnSpc>
              <a:buNone/>
            </a:pPr>
            <a:r>
              <a:rPr lang="en-US" sz="765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适兕希望这份书单成为你与开源世界之间的第一座桥梁，</a:t>
            </a:r>
            <a:pPr algn="ctr" indent="0" marL="0">
              <a:lnSpc>
                <a:spcPct val="200000"/>
              </a:lnSpc>
              <a:buNone/>
            </a:pPr>
            <a:endParaRPr lang="en-US" sz="765" dirty="0"/>
          </a:p>
          <a:p>
            <a:pPr algn="ctr" indent="0" marL="0">
              <a:lnSpc>
                <a:spcPct val="200000"/>
              </a:lnSpc>
              <a:buNone/>
            </a:pPr>
            <a:r>
              <a:rPr lang="en-US" sz="765" spc="45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期待在未来的共读活动中与你相遇。</a:t>
            </a:r>
            <a:endParaRPr lang="en-US" sz="765" dirty="0"/>
          </a:p>
        </p:txBody>
      </p:sp>
      <p:sp>
        <p:nvSpPr>
          <p:cNvPr id="24" name="Shape 22"/>
          <p:cNvSpPr/>
          <p:nvPr/>
        </p:nvSpPr>
        <p:spPr>
          <a:xfrm>
            <a:off x="1154430" y="2252782"/>
            <a:ext cx="2171700" cy="955834"/>
          </a:xfrm>
          <a:prstGeom prst="rect">
            <a:avLst/>
          </a:prstGeom>
          <a:solidFill>
            <a:srgbClr val="FFFFFF"/>
          </a:solidFill>
          <a:ln w="11430">
            <a:solidFill>
              <a:srgbClr val="C08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8735" y="2389942"/>
            <a:ext cx="208666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01 —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1308735" y="2521387"/>
            <a:ext cx="2086661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行动倡议</a:t>
            </a:r>
            <a:endParaRPr lang="en-US" sz="855" dirty="0"/>
          </a:p>
        </p:txBody>
      </p:sp>
      <p:sp>
        <p:nvSpPr>
          <p:cNvPr id="27" name="Shape 25"/>
          <p:cNvSpPr/>
          <p:nvPr/>
        </p:nvSpPr>
        <p:spPr>
          <a:xfrm>
            <a:off x="1308735" y="2732842"/>
            <a:ext cx="182880" cy="571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8" name="Text 26"/>
          <p:cNvSpPr/>
          <p:nvPr/>
        </p:nvSpPr>
        <p:spPr>
          <a:xfrm>
            <a:off x="1308735" y="2795707"/>
            <a:ext cx="2086661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从今天起选择一本书单中的书，开始你的开源阅读之旅。</a:t>
            </a:r>
            <a:endParaRPr lang="en-US" sz="608" dirty="0"/>
          </a:p>
        </p:txBody>
      </p:sp>
      <p:sp>
        <p:nvSpPr>
          <p:cNvPr id="29" name="Shape 27"/>
          <p:cNvSpPr/>
          <p:nvPr/>
        </p:nvSpPr>
        <p:spPr>
          <a:xfrm>
            <a:off x="3486150" y="2252782"/>
            <a:ext cx="2171700" cy="955834"/>
          </a:xfrm>
          <a:prstGeom prst="rect">
            <a:avLst/>
          </a:prstGeom>
          <a:solidFill>
            <a:srgbClr val="FFFFFF"/>
          </a:solidFill>
          <a:ln w="11430">
            <a:solidFill>
              <a:srgbClr val="C08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0455" y="2389942"/>
            <a:ext cx="208666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02 —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3640455" y="2521387"/>
            <a:ext cx="2086661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交流渠道</a:t>
            </a:r>
            <a:endParaRPr lang="en-US" sz="855" dirty="0"/>
          </a:p>
        </p:txBody>
      </p:sp>
      <p:sp>
        <p:nvSpPr>
          <p:cNvPr id="32" name="Shape 30"/>
          <p:cNvSpPr/>
          <p:nvPr/>
        </p:nvSpPr>
        <p:spPr>
          <a:xfrm>
            <a:off x="3640455" y="2732842"/>
            <a:ext cx="182880" cy="571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3" name="Text 31"/>
          <p:cNvSpPr/>
          <p:nvPr/>
        </p:nvSpPr>
        <p:spPr>
          <a:xfrm>
            <a:off x="3640455" y="2795707"/>
            <a:ext cx="2086661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关注「开源之道」公众号，参与适兕的书单讨论与月度共读活动。</a:t>
            </a:r>
            <a:endParaRPr lang="en-US" sz="608" dirty="0"/>
          </a:p>
        </p:txBody>
      </p:sp>
      <p:sp>
        <p:nvSpPr>
          <p:cNvPr id="34" name="Shape 32"/>
          <p:cNvSpPr/>
          <p:nvPr/>
        </p:nvSpPr>
        <p:spPr>
          <a:xfrm>
            <a:off x="5817870" y="2252782"/>
            <a:ext cx="2171700" cy="955834"/>
          </a:xfrm>
          <a:prstGeom prst="rect">
            <a:avLst/>
          </a:prstGeom>
          <a:solidFill>
            <a:srgbClr val="FFFFFF"/>
          </a:solidFill>
          <a:ln w="11430">
            <a:solidFill>
              <a:srgbClr val="C08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72175" y="2389942"/>
            <a:ext cx="208666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C08B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03 —</a:t>
            </a:r>
            <a:endParaRPr lang="en-US" sz="540" dirty="0"/>
          </a:p>
        </p:txBody>
      </p:sp>
      <p:sp>
        <p:nvSpPr>
          <p:cNvPr id="36" name="Text 34"/>
          <p:cNvSpPr/>
          <p:nvPr/>
        </p:nvSpPr>
        <p:spPr>
          <a:xfrm>
            <a:off x="5972175" y="2521387"/>
            <a:ext cx="2086661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持续更新</a:t>
            </a:r>
            <a:endParaRPr lang="en-US" sz="855" dirty="0"/>
          </a:p>
        </p:txBody>
      </p:sp>
      <p:sp>
        <p:nvSpPr>
          <p:cNvPr id="37" name="Shape 35"/>
          <p:cNvSpPr/>
          <p:nvPr/>
        </p:nvSpPr>
        <p:spPr>
          <a:xfrm>
            <a:off x="5972175" y="2732842"/>
            <a:ext cx="182880" cy="571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8" name="Text 36"/>
          <p:cNvSpPr/>
          <p:nvPr/>
        </p:nvSpPr>
        <p:spPr>
          <a:xfrm>
            <a:off x="5972175" y="2795707"/>
            <a:ext cx="2086661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spc="23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书单将每季度更新，欢迎读者推荐好书并分享阅读心得。</a:t>
            </a:r>
            <a:endParaRPr lang="en-US" sz="608" dirty="0"/>
          </a:p>
        </p:txBody>
      </p:sp>
      <p:sp>
        <p:nvSpPr>
          <p:cNvPr id="39" name="Shape 37"/>
          <p:cNvSpPr/>
          <p:nvPr/>
        </p:nvSpPr>
        <p:spPr>
          <a:xfrm>
            <a:off x="3066098" y="3382923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40" name="Text 38"/>
          <p:cNvSpPr/>
          <p:nvPr/>
        </p:nvSpPr>
        <p:spPr>
          <a:xfrm>
            <a:off x="3146108" y="3345775"/>
            <a:ext cx="30861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公众号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3443288" y="3345775"/>
            <a:ext cx="3886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</a:t>
            </a:r>
            <a:endParaRPr lang="en-US" sz="540" dirty="0"/>
          </a:p>
        </p:txBody>
      </p:sp>
      <p:sp>
        <p:nvSpPr>
          <p:cNvPr id="42" name="Shape 40"/>
          <p:cNvSpPr/>
          <p:nvPr/>
        </p:nvSpPr>
        <p:spPr>
          <a:xfrm>
            <a:off x="3900488" y="3354348"/>
            <a:ext cx="5715" cy="80010"/>
          </a:xfrm>
          <a:prstGeom prst="rect">
            <a:avLst/>
          </a:prstGeom>
          <a:solidFill>
            <a:srgbClr val="C08B3E">
              <a:alpha val="7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043363" y="3382923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44" name="Text 42"/>
          <p:cNvSpPr/>
          <p:nvPr/>
        </p:nvSpPr>
        <p:spPr>
          <a:xfrm>
            <a:off x="4123373" y="3345775"/>
            <a:ext cx="3886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更新频率</a:t>
            </a:r>
            <a:endParaRPr lang="en-US" sz="540" dirty="0"/>
          </a:p>
        </p:txBody>
      </p:sp>
      <p:sp>
        <p:nvSpPr>
          <p:cNvPr id="45" name="Text 43"/>
          <p:cNvSpPr/>
          <p:nvPr/>
        </p:nvSpPr>
        <p:spPr>
          <a:xfrm>
            <a:off x="4500563" y="3345775"/>
            <a:ext cx="30861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每季度</a:t>
            </a:r>
            <a:endParaRPr lang="en-US" sz="540" dirty="0"/>
          </a:p>
        </p:txBody>
      </p:sp>
      <p:sp>
        <p:nvSpPr>
          <p:cNvPr id="46" name="Shape 44"/>
          <p:cNvSpPr/>
          <p:nvPr/>
        </p:nvSpPr>
        <p:spPr>
          <a:xfrm>
            <a:off x="4877753" y="3354348"/>
            <a:ext cx="5715" cy="80010"/>
          </a:xfrm>
          <a:prstGeom prst="rect">
            <a:avLst/>
          </a:prstGeom>
          <a:solidFill>
            <a:srgbClr val="C08B3E">
              <a:alpha val="7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020628" y="3382923"/>
            <a:ext cx="22860" cy="22860"/>
          </a:xfrm>
          <a:prstGeom prst="ellipse">
            <a:avLst/>
          </a:prstGeom>
          <a:solidFill>
            <a:srgbClr val="C08B3E"/>
          </a:solidFill>
          <a:ln/>
        </p:spPr>
      </p:sp>
      <p:sp>
        <p:nvSpPr>
          <p:cNvPr id="48" name="Text 46"/>
          <p:cNvSpPr/>
          <p:nvPr/>
        </p:nvSpPr>
        <p:spPr>
          <a:xfrm>
            <a:off x="5100638" y="3345775"/>
            <a:ext cx="46863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下一期预告</a:t>
            </a:r>
            <a:endParaRPr lang="en-US" sz="540" dirty="0"/>
          </a:p>
        </p:txBody>
      </p:sp>
      <p:sp>
        <p:nvSpPr>
          <p:cNvPr id="49" name="Text 47"/>
          <p:cNvSpPr/>
          <p:nvPr/>
        </p:nvSpPr>
        <p:spPr>
          <a:xfrm>
            <a:off x="5557838" y="3345775"/>
            <a:ext cx="58864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D21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2023Q2 书单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2026-08-27T22:58:33Z</dcterms:created>
  <dcterms:modified xsi:type="dcterms:W3CDTF">2026-08-27T22:58:33Z</dcterms:modified>
</cp:coreProperties>
</file>