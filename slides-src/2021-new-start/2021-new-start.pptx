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800225"/>
            <a:ext cx="10058400" cy="5657850"/>
          </a:xfrm>
          <a:prstGeom prst="ellipse">
            <a:avLst/>
          </a:prstGeom>
          <a:gradFill rotWithShape="1">
            <a:gsLst>
              <a:gs pos="0">
                <a:srgbClr val="00E5FF">
                  <a:alpha val="6400"/>
                </a:srgbClr>
              </a:gs>
              <a:gs pos="10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4572000" y="15430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7429500" y="274320"/>
            <a:ext cx="13716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E5FF">
                  <a:alpha val="40000"/>
                </a:srgbClr>
              </a:gs>
            </a:gsLst>
            <a:lin ang="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342900" y="300038"/>
            <a:ext cx="57150" cy="57150"/>
          </a:xfrm>
          <a:prstGeom prst="ellipse">
            <a:avLst/>
          </a:prstGeom>
          <a:solidFill>
            <a:srgbClr val="00E5FF"/>
          </a:solidFill>
          <a:ln/>
          <a:effectLst>
            <a:outerShdw sx="100000" sy="100000" kx="0" ky="0" algn="bl" rotWithShape="0" blurRad="114300" dist="50800" dir="16200000">
              <a:srgbClr val="00E5FF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0060" y="274320"/>
            <a:ext cx="161940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13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 OPEN-SOURCE · JOURNAL</a:t>
            </a:r>
            <a:endParaRPr lang="en-US" sz="630" dirty="0"/>
          </a:p>
        </p:txBody>
      </p:sp>
      <p:sp>
        <p:nvSpPr>
          <p:cNvPr id="7" name="Text 5"/>
          <p:cNvSpPr/>
          <p:nvPr/>
        </p:nvSpPr>
        <p:spPr>
          <a:xfrm>
            <a:off x="7600950" y="277178"/>
            <a:ext cx="1344168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ECEFF1">
                    <a:alpha val="7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2021 — NEW JOURNEY</a:t>
            </a:r>
            <a:endParaRPr lang="en-US" sz="585" dirty="0"/>
          </a:p>
        </p:txBody>
      </p:sp>
      <p:sp>
        <p:nvSpPr>
          <p:cNvPr id="8" name="Text 6"/>
          <p:cNvSpPr/>
          <p:nvPr/>
        </p:nvSpPr>
        <p:spPr>
          <a:xfrm>
            <a:off x="342900" y="542925"/>
            <a:ext cx="82296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13716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4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</a:t>
            </a:r>
            <a:endParaRPr lang="en-US" sz="3240" dirty="0"/>
          </a:p>
        </p:txBody>
      </p:sp>
      <p:sp>
        <p:nvSpPr>
          <p:cNvPr id="9" name="Text 7"/>
          <p:cNvSpPr/>
          <p:nvPr/>
        </p:nvSpPr>
        <p:spPr>
          <a:xfrm>
            <a:off x="342900" y="965835"/>
            <a:ext cx="82296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13716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4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源</a:t>
            </a:r>
            <a:endParaRPr lang="en-US" sz="3240" dirty="0"/>
          </a:p>
        </p:txBody>
      </p:sp>
      <p:sp>
        <p:nvSpPr>
          <p:cNvPr id="10" name="Text 8"/>
          <p:cNvSpPr/>
          <p:nvPr/>
        </p:nvSpPr>
        <p:spPr>
          <a:xfrm>
            <a:off x="342900" y="1388745"/>
            <a:ext cx="82296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13716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4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之</a:t>
            </a:r>
            <a:endParaRPr lang="en-US" sz="3240" dirty="0"/>
          </a:p>
        </p:txBody>
      </p:sp>
      <p:sp>
        <p:nvSpPr>
          <p:cNvPr id="11" name="Text 9"/>
          <p:cNvSpPr/>
          <p:nvPr/>
        </p:nvSpPr>
        <p:spPr>
          <a:xfrm>
            <a:off x="342900" y="1811655"/>
            <a:ext cx="82296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13716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4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书</a:t>
            </a:r>
            <a:endParaRPr lang="en-US" sz="3240" dirty="0"/>
          </a:p>
        </p:txBody>
      </p:sp>
      <p:sp>
        <p:nvSpPr>
          <p:cNvPr id="12" name="Text 10"/>
          <p:cNvSpPr/>
          <p:nvPr/>
        </p:nvSpPr>
        <p:spPr>
          <a:xfrm>
            <a:off x="342900" y="2234565"/>
            <a:ext cx="82296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13716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4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记</a:t>
            </a:r>
            <a:endParaRPr lang="en-US" sz="3240" dirty="0"/>
          </a:p>
        </p:txBody>
      </p:sp>
      <p:sp>
        <p:nvSpPr>
          <p:cNvPr id="13" name="Text 11"/>
          <p:cNvSpPr/>
          <p:nvPr/>
        </p:nvSpPr>
        <p:spPr>
          <a:xfrm>
            <a:off x="342900" y="2657475"/>
            <a:ext cx="82296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13716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4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录</a:t>
            </a:r>
            <a:endParaRPr lang="en-US" sz="3240" dirty="0"/>
          </a:p>
        </p:txBody>
      </p:sp>
      <p:sp>
        <p:nvSpPr>
          <p:cNvPr id="14" name="Shape 12"/>
          <p:cNvSpPr/>
          <p:nvPr/>
        </p:nvSpPr>
        <p:spPr>
          <a:xfrm>
            <a:off x="891540" y="542925"/>
            <a:ext cx="617220" cy="522297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891540" y="542925"/>
            <a:ext cx="0" cy="522297"/>
          </a:xfrm>
          <a:prstGeom prst="line">
            <a:avLst/>
          </a:prstGeom>
          <a:noFill/>
          <a:ln w="5715">
            <a:solidFill>
              <a:srgbClr val="1B2A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2975" y="577215"/>
            <a:ext cx="63367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E5FF">
                    <a:alpha val="8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v2021.01</a:t>
            </a:r>
            <a:endParaRPr lang="en-US" sz="495" dirty="0"/>
          </a:p>
        </p:txBody>
      </p:sp>
      <p:sp>
        <p:nvSpPr>
          <p:cNvPr id="17" name="Text 15"/>
          <p:cNvSpPr/>
          <p:nvPr/>
        </p:nvSpPr>
        <p:spPr>
          <a:xfrm>
            <a:off x="942975" y="708660"/>
            <a:ext cx="640080" cy="356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 · 阅读</a:t>
            </a:r>
            <a:pPr algn="l" indent="0" marL="0">
              <a:lnSpc>
                <a:spcPct val="160000"/>
              </a:lnSpc>
              <a:buNone/>
            </a:pPr>
            <a:endParaRPr lang="en-US" sz="585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 · 成长</a:t>
            </a:r>
            <a:pPr algn="l" indent="0" marL="0">
              <a:lnSpc>
                <a:spcPct val="160000"/>
              </a:lnSpc>
              <a:buNone/>
            </a:pPr>
            <a:endParaRPr lang="en-US" sz="585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持续演进</a:t>
            </a:r>
            <a:endParaRPr lang="en-US" sz="585" dirty="0"/>
          </a:p>
        </p:txBody>
      </p:sp>
      <p:sp>
        <p:nvSpPr>
          <p:cNvPr id="18" name="Text 16"/>
          <p:cNvSpPr/>
          <p:nvPr/>
        </p:nvSpPr>
        <p:spPr>
          <a:xfrm>
            <a:off x="377190" y="3251835"/>
            <a:ext cx="2905963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 新征程 · 开源布道与阅读分享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7190" y="3451860"/>
            <a:ext cx="2905963" cy="12626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ECEFF1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 echo "Welcome to a new chapter of open source"</a:t>
            </a:r>
            <a:endParaRPr lang="en-US" sz="585" dirty="0"/>
          </a:p>
        </p:txBody>
      </p:sp>
      <p:sp>
        <p:nvSpPr>
          <p:cNvPr id="20" name="Shape 18"/>
          <p:cNvSpPr/>
          <p:nvPr/>
        </p:nvSpPr>
        <p:spPr>
          <a:xfrm>
            <a:off x="342900" y="3738146"/>
            <a:ext cx="2628900" cy="340043"/>
          </a:xfrm>
          <a:prstGeom prst="rect">
            <a:avLst/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1" name="Shape 19"/>
          <p:cNvSpPr/>
          <p:nvPr/>
        </p:nvSpPr>
        <p:spPr>
          <a:xfrm>
            <a:off x="342900" y="3738146"/>
            <a:ext cx="0" cy="340043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" y="3795296"/>
            <a:ext cx="26289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630" dirty="0"/>
          </a:p>
        </p:txBody>
      </p:sp>
      <p:sp>
        <p:nvSpPr>
          <p:cNvPr id="23" name="Text 21"/>
          <p:cNvSpPr/>
          <p:nvPr/>
        </p:nvSpPr>
        <p:spPr>
          <a:xfrm>
            <a:off x="685800" y="3795296"/>
            <a:ext cx="2470709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年度回望</a:t>
            </a:r>
            <a:endParaRPr lang="en-US" sz="630" dirty="0"/>
          </a:p>
        </p:txBody>
      </p:sp>
      <p:sp>
        <p:nvSpPr>
          <p:cNvPr id="24" name="Text 22"/>
          <p:cNvSpPr/>
          <p:nvPr/>
        </p:nvSpPr>
        <p:spPr>
          <a:xfrm>
            <a:off x="685800" y="3926741"/>
            <a:ext cx="2470709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ECEFF1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回顾 2021 年开源之旅的每一段成长轨迹与思考沉淀</a:t>
            </a:r>
            <a:endParaRPr lang="en-US" sz="495" dirty="0"/>
          </a:p>
        </p:txBody>
      </p:sp>
      <p:sp>
        <p:nvSpPr>
          <p:cNvPr id="25" name="Shape 23"/>
          <p:cNvSpPr/>
          <p:nvPr/>
        </p:nvSpPr>
        <p:spPr>
          <a:xfrm>
            <a:off x="342900" y="4146768"/>
            <a:ext cx="2628900" cy="340043"/>
          </a:xfrm>
          <a:prstGeom prst="rect">
            <a:avLst/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6" name="Shape 24"/>
          <p:cNvSpPr/>
          <p:nvPr/>
        </p:nvSpPr>
        <p:spPr>
          <a:xfrm>
            <a:off x="342900" y="4146768"/>
            <a:ext cx="0" cy="340043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" y="4203918"/>
            <a:ext cx="26289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630" dirty="0"/>
          </a:p>
        </p:txBody>
      </p:sp>
      <p:sp>
        <p:nvSpPr>
          <p:cNvPr id="28" name="Text 26"/>
          <p:cNvSpPr/>
          <p:nvPr/>
        </p:nvSpPr>
        <p:spPr>
          <a:xfrm>
            <a:off x="685800" y="4203918"/>
            <a:ext cx="2470709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布道前行</a:t>
            </a:r>
            <a:endParaRPr lang="en-US" sz="630" dirty="0"/>
          </a:p>
        </p:txBody>
      </p:sp>
      <p:sp>
        <p:nvSpPr>
          <p:cNvPr id="29" name="Text 27"/>
          <p:cNvSpPr/>
          <p:nvPr/>
        </p:nvSpPr>
        <p:spPr>
          <a:xfrm>
            <a:off x="685800" y="4335363"/>
            <a:ext cx="2470709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ECEFF1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以分享为使命，用知识传递点亮更多开源参与者</a:t>
            </a:r>
            <a:endParaRPr lang="en-US" sz="495" dirty="0"/>
          </a:p>
        </p:txBody>
      </p:sp>
      <p:sp>
        <p:nvSpPr>
          <p:cNvPr id="30" name="Shape 28"/>
          <p:cNvSpPr/>
          <p:nvPr/>
        </p:nvSpPr>
        <p:spPr>
          <a:xfrm>
            <a:off x="342900" y="4555391"/>
            <a:ext cx="2628900" cy="340043"/>
          </a:xfrm>
          <a:prstGeom prst="rect">
            <a:avLst/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1" name="Shape 29"/>
          <p:cNvSpPr/>
          <p:nvPr/>
        </p:nvSpPr>
        <p:spPr>
          <a:xfrm>
            <a:off x="342900" y="4555391"/>
            <a:ext cx="0" cy="340043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" y="4612541"/>
            <a:ext cx="26289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630" dirty="0"/>
          </a:p>
        </p:txBody>
      </p:sp>
      <p:sp>
        <p:nvSpPr>
          <p:cNvPr id="33" name="Text 31"/>
          <p:cNvSpPr/>
          <p:nvPr/>
        </p:nvSpPr>
        <p:spPr>
          <a:xfrm>
            <a:off x="685800" y="4612541"/>
            <a:ext cx="2470709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开启新章</a:t>
            </a:r>
            <a:endParaRPr lang="en-US" sz="630" dirty="0"/>
          </a:p>
        </p:txBody>
      </p:sp>
      <p:sp>
        <p:nvSpPr>
          <p:cNvPr id="34" name="Text 32"/>
          <p:cNvSpPr/>
          <p:nvPr/>
        </p:nvSpPr>
        <p:spPr>
          <a:xfrm>
            <a:off x="685800" y="4743986"/>
            <a:ext cx="2470709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ECEFF1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在新年起点设定目标，让开源成为持续的生活方式</a:t>
            </a:r>
            <a:endParaRPr lang="en-US" sz="495" dirty="0"/>
          </a:p>
        </p:txBody>
      </p:sp>
      <p:sp>
        <p:nvSpPr>
          <p:cNvPr id="35" name="Shape 33"/>
          <p:cNvSpPr/>
          <p:nvPr/>
        </p:nvSpPr>
        <p:spPr>
          <a:xfrm>
            <a:off x="2971800" y="542925"/>
            <a:ext cx="5143500" cy="2874645"/>
          </a:xfrm>
          <a:prstGeom prst="roundRect">
            <a:avLst>
              <a:gd name="adj" fmla="val 1590"/>
            </a:avLst>
          </a:prstGeom>
          <a:noFill/>
          <a:ln w="5715">
            <a:solidFill>
              <a:srgbClr val="1B2A44"/>
            </a:solidFill>
            <a:prstDash val="solid"/>
          </a:ln>
        </p:spPr>
      </p:sp>
      <p:pic>
        <p:nvPicPr>
          <p:cNvPr id="36" name="Image 0" descr="/home/lee/developing/oscar-open-source-book/website/slides-src/2021-new-start/images/page_001_hero.png">    </p:cNvPr>
          <p:cNvPicPr>
            <a:picLocks noChangeAspect="1"/>
          </p:cNvPicPr>
          <p:nvPr/>
        </p:nvPicPr>
        <p:blipFill>
          <a:blip r:embed="rId1"/>
          <a:srcRect l="67" r="67" t="0" b="0"/>
          <a:stretch/>
        </p:blipFill>
        <p:spPr>
          <a:xfrm>
            <a:off x="2977515" y="548640"/>
            <a:ext cx="5143500" cy="2874645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2977515" y="548640"/>
            <a:ext cx="5132070" cy="2863215"/>
          </a:xfrm>
          <a:prstGeom prst="rect">
            <a:avLst/>
          </a:prstGeom>
          <a:gradFill rotWithShape="1">
            <a:gsLst>
              <a:gs pos="0">
                <a:srgbClr val="0A0E1A">
                  <a:alpha val="35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A0E1A">
                  <a:alpha val="40000"/>
                </a:srgbClr>
              </a:gs>
            </a:gsLst>
            <a:lin ang="2700000" scaled="0"/>
          </a:gradFill>
          <a:ln/>
        </p:spPr>
      </p:sp>
      <p:sp>
        <p:nvSpPr>
          <p:cNvPr id="38" name="Text 35"/>
          <p:cNvSpPr/>
          <p:nvPr/>
        </p:nvSpPr>
        <p:spPr>
          <a:xfrm>
            <a:off x="7298055" y="617220"/>
            <a:ext cx="819302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E5FF">
                    <a:alpha val="7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NODE_MAP.2021</a:t>
            </a:r>
            <a:endParaRPr lang="en-US" sz="450" dirty="0"/>
          </a:p>
        </p:txBody>
      </p:sp>
      <p:sp>
        <p:nvSpPr>
          <p:cNvPr id="39" name="Shape 36"/>
          <p:cNvSpPr/>
          <p:nvPr/>
        </p:nvSpPr>
        <p:spPr>
          <a:xfrm>
            <a:off x="3068955" y="3271838"/>
            <a:ext cx="34290" cy="34290"/>
          </a:xfrm>
          <a:prstGeom prst="ellipse">
            <a:avLst/>
          </a:prstGeom>
          <a:solidFill>
            <a:srgbClr val="00E5FF"/>
          </a:solidFill>
          <a:ln/>
          <a:effectLst>
            <a:outerShdw sx="100000" sy="100000" kx="0" ky="0" algn="bl" rotWithShape="0" blurRad="95250" dist="50800" dir="16200000">
              <a:srgbClr val="00E5FF">
                <a:alpha val="100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3160395" y="3246120"/>
            <a:ext cx="190103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OPEN-SOURCE · KNOWLEDGE · NETWORK</a:t>
            </a:r>
            <a:endParaRPr lang="en-US" sz="495" dirty="0"/>
          </a:p>
        </p:txBody>
      </p:sp>
      <p:sp>
        <p:nvSpPr>
          <p:cNvPr id="41" name="Shape 38"/>
          <p:cNvSpPr/>
          <p:nvPr/>
        </p:nvSpPr>
        <p:spPr>
          <a:xfrm>
            <a:off x="2971800" y="3531870"/>
            <a:ext cx="1843980" cy="663208"/>
          </a:xfrm>
          <a:prstGeom prst="roundRect">
            <a:avLst>
              <a:gd name="adj" fmla="val 5170"/>
            </a:avLst>
          </a:prstGeom>
          <a:solidFill>
            <a:srgbClr val="101726"/>
          </a:solidFill>
          <a:ln w="5715">
            <a:solidFill>
              <a:srgbClr val="1B2A4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971800" y="3531870"/>
            <a:ext cx="17145" cy="651779"/>
          </a:xfrm>
          <a:prstGeom prst="rect">
            <a:avLst/>
          </a:prstGeom>
          <a:gradFill rotWithShape="1">
            <a:gsLst>
              <a:gs pos="0">
                <a:srgbClr val="00E5FF"/>
              </a:gs>
              <a:gs pos="100000">
                <a:srgbClr val="2196F3"/>
              </a:gs>
            </a:gsLst>
            <a:lin ang="5400000" scaled="0"/>
          </a:gradFill>
          <a:ln/>
        </p:spPr>
      </p:sp>
      <p:sp>
        <p:nvSpPr>
          <p:cNvPr id="43" name="Text 40"/>
          <p:cNvSpPr/>
          <p:nvPr/>
        </p:nvSpPr>
        <p:spPr>
          <a:xfrm>
            <a:off x="3080385" y="3629025"/>
            <a:ext cx="1822028" cy="211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60" b="1" spc="23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24</a:t>
            </a:r>
            <a:pPr algn="l" indent="0" marL="0">
              <a:buNone/>
            </a:pPr>
            <a:r>
              <a:rPr lang="en-US" sz="630" b="1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+</a:t>
            </a:r>
            <a:endParaRPr lang="en-US" sz="1260" dirty="0"/>
          </a:p>
        </p:txBody>
      </p:sp>
      <p:sp>
        <p:nvSpPr>
          <p:cNvPr id="44" name="Text 41"/>
          <p:cNvSpPr/>
          <p:nvPr/>
        </p:nvSpPr>
        <p:spPr>
          <a:xfrm>
            <a:off x="3080385" y="3863340"/>
            <a:ext cx="182202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68" kern="0" dirty="0">
                <a:solidFill>
                  <a:srgbClr val="00E5FF">
                    <a:alpha val="9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SHARING SESSIONS</a:t>
            </a:r>
            <a:endParaRPr lang="en-US" sz="540" dirty="0"/>
          </a:p>
        </p:txBody>
      </p:sp>
      <p:sp>
        <p:nvSpPr>
          <p:cNvPr id="45" name="Text 42"/>
          <p:cNvSpPr/>
          <p:nvPr/>
        </p:nvSpPr>
        <p:spPr>
          <a:xfrm>
            <a:off x="3080385" y="4000500"/>
            <a:ext cx="1822028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dirty="0">
                <a:solidFill>
                  <a:srgbClr val="ECEFF1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全年公开演讲与线上分享</a:t>
            </a:r>
            <a:endParaRPr lang="en-US" sz="495" dirty="0"/>
          </a:p>
        </p:txBody>
      </p:sp>
      <p:sp>
        <p:nvSpPr>
          <p:cNvPr id="46" name="Shape 43"/>
          <p:cNvSpPr/>
          <p:nvPr/>
        </p:nvSpPr>
        <p:spPr>
          <a:xfrm>
            <a:off x="4907220" y="3531870"/>
            <a:ext cx="1844070" cy="663208"/>
          </a:xfrm>
          <a:prstGeom prst="roundRect">
            <a:avLst>
              <a:gd name="adj" fmla="val 5170"/>
            </a:avLst>
          </a:prstGeom>
          <a:solidFill>
            <a:srgbClr val="101726"/>
          </a:solidFill>
          <a:ln w="5715">
            <a:solidFill>
              <a:srgbClr val="1B2A4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907220" y="3531870"/>
            <a:ext cx="17145" cy="651779"/>
          </a:xfrm>
          <a:prstGeom prst="rect">
            <a:avLst/>
          </a:prstGeom>
          <a:gradFill rotWithShape="1">
            <a:gsLst>
              <a:gs pos="0">
                <a:srgbClr val="00E5FF"/>
              </a:gs>
              <a:gs pos="100000">
                <a:srgbClr val="2196F3"/>
              </a:gs>
            </a:gsLst>
            <a:lin ang="5400000" scaled="0"/>
          </a:gradFill>
          <a:ln/>
        </p:spPr>
      </p:sp>
      <p:sp>
        <p:nvSpPr>
          <p:cNvPr id="48" name="Text 45"/>
          <p:cNvSpPr/>
          <p:nvPr/>
        </p:nvSpPr>
        <p:spPr>
          <a:xfrm>
            <a:off x="5015805" y="3629025"/>
            <a:ext cx="1822128" cy="211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60" b="1" spc="23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18</a:t>
            </a:r>
            <a:pPr algn="l" indent="0" marL="0">
              <a:buNone/>
            </a:pPr>
            <a:r>
              <a:rPr lang="en-US" sz="630" b="1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本</a:t>
            </a:r>
            <a:endParaRPr lang="en-US" sz="1260" dirty="0"/>
          </a:p>
        </p:txBody>
      </p:sp>
      <p:sp>
        <p:nvSpPr>
          <p:cNvPr id="49" name="Text 46"/>
          <p:cNvSpPr/>
          <p:nvPr/>
        </p:nvSpPr>
        <p:spPr>
          <a:xfrm>
            <a:off x="5015805" y="3863340"/>
            <a:ext cx="182212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68" kern="0" dirty="0">
                <a:solidFill>
                  <a:srgbClr val="00E5FF">
                    <a:alpha val="9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BOOKS READ</a:t>
            </a:r>
            <a:endParaRPr lang="en-US" sz="540" dirty="0"/>
          </a:p>
        </p:txBody>
      </p:sp>
      <p:sp>
        <p:nvSpPr>
          <p:cNvPr id="50" name="Text 47"/>
          <p:cNvSpPr/>
          <p:nvPr/>
        </p:nvSpPr>
        <p:spPr>
          <a:xfrm>
            <a:off x="5015805" y="4000500"/>
            <a:ext cx="1822128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dirty="0">
                <a:solidFill>
                  <a:srgbClr val="ECEFF1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涵盖技术、文化与治理</a:t>
            </a:r>
            <a:endParaRPr lang="en-US" sz="495" dirty="0"/>
          </a:p>
        </p:txBody>
      </p:sp>
      <p:sp>
        <p:nvSpPr>
          <p:cNvPr id="51" name="Shape 48"/>
          <p:cNvSpPr/>
          <p:nvPr/>
        </p:nvSpPr>
        <p:spPr>
          <a:xfrm>
            <a:off x="6842730" y="3531870"/>
            <a:ext cx="1844070" cy="663208"/>
          </a:xfrm>
          <a:prstGeom prst="roundRect">
            <a:avLst>
              <a:gd name="adj" fmla="val 5170"/>
            </a:avLst>
          </a:prstGeom>
          <a:solidFill>
            <a:srgbClr val="101726"/>
          </a:solidFill>
          <a:ln w="5715">
            <a:solidFill>
              <a:srgbClr val="1B2A44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842730" y="3531870"/>
            <a:ext cx="17145" cy="651779"/>
          </a:xfrm>
          <a:prstGeom prst="rect">
            <a:avLst/>
          </a:prstGeom>
          <a:gradFill rotWithShape="1">
            <a:gsLst>
              <a:gs pos="0">
                <a:srgbClr val="00E5FF"/>
              </a:gs>
              <a:gs pos="100000">
                <a:srgbClr val="2196F3"/>
              </a:gs>
            </a:gsLst>
            <a:lin ang="5400000" scaled="0"/>
          </a:gradFill>
          <a:ln/>
        </p:spPr>
      </p:sp>
      <p:sp>
        <p:nvSpPr>
          <p:cNvPr id="53" name="Text 50"/>
          <p:cNvSpPr/>
          <p:nvPr/>
        </p:nvSpPr>
        <p:spPr>
          <a:xfrm>
            <a:off x="6951315" y="3629025"/>
            <a:ext cx="1822128" cy="2114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spc="23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∞</a:t>
            </a:r>
            <a:endParaRPr lang="en-US" sz="1260" dirty="0"/>
          </a:p>
        </p:txBody>
      </p:sp>
      <p:sp>
        <p:nvSpPr>
          <p:cNvPr id="54" name="Text 51"/>
          <p:cNvSpPr/>
          <p:nvPr/>
        </p:nvSpPr>
        <p:spPr>
          <a:xfrm>
            <a:off x="6951315" y="3863340"/>
            <a:ext cx="182212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68" kern="0" dirty="0">
                <a:solidFill>
                  <a:srgbClr val="00E5FF">
                    <a:alpha val="9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COMMUNITY</a:t>
            </a:r>
            <a:endParaRPr lang="en-US" sz="540" dirty="0"/>
          </a:p>
        </p:txBody>
      </p:sp>
      <p:sp>
        <p:nvSpPr>
          <p:cNvPr id="55" name="Text 52"/>
          <p:cNvSpPr/>
          <p:nvPr/>
        </p:nvSpPr>
        <p:spPr>
          <a:xfrm>
            <a:off x="6951315" y="4000500"/>
            <a:ext cx="1822128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dirty="0">
                <a:solidFill>
                  <a:srgbClr val="ECEFF1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社区贡献持续中 · PR / Issue / 文档</a:t>
            </a:r>
            <a:endParaRPr lang="en-US" sz="495" dirty="0"/>
          </a:p>
        </p:txBody>
      </p:sp>
      <p:sp>
        <p:nvSpPr>
          <p:cNvPr id="56" name="Shape 53"/>
          <p:cNvSpPr/>
          <p:nvPr/>
        </p:nvSpPr>
        <p:spPr>
          <a:xfrm>
            <a:off x="2326005" y="4946333"/>
            <a:ext cx="3429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5FF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7" name="Text 54"/>
          <p:cNvSpPr/>
          <p:nvPr/>
        </p:nvSpPr>
        <p:spPr>
          <a:xfrm>
            <a:off x="2760345" y="4892040"/>
            <a:ext cx="2611526" cy="114300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E5FF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36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LOOK BACK · LOOK FORWARD</a:t>
            </a:r>
            <a:endParaRPr lang="en-US" sz="675" dirty="0"/>
          </a:p>
        </p:txBody>
      </p:sp>
      <p:sp>
        <p:nvSpPr>
          <p:cNvPr id="58" name="Text 55"/>
          <p:cNvSpPr/>
          <p:nvPr/>
        </p:nvSpPr>
        <p:spPr>
          <a:xfrm>
            <a:off x="5297805" y="4892040"/>
            <a:ext cx="1216152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270" kern="0" dirty="0">
                <a:solidFill>
                  <a:srgbClr val="ECEFF1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回望过去 · 布道未来</a:t>
            </a:r>
            <a:endParaRPr lang="en-US" sz="630" dirty="0"/>
          </a:p>
        </p:txBody>
      </p:sp>
      <p:sp>
        <p:nvSpPr>
          <p:cNvPr id="59" name="Shape 56"/>
          <p:cNvSpPr/>
          <p:nvPr/>
        </p:nvSpPr>
        <p:spPr>
          <a:xfrm>
            <a:off x="6475095" y="4946333"/>
            <a:ext cx="3429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5FF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61024"/>
              </a:gs>
              <a:gs pos="45000">
                <a:srgbClr val="0A1628"/>
              </a:gs>
              <a:gs pos="100000">
                <a:srgbClr val="0D1F3C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3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3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342900" y="1006554"/>
            <a:ext cx="4057650" cy="814388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00E5FF">
                <a:alpha val="4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750" b="1" spc="-27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6750" dirty="0"/>
          </a:p>
        </p:txBody>
      </p:sp>
      <p:sp>
        <p:nvSpPr>
          <p:cNvPr id="5" name="Shape 3"/>
          <p:cNvSpPr/>
          <p:nvPr/>
        </p:nvSpPr>
        <p:spPr>
          <a:xfrm>
            <a:off x="342900" y="1912382"/>
            <a:ext cx="365760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00E5FF"/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342900" y="2020967"/>
            <a:ext cx="3584448" cy="2971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620" spc="90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第一章 · 年度回顾</a:t>
            </a:r>
            <a:endParaRPr lang="en-US" sz="1620" dirty="0"/>
          </a:p>
        </p:txBody>
      </p:sp>
      <p:sp>
        <p:nvSpPr>
          <p:cNvPr id="7" name="Text 5"/>
          <p:cNvSpPr/>
          <p:nvPr/>
        </p:nvSpPr>
        <p:spPr>
          <a:xfrm>
            <a:off x="342900" y="2409587"/>
            <a:ext cx="3200400" cy="1500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7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回望2021，用数据与故事定义我们的开源轨迹</a:t>
            </a:r>
            <a:endParaRPr lang="en-US" sz="675" dirty="0"/>
          </a:p>
        </p:txBody>
      </p:sp>
      <p:sp>
        <p:nvSpPr>
          <p:cNvPr id="8" name="Shape 6"/>
          <p:cNvSpPr/>
          <p:nvPr/>
        </p:nvSpPr>
        <p:spPr>
          <a:xfrm>
            <a:off x="3794760" y="308610"/>
            <a:ext cx="102870" cy="10287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3794760" y="308610"/>
            <a:ext cx="102870" cy="0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308610"/>
            <a:ext cx="0" cy="102870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58250" y="308610"/>
            <a:ext cx="102870" cy="10287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8858250" y="308610"/>
            <a:ext cx="102870" cy="0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308610"/>
            <a:ext cx="0" cy="102870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3154680"/>
            <a:ext cx="102870" cy="10287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3794760" y="3257550"/>
            <a:ext cx="102870" cy="0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94760" y="3154680"/>
            <a:ext cx="0" cy="102870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58250" y="3154680"/>
            <a:ext cx="102870" cy="10287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8961120" y="3154680"/>
            <a:ext cx="0" cy="102870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58250" y="3257550"/>
            <a:ext cx="102870" cy="0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</p:sp>
      <p:pic>
        <p:nvPicPr>
          <p:cNvPr id="20" name="Image 0" descr="/home/lee/developing/oscar-open-source-book/website/slides-src/2021-new-start/images/page_002_section_bg.png">    </p:cNvPr>
          <p:cNvPicPr>
            <a:picLocks noChangeAspect="1"/>
          </p:cNvPicPr>
          <p:nvPr/>
        </p:nvPicPr>
        <p:blipFill>
          <a:blip r:embed="rId1"/>
          <a:srcRect l="85" r="85" t="0" b="0"/>
          <a:stretch/>
        </p:blipFill>
        <p:spPr>
          <a:xfrm>
            <a:off x="3863340" y="377190"/>
            <a:ext cx="5029200" cy="281178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42900" y="2971800"/>
            <a:ext cx="2743200" cy="450324"/>
          </a:xfrm>
          <a:prstGeom prst="roundRect">
            <a:avLst>
              <a:gd name="adj" fmla="val 7615"/>
            </a:avLst>
          </a:prstGeom>
          <a:solidFill>
            <a:srgbClr val="2196F3">
              <a:alpha val="7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2900" y="2971800"/>
            <a:ext cx="17145" cy="438894"/>
          </a:xfrm>
          <a:prstGeom prst="rect">
            <a:avLst/>
          </a:prstGeom>
          <a:solidFill>
            <a:srgbClr val="00E5FF"/>
          </a:solidFill>
          <a:ln/>
          <a:effectLst>
            <a:outerShdw sx="100000" sy="100000" kx="0" ky="0" algn="bl" rotWithShape="0" blurRad="114300" dist="50800" dir="16200000">
              <a:srgbClr val="00E5FF">
                <a:alpha val="10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51485" y="3068955"/>
            <a:ext cx="40576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68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关键节点</a:t>
            </a:r>
            <a:endParaRPr lang="en-US" sz="585" dirty="0"/>
          </a:p>
        </p:txBody>
      </p:sp>
      <p:sp>
        <p:nvSpPr>
          <p:cNvPr id="24" name="Text 21"/>
          <p:cNvSpPr/>
          <p:nvPr/>
        </p:nvSpPr>
        <p:spPr>
          <a:xfrm>
            <a:off x="451485" y="3223260"/>
            <a:ext cx="156819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梳理年度里程碑，从首次 PR 到大型分享会</a:t>
            </a:r>
            <a:endParaRPr lang="en-US" sz="585" dirty="0"/>
          </a:p>
        </p:txBody>
      </p:sp>
      <p:sp>
        <p:nvSpPr>
          <p:cNvPr id="25" name="Shape 22"/>
          <p:cNvSpPr/>
          <p:nvPr/>
        </p:nvSpPr>
        <p:spPr>
          <a:xfrm>
            <a:off x="3200400" y="2971800"/>
            <a:ext cx="2743200" cy="450324"/>
          </a:xfrm>
          <a:prstGeom prst="roundRect">
            <a:avLst>
              <a:gd name="adj" fmla="val 7615"/>
            </a:avLst>
          </a:prstGeom>
          <a:solidFill>
            <a:srgbClr val="2196F3">
              <a:alpha val="7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00400" y="2971800"/>
            <a:ext cx="17145" cy="438894"/>
          </a:xfrm>
          <a:prstGeom prst="rect">
            <a:avLst/>
          </a:prstGeom>
          <a:solidFill>
            <a:srgbClr val="00E5FF"/>
          </a:solidFill>
          <a:ln/>
          <a:effectLst>
            <a:outerShdw sx="100000" sy="100000" kx="0" ky="0" algn="bl" rotWithShape="0" blurRad="114300" dist="50800" dir="16200000">
              <a:srgbClr val="00E5FF">
                <a:alpha val="10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308985" y="3068955"/>
            <a:ext cx="40576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68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阅读清单</a:t>
            </a:r>
            <a:endParaRPr lang="en-US" sz="585" dirty="0"/>
          </a:p>
        </p:txBody>
      </p:sp>
      <p:sp>
        <p:nvSpPr>
          <p:cNvPr id="28" name="Text 25"/>
          <p:cNvSpPr/>
          <p:nvPr/>
        </p:nvSpPr>
        <p:spPr>
          <a:xfrm>
            <a:off x="3308985" y="3223260"/>
            <a:ext cx="141457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汇总全年精读开源书籍与重要技术文献</a:t>
            </a:r>
            <a:endParaRPr lang="en-US" sz="585" dirty="0"/>
          </a:p>
        </p:txBody>
      </p:sp>
      <p:sp>
        <p:nvSpPr>
          <p:cNvPr id="29" name="Shape 26"/>
          <p:cNvSpPr/>
          <p:nvPr/>
        </p:nvSpPr>
        <p:spPr>
          <a:xfrm>
            <a:off x="6057900" y="2971800"/>
            <a:ext cx="2743200" cy="450324"/>
          </a:xfrm>
          <a:prstGeom prst="roundRect">
            <a:avLst>
              <a:gd name="adj" fmla="val 7615"/>
            </a:avLst>
          </a:prstGeom>
          <a:solidFill>
            <a:srgbClr val="2196F3">
              <a:alpha val="7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57900" y="2971800"/>
            <a:ext cx="17145" cy="438894"/>
          </a:xfrm>
          <a:prstGeom prst="rect">
            <a:avLst/>
          </a:prstGeom>
          <a:solidFill>
            <a:srgbClr val="00E5FF"/>
          </a:solidFill>
          <a:ln/>
          <a:effectLst>
            <a:outerShdw sx="100000" sy="100000" kx="0" ky="0" algn="bl" rotWithShape="0" blurRad="114300" dist="50800" dir="16200000">
              <a:srgbClr val="00E5FF">
                <a:alpha val="10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166485" y="3068955"/>
            <a:ext cx="40576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68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社区足迹</a:t>
            </a:r>
            <a:endParaRPr lang="en-US" sz="585" dirty="0"/>
          </a:p>
        </p:txBody>
      </p:sp>
      <p:sp>
        <p:nvSpPr>
          <p:cNvPr id="32" name="Text 29"/>
          <p:cNvSpPr/>
          <p:nvPr/>
        </p:nvSpPr>
        <p:spPr>
          <a:xfrm>
            <a:off x="6166485" y="3223260"/>
            <a:ext cx="141457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回顾参与的社区活动、会议与线上分享</a:t>
            </a:r>
            <a:endParaRPr lang="en-US" sz="585" dirty="0"/>
          </a:p>
        </p:txBody>
      </p:sp>
      <p:sp>
        <p:nvSpPr>
          <p:cNvPr id="33" name="Shape 30"/>
          <p:cNvSpPr/>
          <p:nvPr/>
        </p:nvSpPr>
        <p:spPr>
          <a:xfrm>
            <a:off x="342900" y="3524994"/>
            <a:ext cx="1485900" cy="366296"/>
          </a:xfrm>
          <a:prstGeom prst="roundRect">
            <a:avLst>
              <a:gd name="adj" fmla="val 9361"/>
            </a:avLst>
          </a:prstGeom>
          <a:solidFill>
            <a:srgbClr val="0D1F3C">
              <a:alpha val="65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1485" y="3593842"/>
            <a:ext cx="651510" cy="2228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320+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920115" y="3616434"/>
            <a:ext cx="36861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63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提交次数</a:t>
            </a:r>
            <a:endParaRPr lang="en-US" sz="563" dirty="0"/>
          </a:p>
        </p:txBody>
      </p:sp>
      <p:sp>
        <p:nvSpPr>
          <p:cNvPr id="36" name="Text 33"/>
          <p:cNvSpPr/>
          <p:nvPr/>
        </p:nvSpPr>
        <p:spPr>
          <a:xfrm>
            <a:off x="920115" y="3730734"/>
            <a:ext cx="63367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全年代码与文档贡献</a:t>
            </a:r>
            <a:endParaRPr lang="en-US" sz="518" dirty="0"/>
          </a:p>
        </p:txBody>
      </p:sp>
      <p:sp>
        <p:nvSpPr>
          <p:cNvPr id="37" name="Shape 34"/>
          <p:cNvSpPr/>
          <p:nvPr/>
        </p:nvSpPr>
        <p:spPr>
          <a:xfrm>
            <a:off x="1943100" y="3524994"/>
            <a:ext cx="1485900" cy="366296"/>
          </a:xfrm>
          <a:prstGeom prst="roundRect">
            <a:avLst>
              <a:gd name="adj" fmla="val 9361"/>
            </a:avLst>
          </a:prstGeom>
          <a:solidFill>
            <a:srgbClr val="0D1F3C">
              <a:alpha val="65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051685" y="3593842"/>
            <a:ext cx="531495" cy="2228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6 场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2491740" y="3616434"/>
            <a:ext cx="36861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63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参与会议</a:t>
            </a:r>
            <a:endParaRPr lang="en-US" sz="563" dirty="0"/>
          </a:p>
        </p:txBody>
      </p:sp>
      <p:sp>
        <p:nvSpPr>
          <p:cNvPr id="40" name="Text 37"/>
          <p:cNvSpPr/>
          <p:nvPr/>
        </p:nvSpPr>
        <p:spPr>
          <a:xfrm>
            <a:off x="2491740" y="3730734"/>
            <a:ext cx="56864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线上线下开源活动</a:t>
            </a:r>
            <a:endParaRPr lang="en-US" sz="518" dirty="0"/>
          </a:p>
        </p:txBody>
      </p:sp>
      <p:sp>
        <p:nvSpPr>
          <p:cNvPr id="41" name="Shape 38"/>
          <p:cNvSpPr/>
          <p:nvPr/>
        </p:nvSpPr>
        <p:spPr>
          <a:xfrm>
            <a:off x="3543300" y="3690997"/>
            <a:ext cx="34290" cy="34290"/>
          </a:xfrm>
          <a:prstGeom prst="ellipse">
            <a:avLst/>
          </a:prstGeom>
          <a:solidFill>
            <a:srgbClr val="00E5FF"/>
          </a:solidFill>
          <a:ln/>
          <a:effectLst>
            <a:outerShdw sx="100000" sy="100000" kx="0" ky="0" algn="bl" rotWithShape="0" blurRad="114300" dist="50800" dir="16200000">
              <a:srgbClr val="00E5FF">
                <a:alpha val="100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3646170" y="3647420"/>
            <a:ext cx="2979572" cy="1214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spc="14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从每一次代码提交，到每一场分享布道，每一页都是开源成长路上真实的足迹。</a:t>
            </a:r>
            <a:endParaRPr lang="en-US" sz="56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60F1E"/>
              </a:gs>
              <a:gs pos="50000">
                <a:srgbClr val="0A1628"/>
              </a:gs>
              <a:gs pos="100000">
                <a:srgbClr val="0B1E36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342900" y="297180"/>
            <a:ext cx="1337310" cy="160020"/>
          </a:xfrm>
          <a:prstGeom prst="roundRect">
            <a:avLst>
              <a:gd name="adj" fmla="val 71429"/>
            </a:avLst>
          </a:prstGeom>
          <a:solidFill>
            <a:srgbClr val="00E5FF">
              <a:alpha val="6000"/>
            </a:srgbClr>
          </a:solidFill>
          <a:ln w="5715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2900" y="297180"/>
            <a:ext cx="1497787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READING LIST · CH03</a:t>
            </a:r>
            <a:endParaRPr lang="en-US" sz="540" dirty="0"/>
          </a:p>
        </p:txBody>
      </p:sp>
      <p:sp>
        <p:nvSpPr>
          <p:cNvPr id="6" name="Shape 4"/>
          <p:cNvSpPr/>
          <p:nvPr/>
        </p:nvSpPr>
        <p:spPr>
          <a:xfrm>
            <a:off x="428625" y="360045"/>
            <a:ext cx="34290" cy="34290"/>
          </a:xfrm>
          <a:prstGeom prst="ellipse">
            <a:avLst/>
          </a:prstGeom>
          <a:solidFill>
            <a:srgbClr val="00E5FF"/>
          </a:solidFill>
          <a:ln/>
          <a:effectLst>
            <a:outerShdw sx="100000" sy="100000" kx="0" ky="0" algn="bl" rotWithShape="0" blurRad="76200" dist="50800" dir="16200000">
              <a:srgbClr val="00E5FF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" y="514350"/>
            <a:ext cx="9473184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10" b="1" spc="90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阅读书单 · 精读精选</a:t>
            </a:r>
            <a:endParaRPr lang="en-US" sz="1710" dirty="0"/>
          </a:p>
        </p:txBody>
      </p:sp>
      <p:sp>
        <p:nvSpPr>
          <p:cNvPr id="8" name="Shape 6"/>
          <p:cNvSpPr/>
          <p:nvPr/>
        </p:nvSpPr>
        <p:spPr>
          <a:xfrm>
            <a:off x="342900" y="594360"/>
            <a:ext cx="34290" cy="205740"/>
          </a:xfrm>
          <a:prstGeom prst="rect">
            <a:avLst/>
          </a:prstGeom>
          <a:solidFill>
            <a:srgbClr val="00E5FF"/>
          </a:solidFill>
          <a:ln/>
          <a:effectLst>
            <a:outerShdw sx="100000" sy="100000" kx="0" ky="0" algn="bl" rotWithShape="0" blurRad="114300" dist="50800" dir="16200000">
              <a:srgbClr val="00E5FF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" y="885825"/>
            <a:ext cx="7040880" cy="13599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阅读是开源布道者的必修课。本章汇总全年精读书单，覆盖文化、法律、治理与实践四个维度，帮助读者建立完整的开源知识坐标系。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342900" y="1158984"/>
            <a:ext cx="4000500" cy="2240280"/>
          </a:xfrm>
          <a:prstGeom prst="roundRect">
            <a:avLst>
              <a:gd name="adj" fmla="val 3571"/>
            </a:avLst>
          </a:prstGeom>
          <a:noFill/>
          <a:ln w="5715">
            <a:solidFill>
              <a:srgbClr val="1B3A5C"/>
            </a:solidFill>
            <a:prstDash val="solid"/>
          </a:ln>
          <a:effectLst>
            <a:outerShdw sx="100000" sy="100000" kx="0" ky="0" algn="bl" rotWithShape="0" blurRad="304800" dist="76200" dir="16200000">
              <a:srgbClr val="000000">
                <a:alpha val="40000"/>
              </a:srgbClr>
            </a:outerShdw>
          </a:effectLst>
        </p:spPr>
      </p:sp>
      <p:pic>
        <p:nvPicPr>
          <p:cNvPr id="11" name="Image 0" descr="/home/lee/developing/oscar-open-source-book/website/slides-src/2021-new-start/images/page_003_book_stack.png">    </p:cNvPr>
          <p:cNvPicPr>
            <a:picLocks noChangeAspect="1"/>
          </p:cNvPicPr>
          <p:nvPr/>
        </p:nvPicPr>
        <p:blipFill>
          <a:blip r:embed="rId1"/>
          <a:srcRect l="54" r="54" t="0" b="0"/>
          <a:stretch/>
        </p:blipFill>
        <p:spPr>
          <a:xfrm>
            <a:off x="348615" y="1164699"/>
            <a:ext cx="3989070" cy="222885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94335" y="1210419"/>
            <a:ext cx="125730" cy="125730"/>
          </a:xfrm>
          <a:prstGeom prst="rect">
            <a:avLst/>
          </a:prstGeom>
          <a:noFill/>
          <a:ln/>
        </p:spPr>
      </p:sp>
      <p:sp>
        <p:nvSpPr>
          <p:cNvPr id="13" name="Shape 10"/>
          <p:cNvSpPr/>
          <p:nvPr/>
        </p:nvSpPr>
        <p:spPr>
          <a:xfrm>
            <a:off x="394335" y="1210419"/>
            <a:ext cx="125730" cy="0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4335" y="1210419"/>
            <a:ext cx="0" cy="125730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6235" y="1210419"/>
            <a:ext cx="125730" cy="125730"/>
          </a:xfrm>
          <a:prstGeom prst="rect">
            <a:avLst/>
          </a:prstGeom>
          <a:noFill/>
          <a:ln/>
        </p:spPr>
      </p:sp>
      <p:sp>
        <p:nvSpPr>
          <p:cNvPr id="16" name="Shape 13"/>
          <p:cNvSpPr/>
          <p:nvPr/>
        </p:nvSpPr>
        <p:spPr>
          <a:xfrm>
            <a:off x="4166235" y="1210419"/>
            <a:ext cx="125730" cy="0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91965" y="1210419"/>
            <a:ext cx="0" cy="125730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4335" y="3222099"/>
            <a:ext cx="125730" cy="125730"/>
          </a:xfrm>
          <a:prstGeom prst="rect">
            <a:avLst/>
          </a:prstGeom>
          <a:noFill/>
          <a:ln/>
        </p:spPr>
      </p:sp>
      <p:sp>
        <p:nvSpPr>
          <p:cNvPr id="19" name="Shape 16"/>
          <p:cNvSpPr/>
          <p:nvPr/>
        </p:nvSpPr>
        <p:spPr>
          <a:xfrm>
            <a:off x="394335" y="3347829"/>
            <a:ext cx="125730" cy="0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94335" y="3222099"/>
            <a:ext cx="0" cy="125730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66235" y="3222099"/>
            <a:ext cx="125730" cy="125730"/>
          </a:xfrm>
          <a:prstGeom prst="rect">
            <a:avLst/>
          </a:prstGeom>
          <a:noFill/>
          <a:ln/>
        </p:spPr>
      </p:sp>
      <p:sp>
        <p:nvSpPr>
          <p:cNvPr id="22" name="Shape 19"/>
          <p:cNvSpPr/>
          <p:nvPr/>
        </p:nvSpPr>
        <p:spPr>
          <a:xfrm>
            <a:off x="4291965" y="3222099"/>
            <a:ext cx="0" cy="125730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66235" y="3347829"/>
            <a:ext cx="125730" cy="0"/>
          </a:xfrm>
          <a:prstGeom prst="line">
            <a:avLst/>
          </a:prstGeom>
          <a:noFill/>
          <a:ln w="11430">
            <a:solidFill>
              <a:srgbClr val="00E5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48615" y="1617881"/>
            <a:ext cx="398907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5FF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5" name="Shape 22"/>
          <p:cNvSpPr/>
          <p:nvPr/>
        </p:nvSpPr>
        <p:spPr>
          <a:xfrm>
            <a:off x="342900" y="3467844"/>
            <a:ext cx="4114800" cy="217170"/>
          </a:xfrm>
          <a:prstGeom prst="rect">
            <a:avLst/>
          </a:prstGeom>
          <a:solidFill>
            <a:srgbClr val="0F2138">
              <a:alpha val="7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342900" y="3467844"/>
            <a:ext cx="0" cy="217170"/>
          </a:xfrm>
          <a:prstGeom prst="line">
            <a:avLst/>
          </a:prstGeom>
          <a:noFill/>
          <a:ln w="17145">
            <a:solidFill>
              <a:srgbClr val="00E5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rot="2700000">
            <a:off x="451485" y="3553569"/>
            <a:ext cx="45720" cy="45720"/>
          </a:xfrm>
          <a:prstGeom prst="rect">
            <a:avLst/>
          </a:prstGeom>
          <a:solidFill>
            <a:srgbClr val="00E5FF"/>
          </a:solidFill>
          <a:ln/>
          <a:effectLst>
            <a:outerShdw sx="100000" sy="100000" kx="0" ky="0" algn="bl" rotWithShape="0" blurRad="57150" dist="50800" dir="16200000">
              <a:srgbClr val="00E5FF">
                <a:alpha val="10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54355" y="3524994"/>
            <a:ext cx="3049981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spc="68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KNOWLEDGE STAGING</a:t>
            </a:r>
            <a:pPr algn="l" indent="0" marL="0">
              <a:buNone/>
            </a:pPr>
            <a:r>
              <a:rPr lang="en-US" sz="540" spc="68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知识积累，层层沉淀 —— 立体书籍堆叠与全息光晕插画</a:t>
            </a:r>
            <a:endParaRPr lang="en-US" sz="585" dirty="0"/>
          </a:p>
        </p:txBody>
      </p:sp>
      <p:sp>
        <p:nvSpPr>
          <p:cNvPr id="29" name="Shape 26"/>
          <p:cNvSpPr/>
          <p:nvPr/>
        </p:nvSpPr>
        <p:spPr>
          <a:xfrm>
            <a:off x="4594860" y="1158984"/>
            <a:ext cx="2063115" cy="1540728"/>
          </a:xfrm>
          <a:prstGeom prst="roundRect">
            <a:avLst>
              <a:gd name="adj" fmla="val 4451"/>
            </a:avLst>
          </a:prstGeom>
          <a:gradFill rotWithShape="1">
            <a:gsLst>
              <a:gs pos="0">
                <a:srgbClr val="0F2138"/>
              </a:gs>
              <a:gs pos="100000">
                <a:srgbClr val="11294A"/>
              </a:gs>
            </a:gsLst>
            <a:lin ang="4200000" scaled="0"/>
          </a:gradFill>
          <a:ln w="5715">
            <a:solidFill>
              <a:srgbClr val="1B3A5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94860" y="1158984"/>
            <a:ext cx="205168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0" scaled="0"/>
          </a:gradFill>
          <a:ln/>
        </p:spPr>
      </p:sp>
      <p:sp>
        <p:nvSpPr>
          <p:cNvPr id="31" name="Shape 28"/>
          <p:cNvSpPr/>
          <p:nvPr/>
        </p:nvSpPr>
        <p:spPr>
          <a:xfrm>
            <a:off x="6189345" y="2231084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2" name="Text 29"/>
          <p:cNvSpPr/>
          <p:nvPr/>
        </p:nvSpPr>
        <p:spPr>
          <a:xfrm>
            <a:off x="4703445" y="1267569"/>
            <a:ext cx="206745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E5FF">
                    <a:alpha val="8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01 · CULTURE</a:t>
            </a:r>
            <a:endParaRPr lang="en-US" sz="495" dirty="0"/>
          </a:p>
        </p:txBody>
      </p:sp>
      <p:sp>
        <p:nvSpPr>
          <p:cNvPr id="33" name="Text 30"/>
          <p:cNvSpPr/>
          <p:nvPr/>
        </p:nvSpPr>
        <p:spPr>
          <a:xfrm>
            <a:off x="4703445" y="1399014"/>
            <a:ext cx="2067458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开源文化经典</a:t>
            </a:r>
            <a:endParaRPr lang="en-US" sz="810" dirty="0"/>
          </a:p>
        </p:txBody>
      </p:sp>
      <p:sp>
        <p:nvSpPr>
          <p:cNvPr id="34" name="Shape 31"/>
          <p:cNvSpPr/>
          <p:nvPr/>
        </p:nvSpPr>
        <p:spPr>
          <a:xfrm>
            <a:off x="4703445" y="1593324"/>
            <a:ext cx="582930" cy="142875"/>
          </a:xfrm>
          <a:prstGeom prst="roundRect">
            <a:avLst>
              <a:gd name="adj" fmla="val 16000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03445" y="1593324"/>
            <a:ext cx="652882" cy="14287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PHILOSOPHY</a:t>
            </a:r>
            <a:endParaRPr lang="en-US" sz="495" dirty="0"/>
          </a:p>
        </p:txBody>
      </p:sp>
      <p:sp>
        <p:nvSpPr>
          <p:cNvPr id="36" name="Text 33"/>
          <p:cNvSpPr/>
          <p:nvPr/>
        </p:nvSpPr>
        <p:spPr>
          <a:xfrm>
            <a:off x="4703445" y="1781919"/>
            <a:ext cx="2067458" cy="226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《大教堂与集市》等著作，帮助理解开源背后的协作哲学与治理智慧。</a:t>
            </a:r>
            <a:endParaRPr lang="en-US" sz="540" dirty="0"/>
          </a:p>
        </p:txBody>
      </p:sp>
      <p:sp>
        <p:nvSpPr>
          <p:cNvPr id="37" name="Shape 34"/>
          <p:cNvSpPr/>
          <p:nvPr/>
        </p:nvSpPr>
        <p:spPr>
          <a:xfrm>
            <a:off x="4703445" y="2471112"/>
            <a:ext cx="462915" cy="131445"/>
          </a:xfrm>
          <a:prstGeom prst="roundRect">
            <a:avLst>
              <a:gd name="adj" fmla="val 13043"/>
            </a:avLst>
          </a:prstGeom>
          <a:solidFill>
            <a:srgbClr val="00E5FF">
              <a:alpha val="8000"/>
            </a:srgbClr>
          </a:solidFill>
          <a:ln w="5715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03445" y="2471112"/>
            <a:ext cx="520065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大教堂与集市</a:t>
            </a:r>
            <a:endParaRPr lang="en-US" sz="450" dirty="0"/>
          </a:p>
        </p:txBody>
      </p:sp>
      <p:sp>
        <p:nvSpPr>
          <p:cNvPr id="39" name="Shape 36"/>
          <p:cNvSpPr/>
          <p:nvPr/>
        </p:nvSpPr>
        <p:spPr>
          <a:xfrm>
            <a:off x="5200650" y="2471112"/>
            <a:ext cx="342900" cy="131445"/>
          </a:xfrm>
          <a:prstGeom prst="roundRect">
            <a:avLst>
              <a:gd name="adj" fmla="val 13043"/>
            </a:avLst>
          </a:prstGeom>
          <a:solidFill>
            <a:srgbClr val="00E5FF">
              <a:alpha val="8000"/>
            </a:srgbClr>
          </a:solidFill>
          <a:ln w="5715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200650" y="2471112"/>
            <a:ext cx="400050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协作哲学</a:t>
            </a:r>
            <a:endParaRPr lang="en-US" sz="450" dirty="0"/>
          </a:p>
        </p:txBody>
      </p:sp>
      <p:sp>
        <p:nvSpPr>
          <p:cNvPr id="41" name="Shape 38"/>
          <p:cNvSpPr/>
          <p:nvPr/>
        </p:nvSpPr>
        <p:spPr>
          <a:xfrm>
            <a:off x="5577840" y="2471112"/>
            <a:ext cx="342900" cy="131445"/>
          </a:xfrm>
          <a:prstGeom prst="roundRect">
            <a:avLst>
              <a:gd name="adj" fmla="val 13043"/>
            </a:avLst>
          </a:prstGeom>
          <a:solidFill>
            <a:srgbClr val="00E5FF">
              <a:alpha val="8000"/>
            </a:srgbClr>
          </a:solidFill>
          <a:ln w="5715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77840" y="2471112"/>
            <a:ext cx="400050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治理智慧</a:t>
            </a:r>
            <a:endParaRPr lang="en-US" sz="450" dirty="0"/>
          </a:p>
        </p:txBody>
      </p:sp>
      <p:sp>
        <p:nvSpPr>
          <p:cNvPr id="43" name="Shape 40"/>
          <p:cNvSpPr/>
          <p:nvPr/>
        </p:nvSpPr>
        <p:spPr>
          <a:xfrm>
            <a:off x="6737985" y="1158984"/>
            <a:ext cx="2063115" cy="1540728"/>
          </a:xfrm>
          <a:prstGeom prst="roundRect">
            <a:avLst>
              <a:gd name="adj" fmla="val 4451"/>
            </a:avLst>
          </a:prstGeom>
          <a:gradFill rotWithShape="1">
            <a:gsLst>
              <a:gs pos="0">
                <a:srgbClr val="0F2138"/>
              </a:gs>
              <a:gs pos="100000">
                <a:srgbClr val="11294A"/>
              </a:gs>
            </a:gsLst>
            <a:lin ang="4200000" scaled="0"/>
          </a:gradFill>
          <a:ln w="5715">
            <a:solidFill>
              <a:srgbClr val="1B3A5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737985" y="1158984"/>
            <a:ext cx="205168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0" scaled="0"/>
          </a:gradFill>
          <a:ln/>
        </p:spPr>
      </p:sp>
      <p:sp>
        <p:nvSpPr>
          <p:cNvPr id="45" name="Shape 42"/>
          <p:cNvSpPr/>
          <p:nvPr/>
        </p:nvSpPr>
        <p:spPr>
          <a:xfrm>
            <a:off x="8332470" y="2231084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6" name="Text 43"/>
          <p:cNvSpPr/>
          <p:nvPr/>
        </p:nvSpPr>
        <p:spPr>
          <a:xfrm>
            <a:off x="6846570" y="1267569"/>
            <a:ext cx="206745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E5FF">
                    <a:alpha val="8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02 · LICENSE</a:t>
            </a:r>
            <a:endParaRPr lang="en-US" sz="495" dirty="0"/>
          </a:p>
        </p:txBody>
      </p:sp>
      <p:sp>
        <p:nvSpPr>
          <p:cNvPr id="47" name="Text 44"/>
          <p:cNvSpPr/>
          <p:nvPr/>
        </p:nvSpPr>
        <p:spPr>
          <a:xfrm>
            <a:off x="6846570" y="1399014"/>
            <a:ext cx="2067458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开源许可证指南</a:t>
            </a:r>
            <a:endParaRPr lang="en-US" sz="810" dirty="0"/>
          </a:p>
        </p:txBody>
      </p:sp>
      <p:sp>
        <p:nvSpPr>
          <p:cNvPr id="48" name="Shape 45"/>
          <p:cNvSpPr/>
          <p:nvPr/>
        </p:nvSpPr>
        <p:spPr>
          <a:xfrm>
            <a:off x="6846570" y="1593324"/>
            <a:ext cx="354330" cy="142875"/>
          </a:xfrm>
          <a:prstGeom prst="roundRect">
            <a:avLst>
              <a:gd name="adj" fmla="val 16000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846570" y="1593324"/>
            <a:ext cx="417195" cy="14287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LEGAL</a:t>
            </a:r>
            <a:endParaRPr lang="en-US" sz="495" dirty="0"/>
          </a:p>
        </p:txBody>
      </p:sp>
      <p:sp>
        <p:nvSpPr>
          <p:cNvPr id="50" name="Text 47"/>
          <p:cNvSpPr/>
          <p:nvPr/>
        </p:nvSpPr>
        <p:spPr>
          <a:xfrm>
            <a:off x="6846570" y="1781919"/>
            <a:ext cx="2067458" cy="226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涵盖 GPL、Apache、MIT 许可证的差异与选用场景，为项目合规奠基。</a:t>
            </a:r>
            <a:endParaRPr lang="en-US" sz="540" dirty="0"/>
          </a:p>
        </p:txBody>
      </p:sp>
      <p:sp>
        <p:nvSpPr>
          <p:cNvPr id="51" name="Shape 48"/>
          <p:cNvSpPr/>
          <p:nvPr/>
        </p:nvSpPr>
        <p:spPr>
          <a:xfrm>
            <a:off x="6846570" y="2471112"/>
            <a:ext cx="214313" cy="131445"/>
          </a:xfrm>
          <a:prstGeom prst="roundRect">
            <a:avLst>
              <a:gd name="adj" fmla="val 13043"/>
            </a:avLst>
          </a:prstGeom>
          <a:solidFill>
            <a:srgbClr val="00E5FF">
              <a:alpha val="8000"/>
            </a:srgbClr>
          </a:solidFill>
          <a:ln w="5715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846570" y="2471112"/>
            <a:ext cx="271463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GPL</a:t>
            </a:r>
            <a:endParaRPr lang="en-US" sz="450" dirty="0"/>
          </a:p>
        </p:txBody>
      </p:sp>
      <p:sp>
        <p:nvSpPr>
          <p:cNvPr id="53" name="Shape 50"/>
          <p:cNvSpPr/>
          <p:nvPr/>
        </p:nvSpPr>
        <p:spPr>
          <a:xfrm>
            <a:off x="7095173" y="2471112"/>
            <a:ext cx="325755" cy="131445"/>
          </a:xfrm>
          <a:prstGeom prst="roundRect">
            <a:avLst>
              <a:gd name="adj" fmla="val 13043"/>
            </a:avLst>
          </a:prstGeom>
          <a:solidFill>
            <a:srgbClr val="00E5FF">
              <a:alpha val="8000"/>
            </a:srgbClr>
          </a:solidFill>
          <a:ln w="5715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095173" y="2471112"/>
            <a:ext cx="382905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Apache</a:t>
            </a:r>
            <a:endParaRPr lang="en-US" sz="450" dirty="0"/>
          </a:p>
        </p:txBody>
      </p:sp>
      <p:sp>
        <p:nvSpPr>
          <p:cNvPr id="55" name="Shape 52"/>
          <p:cNvSpPr/>
          <p:nvPr/>
        </p:nvSpPr>
        <p:spPr>
          <a:xfrm>
            <a:off x="7455218" y="2471112"/>
            <a:ext cx="214313" cy="131445"/>
          </a:xfrm>
          <a:prstGeom prst="roundRect">
            <a:avLst>
              <a:gd name="adj" fmla="val 13043"/>
            </a:avLst>
          </a:prstGeom>
          <a:solidFill>
            <a:srgbClr val="00E5FF">
              <a:alpha val="8000"/>
            </a:srgbClr>
          </a:solidFill>
          <a:ln w="5715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455218" y="2471112"/>
            <a:ext cx="271463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MIT</a:t>
            </a:r>
            <a:endParaRPr lang="en-US" sz="450" dirty="0"/>
          </a:p>
        </p:txBody>
      </p:sp>
      <p:sp>
        <p:nvSpPr>
          <p:cNvPr id="57" name="Shape 54"/>
          <p:cNvSpPr/>
          <p:nvPr/>
        </p:nvSpPr>
        <p:spPr>
          <a:xfrm>
            <a:off x="7703820" y="2471112"/>
            <a:ext cx="222885" cy="131445"/>
          </a:xfrm>
          <a:prstGeom prst="roundRect">
            <a:avLst>
              <a:gd name="adj" fmla="val 13043"/>
            </a:avLst>
          </a:prstGeom>
          <a:solidFill>
            <a:srgbClr val="00E5FF">
              <a:alpha val="8000"/>
            </a:srgbClr>
          </a:solidFill>
          <a:ln w="5715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703820" y="2471112"/>
            <a:ext cx="280035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合规</a:t>
            </a:r>
            <a:endParaRPr lang="en-US" sz="450" dirty="0"/>
          </a:p>
        </p:txBody>
      </p:sp>
      <p:sp>
        <p:nvSpPr>
          <p:cNvPr id="59" name="Shape 56"/>
          <p:cNvSpPr/>
          <p:nvPr/>
        </p:nvSpPr>
        <p:spPr>
          <a:xfrm>
            <a:off x="4594860" y="2779722"/>
            <a:ext cx="2063115" cy="1540818"/>
          </a:xfrm>
          <a:prstGeom prst="roundRect">
            <a:avLst>
              <a:gd name="adj" fmla="val 4451"/>
            </a:avLst>
          </a:prstGeom>
          <a:gradFill rotWithShape="1">
            <a:gsLst>
              <a:gs pos="0">
                <a:srgbClr val="0F2138"/>
              </a:gs>
              <a:gs pos="100000">
                <a:srgbClr val="11294A"/>
              </a:gs>
            </a:gsLst>
            <a:lin ang="4200000" scaled="0"/>
          </a:gradFill>
          <a:ln w="5715">
            <a:solidFill>
              <a:srgbClr val="1B3A5C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594860" y="2779722"/>
            <a:ext cx="205168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0" scaled="0"/>
          </a:gradFill>
          <a:ln/>
        </p:spPr>
      </p:sp>
      <p:sp>
        <p:nvSpPr>
          <p:cNvPr id="61" name="Shape 58"/>
          <p:cNvSpPr/>
          <p:nvPr/>
        </p:nvSpPr>
        <p:spPr>
          <a:xfrm>
            <a:off x="6189345" y="3851908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2" name="Text 59"/>
          <p:cNvSpPr/>
          <p:nvPr/>
        </p:nvSpPr>
        <p:spPr>
          <a:xfrm>
            <a:off x="4703445" y="2888307"/>
            <a:ext cx="206745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E5FF">
                    <a:alpha val="8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03 · GOVERNANCE</a:t>
            </a:r>
            <a:endParaRPr lang="en-US" sz="495" dirty="0"/>
          </a:p>
        </p:txBody>
      </p:sp>
      <p:sp>
        <p:nvSpPr>
          <p:cNvPr id="63" name="Text 60"/>
          <p:cNvSpPr/>
          <p:nvPr/>
        </p:nvSpPr>
        <p:spPr>
          <a:xfrm>
            <a:off x="4703445" y="3019752"/>
            <a:ext cx="2067458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开源治理实践</a:t>
            </a:r>
            <a:endParaRPr lang="en-US" sz="810" dirty="0"/>
          </a:p>
        </p:txBody>
      </p:sp>
      <p:sp>
        <p:nvSpPr>
          <p:cNvPr id="64" name="Shape 61"/>
          <p:cNvSpPr/>
          <p:nvPr/>
        </p:nvSpPr>
        <p:spPr>
          <a:xfrm>
            <a:off x="4703445" y="3214062"/>
            <a:ext cx="582930" cy="142875"/>
          </a:xfrm>
          <a:prstGeom prst="roundRect">
            <a:avLst>
              <a:gd name="adj" fmla="val 16000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703445" y="3214062"/>
            <a:ext cx="652882" cy="14287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FOUNDATION</a:t>
            </a:r>
            <a:endParaRPr lang="en-US" sz="495" dirty="0"/>
          </a:p>
        </p:txBody>
      </p:sp>
      <p:sp>
        <p:nvSpPr>
          <p:cNvPr id="66" name="Text 63"/>
          <p:cNvSpPr/>
          <p:nvPr/>
        </p:nvSpPr>
        <p:spPr>
          <a:xfrm>
            <a:off x="4703445" y="3402657"/>
            <a:ext cx="2067458" cy="226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包含 CNCF 与 Linux 基金会案例研究，学习基金会运作与社区建设。</a:t>
            </a:r>
            <a:endParaRPr lang="en-US" sz="540" dirty="0"/>
          </a:p>
        </p:txBody>
      </p:sp>
      <p:sp>
        <p:nvSpPr>
          <p:cNvPr id="67" name="Shape 64"/>
          <p:cNvSpPr/>
          <p:nvPr/>
        </p:nvSpPr>
        <p:spPr>
          <a:xfrm>
            <a:off x="4703445" y="4091940"/>
            <a:ext cx="251460" cy="131445"/>
          </a:xfrm>
          <a:prstGeom prst="roundRect">
            <a:avLst>
              <a:gd name="adj" fmla="val 13043"/>
            </a:avLst>
          </a:prstGeom>
          <a:solidFill>
            <a:srgbClr val="00E5FF">
              <a:alpha val="8000"/>
            </a:srgbClr>
          </a:solidFill>
          <a:ln w="5715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703445" y="4091940"/>
            <a:ext cx="308610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CNCF</a:t>
            </a:r>
            <a:endParaRPr lang="en-US" sz="450" dirty="0"/>
          </a:p>
        </p:txBody>
      </p:sp>
      <p:sp>
        <p:nvSpPr>
          <p:cNvPr id="69" name="Shape 66"/>
          <p:cNvSpPr/>
          <p:nvPr/>
        </p:nvSpPr>
        <p:spPr>
          <a:xfrm>
            <a:off x="4989195" y="4091940"/>
            <a:ext cx="505778" cy="131445"/>
          </a:xfrm>
          <a:prstGeom prst="roundRect">
            <a:avLst>
              <a:gd name="adj" fmla="val 13043"/>
            </a:avLst>
          </a:prstGeom>
          <a:solidFill>
            <a:srgbClr val="00E5FF">
              <a:alpha val="8000"/>
            </a:srgbClr>
          </a:solidFill>
          <a:ln w="5715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989195" y="4091940"/>
            <a:ext cx="566471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Linux 基金会</a:t>
            </a:r>
            <a:endParaRPr lang="en-US" sz="450" dirty="0"/>
          </a:p>
        </p:txBody>
      </p:sp>
      <p:sp>
        <p:nvSpPr>
          <p:cNvPr id="71" name="Shape 68"/>
          <p:cNvSpPr/>
          <p:nvPr/>
        </p:nvSpPr>
        <p:spPr>
          <a:xfrm>
            <a:off x="5529263" y="4091940"/>
            <a:ext cx="342900" cy="131445"/>
          </a:xfrm>
          <a:prstGeom prst="roundRect">
            <a:avLst>
              <a:gd name="adj" fmla="val 13043"/>
            </a:avLst>
          </a:prstGeom>
          <a:solidFill>
            <a:srgbClr val="00E5FF">
              <a:alpha val="8000"/>
            </a:srgbClr>
          </a:solidFill>
          <a:ln w="5715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529263" y="4091940"/>
            <a:ext cx="400050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社区建设</a:t>
            </a:r>
            <a:endParaRPr lang="en-US" sz="450" dirty="0"/>
          </a:p>
        </p:txBody>
      </p:sp>
      <p:sp>
        <p:nvSpPr>
          <p:cNvPr id="73" name="Shape 70"/>
          <p:cNvSpPr/>
          <p:nvPr/>
        </p:nvSpPr>
        <p:spPr>
          <a:xfrm>
            <a:off x="6737985" y="2779722"/>
            <a:ext cx="2063115" cy="1540818"/>
          </a:xfrm>
          <a:prstGeom prst="roundRect">
            <a:avLst>
              <a:gd name="adj" fmla="val 4451"/>
            </a:avLst>
          </a:prstGeom>
          <a:gradFill rotWithShape="1">
            <a:gsLst>
              <a:gs pos="0">
                <a:srgbClr val="0F2138"/>
              </a:gs>
              <a:gs pos="100000">
                <a:srgbClr val="11294A"/>
              </a:gs>
            </a:gsLst>
            <a:lin ang="4200000" scaled="0"/>
          </a:gradFill>
          <a:ln w="5715">
            <a:solidFill>
              <a:srgbClr val="1B3A5C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6737985" y="2779722"/>
            <a:ext cx="205168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0" scaled="0"/>
          </a:gradFill>
          <a:ln/>
        </p:spPr>
      </p:sp>
      <p:sp>
        <p:nvSpPr>
          <p:cNvPr id="75" name="Shape 72"/>
          <p:cNvSpPr/>
          <p:nvPr/>
        </p:nvSpPr>
        <p:spPr>
          <a:xfrm>
            <a:off x="8332470" y="3851908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76" name="Text 73"/>
          <p:cNvSpPr/>
          <p:nvPr/>
        </p:nvSpPr>
        <p:spPr>
          <a:xfrm>
            <a:off x="6846570" y="2888307"/>
            <a:ext cx="206745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E5FF">
                    <a:alpha val="8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04 · PRACTICE</a:t>
            </a:r>
            <a:endParaRPr lang="en-US" sz="495" dirty="0"/>
          </a:p>
        </p:txBody>
      </p:sp>
      <p:sp>
        <p:nvSpPr>
          <p:cNvPr id="77" name="Text 74"/>
          <p:cNvSpPr/>
          <p:nvPr/>
        </p:nvSpPr>
        <p:spPr>
          <a:xfrm>
            <a:off x="6846570" y="3019752"/>
            <a:ext cx="2067458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代码阅读技巧</a:t>
            </a:r>
            <a:endParaRPr lang="en-US" sz="810" dirty="0"/>
          </a:p>
        </p:txBody>
      </p:sp>
      <p:sp>
        <p:nvSpPr>
          <p:cNvPr id="78" name="Shape 75"/>
          <p:cNvSpPr/>
          <p:nvPr/>
        </p:nvSpPr>
        <p:spPr>
          <a:xfrm>
            <a:off x="6846570" y="3214062"/>
            <a:ext cx="400050" cy="142875"/>
          </a:xfrm>
          <a:prstGeom prst="roundRect">
            <a:avLst>
              <a:gd name="adj" fmla="val 16000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846570" y="3214062"/>
            <a:ext cx="462915" cy="14287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SOURCE</a:t>
            </a:r>
            <a:endParaRPr lang="en-US" sz="495" dirty="0"/>
          </a:p>
        </p:txBody>
      </p:sp>
      <p:sp>
        <p:nvSpPr>
          <p:cNvPr id="80" name="Text 77"/>
          <p:cNvSpPr/>
          <p:nvPr/>
        </p:nvSpPr>
        <p:spPr>
          <a:xfrm>
            <a:off x="6846570" y="3402657"/>
            <a:ext cx="2067458" cy="226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讲解大项目源码阅读方法论，从 Makefile 到核心架构的层层拆解。</a:t>
            </a:r>
            <a:endParaRPr lang="en-US" sz="540" dirty="0"/>
          </a:p>
        </p:txBody>
      </p:sp>
      <p:sp>
        <p:nvSpPr>
          <p:cNvPr id="81" name="Shape 78"/>
          <p:cNvSpPr/>
          <p:nvPr/>
        </p:nvSpPr>
        <p:spPr>
          <a:xfrm>
            <a:off x="6846570" y="4091940"/>
            <a:ext cx="400050" cy="131445"/>
          </a:xfrm>
          <a:prstGeom prst="roundRect">
            <a:avLst>
              <a:gd name="adj" fmla="val 13043"/>
            </a:avLst>
          </a:prstGeom>
          <a:solidFill>
            <a:srgbClr val="00E5FF">
              <a:alpha val="8000"/>
            </a:srgbClr>
          </a:solidFill>
          <a:ln w="5715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6846570" y="4091940"/>
            <a:ext cx="457200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Makefile</a:t>
            </a:r>
            <a:endParaRPr lang="en-US" sz="450" dirty="0"/>
          </a:p>
        </p:txBody>
      </p:sp>
      <p:sp>
        <p:nvSpPr>
          <p:cNvPr id="83" name="Shape 80"/>
          <p:cNvSpPr/>
          <p:nvPr/>
        </p:nvSpPr>
        <p:spPr>
          <a:xfrm>
            <a:off x="7280910" y="4091940"/>
            <a:ext cx="342900" cy="131445"/>
          </a:xfrm>
          <a:prstGeom prst="roundRect">
            <a:avLst>
              <a:gd name="adj" fmla="val 13043"/>
            </a:avLst>
          </a:prstGeom>
          <a:solidFill>
            <a:srgbClr val="00E5FF">
              <a:alpha val="8000"/>
            </a:srgbClr>
          </a:solidFill>
          <a:ln w="5715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7280910" y="4091940"/>
            <a:ext cx="400050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核心架构</a:t>
            </a:r>
            <a:endParaRPr lang="en-US" sz="450" dirty="0"/>
          </a:p>
        </p:txBody>
      </p:sp>
      <p:sp>
        <p:nvSpPr>
          <p:cNvPr id="85" name="Shape 82"/>
          <p:cNvSpPr/>
          <p:nvPr/>
        </p:nvSpPr>
        <p:spPr>
          <a:xfrm>
            <a:off x="7658100" y="4091940"/>
            <a:ext cx="342900" cy="131445"/>
          </a:xfrm>
          <a:prstGeom prst="roundRect">
            <a:avLst>
              <a:gd name="adj" fmla="val 13043"/>
            </a:avLst>
          </a:prstGeom>
          <a:solidFill>
            <a:srgbClr val="00E5FF">
              <a:alpha val="8000"/>
            </a:srgbClr>
          </a:solidFill>
          <a:ln w="5715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7658100" y="4091940"/>
            <a:ext cx="400050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源码阅读</a:t>
            </a:r>
            <a:endParaRPr lang="en-US" sz="450" dirty="0"/>
          </a:p>
        </p:txBody>
      </p:sp>
      <p:sp>
        <p:nvSpPr>
          <p:cNvPr id="87" name="Shape 84"/>
          <p:cNvSpPr/>
          <p:nvPr/>
        </p:nvSpPr>
        <p:spPr>
          <a:xfrm>
            <a:off x="342900" y="4423410"/>
            <a:ext cx="4183380" cy="468630"/>
          </a:xfrm>
          <a:prstGeom prst="roundRect">
            <a:avLst>
              <a:gd name="adj" fmla="val 12195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E5FF">
                  <a:alpha val="4000"/>
                </a:srgbClr>
              </a:gs>
            </a:gsLst>
            <a:lin ang="0" scaled="0"/>
          </a:gradFill>
          <a:ln w="5715">
            <a:solidFill>
              <a:srgbClr val="1B3A5C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42900" y="4423410"/>
            <a:ext cx="22860" cy="457200"/>
          </a:xfrm>
          <a:prstGeom prst="rect">
            <a:avLst/>
          </a:prstGeom>
          <a:solidFill>
            <a:srgbClr val="00E5FF"/>
          </a:solidFill>
          <a:ln/>
          <a:effectLst>
            <a:outerShdw sx="100000" sy="100000" kx="0" ky="0" algn="bl" rotWithShape="0" blurRad="114300" dist="50800" dir="16200000">
              <a:srgbClr val="00E5FF">
                <a:alpha val="35000"/>
              </a:srgbClr>
            </a:outerShdw>
          </a:effectLst>
        </p:spPr>
      </p:sp>
      <p:sp>
        <p:nvSpPr>
          <p:cNvPr id="89" name="Shape 86"/>
          <p:cNvSpPr/>
          <p:nvPr/>
        </p:nvSpPr>
        <p:spPr>
          <a:xfrm>
            <a:off x="474345" y="4509135"/>
            <a:ext cx="297180" cy="297180"/>
          </a:xfrm>
          <a:prstGeom prst="roundRect">
            <a:avLst>
              <a:gd name="adj" fmla="val 19231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474345" y="4509135"/>
            <a:ext cx="411480" cy="2971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📚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874395" y="4511993"/>
            <a:ext cx="319399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READING COUNT</a:t>
            </a:r>
            <a:endParaRPr lang="en-US" sz="495" dirty="0"/>
          </a:p>
        </p:txBody>
      </p:sp>
      <p:sp>
        <p:nvSpPr>
          <p:cNvPr id="92" name="Text 89"/>
          <p:cNvSpPr/>
          <p:nvPr/>
        </p:nvSpPr>
        <p:spPr>
          <a:xfrm>
            <a:off x="874395" y="4609148"/>
            <a:ext cx="3193999" cy="194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18</a:t>
            </a:r>
            <a:pPr algn="l" indent="0" marL="0">
              <a:buNone/>
            </a:pPr>
            <a:r>
              <a:rPr lang="en-US" sz="63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本</a:t>
            </a:r>
            <a:endParaRPr lang="en-US" sz="1170" dirty="0"/>
          </a:p>
        </p:txBody>
      </p:sp>
      <p:sp>
        <p:nvSpPr>
          <p:cNvPr id="93" name="Text 90"/>
          <p:cNvSpPr/>
          <p:nvPr/>
        </p:nvSpPr>
        <p:spPr>
          <a:xfrm>
            <a:off x="3829050" y="4566285"/>
            <a:ext cx="63367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9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精读书籍</a:t>
            </a:r>
            <a:pPr algn="r" indent="0" marL="0">
              <a:buNone/>
            </a:pPr>
            <a:endParaRPr lang="en-US" sz="495" dirty="0"/>
          </a:p>
          <a:p>
            <a:pPr algn="r" indent="0" marL="0">
              <a:buNone/>
            </a:pPr>
            <a:r>
              <a:rPr lang="en-US" sz="49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含中译本与英文原版</a:t>
            </a:r>
            <a:endParaRPr lang="en-US" sz="495" dirty="0"/>
          </a:p>
        </p:txBody>
      </p:sp>
      <p:sp>
        <p:nvSpPr>
          <p:cNvPr id="94" name="Shape 91"/>
          <p:cNvSpPr/>
          <p:nvPr/>
        </p:nvSpPr>
        <p:spPr>
          <a:xfrm>
            <a:off x="4617720" y="4423410"/>
            <a:ext cx="4183380" cy="468630"/>
          </a:xfrm>
          <a:prstGeom prst="roundRect">
            <a:avLst>
              <a:gd name="adj" fmla="val 12195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E5FF">
                  <a:alpha val="4000"/>
                </a:srgbClr>
              </a:gs>
            </a:gsLst>
            <a:lin ang="0" scaled="0"/>
          </a:gradFill>
          <a:ln w="5715">
            <a:solidFill>
              <a:srgbClr val="1B3A5C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617720" y="4423410"/>
            <a:ext cx="22860" cy="457200"/>
          </a:xfrm>
          <a:prstGeom prst="rect">
            <a:avLst/>
          </a:prstGeom>
          <a:solidFill>
            <a:srgbClr val="00E5FF"/>
          </a:solidFill>
          <a:ln/>
          <a:effectLst>
            <a:outerShdw sx="100000" sy="100000" kx="0" ky="0" algn="bl" rotWithShape="0" blurRad="114300" dist="50800" dir="16200000">
              <a:srgbClr val="00E5FF">
                <a:alpha val="35000"/>
              </a:srgbClr>
            </a:outerShdw>
          </a:effectLst>
        </p:spPr>
      </p:sp>
      <p:sp>
        <p:nvSpPr>
          <p:cNvPr id="96" name="Shape 93"/>
          <p:cNvSpPr/>
          <p:nvPr/>
        </p:nvSpPr>
        <p:spPr>
          <a:xfrm>
            <a:off x="4749165" y="4509135"/>
            <a:ext cx="297180" cy="297180"/>
          </a:xfrm>
          <a:prstGeom prst="roundRect">
            <a:avLst>
              <a:gd name="adj" fmla="val 19231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4749165" y="4509135"/>
            <a:ext cx="411480" cy="2971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📝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5149215" y="4511993"/>
            <a:ext cx="307878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NOTES PAGES</a:t>
            </a:r>
            <a:endParaRPr lang="en-US" sz="495" dirty="0"/>
          </a:p>
        </p:txBody>
      </p:sp>
      <p:sp>
        <p:nvSpPr>
          <p:cNvPr id="99" name="Text 96"/>
          <p:cNvSpPr/>
          <p:nvPr/>
        </p:nvSpPr>
        <p:spPr>
          <a:xfrm>
            <a:off x="5149215" y="4609148"/>
            <a:ext cx="3078785" cy="194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260</a:t>
            </a:r>
            <a:pPr algn="l" indent="0" marL="0">
              <a:buNone/>
            </a:pPr>
            <a:r>
              <a:rPr lang="en-US" sz="63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+ 页</a:t>
            </a:r>
            <a:endParaRPr lang="en-US" sz="1170" dirty="0"/>
          </a:p>
        </p:txBody>
      </p:sp>
      <p:sp>
        <p:nvSpPr>
          <p:cNvPr id="100" name="Text 97"/>
          <p:cNvSpPr/>
          <p:nvPr/>
        </p:nvSpPr>
        <p:spPr>
          <a:xfrm>
            <a:off x="8001000" y="4566285"/>
            <a:ext cx="74889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9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读书笔记</a:t>
            </a:r>
            <a:pPr algn="r" indent="0" marL="0">
              <a:buNone/>
            </a:pPr>
            <a:endParaRPr lang="en-US" sz="495" dirty="0"/>
          </a:p>
          <a:p>
            <a:pPr algn="r" indent="0" marL="0">
              <a:buNone/>
            </a:pPr>
            <a:r>
              <a:rPr lang="en-US" sz="49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整理为 Markdown 归档</a:t>
            </a:r>
            <a:endParaRPr lang="en-US" sz="49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5717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64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2286000" y="15430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00E5FF">
                  <a:alpha val="4800"/>
                </a:srgbClr>
              </a:gs>
              <a:gs pos="10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8401050" y="457200"/>
            <a:ext cx="57150" cy="57150"/>
          </a:xfrm>
          <a:prstGeom prst="ellipse">
            <a:avLst/>
          </a:prstGeom>
          <a:solidFill>
            <a:srgbClr val="00E5FF"/>
          </a:solidFill>
          <a:ln/>
          <a:effectLst>
            <a:outerShdw sx="100000" sy="100000" kx="0" ky="0" algn="bl" rotWithShape="0" blurRad="114300" dist="50800" dir="16200000">
              <a:srgbClr val="00E5FF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2743200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95250" dist="50800" dir="16200000">
              <a:srgbClr val="2196F3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41080" y="4754880"/>
            <a:ext cx="45720" cy="45720"/>
          </a:xfrm>
          <a:prstGeom prst="ellipse">
            <a:avLst/>
          </a:prstGeom>
          <a:solidFill>
            <a:srgbClr val="00E5FF"/>
          </a:solidFill>
          <a:ln/>
          <a:effectLst>
            <a:outerShdw sx="100000" sy="100000" kx="0" ky="0" algn="bl" rotWithShape="0" blurRad="114300" dist="50800" dir="16200000">
              <a:srgbClr val="00E5FF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1450" y="1143000"/>
            <a:ext cx="28575" cy="28575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75395" y="3960495"/>
            <a:ext cx="40005" cy="40005"/>
          </a:xfrm>
          <a:prstGeom prst="ellipse">
            <a:avLst/>
          </a:prstGeom>
          <a:solidFill>
            <a:srgbClr val="00E5FF"/>
          </a:solidFill>
          <a:ln/>
          <a:effectLst>
            <a:outerShdw sx="100000" sy="100000" kx="0" ky="0" algn="bl" rotWithShape="0" blurRad="114300" dist="50800" dir="16200000">
              <a:srgbClr val="00E5FF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" y="294323"/>
            <a:ext cx="28575" cy="262890"/>
          </a:xfrm>
          <a:prstGeom prst="roundRect">
            <a:avLst>
              <a:gd name="adj" fmla="val 60000"/>
            </a:avLst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4345" y="251460"/>
            <a:ext cx="2000250" cy="34861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890" b="1" spc="90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分享与布道记录</a:t>
            </a:r>
            <a:endParaRPr lang="en-US" sz="1890" dirty="0"/>
          </a:p>
        </p:txBody>
      </p:sp>
      <p:sp>
        <p:nvSpPr>
          <p:cNvPr id="12" name="Text 10"/>
          <p:cNvSpPr/>
          <p:nvPr/>
        </p:nvSpPr>
        <p:spPr>
          <a:xfrm>
            <a:off x="342900" y="668655"/>
            <a:ext cx="6720840" cy="13599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30" spc="14" kern="0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布道不是单向输出，而是双向共振。通过直播、演讲、博客、播客等多元形式，我们将开源思想传递到更广泛的听众中，让每一位听众都能找到属于自己的起点。</a:t>
            </a:r>
            <a:endParaRPr lang="en-US" sz="630" dirty="0"/>
          </a:p>
        </p:txBody>
      </p:sp>
      <p:sp>
        <p:nvSpPr>
          <p:cNvPr id="13" name="Text 11"/>
          <p:cNvSpPr/>
          <p:nvPr/>
        </p:nvSpPr>
        <p:spPr>
          <a:xfrm>
            <a:off x="7926705" y="541764"/>
            <a:ext cx="97932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E5FF">
                    <a:alpha val="8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EVANGELISM_LOG</a:t>
            </a:r>
            <a:endParaRPr lang="en-US" sz="495" dirty="0"/>
          </a:p>
        </p:txBody>
      </p:sp>
      <p:sp>
        <p:nvSpPr>
          <p:cNvPr id="14" name="Shape 12"/>
          <p:cNvSpPr/>
          <p:nvPr/>
        </p:nvSpPr>
        <p:spPr>
          <a:xfrm>
            <a:off x="8343900" y="661779"/>
            <a:ext cx="4572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5" name="Text 13"/>
          <p:cNvSpPr/>
          <p:nvPr/>
        </p:nvSpPr>
        <p:spPr>
          <a:xfrm>
            <a:off x="7886700" y="701784"/>
            <a:ext cx="1024128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78909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2024 · ANNUAL REPORT</a:t>
            </a:r>
            <a:endParaRPr lang="en-US" sz="585" dirty="0"/>
          </a:p>
        </p:txBody>
      </p:sp>
      <p:sp>
        <p:nvSpPr>
          <p:cNvPr id="16" name="Shape 14"/>
          <p:cNvSpPr/>
          <p:nvPr/>
        </p:nvSpPr>
        <p:spPr>
          <a:xfrm>
            <a:off x="342900" y="941814"/>
            <a:ext cx="4183380" cy="1040130"/>
          </a:xfrm>
          <a:prstGeom prst="roundRect">
            <a:avLst>
              <a:gd name="adj" fmla="val 6593"/>
            </a:avLst>
          </a:prstGeom>
          <a:gradFill rotWithShape="1">
            <a:gsLst>
              <a:gs pos="0">
                <a:srgbClr val="0D1B2A"/>
              </a:gs>
              <a:gs pos="100000">
                <a:srgbClr val="0A1628"/>
              </a:gs>
            </a:gsLst>
            <a:lin ang="2700000" scaled="0"/>
          </a:gradFill>
          <a:ln w="5715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" y="941814"/>
            <a:ext cx="4160520" cy="1017270"/>
          </a:xfrm>
          <a:prstGeom prst="roundRect">
            <a:avLst>
              <a:gd name="adj" fmla="val 6742"/>
            </a:avLst>
          </a:prstGeom>
          <a:gradFill rotWithShape="1">
            <a:gsLst>
              <a:gs pos="0">
                <a:srgbClr val="2196F3"/>
              </a:gs>
              <a:gs pos="40000">
                <a:srgbClr val="000000">
                  <a:alpha val="0"/>
                </a:srgbClr>
              </a:gs>
              <a:gs pos="60000">
                <a:srgbClr val="000000">
                  <a:alpha val="0"/>
                </a:srgbClr>
              </a:gs>
              <a:gs pos="100000">
                <a:srgbClr val="00E5FF"/>
              </a:gs>
            </a:gsLst>
            <a:lin ang="2700000" scaled="0"/>
          </a:gradFill>
          <a:ln/>
        </p:spPr>
      </p:sp>
      <p:sp>
        <p:nvSpPr>
          <p:cNvPr id="18" name="Shape 16"/>
          <p:cNvSpPr/>
          <p:nvPr/>
        </p:nvSpPr>
        <p:spPr>
          <a:xfrm>
            <a:off x="4206240" y="427464"/>
            <a:ext cx="1143000" cy="1143000"/>
          </a:xfrm>
          <a:prstGeom prst="rect">
            <a:avLst/>
          </a:prstGeom>
          <a:solidFill>
            <a:srgbClr val="2196F3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85775" y="1256139"/>
            <a:ext cx="411480" cy="411480"/>
          </a:xfrm>
          <a:prstGeom prst="roundRect">
            <a:avLst>
              <a:gd name="adj" fmla="val 19444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15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364724"/>
            <a:ext cx="194310" cy="19431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11555" y="1244709"/>
            <a:ext cx="377647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E5FF">
                    <a:alpha val="7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01 · LIVE</a:t>
            </a:r>
            <a:endParaRPr lang="en-US" sz="495" dirty="0"/>
          </a:p>
        </p:txBody>
      </p:sp>
      <p:sp>
        <p:nvSpPr>
          <p:cNvPr id="22" name="Text 19"/>
          <p:cNvSpPr/>
          <p:nvPr/>
        </p:nvSpPr>
        <p:spPr>
          <a:xfrm>
            <a:off x="1011555" y="1364724"/>
            <a:ext cx="3776472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23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线上直播分享</a:t>
            </a:r>
            <a:endParaRPr lang="en-US" sz="855" dirty="0"/>
          </a:p>
        </p:txBody>
      </p:sp>
      <p:sp>
        <p:nvSpPr>
          <p:cNvPr id="23" name="Text 20"/>
          <p:cNvSpPr/>
          <p:nvPr/>
        </p:nvSpPr>
        <p:spPr>
          <a:xfrm>
            <a:off x="1011555" y="1564749"/>
            <a:ext cx="3776472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B站、知乎Live等平台持续输出开源话题，累计观众超万人</a:t>
            </a:r>
            <a:endParaRPr lang="en-US" sz="563" dirty="0"/>
          </a:p>
        </p:txBody>
      </p:sp>
      <p:sp>
        <p:nvSpPr>
          <p:cNvPr id="24" name="Shape 21"/>
          <p:cNvSpPr/>
          <p:nvPr/>
        </p:nvSpPr>
        <p:spPr>
          <a:xfrm>
            <a:off x="4617720" y="941814"/>
            <a:ext cx="4183380" cy="1040130"/>
          </a:xfrm>
          <a:prstGeom prst="roundRect">
            <a:avLst>
              <a:gd name="adj" fmla="val 6593"/>
            </a:avLst>
          </a:prstGeom>
          <a:gradFill rotWithShape="1">
            <a:gsLst>
              <a:gs pos="0">
                <a:srgbClr val="0D1B2A"/>
              </a:gs>
              <a:gs pos="100000">
                <a:srgbClr val="0A1628"/>
              </a:gs>
            </a:gsLst>
            <a:lin ang="2700000" scaled="0"/>
          </a:gradFill>
          <a:ln w="5715">
            <a:solidFill>
              <a:srgbClr val="1A3A5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17720" y="941814"/>
            <a:ext cx="4160520" cy="1017270"/>
          </a:xfrm>
          <a:prstGeom prst="roundRect">
            <a:avLst>
              <a:gd name="adj" fmla="val 6742"/>
            </a:avLst>
          </a:prstGeom>
          <a:gradFill rotWithShape="1">
            <a:gsLst>
              <a:gs pos="0">
                <a:srgbClr val="2196F3"/>
              </a:gs>
              <a:gs pos="40000">
                <a:srgbClr val="000000">
                  <a:alpha val="0"/>
                </a:srgbClr>
              </a:gs>
              <a:gs pos="60000">
                <a:srgbClr val="000000">
                  <a:alpha val="0"/>
                </a:srgbClr>
              </a:gs>
              <a:gs pos="100000">
                <a:srgbClr val="00E5FF"/>
              </a:gs>
            </a:gsLst>
            <a:lin ang="2700000" scaled="0"/>
          </a:gradFill>
          <a:ln/>
        </p:spPr>
      </p:sp>
      <p:sp>
        <p:nvSpPr>
          <p:cNvPr id="26" name="Shape 23"/>
          <p:cNvSpPr/>
          <p:nvPr/>
        </p:nvSpPr>
        <p:spPr>
          <a:xfrm>
            <a:off x="8481060" y="427464"/>
            <a:ext cx="1143000" cy="1143000"/>
          </a:xfrm>
          <a:prstGeom prst="rect">
            <a:avLst/>
          </a:prstGeom>
          <a:solidFill>
            <a:srgbClr val="2196F3">
              <a:alpha val="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4760595" y="1256139"/>
            <a:ext cx="411480" cy="411480"/>
          </a:xfrm>
          <a:prstGeom prst="roundRect">
            <a:avLst>
              <a:gd name="adj" fmla="val 19444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15000"/>
              </a:srgbClr>
            </a:outerShdw>
          </a:effectLst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9180" y="1364724"/>
            <a:ext cx="194310" cy="19431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286375" y="1244709"/>
            <a:ext cx="377647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E5FF">
                    <a:alpha val="7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02 · SPEECH</a:t>
            </a:r>
            <a:endParaRPr lang="en-US" sz="495" dirty="0"/>
          </a:p>
        </p:txBody>
      </p:sp>
      <p:sp>
        <p:nvSpPr>
          <p:cNvPr id="30" name="Text 26"/>
          <p:cNvSpPr/>
          <p:nvPr/>
        </p:nvSpPr>
        <p:spPr>
          <a:xfrm>
            <a:off x="5286375" y="1364724"/>
            <a:ext cx="3776472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23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技术沙龙演讲</a:t>
            </a:r>
            <a:endParaRPr lang="en-US" sz="855" dirty="0"/>
          </a:p>
        </p:txBody>
      </p:sp>
      <p:sp>
        <p:nvSpPr>
          <p:cNvPr id="31" name="Text 27"/>
          <p:cNvSpPr/>
          <p:nvPr/>
        </p:nvSpPr>
        <p:spPr>
          <a:xfrm>
            <a:off x="5286375" y="1564749"/>
            <a:ext cx="3776472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参与城市Meetup与技术大会，分享开源项目实战与心得</a:t>
            </a:r>
            <a:endParaRPr lang="en-US" sz="563" dirty="0"/>
          </a:p>
        </p:txBody>
      </p:sp>
      <p:sp>
        <p:nvSpPr>
          <p:cNvPr id="32" name="Shape 28"/>
          <p:cNvSpPr/>
          <p:nvPr/>
        </p:nvSpPr>
        <p:spPr>
          <a:xfrm>
            <a:off x="342900" y="2073384"/>
            <a:ext cx="4183380" cy="1040130"/>
          </a:xfrm>
          <a:prstGeom prst="roundRect">
            <a:avLst>
              <a:gd name="adj" fmla="val 6593"/>
            </a:avLst>
          </a:prstGeom>
          <a:gradFill rotWithShape="1">
            <a:gsLst>
              <a:gs pos="0">
                <a:srgbClr val="0D1B2A"/>
              </a:gs>
              <a:gs pos="100000">
                <a:srgbClr val="0A1628"/>
              </a:gs>
            </a:gsLst>
            <a:lin ang="2700000" scaled="0"/>
          </a:gradFill>
          <a:ln w="5715">
            <a:solidFill>
              <a:srgbClr val="1A3A5C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342900" y="2073384"/>
            <a:ext cx="4160520" cy="1017270"/>
          </a:xfrm>
          <a:prstGeom prst="roundRect">
            <a:avLst>
              <a:gd name="adj" fmla="val 6742"/>
            </a:avLst>
          </a:prstGeom>
          <a:gradFill rotWithShape="1">
            <a:gsLst>
              <a:gs pos="0">
                <a:srgbClr val="2196F3"/>
              </a:gs>
              <a:gs pos="40000">
                <a:srgbClr val="000000">
                  <a:alpha val="0"/>
                </a:srgbClr>
              </a:gs>
              <a:gs pos="60000">
                <a:srgbClr val="000000">
                  <a:alpha val="0"/>
                </a:srgbClr>
              </a:gs>
              <a:gs pos="100000">
                <a:srgbClr val="00E5FF"/>
              </a:gs>
            </a:gsLst>
            <a:lin ang="2700000" scaled="0"/>
          </a:gradFill>
          <a:ln/>
        </p:spPr>
      </p:sp>
      <p:sp>
        <p:nvSpPr>
          <p:cNvPr id="34" name="Shape 30"/>
          <p:cNvSpPr/>
          <p:nvPr/>
        </p:nvSpPr>
        <p:spPr>
          <a:xfrm>
            <a:off x="4206240" y="1559034"/>
            <a:ext cx="1143000" cy="1143000"/>
          </a:xfrm>
          <a:prstGeom prst="rect">
            <a:avLst/>
          </a:prstGeom>
          <a:solidFill>
            <a:srgbClr val="2196F3">
              <a:alpha val="8000"/>
            </a:srgbClr>
          </a:solidFill>
          <a:ln/>
        </p:spPr>
      </p:sp>
      <p:sp>
        <p:nvSpPr>
          <p:cNvPr id="35" name="Shape 31"/>
          <p:cNvSpPr/>
          <p:nvPr/>
        </p:nvSpPr>
        <p:spPr>
          <a:xfrm>
            <a:off x="485775" y="2387709"/>
            <a:ext cx="411480" cy="411480"/>
          </a:xfrm>
          <a:prstGeom prst="roundRect">
            <a:avLst>
              <a:gd name="adj" fmla="val 19444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15000"/>
              </a:srgbClr>
            </a:outerShdw>
          </a:effectLst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" y="2496294"/>
            <a:ext cx="194310" cy="19431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011555" y="2376279"/>
            <a:ext cx="377647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E5FF">
                    <a:alpha val="7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03 · BLOG</a:t>
            </a:r>
            <a:endParaRPr lang="en-US" sz="495" dirty="0"/>
          </a:p>
        </p:txBody>
      </p:sp>
      <p:sp>
        <p:nvSpPr>
          <p:cNvPr id="38" name="Text 33"/>
          <p:cNvSpPr/>
          <p:nvPr/>
        </p:nvSpPr>
        <p:spPr>
          <a:xfrm>
            <a:off x="1011555" y="2496294"/>
            <a:ext cx="3776472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23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博客与文章</a:t>
            </a:r>
            <a:endParaRPr lang="en-US" sz="855" dirty="0"/>
          </a:p>
        </p:txBody>
      </p:sp>
      <p:sp>
        <p:nvSpPr>
          <p:cNvPr id="39" name="Text 34"/>
          <p:cNvSpPr/>
          <p:nvPr/>
        </p:nvSpPr>
        <p:spPr>
          <a:xfrm>
            <a:off x="1011555" y="2696319"/>
            <a:ext cx="3776472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全年发布深度长文与轻量随笔，覆盖开源入门到高级治理</a:t>
            </a:r>
            <a:endParaRPr lang="en-US" sz="563" dirty="0"/>
          </a:p>
        </p:txBody>
      </p:sp>
      <p:sp>
        <p:nvSpPr>
          <p:cNvPr id="40" name="Shape 35"/>
          <p:cNvSpPr/>
          <p:nvPr/>
        </p:nvSpPr>
        <p:spPr>
          <a:xfrm>
            <a:off x="4617720" y="2073384"/>
            <a:ext cx="4183380" cy="1040130"/>
          </a:xfrm>
          <a:prstGeom prst="roundRect">
            <a:avLst>
              <a:gd name="adj" fmla="val 6593"/>
            </a:avLst>
          </a:prstGeom>
          <a:gradFill rotWithShape="1">
            <a:gsLst>
              <a:gs pos="0">
                <a:srgbClr val="0D1B2A"/>
              </a:gs>
              <a:gs pos="100000">
                <a:srgbClr val="0A1628"/>
              </a:gs>
            </a:gsLst>
            <a:lin ang="2700000" scaled="0"/>
          </a:gradFill>
          <a:ln w="5715">
            <a:solidFill>
              <a:srgbClr val="1A3A5C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4617720" y="2073384"/>
            <a:ext cx="4160520" cy="1017270"/>
          </a:xfrm>
          <a:prstGeom prst="roundRect">
            <a:avLst>
              <a:gd name="adj" fmla="val 6742"/>
            </a:avLst>
          </a:prstGeom>
          <a:gradFill rotWithShape="1">
            <a:gsLst>
              <a:gs pos="0">
                <a:srgbClr val="2196F3"/>
              </a:gs>
              <a:gs pos="40000">
                <a:srgbClr val="000000">
                  <a:alpha val="0"/>
                </a:srgbClr>
              </a:gs>
              <a:gs pos="60000">
                <a:srgbClr val="000000">
                  <a:alpha val="0"/>
                </a:srgbClr>
              </a:gs>
              <a:gs pos="100000">
                <a:srgbClr val="00E5FF"/>
              </a:gs>
            </a:gsLst>
            <a:lin ang="2700000" scaled="0"/>
          </a:gradFill>
          <a:ln/>
        </p:spPr>
      </p:sp>
      <p:sp>
        <p:nvSpPr>
          <p:cNvPr id="42" name="Shape 37"/>
          <p:cNvSpPr/>
          <p:nvPr/>
        </p:nvSpPr>
        <p:spPr>
          <a:xfrm>
            <a:off x="8481060" y="1559034"/>
            <a:ext cx="1143000" cy="1143000"/>
          </a:xfrm>
          <a:prstGeom prst="rect">
            <a:avLst/>
          </a:prstGeom>
          <a:solidFill>
            <a:srgbClr val="2196F3">
              <a:alpha val="8000"/>
            </a:srgbClr>
          </a:solidFill>
          <a:ln/>
        </p:spPr>
      </p:sp>
      <p:sp>
        <p:nvSpPr>
          <p:cNvPr id="43" name="Shape 38"/>
          <p:cNvSpPr/>
          <p:nvPr/>
        </p:nvSpPr>
        <p:spPr>
          <a:xfrm>
            <a:off x="4760595" y="2387709"/>
            <a:ext cx="411480" cy="411480"/>
          </a:xfrm>
          <a:prstGeom prst="roundRect">
            <a:avLst>
              <a:gd name="adj" fmla="val 19444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15000"/>
              </a:srgbClr>
            </a:outerShdw>
          </a:effectLst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9180" y="2496294"/>
            <a:ext cx="194310" cy="19431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286375" y="2376279"/>
            <a:ext cx="377647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E5FF">
                    <a:alpha val="7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04 · PODCAST</a:t>
            </a:r>
            <a:endParaRPr lang="en-US" sz="495" dirty="0"/>
          </a:p>
        </p:txBody>
      </p:sp>
      <p:sp>
        <p:nvSpPr>
          <p:cNvPr id="46" name="Text 40"/>
          <p:cNvSpPr/>
          <p:nvPr/>
        </p:nvSpPr>
        <p:spPr>
          <a:xfrm>
            <a:off x="5286375" y="2496294"/>
            <a:ext cx="3776472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23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播客与对谈</a:t>
            </a:r>
            <a:endParaRPr lang="en-US" sz="855" dirty="0"/>
          </a:p>
        </p:txBody>
      </p:sp>
      <p:sp>
        <p:nvSpPr>
          <p:cNvPr id="47" name="Text 41"/>
          <p:cNvSpPr/>
          <p:nvPr/>
        </p:nvSpPr>
        <p:spPr>
          <a:xfrm>
            <a:off x="5286375" y="2696319"/>
            <a:ext cx="3776472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参与多期开源主题播客，与一线开发者深度交流行业观察</a:t>
            </a:r>
            <a:endParaRPr lang="en-US" sz="563" dirty="0"/>
          </a:p>
        </p:txBody>
      </p:sp>
      <p:sp>
        <p:nvSpPr>
          <p:cNvPr id="48" name="Shape 42"/>
          <p:cNvSpPr/>
          <p:nvPr/>
        </p:nvSpPr>
        <p:spPr>
          <a:xfrm>
            <a:off x="342900" y="3227814"/>
            <a:ext cx="2758380" cy="434340"/>
          </a:xfrm>
          <a:prstGeom prst="roundRect">
            <a:avLst>
              <a:gd name="adj" fmla="val 13158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0E5FF">
                  <a:alpha val="2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342900" y="3227814"/>
            <a:ext cx="17145" cy="42291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540000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50000"/>
              </a:srgbClr>
            </a:outerShdw>
          </a:effectLst>
        </p:spPr>
      </p:sp>
      <p:sp>
        <p:nvSpPr>
          <p:cNvPr id="50" name="Text 44"/>
          <p:cNvSpPr/>
          <p:nvPr/>
        </p:nvSpPr>
        <p:spPr>
          <a:xfrm>
            <a:off x="485775" y="3324969"/>
            <a:ext cx="576072" cy="240030"/>
          </a:xfrm>
          <a:prstGeom prst="rect">
            <a:avLst/>
          </a:prstGeom>
          <a:noFill/>
          <a:ln/>
          <a:effectLst>
            <a:outerShdw sx="100000" sy="100000" kx="0" ky="0" algn="bl" rotWithShape="0" blurRad="91440" dist="50800" dir="5400000">
              <a:srgbClr val="2196F3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12</a:t>
            </a:r>
            <a:endParaRPr lang="en-US" sz="1890" dirty="0"/>
          </a:p>
        </p:txBody>
      </p:sp>
      <p:sp>
        <p:nvSpPr>
          <p:cNvPr id="51" name="Text 45"/>
          <p:cNvSpPr/>
          <p:nvPr/>
        </p:nvSpPr>
        <p:spPr>
          <a:xfrm>
            <a:off x="794385" y="3439269"/>
            <a:ext cx="17145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场</a:t>
            </a:r>
            <a:endParaRPr lang="en-US" sz="675" dirty="0"/>
          </a:p>
        </p:txBody>
      </p:sp>
      <p:sp>
        <p:nvSpPr>
          <p:cNvPr id="52" name="Text 46"/>
          <p:cNvSpPr/>
          <p:nvPr/>
        </p:nvSpPr>
        <p:spPr>
          <a:xfrm>
            <a:off x="982980" y="3327112"/>
            <a:ext cx="2212477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直播场次</a:t>
            </a:r>
            <a:endParaRPr lang="en-US" sz="630" dirty="0"/>
          </a:p>
        </p:txBody>
      </p:sp>
      <p:sp>
        <p:nvSpPr>
          <p:cNvPr id="53" name="Text 47"/>
          <p:cNvSpPr/>
          <p:nvPr/>
        </p:nvSpPr>
        <p:spPr>
          <a:xfrm>
            <a:off x="982980" y="3464272"/>
            <a:ext cx="2212477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含录播回放，全年持续更新</a:t>
            </a:r>
            <a:endParaRPr lang="en-US" sz="518" dirty="0"/>
          </a:p>
        </p:txBody>
      </p:sp>
      <p:sp>
        <p:nvSpPr>
          <p:cNvPr id="54" name="Shape 48"/>
          <p:cNvSpPr/>
          <p:nvPr/>
        </p:nvSpPr>
        <p:spPr>
          <a:xfrm>
            <a:off x="3192720" y="3227814"/>
            <a:ext cx="2758470" cy="434340"/>
          </a:xfrm>
          <a:prstGeom prst="roundRect">
            <a:avLst>
              <a:gd name="adj" fmla="val 13158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0E5FF">
                  <a:alpha val="2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3192720" y="3227814"/>
            <a:ext cx="17145" cy="42291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540000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50000"/>
              </a:srgbClr>
            </a:outerShdw>
          </a:effectLst>
        </p:spPr>
      </p:sp>
      <p:sp>
        <p:nvSpPr>
          <p:cNvPr id="56" name="Text 50"/>
          <p:cNvSpPr/>
          <p:nvPr/>
        </p:nvSpPr>
        <p:spPr>
          <a:xfrm>
            <a:off x="3335595" y="3324969"/>
            <a:ext cx="408051" cy="240030"/>
          </a:xfrm>
          <a:prstGeom prst="rect">
            <a:avLst/>
          </a:prstGeom>
          <a:noFill/>
          <a:ln/>
          <a:effectLst>
            <a:outerShdw sx="100000" sy="100000" kx="0" ky="0" algn="bl" rotWithShape="0" blurRad="91440" dist="50800" dir="5400000">
              <a:srgbClr val="2196F3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</a:t>
            </a:r>
            <a:endParaRPr lang="en-US" sz="1890" dirty="0"/>
          </a:p>
        </p:txBody>
      </p:sp>
      <p:sp>
        <p:nvSpPr>
          <p:cNvPr id="57" name="Text 51"/>
          <p:cNvSpPr/>
          <p:nvPr/>
        </p:nvSpPr>
        <p:spPr>
          <a:xfrm>
            <a:off x="3501330" y="3439269"/>
            <a:ext cx="222885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万+</a:t>
            </a:r>
            <a:endParaRPr lang="en-US" sz="675" dirty="0"/>
          </a:p>
        </p:txBody>
      </p:sp>
      <p:sp>
        <p:nvSpPr>
          <p:cNvPr id="58" name="Text 52"/>
          <p:cNvSpPr/>
          <p:nvPr/>
        </p:nvSpPr>
        <p:spPr>
          <a:xfrm>
            <a:off x="3741360" y="3327112"/>
            <a:ext cx="2314989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听众规模</a:t>
            </a:r>
            <a:endParaRPr lang="en-US" sz="630" dirty="0"/>
          </a:p>
        </p:txBody>
      </p:sp>
      <p:sp>
        <p:nvSpPr>
          <p:cNvPr id="59" name="Text 53"/>
          <p:cNvSpPr/>
          <p:nvPr/>
        </p:nvSpPr>
        <p:spPr>
          <a:xfrm>
            <a:off x="3741360" y="3464272"/>
            <a:ext cx="2314989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累计观看人次，跨平台统计</a:t>
            </a:r>
            <a:endParaRPr lang="en-US" sz="518" dirty="0"/>
          </a:p>
        </p:txBody>
      </p:sp>
      <p:sp>
        <p:nvSpPr>
          <p:cNvPr id="60" name="Shape 54"/>
          <p:cNvSpPr/>
          <p:nvPr/>
        </p:nvSpPr>
        <p:spPr>
          <a:xfrm>
            <a:off x="6042630" y="3227814"/>
            <a:ext cx="2758380" cy="434340"/>
          </a:xfrm>
          <a:prstGeom prst="roundRect">
            <a:avLst>
              <a:gd name="adj" fmla="val 13158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0E5FF">
                  <a:alpha val="2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6042630" y="3227814"/>
            <a:ext cx="17145" cy="42291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540000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50000"/>
              </a:srgbClr>
            </a:outerShdw>
          </a:effectLst>
        </p:spPr>
      </p:sp>
      <p:sp>
        <p:nvSpPr>
          <p:cNvPr id="62" name="Text 56"/>
          <p:cNvSpPr/>
          <p:nvPr/>
        </p:nvSpPr>
        <p:spPr>
          <a:xfrm>
            <a:off x="6185505" y="3324969"/>
            <a:ext cx="576072" cy="240030"/>
          </a:xfrm>
          <a:prstGeom prst="rect">
            <a:avLst/>
          </a:prstGeom>
          <a:noFill/>
          <a:ln/>
          <a:effectLst>
            <a:outerShdw sx="100000" sy="100000" kx="0" ky="0" algn="bl" rotWithShape="0" blurRad="91440" dist="50800" dir="5400000">
              <a:srgbClr val="2196F3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9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35</a:t>
            </a:r>
            <a:endParaRPr lang="en-US" sz="1890" dirty="0"/>
          </a:p>
        </p:txBody>
      </p:sp>
      <p:sp>
        <p:nvSpPr>
          <p:cNvPr id="63" name="Text 57"/>
          <p:cNvSpPr/>
          <p:nvPr/>
        </p:nvSpPr>
        <p:spPr>
          <a:xfrm>
            <a:off x="6494115" y="3439269"/>
            <a:ext cx="17145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篇</a:t>
            </a:r>
            <a:endParaRPr lang="en-US" sz="675" dirty="0"/>
          </a:p>
        </p:txBody>
      </p:sp>
      <p:sp>
        <p:nvSpPr>
          <p:cNvPr id="64" name="Text 58"/>
          <p:cNvSpPr/>
          <p:nvPr/>
        </p:nvSpPr>
        <p:spPr>
          <a:xfrm>
            <a:off x="6682710" y="3327112"/>
            <a:ext cx="2212477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发布文章</a:t>
            </a:r>
            <a:endParaRPr lang="en-US" sz="630" dirty="0"/>
          </a:p>
        </p:txBody>
      </p:sp>
      <p:sp>
        <p:nvSpPr>
          <p:cNvPr id="65" name="Text 59"/>
          <p:cNvSpPr/>
          <p:nvPr/>
        </p:nvSpPr>
        <p:spPr>
          <a:xfrm>
            <a:off x="6682710" y="3464272"/>
            <a:ext cx="2212477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789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覆盖技术博客与公众号</a:t>
            </a:r>
            <a:endParaRPr lang="en-US" sz="518" dirty="0"/>
          </a:p>
        </p:txBody>
      </p:sp>
      <p:sp>
        <p:nvSpPr>
          <p:cNvPr id="66" name="Shape 60"/>
          <p:cNvSpPr/>
          <p:nvPr/>
        </p:nvSpPr>
        <p:spPr>
          <a:xfrm>
            <a:off x="3060383" y="3890754"/>
            <a:ext cx="6858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67" name="Text 61"/>
          <p:cNvSpPr/>
          <p:nvPr/>
        </p:nvSpPr>
        <p:spPr>
          <a:xfrm>
            <a:off x="3860483" y="3833604"/>
            <a:ext cx="1593799" cy="120015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E5FF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75" spc="18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多元共振</a:t>
            </a:r>
            <a:pPr algn="l" indent="0" marL="0">
              <a:buNone/>
            </a:pPr>
            <a:r>
              <a:rPr lang="en-US" sz="675" spc="180" kern="0" dirty="0">
                <a:solidFill>
                  <a:srgbClr val="78909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·</a:t>
            </a:r>
            <a:pPr algn="l" indent="0" marL="0">
              <a:buNone/>
            </a:pPr>
            <a:r>
              <a:rPr lang="en-US" sz="675" spc="18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让开源声音被听见</a:t>
            </a:r>
            <a:endParaRPr lang="en-US" sz="675" dirty="0"/>
          </a:p>
        </p:txBody>
      </p:sp>
      <p:sp>
        <p:nvSpPr>
          <p:cNvPr id="68" name="Shape 62"/>
          <p:cNvSpPr/>
          <p:nvPr/>
        </p:nvSpPr>
        <p:spPr>
          <a:xfrm>
            <a:off x="5397818" y="3890754"/>
            <a:ext cx="68580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6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1028700"/>
            <a:ext cx="9144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E5FF">
                  <a:alpha val="50000"/>
                </a:srgbClr>
              </a:gs>
              <a:gs pos="6000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0" y="5120640"/>
            <a:ext cx="9144000" cy="2286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00E5FF"/>
              </a:gs>
              <a:gs pos="50000">
                <a:srgbClr val="2196F3"/>
              </a:gs>
              <a:gs pos="75000">
                <a:srgbClr val="00E5FF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228600" dist="50800" dir="16200000">
              <a:srgbClr val="00E5FF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95060" y="465773"/>
            <a:ext cx="34290" cy="34290"/>
          </a:xfrm>
          <a:prstGeom prst="ellipse">
            <a:avLst/>
          </a:prstGeom>
          <a:solidFill>
            <a:srgbClr val="00E5FF"/>
          </a:solidFill>
          <a:ln/>
          <a:effectLst>
            <a:outerShdw sx="100000" sy="100000" kx="0" ky="0" algn="bl" rotWithShape="0" blurRad="95250" dist="50800" dir="16200000">
              <a:srgbClr val="00E5FF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332220" y="437198"/>
            <a:ext cx="120975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PAGE 05 / KEY METRICS</a:t>
            </a:r>
            <a:endParaRPr lang="en-US" sz="540" dirty="0"/>
          </a:p>
        </p:txBody>
      </p:sp>
      <p:sp>
        <p:nvSpPr>
          <p:cNvPr id="7" name="Text 5"/>
          <p:cNvSpPr/>
          <p:nvPr/>
        </p:nvSpPr>
        <p:spPr>
          <a:xfrm>
            <a:off x="7515225" y="437198"/>
            <a:ext cx="144018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2021 ANNUAL · OPEN SOURCE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342900" y="771525"/>
            <a:ext cx="7543800" cy="13716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342900" y="771525"/>
            <a:ext cx="0" cy="13716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" y="771525"/>
            <a:ext cx="8449056" cy="137160"/>
          </a:xfrm>
          <a:prstGeom prst="rect">
            <a:avLst/>
          </a:prstGeom>
          <a:noFill/>
          <a:ln/>
        </p:spPr>
        <p:txBody>
          <a:bodyPr wrap="none" lIns="0" tIns="8001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用数据回望 2021 —— 从代码到社区、从阅读到传播、从投入到产出，每一个维度都折射出开源之旅的丰富层次与真实价值。</a:t>
            </a:r>
            <a:endParaRPr lang="en-US" sz="675" dirty="0"/>
          </a:p>
        </p:txBody>
      </p:sp>
      <p:sp>
        <p:nvSpPr>
          <p:cNvPr id="11" name="Shape 9"/>
          <p:cNvSpPr/>
          <p:nvPr/>
        </p:nvSpPr>
        <p:spPr>
          <a:xfrm>
            <a:off x="342900" y="1045845"/>
            <a:ext cx="2750790" cy="1371600"/>
          </a:xfrm>
          <a:prstGeom prst="roundRect">
            <a:avLst>
              <a:gd name="adj" fmla="val 5833"/>
            </a:avLst>
          </a:prstGeom>
          <a:gradFill rotWithShape="1">
            <a:gsLst>
              <a:gs pos="0">
                <a:srgbClr val="0E1E42">
                  <a:alpha val="85000"/>
                </a:srgbClr>
              </a:gs>
              <a:gs pos="100000">
                <a:srgbClr val="081228">
                  <a:alpha val="90000"/>
                </a:srgbClr>
              </a:gs>
            </a:gsLst>
            <a:lin ang="3000000" scaled="0"/>
          </a:gradFill>
          <a:ln w="5715">
            <a:solidFill>
              <a:srgbClr val="1E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" y="1045845"/>
            <a:ext cx="273936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5FF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3" name="Shape 11"/>
          <p:cNvSpPr/>
          <p:nvPr/>
        </p:nvSpPr>
        <p:spPr>
          <a:xfrm>
            <a:off x="2625060" y="1948815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4" name="Text 12"/>
          <p:cNvSpPr/>
          <p:nvPr/>
        </p:nvSpPr>
        <p:spPr>
          <a:xfrm>
            <a:off x="2699355" y="1108710"/>
            <a:ext cx="3829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 06</a:t>
            </a:r>
            <a:endParaRPr lang="en-US" sz="495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345" y="1417320"/>
            <a:ext cx="628650" cy="6286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11518" y="1680210"/>
            <a:ext cx="23031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73%</a:t>
            </a:r>
            <a:endParaRPr lang="en-US" sz="585" dirty="0"/>
          </a:p>
        </p:txBody>
      </p:sp>
      <p:sp>
        <p:nvSpPr>
          <p:cNvPr id="17" name="Text 14"/>
          <p:cNvSpPr/>
          <p:nvPr/>
        </p:nvSpPr>
        <p:spPr>
          <a:xfrm>
            <a:off x="1194435" y="1464022"/>
            <a:ext cx="197994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 SUBMISSION</a:t>
            </a:r>
            <a:endParaRPr lang="en-US" sz="495" dirty="0"/>
          </a:p>
        </p:txBody>
      </p:sp>
      <p:sp>
        <p:nvSpPr>
          <p:cNvPr id="18" name="Text 15"/>
          <p:cNvSpPr/>
          <p:nvPr/>
        </p:nvSpPr>
        <p:spPr>
          <a:xfrm>
            <a:off x="1194435" y="1584037"/>
            <a:ext cx="1979947" cy="213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30" b="1" spc="23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87</a:t>
            </a:r>
            <a:pPr algn="l" indent="0" marL="0">
              <a:lnSpc>
                <a:spcPct val="110000"/>
              </a:lnSpc>
              <a:buNone/>
            </a:pPr>
            <a:r>
              <a:rPr lang="en-US" sz="720" b="1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个</a:t>
            </a:r>
            <a:endParaRPr lang="en-US" sz="1530" dirty="0"/>
          </a:p>
        </p:txBody>
      </p:sp>
      <p:sp>
        <p:nvSpPr>
          <p:cNvPr id="19" name="Shape 16"/>
          <p:cNvSpPr/>
          <p:nvPr/>
        </p:nvSpPr>
        <p:spPr>
          <a:xfrm>
            <a:off x="1194435" y="1843445"/>
            <a:ext cx="1767810" cy="155734"/>
          </a:xfrm>
          <a:prstGeom prst="rect">
            <a:avLst/>
          </a:prstGeom>
          <a:noFill/>
          <a:ln/>
        </p:spPr>
      </p:sp>
      <p:sp>
        <p:nvSpPr>
          <p:cNvPr id="20" name="Shape 17"/>
          <p:cNvSpPr/>
          <p:nvPr/>
        </p:nvSpPr>
        <p:spPr>
          <a:xfrm>
            <a:off x="1194435" y="1843445"/>
            <a:ext cx="1767810" cy="0"/>
          </a:xfrm>
          <a:prstGeom prst="line">
            <a:avLst/>
          </a:prstGeom>
          <a:noFill/>
          <a:ln w="5715">
            <a:solidFill>
              <a:srgbClr val="2196F3">
                <a:alpha val="30000"/>
              </a:srgbClr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1194435" y="1843445"/>
            <a:ext cx="1979947" cy="155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05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SCOPE</a:t>
            </a:r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注释覆盖 6 个开源项目</a:t>
            </a:r>
            <a:endParaRPr lang="en-US" sz="518" dirty="0"/>
          </a:p>
        </p:txBody>
      </p:sp>
      <p:sp>
        <p:nvSpPr>
          <p:cNvPr id="22" name="Shape 19"/>
          <p:cNvSpPr/>
          <p:nvPr/>
        </p:nvSpPr>
        <p:spPr>
          <a:xfrm>
            <a:off x="1194435" y="1894880"/>
            <a:ext cx="251460" cy="100013"/>
          </a:xfrm>
          <a:prstGeom prst="roundRect">
            <a:avLst>
              <a:gd name="adj" fmla="val 17143"/>
            </a:avLst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94435" y="1894880"/>
            <a:ext cx="302895" cy="100013"/>
          </a:xfrm>
          <a:prstGeom prst="rect">
            <a:avLst/>
          </a:prstGeom>
          <a:noFill/>
          <a:ln/>
        </p:spPr>
        <p:txBody>
          <a:bodyPr wrap="none" lIns="5715" tIns="34290" rIns="34290" bIns="571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05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SCOPE</a:t>
            </a:r>
            <a:endParaRPr lang="en-US" sz="405" dirty="0"/>
          </a:p>
        </p:txBody>
      </p:sp>
      <p:sp>
        <p:nvSpPr>
          <p:cNvPr id="24" name="Shape 21"/>
          <p:cNvSpPr/>
          <p:nvPr/>
        </p:nvSpPr>
        <p:spPr>
          <a:xfrm>
            <a:off x="3196560" y="1045845"/>
            <a:ext cx="2750790" cy="1371600"/>
          </a:xfrm>
          <a:prstGeom prst="roundRect">
            <a:avLst>
              <a:gd name="adj" fmla="val 5833"/>
            </a:avLst>
          </a:prstGeom>
          <a:gradFill rotWithShape="1">
            <a:gsLst>
              <a:gs pos="0">
                <a:srgbClr val="0E1E42">
                  <a:alpha val="85000"/>
                </a:srgbClr>
              </a:gs>
              <a:gs pos="100000">
                <a:srgbClr val="081228">
                  <a:alpha val="90000"/>
                </a:srgbClr>
              </a:gs>
            </a:gsLst>
            <a:lin ang="3000000" scaled="0"/>
          </a:gradFill>
          <a:ln w="5715">
            <a:solidFill>
              <a:srgbClr val="1E3A6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196560" y="1045845"/>
            <a:ext cx="273936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5FF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6" name="Shape 23"/>
          <p:cNvSpPr/>
          <p:nvPr/>
        </p:nvSpPr>
        <p:spPr>
          <a:xfrm>
            <a:off x="5478720" y="1948815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7" name="Text 24"/>
          <p:cNvSpPr/>
          <p:nvPr/>
        </p:nvSpPr>
        <p:spPr>
          <a:xfrm>
            <a:off x="5553015" y="1108710"/>
            <a:ext cx="3829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 06</a:t>
            </a:r>
            <a:endParaRPr lang="en-US" sz="495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8005" y="1417320"/>
            <a:ext cx="628650" cy="62865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565178" y="1680210"/>
            <a:ext cx="23031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88%</a:t>
            </a:r>
            <a:endParaRPr lang="en-US" sz="585" dirty="0"/>
          </a:p>
        </p:txBody>
      </p:sp>
      <p:sp>
        <p:nvSpPr>
          <p:cNvPr id="30" name="Text 26"/>
          <p:cNvSpPr/>
          <p:nvPr/>
        </p:nvSpPr>
        <p:spPr>
          <a:xfrm>
            <a:off x="4048095" y="1464022"/>
            <a:ext cx="197994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CODE REVIEW</a:t>
            </a:r>
            <a:endParaRPr lang="en-US" sz="495" dirty="0"/>
          </a:p>
        </p:txBody>
      </p:sp>
      <p:sp>
        <p:nvSpPr>
          <p:cNvPr id="31" name="Text 27"/>
          <p:cNvSpPr/>
          <p:nvPr/>
        </p:nvSpPr>
        <p:spPr>
          <a:xfrm>
            <a:off x="4048095" y="1584037"/>
            <a:ext cx="1979947" cy="213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30" b="1" spc="23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140</a:t>
            </a:r>
            <a:pPr algn="l" indent="0" marL="0">
              <a:lnSpc>
                <a:spcPct val="110000"/>
              </a:lnSpc>
              <a:buNone/>
            </a:pPr>
            <a:r>
              <a:rPr lang="en-US" sz="720" b="1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+ 次</a:t>
            </a:r>
            <a:endParaRPr lang="en-US" sz="1530" dirty="0"/>
          </a:p>
        </p:txBody>
      </p:sp>
      <p:sp>
        <p:nvSpPr>
          <p:cNvPr id="32" name="Shape 28"/>
          <p:cNvSpPr/>
          <p:nvPr/>
        </p:nvSpPr>
        <p:spPr>
          <a:xfrm>
            <a:off x="4048095" y="1843445"/>
            <a:ext cx="1767810" cy="155734"/>
          </a:xfrm>
          <a:prstGeom prst="rect">
            <a:avLst/>
          </a:prstGeom>
          <a:noFill/>
          <a:ln/>
        </p:spPr>
      </p:sp>
      <p:sp>
        <p:nvSpPr>
          <p:cNvPr id="33" name="Shape 29"/>
          <p:cNvSpPr/>
          <p:nvPr/>
        </p:nvSpPr>
        <p:spPr>
          <a:xfrm>
            <a:off x="4048095" y="1843445"/>
            <a:ext cx="1767810" cy="0"/>
          </a:xfrm>
          <a:prstGeom prst="line">
            <a:avLst/>
          </a:prstGeom>
          <a:noFill/>
          <a:ln w="5715">
            <a:solidFill>
              <a:srgbClr val="2196F3">
                <a:alpha val="30000"/>
              </a:srgbClr>
            </a:solidFill>
            <a:prstDash val="dash"/>
          </a:ln>
        </p:spPr>
      </p:sp>
      <p:sp>
        <p:nvSpPr>
          <p:cNvPr id="34" name="Text 30"/>
          <p:cNvSpPr/>
          <p:nvPr/>
        </p:nvSpPr>
        <p:spPr>
          <a:xfrm>
            <a:off x="4048095" y="1843445"/>
            <a:ext cx="1979947" cy="155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05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REVIEW</a:t>
            </a:r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注释 Review 他人代码</a:t>
            </a:r>
            <a:endParaRPr lang="en-US" sz="518" dirty="0"/>
          </a:p>
        </p:txBody>
      </p:sp>
      <p:sp>
        <p:nvSpPr>
          <p:cNvPr id="35" name="Shape 31"/>
          <p:cNvSpPr/>
          <p:nvPr/>
        </p:nvSpPr>
        <p:spPr>
          <a:xfrm>
            <a:off x="4048095" y="1894880"/>
            <a:ext cx="285750" cy="100013"/>
          </a:xfrm>
          <a:prstGeom prst="roundRect">
            <a:avLst>
              <a:gd name="adj" fmla="val 17143"/>
            </a:avLst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048095" y="1894880"/>
            <a:ext cx="337185" cy="100013"/>
          </a:xfrm>
          <a:prstGeom prst="rect">
            <a:avLst/>
          </a:prstGeom>
          <a:noFill/>
          <a:ln/>
        </p:spPr>
        <p:txBody>
          <a:bodyPr wrap="none" lIns="5715" tIns="34290" rIns="34290" bIns="571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05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REVIEW</a:t>
            </a:r>
            <a:endParaRPr lang="en-US" sz="405" dirty="0"/>
          </a:p>
        </p:txBody>
      </p:sp>
      <p:sp>
        <p:nvSpPr>
          <p:cNvPr id="37" name="Shape 33"/>
          <p:cNvSpPr/>
          <p:nvPr/>
        </p:nvSpPr>
        <p:spPr>
          <a:xfrm>
            <a:off x="6050220" y="1045845"/>
            <a:ext cx="2750880" cy="1371600"/>
          </a:xfrm>
          <a:prstGeom prst="roundRect">
            <a:avLst>
              <a:gd name="adj" fmla="val 5833"/>
            </a:avLst>
          </a:prstGeom>
          <a:gradFill rotWithShape="1">
            <a:gsLst>
              <a:gs pos="0">
                <a:srgbClr val="0E1E42">
                  <a:alpha val="85000"/>
                </a:srgbClr>
              </a:gs>
              <a:gs pos="100000">
                <a:srgbClr val="081228">
                  <a:alpha val="90000"/>
                </a:srgbClr>
              </a:gs>
            </a:gsLst>
            <a:lin ang="3000000" scaled="0"/>
          </a:gradFill>
          <a:ln w="5715">
            <a:solidFill>
              <a:srgbClr val="1E3A6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050220" y="1045845"/>
            <a:ext cx="2739451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5FF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9" name="Shape 35"/>
          <p:cNvSpPr/>
          <p:nvPr/>
        </p:nvSpPr>
        <p:spPr>
          <a:xfrm>
            <a:off x="8332471" y="1948815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0" name="Text 36"/>
          <p:cNvSpPr/>
          <p:nvPr/>
        </p:nvSpPr>
        <p:spPr>
          <a:xfrm>
            <a:off x="8406765" y="1108710"/>
            <a:ext cx="3829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 06</a:t>
            </a:r>
            <a:endParaRPr lang="en-US" sz="495" dirty="0"/>
          </a:p>
        </p:txBody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1665" y="1417320"/>
            <a:ext cx="628650" cy="62865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418838" y="1680210"/>
            <a:ext cx="23031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92%</a:t>
            </a:r>
            <a:endParaRPr lang="en-US" sz="585" dirty="0"/>
          </a:p>
        </p:txBody>
      </p:sp>
      <p:sp>
        <p:nvSpPr>
          <p:cNvPr id="43" name="Text 38"/>
          <p:cNvSpPr/>
          <p:nvPr/>
        </p:nvSpPr>
        <p:spPr>
          <a:xfrm>
            <a:off x="6901755" y="1464022"/>
            <a:ext cx="198004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ISSUE ENGAGEMENT</a:t>
            </a:r>
            <a:endParaRPr lang="en-US" sz="495" dirty="0"/>
          </a:p>
        </p:txBody>
      </p:sp>
      <p:sp>
        <p:nvSpPr>
          <p:cNvPr id="44" name="Text 39"/>
          <p:cNvSpPr/>
          <p:nvPr/>
        </p:nvSpPr>
        <p:spPr>
          <a:xfrm>
            <a:off x="6901755" y="1584037"/>
            <a:ext cx="1980047" cy="213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30" b="1" spc="23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230</a:t>
            </a:r>
            <a:pPr algn="l" indent="0" marL="0">
              <a:lnSpc>
                <a:spcPct val="110000"/>
              </a:lnSpc>
              <a:buNone/>
            </a:pPr>
            <a:r>
              <a:rPr lang="en-US" sz="720" b="1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+ 条</a:t>
            </a:r>
            <a:endParaRPr lang="en-US" sz="1530" dirty="0"/>
          </a:p>
        </p:txBody>
      </p:sp>
      <p:sp>
        <p:nvSpPr>
          <p:cNvPr id="45" name="Shape 40"/>
          <p:cNvSpPr/>
          <p:nvPr/>
        </p:nvSpPr>
        <p:spPr>
          <a:xfrm>
            <a:off x="6901755" y="1843445"/>
            <a:ext cx="1767900" cy="155734"/>
          </a:xfrm>
          <a:prstGeom prst="rect">
            <a:avLst/>
          </a:prstGeom>
          <a:noFill/>
          <a:ln/>
        </p:spPr>
      </p:sp>
      <p:sp>
        <p:nvSpPr>
          <p:cNvPr id="46" name="Shape 41"/>
          <p:cNvSpPr/>
          <p:nvPr/>
        </p:nvSpPr>
        <p:spPr>
          <a:xfrm>
            <a:off x="6901755" y="1843445"/>
            <a:ext cx="1767900" cy="0"/>
          </a:xfrm>
          <a:prstGeom prst="line">
            <a:avLst/>
          </a:prstGeom>
          <a:noFill/>
          <a:ln w="5715">
            <a:solidFill>
              <a:srgbClr val="2196F3">
                <a:alpha val="30000"/>
              </a:srgbClr>
            </a:solidFill>
            <a:prstDash val="dash"/>
          </a:ln>
        </p:spPr>
      </p:sp>
      <p:sp>
        <p:nvSpPr>
          <p:cNvPr id="47" name="Text 42"/>
          <p:cNvSpPr/>
          <p:nvPr/>
        </p:nvSpPr>
        <p:spPr>
          <a:xfrm>
            <a:off x="6901755" y="1843445"/>
            <a:ext cx="1980047" cy="155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05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DISCUSS</a:t>
            </a:r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注释讨论与建议</a:t>
            </a:r>
            <a:endParaRPr lang="en-US" sz="518" dirty="0"/>
          </a:p>
        </p:txBody>
      </p:sp>
      <p:sp>
        <p:nvSpPr>
          <p:cNvPr id="48" name="Shape 43"/>
          <p:cNvSpPr/>
          <p:nvPr/>
        </p:nvSpPr>
        <p:spPr>
          <a:xfrm>
            <a:off x="6901755" y="1894880"/>
            <a:ext cx="320040" cy="100013"/>
          </a:xfrm>
          <a:prstGeom prst="roundRect">
            <a:avLst>
              <a:gd name="adj" fmla="val 17143"/>
            </a:avLst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901755" y="1894880"/>
            <a:ext cx="371475" cy="100013"/>
          </a:xfrm>
          <a:prstGeom prst="rect">
            <a:avLst/>
          </a:prstGeom>
          <a:noFill/>
          <a:ln/>
        </p:spPr>
        <p:txBody>
          <a:bodyPr wrap="none" lIns="5715" tIns="34290" rIns="34290" bIns="571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05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DISCUSS</a:t>
            </a:r>
            <a:endParaRPr lang="en-US" sz="405" dirty="0"/>
          </a:p>
        </p:txBody>
      </p:sp>
      <p:sp>
        <p:nvSpPr>
          <p:cNvPr id="50" name="Shape 45"/>
          <p:cNvSpPr/>
          <p:nvPr/>
        </p:nvSpPr>
        <p:spPr>
          <a:xfrm>
            <a:off x="342900" y="2520315"/>
            <a:ext cx="2750790" cy="1371600"/>
          </a:xfrm>
          <a:prstGeom prst="roundRect">
            <a:avLst>
              <a:gd name="adj" fmla="val 5833"/>
            </a:avLst>
          </a:prstGeom>
          <a:gradFill rotWithShape="1">
            <a:gsLst>
              <a:gs pos="0">
                <a:srgbClr val="0E1E42">
                  <a:alpha val="85000"/>
                </a:srgbClr>
              </a:gs>
              <a:gs pos="100000">
                <a:srgbClr val="081228">
                  <a:alpha val="90000"/>
                </a:srgbClr>
              </a:gs>
            </a:gsLst>
            <a:lin ang="3000000" scaled="0"/>
          </a:gradFill>
          <a:ln w="5715">
            <a:solidFill>
              <a:srgbClr val="1E3A6B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42900" y="2520315"/>
            <a:ext cx="273936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5FF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2" name="Shape 47"/>
          <p:cNvSpPr/>
          <p:nvPr/>
        </p:nvSpPr>
        <p:spPr>
          <a:xfrm>
            <a:off x="2625060" y="3423285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3" name="Text 48"/>
          <p:cNvSpPr/>
          <p:nvPr/>
        </p:nvSpPr>
        <p:spPr>
          <a:xfrm>
            <a:off x="2699355" y="2583180"/>
            <a:ext cx="3829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 / 06</a:t>
            </a:r>
            <a:endParaRPr lang="en-US" sz="495" dirty="0"/>
          </a:p>
        </p:txBody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345" y="2891790"/>
            <a:ext cx="628650" cy="628650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711518" y="3154680"/>
            <a:ext cx="23031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80%</a:t>
            </a:r>
            <a:endParaRPr lang="en-US" sz="585" dirty="0"/>
          </a:p>
        </p:txBody>
      </p:sp>
      <p:sp>
        <p:nvSpPr>
          <p:cNvPr id="56" name="Text 50"/>
          <p:cNvSpPr/>
          <p:nvPr/>
        </p:nvSpPr>
        <p:spPr>
          <a:xfrm>
            <a:off x="1194435" y="2938492"/>
            <a:ext cx="197994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READING TIME</a:t>
            </a:r>
            <a:endParaRPr lang="en-US" sz="495" dirty="0"/>
          </a:p>
        </p:txBody>
      </p:sp>
      <p:sp>
        <p:nvSpPr>
          <p:cNvPr id="57" name="Text 51"/>
          <p:cNvSpPr/>
          <p:nvPr/>
        </p:nvSpPr>
        <p:spPr>
          <a:xfrm>
            <a:off x="1194435" y="3058507"/>
            <a:ext cx="1979947" cy="213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30" b="1" spc="23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480</a:t>
            </a:r>
            <a:pPr algn="l" indent="0" marL="0">
              <a:lnSpc>
                <a:spcPct val="110000"/>
              </a:lnSpc>
              <a:buNone/>
            </a:pPr>
            <a:r>
              <a:rPr lang="en-US" sz="720" b="1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小时</a:t>
            </a:r>
            <a:endParaRPr lang="en-US" sz="1530" dirty="0"/>
          </a:p>
        </p:txBody>
      </p:sp>
      <p:sp>
        <p:nvSpPr>
          <p:cNvPr id="58" name="Shape 52"/>
          <p:cNvSpPr/>
          <p:nvPr/>
        </p:nvSpPr>
        <p:spPr>
          <a:xfrm>
            <a:off x="1194435" y="3317915"/>
            <a:ext cx="1767810" cy="155734"/>
          </a:xfrm>
          <a:prstGeom prst="rect">
            <a:avLst/>
          </a:prstGeom>
          <a:noFill/>
          <a:ln/>
        </p:spPr>
      </p:sp>
      <p:sp>
        <p:nvSpPr>
          <p:cNvPr id="59" name="Shape 53"/>
          <p:cNvSpPr/>
          <p:nvPr/>
        </p:nvSpPr>
        <p:spPr>
          <a:xfrm>
            <a:off x="1194435" y="3317915"/>
            <a:ext cx="1767810" cy="0"/>
          </a:xfrm>
          <a:prstGeom prst="line">
            <a:avLst/>
          </a:prstGeom>
          <a:noFill/>
          <a:ln w="5715">
            <a:solidFill>
              <a:srgbClr val="2196F3">
                <a:alpha val="30000"/>
              </a:srgbClr>
            </a:solidFill>
            <a:prstDash val="dash"/>
          </a:ln>
        </p:spPr>
      </p:sp>
      <p:sp>
        <p:nvSpPr>
          <p:cNvPr id="60" name="Text 54"/>
          <p:cNvSpPr/>
          <p:nvPr/>
        </p:nvSpPr>
        <p:spPr>
          <a:xfrm>
            <a:off x="1194435" y="3317915"/>
            <a:ext cx="1979947" cy="155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05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MIX</a:t>
            </a:r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含纸质与电子版</a:t>
            </a:r>
            <a:endParaRPr lang="en-US" sz="518" dirty="0"/>
          </a:p>
        </p:txBody>
      </p:sp>
      <p:sp>
        <p:nvSpPr>
          <p:cNvPr id="61" name="Shape 55"/>
          <p:cNvSpPr/>
          <p:nvPr/>
        </p:nvSpPr>
        <p:spPr>
          <a:xfrm>
            <a:off x="1194435" y="3369350"/>
            <a:ext cx="182880" cy="100013"/>
          </a:xfrm>
          <a:prstGeom prst="roundRect">
            <a:avLst>
              <a:gd name="adj" fmla="val 17143"/>
            </a:avLst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1194435" y="3369350"/>
            <a:ext cx="234315" cy="100013"/>
          </a:xfrm>
          <a:prstGeom prst="rect">
            <a:avLst/>
          </a:prstGeom>
          <a:noFill/>
          <a:ln/>
        </p:spPr>
        <p:txBody>
          <a:bodyPr wrap="none" lIns="5715" tIns="34290" rIns="34290" bIns="571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05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MIX</a:t>
            </a:r>
            <a:endParaRPr lang="en-US" sz="405" dirty="0"/>
          </a:p>
        </p:txBody>
      </p:sp>
      <p:sp>
        <p:nvSpPr>
          <p:cNvPr id="63" name="Shape 57"/>
          <p:cNvSpPr/>
          <p:nvPr/>
        </p:nvSpPr>
        <p:spPr>
          <a:xfrm>
            <a:off x="3196560" y="2520315"/>
            <a:ext cx="2750790" cy="1371600"/>
          </a:xfrm>
          <a:prstGeom prst="roundRect">
            <a:avLst>
              <a:gd name="adj" fmla="val 5833"/>
            </a:avLst>
          </a:prstGeom>
          <a:gradFill rotWithShape="1">
            <a:gsLst>
              <a:gs pos="0">
                <a:srgbClr val="0E1E42">
                  <a:alpha val="85000"/>
                </a:srgbClr>
              </a:gs>
              <a:gs pos="100000">
                <a:srgbClr val="081228">
                  <a:alpha val="90000"/>
                </a:srgbClr>
              </a:gs>
            </a:gsLst>
            <a:lin ang="3000000" scaled="0"/>
          </a:gradFill>
          <a:ln w="5715">
            <a:solidFill>
              <a:srgbClr val="1E3A6B"/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3196560" y="2520315"/>
            <a:ext cx="273936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5FF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5" name="Shape 59"/>
          <p:cNvSpPr/>
          <p:nvPr/>
        </p:nvSpPr>
        <p:spPr>
          <a:xfrm>
            <a:off x="5478720" y="3423285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6" name="Text 60"/>
          <p:cNvSpPr/>
          <p:nvPr/>
        </p:nvSpPr>
        <p:spPr>
          <a:xfrm>
            <a:off x="5553015" y="2583180"/>
            <a:ext cx="3829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 / 06</a:t>
            </a:r>
            <a:endParaRPr lang="en-US" sz="495" dirty="0"/>
          </a:p>
        </p:txBody>
      </p:sp>
      <p:pic>
        <p:nvPicPr>
          <p:cNvPr id="6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28005" y="2891790"/>
            <a:ext cx="628650" cy="628650"/>
          </a:xfrm>
          <a:prstGeom prst="rect">
            <a:avLst/>
          </a:prstGeom>
        </p:spPr>
      </p:pic>
      <p:sp>
        <p:nvSpPr>
          <p:cNvPr id="68" name="Text 61"/>
          <p:cNvSpPr/>
          <p:nvPr/>
        </p:nvSpPr>
        <p:spPr>
          <a:xfrm>
            <a:off x="3565178" y="3154680"/>
            <a:ext cx="23031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75%</a:t>
            </a:r>
            <a:endParaRPr lang="en-US" sz="585" dirty="0"/>
          </a:p>
        </p:txBody>
      </p:sp>
      <p:sp>
        <p:nvSpPr>
          <p:cNvPr id="69" name="Text 62"/>
          <p:cNvSpPr/>
          <p:nvPr/>
        </p:nvSpPr>
        <p:spPr>
          <a:xfrm>
            <a:off x="4048095" y="2938492"/>
            <a:ext cx="197994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OUTPUT WORDS</a:t>
            </a:r>
            <a:endParaRPr lang="en-US" sz="495" dirty="0"/>
          </a:p>
        </p:txBody>
      </p:sp>
      <p:sp>
        <p:nvSpPr>
          <p:cNvPr id="70" name="Text 63"/>
          <p:cNvSpPr/>
          <p:nvPr/>
        </p:nvSpPr>
        <p:spPr>
          <a:xfrm>
            <a:off x="4048095" y="3058507"/>
            <a:ext cx="1979947" cy="213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30" b="1" spc="23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12</a:t>
            </a:r>
            <a:pPr algn="l" indent="0" marL="0">
              <a:lnSpc>
                <a:spcPct val="110000"/>
              </a:lnSpc>
              <a:buNone/>
            </a:pPr>
            <a:r>
              <a:rPr lang="en-US" sz="720" b="1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万字</a:t>
            </a:r>
            <a:endParaRPr lang="en-US" sz="1530" dirty="0"/>
          </a:p>
        </p:txBody>
      </p:sp>
      <p:sp>
        <p:nvSpPr>
          <p:cNvPr id="71" name="Shape 64"/>
          <p:cNvSpPr/>
          <p:nvPr/>
        </p:nvSpPr>
        <p:spPr>
          <a:xfrm>
            <a:off x="4048095" y="3317915"/>
            <a:ext cx="1767810" cy="155734"/>
          </a:xfrm>
          <a:prstGeom prst="rect">
            <a:avLst/>
          </a:prstGeom>
          <a:noFill/>
          <a:ln/>
        </p:spPr>
      </p:sp>
      <p:sp>
        <p:nvSpPr>
          <p:cNvPr id="72" name="Shape 65"/>
          <p:cNvSpPr/>
          <p:nvPr/>
        </p:nvSpPr>
        <p:spPr>
          <a:xfrm>
            <a:off x="4048095" y="3317915"/>
            <a:ext cx="1767810" cy="0"/>
          </a:xfrm>
          <a:prstGeom prst="line">
            <a:avLst/>
          </a:prstGeom>
          <a:noFill/>
          <a:ln w="5715">
            <a:solidFill>
              <a:srgbClr val="2196F3">
                <a:alpha val="30000"/>
              </a:srgbClr>
            </a:solidFill>
            <a:prstDash val="dash"/>
          </a:ln>
        </p:spPr>
      </p:sp>
      <p:sp>
        <p:nvSpPr>
          <p:cNvPr id="73" name="Text 66"/>
          <p:cNvSpPr/>
          <p:nvPr/>
        </p:nvSpPr>
        <p:spPr>
          <a:xfrm>
            <a:off x="4048095" y="3317915"/>
            <a:ext cx="1979947" cy="155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05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OUTPUT</a:t>
            </a:r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全年累计输出</a:t>
            </a:r>
            <a:endParaRPr lang="en-US" sz="518" dirty="0"/>
          </a:p>
        </p:txBody>
      </p:sp>
      <p:sp>
        <p:nvSpPr>
          <p:cNvPr id="74" name="Shape 67"/>
          <p:cNvSpPr/>
          <p:nvPr/>
        </p:nvSpPr>
        <p:spPr>
          <a:xfrm>
            <a:off x="4048095" y="3369350"/>
            <a:ext cx="285750" cy="100013"/>
          </a:xfrm>
          <a:prstGeom prst="roundRect">
            <a:avLst>
              <a:gd name="adj" fmla="val 17143"/>
            </a:avLst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75" name="Text 68"/>
          <p:cNvSpPr/>
          <p:nvPr/>
        </p:nvSpPr>
        <p:spPr>
          <a:xfrm>
            <a:off x="4048095" y="3369350"/>
            <a:ext cx="337185" cy="100013"/>
          </a:xfrm>
          <a:prstGeom prst="rect">
            <a:avLst/>
          </a:prstGeom>
          <a:noFill/>
          <a:ln/>
        </p:spPr>
        <p:txBody>
          <a:bodyPr wrap="none" lIns="5715" tIns="34290" rIns="34290" bIns="571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05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OUTPUT</a:t>
            </a:r>
            <a:endParaRPr lang="en-US" sz="405" dirty="0"/>
          </a:p>
        </p:txBody>
      </p:sp>
      <p:sp>
        <p:nvSpPr>
          <p:cNvPr id="76" name="Shape 69"/>
          <p:cNvSpPr/>
          <p:nvPr/>
        </p:nvSpPr>
        <p:spPr>
          <a:xfrm>
            <a:off x="6050220" y="2520315"/>
            <a:ext cx="2750880" cy="1371600"/>
          </a:xfrm>
          <a:prstGeom prst="roundRect">
            <a:avLst>
              <a:gd name="adj" fmla="val 5833"/>
            </a:avLst>
          </a:prstGeom>
          <a:gradFill rotWithShape="1">
            <a:gsLst>
              <a:gs pos="0">
                <a:srgbClr val="0E1E42">
                  <a:alpha val="85000"/>
                </a:srgbClr>
              </a:gs>
              <a:gs pos="100000">
                <a:srgbClr val="081228">
                  <a:alpha val="90000"/>
                </a:srgbClr>
              </a:gs>
            </a:gsLst>
            <a:lin ang="3000000" scaled="0"/>
          </a:gradFill>
          <a:ln w="5715">
            <a:solidFill>
              <a:srgbClr val="1E3A6B"/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6050220" y="2520315"/>
            <a:ext cx="2739451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5FF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8" name="Shape 71"/>
          <p:cNvSpPr/>
          <p:nvPr/>
        </p:nvSpPr>
        <p:spPr>
          <a:xfrm>
            <a:off x="8332471" y="3423285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79" name="Text 72"/>
          <p:cNvSpPr/>
          <p:nvPr/>
        </p:nvSpPr>
        <p:spPr>
          <a:xfrm>
            <a:off x="8406765" y="2583180"/>
            <a:ext cx="3829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06 / 06</a:t>
            </a:r>
            <a:endParaRPr lang="en-US" sz="495" dirty="0"/>
          </a:p>
        </p:txBody>
      </p:sp>
      <p:pic>
        <p:nvPicPr>
          <p:cNvPr id="8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1665" y="2891790"/>
            <a:ext cx="628650" cy="628650"/>
          </a:xfrm>
          <a:prstGeom prst="rect">
            <a:avLst/>
          </a:prstGeom>
        </p:spPr>
      </p:pic>
      <p:sp>
        <p:nvSpPr>
          <p:cNvPr id="81" name="Text 73"/>
          <p:cNvSpPr/>
          <p:nvPr/>
        </p:nvSpPr>
        <p:spPr>
          <a:xfrm>
            <a:off x="6418838" y="3154680"/>
            <a:ext cx="23031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65%</a:t>
            </a:r>
            <a:endParaRPr lang="en-US" sz="585" dirty="0"/>
          </a:p>
        </p:txBody>
      </p:sp>
      <p:sp>
        <p:nvSpPr>
          <p:cNvPr id="82" name="Text 74"/>
          <p:cNvSpPr/>
          <p:nvPr/>
        </p:nvSpPr>
        <p:spPr>
          <a:xfrm>
            <a:off x="6901755" y="2938492"/>
            <a:ext cx="198004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COMMUNITY MEMBERS</a:t>
            </a:r>
            <a:endParaRPr lang="en-US" sz="495" dirty="0"/>
          </a:p>
        </p:txBody>
      </p:sp>
      <p:sp>
        <p:nvSpPr>
          <p:cNvPr id="83" name="Text 75"/>
          <p:cNvSpPr/>
          <p:nvPr/>
        </p:nvSpPr>
        <p:spPr>
          <a:xfrm>
            <a:off x="6901755" y="3058507"/>
            <a:ext cx="1980047" cy="213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30" b="1" spc="23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500</a:t>
            </a:r>
            <a:pPr algn="l" indent="0" marL="0">
              <a:lnSpc>
                <a:spcPct val="110000"/>
              </a:lnSpc>
              <a:buNone/>
            </a:pPr>
            <a:r>
              <a:rPr lang="en-US" sz="720" b="1" spc="23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+ 人</a:t>
            </a:r>
            <a:endParaRPr lang="en-US" sz="1530" dirty="0"/>
          </a:p>
        </p:txBody>
      </p:sp>
      <p:sp>
        <p:nvSpPr>
          <p:cNvPr id="84" name="Shape 76"/>
          <p:cNvSpPr/>
          <p:nvPr/>
        </p:nvSpPr>
        <p:spPr>
          <a:xfrm>
            <a:off x="6901755" y="3317915"/>
            <a:ext cx="1767900" cy="155734"/>
          </a:xfrm>
          <a:prstGeom prst="rect">
            <a:avLst/>
          </a:prstGeom>
          <a:noFill/>
          <a:ln/>
        </p:spPr>
      </p:sp>
      <p:sp>
        <p:nvSpPr>
          <p:cNvPr id="85" name="Shape 77"/>
          <p:cNvSpPr/>
          <p:nvPr/>
        </p:nvSpPr>
        <p:spPr>
          <a:xfrm>
            <a:off x="6901755" y="3317915"/>
            <a:ext cx="1767900" cy="0"/>
          </a:xfrm>
          <a:prstGeom prst="line">
            <a:avLst/>
          </a:prstGeom>
          <a:noFill/>
          <a:ln w="5715">
            <a:solidFill>
              <a:srgbClr val="2196F3">
                <a:alpha val="30000"/>
              </a:srgbClr>
            </a:solidFill>
            <a:prstDash val="dash"/>
          </a:ln>
        </p:spPr>
      </p:sp>
      <p:sp>
        <p:nvSpPr>
          <p:cNvPr id="86" name="Text 78"/>
          <p:cNvSpPr/>
          <p:nvPr/>
        </p:nvSpPr>
        <p:spPr>
          <a:xfrm>
            <a:off x="6901755" y="3317915"/>
            <a:ext cx="1980047" cy="155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05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SELF</a:t>
            </a:r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自建开源兴趣群</a:t>
            </a:r>
            <a:endParaRPr lang="en-US" sz="518" dirty="0"/>
          </a:p>
        </p:txBody>
      </p:sp>
      <p:sp>
        <p:nvSpPr>
          <p:cNvPr id="87" name="Shape 79"/>
          <p:cNvSpPr/>
          <p:nvPr/>
        </p:nvSpPr>
        <p:spPr>
          <a:xfrm>
            <a:off x="6901755" y="3369350"/>
            <a:ext cx="217170" cy="100013"/>
          </a:xfrm>
          <a:prstGeom prst="roundRect">
            <a:avLst>
              <a:gd name="adj" fmla="val 17143"/>
            </a:avLst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88" name="Text 80"/>
          <p:cNvSpPr/>
          <p:nvPr/>
        </p:nvSpPr>
        <p:spPr>
          <a:xfrm>
            <a:off x="6901755" y="3369350"/>
            <a:ext cx="268605" cy="100013"/>
          </a:xfrm>
          <a:prstGeom prst="rect">
            <a:avLst/>
          </a:prstGeom>
          <a:noFill/>
          <a:ln/>
        </p:spPr>
        <p:txBody>
          <a:bodyPr wrap="none" lIns="5715" tIns="34290" rIns="34290" bIns="571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05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SELF</a:t>
            </a:r>
            <a:endParaRPr lang="en-US" sz="405" dirty="0"/>
          </a:p>
        </p:txBody>
      </p:sp>
      <p:sp>
        <p:nvSpPr>
          <p:cNvPr id="89" name="Shape 81"/>
          <p:cNvSpPr/>
          <p:nvPr/>
        </p:nvSpPr>
        <p:spPr>
          <a:xfrm>
            <a:off x="342900" y="3994785"/>
            <a:ext cx="8458200" cy="501491"/>
          </a:xfrm>
          <a:prstGeom prst="roundRect">
            <a:avLst>
              <a:gd name="adj" fmla="val 13675"/>
            </a:avLst>
          </a:prstGeom>
          <a:gradFill rotWithShape="1">
            <a:gsLst>
              <a:gs pos="0">
                <a:srgbClr val="0B1B3A">
                  <a:alpha val="60000"/>
                </a:srgbClr>
              </a:gs>
              <a:gs pos="50000">
                <a:srgbClr val="0E1E42">
                  <a:alpha val="85000"/>
                </a:srgbClr>
              </a:gs>
              <a:gs pos="100000">
                <a:srgbClr val="0B1B3A">
                  <a:alpha val="60000"/>
                </a:srgbClr>
              </a:gs>
            </a:gsLst>
            <a:lin ang="0" scaled="0"/>
          </a:gradFill>
          <a:ln w="5715">
            <a:solidFill>
              <a:srgbClr val="1E3A6B"/>
            </a:solidFill>
            <a:prstDash val="solid"/>
          </a:ln>
        </p:spPr>
      </p:sp>
      <p:sp>
        <p:nvSpPr>
          <p:cNvPr id="90" name="Shape 82"/>
          <p:cNvSpPr/>
          <p:nvPr/>
        </p:nvSpPr>
        <p:spPr>
          <a:xfrm>
            <a:off x="342900" y="3994785"/>
            <a:ext cx="17145" cy="490061"/>
          </a:xfrm>
          <a:prstGeom prst="rect">
            <a:avLst/>
          </a:prstGeom>
          <a:gradFill rotWithShape="1">
            <a:gsLst>
              <a:gs pos="0">
                <a:srgbClr val="00E5FF"/>
              </a:gs>
              <a:gs pos="100000">
                <a:srgbClr val="2196F3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00E5FF">
                <a:alpha val="100000"/>
              </a:srgbClr>
            </a:outerShdw>
          </a:effectLst>
        </p:spPr>
      </p:sp>
      <p:sp>
        <p:nvSpPr>
          <p:cNvPr id="91" name="Text 83"/>
          <p:cNvSpPr/>
          <p:nvPr/>
        </p:nvSpPr>
        <p:spPr>
          <a:xfrm>
            <a:off x="520065" y="4080510"/>
            <a:ext cx="140817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DIM.01</a:t>
            </a:r>
            <a:endParaRPr lang="en-US" sz="450" dirty="0"/>
          </a:p>
        </p:txBody>
      </p:sp>
      <p:sp>
        <p:nvSpPr>
          <p:cNvPr id="92" name="Text 84"/>
          <p:cNvSpPr/>
          <p:nvPr/>
        </p:nvSpPr>
        <p:spPr>
          <a:xfrm>
            <a:off x="520065" y="4183380"/>
            <a:ext cx="140817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代码贡献维度</a:t>
            </a:r>
            <a:endParaRPr lang="en-US" sz="585" dirty="0"/>
          </a:p>
        </p:txBody>
      </p:sp>
      <p:sp>
        <p:nvSpPr>
          <p:cNvPr id="93" name="Text 85"/>
          <p:cNvSpPr/>
          <p:nvPr/>
        </p:nvSpPr>
        <p:spPr>
          <a:xfrm>
            <a:off x="520065" y="4320540"/>
            <a:ext cx="1408176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全年提交 PR 数量、参与仓库数与代码审查活跃度</a:t>
            </a:r>
            <a:endParaRPr lang="en-US" sz="473" dirty="0"/>
          </a:p>
        </p:txBody>
      </p:sp>
      <p:sp>
        <p:nvSpPr>
          <p:cNvPr id="94" name="Shape 86"/>
          <p:cNvSpPr/>
          <p:nvPr/>
        </p:nvSpPr>
        <p:spPr>
          <a:xfrm>
            <a:off x="1834515" y="4114800"/>
            <a:ext cx="5715" cy="26146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E3A6B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95" name="Text 87"/>
          <p:cNvSpPr/>
          <p:nvPr/>
        </p:nvSpPr>
        <p:spPr>
          <a:xfrm>
            <a:off x="1903095" y="4080510"/>
            <a:ext cx="140817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DIM.02</a:t>
            </a:r>
            <a:endParaRPr lang="en-US" sz="450" dirty="0"/>
          </a:p>
        </p:txBody>
      </p:sp>
      <p:sp>
        <p:nvSpPr>
          <p:cNvPr id="96" name="Text 88"/>
          <p:cNvSpPr/>
          <p:nvPr/>
        </p:nvSpPr>
        <p:spPr>
          <a:xfrm>
            <a:off x="1903095" y="4183380"/>
            <a:ext cx="140817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社区互动维度</a:t>
            </a:r>
            <a:endParaRPr lang="en-US" sz="585" dirty="0"/>
          </a:p>
        </p:txBody>
      </p:sp>
      <p:sp>
        <p:nvSpPr>
          <p:cNvPr id="97" name="Text 89"/>
          <p:cNvSpPr/>
          <p:nvPr/>
        </p:nvSpPr>
        <p:spPr>
          <a:xfrm>
            <a:off x="1903095" y="4320540"/>
            <a:ext cx="1408176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讨论、线上活动参与度与社群运营数据</a:t>
            </a:r>
            <a:endParaRPr lang="en-US" sz="473" dirty="0"/>
          </a:p>
        </p:txBody>
      </p:sp>
      <p:sp>
        <p:nvSpPr>
          <p:cNvPr id="98" name="Shape 90"/>
          <p:cNvSpPr/>
          <p:nvPr/>
        </p:nvSpPr>
        <p:spPr>
          <a:xfrm>
            <a:off x="3217545" y="4114800"/>
            <a:ext cx="5715" cy="26146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E3A6B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99" name="Text 91"/>
          <p:cNvSpPr/>
          <p:nvPr/>
        </p:nvSpPr>
        <p:spPr>
          <a:xfrm>
            <a:off x="3286125" y="4080510"/>
            <a:ext cx="140817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DIM.03</a:t>
            </a:r>
            <a:endParaRPr lang="en-US" sz="450" dirty="0"/>
          </a:p>
        </p:txBody>
      </p:sp>
      <p:sp>
        <p:nvSpPr>
          <p:cNvPr id="100" name="Text 92"/>
          <p:cNvSpPr/>
          <p:nvPr/>
        </p:nvSpPr>
        <p:spPr>
          <a:xfrm>
            <a:off x="3286125" y="4183380"/>
            <a:ext cx="140817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知识传播维度</a:t>
            </a:r>
            <a:endParaRPr lang="en-US" sz="585" dirty="0"/>
          </a:p>
        </p:txBody>
      </p:sp>
      <p:sp>
        <p:nvSpPr>
          <p:cNvPr id="101" name="Text 93"/>
          <p:cNvSpPr/>
          <p:nvPr/>
        </p:nvSpPr>
        <p:spPr>
          <a:xfrm>
            <a:off x="3286125" y="4320540"/>
            <a:ext cx="1408176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阅读、写作、分享三类行为的量化对比与趋势</a:t>
            </a:r>
            <a:endParaRPr lang="en-US" sz="473" dirty="0"/>
          </a:p>
        </p:txBody>
      </p:sp>
      <p:sp>
        <p:nvSpPr>
          <p:cNvPr id="102" name="Shape 94"/>
          <p:cNvSpPr/>
          <p:nvPr/>
        </p:nvSpPr>
        <p:spPr>
          <a:xfrm>
            <a:off x="4600575" y="4114800"/>
            <a:ext cx="5715" cy="26146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E3A6B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103" name="Text 95"/>
          <p:cNvSpPr/>
          <p:nvPr/>
        </p:nvSpPr>
        <p:spPr>
          <a:xfrm>
            <a:off x="4669155" y="4080510"/>
            <a:ext cx="140817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DIM.04</a:t>
            </a:r>
            <a:endParaRPr lang="en-US" sz="450" dirty="0"/>
          </a:p>
        </p:txBody>
      </p:sp>
      <p:sp>
        <p:nvSpPr>
          <p:cNvPr id="104" name="Text 96"/>
          <p:cNvSpPr/>
          <p:nvPr/>
        </p:nvSpPr>
        <p:spPr>
          <a:xfrm>
            <a:off x="4669155" y="4183380"/>
            <a:ext cx="140817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成长指标维度</a:t>
            </a:r>
            <a:endParaRPr lang="en-US" sz="585" dirty="0"/>
          </a:p>
        </p:txBody>
      </p:sp>
      <p:sp>
        <p:nvSpPr>
          <p:cNvPr id="105" name="Text 97"/>
          <p:cNvSpPr/>
          <p:nvPr/>
        </p:nvSpPr>
        <p:spPr>
          <a:xfrm>
            <a:off x="4669155" y="4320540"/>
            <a:ext cx="1408176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技术栈拓展、新技能习得与认证获取的年度汇总</a:t>
            </a:r>
            <a:endParaRPr lang="en-US" sz="473" dirty="0"/>
          </a:p>
        </p:txBody>
      </p:sp>
      <p:sp>
        <p:nvSpPr>
          <p:cNvPr id="106" name="Shape 98"/>
          <p:cNvSpPr/>
          <p:nvPr/>
        </p:nvSpPr>
        <p:spPr>
          <a:xfrm>
            <a:off x="5983605" y="4114800"/>
            <a:ext cx="5715" cy="26146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E3A6B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107" name="Text 99"/>
          <p:cNvSpPr/>
          <p:nvPr/>
        </p:nvSpPr>
        <p:spPr>
          <a:xfrm>
            <a:off x="6052185" y="4080510"/>
            <a:ext cx="140817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DIM.05</a:t>
            </a:r>
            <a:endParaRPr lang="en-US" sz="450" dirty="0"/>
          </a:p>
        </p:txBody>
      </p:sp>
      <p:sp>
        <p:nvSpPr>
          <p:cNvPr id="108" name="Text 100"/>
          <p:cNvSpPr/>
          <p:nvPr/>
        </p:nvSpPr>
        <p:spPr>
          <a:xfrm>
            <a:off x="6052185" y="4183380"/>
            <a:ext cx="140817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影响力维度</a:t>
            </a:r>
            <a:endParaRPr lang="en-US" sz="585" dirty="0"/>
          </a:p>
        </p:txBody>
      </p:sp>
      <p:sp>
        <p:nvSpPr>
          <p:cNvPr id="109" name="Text 101"/>
          <p:cNvSpPr/>
          <p:nvPr/>
        </p:nvSpPr>
        <p:spPr>
          <a:xfrm>
            <a:off x="6052185" y="4320540"/>
            <a:ext cx="1408176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文章阅读量、直播互动数与社交媒体关注增长</a:t>
            </a:r>
            <a:endParaRPr lang="en-US" sz="473" dirty="0"/>
          </a:p>
        </p:txBody>
      </p:sp>
      <p:sp>
        <p:nvSpPr>
          <p:cNvPr id="110" name="Shape 102"/>
          <p:cNvSpPr/>
          <p:nvPr/>
        </p:nvSpPr>
        <p:spPr>
          <a:xfrm>
            <a:off x="7366635" y="4114800"/>
            <a:ext cx="5715" cy="26146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E3A6B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111" name="Text 103"/>
          <p:cNvSpPr/>
          <p:nvPr/>
        </p:nvSpPr>
        <p:spPr>
          <a:xfrm>
            <a:off x="7435215" y="4080510"/>
            <a:ext cx="140817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DIM.06</a:t>
            </a:r>
            <a:endParaRPr lang="en-US" sz="450" dirty="0"/>
          </a:p>
        </p:txBody>
      </p:sp>
      <p:sp>
        <p:nvSpPr>
          <p:cNvPr id="112" name="Text 104"/>
          <p:cNvSpPr/>
          <p:nvPr/>
        </p:nvSpPr>
        <p:spPr>
          <a:xfrm>
            <a:off x="7435215" y="4183380"/>
            <a:ext cx="140817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投入产出维度</a:t>
            </a:r>
            <a:endParaRPr lang="en-US" sz="585" dirty="0"/>
          </a:p>
        </p:txBody>
      </p:sp>
      <p:sp>
        <p:nvSpPr>
          <p:cNvPr id="113" name="Text 105"/>
          <p:cNvSpPr/>
          <p:nvPr/>
        </p:nvSpPr>
        <p:spPr>
          <a:xfrm>
            <a:off x="7435215" y="4320540"/>
            <a:ext cx="1408176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时间投入与产出成果的量化分析与 ROI 估算</a:t>
            </a:r>
            <a:endParaRPr lang="en-US" sz="473" dirty="0"/>
          </a:p>
        </p:txBody>
      </p:sp>
      <p:sp>
        <p:nvSpPr>
          <p:cNvPr id="114" name="Text 106"/>
          <p:cNvSpPr/>
          <p:nvPr/>
        </p:nvSpPr>
        <p:spPr>
          <a:xfrm>
            <a:off x="342900" y="4553426"/>
            <a:ext cx="1536192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[ 2021 · OPEN SOURCE JOURNEY ]</a:t>
            </a:r>
            <a:endParaRPr lang="en-US" sz="450" dirty="0"/>
          </a:p>
        </p:txBody>
      </p:sp>
      <p:sp>
        <p:nvSpPr>
          <p:cNvPr id="115" name="Text 107"/>
          <p:cNvSpPr/>
          <p:nvPr/>
        </p:nvSpPr>
        <p:spPr>
          <a:xfrm>
            <a:off x="1783080" y="4553426"/>
            <a:ext cx="10287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·</a:t>
            </a:r>
            <a:endParaRPr lang="en-US" sz="450" dirty="0"/>
          </a:p>
        </p:txBody>
      </p:sp>
      <p:sp>
        <p:nvSpPr>
          <p:cNvPr id="116" name="Text 108"/>
          <p:cNvSpPr/>
          <p:nvPr/>
        </p:nvSpPr>
        <p:spPr>
          <a:xfrm>
            <a:off x="1897380" y="4553426"/>
            <a:ext cx="870509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DATA SUMMARY v1.0</a:t>
            </a:r>
            <a:endParaRPr lang="en-US" sz="450" dirty="0"/>
          </a:p>
        </p:txBody>
      </p:sp>
      <p:sp>
        <p:nvSpPr>
          <p:cNvPr id="117" name="Text 109"/>
          <p:cNvSpPr/>
          <p:nvPr/>
        </p:nvSpPr>
        <p:spPr>
          <a:xfrm>
            <a:off x="6926580" y="4553426"/>
            <a:ext cx="117774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SIX-DIMENSION DASHBOARD</a:t>
            </a:r>
            <a:endParaRPr lang="en-US" sz="450" dirty="0"/>
          </a:p>
        </p:txBody>
      </p:sp>
      <p:sp>
        <p:nvSpPr>
          <p:cNvPr id="118" name="Text 110"/>
          <p:cNvSpPr/>
          <p:nvPr/>
        </p:nvSpPr>
        <p:spPr>
          <a:xfrm>
            <a:off x="8023860" y="4553426"/>
            <a:ext cx="10287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·</a:t>
            </a:r>
            <a:endParaRPr lang="en-US" sz="450" dirty="0"/>
          </a:p>
        </p:txBody>
      </p:sp>
      <p:sp>
        <p:nvSpPr>
          <p:cNvPr id="119" name="Text 111"/>
          <p:cNvSpPr/>
          <p:nvPr/>
        </p:nvSpPr>
        <p:spPr>
          <a:xfrm>
            <a:off x="8115300" y="4553426"/>
            <a:ext cx="76809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YEAR-END REPORT</a:t>
            </a:r>
            <a:endParaRPr lang="en-US" sz="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71024"/>
              </a:gs>
              <a:gs pos="40000">
                <a:srgbClr val="0A1832"/>
              </a:gs>
              <a:gs pos="70000">
                <a:srgbClr val="0C1F42"/>
              </a:gs>
              <a:gs pos="100000">
                <a:srgbClr val="0A1428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3429000" y="1428750"/>
            <a:ext cx="2286000" cy="2286000"/>
          </a:xfrm>
          <a:prstGeom prst="ellipse">
            <a:avLst/>
          </a:prstGeom>
          <a:gradFill rotWithShape="1">
            <a:gsLst>
              <a:gs pos="0">
                <a:srgbClr val="00E5FF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342900" y="228600"/>
            <a:ext cx="1125855" cy="148590"/>
          </a:xfrm>
          <a:prstGeom prst="roundRect">
            <a:avLst>
              <a:gd name="adj" fmla="val 76923"/>
            </a:avLst>
          </a:prstGeom>
          <a:solidFill>
            <a:srgbClr val="00E5FF">
              <a:alpha val="6000"/>
            </a:srgbClr>
          </a:solidFill>
          <a:ln w="5715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" y="228600"/>
            <a:ext cx="1260958" cy="148590"/>
          </a:xfrm>
          <a:prstGeom prst="rect">
            <a:avLst/>
          </a:prstGeom>
          <a:noFill/>
          <a:ln/>
        </p:spPr>
        <p:txBody>
          <a:bodyPr wrap="square" lIns="22860" tIns="68580" rIns="68580" bIns="22860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 CULTURE</a:t>
            </a:r>
            <a:endParaRPr lang="en-US" sz="540" dirty="0"/>
          </a:p>
        </p:txBody>
      </p:sp>
      <p:sp>
        <p:nvSpPr>
          <p:cNvPr id="7" name="Shape 5"/>
          <p:cNvSpPr/>
          <p:nvPr/>
        </p:nvSpPr>
        <p:spPr>
          <a:xfrm>
            <a:off x="1560195" y="297180"/>
            <a:ext cx="457200" cy="11430"/>
          </a:xfrm>
          <a:prstGeom prst="rect">
            <a:avLst/>
          </a:prstGeom>
          <a:gradFill rotWithShape="1">
            <a:gsLst>
              <a:gs pos="0">
                <a:srgbClr val="00E5FF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342900" y="445770"/>
            <a:ext cx="1945843" cy="29718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00E5FF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620" b="1" spc="90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开源文化深度思考</a:t>
            </a:r>
            <a:endParaRPr lang="en-US" sz="1620" dirty="0"/>
          </a:p>
        </p:txBody>
      </p:sp>
      <p:sp>
        <p:nvSpPr>
          <p:cNvPr id="9" name="Shape 7"/>
          <p:cNvSpPr/>
          <p:nvPr/>
        </p:nvSpPr>
        <p:spPr>
          <a:xfrm>
            <a:off x="342900" y="811530"/>
            <a:ext cx="8001000" cy="179397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342900" y="811530"/>
            <a:ext cx="0" cy="179397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" y="811530"/>
            <a:ext cx="8961120" cy="179397"/>
          </a:xfrm>
          <a:prstGeom prst="rect">
            <a:avLst/>
          </a:prstGeom>
          <a:noFill/>
          <a:ln/>
        </p:spPr>
        <p:txBody>
          <a:bodyPr wrap="square" lIns="22860" tIns="80010" rIns="0" bIns="22860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开源不仅仅是代码的集合，更是一种文化。透明、协作、包容、信任——这些价值观塑造了开源的独特气质，也指引着每一位参与者的行为准则。</a:t>
            </a:r>
            <a:endParaRPr lang="en-US" sz="585" dirty="0"/>
          </a:p>
        </p:txBody>
      </p:sp>
      <p:sp>
        <p:nvSpPr>
          <p:cNvPr id="12" name="Shape 10"/>
          <p:cNvSpPr/>
          <p:nvPr/>
        </p:nvSpPr>
        <p:spPr>
          <a:xfrm>
            <a:off x="342900" y="1128087"/>
            <a:ext cx="4189095" cy="1424732"/>
          </a:xfrm>
          <a:prstGeom prst="roundRect">
            <a:avLst>
              <a:gd name="adj" fmla="val 4814"/>
            </a:avLst>
          </a:prstGeom>
          <a:gradFill rotWithShape="1">
            <a:gsLst>
              <a:gs pos="0">
                <a:srgbClr val="10203E">
                  <a:alpha val="90000"/>
                </a:srgbClr>
              </a:gs>
              <a:gs pos="100000">
                <a:srgbClr val="0E1B33">
                  <a:alpha val="90000"/>
                </a:srgbClr>
              </a:gs>
            </a:gsLst>
            <a:lin ang="2700000" scaled="0"/>
          </a:gradFill>
          <a:ln w="17145">
            <a:solidFill>
              <a:srgbClr val="00E5FF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" y="1128087"/>
            <a:ext cx="416623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0" scaled="0"/>
          </a:gradFill>
          <a:ln/>
        </p:spPr>
      </p:sp>
      <p:sp>
        <p:nvSpPr>
          <p:cNvPr id="14" name="Shape 12"/>
          <p:cNvSpPr/>
          <p:nvPr/>
        </p:nvSpPr>
        <p:spPr>
          <a:xfrm>
            <a:off x="4051935" y="899487"/>
            <a:ext cx="685800" cy="685800"/>
          </a:xfrm>
          <a:prstGeom prst="ellipse">
            <a:avLst/>
          </a:prstGeom>
          <a:gradFill rotWithShape="1">
            <a:gsLst>
              <a:gs pos="0">
                <a:srgbClr val="00E5FF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5" name="Text 13"/>
          <p:cNvSpPr/>
          <p:nvPr/>
        </p:nvSpPr>
        <p:spPr>
          <a:xfrm>
            <a:off x="485775" y="1597253"/>
            <a:ext cx="438454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E5FF">
                    <a:alpha val="7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QUADRANT / 01</a:t>
            </a:r>
            <a:endParaRPr lang="en-US" sz="495" dirty="0"/>
          </a:p>
        </p:txBody>
      </p:sp>
      <p:sp>
        <p:nvSpPr>
          <p:cNvPr id="16" name="Text 14"/>
          <p:cNvSpPr/>
          <p:nvPr/>
        </p:nvSpPr>
        <p:spPr>
          <a:xfrm>
            <a:off x="485775" y="1717268"/>
            <a:ext cx="43845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⬡</a:t>
            </a:r>
            <a:endParaRPr lang="en-US" sz="945" dirty="0"/>
          </a:p>
          <a:p>
            <a:pPr algn="l" indent="0" marL="0">
              <a:buNone/>
            </a:pPr>
            <a:r>
              <a:rPr lang="en-US" sz="945" b="1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协作即创造</a:t>
            </a:r>
            <a:endParaRPr lang="en-US" sz="945" dirty="0"/>
          </a:p>
        </p:txBody>
      </p:sp>
      <p:sp>
        <p:nvSpPr>
          <p:cNvPr id="17" name="Shape 15"/>
          <p:cNvSpPr/>
          <p:nvPr/>
        </p:nvSpPr>
        <p:spPr>
          <a:xfrm>
            <a:off x="485775" y="171726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775" y="1717268"/>
            <a:ext cx="2628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⬡</a:t>
            </a:r>
            <a:endParaRPr lang="en-US" sz="630" dirty="0"/>
          </a:p>
        </p:txBody>
      </p:sp>
      <p:sp>
        <p:nvSpPr>
          <p:cNvPr id="19" name="Text 17"/>
          <p:cNvSpPr/>
          <p:nvPr/>
        </p:nvSpPr>
        <p:spPr>
          <a:xfrm>
            <a:off x="485775" y="1957298"/>
            <a:ext cx="4384548" cy="12626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开源的核心不是免费，而是透明协作带来的指数级创新效率</a:t>
            </a:r>
            <a:endParaRPr lang="en-US" sz="585" dirty="0"/>
          </a:p>
        </p:txBody>
      </p:sp>
      <p:sp>
        <p:nvSpPr>
          <p:cNvPr id="20" name="Shape 18"/>
          <p:cNvSpPr/>
          <p:nvPr/>
        </p:nvSpPr>
        <p:spPr>
          <a:xfrm>
            <a:off x="4612005" y="1128087"/>
            <a:ext cx="4189095" cy="1424732"/>
          </a:xfrm>
          <a:prstGeom prst="roundRect">
            <a:avLst>
              <a:gd name="adj" fmla="val 4814"/>
            </a:avLst>
          </a:prstGeom>
          <a:gradFill rotWithShape="1">
            <a:gsLst>
              <a:gs pos="0">
                <a:srgbClr val="10203E">
                  <a:alpha val="90000"/>
                </a:srgbClr>
              </a:gs>
              <a:gs pos="100000">
                <a:srgbClr val="0E1B33">
                  <a:alpha val="90000"/>
                </a:srgbClr>
              </a:gs>
            </a:gsLst>
            <a:lin ang="2700000" scaled="0"/>
          </a:gradFill>
          <a:ln w="17145">
            <a:solidFill>
              <a:srgbClr val="00E5FF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2005" y="1128087"/>
            <a:ext cx="416623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0" scaled="0"/>
          </a:gradFill>
          <a:ln/>
        </p:spPr>
      </p:sp>
      <p:sp>
        <p:nvSpPr>
          <p:cNvPr id="22" name="Shape 20"/>
          <p:cNvSpPr/>
          <p:nvPr/>
        </p:nvSpPr>
        <p:spPr>
          <a:xfrm>
            <a:off x="4383405" y="899487"/>
            <a:ext cx="685800" cy="685800"/>
          </a:xfrm>
          <a:prstGeom prst="ellipse">
            <a:avLst/>
          </a:prstGeom>
          <a:gradFill rotWithShape="1">
            <a:gsLst>
              <a:gs pos="0">
                <a:srgbClr val="00E5FF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3" name="Text 21"/>
          <p:cNvSpPr/>
          <p:nvPr/>
        </p:nvSpPr>
        <p:spPr>
          <a:xfrm>
            <a:off x="4743450" y="1597253"/>
            <a:ext cx="438454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E5FF">
                    <a:alpha val="7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QUADRANT / 02</a:t>
            </a:r>
            <a:endParaRPr lang="en-US" sz="495" dirty="0"/>
          </a:p>
        </p:txBody>
      </p:sp>
      <p:sp>
        <p:nvSpPr>
          <p:cNvPr id="24" name="Text 22"/>
          <p:cNvSpPr/>
          <p:nvPr/>
        </p:nvSpPr>
        <p:spPr>
          <a:xfrm>
            <a:off x="4743450" y="1717268"/>
            <a:ext cx="43845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◈</a:t>
            </a:r>
            <a:endParaRPr lang="en-US" sz="945" dirty="0"/>
          </a:p>
          <a:p>
            <a:pPr algn="l" indent="0" marL="0">
              <a:buNone/>
            </a:pPr>
            <a:r>
              <a:rPr lang="en-US" sz="945" b="1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信任与声誉</a:t>
            </a:r>
            <a:endParaRPr lang="en-US" sz="945" dirty="0"/>
          </a:p>
        </p:txBody>
      </p:sp>
      <p:sp>
        <p:nvSpPr>
          <p:cNvPr id="25" name="Shape 23"/>
          <p:cNvSpPr/>
          <p:nvPr/>
        </p:nvSpPr>
        <p:spPr>
          <a:xfrm>
            <a:off x="4743450" y="171726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3450" y="1717268"/>
            <a:ext cx="2628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◈</a:t>
            </a:r>
            <a:endParaRPr lang="en-US" sz="630" dirty="0"/>
          </a:p>
        </p:txBody>
      </p:sp>
      <p:sp>
        <p:nvSpPr>
          <p:cNvPr id="27" name="Text 25"/>
          <p:cNvSpPr/>
          <p:nvPr/>
        </p:nvSpPr>
        <p:spPr>
          <a:xfrm>
            <a:off x="4743450" y="1957298"/>
            <a:ext cx="4384548" cy="12626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在开源社区，代码即人品，长期积累贡献构建不可替代的信任资本</a:t>
            </a:r>
            <a:endParaRPr lang="en-US" sz="585" dirty="0"/>
          </a:p>
        </p:txBody>
      </p:sp>
      <p:sp>
        <p:nvSpPr>
          <p:cNvPr id="28" name="Shape 26"/>
          <p:cNvSpPr/>
          <p:nvPr/>
        </p:nvSpPr>
        <p:spPr>
          <a:xfrm>
            <a:off x="342900" y="2632829"/>
            <a:ext cx="4189095" cy="1424821"/>
          </a:xfrm>
          <a:prstGeom prst="roundRect">
            <a:avLst>
              <a:gd name="adj" fmla="val 4813"/>
            </a:avLst>
          </a:prstGeom>
          <a:gradFill rotWithShape="1">
            <a:gsLst>
              <a:gs pos="0">
                <a:srgbClr val="10203E">
                  <a:alpha val="90000"/>
                </a:srgbClr>
              </a:gs>
              <a:gs pos="100000">
                <a:srgbClr val="0E1B33">
                  <a:alpha val="90000"/>
                </a:srgbClr>
              </a:gs>
            </a:gsLst>
            <a:lin ang="2700000" scaled="0"/>
          </a:gradFill>
          <a:ln w="1714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" y="2632829"/>
            <a:ext cx="416623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0" scaled="0"/>
          </a:gradFill>
          <a:ln/>
        </p:spPr>
      </p:sp>
      <p:sp>
        <p:nvSpPr>
          <p:cNvPr id="30" name="Shape 28"/>
          <p:cNvSpPr/>
          <p:nvPr/>
        </p:nvSpPr>
        <p:spPr>
          <a:xfrm>
            <a:off x="4051935" y="3589017"/>
            <a:ext cx="685800" cy="685800"/>
          </a:xfrm>
          <a:prstGeom prst="ellipse">
            <a:avLst/>
          </a:prstGeom>
          <a:gradFill rotWithShape="1">
            <a:gsLst>
              <a:gs pos="0">
                <a:srgbClr val="00E5FF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1" name="Text 29"/>
          <p:cNvSpPr/>
          <p:nvPr/>
        </p:nvSpPr>
        <p:spPr>
          <a:xfrm>
            <a:off x="485775" y="3102084"/>
            <a:ext cx="438454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E5FF">
                    <a:alpha val="7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QUADRANT / 03</a:t>
            </a:r>
            <a:endParaRPr lang="en-US" sz="495" dirty="0"/>
          </a:p>
        </p:txBody>
      </p:sp>
      <p:sp>
        <p:nvSpPr>
          <p:cNvPr id="32" name="Text 30"/>
          <p:cNvSpPr/>
          <p:nvPr/>
        </p:nvSpPr>
        <p:spPr>
          <a:xfrm>
            <a:off x="485775" y="3222099"/>
            <a:ext cx="43845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▤</a:t>
            </a:r>
            <a:endParaRPr lang="en-US" sz="945" dirty="0"/>
          </a:p>
          <a:p>
            <a:pPr algn="l" indent="0" marL="0">
              <a:buNone/>
            </a:pPr>
            <a:r>
              <a:rPr lang="en-US" sz="945" b="1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文档即产品</a:t>
            </a:r>
            <a:endParaRPr lang="en-US" sz="945" dirty="0"/>
          </a:p>
        </p:txBody>
      </p:sp>
      <p:sp>
        <p:nvSpPr>
          <p:cNvPr id="33" name="Shape 31"/>
          <p:cNvSpPr/>
          <p:nvPr/>
        </p:nvSpPr>
        <p:spPr>
          <a:xfrm>
            <a:off x="485775" y="3222099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5775" y="3222099"/>
            <a:ext cx="2628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▤</a:t>
            </a:r>
            <a:endParaRPr lang="en-US" sz="630" dirty="0"/>
          </a:p>
        </p:txBody>
      </p:sp>
      <p:sp>
        <p:nvSpPr>
          <p:cNvPr id="35" name="Text 33"/>
          <p:cNvSpPr/>
          <p:nvPr/>
        </p:nvSpPr>
        <p:spPr>
          <a:xfrm>
            <a:off x="485775" y="3462129"/>
            <a:ext cx="4384548" cy="12626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优秀的文档让项目被更多人使用，也让更多人愿意参与贡献</a:t>
            </a:r>
            <a:endParaRPr lang="en-US" sz="585" dirty="0"/>
          </a:p>
        </p:txBody>
      </p:sp>
      <p:sp>
        <p:nvSpPr>
          <p:cNvPr id="36" name="Shape 34"/>
          <p:cNvSpPr/>
          <p:nvPr/>
        </p:nvSpPr>
        <p:spPr>
          <a:xfrm>
            <a:off x="4612005" y="2632829"/>
            <a:ext cx="4189095" cy="1424821"/>
          </a:xfrm>
          <a:prstGeom prst="roundRect">
            <a:avLst>
              <a:gd name="adj" fmla="val 4813"/>
            </a:avLst>
          </a:prstGeom>
          <a:gradFill rotWithShape="1">
            <a:gsLst>
              <a:gs pos="0">
                <a:srgbClr val="10203E">
                  <a:alpha val="90000"/>
                </a:srgbClr>
              </a:gs>
              <a:gs pos="100000">
                <a:srgbClr val="0E1B33">
                  <a:alpha val="90000"/>
                </a:srgbClr>
              </a:gs>
            </a:gsLst>
            <a:lin ang="2700000" scaled="0"/>
          </a:gradFill>
          <a:ln w="1714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2005" y="2632829"/>
            <a:ext cx="416623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0" scaled="0"/>
          </a:gradFill>
          <a:ln/>
        </p:spPr>
      </p:sp>
      <p:sp>
        <p:nvSpPr>
          <p:cNvPr id="38" name="Shape 36"/>
          <p:cNvSpPr/>
          <p:nvPr/>
        </p:nvSpPr>
        <p:spPr>
          <a:xfrm>
            <a:off x="4383405" y="3589017"/>
            <a:ext cx="685800" cy="685800"/>
          </a:xfrm>
          <a:prstGeom prst="ellipse">
            <a:avLst/>
          </a:prstGeom>
          <a:gradFill rotWithShape="1">
            <a:gsLst>
              <a:gs pos="0">
                <a:srgbClr val="00E5FF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9" name="Text 37"/>
          <p:cNvSpPr/>
          <p:nvPr/>
        </p:nvSpPr>
        <p:spPr>
          <a:xfrm>
            <a:off x="4743450" y="3102084"/>
            <a:ext cx="438454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E5FF">
                    <a:alpha val="7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QUADRANT / 04</a:t>
            </a:r>
            <a:endParaRPr lang="en-US" sz="495" dirty="0"/>
          </a:p>
        </p:txBody>
      </p:sp>
      <p:sp>
        <p:nvSpPr>
          <p:cNvPr id="40" name="Text 38"/>
          <p:cNvSpPr/>
          <p:nvPr/>
        </p:nvSpPr>
        <p:spPr>
          <a:xfrm>
            <a:off x="4743450" y="3222099"/>
            <a:ext cx="43845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◉</a:t>
            </a:r>
            <a:endParaRPr lang="en-US" sz="945" dirty="0"/>
          </a:p>
          <a:p>
            <a:pPr algn="l" indent="0" marL="0">
              <a:buNone/>
            </a:pPr>
            <a:r>
              <a:rPr lang="en-US" sz="945" b="1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多元与包容</a:t>
            </a:r>
            <a:endParaRPr lang="en-US" sz="945" dirty="0"/>
          </a:p>
        </p:txBody>
      </p:sp>
      <p:sp>
        <p:nvSpPr>
          <p:cNvPr id="41" name="Shape 39"/>
          <p:cNvSpPr/>
          <p:nvPr/>
        </p:nvSpPr>
        <p:spPr>
          <a:xfrm>
            <a:off x="4743450" y="3222099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43450" y="3222099"/>
            <a:ext cx="2628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◉</a:t>
            </a:r>
            <a:endParaRPr lang="en-US" sz="630" dirty="0"/>
          </a:p>
        </p:txBody>
      </p:sp>
      <p:sp>
        <p:nvSpPr>
          <p:cNvPr id="43" name="Text 41"/>
          <p:cNvSpPr/>
          <p:nvPr/>
        </p:nvSpPr>
        <p:spPr>
          <a:xfrm>
            <a:off x="4743450" y="3462129"/>
            <a:ext cx="4384548" cy="12626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全球开放的社区文化鼓励不同背景的人贡献，多样性驱动创新</a:t>
            </a:r>
            <a:endParaRPr lang="en-US" sz="585" dirty="0"/>
          </a:p>
        </p:txBody>
      </p:sp>
      <p:sp>
        <p:nvSpPr>
          <p:cNvPr id="44" name="Shape 42"/>
          <p:cNvSpPr/>
          <p:nvPr/>
        </p:nvSpPr>
        <p:spPr>
          <a:xfrm>
            <a:off x="4572000" y="2592825"/>
            <a:ext cx="342900" cy="342900"/>
          </a:xfrm>
          <a:prstGeom prst="ellipse">
            <a:avLst/>
          </a:prstGeom>
          <a:gradFill rotWithShape="1">
            <a:gsLst>
              <a:gs pos="0">
                <a:srgbClr val="00E5FF">
                  <a:alpha val="2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5" name="Shape 43"/>
          <p:cNvSpPr/>
          <p:nvPr/>
        </p:nvSpPr>
        <p:spPr>
          <a:xfrm>
            <a:off x="342900" y="4160520"/>
            <a:ext cx="2766060" cy="548640"/>
          </a:xfrm>
          <a:prstGeom prst="roundRect">
            <a:avLst>
              <a:gd name="adj" fmla="val 10417"/>
            </a:avLst>
          </a:prstGeom>
          <a:gradFill rotWithShape="1">
            <a:gsLst>
              <a:gs pos="0">
                <a:srgbClr val="00E5FF">
                  <a:alpha val="12000"/>
                </a:srgbClr>
              </a:gs>
              <a:gs pos="100000">
                <a:srgbClr val="2196F3">
                  <a:alpha val="6000"/>
                </a:srgbClr>
              </a:gs>
            </a:gsLst>
            <a:lin ang="2700000" scaled="0"/>
          </a:gradFill>
          <a:ln w="5715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11780" y="3989070"/>
            <a:ext cx="457200" cy="457200"/>
          </a:xfrm>
          <a:prstGeom prst="ellipse">
            <a:avLst/>
          </a:prstGeom>
          <a:gradFill rotWithShape="1">
            <a:gsLst>
              <a:gs pos="0">
                <a:srgbClr val="00E5FF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7" name="Text 45"/>
          <p:cNvSpPr/>
          <p:nvPr/>
        </p:nvSpPr>
        <p:spPr>
          <a:xfrm>
            <a:off x="462915" y="4343400"/>
            <a:ext cx="694944" cy="182880"/>
          </a:xfrm>
          <a:prstGeom prst="rect">
            <a:avLst/>
          </a:prstGeom>
          <a:noFill/>
          <a:ln/>
          <a:effectLst>
            <a:outerShdw sx="100000" sy="100000" kx="0" ky="0" algn="bl" rotWithShape="0" blurRad="85725" dist="50800" dir="5400000">
              <a:srgbClr val="00E5FF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170+</a:t>
            </a:r>
            <a:endParaRPr lang="en-US" sz="1440" dirty="0"/>
          </a:p>
        </p:txBody>
      </p:sp>
      <p:sp>
        <p:nvSpPr>
          <p:cNvPr id="48" name="Text 46"/>
          <p:cNvSpPr/>
          <p:nvPr/>
        </p:nvSpPr>
        <p:spPr>
          <a:xfrm>
            <a:off x="1000125" y="4286875"/>
            <a:ext cx="222747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CNCF 项目数</a:t>
            </a:r>
            <a:endParaRPr lang="en-US" sz="540" dirty="0"/>
          </a:p>
        </p:txBody>
      </p:sp>
      <p:sp>
        <p:nvSpPr>
          <p:cNvPr id="49" name="Text 47"/>
          <p:cNvSpPr/>
          <p:nvPr/>
        </p:nvSpPr>
        <p:spPr>
          <a:xfrm>
            <a:off x="1000125" y="4406890"/>
            <a:ext cx="2227478" cy="175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截至 2021 年底，CNCF 基金会托管的成熟与孵化项目总数持续高速增长</a:t>
            </a:r>
            <a:endParaRPr lang="en-US" sz="495" dirty="0"/>
          </a:p>
        </p:txBody>
      </p:sp>
      <p:sp>
        <p:nvSpPr>
          <p:cNvPr id="50" name="Shape 48"/>
          <p:cNvSpPr/>
          <p:nvPr/>
        </p:nvSpPr>
        <p:spPr>
          <a:xfrm>
            <a:off x="3188970" y="4160520"/>
            <a:ext cx="2766060" cy="548640"/>
          </a:xfrm>
          <a:prstGeom prst="roundRect">
            <a:avLst>
              <a:gd name="adj" fmla="val 10417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E5FF">
                  <a:alpha val="6000"/>
                </a:srgbClr>
              </a:gs>
            </a:gsLst>
            <a:lin ang="2700000" scaled="0"/>
          </a:gradFill>
          <a:ln w="5715">
            <a:solidFill>
              <a:srgbClr val="00E5FF">
                <a:alpha val="2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57850" y="3989070"/>
            <a:ext cx="457200" cy="457200"/>
          </a:xfrm>
          <a:prstGeom prst="ellipse">
            <a:avLst/>
          </a:prstGeom>
          <a:gradFill rotWithShape="1">
            <a:gsLst>
              <a:gs pos="0">
                <a:srgbClr val="00E5FF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2" name="Text 50"/>
          <p:cNvSpPr/>
          <p:nvPr/>
        </p:nvSpPr>
        <p:spPr>
          <a:xfrm>
            <a:off x="3308985" y="4343400"/>
            <a:ext cx="800100" cy="182880"/>
          </a:xfrm>
          <a:prstGeom prst="rect">
            <a:avLst/>
          </a:prstGeom>
          <a:noFill/>
          <a:ln/>
          <a:effectLst>
            <a:outerShdw sx="100000" sy="100000" kx="0" ky="0" algn="bl" rotWithShape="0" blurRad="85725" dist="50800" dir="5400000">
              <a:srgbClr val="00E5FF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100万+</a:t>
            </a:r>
            <a:endParaRPr lang="en-US" sz="1440" dirty="0"/>
          </a:p>
        </p:txBody>
      </p:sp>
      <p:sp>
        <p:nvSpPr>
          <p:cNvPr id="53" name="Text 51"/>
          <p:cNvSpPr/>
          <p:nvPr/>
        </p:nvSpPr>
        <p:spPr>
          <a:xfrm>
            <a:off x="4029075" y="4330809"/>
            <a:ext cx="165140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全球贡献者</a:t>
            </a:r>
            <a:endParaRPr lang="en-US" sz="540" dirty="0"/>
          </a:p>
        </p:txBody>
      </p:sp>
      <p:sp>
        <p:nvSpPr>
          <p:cNvPr id="54" name="Text 52"/>
          <p:cNvSpPr/>
          <p:nvPr/>
        </p:nvSpPr>
        <p:spPr>
          <a:xfrm>
            <a:off x="4029075" y="4450824"/>
            <a:ext cx="1651406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活跃贡献者规模，覆盖全球 190+ 国家和地区</a:t>
            </a:r>
            <a:endParaRPr lang="en-US" sz="495" dirty="0"/>
          </a:p>
        </p:txBody>
      </p:sp>
      <p:sp>
        <p:nvSpPr>
          <p:cNvPr id="55" name="Shape 53"/>
          <p:cNvSpPr/>
          <p:nvPr/>
        </p:nvSpPr>
        <p:spPr>
          <a:xfrm>
            <a:off x="6035040" y="4160520"/>
            <a:ext cx="2766060" cy="548640"/>
          </a:xfrm>
          <a:prstGeom prst="roundRect">
            <a:avLst>
              <a:gd name="adj" fmla="val 10417"/>
            </a:avLst>
          </a:prstGeom>
          <a:gradFill rotWithShape="1">
            <a:gsLst>
              <a:gs pos="0">
                <a:srgbClr val="00E5FF">
                  <a:alpha val="12000"/>
                </a:srgbClr>
              </a:gs>
              <a:gs pos="100000">
                <a:srgbClr val="2196F3">
                  <a:alpha val="6000"/>
                </a:srgbClr>
              </a:gs>
            </a:gsLst>
            <a:lin ang="2700000" scaled="0"/>
          </a:gradFill>
          <a:ln w="5715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03920" y="3989070"/>
            <a:ext cx="457200" cy="457200"/>
          </a:xfrm>
          <a:prstGeom prst="ellipse">
            <a:avLst/>
          </a:prstGeom>
          <a:gradFill rotWithShape="1">
            <a:gsLst>
              <a:gs pos="0">
                <a:srgbClr val="00E5FF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7" name="Text 55"/>
          <p:cNvSpPr/>
          <p:nvPr/>
        </p:nvSpPr>
        <p:spPr>
          <a:xfrm>
            <a:off x="6155055" y="4343400"/>
            <a:ext cx="310896" cy="182880"/>
          </a:xfrm>
          <a:prstGeom prst="rect">
            <a:avLst/>
          </a:prstGeom>
          <a:noFill/>
          <a:ln/>
          <a:effectLst>
            <a:outerShdw sx="100000" sy="100000" kx="0" ky="0" algn="bl" rotWithShape="0" blurRad="85725" dist="50800" dir="5400000">
              <a:srgbClr val="00E5FF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∞</a:t>
            </a:r>
            <a:endParaRPr lang="en-US" sz="1440" dirty="0"/>
          </a:p>
        </p:txBody>
      </p:sp>
      <p:sp>
        <p:nvSpPr>
          <p:cNvPr id="58" name="Text 56"/>
          <p:cNvSpPr/>
          <p:nvPr/>
        </p:nvSpPr>
        <p:spPr>
          <a:xfrm>
            <a:off x="6367671" y="4330809"/>
            <a:ext cx="1689811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文化无边界</a:t>
            </a:r>
            <a:endParaRPr lang="en-US" sz="540" dirty="0"/>
          </a:p>
        </p:txBody>
      </p:sp>
      <p:sp>
        <p:nvSpPr>
          <p:cNvPr id="59" name="Text 57"/>
          <p:cNvSpPr/>
          <p:nvPr/>
        </p:nvSpPr>
        <p:spPr>
          <a:xfrm>
            <a:off x="6367671" y="4450824"/>
            <a:ext cx="1689811" cy="879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开源精神的传播不受地域限制，持续驱动技术文明演进</a:t>
            </a:r>
            <a:endParaRPr lang="en-US" sz="495" dirty="0"/>
          </a:p>
        </p:txBody>
      </p:sp>
      <p:sp>
        <p:nvSpPr>
          <p:cNvPr id="60" name="Shape 58"/>
          <p:cNvSpPr/>
          <p:nvPr/>
        </p:nvSpPr>
        <p:spPr>
          <a:xfrm>
            <a:off x="342900" y="4777740"/>
            <a:ext cx="8458200" cy="137160"/>
          </a:xfrm>
          <a:prstGeom prst="rect">
            <a:avLst/>
          </a:prstGeom>
          <a:noFill/>
          <a:ln/>
        </p:spPr>
      </p:sp>
      <p:sp>
        <p:nvSpPr>
          <p:cNvPr id="61" name="Shape 59"/>
          <p:cNvSpPr/>
          <p:nvPr/>
        </p:nvSpPr>
        <p:spPr>
          <a:xfrm>
            <a:off x="342900" y="4777740"/>
            <a:ext cx="8458200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2900" y="4840605"/>
            <a:ext cx="1536192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90A4AE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OPEN SOURCE / DEEP THINKING</a:t>
            </a:r>
            <a:endParaRPr lang="en-US" sz="450" dirty="0"/>
          </a:p>
        </p:txBody>
      </p:sp>
      <p:sp>
        <p:nvSpPr>
          <p:cNvPr id="63" name="Text 61"/>
          <p:cNvSpPr/>
          <p:nvPr/>
        </p:nvSpPr>
        <p:spPr>
          <a:xfrm>
            <a:off x="6606540" y="4840605"/>
            <a:ext cx="245790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90A4AE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TRANSPARENCY · COLLABORATION · INCLUSION · TRUST</a:t>
            </a:r>
            <a:endParaRPr lang="en-US" sz="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2828925"/>
            <a:ext cx="10058400" cy="5657850"/>
          </a:xfrm>
          <a:prstGeom prst="ellipse">
            <a:avLst/>
          </a:prstGeom>
          <a:gradFill rotWithShape="1">
            <a:gsLst>
              <a:gs pos="0">
                <a:srgbClr val="2196F3">
                  <a:alpha val="96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4572000" y="257175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00E5FF">
                  <a:alpha val="6400"/>
                </a:srgbClr>
              </a:gs>
              <a:gs pos="100000">
                <a:srgbClr val="00E5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531495" y="274320"/>
            <a:ext cx="1689811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 / CHAPTER 01</a:t>
            </a:r>
            <a:endParaRPr lang="en-US" sz="585" dirty="0"/>
          </a:p>
        </p:txBody>
      </p:sp>
      <p:sp>
        <p:nvSpPr>
          <p:cNvPr id="5" name="Text 3"/>
          <p:cNvSpPr/>
          <p:nvPr/>
        </p:nvSpPr>
        <p:spPr>
          <a:xfrm>
            <a:off x="342900" y="434340"/>
            <a:ext cx="2649931" cy="276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80" b="1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pPr algn="l" indent="0" marL="0">
              <a:lnSpc>
                <a:spcPct val="110000"/>
              </a:lnSpc>
              <a:buNone/>
            </a:pPr>
            <a:r>
              <a:rPr lang="en-US" sz="1980" b="1" spc="45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新人上手学习路径</a:t>
            </a:r>
            <a:endParaRPr lang="en-US" sz="1980" dirty="0"/>
          </a:p>
        </p:txBody>
      </p:sp>
      <p:sp>
        <p:nvSpPr>
          <p:cNvPr id="6" name="Shape 4"/>
          <p:cNvSpPr/>
          <p:nvPr/>
        </p:nvSpPr>
        <p:spPr>
          <a:xfrm>
            <a:off x="342900" y="790902"/>
            <a:ext cx="457200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0" scaled="0"/>
          </a:gradFill>
          <a:ln/>
        </p:spPr>
      </p:sp>
      <p:sp>
        <p:nvSpPr>
          <p:cNvPr id="7" name="Shape 5"/>
          <p:cNvSpPr/>
          <p:nvPr/>
        </p:nvSpPr>
        <p:spPr>
          <a:xfrm>
            <a:off x="7806690" y="636597"/>
            <a:ext cx="994410" cy="171450"/>
          </a:xfrm>
          <a:prstGeom prst="roundRect">
            <a:avLst>
              <a:gd name="adj" fmla="val 66667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92415" y="676602"/>
            <a:ext cx="92171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STEP-BY-STEP GUIDE</a:t>
            </a:r>
            <a:endParaRPr lang="en-US" sz="540" dirty="0"/>
          </a:p>
        </p:txBody>
      </p:sp>
      <p:sp>
        <p:nvSpPr>
          <p:cNvPr id="9" name="Shape 7"/>
          <p:cNvSpPr/>
          <p:nvPr/>
        </p:nvSpPr>
        <p:spPr>
          <a:xfrm>
            <a:off x="342900" y="876627"/>
            <a:ext cx="7886700" cy="150019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342900" y="876627"/>
            <a:ext cx="0" cy="150019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" y="876627"/>
            <a:ext cx="8833104" cy="150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7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对每一位想踏入开源的新人来说，</a:t>
            </a:r>
            <a:pPr algn="l" indent="0" marL="0">
              <a:lnSpc>
                <a:spcPct val="175000"/>
              </a:lnSpc>
              <a:buNone/>
            </a:pPr>
            <a:r>
              <a:rPr lang="en-US" sz="67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最大的障碍往往不是技术，而是第一步</a:t>
            </a:r>
            <a:pPr algn="l" indent="0" marL="0">
              <a:lnSpc>
                <a:spcPct val="175000"/>
              </a:lnSpc>
              <a:buNone/>
            </a:pPr>
            <a:r>
              <a:rPr lang="en-US" sz="67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。这一章为你梳理一条清晰、可执行的上手路径，让开源之旅从今天开始。</a:t>
            </a:r>
            <a:endParaRPr lang="en-US" sz="675" dirty="0"/>
          </a:p>
        </p:txBody>
      </p:sp>
      <p:sp>
        <p:nvSpPr>
          <p:cNvPr id="12" name="Shape 10"/>
          <p:cNvSpPr/>
          <p:nvPr/>
        </p:nvSpPr>
        <p:spPr>
          <a:xfrm>
            <a:off x="342900" y="1186666"/>
            <a:ext cx="8458200" cy="1359456"/>
          </a:xfrm>
          <a:prstGeom prst="roundRect">
            <a:avLst>
              <a:gd name="adj" fmla="val 5885"/>
            </a:avLst>
          </a:prstGeom>
          <a:gradFill rotWithShape="1">
            <a:gsLst>
              <a:gs pos="0">
                <a:srgbClr val="0D1F3C"/>
              </a:gs>
              <a:gs pos="50000">
                <a:srgbClr val="14325B"/>
              </a:gs>
              <a:gs pos="100000">
                <a:srgbClr val="0D1F3C"/>
              </a:gs>
            </a:gsLst>
            <a:lin ang="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2196F3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" y="1186666"/>
            <a:ext cx="844677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5FF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4" name="Text 12"/>
          <p:cNvSpPr/>
          <p:nvPr/>
        </p:nvSpPr>
        <p:spPr>
          <a:xfrm>
            <a:off x="520065" y="1352401"/>
            <a:ext cx="1285361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9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▷▷ FOUR-STEP ROADMAP</a:t>
            </a:r>
            <a:endParaRPr lang="en-US" sz="630" dirty="0"/>
          </a:p>
        </p:txBody>
      </p:sp>
      <p:sp>
        <p:nvSpPr>
          <p:cNvPr id="15" name="Text 13"/>
          <p:cNvSpPr/>
          <p:nvPr/>
        </p:nvSpPr>
        <p:spPr>
          <a:xfrm>
            <a:off x="7051149" y="1363831"/>
            <a:ext cx="176152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0% ─── 25% ─── 50% ─── 75% ─── 100%</a:t>
            </a:r>
            <a:endParaRPr lang="en-US" sz="495" dirty="0"/>
          </a:p>
        </p:txBody>
      </p:sp>
      <p:sp>
        <p:nvSpPr>
          <p:cNvPr id="16" name="Shape 14"/>
          <p:cNvSpPr/>
          <p:nvPr/>
        </p:nvSpPr>
        <p:spPr>
          <a:xfrm>
            <a:off x="748665" y="1586716"/>
            <a:ext cx="7646670" cy="22860"/>
          </a:xfrm>
          <a:prstGeom prst="roundRect">
            <a:avLst>
              <a:gd name="adj" fmla="val 50000"/>
            </a:avLst>
          </a:prstGeom>
          <a:solidFill>
            <a:srgbClr val="2196F3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48665" y="1586716"/>
            <a:ext cx="7646670" cy="228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4355" y="1735306"/>
            <a:ext cx="2125066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23023" y="1895326"/>
            <a:ext cx="42291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spc="9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 01</a:t>
            </a:r>
            <a:endParaRPr lang="en-US" sz="495" dirty="0"/>
          </a:p>
        </p:txBody>
      </p:sp>
      <p:sp>
        <p:nvSpPr>
          <p:cNvPr id="20" name="Text 18"/>
          <p:cNvSpPr/>
          <p:nvPr/>
        </p:nvSpPr>
        <p:spPr>
          <a:xfrm>
            <a:off x="554355" y="2003911"/>
            <a:ext cx="2125066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选好平台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54355" y="2161074"/>
            <a:ext cx="2125066" cy="219313"/>
          </a:xfrm>
          <a:prstGeom prst="rect">
            <a:avLst/>
          </a:prstGeom>
          <a:noFill/>
          <a:ln/>
        </p:spPr>
        <p:txBody>
          <a:bodyPr wrap="square" lIns="0" tIns="22860" rIns="2286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 GitHub 开始，关注感兴趣的仓库，从 Readme 和 Issue 了解项目全貌。</a:t>
            </a:r>
            <a:endParaRPr lang="en-US" sz="540" dirty="0"/>
          </a:p>
        </p:txBody>
      </p:sp>
      <p:sp>
        <p:nvSpPr>
          <p:cNvPr id="22" name="Shape 20"/>
          <p:cNvSpPr/>
          <p:nvPr/>
        </p:nvSpPr>
        <p:spPr>
          <a:xfrm>
            <a:off x="1377315" y="1426696"/>
            <a:ext cx="251460" cy="251460"/>
          </a:xfrm>
          <a:prstGeom prst="ellipse">
            <a:avLst/>
          </a:prstGeom>
          <a:gradFill rotWithShape="1">
            <a:gsLst>
              <a:gs pos="0">
                <a:srgbClr val="3B9FD9"/>
              </a:gs>
              <a:gs pos="100000">
                <a:srgbClr val="1565A0"/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152400" dist="50800" dir="16200000">
              <a:srgbClr val="2196F3">
                <a:alpha val="6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451610" y="1495276"/>
            <a:ext cx="2057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2600325" y="1735306"/>
            <a:ext cx="2125066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💻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68993" y="1895326"/>
            <a:ext cx="42291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spc="9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 02</a:t>
            </a:r>
            <a:endParaRPr lang="en-US" sz="495" dirty="0"/>
          </a:p>
        </p:txBody>
      </p:sp>
      <p:sp>
        <p:nvSpPr>
          <p:cNvPr id="26" name="Text 24"/>
          <p:cNvSpPr/>
          <p:nvPr/>
        </p:nvSpPr>
        <p:spPr>
          <a:xfrm>
            <a:off x="2600325" y="2003911"/>
            <a:ext cx="2125066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环境搭建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2600325" y="2161074"/>
            <a:ext cx="2125066" cy="109657"/>
          </a:xfrm>
          <a:prstGeom prst="rect">
            <a:avLst/>
          </a:prstGeom>
          <a:noFill/>
          <a:ln/>
        </p:spPr>
        <p:txBody>
          <a:bodyPr wrap="none" lIns="0" tIns="22860" rIns="2286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本地克隆代码，运行测试，理解项目结构与开发流程。</a:t>
            </a:r>
            <a:endParaRPr lang="en-US" sz="540" dirty="0"/>
          </a:p>
        </p:txBody>
      </p:sp>
      <p:sp>
        <p:nvSpPr>
          <p:cNvPr id="28" name="Shape 26"/>
          <p:cNvSpPr/>
          <p:nvPr/>
        </p:nvSpPr>
        <p:spPr>
          <a:xfrm>
            <a:off x="3423285" y="1426696"/>
            <a:ext cx="251460" cy="251460"/>
          </a:xfrm>
          <a:prstGeom prst="ellipse">
            <a:avLst/>
          </a:prstGeom>
          <a:gradFill rotWithShape="1">
            <a:gsLst>
              <a:gs pos="0">
                <a:srgbClr val="20C9E8"/>
              </a:gs>
              <a:gs pos="100000">
                <a:srgbClr val="0E84B0"/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152400" dist="50800" dir="16200000">
              <a:srgbClr val="20C9E8">
                <a:alpha val="5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497580" y="1495276"/>
            <a:ext cx="2057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646295" y="1735306"/>
            <a:ext cx="2125066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📝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14963" y="1895326"/>
            <a:ext cx="42291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spc="9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 03</a:t>
            </a:r>
            <a:endParaRPr lang="en-US" sz="495" dirty="0"/>
          </a:p>
        </p:txBody>
      </p:sp>
      <p:sp>
        <p:nvSpPr>
          <p:cNvPr id="32" name="Text 30"/>
          <p:cNvSpPr/>
          <p:nvPr/>
        </p:nvSpPr>
        <p:spPr>
          <a:xfrm>
            <a:off x="4646295" y="2003911"/>
            <a:ext cx="2125066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找个小 Issue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646295" y="2161074"/>
            <a:ext cx="2125066" cy="109657"/>
          </a:xfrm>
          <a:prstGeom prst="rect">
            <a:avLst/>
          </a:prstGeom>
          <a:noFill/>
          <a:ln/>
        </p:spPr>
        <p:txBody>
          <a:bodyPr wrap="none" lIns="0" tIns="22860" rIns="2286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 good first issue 或文档修正入手，完成第一笔 PR 提交。</a:t>
            </a:r>
            <a:endParaRPr lang="en-US" sz="540" dirty="0"/>
          </a:p>
        </p:txBody>
      </p:sp>
      <p:sp>
        <p:nvSpPr>
          <p:cNvPr id="34" name="Shape 32"/>
          <p:cNvSpPr/>
          <p:nvPr/>
        </p:nvSpPr>
        <p:spPr>
          <a:xfrm>
            <a:off x="5469255" y="1426696"/>
            <a:ext cx="251460" cy="251460"/>
          </a:xfrm>
          <a:prstGeom prst="ellipse">
            <a:avLst/>
          </a:prstGeom>
          <a:gradFill rotWithShape="1">
            <a:gsLst>
              <a:gs pos="0">
                <a:srgbClr val="4FC3F7"/>
              </a:gs>
              <a:gs pos="100000">
                <a:srgbClr val="1976D2"/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152400" dist="50800" dir="16200000">
              <a:srgbClr val="4FC3F7">
                <a:alpha val="5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543550" y="1495276"/>
            <a:ext cx="2057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6692265" y="1735306"/>
            <a:ext cx="2125066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👥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60933" y="1895326"/>
            <a:ext cx="42291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spc="9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STEP 04</a:t>
            </a:r>
            <a:endParaRPr lang="en-US" sz="495" dirty="0"/>
          </a:p>
        </p:txBody>
      </p:sp>
      <p:sp>
        <p:nvSpPr>
          <p:cNvPr id="38" name="Text 36"/>
          <p:cNvSpPr/>
          <p:nvPr/>
        </p:nvSpPr>
        <p:spPr>
          <a:xfrm>
            <a:off x="6692265" y="2003911"/>
            <a:ext cx="2125066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加入社区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6692265" y="2161074"/>
            <a:ext cx="2125066" cy="109657"/>
          </a:xfrm>
          <a:prstGeom prst="rect">
            <a:avLst/>
          </a:prstGeom>
          <a:noFill/>
          <a:ln/>
        </p:spPr>
        <p:txBody>
          <a:bodyPr wrap="none" lIns="0" tIns="22860" rIns="2286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参与 Discord、微信群、邮件列表，找到志同道合的伙伴。</a:t>
            </a:r>
            <a:endParaRPr lang="en-US" sz="540" dirty="0"/>
          </a:p>
        </p:txBody>
      </p:sp>
      <p:sp>
        <p:nvSpPr>
          <p:cNvPr id="40" name="Shape 38"/>
          <p:cNvSpPr/>
          <p:nvPr/>
        </p:nvSpPr>
        <p:spPr>
          <a:xfrm>
            <a:off x="7515225" y="1426696"/>
            <a:ext cx="251460" cy="251460"/>
          </a:xfrm>
          <a:prstGeom prst="ellipse">
            <a:avLst/>
          </a:prstGeom>
          <a:gradFill rotWithShape="1">
            <a:gsLst>
              <a:gs pos="0">
                <a:srgbClr val="00E5FF"/>
              </a:gs>
              <a:gs pos="100000">
                <a:srgbClr val="0097A7"/>
              </a:gs>
            </a:gsLst>
            <a:path path="circle">
              <a:fillToRect l="50000" t="50000" r="50000" b="50000"/>
            </a:path>
          </a:gradFill>
          <a:ln/>
          <a:effectLst>
            <a:outerShdw sx="100000" sy="100000" kx="0" ky="0" algn="bl" rotWithShape="0" blurRad="171450" dist="50800" dir="16200000">
              <a:srgbClr val="00E5FF">
                <a:alpha val="6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589520" y="1495276"/>
            <a:ext cx="2057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675" dirty="0"/>
          </a:p>
        </p:txBody>
      </p:sp>
      <p:sp>
        <p:nvSpPr>
          <p:cNvPr id="42" name="Shape 40"/>
          <p:cNvSpPr/>
          <p:nvPr/>
        </p:nvSpPr>
        <p:spPr>
          <a:xfrm>
            <a:off x="342900" y="2694712"/>
            <a:ext cx="4171950" cy="734913"/>
          </a:xfrm>
          <a:prstGeom prst="roundRect">
            <a:avLst>
              <a:gd name="adj" fmla="val 9332"/>
            </a:avLst>
          </a:prstGeom>
          <a:solidFill>
            <a:srgbClr val="112240"/>
          </a:soli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2900" y="2694712"/>
            <a:ext cx="17145" cy="72348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5400000" scaled="0"/>
          </a:gradFill>
          <a:ln/>
        </p:spPr>
      </p:sp>
      <p:sp>
        <p:nvSpPr>
          <p:cNvPr id="44" name="Shape 42"/>
          <p:cNvSpPr/>
          <p:nvPr/>
        </p:nvSpPr>
        <p:spPr>
          <a:xfrm>
            <a:off x="4103370" y="2523262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5" name="Shape 43"/>
          <p:cNvSpPr/>
          <p:nvPr/>
        </p:nvSpPr>
        <p:spPr>
          <a:xfrm>
            <a:off x="497205" y="2902148"/>
            <a:ext cx="320040" cy="320040"/>
          </a:xfrm>
          <a:prstGeom prst="roundRect">
            <a:avLst>
              <a:gd name="adj" fmla="val 17857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7205" y="2902148"/>
            <a:ext cx="457200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⏰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931545" y="2814727"/>
            <a:ext cx="76809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ENTRY TIME COST</a:t>
            </a:r>
            <a:endParaRPr lang="en-US" sz="540" dirty="0"/>
          </a:p>
        </p:txBody>
      </p:sp>
      <p:sp>
        <p:nvSpPr>
          <p:cNvPr id="48" name="Text 46"/>
          <p:cNvSpPr/>
          <p:nvPr/>
        </p:nvSpPr>
        <p:spPr>
          <a:xfrm>
            <a:off x="931545" y="2940457"/>
            <a:ext cx="3840480" cy="1760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60" b="1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2–4</a:t>
            </a:r>
            <a:pPr algn="l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周</a:t>
            </a:r>
            <a:endParaRPr lang="en-US" sz="1260" dirty="0"/>
          </a:p>
        </p:txBody>
      </p:sp>
      <p:sp>
        <p:nvSpPr>
          <p:cNvPr id="49" name="Text 47"/>
          <p:cNvSpPr/>
          <p:nvPr/>
        </p:nvSpPr>
        <p:spPr>
          <a:xfrm>
            <a:off x="931545" y="3145036"/>
            <a:ext cx="11969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入门平均耗时 · 从注册到首 PR 提交</a:t>
            </a:r>
            <a:endParaRPr lang="en-US" sz="540" dirty="0"/>
          </a:p>
        </p:txBody>
      </p:sp>
      <p:sp>
        <p:nvSpPr>
          <p:cNvPr id="50" name="Shape 48"/>
          <p:cNvSpPr/>
          <p:nvPr/>
        </p:nvSpPr>
        <p:spPr>
          <a:xfrm>
            <a:off x="931545" y="3286750"/>
            <a:ext cx="3429000" cy="22860"/>
          </a:xfrm>
          <a:prstGeom prst="roundRect">
            <a:avLst>
              <a:gd name="adj" fmla="val 50000"/>
            </a:avLst>
          </a:prstGeom>
          <a:solidFill>
            <a:srgbClr val="2196F3">
              <a:alpha val="1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1545" y="3286750"/>
            <a:ext cx="2057400" cy="228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0" scaled="0"/>
          </a:gradFill>
          <a:ln/>
        </p:spPr>
      </p:sp>
      <p:sp>
        <p:nvSpPr>
          <p:cNvPr id="52" name="Shape 50"/>
          <p:cNvSpPr/>
          <p:nvPr/>
        </p:nvSpPr>
        <p:spPr>
          <a:xfrm>
            <a:off x="4629150" y="2694712"/>
            <a:ext cx="4171950" cy="734913"/>
          </a:xfrm>
          <a:prstGeom prst="roundRect">
            <a:avLst>
              <a:gd name="adj" fmla="val 9332"/>
            </a:avLst>
          </a:prstGeom>
          <a:solidFill>
            <a:srgbClr val="112240"/>
          </a:soli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29150" y="2694712"/>
            <a:ext cx="17145" cy="72348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5400000" scaled="0"/>
          </a:gradFill>
          <a:ln/>
        </p:spPr>
      </p:sp>
      <p:sp>
        <p:nvSpPr>
          <p:cNvPr id="54" name="Shape 52"/>
          <p:cNvSpPr/>
          <p:nvPr/>
        </p:nvSpPr>
        <p:spPr>
          <a:xfrm>
            <a:off x="8389620" y="2523262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5" name="Shape 53"/>
          <p:cNvSpPr/>
          <p:nvPr/>
        </p:nvSpPr>
        <p:spPr>
          <a:xfrm>
            <a:off x="4783455" y="2902148"/>
            <a:ext cx="320040" cy="320040"/>
          </a:xfrm>
          <a:prstGeom prst="roundRect">
            <a:avLst>
              <a:gd name="adj" fmla="val 17857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83455" y="2902148"/>
            <a:ext cx="457200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endParaRPr lang="en-US" sz="1080" dirty="0"/>
          </a:p>
        </p:txBody>
      </p:sp>
      <p:sp>
        <p:nvSpPr>
          <p:cNvPr id="57" name="Text 55"/>
          <p:cNvSpPr/>
          <p:nvPr/>
        </p:nvSpPr>
        <p:spPr>
          <a:xfrm>
            <a:off x="5217795" y="2814727"/>
            <a:ext cx="102412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RECOMMENDED PROJECTS</a:t>
            </a:r>
            <a:endParaRPr lang="en-US" sz="540" dirty="0"/>
          </a:p>
        </p:txBody>
      </p:sp>
      <p:sp>
        <p:nvSpPr>
          <p:cNvPr id="58" name="Text 56"/>
          <p:cNvSpPr/>
          <p:nvPr/>
        </p:nvSpPr>
        <p:spPr>
          <a:xfrm>
            <a:off x="5217795" y="2940457"/>
            <a:ext cx="3840480" cy="1760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60" b="1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</a:t>
            </a:r>
            <a:pPr algn="l" indent="0" marL="0">
              <a:lnSpc>
                <a:spcPct val="110000"/>
              </a:lnSpc>
              <a:buNone/>
            </a:pPr>
            <a:r>
              <a:rPr lang="en-US" sz="675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个项目</a:t>
            </a:r>
            <a:endParaRPr lang="en-US" sz="1260" dirty="0"/>
          </a:p>
        </p:txBody>
      </p:sp>
      <p:sp>
        <p:nvSpPr>
          <p:cNvPr id="59" name="Text 57"/>
          <p:cNvSpPr/>
          <p:nvPr/>
        </p:nvSpPr>
        <p:spPr>
          <a:xfrm>
            <a:off x="5217795" y="3145036"/>
            <a:ext cx="158739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4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推荐新手友好型仓库，覆盖前端 / 后端 / 工具链</a:t>
            </a:r>
            <a:endParaRPr lang="en-US" sz="540" dirty="0"/>
          </a:p>
        </p:txBody>
      </p:sp>
      <p:sp>
        <p:nvSpPr>
          <p:cNvPr id="60" name="Shape 58"/>
          <p:cNvSpPr/>
          <p:nvPr/>
        </p:nvSpPr>
        <p:spPr>
          <a:xfrm>
            <a:off x="5217795" y="3286750"/>
            <a:ext cx="3429000" cy="22860"/>
          </a:xfrm>
          <a:prstGeom prst="roundRect">
            <a:avLst>
              <a:gd name="adj" fmla="val 50000"/>
            </a:avLst>
          </a:prstGeom>
          <a:solidFill>
            <a:srgbClr val="2196F3">
              <a:alpha val="12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5217795" y="3286750"/>
            <a:ext cx="3086100" cy="228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0" scaled="0"/>
          </a:gradFill>
          <a:ln/>
        </p:spPr>
      </p:sp>
      <p:sp>
        <p:nvSpPr>
          <p:cNvPr id="62" name="Shape 60"/>
          <p:cNvSpPr/>
          <p:nvPr/>
        </p:nvSpPr>
        <p:spPr>
          <a:xfrm>
            <a:off x="342900" y="3521065"/>
            <a:ext cx="8458200" cy="245745"/>
          </a:xfrm>
          <a:prstGeom prst="roundRect">
            <a:avLst>
              <a:gd name="adj" fmla="val 18605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1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1485" y="3626793"/>
            <a:ext cx="34290" cy="34290"/>
          </a:xfrm>
          <a:prstGeom prst="ellipse">
            <a:avLst/>
          </a:prstGeom>
          <a:solidFill>
            <a:srgbClr val="00E5FF">
              <a:alpha val="80000"/>
            </a:srgbClr>
          </a:solidFill>
          <a:ln/>
          <a:effectLst>
            <a:outerShdw sx="100000" sy="100000" kx="0" ky="0" algn="bl" rotWithShape="0" blurRad="76200" dist="50800" dir="16200000">
              <a:srgbClr val="00E5FF">
                <a:alpha val="10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577215" y="3601075"/>
            <a:ext cx="112654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STATUS: READY TO START</a:t>
            </a:r>
            <a:endParaRPr lang="en-US" sz="495" dirty="0"/>
          </a:p>
        </p:txBody>
      </p:sp>
      <p:sp>
        <p:nvSpPr>
          <p:cNvPr id="65" name="Text 63"/>
          <p:cNvSpPr/>
          <p:nvPr/>
        </p:nvSpPr>
        <p:spPr>
          <a:xfrm>
            <a:off x="1674495" y="3601075"/>
            <a:ext cx="10858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|</a:t>
            </a:r>
            <a:endParaRPr lang="en-US" sz="495" dirty="0"/>
          </a:p>
        </p:txBody>
      </p:sp>
      <p:sp>
        <p:nvSpPr>
          <p:cNvPr id="66" name="Text 64"/>
          <p:cNvSpPr/>
          <p:nvPr/>
        </p:nvSpPr>
        <p:spPr>
          <a:xfrm>
            <a:off x="1811655" y="3601075"/>
            <a:ext cx="229668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0A4A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PATH: REGISTER → CLONE → FIRST PR → COMMUNITY</a:t>
            </a:r>
            <a:endParaRPr lang="en-US" sz="495" dirty="0"/>
          </a:p>
        </p:txBody>
      </p:sp>
      <p:sp>
        <p:nvSpPr>
          <p:cNvPr id="67" name="Shape 65"/>
          <p:cNvSpPr/>
          <p:nvPr/>
        </p:nvSpPr>
        <p:spPr>
          <a:xfrm>
            <a:off x="6812280" y="3583930"/>
            <a:ext cx="365760" cy="120015"/>
          </a:xfrm>
          <a:prstGeom prst="roundRect">
            <a:avLst>
              <a:gd name="adj" fmla="val 47619"/>
            </a:avLst>
          </a:prstGeom>
          <a:solidFill>
            <a:srgbClr val="00E5FF">
              <a:alpha val="5000"/>
            </a:srgbClr>
          </a:solidFill>
          <a:ln w="571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12280" y="3583930"/>
            <a:ext cx="422910" cy="120015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GITHUB</a:t>
            </a:r>
            <a:endParaRPr lang="en-US" sz="450" dirty="0"/>
          </a:p>
        </p:txBody>
      </p:sp>
      <p:sp>
        <p:nvSpPr>
          <p:cNvPr id="69" name="Shape 67"/>
          <p:cNvSpPr/>
          <p:nvPr/>
        </p:nvSpPr>
        <p:spPr>
          <a:xfrm>
            <a:off x="7223760" y="3583930"/>
            <a:ext cx="765810" cy="120015"/>
          </a:xfrm>
          <a:prstGeom prst="roundRect">
            <a:avLst>
              <a:gd name="adj" fmla="val 47619"/>
            </a:avLst>
          </a:prstGeom>
          <a:solidFill>
            <a:srgbClr val="00E5FF">
              <a:alpha val="5000"/>
            </a:srgbClr>
          </a:solidFill>
          <a:ln w="571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223760" y="3583930"/>
            <a:ext cx="857707" cy="120015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GOOD FIRST ISSUE</a:t>
            </a:r>
            <a:endParaRPr lang="en-US" sz="450" dirty="0"/>
          </a:p>
        </p:txBody>
      </p:sp>
      <p:sp>
        <p:nvSpPr>
          <p:cNvPr id="71" name="Shape 69"/>
          <p:cNvSpPr/>
          <p:nvPr/>
        </p:nvSpPr>
        <p:spPr>
          <a:xfrm>
            <a:off x="8035290" y="3583930"/>
            <a:ext cx="405765" cy="120015"/>
          </a:xfrm>
          <a:prstGeom prst="roundRect">
            <a:avLst>
              <a:gd name="adj" fmla="val 47619"/>
            </a:avLst>
          </a:prstGeom>
          <a:solidFill>
            <a:srgbClr val="00E5FF">
              <a:alpha val="5000"/>
            </a:srgbClr>
          </a:solidFill>
          <a:ln w="571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035290" y="3583930"/>
            <a:ext cx="462915" cy="120015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DISCORD</a:t>
            </a:r>
            <a:endParaRPr lang="en-US" sz="450" dirty="0"/>
          </a:p>
        </p:txBody>
      </p:sp>
      <p:sp>
        <p:nvSpPr>
          <p:cNvPr id="73" name="Shape 71"/>
          <p:cNvSpPr/>
          <p:nvPr/>
        </p:nvSpPr>
        <p:spPr>
          <a:xfrm>
            <a:off x="8486775" y="3583930"/>
            <a:ext cx="205740" cy="120015"/>
          </a:xfrm>
          <a:prstGeom prst="roundRect">
            <a:avLst>
              <a:gd name="adj" fmla="val 47619"/>
            </a:avLst>
          </a:prstGeom>
          <a:solidFill>
            <a:srgbClr val="00E5FF">
              <a:alpha val="5000"/>
            </a:srgbClr>
          </a:solidFill>
          <a:ln w="571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486775" y="3583930"/>
            <a:ext cx="262890" cy="120015"/>
          </a:xfrm>
          <a:prstGeom prst="rect">
            <a:avLst/>
          </a:prstGeom>
          <a:noFill/>
          <a:ln/>
        </p:spPr>
        <p:txBody>
          <a:bodyPr wrap="none" lIns="17145" tIns="57150" rIns="57150" bIns="17145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</a:t>
            </a:r>
            <a:endParaRPr lang="en-US" sz="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143000" y="1143000"/>
            <a:ext cx="5143500" cy="3429000"/>
          </a:xfrm>
          <a:prstGeom prst="rect">
            <a:avLst/>
          </a:prstGeom>
          <a:solidFill>
            <a:srgbClr val="00E5FF">
              <a:alpha val="14000"/>
            </a:srgbClr>
          </a:solidFill>
          <a:ln/>
          <a:effectLst>
            <a:outerShdw sx="100000" sy="100000" kx="0" ky="0" algn="bl" rotWithShape="0" blurRad="171450" dist="50800" dir="16200000">
              <a:srgbClr val="00E5FF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1500" y="0"/>
            <a:ext cx="8001000" cy="5143500"/>
          </a:xfrm>
          <a:prstGeom prst="rect">
            <a:avLst/>
          </a:prstGeom>
          <a:solidFill>
            <a:srgbClr val="2196F3">
              <a:alpha val="28000"/>
            </a:srgbClr>
          </a:solidFill>
          <a:ln/>
          <a:effectLst>
            <a:outerShdw sx="100000" sy="100000" kx="0" ky="0" algn="bl" rotWithShape="0" blurRad="114300" dist="50800" dir="16200000">
              <a:srgbClr val="2196F3">
                <a:alpha val="6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97180"/>
            <a:ext cx="64579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CHAPTER 02</a:t>
            </a:r>
            <a:endParaRPr lang="en-US" sz="585" dirty="0"/>
          </a:p>
        </p:txBody>
      </p:sp>
      <p:sp>
        <p:nvSpPr>
          <p:cNvPr id="7" name="Text 4"/>
          <p:cNvSpPr/>
          <p:nvPr/>
        </p:nvSpPr>
        <p:spPr>
          <a:xfrm>
            <a:off x="6983730" y="297180"/>
            <a:ext cx="870509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8A93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</a:t>
            </a:r>
            <a:endParaRPr lang="en-US" sz="585" dirty="0"/>
          </a:p>
        </p:txBody>
      </p:sp>
      <p:sp>
        <p:nvSpPr>
          <p:cNvPr id="8" name="Text 5"/>
          <p:cNvSpPr/>
          <p:nvPr/>
        </p:nvSpPr>
        <p:spPr>
          <a:xfrm>
            <a:off x="7898130" y="297180"/>
            <a:ext cx="934517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8A93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 ROADMAP</a:t>
            </a:r>
            <a:endParaRPr lang="en-US" sz="585" dirty="0"/>
          </a:p>
        </p:txBody>
      </p:sp>
      <p:sp>
        <p:nvSpPr>
          <p:cNvPr id="9" name="Shape 6"/>
          <p:cNvSpPr/>
          <p:nvPr/>
        </p:nvSpPr>
        <p:spPr>
          <a:xfrm>
            <a:off x="411480" y="502920"/>
            <a:ext cx="832104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40000">
                <a:srgbClr val="00E5FF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0" name="Text 7"/>
          <p:cNvSpPr/>
          <p:nvPr/>
        </p:nvSpPr>
        <p:spPr>
          <a:xfrm>
            <a:off x="457200" y="645795"/>
            <a:ext cx="926835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18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 CH 02 — ACTION GUIDE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457200" y="805815"/>
            <a:ext cx="9268358" cy="468630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5400000">
              <a:srgbClr val="2196F3">
                <a:alpha val="4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90" b="1" spc="90" kern="0" dirty="0">
                <a:solidFill>
                  <a:srgbClr val="E6EA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第二章</a:t>
            </a:r>
            <a:pPr algn="l" indent="0" marL="0">
              <a:lnSpc>
                <a:spcPct val="100000"/>
              </a:lnSpc>
              <a:buNone/>
            </a:pPr>
            <a:r>
              <a:rPr lang="en-US" sz="3690" b="1" spc="90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·</a:t>
            </a:r>
            <a:pPr algn="l" indent="0" marL="0">
              <a:lnSpc>
                <a:spcPct val="100000"/>
              </a:lnSpc>
              <a:buNone/>
            </a:pPr>
            <a:r>
              <a:rPr lang="en-US" sz="3690" b="1" spc="90" kern="0" dirty="0">
                <a:solidFill>
                  <a:srgbClr val="E6EA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行动指南</a:t>
            </a:r>
            <a:endParaRPr lang="en-US" sz="3690" dirty="0"/>
          </a:p>
        </p:txBody>
      </p:sp>
      <p:sp>
        <p:nvSpPr>
          <p:cNvPr id="12" name="Text 9"/>
          <p:cNvSpPr/>
          <p:nvPr/>
        </p:nvSpPr>
        <p:spPr>
          <a:xfrm>
            <a:off x="457200" y="1388745"/>
            <a:ext cx="9268358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从思考到实践，让开源成为日常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858000" y="685800"/>
            <a:ext cx="1485900" cy="1485900"/>
          </a:xfrm>
          <a:prstGeom prst="ellipse">
            <a:avLst/>
          </a:prstGeom>
          <a:noFill/>
          <a:ln w="5715">
            <a:solidFill>
              <a:srgbClr val="00E5FF">
                <a:alpha val="2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29450" y="914400"/>
            <a:ext cx="1028700" cy="1028700"/>
          </a:xfrm>
          <a:prstGeom prst="ellipse">
            <a:avLst/>
          </a:prstGeom>
          <a:noFill/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00900" y="1143000"/>
            <a:ext cx="571500" cy="571500"/>
          </a:xfrm>
          <a:prstGeom prst="ellipse">
            <a:avLst/>
          </a:prstGeom>
          <a:noFill/>
          <a:ln w="5715">
            <a:solidFill>
              <a:srgbClr val="00E5FF"/>
            </a:solidFill>
            <a:prstDash val="solid"/>
          </a:ln>
          <a:effectLst>
            <a:outerShdw sx="100000" sy="100000" kx="0" ky="0" algn="bl" rotWithShape="0" blurRad="190500" dist="50800" dir="16200000">
              <a:srgbClr val="00E5FF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00925" y="1343025"/>
            <a:ext cx="171450" cy="171450"/>
          </a:xfrm>
          <a:prstGeom prst="ellipse">
            <a:avLst/>
          </a:prstGeom>
          <a:solidFill>
            <a:srgbClr val="00E5FF"/>
          </a:solidFill>
          <a:ln/>
          <a:effectLst>
            <a:outerShdw sx="100000" sy="100000" kx="0" ky="0" algn="bl" rotWithShape="0" blurRad="285750" dist="50800" dir="16200000">
              <a:srgbClr val="00E5FF">
                <a:alpha val="10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0" y="685800"/>
            <a:ext cx="2400300" cy="14859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725930"/>
            <a:ext cx="7680960" cy="1736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720" dirty="0">
                <a:solidFill>
                  <a:srgbClr val="B0B8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第二章</a:t>
            </a:r>
            <a:pPr algn="l" indent="0" marL="0">
              <a:lnSpc>
                <a:spcPct val="190000"/>
              </a:lnSpc>
              <a:buNone/>
            </a:pPr>
            <a:r>
              <a:rPr lang="en-US" sz="72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转向行动指南</a:t>
            </a:r>
            <a:pPr algn="l" indent="0" marL="0">
              <a:lnSpc>
                <a:spcPct val="190000"/>
              </a:lnSpc>
              <a:buNone/>
            </a:pPr>
            <a:r>
              <a:rPr lang="en-US" sz="720" dirty="0">
                <a:solidFill>
                  <a:srgbClr val="B0B8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。回顾是为了更好地出发，我们将分享经过</a:t>
            </a:r>
            <a:pPr algn="l" indent="0" marL="0">
              <a:lnSpc>
                <a:spcPct val="190000"/>
              </a:lnSpc>
              <a:buNone/>
            </a:pPr>
            <a:r>
              <a:rPr lang="en-US" sz="72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实践验证</a:t>
            </a:r>
            <a:pPr algn="l" indent="0" marL="0">
              <a:lnSpc>
                <a:spcPct val="190000"/>
              </a:lnSpc>
              <a:buNone/>
            </a:pPr>
            <a:r>
              <a:rPr lang="en-US" sz="720" dirty="0">
                <a:solidFill>
                  <a:srgbClr val="B0B8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的开源协作方法，并</a:t>
            </a:r>
            <a:pPr algn="l" indent="0" marL="0">
              <a:lnSpc>
                <a:spcPct val="190000"/>
              </a:lnSpc>
              <a:buNone/>
            </a:pPr>
            <a:r>
              <a:rPr lang="en-US" sz="72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展望未来一年</a:t>
            </a:r>
            <a:pPr algn="l" indent="0" marL="0">
              <a:lnSpc>
                <a:spcPct val="190000"/>
              </a:lnSpc>
              <a:buNone/>
            </a:pPr>
            <a:r>
              <a:rPr lang="en-US" sz="720" dirty="0">
                <a:solidFill>
                  <a:srgbClr val="B0B8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的目标与方向。</a:t>
            </a:r>
            <a:endParaRPr lang="en-US" sz="720" dirty="0"/>
          </a:p>
        </p:txBody>
      </p:sp>
      <p:sp>
        <p:nvSpPr>
          <p:cNvPr id="19" name="Shape 15"/>
          <p:cNvSpPr/>
          <p:nvPr/>
        </p:nvSpPr>
        <p:spPr>
          <a:xfrm>
            <a:off x="457200" y="2025342"/>
            <a:ext cx="2659350" cy="1338739"/>
          </a:xfrm>
          <a:prstGeom prst="roundRect">
            <a:avLst>
              <a:gd name="adj" fmla="val 1708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60000">
                <a:srgbClr val="0D0F14">
                  <a:alpha val="95000"/>
                </a:srgbClr>
              </a:gs>
            </a:gsLst>
            <a:lin ang="4200000" scaled="0"/>
          </a:gradFill>
          <a:ln w="5715">
            <a:solidFill>
              <a:srgbClr val="1F2A3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2025342"/>
            <a:ext cx="17145" cy="1327309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5400000" scaled="0"/>
          </a:gradFill>
          <a:ln/>
        </p:spPr>
      </p:sp>
      <p:sp>
        <p:nvSpPr>
          <p:cNvPr id="21" name="Text 17"/>
          <p:cNvSpPr/>
          <p:nvPr/>
        </p:nvSpPr>
        <p:spPr>
          <a:xfrm>
            <a:off x="2630775" y="2099637"/>
            <a:ext cx="47434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E5FF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STRATEGY</a:t>
            </a:r>
            <a:endParaRPr lang="en-US" sz="495" dirty="0"/>
          </a:p>
        </p:txBody>
      </p:sp>
      <p:sp>
        <p:nvSpPr>
          <p:cNvPr id="22" name="Text 18"/>
          <p:cNvSpPr/>
          <p:nvPr/>
        </p:nvSpPr>
        <p:spPr>
          <a:xfrm>
            <a:off x="600075" y="2179647"/>
            <a:ext cx="2658432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102870" dist="50800" dir="5400000">
              <a:srgbClr val="2196F3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20" b="1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pPr algn="l" indent="0" marL="0">
              <a:buNone/>
            </a:pPr>
            <a:r>
              <a:rPr lang="en-US" sz="810" b="1" spc="45" kern="0" dirty="0">
                <a:solidFill>
                  <a:srgbClr val="8A93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 03</a:t>
            </a:r>
            <a:endParaRPr lang="en-US" sz="1620" dirty="0"/>
          </a:p>
        </p:txBody>
      </p:sp>
      <p:sp>
        <p:nvSpPr>
          <p:cNvPr id="23" name="Text 19"/>
          <p:cNvSpPr/>
          <p:nvPr/>
        </p:nvSpPr>
        <p:spPr>
          <a:xfrm>
            <a:off x="600075" y="2488257"/>
            <a:ext cx="2658432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spc="45" kern="0" dirty="0">
                <a:solidFill>
                  <a:srgbClr val="E6EA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实践策略</a:t>
            </a:r>
            <a:endParaRPr lang="en-US" sz="990" dirty="0"/>
          </a:p>
        </p:txBody>
      </p:sp>
      <p:sp>
        <p:nvSpPr>
          <p:cNvPr id="24" name="Text 20"/>
          <p:cNvSpPr/>
          <p:nvPr/>
        </p:nvSpPr>
        <p:spPr>
          <a:xfrm>
            <a:off x="600075" y="2739717"/>
            <a:ext cx="2658432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如何选择项目、如何贡献、如何持续参与，建立从入门到深入的完整行动路径。</a:t>
            </a:r>
            <a:endParaRPr lang="en-US" sz="608" dirty="0"/>
          </a:p>
        </p:txBody>
      </p:sp>
      <p:sp>
        <p:nvSpPr>
          <p:cNvPr id="25" name="Shape 21"/>
          <p:cNvSpPr/>
          <p:nvPr/>
        </p:nvSpPr>
        <p:spPr>
          <a:xfrm>
            <a:off x="600075" y="3089761"/>
            <a:ext cx="400050" cy="131445"/>
          </a:xfrm>
          <a:prstGeom prst="roundRect">
            <a:avLst>
              <a:gd name="adj" fmla="val 8696"/>
            </a:avLst>
          </a:prstGeom>
          <a:noFill/>
          <a:ln w="5715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00075" y="3089761"/>
            <a:ext cx="462915" cy="131445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SELECT</a:t>
            </a:r>
            <a:endParaRPr lang="en-US" sz="495" dirty="0"/>
          </a:p>
        </p:txBody>
      </p:sp>
      <p:sp>
        <p:nvSpPr>
          <p:cNvPr id="27" name="Shape 23"/>
          <p:cNvSpPr/>
          <p:nvPr/>
        </p:nvSpPr>
        <p:spPr>
          <a:xfrm>
            <a:off x="1045845" y="3089761"/>
            <a:ext cx="582930" cy="131445"/>
          </a:xfrm>
          <a:prstGeom prst="roundRect">
            <a:avLst>
              <a:gd name="adj" fmla="val 8696"/>
            </a:avLst>
          </a:prstGeom>
          <a:noFill/>
          <a:ln w="5715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45845" y="3089761"/>
            <a:ext cx="652882" cy="131445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CONTRIBUTE</a:t>
            </a:r>
            <a:endParaRPr lang="en-US" sz="495" dirty="0"/>
          </a:p>
        </p:txBody>
      </p:sp>
      <p:sp>
        <p:nvSpPr>
          <p:cNvPr id="29" name="Shape 25"/>
          <p:cNvSpPr/>
          <p:nvPr/>
        </p:nvSpPr>
        <p:spPr>
          <a:xfrm>
            <a:off x="1674495" y="3089761"/>
            <a:ext cx="445770" cy="131445"/>
          </a:xfrm>
          <a:prstGeom prst="roundRect">
            <a:avLst>
              <a:gd name="adj" fmla="val 8696"/>
            </a:avLst>
          </a:prstGeom>
          <a:noFill/>
          <a:ln w="5715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674495" y="3089761"/>
            <a:ext cx="508635" cy="131445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PERSIST</a:t>
            </a:r>
            <a:endParaRPr lang="en-US" sz="495" dirty="0"/>
          </a:p>
        </p:txBody>
      </p:sp>
      <p:sp>
        <p:nvSpPr>
          <p:cNvPr id="31" name="Shape 27"/>
          <p:cNvSpPr/>
          <p:nvPr/>
        </p:nvSpPr>
        <p:spPr>
          <a:xfrm>
            <a:off x="3242280" y="2025342"/>
            <a:ext cx="2659350" cy="1338739"/>
          </a:xfrm>
          <a:prstGeom prst="roundRect">
            <a:avLst>
              <a:gd name="adj" fmla="val 1708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60000">
                <a:srgbClr val="0D0F14">
                  <a:alpha val="95000"/>
                </a:srgbClr>
              </a:gs>
            </a:gsLst>
            <a:lin ang="4200000" scaled="0"/>
          </a:gradFill>
          <a:ln w="5715">
            <a:solidFill>
              <a:srgbClr val="1F2A3D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242280" y="2025342"/>
            <a:ext cx="17145" cy="1327309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5400000" scaled="0"/>
          </a:gradFill>
          <a:ln/>
        </p:spPr>
      </p:sp>
      <p:sp>
        <p:nvSpPr>
          <p:cNvPr id="33" name="Text 29"/>
          <p:cNvSpPr/>
          <p:nvPr/>
        </p:nvSpPr>
        <p:spPr>
          <a:xfrm>
            <a:off x="5364420" y="2099637"/>
            <a:ext cx="5257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E5FF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PRINCIPLE</a:t>
            </a:r>
            <a:endParaRPr lang="en-US" sz="495" dirty="0"/>
          </a:p>
        </p:txBody>
      </p:sp>
      <p:sp>
        <p:nvSpPr>
          <p:cNvPr id="34" name="Text 30"/>
          <p:cNvSpPr/>
          <p:nvPr/>
        </p:nvSpPr>
        <p:spPr>
          <a:xfrm>
            <a:off x="3385155" y="2179647"/>
            <a:ext cx="2658432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102870" dist="50800" dir="5400000">
              <a:srgbClr val="2196F3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20" b="1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pPr algn="l" indent="0" marL="0">
              <a:buNone/>
            </a:pPr>
            <a:r>
              <a:rPr lang="en-US" sz="810" b="1" spc="45" kern="0" dirty="0">
                <a:solidFill>
                  <a:srgbClr val="8A93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 03</a:t>
            </a:r>
            <a:endParaRPr lang="en-US" sz="1620" dirty="0"/>
          </a:p>
        </p:txBody>
      </p:sp>
      <p:sp>
        <p:nvSpPr>
          <p:cNvPr id="35" name="Text 31"/>
          <p:cNvSpPr/>
          <p:nvPr/>
        </p:nvSpPr>
        <p:spPr>
          <a:xfrm>
            <a:off x="3385155" y="2488257"/>
            <a:ext cx="2658432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spc="45" kern="0" dirty="0">
                <a:solidFill>
                  <a:srgbClr val="E6EA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协作原则</a:t>
            </a:r>
            <a:endParaRPr lang="en-US" sz="990" dirty="0"/>
          </a:p>
        </p:txBody>
      </p:sp>
      <p:sp>
        <p:nvSpPr>
          <p:cNvPr id="36" name="Text 32"/>
          <p:cNvSpPr/>
          <p:nvPr/>
        </p:nvSpPr>
        <p:spPr>
          <a:xfrm>
            <a:off x="3385155" y="2739717"/>
            <a:ext cx="2658432" cy="13501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高效沟通、规范提交、尊重他人，让团队协作既流畅又有秩序。</a:t>
            </a:r>
            <a:endParaRPr lang="en-US" sz="608" dirty="0"/>
          </a:p>
        </p:txBody>
      </p:sp>
      <p:sp>
        <p:nvSpPr>
          <p:cNvPr id="37" name="Shape 33"/>
          <p:cNvSpPr/>
          <p:nvPr/>
        </p:nvSpPr>
        <p:spPr>
          <a:xfrm>
            <a:off x="3385155" y="2954744"/>
            <a:ext cx="628650" cy="131445"/>
          </a:xfrm>
          <a:prstGeom prst="roundRect">
            <a:avLst>
              <a:gd name="adj" fmla="val 8696"/>
            </a:avLst>
          </a:prstGeom>
          <a:noFill/>
          <a:ln w="5715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385155" y="2954744"/>
            <a:ext cx="704088" cy="131445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COMMUNICATE</a:t>
            </a:r>
            <a:endParaRPr lang="en-US" sz="495" dirty="0"/>
          </a:p>
        </p:txBody>
      </p:sp>
      <p:sp>
        <p:nvSpPr>
          <p:cNvPr id="39" name="Shape 35"/>
          <p:cNvSpPr/>
          <p:nvPr/>
        </p:nvSpPr>
        <p:spPr>
          <a:xfrm>
            <a:off x="4059525" y="2954744"/>
            <a:ext cx="400050" cy="131445"/>
          </a:xfrm>
          <a:prstGeom prst="roundRect">
            <a:avLst>
              <a:gd name="adj" fmla="val 8696"/>
            </a:avLst>
          </a:prstGeom>
          <a:noFill/>
          <a:ln w="5715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059525" y="2954744"/>
            <a:ext cx="462915" cy="131445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COMMIT</a:t>
            </a:r>
            <a:endParaRPr lang="en-US" sz="495" dirty="0"/>
          </a:p>
        </p:txBody>
      </p:sp>
      <p:sp>
        <p:nvSpPr>
          <p:cNvPr id="41" name="Shape 37"/>
          <p:cNvSpPr/>
          <p:nvPr/>
        </p:nvSpPr>
        <p:spPr>
          <a:xfrm>
            <a:off x="4505295" y="2954744"/>
            <a:ext cx="445770" cy="131445"/>
          </a:xfrm>
          <a:prstGeom prst="roundRect">
            <a:avLst>
              <a:gd name="adj" fmla="val 8696"/>
            </a:avLst>
          </a:prstGeom>
          <a:noFill/>
          <a:ln w="5715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505295" y="2954744"/>
            <a:ext cx="508635" cy="131445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RESPECT</a:t>
            </a:r>
            <a:endParaRPr lang="en-US" sz="495" dirty="0"/>
          </a:p>
        </p:txBody>
      </p:sp>
      <p:sp>
        <p:nvSpPr>
          <p:cNvPr id="43" name="Shape 39"/>
          <p:cNvSpPr/>
          <p:nvPr/>
        </p:nvSpPr>
        <p:spPr>
          <a:xfrm>
            <a:off x="6027360" y="2025342"/>
            <a:ext cx="2659440" cy="1338739"/>
          </a:xfrm>
          <a:prstGeom prst="roundRect">
            <a:avLst>
              <a:gd name="adj" fmla="val 1708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60000">
                <a:srgbClr val="0D0F14">
                  <a:alpha val="95000"/>
                </a:srgbClr>
              </a:gs>
            </a:gsLst>
            <a:lin ang="4200000" scaled="0"/>
          </a:gradFill>
          <a:ln w="5715">
            <a:solidFill>
              <a:srgbClr val="1F2A3D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027360" y="2025342"/>
            <a:ext cx="17145" cy="1327309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5400000" scaled="0"/>
          </a:gradFill>
          <a:ln/>
        </p:spPr>
      </p:sp>
      <p:sp>
        <p:nvSpPr>
          <p:cNvPr id="45" name="Text 41"/>
          <p:cNvSpPr/>
          <p:nvPr/>
        </p:nvSpPr>
        <p:spPr>
          <a:xfrm>
            <a:off x="8303895" y="2099637"/>
            <a:ext cx="37147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E5FF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FUTURE</a:t>
            </a:r>
            <a:endParaRPr lang="en-US" sz="495" dirty="0"/>
          </a:p>
        </p:txBody>
      </p:sp>
      <p:sp>
        <p:nvSpPr>
          <p:cNvPr id="46" name="Text 42"/>
          <p:cNvSpPr/>
          <p:nvPr/>
        </p:nvSpPr>
        <p:spPr>
          <a:xfrm>
            <a:off x="6170235" y="2179647"/>
            <a:ext cx="2658532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102870" dist="50800" dir="5400000">
              <a:srgbClr val="2196F3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20" b="1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pPr algn="l" indent="0" marL="0">
              <a:buNone/>
            </a:pPr>
            <a:r>
              <a:rPr lang="en-US" sz="810" b="1" spc="45" kern="0" dirty="0">
                <a:solidFill>
                  <a:srgbClr val="8A93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 03</a:t>
            </a:r>
            <a:endParaRPr lang="en-US" sz="1620" dirty="0"/>
          </a:p>
        </p:txBody>
      </p:sp>
      <p:sp>
        <p:nvSpPr>
          <p:cNvPr id="47" name="Text 43"/>
          <p:cNvSpPr/>
          <p:nvPr/>
        </p:nvSpPr>
        <p:spPr>
          <a:xfrm>
            <a:off x="6170235" y="2488257"/>
            <a:ext cx="2658532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spc="45" kern="0" dirty="0">
                <a:solidFill>
                  <a:srgbClr val="E6EA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未来规划</a:t>
            </a:r>
            <a:endParaRPr lang="en-US" sz="990" dirty="0"/>
          </a:p>
        </p:txBody>
      </p:sp>
      <p:sp>
        <p:nvSpPr>
          <p:cNvPr id="48" name="Text 44"/>
          <p:cNvSpPr/>
          <p:nvPr/>
        </p:nvSpPr>
        <p:spPr>
          <a:xfrm>
            <a:off x="6170235" y="2739717"/>
            <a:ext cx="2658532" cy="13501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 年开源目标与个人成长路线图，把每一步都走得更踏实。</a:t>
            </a:r>
            <a:endParaRPr lang="en-US" sz="608" dirty="0"/>
          </a:p>
        </p:txBody>
      </p:sp>
      <p:sp>
        <p:nvSpPr>
          <p:cNvPr id="49" name="Shape 45"/>
          <p:cNvSpPr/>
          <p:nvPr/>
        </p:nvSpPr>
        <p:spPr>
          <a:xfrm>
            <a:off x="6170235" y="2954744"/>
            <a:ext cx="537210" cy="131445"/>
          </a:xfrm>
          <a:prstGeom prst="roundRect">
            <a:avLst>
              <a:gd name="adj" fmla="val 8696"/>
            </a:avLst>
          </a:prstGeom>
          <a:noFill/>
          <a:ln w="5715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170235" y="2954744"/>
            <a:ext cx="601675" cy="131445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GOAL 2022</a:t>
            </a:r>
            <a:endParaRPr lang="en-US" sz="495" dirty="0"/>
          </a:p>
        </p:txBody>
      </p:sp>
      <p:sp>
        <p:nvSpPr>
          <p:cNvPr id="51" name="Shape 47"/>
          <p:cNvSpPr/>
          <p:nvPr/>
        </p:nvSpPr>
        <p:spPr>
          <a:xfrm>
            <a:off x="6753165" y="2954744"/>
            <a:ext cx="400050" cy="131445"/>
          </a:xfrm>
          <a:prstGeom prst="roundRect">
            <a:avLst>
              <a:gd name="adj" fmla="val 8696"/>
            </a:avLst>
          </a:prstGeom>
          <a:noFill/>
          <a:ln w="5715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6753165" y="2954744"/>
            <a:ext cx="462915" cy="131445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GROWTH</a:t>
            </a:r>
            <a:endParaRPr lang="en-US" sz="495" dirty="0"/>
          </a:p>
        </p:txBody>
      </p:sp>
      <p:sp>
        <p:nvSpPr>
          <p:cNvPr id="53" name="Shape 49"/>
          <p:cNvSpPr/>
          <p:nvPr/>
        </p:nvSpPr>
        <p:spPr>
          <a:xfrm>
            <a:off x="7198935" y="2954744"/>
            <a:ext cx="445770" cy="131445"/>
          </a:xfrm>
          <a:prstGeom prst="roundRect">
            <a:avLst>
              <a:gd name="adj" fmla="val 8696"/>
            </a:avLst>
          </a:prstGeom>
          <a:noFill/>
          <a:ln w="5715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7198935" y="2954744"/>
            <a:ext cx="508635" cy="131445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ROADMAP</a:t>
            </a:r>
            <a:endParaRPr lang="en-US" sz="495" dirty="0"/>
          </a:p>
        </p:txBody>
      </p:sp>
      <p:sp>
        <p:nvSpPr>
          <p:cNvPr id="55" name="Shape 51"/>
          <p:cNvSpPr/>
          <p:nvPr/>
        </p:nvSpPr>
        <p:spPr>
          <a:xfrm>
            <a:off x="457200" y="3478381"/>
            <a:ext cx="4051935" cy="491490"/>
          </a:xfrm>
          <a:prstGeom prst="roundRect">
            <a:avLst>
              <a:gd name="adj" fmla="val 3488"/>
            </a:avLst>
          </a:prstGeom>
          <a:solidFill>
            <a:srgbClr val="12141B">
              <a:alpha val="70000"/>
            </a:srgbClr>
          </a:solidFill>
          <a:ln w="5715">
            <a:solidFill>
              <a:srgbClr val="1F2A3D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457200" y="3947011"/>
            <a:ext cx="2424234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0" scaled="0"/>
          </a:gradFill>
          <a:ln/>
        </p:spPr>
      </p:sp>
      <p:sp>
        <p:nvSpPr>
          <p:cNvPr id="57" name="Text 53"/>
          <p:cNvSpPr/>
          <p:nvPr/>
        </p:nvSpPr>
        <p:spPr>
          <a:xfrm>
            <a:off x="588645" y="3586966"/>
            <a:ext cx="74295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00E5FF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A93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条</a:t>
            </a:r>
            <a:endParaRPr lang="en-US" sz="2160" dirty="0"/>
          </a:p>
        </p:txBody>
      </p:sp>
      <p:sp>
        <p:nvSpPr>
          <p:cNvPr id="58" name="Text 54"/>
          <p:cNvSpPr/>
          <p:nvPr/>
        </p:nvSpPr>
        <p:spPr>
          <a:xfrm>
            <a:off x="1171575" y="3595539"/>
            <a:ext cx="3590849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90" kern="0" dirty="0">
                <a:solidFill>
                  <a:srgbClr val="E6EA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核心原则</a:t>
            </a:r>
            <a:endParaRPr lang="en-US" sz="630" dirty="0"/>
          </a:p>
        </p:txBody>
      </p:sp>
      <p:sp>
        <p:nvSpPr>
          <p:cNvPr id="59" name="Text 55"/>
          <p:cNvSpPr/>
          <p:nvPr/>
        </p:nvSpPr>
        <p:spPr>
          <a:xfrm>
            <a:off x="1171575" y="3744129"/>
            <a:ext cx="3590849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63" spc="45" kern="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协作与贡献准则 / Core Collaboration Principles</a:t>
            </a:r>
            <a:endParaRPr lang="en-US" sz="563" dirty="0"/>
          </a:p>
        </p:txBody>
      </p:sp>
      <p:sp>
        <p:nvSpPr>
          <p:cNvPr id="60" name="Shape 56"/>
          <p:cNvSpPr/>
          <p:nvPr/>
        </p:nvSpPr>
        <p:spPr>
          <a:xfrm>
            <a:off x="4634865" y="3478381"/>
            <a:ext cx="4051935" cy="491490"/>
          </a:xfrm>
          <a:prstGeom prst="roundRect">
            <a:avLst>
              <a:gd name="adj" fmla="val 3488"/>
            </a:avLst>
          </a:prstGeom>
          <a:solidFill>
            <a:srgbClr val="12141B">
              <a:alpha val="70000"/>
            </a:srgbClr>
          </a:solidFill>
          <a:ln w="5715">
            <a:solidFill>
              <a:srgbClr val="1F2A3D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4634865" y="3947011"/>
            <a:ext cx="2424234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E5FF"/>
              </a:gs>
            </a:gsLst>
            <a:lin ang="0" scaled="0"/>
          </a:gradFill>
          <a:ln/>
        </p:spPr>
      </p:sp>
      <p:sp>
        <p:nvSpPr>
          <p:cNvPr id="62" name="Text 58"/>
          <p:cNvSpPr/>
          <p:nvPr/>
        </p:nvSpPr>
        <p:spPr>
          <a:xfrm>
            <a:off x="4766310" y="3586966"/>
            <a:ext cx="83439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00E5FF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Q1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A93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—Q4</a:t>
            </a:r>
            <a:endParaRPr lang="en-US" sz="2160" dirty="0"/>
          </a:p>
        </p:txBody>
      </p:sp>
      <p:sp>
        <p:nvSpPr>
          <p:cNvPr id="63" name="Text 59"/>
          <p:cNvSpPr/>
          <p:nvPr/>
        </p:nvSpPr>
        <p:spPr>
          <a:xfrm>
            <a:off x="5440680" y="3595539"/>
            <a:ext cx="3488436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90" kern="0" dirty="0">
                <a:solidFill>
                  <a:srgbClr val="E6EAF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行动计划</a:t>
            </a:r>
            <a:endParaRPr lang="en-US" sz="630" dirty="0"/>
          </a:p>
        </p:txBody>
      </p:sp>
      <p:sp>
        <p:nvSpPr>
          <p:cNvPr id="64" name="Text 60"/>
          <p:cNvSpPr/>
          <p:nvPr/>
        </p:nvSpPr>
        <p:spPr>
          <a:xfrm>
            <a:off x="5440680" y="3744129"/>
            <a:ext cx="348843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63" spc="45" kern="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四季度分步规划 / Quarterly Action Plan</a:t>
            </a:r>
            <a:endParaRPr lang="en-US" sz="563" dirty="0"/>
          </a:p>
        </p:txBody>
      </p:sp>
      <p:sp>
        <p:nvSpPr>
          <p:cNvPr id="65" name="Text 61"/>
          <p:cNvSpPr/>
          <p:nvPr/>
        </p:nvSpPr>
        <p:spPr>
          <a:xfrm>
            <a:off x="411480" y="4943475"/>
            <a:ext cx="140817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OPEN SOURCE JOURNEY</a:t>
            </a:r>
            <a:endParaRPr lang="en-US" sz="495" dirty="0"/>
          </a:p>
        </p:txBody>
      </p:sp>
      <p:sp>
        <p:nvSpPr>
          <p:cNvPr id="66" name="Shape 62"/>
          <p:cNvSpPr/>
          <p:nvPr/>
        </p:nvSpPr>
        <p:spPr>
          <a:xfrm>
            <a:off x="4760595" y="4969193"/>
            <a:ext cx="34290" cy="3429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67" name="Shape 63"/>
          <p:cNvSpPr/>
          <p:nvPr/>
        </p:nvSpPr>
        <p:spPr>
          <a:xfrm>
            <a:off x="4829175" y="4969193"/>
            <a:ext cx="34290" cy="34290"/>
          </a:xfrm>
          <a:prstGeom prst="ellipse">
            <a:avLst/>
          </a:prstGeom>
          <a:solidFill>
            <a:srgbClr val="00E5FF"/>
          </a:solidFill>
          <a:ln/>
          <a:effectLst>
            <a:outerShdw sx="100000" sy="100000" kx="0" ky="0" algn="bl" rotWithShape="0" blurRad="76200" dist="50800" dir="16200000">
              <a:srgbClr val="00E5FF">
                <a:alpha val="100000"/>
              </a:srgbClr>
            </a:outerShdw>
          </a:effectLst>
        </p:spPr>
      </p:sp>
      <p:sp>
        <p:nvSpPr>
          <p:cNvPr id="68" name="Shape 64"/>
          <p:cNvSpPr/>
          <p:nvPr/>
        </p:nvSpPr>
        <p:spPr>
          <a:xfrm>
            <a:off x="4897755" y="4969193"/>
            <a:ext cx="34290" cy="3429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69" name="Shape 65"/>
          <p:cNvSpPr/>
          <p:nvPr/>
        </p:nvSpPr>
        <p:spPr>
          <a:xfrm>
            <a:off x="4966335" y="4969193"/>
            <a:ext cx="34290" cy="3429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70" name="Shape 66"/>
          <p:cNvSpPr/>
          <p:nvPr/>
        </p:nvSpPr>
        <p:spPr>
          <a:xfrm>
            <a:off x="5034915" y="4969193"/>
            <a:ext cx="34290" cy="3429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71" name="Text 67"/>
          <p:cNvSpPr/>
          <p:nvPr/>
        </p:nvSpPr>
        <p:spPr>
          <a:xfrm>
            <a:off x="8161020" y="4943475"/>
            <a:ext cx="6400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8A93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CH.02 / 05</a:t>
            </a:r>
            <a:endParaRPr lang="en-US" sz="49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114800" y="-3343275"/>
            <a:ext cx="10058400" cy="5657850"/>
          </a:xfrm>
          <a:prstGeom prst="ellipse">
            <a:avLst/>
          </a:prstGeom>
          <a:gradFill rotWithShape="1">
            <a:gsLst>
              <a:gs pos="0">
                <a:srgbClr val="0F2647">
                  <a:alpha val="40000"/>
                </a:srgbClr>
              </a:gs>
              <a:gs pos="100000">
                <a:srgbClr val="0F264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5486400" y="308610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0A2038">
                  <a:alpha val="40000"/>
                </a:srgbClr>
              </a:gs>
              <a:gs pos="100000">
                <a:srgbClr val="0A203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342900" y="274320"/>
            <a:ext cx="1777365" cy="171450"/>
          </a:xfrm>
          <a:prstGeom prst="roundRect">
            <a:avLst>
              <a:gd name="adj" fmla="val 13333"/>
            </a:avLst>
          </a:prstGeom>
          <a:solidFill>
            <a:srgbClr val="00E5FF">
              <a:alpha val="6000"/>
            </a:srgbClr>
          </a:solidFill>
          <a:ln w="5715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" y="274320"/>
            <a:ext cx="1990649" cy="171450"/>
          </a:xfrm>
          <a:prstGeom prst="rect">
            <a:avLst/>
          </a:prstGeom>
          <a:noFill/>
          <a:ln/>
        </p:spPr>
        <p:txBody>
          <a:bodyPr wrap="square" lIns="28575" tIns="68580" rIns="68580" bIns="28575" rtlCol="0" anchor="ctr"/>
          <a:lstStyle/>
          <a:p>
            <a:pPr algn="l" indent="0" marL="0">
              <a:buNone/>
            </a:pPr>
            <a:r>
              <a:rPr lang="en-US" sz="585" spc="68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CHAPTER 09 · BEST PRACTICES</a:t>
            </a:r>
            <a:endParaRPr lang="en-US" sz="585" dirty="0"/>
          </a:p>
        </p:txBody>
      </p:sp>
      <p:sp>
        <p:nvSpPr>
          <p:cNvPr id="7" name="Text 5"/>
          <p:cNvSpPr/>
          <p:nvPr/>
        </p:nvSpPr>
        <p:spPr>
          <a:xfrm>
            <a:off x="8286750" y="308610"/>
            <a:ext cx="58864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8FA5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P.09 / 12</a:t>
            </a:r>
            <a:endParaRPr lang="en-US" sz="585" dirty="0"/>
          </a:p>
        </p:txBody>
      </p:sp>
      <p:sp>
        <p:nvSpPr>
          <p:cNvPr id="8" name="Text 6"/>
          <p:cNvSpPr/>
          <p:nvPr/>
        </p:nvSpPr>
        <p:spPr>
          <a:xfrm>
            <a:off x="342900" y="525780"/>
            <a:ext cx="9473184" cy="348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90" b="1" spc="45" kern="0" dirty="0">
                <a:solidFill>
                  <a:srgbClr val="E8EEF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</a:t>
            </a:r>
            <a:pPr algn="l" indent="0" marL="0">
              <a:buNone/>
            </a:pPr>
            <a:r>
              <a:rPr lang="en-US" sz="1890" b="1" spc="45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实践</a:t>
            </a:r>
            <a:pPr algn="l" indent="0" marL="0">
              <a:buNone/>
            </a:pPr>
            <a:r>
              <a:rPr lang="en-US" sz="1890" b="1" spc="45" kern="0" dirty="0">
                <a:solidFill>
                  <a:srgbClr val="E8EEF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最佳</a:t>
            </a:r>
            <a:pPr algn="l" indent="0" marL="0">
              <a:buNone/>
            </a:pPr>
            <a:r>
              <a:rPr lang="en-US" sz="1890" b="1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实践</a:t>
            </a:r>
            <a:endParaRPr lang="en-US" sz="1890" dirty="0"/>
          </a:p>
        </p:txBody>
      </p:sp>
      <p:sp>
        <p:nvSpPr>
          <p:cNvPr id="9" name="Shape 7"/>
          <p:cNvSpPr/>
          <p:nvPr/>
        </p:nvSpPr>
        <p:spPr>
          <a:xfrm>
            <a:off x="342900" y="954405"/>
            <a:ext cx="6858000" cy="163681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342900" y="954405"/>
            <a:ext cx="0" cy="163681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" y="954405"/>
            <a:ext cx="7680960" cy="163681"/>
          </a:xfrm>
          <a:prstGeom prst="rect">
            <a:avLst/>
          </a:prstGeom>
          <a:noFill/>
          <a:ln/>
        </p:spPr>
        <p:txBody>
          <a:bodyPr wrap="none" lIns="11430" tIns="91440" rIns="0" bIns="1143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8F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在实践中总结出的最佳实践，是无数开源贡献者踩过坑后留下的经验。遵循这些原则，你的开源之旅将更加顺畅，也会赢得更多尊重与机会。</a:t>
            </a:r>
            <a:endParaRPr lang="en-US" sz="653" dirty="0"/>
          </a:p>
        </p:txBody>
      </p:sp>
      <p:sp>
        <p:nvSpPr>
          <p:cNvPr id="12" name="Shape 10"/>
          <p:cNvSpPr/>
          <p:nvPr/>
        </p:nvSpPr>
        <p:spPr>
          <a:xfrm>
            <a:off x="342900" y="1289536"/>
            <a:ext cx="45720" cy="45720"/>
          </a:xfrm>
          <a:prstGeom prst="ellipse">
            <a:avLst/>
          </a:prstGeom>
          <a:solidFill>
            <a:srgbClr val="00E5FF"/>
          </a:solidFill>
          <a:ln/>
          <a:effectLst>
            <a:outerShdw sx="100000" sy="100000" kx="0" ky="0" algn="bl" rotWithShape="0" blurRad="95250" dist="50800" dir="16200000">
              <a:srgbClr val="00E5FF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5770" y="1243816"/>
            <a:ext cx="67437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45" kern="0" dirty="0">
                <a:solidFill>
                  <a:srgbClr val="E8EEF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四条核心原则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3703320" y="1269534"/>
            <a:ext cx="86410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8FA5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PRINCIPLES · 04</a:t>
            </a:r>
            <a:endParaRPr lang="en-US" sz="495" dirty="0"/>
          </a:p>
        </p:txBody>
      </p:sp>
      <p:sp>
        <p:nvSpPr>
          <p:cNvPr id="15" name="Shape 13"/>
          <p:cNvSpPr/>
          <p:nvPr/>
        </p:nvSpPr>
        <p:spPr>
          <a:xfrm>
            <a:off x="342900" y="1460986"/>
            <a:ext cx="4131945" cy="537210"/>
          </a:xfrm>
          <a:prstGeom prst="roundRect">
            <a:avLst>
              <a:gd name="adj" fmla="val 8511"/>
            </a:avLst>
          </a:prstGeom>
          <a:gradFill rotWithShape="1">
            <a:gsLst>
              <a:gs pos="0">
                <a:srgbClr val="101F36"/>
              </a:gs>
              <a:gs pos="100000">
                <a:srgbClr val="0D1A30"/>
              </a:gs>
            </a:gsLst>
            <a:lin ang="2700000" scaled="0"/>
          </a:gradFill>
          <a:ln w="17145">
            <a:solidFill>
              <a:srgbClr val="2196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485" y="1535281"/>
            <a:ext cx="377190" cy="160020"/>
          </a:xfrm>
          <a:prstGeom prst="rect">
            <a:avLst/>
          </a:prstGeom>
          <a:noFill/>
          <a:ln/>
          <a:effectLst>
            <a:outerShdw sx="100000" sy="100000" kx="0" ky="0" algn="bl" rotWithShape="0" blurRad="102870" dist="50800" dir="5400000">
              <a:srgbClr val="2196F3">
                <a:alpha val="40000"/>
              </a:srgbClr>
            </a:outerShdw>
          </a:effectLst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760095" y="1535281"/>
            <a:ext cx="405170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b="1" spc="23" kern="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选项目看社区</a:t>
            </a:r>
            <a:pPr algn="l" indent="0" marL="0">
              <a:buNone/>
            </a:pPr>
            <a:r>
              <a:rPr lang="en-US" sz="450" b="1" spc="23" kern="0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CHOICE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1371600" y="1564571"/>
            <a:ext cx="320040" cy="108585"/>
          </a:xfrm>
          <a:prstGeom prst="roundRect">
            <a:avLst>
              <a:gd name="adj" fmla="val 15789"/>
            </a:avLst>
          </a:prstGeom>
          <a:noFill/>
          <a:ln w="571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1564571"/>
            <a:ext cx="377190" cy="10858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CHOICE</a:t>
            </a:r>
            <a:endParaRPr lang="en-US" sz="450" dirty="0"/>
          </a:p>
        </p:txBody>
      </p:sp>
      <p:sp>
        <p:nvSpPr>
          <p:cNvPr id="20" name="Text 18"/>
          <p:cNvSpPr/>
          <p:nvPr/>
        </p:nvSpPr>
        <p:spPr>
          <a:xfrm>
            <a:off x="760095" y="1695301"/>
            <a:ext cx="405170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8F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优质项目的三大信号：</a:t>
            </a:r>
            <a:pPr algn="l" indent="0" marL="0">
              <a:lnSpc>
                <a:spcPct val="160000"/>
              </a:lnSpc>
              <a:buNone/>
            </a:pPr>
            <a:r>
              <a:rPr lang="en-US" sz="563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活跃的 Issue 讨论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8F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60000"/>
              </a:lnSpc>
              <a:buNone/>
            </a:pPr>
            <a:r>
              <a:rPr lang="en-US" sz="563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清晰的 Roadmap 路线图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8F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60000"/>
              </a:lnSpc>
              <a:buNone/>
            </a:pPr>
            <a:r>
              <a:rPr lang="en-US" sz="563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友善包容的社区氛围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8F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。选对项目，是开源贡献成功的一半。</a:t>
            </a:r>
            <a:endParaRPr lang="en-US" sz="563" dirty="0"/>
          </a:p>
        </p:txBody>
      </p:sp>
      <p:sp>
        <p:nvSpPr>
          <p:cNvPr id="21" name="Shape 19"/>
          <p:cNvSpPr/>
          <p:nvPr/>
        </p:nvSpPr>
        <p:spPr>
          <a:xfrm>
            <a:off x="342900" y="2055346"/>
            <a:ext cx="4131945" cy="537210"/>
          </a:xfrm>
          <a:prstGeom prst="roundRect">
            <a:avLst>
              <a:gd name="adj" fmla="val 8511"/>
            </a:avLst>
          </a:prstGeom>
          <a:gradFill rotWithShape="1">
            <a:gsLst>
              <a:gs pos="0">
                <a:srgbClr val="101F36"/>
              </a:gs>
              <a:gs pos="100000">
                <a:srgbClr val="0D1A30"/>
              </a:gs>
            </a:gsLst>
            <a:lin ang="2700000" scaled="0"/>
          </a:gradFill>
          <a:ln w="17145">
            <a:solidFill>
              <a:srgbClr val="42A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1485" y="2129641"/>
            <a:ext cx="377190" cy="160020"/>
          </a:xfrm>
          <a:prstGeom prst="rect">
            <a:avLst/>
          </a:prstGeom>
          <a:noFill/>
          <a:ln/>
          <a:effectLst>
            <a:outerShdw sx="100000" sy="100000" kx="0" ky="0" algn="bl" rotWithShape="0" blurRad="102870" dist="50800" dir="5400000">
              <a:srgbClr val="2196F3">
                <a:alpha val="40000"/>
              </a:srgbClr>
            </a:outerShdw>
          </a:effectLst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60095" y="2129641"/>
            <a:ext cx="405170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b="1" spc="23" kern="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提交规范严谨</a:t>
            </a:r>
            <a:pPr algn="l" indent="0" marL="0">
              <a:buNone/>
            </a:pPr>
            <a:r>
              <a:rPr lang="en-US" sz="450" b="1" spc="23" kern="0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DISCIPLINE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1371600" y="2158931"/>
            <a:ext cx="480060" cy="108585"/>
          </a:xfrm>
          <a:prstGeom prst="roundRect">
            <a:avLst>
              <a:gd name="adj" fmla="val 15789"/>
            </a:avLst>
          </a:prstGeom>
          <a:noFill/>
          <a:ln w="571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2158931"/>
            <a:ext cx="537667" cy="10858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DISCIPLINE</a:t>
            </a:r>
            <a:endParaRPr lang="en-US" sz="450" dirty="0"/>
          </a:p>
        </p:txBody>
      </p:sp>
      <p:sp>
        <p:nvSpPr>
          <p:cNvPr id="26" name="Text 24"/>
          <p:cNvSpPr/>
          <p:nvPr/>
        </p:nvSpPr>
        <p:spPr>
          <a:xfrm>
            <a:off x="760095" y="2289661"/>
            <a:ext cx="405170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8F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遵循</a:t>
            </a:r>
            <a:pPr algn="l" indent="0" marL="0">
              <a:lnSpc>
                <a:spcPct val="160000"/>
              </a:lnSpc>
              <a:buNone/>
            </a:pPr>
            <a:r>
              <a:rPr lang="en-US" sz="563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Conventional Commits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8F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提交规范，保持</a:t>
            </a:r>
            <a:pPr algn="l" indent="0" marL="0">
              <a:lnSpc>
                <a:spcPct val="160000"/>
              </a:lnSpc>
              <a:buNone/>
            </a:pPr>
            <a:r>
              <a:rPr lang="en-US" sz="563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 小而聚焦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8F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，一个 PR 只解决一个问题——更易被 Review、更易合并、更易回滚。</a:t>
            </a:r>
            <a:endParaRPr lang="en-US" sz="563" dirty="0"/>
          </a:p>
        </p:txBody>
      </p:sp>
      <p:sp>
        <p:nvSpPr>
          <p:cNvPr id="27" name="Shape 25"/>
          <p:cNvSpPr/>
          <p:nvPr/>
        </p:nvSpPr>
        <p:spPr>
          <a:xfrm>
            <a:off x="342900" y="2649706"/>
            <a:ext cx="4131945" cy="537210"/>
          </a:xfrm>
          <a:prstGeom prst="roundRect">
            <a:avLst>
              <a:gd name="adj" fmla="val 8511"/>
            </a:avLst>
          </a:prstGeom>
          <a:gradFill rotWithShape="1">
            <a:gsLst>
              <a:gs pos="0">
                <a:srgbClr val="101F36"/>
              </a:gs>
              <a:gs pos="100000">
                <a:srgbClr val="0D1A30"/>
              </a:gs>
            </a:gsLst>
            <a:lin ang="2700000" scaled="0"/>
          </a:gradFill>
          <a:ln w="17145">
            <a:solidFill>
              <a:srgbClr val="00E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1485" y="2724001"/>
            <a:ext cx="377190" cy="160020"/>
          </a:xfrm>
          <a:prstGeom prst="rect">
            <a:avLst/>
          </a:prstGeom>
          <a:noFill/>
          <a:ln/>
          <a:effectLst>
            <a:outerShdw sx="100000" sy="100000" kx="0" ky="0" algn="bl" rotWithShape="0" blurRad="102870" dist="50800" dir="5400000">
              <a:srgbClr val="00E5FF">
                <a:alpha val="40000"/>
              </a:srgbClr>
            </a:outerShdw>
          </a:effectLst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1170" dirty="0"/>
          </a:p>
        </p:txBody>
      </p:sp>
      <p:sp>
        <p:nvSpPr>
          <p:cNvPr id="29" name="Text 27"/>
          <p:cNvSpPr/>
          <p:nvPr/>
        </p:nvSpPr>
        <p:spPr>
          <a:xfrm>
            <a:off x="760095" y="2724001"/>
            <a:ext cx="405170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b="1" spc="23" kern="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沟通先礼后兵</a:t>
            </a:r>
            <a:pPr algn="l" indent="0" marL="0">
              <a:buNone/>
            </a:pPr>
            <a:r>
              <a:rPr lang="en-US" sz="450" b="1" spc="23" kern="0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COMMUNITY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1371600" y="2753291"/>
            <a:ext cx="440055" cy="108585"/>
          </a:xfrm>
          <a:prstGeom prst="roundRect">
            <a:avLst>
              <a:gd name="adj" fmla="val 15789"/>
            </a:avLst>
          </a:prstGeom>
          <a:noFill/>
          <a:ln w="571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2753291"/>
            <a:ext cx="497205" cy="10858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COMMUNITY</a:t>
            </a:r>
            <a:endParaRPr lang="en-US" sz="450" dirty="0"/>
          </a:p>
        </p:txBody>
      </p:sp>
      <p:sp>
        <p:nvSpPr>
          <p:cNvPr id="32" name="Text 30"/>
          <p:cNvSpPr/>
          <p:nvPr/>
        </p:nvSpPr>
        <p:spPr>
          <a:xfrm>
            <a:off x="760095" y="2884021"/>
            <a:ext cx="405170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8F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提问遵循</a:t>
            </a:r>
            <a:pPr algn="l" indent="0" marL="0">
              <a:lnSpc>
                <a:spcPct val="160000"/>
              </a:lnSpc>
              <a:buNone/>
            </a:pPr>
            <a:r>
              <a:rPr lang="en-US" sz="563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最小复现原则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8F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pPr algn="l" indent="0" marL="0">
              <a:lnSpc>
                <a:spcPct val="160000"/>
              </a:lnSpc>
              <a:buNone/>
            </a:pPr>
            <a:r>
              <a:rPr lang="en-US" sz="563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先阅读文档再求助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8F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，主动提供环境信息。尊重他人的时间，就是尊重自己的求助效率。</a:t>
            </a:r>
            <a:endParaRPr lang="en-US" sz="563" dirty="0"/>
          </a:p>
        </p:txBody>
      </p:sp>
      <p:sp>
        <p:nvSpPr>
          <p:cNvPr id="33" name="Shape 31"/>
          <p:cNvSpPr/>
          <p:nvPr/>
        </p:nvSpPr>
        <p:spPr>
          <a:xfrm>
            <a:off x="342900" y="3244066"/>
            <a:ext cx="4131945" cy="537210"/>
          </a:xfrm>
          <a:prstGeom prst="roundRect">
            <a:avLst>
              <a:gd name="adj" fmla="val 8511"/>
            </a:avLst>
          </a:prstGeom>
          <a:gradFill rotWithShape="1">
            <a:gsLst>
              <a:gs pos="0">
                <a:srgbClr val="101F36"/>
              </a:gs>
              <a:gs pos="100000">
                <a:srgbClr val="0D1A30"/>
              </a:gs>
            </a:gsLst>
            <a:lin ang="2700000" scaled="0"/>
          </a:gradFill>
          <a:ln w="17145">
            <a:solidFill>
              <a:srgbClr val="64B5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485" y="3318361"/>
            <a:ext cx="377190" cy="160020"/>
          </a:xfrm>
          <a:prstGeom prst="rect">
            <a:avLst/>
          </a:prstGeom>
          <a:noFill/>
          <a:ln/>
          <a:effectLst>
            <a:outerShdw sx="100000" sy="100000" kx="0" ky="0" algn="bl" rotWithShape="0" blurRad="102870" dist="50800" dir="5400000">
              <a:srgbClr val="2196F3">
                <a:alpha val="40000"/>
              </a:srgbClr>
            </a:outerShdw>
          </a:effectLst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1170" dirty="0"/>
          </a:p>
        </p:txBody>
      </p:sp>
      <p:sp>
        <p:nvSpPr>
          <p:cNvPr id="35" name="Text 33"/>
          <p:cNvSpPr/>
          <p:nvPr/>
        </p:nvSpPr>
        <p:spPr>
          <a:xfrm>
            <a:off x="760095" y="3318361"/>
            <a:ext cx="405170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b="1" spc="23" kern="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长期主义心态</a:t>
            </a:r>
            <a:pPr algn="l" indent="0" marL="0">
              <a:buNone/>
            </a:pPr>
            <a:r>
              <a:rPr lang="en-US" sz="450" b="1" spc="23" kern="0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PATIENCE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1371600" y="3347651"/>
            <a:ext cx="400050" cy="108585"/>
          </a:xfrm>
          <a:prstGeom prst="roundRect">
            <a:avLst>
              <a:gd name="adj" fmla="val 15789"/>
            </a:avLst>
          </a:prstGeom>
          <a:noFill/>
          <a:ln w="5715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0" y="3347651"/>
            <a:ext cx="457200" cy="10858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PATIENCE</a:t>
            </a:r>
            <a:endParaRPr lang="en-US" sz="450" dirty="0"/>
          </a:p>
        </p:txBody>
      </p:sp>
      <p:sp>
        <p:nvSpPr>
          <p:cNvPr id="38" name="Text 36"/>
          <p:cNvSpPr/>
          <p:nvPr/>
        </p:nvSpPr>
        <p:spPr>
          <a:xfrm>
            <a:off x="760095" y="3478381"/>
            <a:ext cx="405170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8F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开源是一场</a:t>
            </a:r>
            <a:pPr algn="l" indent="0" marL="0">
              <a:lnSpc>
                <a:spcPct val="160000"/>
              </a:lnSpc>
              <a:buNone/>
            </a:pPr>
            <a:r>
              <a:rPr lang="en-US" sz="563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马拉松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8F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而非百米冲刺。持续小步前进、稳定输出，远比偶尔爆发式提交更有价值，也能建立持久的社区信任。</a:t>
            </a:r>
            <a:endParaRPr lang="en-US" sz="563" dirty="0"/>
          </a:p>
        </p:txBody>
      </p:sp>
      <p:sp>
        <p:nvSpPr>
          <p:cNvPr id="39" name="Shape 37"/>
          <p:cNvSpPr/>
          <p:nvPr/>
        </p:nvSpPr>
        <p:spPr>
          <a:xfrm>
            <a:off x="4669155" y="1243816"/>
            <a:ext cx="4131945" cy="753666"/>
          </a:xfrm>
          <a:prstGeom prst="roundRect">
            <a:avLst>
              <a:gd name="adj" fmla="val 6066"/>
            </a:avLst>
          </a:prstGeom>
          <a:solidFill>
            <a:srgbClr val="08111F"/>
          </a:solidFill>
          <a:ln w="5715">
            <a:solidFill>
              <a:srgbClr val="1B2E4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74870" y="1249531"/>
            <a:ext cx="4120515" cy="182880"/>
          </a:xfrm>
          <a:prstGeom prst="rect">
            <a:avLst/>
          </a:prstGeom>
          <a:solidFill>
            <a:srgbClr val="0C1A30"/>
          </a:solidFill>
          <a:ln/>
        </p:spPr>
      </p:sp>
      <p:sp>
        <p:nvSpPr>
          <p:cNvPr id="41" name="Shape 39"/>
          <p:cNvSpPr/>
          <p:nvPr/>
        </p:nvSpPr>
        <p:spPr>
          <a:xfrm>
            <a:off x="4674870" y="1432411"/>
            <a:ext cx="4120515" cy="0"/>
          </a:xfrm>
          <a:prstGeom prst="line">
            <a:avLst/>
          </a:prstGeom>
          <a:noFill/>
          <a:ln w="5715">
            <a:solidFill>
              <a:srgbClr val="1B2E4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1312396"/>
            <a:ext cx="51435" cy="5143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43" name="Shape 41"/>
          <p:cNvSpPr/>
          <p:nvPr/>
        </p:nvSpPr>
        <p:spPr>
          <a:xfrm>
            <a:off x="4840605" y="1312396"/>
            <a:ext cx="51435" cy="5143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44" name="Shape 42"/>
          <p:cNvSpPr/>
          <p:nvPr/>
        </p:nvSpPr>
        <p:spPr>
          <a:xfrm>
            <a:off x="4926330" y="1312396"/>
            <a:ext cx="51435" cy="5143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45" name="Text 43"/>
          <p:cNvSpPr/>
          <p:nvPr/>
        </p:nvSpPr>
        <p:spPr>
          <a:xfrm>
            <a:off x="5069205" y="1295251"/>
            <a:ext cx="81610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3" kern="0" dirty="0">
                <a:solidFill>
                  <a:srgbClr val="8FA5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good-practices.sh</a:t>
            </a:r>
            <a:endParaRPr lang="en-US" sz="495" dirty="0"/>
          </a:p>
        </p:txBody>
      </p:sp>
      <p:sp>
        <p:nvSpPr>
          <p:cNvPr id="46" name="Text 44"/>
          <p:cNvSpPr/>
          <p:nvPr/>
        </p:nvSpPr>
        <p:spPr>
          <a:xfrm>
            <a:off x="8269605" y="1300966"/>
            <a:ext cx="50292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~/open-source</a:t>
            </a:r>
            <a:endParaRPr lang="en-US" sz="450" dirty="0"/>
          </a:p>
        </p:txBody>
      </p:sp>
      <p:sp>
        <p:nvSpPr>
          <p:cNvPr id="47" name="Text 45"/>
          <p:cNvSpPr/>
          <p:nvPr/>
        </p:nvSpPr>
        <p:spPr>
          <a:xfrm>
            <a:off x="4674870" y="1432411"/>
            <a:ext cx="4614977" cy="5593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18" i="1" dirty="0">
                <a:solidFill>
                  <a:srgbClr val="546E8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提交信息示例：遵循 Conventional Commits 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C792E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E8EEF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 commit -m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C3E88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"fix(auth): handle expired token" </a:t>
            </a:r>
            <a:pPr algn="l" indent="0" marL="0">
              <a:lnSpc>
                <a:spcPct val="165000"/>
              </a:lnSpc>
              <a:buNone/>
            </a:pPr>
            <a:endParaRPr lang="en-US" sz="518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518" i="1" dirty="0">
                <a:solidFill>
                  <a:srgbClr val="546E8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发起聚焦 PR，每个 PR 仅解决一个问题 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C792E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E8EEF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 checkout -b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fix/expired-token 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C792E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E8EEF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 push origin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fix/expired-token </a:t>
            </a:r>
            <a:pPr algn="l" indent="0" marL="0">
              <a:lnSpc>
                <a:spcPct val="165000"/>
              </a:lnSpc>
              <a:buNone/>
            </a:pPr>
            <a:endParaRPr lang="en-US" sz="518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518" i="1" dirty="0">
                <a:solidFill>
                  <a:srgbClr val="546E8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小步快跑 · 社区为本 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82AA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echo </a:t>
            </a:r>
            <a:pPr algn="l" indent="0" marL="0">
              <a:lnSpc>
                <a:spcPct val="165000"/>
              </a:lnSpc>
              <a:buNone/>
            </a:pPr>
            <a:r>
              <a:rPr lang="en-US" sz="518" dirty="0">
                <a:solidFill>
                  <a:srgbClr val="C3E88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"small PRs, big impact." </a:t>
            </a:r>
            <a:endParaRPr lang="en-US" sz="518" dirty="0"/>
          </a:p>
        </p:txBody>
      </p:sp>
      <p:sp>
        <p:nvSpPr>
          <p:cNvPr id="48" name="Shape 46"/>
          <p:cNvSpPr/>
          <p:nvPr/>
        </p:nvSpPr>
        <p:spPr>
          <a:xfrm>
            <a:off x="4669155" y="2066062"/>
            <a:ext cx="4131945" cy="1411605"/>
          </a:xfrm>
          <a:prstGeom prst="roundRect">
            <a:avLst>
              <a:gd name="adj" fmla="val 3239"/>
            </a:avLst>
          </a:prstGeom>
          <a:gradFill rotWithShape="1">
            <a:gsLst>
              <a:gs pos="0">
                <a:srgbClr val="101F36"/>
              </a:gs>
              <a:gs pos="100000">
                <a:srgbClr val="0D1A30"/>
              </a:gs>
            </a:gsLst>
            <a:lin ang="2700000" scaled="0"/>
          </a:gradFill>
          <a:ln w="5715">
            <a:solidFill>
              <a:srgbClr val="1B2E4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2140357"/>
            <a:ext cx="102870" cy="102870"/>
          </a:xfrm>
          <a:prstGeom prst="roundRect">
            <a:avLst>
              <a:gd name="adj" fmla="val 22222"/>
            </a:avLst>
          </a:prstGeom>
          <a:noFill/>
          <a:ln w="5715">
            <a:solidFill>
              <a:srgbClr val="00E5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2140357"/>
            <a:ext cx="160020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💬</a:t>
            </a:r>
            <a:endParaRPr lang="en-US" sz="450" dirty="0"/>
          </a:p>
        </p:txBody>
      </p:sp>
      <p:sp>
        <p:nvSpPr>
          <p:cNvPr id="51" name="Text 49"/>
          <p:cNvSpPr/>
          <p:nvPr/>
        </p:nvSpPr>
        <p:spPr>
          <a:xfrm>
            <a:off x="4903470" y="2148929"/>
            <a:ext cx="71689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COMMUNITY CHAT</a:t>
            </a:r>
            <a:endParaRPr lang="en-US" sz="495" dirty="0"/>
          </a:p>
        </p:txBody>
      </p:sp>
      <p:sp>
        <p:nvSpPr>
          <p:cNvPr id="52" name="Text 50"/>
          <p:cNvSpPr/>
          <p:nvPr/>
        </p:nvSpPr>
        <p:spPr>
          <a:xfrm>
            <a:off x="8275320" y="2154644"/>
            <a:ext cx="49720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8FA5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ISSUE #4127</a:t>
            </a:r>
            <a:endParaRPr lang="en-US" sz="450" dirty="0"/>
          </a:p>
        </p:txBody>
      </p:sp>
      <p:sp>
        <p:nvSpPr>
          <p:cNvPr id="53" name="Shape 51"/>
          <p:cNvSpPr/>
          <p:nvPr/>
        </p:nvSpPr>
        <p:spPr>
          <a:xfrm>
            <a:off x="4754880" y="2300377"/>
            <a:ext cx="3623310" cy="357188"/>
          </a:xfrm>
          <a:prstGeom prst="roundRect">
            <a:avLst>
              <a:gd name="adj" fmla="val 16000"/>
            </a:avLst>
          </a:prstGeom>
          <a:solidFill>
            <a:srgbClr val="15263F"/>
          </a:solidFill>
          <a:ln w="5715">
            <a:solidFill>
              <a:srgbClr val="1B2E4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2300377"/>
            <a:ext cx="4058107" cy="357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新贡献者</a:t>
            </a:r>
            <a:endParaRPr lang="en-US" sz="54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你好！我在 Ubuntu 22.04 上用 Node 18 运行时第 42 行报错，日志贴在下附。已经读过 docs/FAQ，没找到解法。</a:t>
            </a:r>
            <a:endParaRPr lang="en-US" sz="540" dirty="0"/>
          </a:p>
        </p:txBody>
      </p:sp>
      <p:sp>
        <p:nvSpPr>
          <p:cNvPr id="55" name="Shape 53"/>
          <p:cNvSpPr/>
          <p:nvPr/>
        </p:nvSpPr>
        <p:spPr>
          <a:xfrm>
            <a:off x="7022574" y="2703284"/>
            <a:ext cx="1692801" cy="700088"/>
          </a:xfrm>
          <a:prstGeom prst="roundRect">
            <a:avLst>
              <a:gd name="adj" fmla="val 8163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22574" y="2703284"/>
            <a:ext cx="1895937" cy="700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维护者</a:t>
            </a:r>
            <a:endParaRPr lang="en-US" sz="54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谢谢提供环境信息！先试试</a:t>
            </a:r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cache clean --force</a:t>
            </a:r>
            <a:endParaRPr lang="en-US" sz="54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，如果还有问题我可以开 repro branch 复现一下 🙌</a:t>
            </a:r>
            <a:endParaRPr lang="en-US" sz="540" dirty="0"/>
          </a:p>
        </p:txBody>
      </p:sp>
      <p:sp>
        <p:nvSpPr>
          <p:cNvPr id="57" name="Shape 55"/>
          <p:cNvSpPr/>
          <p:nvPr/>
        </p:nvSpPr>
        <p:spPr>
          <a:xfrm>
            <a:off x="4669155" y="3546247"/>
            <a:ext cx="2031683" cy="680085"/>
          </a:xfrm>
          <a:prstGeom prst="roundRect">
            <a:avLst>
              <a:gd name="adj" fmla="val 6723"/>
            </a:avLst>
          </a:prstGeom>
          <a:gradFill rotWithShape="1">
            <a:gsLst>
              <a:gs pos="0">
                <a:srgbClr val="0D1E38"/>
              </a:gs>
              <a:gs pos="100000">
                <a:srgbClr val="0A1628"/>
              </a:gs>
            </a:gsLst>
            <a:lin ang="2700000" scaled="0"/>
          </a:gradFill>
          <a:ln w="11430">
            <a:solidFill>
              <a:srgbClr val="2196F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89358" y="3374797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9" name="Text 57"/>
          <p:cNvSpPr/>
          <p:nvPr/>
        </p:nvSpPr>
        <p:spPr>
          <a:xfrm>
            <a:off x="4754880" y="3626257"/>
            <a:ext cx="208346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8FA5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PR SIZE</a:t>
            </a:r>
            <a:endParaRPr lang="en-US" sz="495" dirty="0"/>
          </a:p>
        </p:txBody>
      </p:sp>
      <p:sp>
        <p:nvSpPr>
          <p:cNvPr id="60" name="Text 58"/>
          <p:cNvSpPr/>
          <p:nvPr/>
        </p:nvSpPr>
        <p:spPr>
          <a:xfrm>
            <a:off x="4754880" y="3746272"/>
            <a:ext cx="2083460" cy="18288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4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&lt; 150</a:t>
            </a:r>
            <a:pPr algn="l" indent="0" marL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行</a:t>
            </a:r>
            <a:endParaRPr lang="en-US" sz="1440" dirty="0"/>
          </a:p>
        </p:txBody>
      </p:sp>
      <p:sp>
        <p:nvSpPr>
          <p:cNvPr id="61" name="Text 59"/>
          <p:cNvSpPr/>
          <p:nvPr/>
        </p:nvSpPr>
        <p:spPr>
          <a:xfrm>
            <a:off x="4754880" y="3963442"/>
            <a:ext cx="2083460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8F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 平均大小小于 150 行——小而精的提交更易被 Review 与合并。</a:t>
            </a:r>
            <a:endParaRPr lang="en-US" sz="495" dirty="0"/>
          </a:p>
        </p:txBody>
      </p:sp>
      <p:sp>
        <p:nvSpPr>
          <p:cNvPr id="62" name="Shape 60"/>
          <p:cNvSpPr/>
          <p:nvPr/>
        </p:nvSpPr>
        <p:spPr>
          <a:xfrm>
            <a:off x="6769418" y="3546247"/>
            <a:ext cx="2031683" cy="680085"/>
          </a:xfrm>
          <a:prstGeom prst="roundRect">
            <a:avLst>
              <a:gd name="adj" fmla="val 6723"/>
            </a:avLst>
          </a:prstGeom>
          <a:gradFill rotWithShape="1">
            <a:gsLst>
              <a:gs pos="0">
                <a:srgbClr val="0D1E38"/>
              </a:gs>
              <a:gs pos="100000">
                <a:srgbClr val="0A1628"/>
              </a:gs>
            </a:gsLst>
            <a:lin ang="2700000" scaled="0"/>
          </a:gradFill>
          <a:ln w="11430">
            <a:solidFill>
              <a:srgbClr val="00E5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389620" y="3374797"/>
            <a:ext cx="571500" cy="571500"/>
          </a:xfrm>
          <a:prstGeom prst="ellipse">
            <a:avLst/>
          </a:prstGeom>
          <a:gradFill rotWithShape="1">
            <a:gsLst>
              <a:gs pos="0">
                <a:srgbClr val="00E5FF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4" name="Text 62"/>
          <p:cNvSpPr/>
          <p:nvPr/>
        </p:nvSpPr>
        <p:spPr>
          <a:xfrm>
            <a:off x="6855143" y="3626257"/>
            <a:ext cx="208346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8FA5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RESPONSE</a:t>
            </a:r>
            <a:endParaRPr lang="en-US" sz="495" dirty="0"/>
          </a:p>
        </p:txBody>
      </p:sp>
      <p:sp>
        <p:nvSpPr>
          <p:cNvPr id="65" name="Text 63"/>
          <p:cNvSpPr/>
          <p:nvPr/>
        </p:nvSpPr>
        <p:spPr>
          <a:xfrm>
            <a:off x="6855143" y="3746272"/>
            <a:ext cx="2083460" cy="18288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00E5FF">
                <a:alpha val="4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&lt; 24</a:t>
            </a:r>
            <a:pPr algn="l" indent="0" marL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小时</a:t>
            </a:r>
            <a:endParaRPr lang="en-US" sz="1440" dirty="0"/>
          </a:p>
        </p:txBody>
      </p:sp>
      <p:sp>
        <p:nvSpPr>
          <p:cNvPr id="66" name="Text 64"/>
          <p:cNvSpPr/>
          <p:nvPr/>
        </p:nvSpPr>
        <p:spPr>
          <a:xfrm>
            <a:off x="6855143" y="3963442"/>
            <a:ext cx="2083460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dirty="0">
                <a:solidFill>
                  <a:srgbClr val="8F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响应小于 24 小时——保持社区互动活跃度，让贡献者感到被重视。</a:t>
            </a:r>
            <a:endParaRPr lang="en-US" sz="495" dirty="0"/>
          </a:p>
        </p:txBody>
      </p:sp>
      <p:sp>
        <p:nvSpPr>
          <p:cNvPr id="67" name="Shape 65"/>
          <p:cNvSpPr/>
          <p:nvPr/>
        </p:nvSpPr>
        <p:spPr>
          <a:xfrm>
            <a:off x="342900" y="4709160"/>
            <a:ext cx="8458200" cy="205740"/>
          </a:xfrm>
          <a:prstGeom prst="rect">
            <a:avLst/>
          </a:prstGeom>
          <a:noFill/>
          <a:ln/>
        </p:spPr>
      </p:sp>
      <p:sp>
        <p:nvSpPr>
          <p:cNvPr id="68" name="Shape 66"/>
          <p:cNvSpPr/>
          <p:nvPr/>
        </p:nvSpPr>
        <p:spPr>
          <a:xfrm>
            <a:off x="342900" y="4709160"/>
            <a:ext cx="8458200" cy="0"/>
          </a:xfrm>
          <a:prstGeom prst="line">
            <a:avLst/>
          </a:prstGeom>
          <a:noFill/>
          <a:ln w="5715">
            <a:solidFill>
              <a:srgbClr val="1B2E4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2900" y="4783455"/>
            <a:ext cx="640080" cy="131445"/>
          </a:xfrm>
          <a:prstGeom prst="roundRect">
            <a:avLst>
              <a:gd name="adj" fmla="val 13043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2900" y="4783455"/>
            <a:ext cx="716890" cy="13144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MANIFESTO</a:t>
            </a:r>
            <a:endParaRPr lang="en-US" sz="450" dirty="0"/>
          </a:p>
        </p:txBody>
      </p:sp>
      <p:sp>
        <p:nvSpPr>
          <p:cNvPr id="71" name="Text 69"/>
          <p:cNvSpPr/>
          <p:nvPr/>
        </p:nvSpPr>
        <p:spPr>
          <a:xfrm>
            <a:off x="1062990" y="4800600"/>
            <a:ext cx="2496312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小步快跑</a:t>
            </a:r>
            <a:pPr algn="l" indent="0" marL="0">
              <a:buNone/>
            </a:pPr>
            <a:r>
              <a:rPr lang="en-US" sz="540" spc="45" kern="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540" spc="45" kern="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社区为本</a:t>
            </a:r>
            <a:pPr algn="l" indent="0" marL="0">
              <a:buNone/>
            </a:pPr>
            <a:r>
              <a:rPr lang="en-US" sz="540" spc="45" kern="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540" spc="45" kern="0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长期主义——让每一次提交都成为信任的累积</a:t>
            </a:r>
            <a:endParaRPr lang="en-US" sz="540" dirty="0"/>
          </a:p>
        </p:txBody>
      </p:sp>
      <p:sp>
        <p:nvSpPr>
          <p:cNvPr id="72" name="Shape 70"/>
          <p:cNvSpPr/>
          <p:nvPr/>
        </p:nvSpPr>
        <p:spPr>
          <a:xfrm>
            <a:off x="3371850" y="4846320"/>
            <a:ext cx="41148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1B2E4E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3" name="Text 71"/>
          <p:cNvSpPr/>
          <p:nvPr/>
        </p:nvSpPr>
        <p:spPr>
          <a:xfrm>
            <a:off x="7566660" y="4812030"/>
            <a:ext cx="1382573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8FA5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 · KEEP BUILDING</a:t>
            </a:r>
            <a:endParaRPr lang="en-US" sz="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02870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2196F3">
                  <a:alpha val="144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114300" y="114300"/>
            <a:ext cx="285750" cy="28575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114300" y="114300"/>
            <a:ext cx="285750" cy="0"/>
          </a:xfrm>
          <a:prstGeom prst="line">
            <a:avLst/>
          </a:prstGeom>
          <a:noFill/>
          <a:ln w="5715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" y="114300"/>
            <a:ext cx="0" cy="285750"/>
          </a:xfrm>
          <a:prstGeom prst="line">
            <a:avLst/>
          </a:prstGeom>
          <a:noFill/>
          <a:ln w="5715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43950" y="114300"/>
            <a:ext cx="285750" cy="28575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8743950" y="114300"/>
            <a:ext cx="285750" cy="0"/>
          </a:xfrm>
          <a:prstGeom prst="line">
            <a:avLst/>
          </a:prstGeom>
          <a:noFill/>
          <a:ln w="5715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29700" y="114300"/>
            <a:ext cx="0" cy="285750"/>
          </a:xfrm>
          <a:prstGeom prst="line">
            <a:avLst/>
          </a:prstGeom>
          <a:noFill/>
          <a:ln w="5715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" y="4743450"/>
            <a:ext cx="285750" cy="28575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114300" y="5029200"/>
            <a:ext cx="285750" cy="0"/>
          </a:xfrm>
          <a:prstGeom prst="line">
            <a:avLst/>
          </a:prstGeom>
          <a:noFill/>
          <a:ln w="5715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" y="4743450"/>
            <a:ext cx="0" cy="285750"/>
          </a:xfrm>
          <a:prstGeom prst="line">
            <a:avLst/>
          </a:prstGeom>
          <a:noFill/>
          <a:ln w="5715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43950" y="4743450"/>
            <a:ext cx="285750" cy="28575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9029700" y="4743450"/>
            <a:ext cx="0" cy="285750"/>
          </a:xfrm>
          <a:prstGeom prst="line">
            <a:avLst/>
          </a:prstGeom>
          <a:noFill/>
          <a:ln w="5715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43950" y="5029200"/>
            <a:ext cx="285750" cy="0"/>
          </a:xfrm>
          <a:prstGeom prst="line">
            <a:avLst/>
          </a:prstGeom>
          <a:noFill/>
          <a:ln w="5715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00250" y="124569"/>
            <a:ext cx="5143500" cy="1143000"/>
          </a:xfrm>
          <a:prstGeom prst="rect">
            <a:avLst/>
          </a:prstGeom>
          <a:solidFill>
            <a:srgbClr val="00E5FF">
              <a:alpha val="22000"/>
            </a:srgbClr>
          </a:solidFill>
          <a:ln/>
          <a:effectLst>
            <a:outerShdw sx="100000" sy="100000" kx="0" ky="0" algn="bl" rotWithShape="0" blurRad="45720" dist="50800" dir="16200000">
              <a:srgbClr val="00E5FF">
                <a:alpha val="6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71775" y="342900"/>
            <a:ext cx="4034790" cy="477738"/>
          </a:xfrm>
          <a:prstGeom prst="rect">
            <a:avLst/>
          </a:prstGeom>
          <a:noFill/>
          <a:ln/>
          <a:effectLst>
            <a:outerShdw sx="100000" sy="100000" kx="0" ky="0" algn="bl" rotWithShape="0" blurRad="137160" dist="50800" dir="5400000">
              <a:srgbClr val="00E5FF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20" b="1" spc="630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新</a:t>
            </a:r>
            <a:pPr algn="l" indent="0" marL="0">
              <a:lnSpc>
                <a:spcPct val="110000"/>
              </a:lnSpc>
              <a:buNone/>
            </a:pPr>
            <a:r>
              <a:rPr lang="en-US" sz="3420" b="1" spc="630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征</a:t>
            </a:r>
            <a:pPr algn="l" indent="0" marL="0">
              <a:lnSpc>
                <a:spcPct val="110000"/>
              </a:lnSpc>
              <a:buNone/>
            </a:pPr>
            <a:r>
              <a:rPr lang="en-US" sz="3420" b="1" spc="63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程</a:t>
            </a:r>
            <a:pPr algn="l" indent="0" marL="0">
              <a:lnSpc>
                <a:spcPct val="110000"/>
              </a:lnSpc>
              <a:buNone/>
            </a:pPr>
            <a:r>
              <a:rPr lang="en-US" sz="3420" b="1" spc="630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，共</a:t>
            </a:r>
            <a:pPr algn="l" indent="0" marL="0">
              <a:lnSpc>
                <a:spcPct val="110000"/>
              </a:lnSpc>
              <a:buNone/>
            </a:pPr>
            <a:r>
              <a:rPr lang="en-US" sz="3420" b="1" spc="63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启</a:t>
            </a:r>
            <a:pPr algn="l" indent="0" marL="0">
              <a:lnSpc>
                <a:spcPct val="110000"/>
              </a:lnSpc>
              <a:buNone/>
            </a:pPr>
            <a:r>
              <a:rPr lang="en-US" sz="3420" b="1" spc="630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程</a:t>
            </a:r>
            <a:endParaRPr lang="en-US" sz="3420" dirty="0"/>
          </a:p>
        </p:txBody>
      </p:sp>
      <p:sp>
        <p:nvSpPr>
          <p:cNvPr id="18" name="Shape 16"/>
          <p:cNvSpPr/>
          <p:nvPr/>
        </p:nvSpPr>
        <p:spPr>
          <a:xfrm>
            <a:off x="2860358" y="900648"/>
            <a:ext cx="3429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E5FF"/>
              </a:gs>
            </a:gsLst>
            <a:lin ang="0" scaled="0"/>
          </a:gradFill>
          <a:ln/>
        </p:spPr>
      </p:sp>
      <p:sp>
        <p:nvSpPr>
          <p:cNvPr id="19" name="Shape 17"/>
          <p:cNvSpPr/>
          <p:nvPr/>
        </p:nvSpPr>
        <p:spPr>
          <a:xfrm>
            <a:off x="2860358" y="900648"/>
            <a:ext cx="342900" cy="5715"/>
          </a:xfrm>
          <a:prstGeom prst="rect">
            <a:avLst/>
          </a:prstGeom>
          <a:gradFill rotWithShape="1">
            <a:gsLst>
              <a:gs pos="0">
                <a:srgbClr val="00E5FF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0" name="Text 18"/>
          <p:cNvSpPr/>
          <p:nvPr/>
        </p:nvSpPr>
        <p:spPr>
          <a:xfrm>
            <a:off x="3408998" y="912078"/>
            <a:ext cx="2605126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spc="27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2022年 · 让我们继续在开源中相遇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2103120" y="1152108"/>
            <a:ext cx="493776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5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2" name="Text 20"/>
          <p:cNvSpPr/>
          <p:nvPr/>
        </p:nvSpPr>
        <p:spPr>
          <a:xfrm>
            <a:off x="1280160" y="1237833"/>
            <a:ext cx="7373722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200000"/>
              </a:lnSpc>
              <a:buNone/>
            </a:pPr>
            <a:r>
              <a:rPr lang="en-US" sz="675" spc="68" kern="0" dirty="0">
                <a:solidFill>
                  <a:srgbClr val="ECEFF1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开源是一段</a:t>
            </a:r>
            <a:pPr algn="ctr" indent="0" marL="0">
              <a:lnSpc>
                <a:spcPct val="200000"/>
              </a:lnSpc>
              <a:buNone/>
            </a:pPr>
            <a:r>
              <a:rPr lang="en-US" sz="675" spc="68" kern="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没有终点</a:t>
            </a:r>
            <a:pPr algn="ctr" indent="0" marL="0">
              <a:lnSpc>
                <a:spcPct val="200000"/>
              </a:lnSpc>
              <a:buNone/>
            </a:pPr>
            <a:r>
              <a:rPr lang="en-US" sz="675" spc="68" kern="0" dirty="0">
                <a:solidFill>
                  <a:srgbClr val="ECEFF1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的旅程。2021年的记录画上句点，2022年的征程已经开始。 愿这份记录成为你启程路上的</a:t>
            </a:r>
            <a:pPr algn="ctr" indent="0" marL="0">
              <a:lnSpc>
                <a:spcPct val="200000"/>
              </a:lnSpc>
              <a:buNone/>
            </a:pPr>
            <a:r>
              <a:rPr lang="en-US" sz="675" spc="68" kern="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火把</a:t>
            </a:r>
            <a:pPr algn="ctr" indent="0" marL="0">
              <a:lnSpc>
                <a:spcPct val="200000"/>
              </a:lnSpc>
              <a:buNone/>
            </a:pPr>
            <a:r>
              <a:rPr lang="en-US" sz="675" spc="68" kern="0" dirty="0">
                <a:solidFill>
                  <a:srgbClr val="ECEFF1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，也期待在下一个开源活动中与你</a:t>
            </a:r>
            <a:pPr algn="ctr" indent="0" marL="0">
              <a:lnSpc>
                <a:spcPct val="200000"/>
              </a:lnSpc>
              <a:buNone/>
            </a:pPr>
            <a:r>
              <a:rPr lang="en-US" sz="675" spc="68" kern="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相遇</a:t>
            </a:r>
            <a:pPr algn="ctr" indent="0" marL="0">
              <a:lnSpc>
                <a:spcPct val="200000"/>
              </a:lnSpc>
              <a:buNone/>
            </a:pPr>
            <a:r>
              <a:rPr lang="en-US" sz="675" spc="68" kern="0" dirty="0">
                <a:solidFill>
                  <a:srgbClr val="ECEFF1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75" dirty="0"/>
          </a:p>
        </p:txBody>
      </p:sp>
      <p:sp>
        <p:nvSpPr>
          <p:cNvPr id="23" name="Shape 21"/>
          <p:cNvSpPr/>
          <p:nvPr/>
        </p:nvSpPr>
        <p:spPr>
          <a:xfrm>
            <a:off x="457200" y="1512153"/>
            <a:ext cx="2659350" cy="714643"/>
          </a:xfrm>
          <a:prstGeom prst="roundRect">
            <a:avLst>
              <a:gd name="adj" fmla="val 7997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1512153"/>
            <a:ext cx="264792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5FF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5" name="Shape 23"/>
          <p:cNvSpPr/>
          <p:nvPr/>
        </p:nvSpPr>
        <p:spPr>
          <a:xfrm>
            <a:off x="2705070" y="1815316"/>
            <a:ext cx="571500" cy="571500"/>
          </a:xfrm>
          <a:prstGeom prst="ellipse">
            <a:avLst/>
          </a:prstGeom>
          <a:gradFill rotWithShape="1">
            <a:gsLst>
              <a:gs pos="0">
                <a:srgbClr val="00E5FF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6" name="Text 24"/>
          <p:cNvSpPr/>
          <p:nvPr/>
        </p:nvSpPr>
        <p:spPr>
          <a:xfrm>
            <a:off x="577215" y="1620738"/>
            <a:ext cx="270963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 01</a:t>
            </a:r>
            <a:endParaRPr lang="en-US" sz="540" dirty="0"/>
          </a:p>
        </p:txBody>
      </p:sp>
      <p:sp>
        <p:nvSpPr>
          <p:cNvPr id="27" name="Text 25"/>
          <p:cNvSpPr/>
          <p:nvPr/>
        </p:nvSpPr>
        <p:spPr>
          <a:xfrm>
            <a:off x="577215" y="1746468"/>
            <a:ext cx="2709639" cy="165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感恩同行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7215" y="1842016"/>
            <a:ext cx="137160" cy="1143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9" name="Text 27"/>
          <p:cNvSpPr/>
          <p:nvPr/>
        </p:nvSpPr>
        <p:spPr>
          <a:xfrm>
            <a:off x="577215" y="1969353"/>
            <a:ext cx="2709639" cy="1374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85" spc="23" kern="0" dirty="0">
                <a:solidFill>
                  <a:srgbClr val="ECEFF1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感谢每一位贡献者、读者与伙伴，让开源之路不再孤独。</a:t>
            </a:r>
            <a:endParaRPr lang="en-US" sz="585" dirty="0"/>
          </a:p>
        </p:txBody>
      </p:sp>
      <p:sp>
        <p:nvSpPr>
          <p:cNvPr id="30" name="Shape 28"/>
          <p:cNvSpPr/>
          <p:nvPr/>
        </p:nvSpPr>
        <p:spPr>
          <a:xfrm>
            <a:off x="3242280" y="1512153"/>
            <a:ext cx="2659440" cy="714643"/>
          </a:xfrm>
          <a:prstGeom prst="roundRect">
            <a:avLst>
              <a:gd name="adj" fmla="val 7997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42280" y="1512153"/>
            <a:ext cx="2648011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5FF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2" name="Shape 30"/>
          <p:cNvSpPr/>
          <p:nvPr/>
        </p:nvSpPr>
        <p:spPr>
          <a:xfrm>
            <a:off x="5490241" y="1815316"/>
            <a:ext cx="571500" cy="571500"/>
          </a:xfrm>
          <a:prstGeom prst="ellipse">
            <a:avLst/>
          </a:prstGeom>
          <a:gradFill rotWithShape="1">
            <a:gsLst>
              <a:gs pos="0">
                <a:srgbClr val="00E5FF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3" name="Text 31"/>
          <p:cNvSpPr/>
          <p:nvPr/>
        </p:nvSpPr>
        <p:spPr>
          <a:xfrm>
            <a:off x="3362295" y="1620738"/>
            <a:ext cx="270973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 02</a:t>
            </a:r>
            <a:endParaRPr lang="en-US" sz="540" dirty="0"/>
          </a:p>
        </p:txBody>
      </p:sp>
      <p:sp>
        <p:nvSpPr>
          <p:cNvPr id="34" name="Text 32"/>
          <p:cNvSpPr/>
          <p:nvPr/>
        </p:nvSpPr>
        <p:spPr>
          <a:xfrm>
            <a:off x="3362295" y="1746468"/>
            <a:ext cx="2709739" cy="165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保持热爱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62295" y="1842016"/>
            <a:ext cx="137160" cy="1143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6" name="Text 34"/>
          <p:cNvSpPr/>
          <p:nvPr/>
        </p:nvSpPr>
        <p:spPr>
          <a:xfrm>
            <a:off x="3362295" y="1969353"/>
            <a:ext cx="2709739" cy="1374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85" spc="23" kern="0" dirty="0">
                <a:solidFill>
                  <a:srgbClr val="ECEFF1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热爱是最好的驱动力，愿我们在开源中找到持续前行的理由。</a:t>
            </a:r>
            <a:endParaRPr lang="en-US" sz="585" dirty="0"/>
          </a:p>
        </p:txBody>
      </p:sp>
      <p:sp>
        <p:nvSpPr>
          <p:cNvPr id="37" name="Shape 35"/>
          <p:cNvSpPr/>
          <p:nvPr/>
        </p:nvSpPr>
        <p:spPr>
          <a:xfrm>
            <a:off x="6027450" y="1512153"/>
            <a:ext cx="2659350" cy="714643"/>
          </a:xfrm>
          <a:prstGeom prst="roundRect">
            <a:avLst>
              <a:gd name="adj" fmla="val 7997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27450" y="1512153"/>
            <a:ext cx="264792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E5FF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9" name="Shape 37"/>
          <p:cNvSpPr/>
          <p:nvPr/>
        </p:nvSpPr>
        <p:spPr>
          <a:xfrm>
            <a:off x="8275319" y="1815316"/>
            <a:ext cx="571500" cy="571500"/>
          </a:xfrm>
          <a:prstGeom prst="ellipse">
            <a:avLst/>
          </a:prstGeom>
          <a:gradFill rotWithShape="1">
            <a:gsLst>
              <a:gs pos="0">
                <a:srgbClr val="00E5FF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0" name="Text 38"/>
          <p:cNvSpPr/>
          <p:nvPr/>
        </p:nvSpPr>
        <p:spPr>
          <a:xfrm>
            <a:off x="6147465" y="1620738"/>
            <a:ext cx="270963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 03</a:t>
            </a:r>
            <a:endParaRPr lang="en-US" sz="540" dirty="0"/>
          </a:p>
        </p:txBody>
      </p:sp>
      <p:sp>
        <p:nvSpPr>
          <p:cNvPr id="41" name="Text 39"/>
          <p:cNvSpPr/>
          <p:nvPr/>
        </p:nvSpPr>
        <p:spPr>
          <a:xfrm>
            <a:off x="6147465" y="1746468"/>
            <a:ext cx="2709639" cy="165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CEFF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一起向前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47465" y="1842016"/>
            <a:ext cx="137160" cy="1143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43" name="Text 41"/>
          <p:cNvSpPr/>
          <p:nvPr/>
        </p:nvSpPr>
        <p:spPr>
          <a:xfrm>
            <a:off x="6147465" y="1969353"/>
            <a:ext cx="2709639" cy="1374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85" spc="23" kern="0" dirty="0">
                <a:solidFill>
                  <a:srgbClr val="ECEFF1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新的一年，继续分享、继续贡献、继续布道，不见不散。</a:t>
            </a:r>
            <a:endParaRPr lang="en-US" sz="585" dirty="0"/>
          </a:p>
        </p:txBody>
      </p:sp>
      <p:sp>
        <p:nvSpPr>
          <p:cNvPr id="44" name="Shape 42"/>
          <p:cNvSpPr/>
          <p:nvPr/>
        </p:nvSpPr>
        <p:spPr>
          <a:xfrm>
            <a:off x="457200" y="2318236"/>
            <a:ext cx="4051935" cy="451485"/>
          </a:xfrm>
          <a:prstGeom prst="roundRect">
            <a:avLst>
              <a:gd name="adj" fmla="val 10127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E5FF">
                  <a:alpha val="3000"/>
                </a:srgbClr>
              </a:gs>
            </a:gsLst>
            <a:lin ang="2700000" scaled="0"/>
          </a:gra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2363956"/>
            <a:ext cx="17145" cy="348615"/>
          </a:xfrm>
          <a:prstGeom prst="roundRect">
            <a:avLst>
              <a:gd name="adj" fmla="val 66667"/>
            </a:avLst>
          </a:prstGeom>
          <a:solidFill>
            <a:srgbClr val="00E5FF"/>
          </a:solidFill>
          <a:ln/>
          <a:effectLst>
            <a:outerShdw sx="100000" sy="100000" kx="0" ky="0" algn="bl" rotWithShape="0" blurRad="114300" dist="50800" dir="16200000">
              <a:srgbClr val="00E5FF">
                <a:alpha val="6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00075" y="2415391"/>
            <a:ext cx="1051560" cy="257175"/>
          </a:xfrm>
          <a:prstGeom prst="rect">
            <a:avLst/>
          </a:prstGeom>
          <a:noFill/>
          <a:ln/>
          <a:effectLst>
            <a:outerShdw sx="100000" sy="100000" kx="0" ky="0" algn="bl" rotWithShape="0" blurRad="80010" dist="50800" dir="5400000">
              <a:srgbClr val="00E5FF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530" b="1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30+</a:t>
            </a:r>
            <a:endParaRPr lang="en-US" sz="1530" dirty="0"/>
          </a:p>
        </p:txBody>
      </p:sp>
      <p:sp>
        <p:nvSpPr>
          <p:cNvPr id="47" name="Text 45"/>
          <p:cNvSpPr/>
          <p:nvPr/>
        </p:nvSpPr>
        <p:spPr>
          <a:xfrm>
            <a:off x="1571625" y="2426821"/>
            <a:ext cx="992124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 目标：30+ 分享</a:t>
            </a:r>
            <a:endParaRPr lang="en-US" sz="630" dirty="0"/>
          </a:p>
        </p:txBody>
      </p:sp>
      <p:sp>
        <p:nvSpPr>
          <p:cNvPr id="48" name="Text 46"/>
          <p:cNvSpPr/>
          <p:nvPr/>
        </p:nvSpPr>
        <p:spPr>
          <a:xfrm>
            <a:off x="1571625" y="2563981"/>
            <a:ext cx="99212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ECEFF1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全年分享计划</a:t>
            </a:r>
            <a:endParaRPr lang="en-US" sz="540" dirty="0"/>
          </a:p>
        </p:txBody>
      </p:sp>
      <p:sp>
        <p:nvSpPr>
          <p:cNvPr id="49" name="Shape 47"/>
          <p:cNvSpPr/>
          <p:nvPr/>
        </p:nvSpPr>
        <p:spPr>
          <a:xfrm>
            <a:off x="4634865" y="2318236"/>
            <a:ext cx="4051935" cy="451485"/>
          </a:xfrm>
          <a:prstGeom prst="roundRect">
            <a:avLst>
              <a:gd name="adj" fmla="val 10127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E5FF">
                  <a:alpha val="3000"/>
                </a:srgbClr>
              </a:gs>
            </a:gsLst>
            <a:lin ang="2700000" scaled="0"/>
          </a:gra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34865" y="2363956"/>
            <a:ext cx="17145" cy="348615"/>
          </a:xfrm>
          <a:prstGeom prst="roundRect">
            <a:avLst>
              <a:gd name="adj" fmla="val 66667"/>
            </a:avLst>
          </a:prstGeom>
          <a:solidFill>
            <a:srgbClr val="00E5FF"/>
          </a:solidFill>
          <a:ln/>
          <a:effectLst>
            <a:outerShdw sx="100000" sy="100000" kx="0" ky="0" algn="bl" rotWithShape="0" blurRad="114300" dist="50800" dir="16200000">
              <a:srgbClr val="00E5FF">
                <a:alpha val="6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777740" y="2403961"/>
            <a:ext cx="1051560" cy="280035"/>
          </a:xfrm>
          <a:prstGeom prst="rect">
            <a:avLst/>
          </a:prstGeom>
          <a:noFill/>
          <a:ln/>
          <a:effectLst>
            <a:outerShdw sx="100000" sy="100000" kx="0" ky="0" algn="bl" rotWithShape="0" blurRad="80010" dist="50800" dir="5400000">
              <a:srgbClr val="00E5FF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530" b="1" spc="45" kern="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每日</a:t>
            </a:r>
            <a:endParaRPr lang="en-US" sz="1530" dirty="0"/>
          </a:p>
        </p:txBody>
      </p:sp>
      <p:sp>
        <p:nvSpPr>
          <p:cNvPr id="52" name="Text 50"/>
          <p:cNvSpPr/>
          <p:nvPr/>
        </p:nvSpPr>
        <p:spPr>
          <a:xfrm>
            <a:off x="5749290" y="2426821"/>
            <a:ext cx="86410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成长承诺：每日阅读</a:t>
            </a:r>
            <a:endParaRPr lang="en-US" sz="630" dirty="0"/>
          </a:p>
        </p:txBody>
      </p:sp>
      <p:sp>
        <p:nvSpPr>
          <p:cNvPr id="53" name="Text 51"/>
          <p:cNvSpPr/>
          <p:nvPr/>
        </p:nvSpPr>
        <p:spPr>
          <a:xfrm>
            <a:off x="5749290" y="2563981"/>
            <a:ext cx="86410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ECEFF1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持续学习开源知识</a:t>
            </a:r>
            <a:endParaRPr lang="en-US" sz="540" dirty="0"/>
          </a:p>
        </p:txBody>
      </p:sp>
      <p:sp>
        <p:nvSpPr>
          <p:cNvPr id="54" name="Shape 52"/>
          <p:cNvSpPr/>
          <p:nvPr/>
        </p:nvSpPr>
        <p:spPr>
          <a:xfrm>
            <a:off x="3091815" y="2878306"/>
            <a:ext cx="228600" cy="5715"/>
          </a:xfrm>
          <a:prstGeom prst="rect">
            <a:avLst/>
          </a:prstGeom>
          <a:solidFill>
            <a:srgbClr val="00E5FF">
              <a:alpha val="4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3377565" y="2872591"/>
            <a:ext cx="17145" cy="17145"/>
          </a:xfrm>
          <a:prstGeom prst="ellipse">
            <a:avLst/>
          </a:prstGeom>
          <a:solidFill>
            <a:srgbClr val="00E5FF">
              <a:alpha val="6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451860" y="2869734"/>
            <a:ext cx="22860" cy="22860"/>
          </a:xfrm>
          <a:prstGeom prst="ellipse">
            <a:avLst/>
          </a:prstGeom>
          <a:solidFill>
            <a:srgbClr val="00E5FF"/>
          </a:solidFill>
          <a:ln/>
          <a:effectLst>
            <a:outerShdw sx="100000" sy="100000" kx="0" ky="0" algn="bl" rotWithShape="0" blurRad="76200" dist="50800" dir="16200000">
              <a:srgbClr val="00E5FF">
                <a:alpha val="10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531870" y="2872591"/>
            <a:ext cx="17145" cy="17145"/>
          </a:xfrm>
          <a:prstGeom prst="ellipse">
            <a:avLst/>
          </a:prstGeom>
          <a:solidFill>
            <a:srgbClr val="00E5FF">
              <a:alpha val="6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3606165" y="2838301"/>
            <a:ext cx="216347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70" kern="0" dirty="0">
                <a:solidFill>
                  <a:srgbClr val="00E5FF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END · 2022 · SEE YOU AGAIN</a:t>
            </a:r>
            <a:endParaRPr lang="en-US" sz="495" dirty="0"/>
          </a:p>
        </p:txBody>
      </p:sp>
      <p:sp>
        <p:nvSpPr>
          <p:cNvPr id="59" name="Shape 57"/>
          <p:cNvSpPr/>
          <p:nvPr/>
        </p:nvSpPr>
        <p:spPr>
          <a:xfrm>
            <a:off x="5594985" y="2872591"/>
            <a:ext cx="17145" cy="17145"/>
          </a:xfrm>
          <a:prstGeom prst="ellipse">
            <a:avLst/>
          </a:prstGeom>
          <a:solidFill>
            <a:srgbClr val="00E5FF">
              <a:alpha val="6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5669280" y="2869734"/>
            <a:ext cx="22860" cy="22860"/>
          </a:xfrm>
          <a:prstGeom prst="ellipse">
            <a:avLst/>
          </a:prstGeom>
          <a:solidFill>
            <a:srgbClr val="00E5FF"/>
          </a:solidFill>
          <a:ln/>
          <a:effectLst>
            <a:outerShdw sx="100000" sy="100000" kx="0" ky="0" algn="bl" rotWithShape="0" blurRad="76200" dist="50800" dir="16200000">
              <a:srgbClr val="00E5FF">
                <a:alpha val="10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749290" y="2872591"/>
            <a:ext cx="17145" cy="17145"/>
          </a:xfrm>
          <a:prstGeom prst="ellipse">
            <a:avLst/>
          </a:prstGeom>
          <a:solidFill>
            <a:srgbClr val="00E5FF">
              <a:alpha val="6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5823585" y="2878306"/>
            <a:ext cx="228600" cy="5715"/>
          </a:xfrm>
          <a:prstGeom prst="rect">
            <a:avLst/>
          </a:prstGeom>
          <a:solidFill>
            <a:srgbClr val="00E5FF">
              <a:alpha val="4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2026-08-27T20:05:19Z</dcterms:created>
  <dcterms:modified xsi:type="dcterms:W3CDTF">2026-08-27T20:05:19Z</dcterms:modified>
</cp:coreProperties>
</file>