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A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5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10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731520" y="617220"/>
            <a:ext cx="11430" cy="1143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  <a:effectLst>
            <a:outerShdw sx="100000" sy="100000" kx="0" ky="0" algn="bl" rotWithShape="0" blurRad="38100" dist="50800" dir="16200000">
              <a:srgbClr val="FFFFFF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543050"/>
            <a:ext cx="11430" cy="1143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  <a:effectLst>
            <a:outerShdw sx="100000" sy="100000" kx="0" ky="0" algn="bl" rotWithShape="0" blurRad="38100" dist="50800" dir="16200000">
              <a:srgbClr val="FFFFFF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0" y="411480"/>
            <a:ext cx="11430" cy="1143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  <a:effectLst>
            <a:outerShdw sx="100000" sy="100000" kx="0" ky="0" algn="bl" rotWithShape="0" blurRad="38100" dist="50800" dir="16200000">
              <a:srgbClr val="FFFFFF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0" y="771525"/>
            <a:ext cx="11430" cy="1143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  <a:effectLst>
            <a:outerShdw sx="100000" sy="100000" kx="0" ky="0" algn="bl" rotWithShape="0" blurRad="38100" dist="50800" dir="16200000">
              <a:srgbClr val="FFFFFF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0" y="2057400"/>
            <a:ext cx="11430" cy="1143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  <a:effectLst>
            <a:outerShdw sx="100000" sy="100000" kx="0" ky="0" algn="bl" rotWithShape="0" blurRad="38100" dist="50800" dir="16200000">
              <a:srgbClr val="FFFFFF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0" y="3857625"/>
            <a:ext cx="11430" cy="1143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  <a:effectLst>
            <a:outerShdw sx="100000" sy="100000" kx="0" ky="0" algn="bl" rotWithShape="0" blurRad="38100" dist="50800" dir="16200000">
              <a:srgbClr val="FFFFFF">
                <a:alpha val="1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497580"/>
            <a:ext cx="11430" cy="1143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  <a:effectLst>
            <a:outerShdw sx="100000" sy="100000" kx="0" ky="0" algn="bl" rotWithShape="0" blurRad="38100" dist="50800" dir="16200000">
              <a:srgbClr val="FFFFFF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97280" y="4526280"/>
            <a:ext cx="11430" cy="1143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  <a:effectLst>
            <a:outerShdw sx="100000" sy="100000" kx="0" ky="0" algn="bl" rotWithShape="0" blurRad="38100" dist="50800" dir="16200000">
              <a:srgbClr val="FFFFFF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0" y="4217670"/>
            <a:ext cx="11430" cy="11430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  <a:effectLst>
            <a:outerShdw sx="100000" sy="100000" kx="0" ky="0" algn="bl" rotWithShape="0" blurRad="38100" dist="50800" dir="16200000">
              <a:srgbClr val="FFFFFF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0" y="308610"/>
            <a:ext cx="11430" cy="1143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  <a:effectLst>
            <a:outerShdw sx="100000" sy="100000" kx="0" ky="0" algn="bl" rotWithShape="0" blurRad="38100" dist="50800" dir="16200000">
              <a:srgbClr val="FFFFFF">
                <a:alpha val="10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0" y="4732020"/>
            <a:ext cx="11430" cy="1143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  <a:effectLst>
            <a:outerShdw sx="100000" sy="100000" kx="0" ky="0" algn="bl" rotWithShape="0" blurRad="38100" dist="50800" dir="16200000">
              <a:srgbClr val="FFFFFF">
                <a:alpha val="1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25730" y="125730"/>
            <a:ext cx="148590" cy="8573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7" name="Shape 15"/>
          <p:cNvSpPr/>
          <p:nvPr/>
        </p:nvSpPr>
        <p:spPr>
          <a:xfrm>
            <a:off x="125730" y="125730"/>
            <a:ext cx="8573" cy="14859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8" name="Shape 16"/>
          <p:cNvSpPr/>
          <p:nvPr/>
        </p:nvSpPr>
        <p:spPr>
          <a:xfrm>
            <a:off x="8869680" y="125730"/>
            <a:ext cx="148590" cy="8573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9" name="Shape 17"/>
          <p:cNvSpPr/>
          <p:nvPr/>
        </p:nvSpPr>
        <p:spPr>
          <a:xfrm>
            <a:off x="9009698" y="125730"/>
            <a:ext cx="8573" cy="14859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0" name="Shape 18"/>
          <p:cNvSpPr/>
          <p:nvPr/>
        </p:nvSpPr>
        <p:spPr>
          <a:xfrm>
            <a:off x="125730" y="5009198"/>
            <a:ext cx="148590" cy="8573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1" name="Shape 19"/>
          <p:cNvSpPr/>
          <p:nvPr/>
        </p:nvSpPr>
        <p:spPr>
          <a:xfrm>
            <a:off x="125730" y="4869180"/>
            <a:ext cx="8573" cy="14859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2" name="Shape 20"/>
          <p:cNvSpPr/>
          <p:nvPr/>
        </p:nvSpPr>
        <p:spPr>
          <a:xfrm>
            <a:off x="8869680" y="5009198"/>
            <a:ext cx="148590" cy="8573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3" name="Shape 21"/>
          <p:cNvSpPr/>
          <p:nvPr/>
        </p:nvSpPr>
        <p:spPr>
          <a:xfrm>
            <a:off x="9009698" y="4869180"/>
            <a:ext cx="8573" cy="14859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4" name="Shape 22"/>
          <p:cNvSpPr/>
          <p:nvPr/>
        </p:nvSpPr>
        <p:spPr>
          <a:xfrm>
            <a:off x="1097280" y="1131570"/>
            <a:ext cx="22860" cy="22860"/>
          </a:xfrm>
          <a:prstGeom prst="ellipse">
            <a:avLst/>
          </a:prstGeom>
          <a:solidFill>
            <a:srgbClr val="00BCD4">
              <a:alpha val="80000"/>
            </a:srgbClr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645920" y="2983230"/>
            <a:ext cx="22860" cy="22860"/>
          </a:xfrm>
          <a:prstGeom prst="ellipse">
            <a:avLst/>
          </a:prstGeom>
          <a:solidFill>
            <a:srgbClr val="2196F3">
              <a:alpha val="80000"/>
            </a:srgbClr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4011930"/>
            <a:ext cx="17145" cy="17145"/>
          </a:xfrm>
          <a:prstGeom prst="ellipse">
            <a:avLst/>
          </a:prstGeom>
          <a:solidFill>
            <a:srgbClr val="00BCD4">
              <a:alpha val="60000"/>
            </a:srgbClr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46720" y="1234440"/>
            <a:ext cx="22860" cy="22860"/>
          </a:xfrm>
          <a:prstGeom prst="ellipse">
            <a:avLst/>
          </a:prstGeom>
          <a:solidFill>
            <a:srgbClr val="00BCD4">
              <a:alpha val="80000"/>
            </a:srgbClr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98080" y="2674620"/>
            <a:ext cx="22860" cy="22860"/>
          </a:xfrm>
          <a:prstGeom prst="ellipse">
            <a:avLst/>
          </a:prstGeom>
          <a:solidFill>
            <a:srgbClr val="2196F3">
              <a:alpha val="80000"/>
            </a:srgbClr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86800" y="3291840"/>
            <a:ext cx="17145" cy="17145"/>
          </a:xfrm>
          <a:prstGeom prst="ellipse">
            <a:avLst/>
          </a:prstGeom>
          <a:solidFill>
            <a:srgbClr val="00BCD4">
              <a:alpha val="60000"/>
            </a:srgbClr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71450" y="4874895"/>
            <a:ext cx="206425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spc="113" kern="0" dirty="0">
                <a:solidFill>
                  <a:srgbClr val="A0AE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TALK · 2023 · OPEN SOURCE ECONOMICS</a:t>
            </a:r>
            <a:endParaRPr lang="en-US" sz="450" dirty="0"/>
          </a:p>
        </p:txBody>
      </p:sp>
      <p:sp>
        <p:nvSpPr>
          <p:cNvPr id="31" name="Shape 29"/>
          <p:cNvSpPr/>
          <p:nvPr/>
        </p:nvSpPr>
        <p:spPr>
          <a:xfrm>
            <a:off x="171450" y="4874895"/>
            <a:ext cx="125730" cy="5715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2" name="Text 30"/>
          <p:cNvSpPr/>
          <p:nvPr/>
        </p:nvSpPr>
        <p:spPr>
          <a:xfrm>
            <a:off x="7880985" y="4874895"/>
            <a:ext cx="122255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spc="113" kern="0" dirty="0">
                <a:solidFill>
                  <a:srgbClr val="A0AE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 · 01 / OPENING</a:t>
            </a:r>
            <a:endParaRPr lang="en-US" sz="450" dirty="0"/>
          </a:p>
        </p:txBody>
      </p:sp>
      <p:sp>
        <p:nvSpPr>
          <p:cNvPr id="33" name="Shape 31"/>
          <p:cNvSpPr/>
          <p:nvPr/>
        </p:nvSpPr>
        <p:spPr>
          <a:xfrm>
            <a:off x="7880985" y="4874895"/>
            <a:ext cx="125730" cy="571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" y="262890"/>
            <a:ext cx="308610" cy="308610"/>
          </a:xfrm>
          <a:prstGeom prst="rect">
            <a:avLst/>
          </a:prstGeom>
          <a:gradFill rotWithShape="1">
            <a:gsLst>
              <a:gs pos="0">
                <a:srgbClr val="2196F3">
                  <a:alpha val="25000"/>
                </a:srgbClr>
              </a:gs>
              <a:gs pos="100000">
                <a:srgbClr val="00BCD4">
                  <a:alpha val="15000"/>
                </a:srgbClr>
              </a:gs>
            </a:gsLst>
            <a:lin ang="2700000" scaled="0"/>
          </a:gradFill>
          <a:ln w="5715">
            <a:solidFill>
              <a:srgbClr val="2196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0050" y="262890"/>
            <a:ext cx="422910" cy="3086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⟨/⟩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0100" y="287893"/>
            <a:ext cx="1987448" cy="14573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65" spc="1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 · 经济学分享</a:t>
            </a:r>
            <a:endParaRPr lang="en-US" sz="765" dirty="0"/>
          </a:p>
        </p:txBody>
      </p:sp>
      <p:sp>
        <p:nvSpPr>
          <p:cNvPr id="37" name="Text 35"/>
          <p:cNvSpPr/>
          <p:nvPr/>
        </p:nvSpPr>
        <p:spPr>
          <a:xfrm>
            <a:off x="800100" y="456486"/>
            <a:ext cx="1987448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spc="15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· ECONOMICS SHARING</a:t>
            </a:r>
            <a:endParaRPr lang="en-US" sz="473" dirty="0"/>
          </a:p>
        </p:txBody>
      </p:sp>
      <p:sp>
        <p:nvSpPr>
          <p:cNvPr id="38" name="Shape 36"/>
          <p:cNvSpPr/>
          <p:nvPr/>
        </p:nvSpPr>
        <p:spPr>
          <a:xfrm>
            <a:off x="6720840" y="262890"/>
            <a:ext cx="2023110" cy="248603"/>
          </a:xfrm>
          <a:prstGeom prst="rect">
            <a:avLst/>
          </a:prstGeom>
          <a:solidFill>
            <a:srgbClr val="2D3748">
              <a:alpha val="55000"/>
            </a:srgbClr>
          </a:solidFill>
          <a:ln w="5715">
            <a:solidFill>
              <a:srgbClr val="2196F3">
                <a:alpha val="2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20840" y="262890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955155" y="340043"/>
            <a:ext cx="708660" cy="94298"/>
          </a:xfrm>
          <a:prstGeom prst="rect">
            <a:avLst/>
          </a:prstGeom>
          <a:noFill/>
          <a:ln/>
        </p:spPr>
      </p:sp>
      <p:sp>
        <p:nvSpPr>
          <p:cNvPr id="41" name="Shape 39"/>
          <p:cNvSpPr/>
          <p:nvPr/>
        </p:nvSpPr>
        <p:spPr>
          <a:xfrm>
            <a:off x="7663815" y="340043"/>
            <a:ext cx="0" cy="94298"/>
          </a:xfrm>
          <a:prstGeom prst="line">
            <a:avLst/>
          </a:prstGeom>
          <a:noFill/>
          <a:ln w="571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55155" y="340043"/>
            <a:ext cx="793699" cy="94298"/>
          </a:xfrm>
          <a:prstGeom prst="rect">
            <a:avLst/>
          </a:prstGeom>
          <a:noFill/>
          <a:ln/>
        </p:spPr>
        <p:txBody>
          <a:bodyPr wrap="none" lIns="0" tIns="0" rIns="6858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113" kern="0" dirty="0">
                <a:solidFill>
                  <a:srgbClr val="A0AE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SHARING DATE</a:t>
            </a:r>
            <a:endParaRPr lang="en-US" sz="495" dirty="0"/>
          </a:p>
        </p:txBody>
      </p:sp>
      <p:sp>
        <p:nvSpPr>
          <p:cNvPr id="43" name="Text 41"/>
          <p:cNvSpPr/>
          <p:nvPr/>
        </p:nvSpPr>
        <p:spPr>
          <a:xfrm>
            <a:off x="7732395" y="331470"/>
            <a:ext cx="998525" cy="1114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85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分享时间　2023 年 9 月</a:t>
            </a:r>
            <a:endParaRPr lang="en-US" sz="585" dirty="0"/>
          </a:p>
        </p:txBody>
      </p:sp>
      <p:sp>
        <p:nvSpPr>
          <p:cNvPr id="44" name="Shape 42"/>
          <p:cNvSpPr/>
          <p:nvPr/>
        </p:nvSpPr>
        <p:spPr>
          <a:xfrm>
            <a:off x="6520815" y="568643"/>
            <a:ext cx="2223135" cy="248603"/>
          </a:xfrm>
          <a:prstGeom prst="rect">
            <a:avLst/>
          </a:prstGeom>
          <a:solidFill>
            <a:srgbClr val="2D3748">
              <a:alpha val="55000"/>
            </a:srgbClr>
          </a:solidFill>
          <a:ln w="5715">
            <a:solidFill>
              <a:srgbClr val="2196F3">
                <a:alpha val="2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20815" y="568643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755130" y="645795"/>
            <a:ext cx="628650" cy="94298"/>
          </a:xfrm>
          <a:prstGeom prst="rect">
            <a:avLst/>
          </a:prstGeom>
          <a:noFill/>
          <a:ln/>
        </p:spPr>
      </p:sp>
      <p:sp>
        <p:nvSpPr>
          <p:cNvPr id="47" name="Shape 45"/>
          <p:cNvSpPr/>
          <p:nvPr/>
        </p:nvSpPr>
        <p:spPr>
          <a:xfrm>
            <a:off x="7383780" y="645795"/>
            <a:ext cx="0" cy="94298"/>
          </a:xfrm>
          <a:prstGeom prst="line">
            <a:avLst/>
          </a:prstGeom>
          <a:noFill/>
          <a:ln w="571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55130" y="645795"/>
            <a:ext cx="704088" cy="94298"/>
          </a:xfrm>
          <a:prstGeom prst="rect">
            <a:avLst/>
          </a:prstGeom>
          <a:noFill/>
          <a:ln/>
        </p:spPr>
        <p:txBody>
          <a:bodyPr wrap="none" lIns="0" tIns="0" rIns="6858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113" kern="0" dirty="0">
                <a:solidFill>
                  <a:srgbClr val="A0AE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THEME</a:t>
            </a:r>
            <a:endParaRPr lang="en-US" sz="495" dirty="0"/>
          </a:p>
        </p:txBody>
      </p:sp>
      <p:sp>
        <p:nvSpPr>
          <p:cNvPr id="49" name="Text 47"/>
          <p:cNvSpPr/>
          <p:nvPr/>
        </p:nvSpPr>
        <p:spPr>
          <a:xfrm>
            <a:off x="7452360" y="637223"/>
            <a:ext cx="1312164" cy="1114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85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核心主题　Linux 与 OSS 经济学</a:t>
            </a:r>
            <a:endParaRPr lang="en-US" sz="585" dirty="0"/>
          </a:p>
        </p:txBody>
      </p:sp>
      <p:sp>
        <p:nvSpPr>
          <p:cNvPr id="50" name="Shape 48"/>
          <p:cNvSpPr/>
          <p:nvPr/>
        </p:nvSpPr>
        <p:spPr>
          <a:xfrm>
            <a:off x="2800350" y="1108710"/>
            <a:ext cx="2286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51" name="Shape 49"/>
          <p:cNvSpPr/>
          <p:nvPr/>
        </p:nvSpPr>
        <p:spPr>
          <a:xfrm>
            <a:off x="3120390" y="1088708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257550" y="1055846"/>
            <a:ext cx="2944368" cy="1114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585" spc="29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 ·  ECONOMICS  ·  2023</a:t>
            </a:r>
            <a:endParaRPr lang="en-US" sz="585" dirty="0"/>
          </a:p>
        </p:txBody>
      </p:sp>
      <p:sp>
        <p:nvSpPr>
          <p:cNvPr id="53" name="Shape 51"/>
          <p:cNvSpPr/>
          <p:nvPr/>
        </p:nvSpPr>
        <p:spPr>
          <a:xfrm>
            <a:off x="5977890" y="1088708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115050" y="1108710"/>
            <a:ext cx="2286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55" name="Text 53"/>
          <p:cNvSpPr/>
          <p:nvPr/>
        </p:nvSpPr>
        <p:spPr>
          <a:xfrm>
            <a:off x="400050" y="1270159"/>
            <a:ext cx="9345168" cy="641866"/>
          </a:xfrm>
          <a:prstGeom prst="rect">
            <a:avLst/>
          </a:prstGeom>
          <a:noFill/>
          <a:ln/>
          <a:effectLst>
            <a:outerShdw sx="100000" sy="100000" kx="0" ky="0" algn="bl" rotWithShape="0" blurRad="342900" dist="50800" dir="5400000">
              <a:srgbClr val="2196F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4680" b="1" spc="4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开源的商业</a:t>
            </a:r>
            <a:pPr algn="ctr" indent="0" marL="0">
              <a:lnSpc>
                <a:spcPct val="108000"/>
              </a:lnSpc>
              <a:buNone/>
            </a:pPr>
            <a:r>
              <a:rPr lang="en-US" sz="4680" b="1" i="1" spc="45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</a:t>
            </a:r>
            <a:pPr algn="ctr" indent="0" marL="0">
              <a:lnSpc>
                <a:spcPct val="108000"/>
              </a:lnSpc>
              <a:buNone/>
            </a:pPr>
            <a:r>
              <a:rPr lang="en-US" sz="4680" b="1" spc="4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经济学</a:t>
            </a:r>
            <a:endParaRPr lang="en-US" sz="4680" dirty="0"/>
          </a:p>
        </p:txBody>
      </p:sp>
      <p:sp>
        <p:nvSpPr>
          <p:cNvPr id="56" name="Shape 54"/>
          <p:cNvSpPr/>
          <p:nvPr/>
        </p:nvSpPr>
        <p:spPr>
          <a:xfrm>
            <a:off x="2308860" y="2152055"/>
            <a:ext cx="51435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7" name="Text 55"/>
          <p:cNvSpPr/>
          <p:nvPr/>
        </p:nvSpPr>
        <p:spPr>
          <a:xfrm>
            <a:off x="2948940" y="2060615"/>
            <a:ext cx="3635654" cy="18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90" spc="248" kern="0" dirty="0">
                <a:solidFill>
                  <a:srgbClr val="CFD8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2023-09 ·</a:t>
            </a:r>
            <a:pPr algn="ctr" indent="0" marL="0">
              <a:lnSpc>
                <a:spcPct val="150000"/>
              </a:lnSpc>
              <a:buNone/>
            </a:pPr>
            <a:r>
              <a:rPr lang="en-US" sz="990" b="1" spc="24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</a:t>
            </a:r>
            <a:pPr algn="ctr" indent="0" marL="0">
              <a:lnSpc>
                <a:spcPct val="150000"/>
              </a:lnSpc>
              <a:buNone/>
            </a:pPr>
            <a:r>
              <a:rPr lang="en-US" sz="990" spc="248" kern="0" dirty="0">
                <a:solidFill>
                  <a:srgbClr val="CFD8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与开源软件的价值重塑</a:t>
            </a:r>
            <a:endParaRPr lang="en-US" sz="990" dirty="0"/>
          </a:p>
        </p:txBody>
      </p:sp>
      <p:sp>
        <p:nvSpPr>
          <p:cNvPr id="58" name="Shape 56"/>
          <p:cNvSpPr/>
          <p:nvPr/>
        </p:nvSpPr>
        <p:spPr>
          <a:xfrm>
            <a:off x="6320790" y="2152055"/>
            <a:ext cx="51435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9" name="Text 57"/>
          <p:cNvSpPr/>
          <p:nvPr/>
        </p:nvSpPr>
        <p:spPr>
          <a:xfrm>
            <a:off x="400050" y="2340650"/>
            <a:ext cx="9345168" cy="1114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585" spc="135" kern="0" dirty="0">
                <a:solidFill>
                  <a:srgbClr val="A0AE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BUSINESS-PERSPECTIVE READING OF GLOBAL DIGITAL INFRASTRUCTURE</a:t>
            </a:r>
            <a:endParaRPr lang="en-US" sz="585" dirty="0"/>
          </a:p>
        </p:txBody>
      </p:sp>
      <p:sp>
        <p:nvSpPr>
          <p:cNvPr id="60" name="Shape 58"/>
          <p:cNvSpPr/>
          <p:nvPr/>
        </p:nvSpPr>
        <p:spPr>
          <a:xfrm>
            <a:off x="400050" y="2669262"/>
            <a:ext cx="2697480" cy="960120"/>
          </a:xfrm>
          <a:prstGeom prst="rect">
            <a:avLst/>
          </a:prstGeom>
          <a:gradFill rotWithShape="1">
            <a:gsLst>
              <a:gs pos="0">
                <a:srgbClr val="2D3748">
                  <a:alpha val="72000"/>
                </a:srgbClr>
              </a:gs>
              <a:gs pos="100000">
                <a:srgbClr val="0F1624">
                  <a:alpha val="85000"/>
                </a:srgbClr>
              </a:gs>
            </a:gsLst>
            <a:lin ang="5400000" scaled="0"/>
          </a:gradFill>
          <a:ln w="5715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00050" y="2663547"/>
            <a:ext cx="31432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62" name="Shape 60"/>
          <p:cNvSpPr/>
          <p:nvPr/>
        </p:nvSpPr>
        <p:spPr>
          <a:xfrm>
            <a:off x="2771775" y="3612237"/>
            <a:ext cx="31432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10800000" scaled="0"/>
          </a:gradFill>
          <a:ln/>
        </p:spPr>
      </p:sp>
      <p:sp>
        <p:nvSpPr>
          <p:cNvPr id="63" name="Text 61"/>
          <p:cNvSpPr/>
          <p:nvPr/>
        </p:nvSpPr>
        <p:spPr>
          <a:xfrm>
            <a:off x="542925" y="2800707"/>
            <a:ext cx="466344" cy="2914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530" dirty="0"/>
          </a:p>
        </p:txBody>
      </p:sp>
      <p:sp>
        <p:nvSpPr>
          <p:cNvPr id="64" name="Text 62"/>
          <p:cNvSpPr/>
          <p:nvPr/>
        </p:nvSpPr>
        <p:spPr>
          <a:xfrm>
            <a:off x="845820" y="2903577"/>
            <a:ext cx="920115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10" b="1" spc="11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开源之书记录</a:t>
            </a:r>
            <a:endParaRPr lang="en-US" sz="810" dirty="0"/>
          </a:p>
        </p:txBody>
      </p:sp>
      <p:sp>
        <p:nvSpPr>
          <p:cNvPr id="65" name="Text 63"/>
          <p:cNvSpPr/>
          <p:nvPr/>
        </p:nvSpPr>
        <p:spPr>
          <a:xfrm>
            <a:off x="845820" y="3069312"/>
            <a:ext cx="915314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spc="113" kern="0" dirty="0">
                <a:solidFill>
                  <a:srgbClr val="A0AE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ARCHIVE &amp; SOURCE</a:t>
            </a:r>
            <a:endParaRPr lang="en-US" sz="473" dirty="0"/>
          </a:p>
        </p:txBody>
      </p:sp>
      <p:sp>
        <p:nvSpPr>
          <p:cNvPr id="66" name="Text 64"/>
          <p:cNvSpPr/>
          <p:nvPr/>
        </p:nvSpPr>
        <p:spPr>
          <a:xfrm>
            <a:off x="542925" y="3227903"/>
            <a:ext cx="2701138" cy="270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spc="23" kern="0" dirty="0">
                <a:solidFill>
                  <a:srgbClr val="C8D4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本次分享基于</a:t>
            </a:r>
            <a:pPr algn="l" indent="0" marL="0">
              <a:lnSpc>
                <a:spcPct val="175000"/>
              </a:lnSpc>
              <a:buNone/>
            </a:pPr>
            <a:r>
              <a:rPr lang="en-US" sz="608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 年 9 月</a:t>
            </a:r>
            <a:pPr algn="l" indent="0" marL="0">
              <a:lnSpc>
                <a:spcPct val="175000"/>
              </a:lnSpc>
              <a:buNone/>
            </a:pPr>
            <a:r>
              <a:rPr lang="en-US" sz="608" spc="23" kern="0" dirty="0">
                <a:solidFill>
                  <a:srgbClr val="C8D4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的开源布道资料整理而成，回溯开源社区的历史坐标与关键节点。</a:t>
            </a:r>
            <a:endParaRPr lang="en-US" sz="608" dirty="0"/>
          </a:p>
        </p:txBody>
      </p:sp>
      <p:sp>
        <p:nvSpPr>
          <p:cNvPr id="67" name="Shape 65"/>
          <p:cNvSpPr/>
          <p:nvPr/>
        </p:nvSpPr>
        <p:spPr>
          <a:xfrm>
            <a:off x="3223260" y="2669262"/>
            <a:ext cx="2697480" cy="960120"/>
          </a:xfrm>
          <a:prstGeom prst="rect">
            <a:avLst/>
          </a:prstGeom>
          <a:gradFill rotWithShape="1">
            <a:gsLst>
              <a:gs pos="0">
                <a:srgbClr val="2D3748">
                  <a:alpha val="72000"/>
                </a:srgbClr>
              </a:gs>
              <a:gs pos="100000">
                <a:srgbClr val="0F1624">
                  <a:alpha val="85000"/>
                </a:srgbClr>
              </a:gs>
            </a:gsLst>
            <a:lin ang="5400000" scaled="0"/>
          </a:gradFill>
          <a:ln w="5715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23260" y="2663547"/>
            <a:ext cx="31432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69" name="Shape 67"/>
          <p:cNvSpPr/>
          <p:nvPr/>
        </p:nvSpPr>
        <p:spPr>
          <a:xfrm>
            <a:off x="5594985" y="3612237"/>
            <a:ext cx="31432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10800000" scaled="0"/>
          </a:gradFill>
          <a:ln/>
        </p:spPr>
      </p:sp>
      <p:sp>
        <p:nvSpPr>
          <p:cNvPr id="70" name="Text 68"/>
          <p:cNvSpPr/>
          <p:nvPr/>
        </p:nvSpPr>
        <p:spPr>
          <a:xfrm>
            <a:off x="3366135" y="2800707"/>
            <a:ext cx="466344" cy="2914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530" dirty="0"/>
          </a:p>
        </p:txBody>
      </p:sp>
      <p:sp>
        <p:nvSpPr>
          <p:cNvPr id="71" name="Text 69"/>
          <p:cNvSpPr/>
          <p:nvPr/>
        </p:nvSpPr>
        <p:spPr>
          <a:xfrm>
            <a:off x="3709035" y="2903577"/>
            <a:ext cx="774383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10" b="1" spc="11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主题聚焦</a:t>
            </a:r>
            <a:endParaRPr lang="en-US" sz="810" dirty="0"/>
          </a:p>
        </p:txBody>
      </p:sp>
      <p:sp>
        <p:nvSpPr>
          <p:cNvPr id="72" name="Text 70"/>
          <p:cNvSpPr/>
          <p:nvPr/>
        </p:nvSpPr>
        <p:spPr>
          <a:xfrm>
            <a:off x="3709035" y="3069312"/>
            <a:ext cx="752094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spc="113" kern="0" dirty="0">
                <a:solidFill>
                  <a:srgbClr val="A0AE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&amp; FRAME</a:t>
            </a:r>
            <a:endParaRPr lang="en-US" sz="473" dirty="0"/>
          </a:p>
        </p:txBody>
      </p:sp>
      <p:sp>
        <p:nvSpPr>
          <p:cNvPr id="73" name="Text 71"/>
          <p:cNvSpPr/>
          <p:nvPr/>
        </p:nvSpPr>
        <p:spPr>
          <a:xfrm>
            <a:off x="3366135" y="3227903"/>
            <a:ext cx="2701138" cy="270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spc="23" kern="0" dirty="0">
                <a:solidFill>
                  <a:srgbClr val="C8D4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探索</a:t>
            </a:r>
            <a:pPr algn="l" indent="0" marL="0">
              <a:lnSpc>
                <a:spcPct val="175000"/>
              </a:lnSpc>
              <a:buNone/>
            </a:pPr>
            <a:r>
              <a:rPr lang="en-US" sz="608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与开源软件</a:t>
            </a:r>
            <a:pPr algn="l" indent="0" marL="0">
              <a:lnSpc>
                <a:spcPct val="175000"/>
              </a:lnSpc>
              <a:buNone/>
            </a:pPr>
            <a:r>
              <a:rPr lang="en-US" sz="608" spc="23" kern="0" dirty="0">
                <a:solidFill>
                  <a:srgbClr val="C8D4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背后的商业模型与经济学逻辑，拆解免费供给背后的价值流转机制。</a:t>
            </a:r>
            <a:endParaRPr lang="en-US" sz="608" dirty="0"/>
          </a:p>
        </p:txBody>
      </p:sp>
      <p:sp>
        <p:nvSpPr>
          <p:cNvPr id="74" name="Shape 72"/>
          <p:cNvSpPr/>
          <p:nvPr/>
        </p:nvSpPr>
        <p:spPr>
          <a:xfrm>
            <a:off x="6046470" y="2669262"/>
            <a:ext cx="2697480" cy="960120"/>
          </a:xfrm>
          <a:prstGeom prst="rect">
            <a:avLst/>
          </a:prstGeom>
          <a:gradFill rotWithShape="1">
            <a:gsLst>
              <a:gs pos="0">
                <a:srgbClr val="2D3748">
                  <a:alpha val="72000"/>
                </a:srgbClr>
              </a:gs>
              <a:gs pos="100000">
                <a:srgbClr val="0F1624">
                  <a:alpha val="85000"/>
                </a:srgbClr>
              </a:gs>
            </a:gsLst>
            <a:lin ang="5400000" scaled="0"/>
          </a:gradFill>
          <a:ln w="5715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046470" y="2663547"/>
            <a:ext cx="31432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76" name="Shape 74"/>
          <p:cNvSpPr/>
          <p:nvPr/>
        </p:nvSpPr>
        <p:spPr>
          <a:xfrm>
            <a:off x="8418195" y="3612237"/>
            <a:ext cx="31432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10800000" scaled="0"/>
          </a:gradFill>
          <a:ln/>
        </p:spPr>
      </p:sp>
      <p:sp>
        <p:nvSpPr>
          <p:cNvPr id="77" name="Text 75"/>
          <p:cNvSpPr/>
          <p:nvPr/>
        </p:nvSpPr>
        <p:spPr>
          <a:xfrm>
            <a:off x="6189345" y="2800707"/>
            <a:ext cx="466344" cy="2914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530" dirty="0"/>
          </a:p>
        </p:txBody>
      </p:sp>
      <p:sp>
        <p:nvSpPr>
          <p:cNvPr id="78" name="Text 76"/>
          <p:cNvSpPr/>
          <p:nvPr/>
        </p:nvSpPr>
        <p:spPr>
          <a:xfrm>
            <a:off x="6532245" y="2903577"/>
            <a:ext cx="908685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10" b="1" spc="11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分享脉络</a:t>
            </a:r>
            <a:endParaRPr lang="en-US" sz="810" dirty="0"/>
          </a:p>
        </p:txBody>
      </p:sp>
      <p:sp>
        <p:nvSpPr>
          <p:cNvPr id="79" name="Text 77"/>
          <p:cNvSpPr/>
          <p:nvPr/>
        </p:nvSpPr>
        <p:spPr>
          <a:xfrm>
            <a:off x="6532245" y="3069312"/>
            <a:ext cx="902513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spc="113" kern="0" dirty="0">
                <a:solidFill>
                  <a:srgbClr val="A0AE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NARRATIVE &amp; FLOW</a:t>
            </a:r>
            <a:endParaRPr lang="en-US" sz="473" dirty="0"/>
          </a:p>
        </p:txBody>
      </p:sp>
      <p:sp>
        <p:nvSpPr>
          <p:cNvPr id="80" name="Text 78"/>
          <p:cNvSpPr/>
          <p:nvPr/>
        </p:nvSpPr>
        <p:spPr>
          <a:xfrm>
            <a:off x="6189345" y="3227903"/>
            <a:ext cx="2701138" cy="270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spc="23" kern="0" dirty="0">
                <a:solidFill>
                  <a:srgbClr val="C8D4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</a:t>
            </a:r>
            <a:pPr algn="l" indent="0" marL="0">
              <a:lnSpc>
                <a:spcPct val="175000"/>
              </a:lnSpc>
              <a:buNone/>
            </a:pPr>
            <a:r>
              <a:rPr lang="en-US" sz="608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历史演进、商业模式、生态价值</a:t>
            </a:r>
            <a:pPr algn="l" indent="0" marL="0">
              <a:lnSpc>
                <a:spcPct val="175000"/>
              </a:lnSpc>
              <a:buNone/>
            </a:pPr>
            <a:r>
              <a:rPr lang="en-US" sz="608" spc="23" kern="0" dirty="0">
                <a:solidFill>
                  <a:srgbClr val="C8D4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到未来趋势逐层展开，勾勒一条清晰的分析主线。</a:t>
            </a:r>
            <a:endParaRPr lang="en-US" sz="608" dirty="0"/>
          </a:p>
        </p:txBody>
      </p:sp>
      <p:sp>
        <p:nvSpPr>
          <p:cNvPr id="81" name="Shape 79"/>
          <p:cNvSpPr/>
          <p:nvPr/>
        </p:nvSpPr>
        <p:spPr>
          <a:xfrm>
            <a:off x="400050" y="4027200"/>
            <a:ext cx="8343900" cy="853410"/>
          </a:xfrm>
          <a:prstGeom prst="rect">
            <a:avLst/>
          </a:prstGeom>
          <a:noFill/>
          <a:ln/>
        </p:spPr>
      </p:sp>
      <p:sp>
        <p:nvSpPr>
          <p:cNvPr id="82" name="Shape 80"/>
          <p:cNvSpPr/>
          <p:nvPr/>
        </p:nvSpPr>
        <p:spPr>
          <a:xfrm>
            <a:off x="400050" y="4027200"/>
            <a:ext cx="8343900" cy="0"/>
          </a:xfrm>
          <a:prstGeom prst="line">
            <a:avLst/>
          </a:prstGeom>
          <a:noFill/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00050" y="4405283"/>
            <a:ext cx="228600" cy="228600"/>
          </a:xfrm>
          <a:prstGeom prst="rect">
            <a:avLst/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28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00050" y="4405283"/>
            <a:ext cx="2971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23</a:t>
            </a:r>
            <a:endParaRPr lang="en-US" sz="540" dirty="0"/>
          </a:p>
        </p:txBody>
      </p:sp>
      <p:sp>
        <p:nvSpPr>
          <p:cNvPr id="85" name="Text 83"/>
          <p:cNvSpPr/>
          <p:nvPr/>
        </p:nvSpPr>
        <p:spPr>
          <a:xfrm>
            <a:off x="708660" y="4403854"/>
            <a:ext cx="16386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spc="135" kern="0" dirty="0">
                <a:solidFill>
                  <a:srgbClr val="A0AE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</a:t>
            </a:r>
            <a:endParaRPr lang="en-US" sz="450" dirty="0"/>
          </a:p>
        </p:txBody>
      </p:sp>
      <p:sp>
        <p:nvSpPr>
          <p:cNvPr id="86" name="Text 84"/>
          <p:cNvSpPr/>
          <p:nvPr/>
        </p:nvSpPr>
        <p:spPr>
          <a:xfrm>
            <a:off x="708660" y="4506724"/>
            <a:ext cx="1638605" cy="1285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基于商业视角的开源经济学专题分享</a:t>
            </a:r>
            <a:endParaRPr lang="en-US" sz="675" dirty="0"/>
          </a:p>
        </p:txBody>
      </p:sp>
      <p:sp>
        <p:nvSpPr>
          <p:cNvPr id="87" name="Shape 85"/>
          <p:cNvSpPr/>
          <p:nvPr/>
        </p:nvSpPr>
        <p:spPr>
          <a:xfrm>
            <a:off x="3549015" y="4405283"/>
            <a:ext cx="228600" cy="228600"/>
          </a:xfrm>
          <a:prstGeom prst="rect">
            <a:avLst/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28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549015" y="4405283"/>
            <a:ext cx="2971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层</a:t>
            </a:r>
            <a:endParaRPr lang="en-US" sz="540" dirty="0"/>
          </a:p>
        </p:txBody>
      </p:sp>
      <p:sp>
        <p:nvSpPr>
          <p:cNvPr id="89" name="Text 87"/>
          <p:cNvSpPr/>
          <p:nvPr/>
        </p:nvSpPr>
        <p:spPr>
          <a:xfrm>
            <a:off x="3857625" y="4403854"/>
            <a:ext cx="112654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spc="135" kern="0" dirty="0">
                <a:solidFill>
                  <a:srgbClr val="A0AE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DEPTH</a:t>
            </a:r>
            <a:endParaRPr lang="en-US" sz="450" dirty="0"/>
          </a:p>
        </p:txBody>
      </p:sp>
      <p:sp>
        <p:nvSpPr>
          <p:cNvPr id="90" name="Text 88"/>
          <p:cNvSpPr/>
          <p:nvPr/>
        </p:nvSpPr>
        <p:spPr>
          <a:xfrm>
            <a:off x="3857625" y="4506724"/>
            <a:ext cx="1126541" cy="1285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历史 · 商业 · 生态 · 趋势</a:t>
            </a:r>
            <a:endParaRPr lang="en-US" sz="675" dirty="0"/>
          </a:p>
        </p:txBody>
      </p:sp>
      <p:sp>
        <p:nvSpPr>
          <p:cNvPr id="91" name="Shape 89"/>
          <p:cNvSpPr/>
          <p:nvPr/>
        </p:nvSpPr>
        <p:spPr>
          <a:xfrm>
            <a:off x="6697980" y="4158645"/>
            <a:ext cx="1428750" cy="721965"/>
          </a:xfrm>
          <a:prstGeom prst="rect">
            <a:avLst/>
          </a:prstGeom>
          <a:solidFill>
            <a:srgbClr val="0D1421">
              <a:alpha val="85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806565" y="4232940"/>
            <a:ext cx="1369771" cy="922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428" spc="90" kern="0" dirty="0">
                <a:solidFill>
                  <a:srgbClr val="A0AE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TALKING POINTS</a:t>
            </a:r>
            <a:endParaRPr lang="en-US" sz="428" dirty="0"/>
          </a:p>
        </p:txBody>
      </p:sp>
      <p:sp>
        <p:nvSpPr>
          <p:cNvPr id="93" name="Shape 91"/>
          <p:cNvSpPr/>
          <p:nvPr/>
        </p:nvSpPr>
        <p:spPr>
          <a:xfrm>
            <a:off x="6806565" y="4232940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6806565" y="4370903"/>
            <a:ext cx="668884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i="1" spc="23" kern="0" dirty="0">
                <a:solidFill>
                  <a:srgbClr val="6877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// 全球数字基础设施</a:t>
            </a:r>
            <a:endParaRPr lang="en-US" sz="518" dirty="0"/>
          </a:p>
        </p:txBody>
      </p:sp>
      <p:sp>
        <p:nvSpPr>
          <p:cNvPr id="95" name="Text 93"/>
          <p:cNvSpPr/>
          <p:nvPr/>
        </p:nvSpPr>
        <p:spPr>
          <a:xfrm>
            <a:off x="6806565" y="4482614"/>
            <a:ext cx="20374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</a:t>
            </a:r>
            <a:endParaRPr lang="en-US" sz="518" dirty="0"/>
          </a:p>
        </p:txBody>
      </p:sp>
      <p:sp>
        <p:nvSpPr>
          <p:cNvPr id="96" name="Text 94"/>
          <p:cNvSpPr/>
          <p:nvPr/>
        </p:nvSpPr>
        <p:spPr>
          <a:xfrm>
            <a:off x="6920865" y="4482614"/>
            <a:ext cx="11172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spc="23" kern="0" dirty="0">
                <a:solidFill>
                  <a:srgbClr val="DB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</a:t>
            </a:r>
            <a:endParaRPr lang="en-US" sz="518" dirty="0"/>
          </a:p>
        </p:txBody>
      </p:sp>
      <p:sp>
        <p:nvSpPr>
          <p:cNvPr id="97" name="Text 95"/>
          <p:cNvSpPr/>
          <p:nvPr/>
        </p:nvSpPr>
        <p:spPr>
          <a:xfrm>
            <a:off x="6946583" y="4482614"/>
            <a:ext cx="25717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</a:t>
            </a:r>
            <a:endParaRPr lang="en-US" sz="518" dirty="0"/>
          </a:p>
        </p:txBody>
      </p:sp>
      <p:sp>
        <p:nvSpPr>
          <p:cNvPr id="98" name="Text 96"/>
          <p:cNvSpPr/>
          <p:nvPr/>
        </p:nvSpPr>
        <p:spPr>
          <a:xfrm>
            <a:off x="7158038" y="4482614"/>
            <a:ext cx="22860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</a:t>
            </a:r>
            <a:endParaRPr lang="en-US" sz="518" dirty="0"/>
          </a:p>
        </p:txBody>
      </p:sp>
      <p:sp>
        <p:nvSpPr>
          <p:cNvPr id="99" name="Text 97"/>
          <p:cNvSpPr/>
          <p:nvPr/>
        </p:nvSpPr>
        <p:spPr>
          <a:xfrm>
            <a:off x="7340918" y="4482614"/>
            <a:ext cx="157734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</a:t>
            </a:r>
            <a:endParaRPr lang="en-US" sz="518" dirty="0"/>
          </a:p>
        </p:txBody>
      </p:sp>
      <p:sp>
        <p:nvSpPr>
          <p:cNvPr id="100" name="Text 98"/>
          <p:cNvSpPr/>
          <p:nvPr/>
        </p:nvSpPr>
        <p:spPr>
          <a:xfrm>
            <a:off x="7429500" y="4482614"/>
            <a:ext cx="20374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oss</a:t>
            </a:r>
            <a:endParaRPr lang="en-US" sz="518" dirty="0"/>
          </a:p>
        </p:txBody>
      </p:sp>
      <p:sp>
        <p:nvSpPr>
          <p:cNvPr id="101" name="Text 99"/>
          <p:cNvSpPr/>
          <p:nvPr/>
        </p:nvSpPr>
        <p:spPr>
          <a:xfrm>
            <a:off x="7546658" y="4482614"/>
            <a:ext cx="20374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spc="23" kern="0" dirty="0">
                <a:solidFill>
                  <a:srgbClr val="DB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{</a:t>
            </a:r>
            <a:endParaRPr lang="en-US" sz="518" dirty="0"/>
          </a:p>
        </p:txBody>
      </p:sp>
      <p:sp>
        <p:nvSpPr>
          <p:cNvPr id="102" name="Text 100"/>
          <p:cNvSpPr/>
          <p:nvPr/>
        </p:nvSpPr>
        <p:spPr>
          <a:xfrm>
            <a:off x="6846570" y="4594324"/>
            <a:ext cx="24574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</a:t>
            </a:r>
            <a:endParaRPr lang="en-US" sz="518" dirty="0"/>
          </a:p>
        </p:txBody>
      </p:sp>
      <p:sp>
        <p:nvSpPr>
          <p:cNvPr id="103" name="Text 101"/>
          <p:cNvSpPr/>
          <p:nvPr/>
        </p:nvSpPr>
        <p:spPr>
          <a:xfrm>
            <a:off x="7046595" y="4594324"/>
            <a:ext cx="11430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spc="23" kern="0" dirty="0">
                <a:solidFill>
                  <a:srgbClr val="DB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</a:t>
            </a:r>
            <a:endParaRPr lang="en-US" sz="518" dirty="0"/>
          </a:p>
        </p:txBody>
      </p:sp>
      <p:sp>
        <p:nvSpPr>
          <p:cNvPr id="104" name="Text 102"/>
          <p:cNvSpPr/>
          <p:nvPr/>
        </p:nvSpPr>
        <p:spPr>
          <a:xfrm>
            <a:off x="7115175" y="4594324"/>
            <a:ext cx="44005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economics</a:t>
            </a:r>
            <a:endParaRPr lang="en-US" sz="518" dirty="0"/>
          </a:p>
        </p:txBody>
      </p:sp>
      <p:sp>
        <p:nvSpPr>
          <p:cNvPr id="105" name="Text 103"/>
          <p:cNvSpPr/>
          <p:nvPr/>
        </p:nvSpPr>
        <p:spPr>
          <a:xfrm>
            <a:off x="7489508" y="4594324"/>
            <a:ext cx="11172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spc="23" kern="0" dirty="0">
                <a:solidFill>
                  <a:srgbClr val="DB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</a:t>
            </a:r>
            <a:endParaRPr lang="en-US" sz="518" dirty="0"/>
          </a:p>
        </p:txBody>
      </p:sp>
      <p:sp>
        <p:nvSpPr>
          <p:cNvPr id="106" name="Text 104"/>
          <p:cNvSpPr/>
          <p:nvPr/>
        </p:nvSpPr>
        <p:spPr>
          <a:xfrm>
            <a:off x="7515225" y="4594324"/>
            <a:ext cx="22860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</a:t>
            </a:r>
            <a:endParaRPr lang="en-US" sz="518" dirty="0"/>
          </a:p>
        </p:txBody>
      </p:sp>
      <p:sp>
        <p:nvSpPr>
          <p:cNvPr id="107" name="Text 105"/>
          <p:cNvSpPr/>
          <p:nvPr/>
        </p:nvSpPr>
        <p:spPr>
          <a:xfrm>
            <a:off x="7678103" y="4594324"/>
            <a:ext cx="11172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spc="23" kern="0" dirty="0">
                <a:solidFill>
                  <a:srgbClr val="DB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518" dirty="0"/>
          </a:p>
        </p:txBody>
      </p:sp>
      <p:sp>
        <p:nvSpPr>
          <p:cNvPr id="108" name="Text 106"/>
          <p:cNvSpPr/>
          <p:nvPr/>
        </p:nvSpPr>
        <p:spPr>
          <a:xfrm>
            <a:off x="7703820" y="4594324"/>
            <a:ext cx="11172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spc="23" kern="0" dirty="0">
                <a:solidFill>
                  <a:srgbClr val="DB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</a:t>
            </a:r>
            <a:endParaRPr lang="en-US" sz="518" dirty="0"/>
          </a:p>
        </p:txBody>
      </p:sp>
      <p:sp>
        <p:nvSpPr>
          <p:cNvPr id="109" name="Text 107"/>
          <p:cNvSpPr/>
          <p:nvPr/>
        </p:nvSpPr>
        <p:spPr>
          <a:xfrm>
            <a:off x="6806565" y="4706035"/>
            <a:ext cx="11172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18" spc="23" kern="0" dirty="0">
                <a:solidFill>
                  <a:srgbClr val="DB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}</a:t>
            </a:r>
            <a:endParaRPr lang="en-US" sz="518" dirty="0"/>
          </a:p>
        </p:txBody>
      </p:sp>
      <p:sp>
        <p:nvSpPr>
          <p:cNvPr id="110" name="Shape 108"/>
          <p:cNvSpPr/>
          <p:nvPr/>
        </p:nvSpPr>
        <p:spPr>
          <a:xfrm>
            <a:off x="8321040" y="4268123"/>
            <a:ext cx="377190" cy="457200"/>
          </a:xfrm>
          <a:prstGeom prst="roundRect">
            <a:avLst>
              <a:gd name="adj" fmla="val 75758"/>
            </a:avLst>
          </a:prstGeom>
          <a:gradFill rotWithShape="1">
            <a:gsLst>
              <a:gs pos="0">
                <a:srgbClr val="142238"/>
              </a:gs>
              <a:gs pos="100000">
                <a:srgbClr val="0B1220"/>
              </a:gs>
            </a:gsLst>
            <a:lin ang="5400000" scaled="0"/>
          </a:gradFill>
          <a:ln w="5715">
            <a:solidFill>
              <a:srgbClr val="00BCD4">
                <a:alpha val="55000"/>
              </a:srgbClr>
            </a:solidFill>
            <a:prstDash val="solid"/>
          </a:ln>
          <a:effectLst>
            <a:outerShdw sx="100000" sy="100000" kx="0" ky="0" algn="bl" rotWithShape="0" blurRad="209550" dist="50800" dir="16200000">
              <a:srgbClr val="00BCD4">
                <a:alpha val="28000"/>
              </a:srgbClr>
            </a:outerShdw>
          </a:effectLst>
        </p:spPr>
      </p:sp>
      <p:sp>
        <p:nvSpPr>
          <p:cNvPr id="111" name="Shape 109"/>
          <p:cNvSpPr/>
          <p:nvPr/>
        </p:nvSpPr>
        <p:spPr>
          <a:xfrm>
            <a:off x="8406765" y="4508153"/>
            <a:ext cx="205740" cy="171450"/>
          </a:xfrm>
          <a:prstGeom prst="roundRect">
            <a:avLst>
              <a:gd name="adj" fmla="val 166667"/>
            </a:avLst>
          </a:prstGeom>
          <a:gradFill rotWithShape="1">
            <a:gsLst>
              <a:gs pos="0">
                <a:srgbClr val="00BCD4">
                  <a:alpha val="20000"/>
                </a:srgbClr>
              </a:gs>
              <a:gs pos="100000">
                <a:srgbClr val="2196F3">
                  <a:alpha val="15000"/>
                </a:srgbClr>
              </a:gs>
            </a:gsLst>
            <a:lin ang="5400000" scaled="0"/>
          </a:gradFill>
          <a:ln w="5715">
            <a:solidFill>
              <a:srgbClr val="00BCD4">
                <a:alpha val="2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423910" y="4370993"/>
            <a:ext cx="51435" cy="51435"/>
          </a:xfrm>
          <a:prstGeom prst="ellipse">
            <a:avLst/>
          </a:prstGeom>
          <a:solidFill>
            <a:srgbClr val="0A0F1A"/>
          </a:solidFill>
          <a:ln w="5715">
            <a:solidFill>
              <a:srgbClr val="00BCD4">
                <a:alpha val="6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441055" y="4376708"/>
            <a:ext cx="17145" cy="1714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38100" dist="50800" dir="16200000">
              <a:srgbClr val="00BCD4">
                <a:alpha val="100000"/>
              </a:srgbClr>
            </a:outerShdw>
          </a:effectLst>
        </p:spPr>
      </p:sp>
      <p:sp>
        <p:nvSpPr>
          <p:cNvPr id="114" name="Shape 112"/>
          <p:cNvSpPr/>
          <p:nvPr/>
        </p:nvSpPr>
        <p:spPr>
          <a:xfrm>
            <a:off x="8543925" y="4370993"/>
            <a:ext cx="51435" cy="51435"/>
          </a:xfrm>
          <a:prstGeom prst="ellipse">
            <a:avLst/>
          </a:prstGeom>
          <a:solidFill>
            <a:srgbClr val="0A0F1A"/>
          </a:solidFill>
          <a:ln w="5715">
            <a:solidFill>
              <a:srgbClr val="00BCD4">
                <a:alpha val="6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561070" y="4376708"/>
            <a:ext cx="17145" cy="1714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38100" dist="50800" dir="16200000">
              <a:srgbClr val="00BCD4">
                <a:alpha val="100000"/>
              </a:srgbClr>
            </a:outerShdw>
          </a:effectLst>
        </p:spPr>
      </p:sp>
      <p:sp>
        <p:nvSpPr>
          <p:cNvPr id="116" name="Shape 114"/>
          <p:cNvSpPr/>
          <p:nvPr/>
        </p:nvSpPr>
        <p:spPr>
          <a:xfrm>
            <a:off x="8463915" y="4439573"/>
            <a:ext cx="91440" cy="51435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70000"/>
              </a:srgbClr>
            </a:outerShdw>
          </a:effectLst>
        </p:spPr>
      </p:sp>
      <p:sp>
        <p:nvSpPr>
          <p:cNvPr id="117" name="Shape 115"/>
          <p:cNvSpPr/>
          <p:nvPr/>
        </p:nvSpPr>
        <p:spPr>
          <a:xfrm>
            <a:off x="8378190" y="4759613"/>
            <a:ext cx="114300" cy="45720"/>
          </a:xfrm>
          <a:prstGeom prst="rect">
            <a:avLst/>
          </a:prstGeom>
          <a:solidFill>
            <a:srgbClr val="00BCD4">
              <a:alpha val="85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8526780" y="4759613"/>
            <a:ext cx="114300" cy="45720"/>
          </a:xfrm>
          <a:prstGeom prst="rect">
            <a:avLst/>
          </a:prstGeom>
          <a:solidFill>
            <a:srgbClr val="00BCD4">
              <a:alpha val="8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lee/developing/oscar-open-source-book/website/slides-src/2023-09-the-business-and-economics-of-linux-and-os/images/page_002_hero.png">    </p:cNvPr>
          <p:cNvPicPr>
            <a:picLocks noChangeAspect="1"/>
          </p:cNvPicPr>
          <p:nvPr/>
        </p:nvPicPr>
        <p:blipFill>
          <a:blip r:embed="rId1"/>
          <a:srcRect l="25194" r="25194" t="0" b="0"/>
          <a:stretch/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43300" y="0"/>
            <a:ext cx="16002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60A14">
                  <a:alpha val="55000"/>
                </a:srgbClr>
              </a:gs>
              <a:gs pos="100000">
                <a:srgbClr val="060A14">
                  <a:alpha val="95000"/>
                </a:srgbClr>
              </a:gs>
            </a:gsLst>
            <a:lin ang="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0" y="0"/>
            <a:ext cx="5143500" cy="51435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060A14"/>
              </a:gs>
            </a:gsLst>
            <a:lin ang="2700000" scaled="0"/>
          </a:gradFill>
          <a:ln/>
        </p:spPr>
      </p:sp>
      <p:sp>
        <p:nvSpPr>
          <p:cNvPr id="5" name="Shape 2"/>
          <p:cNvSpPr/>
          <p:nvPr/>
        </p:nvSpPr>
        <p:spPr>
          <a:xfrm>
            <a:off x="4000500" y="0"/>
            <a:ext cx="51435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6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6" name="Shape 3"/>
          <p:cNvSpPr/>
          <p:nvPr/>
        </p:nvSpPr>
        <p:spPr>
          <a:xfrm>
            <a:off x="6972300" y="2971800"/>
            <a:ext cx="2857500" cy="2857500"/>
          </a:xfrm>
          <a:prstGeom prst="rect">
            <a:avLst/>
          </a:prstGeom>
          <a:solidFill>
            <a:srgbClr val="00BCD4">
              <a:alpha val="1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486400" y="-914400"/>
            <a:ext cx="2628900" cy="2628900"/>
          </a:xfrm>
          <a:prstGeom prst="rect">
            <a:avLst/>
          </a:prstGeom>
          <a:solidFill>
            <a:srgbClr val="2196F3">
              <a:alpha val="16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457700" y="457200"/>
            <a:ext cx="5715" cy="4229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5000">
                <a:srgbClr val="2196F3">
                  <a:alpha val="75000"/>
                </a:srgbClr>
              </a:gs>
              <a:gs pos="85000">
                <a:srgbClr val="00BCD4">
                  <a:alpha val="6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  <a:effectLst>
            <a:outerShdw sx="100000" sy="100000" kx="0" ky="0" algn="bl" rotWithShape="0" blurRad="133350" dist="50800" dir="16200000">
              <a:srgbClr val="2196F3">
                <a:alpha val="4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1617345"/>
            <a:ext cx="6035040" cy="21374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9800" b="1" spc="-9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9800" dirty="0"/>
          </a:p>
        </p:txBody>
      </p:sp>
      <p:sp>
        <p:nvSpPr>
          <p:cNvPr id="10" name="Text 7"/>
          <p:cNvSpPr/>
          <p:nvPr/>
        </p:nvSpPr>
        <p:spPr>
          <a:xfrm>
            <a:off x="502920" y="1617345"/>
            <a:ext cx="6035040" cy="2137410"/>
          </a:xfrm>
          <a:prstGeom prst="rect">
            <a:avLst/>
          </a:prstGeom>
          <a:noFill/>
          <a:ln/>
          <a:effectLst>
            <a:outerShdw sx="100000" sy="100000" kx="0" ky="0" algn="bl" rotWithShape="0" blurRad="342900" dist="50800" dir="5400000">
              <a:srgbClr val="2196F3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9800" b="1" spc="-9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9800" dirty="0"/>
          </a:p>
        </p:txBody>
      </p:sp>
      <p:sp>
        <p:nvSpPr>
          <p:cNvPr id="11" name="Shape 8"/>
          <p:cNvSpPr/>
          <p:nvPr/>
        </p:nvSpPr>
        <p:spPr>
          <a:xfrm>
            <a:off x="6700838" y="285750"/>
            <a:ext cx="2100263" cy="245745"/>
          </a:xfrm>
          <a:prstGeom prst="roundRect">
            <a:avLst>
              <a:gd name="adj" fmla="val 9302"/>
            </a:avLst>
          </a:prstGeom>
          <a:solidFill>
            <a:srgbClr val="0D1522">
              <a:alpha val="65000"/>
            </a:srgbClr>
          </a:soli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20853" y="385763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9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946583" y="360045"/>
            <a:ext cx="1942643" cy="97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spc="68" kern="0" dirty="0">
                <a:solidFill>
                  <a:srgbClr val="C7D2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</a:t>
            </a:r>
            <a:pPr algn="l" indent="0" marL="0">
              <a:buNone/>
            </a:pPr>
            <a:r>
              <a:rPr lang="en-US" sz="540" b="1" spc="6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pPr algn="l" indent="0" marL="0">
              <a:buNone/>
            </a:pPr>
            <a:r>
              <a:rPr lang="en-US" sz="540" spc="68" kern="0" dirty="0">
                <a:solidFill>
                  <a:srgbClr val="C7D2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3 个核心问题（背景 · 机制 · 价值）</a:t>
            </a:r>
            <a:endParaRPr lang="en-US" sz="540" dirty="0"/>
          </a:p>
        </p:txBody>
      </p:sp>
      <p:sp>
        <p:nvSpPr>
          <p:cNvPr id="14" name="Shape 11"/>
          <p:cNvSpPr/>
          <p:nvPr/>
        </p:nvSpPr>
        <p:spPr>
          <a:xfrm>
            <a:off x="6817995" y="557213"/>
            <a:ext cx="26289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2196F3"/>
              </a:gs>
            </a:gsLst>
            <a:lin ang="0" scaled="0"/>
          </a:gradFill>
          <a:ln/>
        </p:spPr>
      </p:sp>
      <p:sp>
        <p:nvSpPr>
          <p:cNvPr id="15" name="Text 12"/>
          <p:cNvSpPr/>
          <p:nvPr/>
        </p:nvSpPr>
        <p:spPr>
          <a:xfrm>
            <a:off x="7160895" y="514350"/>
            <a:ext cx="183703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360" kern="0" dirty="0">
                <a:solidFill>
                  <a:srgbClr val="8A97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TRANSITION</a:t>
            </a:r>
            <a:endParaRPr lang="en-US" sz="585" dirty="0"/>
          </a:p>
        </p:txBody>
      </p:sp>
      <p:sp>
        <p:nvSpPr>
          <p:cNvPr id="16" name="Text 13"/>
          <p:cNvSpPr/>
          <p:nvPr/>
        </p:nvSpPr>
        <p:spPr>
          <a:xfrm>
            <a:off x="4800600" y="1000125"/>
            <a:ext cx="448056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630" b="1" spc="27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01 · OPEN SOURCE ECONOMICS</a:t>
            </a:r>
            <a:endParaRPr lang="en-US" sz="630" dirty="0"/>
          </a:p>
        </p:txBody>
      </p:sp>
      <p:sp>
        <p:nvSpPr>
          <p:cNvPr id="17" name="Text 14"/>
          <p:cNvSpPr/>
          <p:nvPr/>
        </p:nvSpPr>
        <p:spPr>
          <a:xfrm>
            <a:off x="4800600" y="1223010"/>
            <a:ext cx="4480560" cy="762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610" b="1" spc="-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01</a:t>
            </a:r>
            <a:pPr algn="r" indent="0" marL="0">
              <a:lnSpc>
                <a:spcPct val="115000"/>
              </a:lnSpc>
              <a:buNone/>
            </a:pPr>
            <a:r>
              <a:rPr lang="en-US" sz="2610" b="1" spc="-45" kern="0" dirty="0">
                <a:solidFill>
                  <a:srgbClr val="F0F5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开源经济学</a:t>
            </a:r>
            <a:pPr algn="r" indent="0" marL="0">
              <a:lnSpc>
                <a:spcPct val="115000"/>
              </a:lnSpc>
              <a:buNone/>
            </a:pPr>
            <a:endParaRPr lang="en-US" sz="261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2610" b="1" spc="-45" kern="0" dirty="0">
                <a:solidFill>
                  <a:srgbClr val="F0F5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背景</a:t>
            </a:r>
            <a:endParaRPr lang="en-US" sz="2610" dirty="0"/>
          </a:p>
        </p:txBody>
      </p:sp>
      <p:sp>
        <p:nvSpPr>
          <p:cNvPr id="18" name="Text 15"/>
          <p:cNvSpPr/>
          <p:nvPr/>
        </p:nvSpPr>
        <p:spPr>
          <a:xfrm>
            <a:off x="5143500" y="2122408"/>
            <a:ext cx="4096512" cy="3473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855" dirty="0">
                <a:solidFill>
                  <a:srgbClr val="C7D2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为什么开源值得从</a:t>
            </a:r>
            <a:pPr algn="r" indent="0" marL="0">
              <a:lnSpc>
                <a:spcPct val="160000"/>
              </a:lnSpc>
              <a:buNone/>
            </a:pPr>
            <a:r>
              <a:rPr lang="en-US" sz="85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商业角度</a:t>
            </a:r>
            <a:pPr algn="r" indent="0" marL="0">
              <a:lnSpc>
                <a:spcPct val="160000"/>
              </a:lnSpc>
              <a:buNone/>
            </a:pPr>
            <a:r>
              <a:rPr lang="en-US" sz="855" dirty="0">
                <a:solidFill>
                  <a:srgbClr val="C7D2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重新审视 ——</a:t>
            </a:r>
            <a:pPr algn="r" indent="0" marL="0">
              <a:lnSpc>
                <a:spcPct val="160000"/>
              </a:lnSpc>
              <a:buNone/>
            </a:pPr>
            <a:endParaRPr lang="en-US" sz="855" dirty="0"/>
          </a:p>
          <a:p>
            <a:pPr algn="r" indent="0" marL="0">
              <a:lnSpc>
                <a:spcPct val="160000"/>
              </a:lnSpc>
              <a:buNone/>
            </a:pPr>
            <a:r>
              <a:rPr lang="en-US" sz="855" dirty="0">
                <a:solidFill>
                  <a:srgbClr val="C7D2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它并非慈善行为，而是一套经过市场验证的价值创造机制。</a:t>
            </a:r>
            <a:endParaRPr lang="en-US" sz="855" dirty="0"/>
          </a:p>
        </p:txBody>
      </p:sp>
      <p:sp>
        <p:nvSpPr>
          <p:cNvPr id="19" name="Shape 16"/>
          <p:cNvSpPr/>
          <p:nvPr/>
        </p:nvSpPr>
        <p:spPr>
          <a:xfrm>
            <a:off x="8229600" y="2641223"/>
            <a:ext cx="57150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114300" dist="50800" dir="16200000">
              <a:srgbClr val="00BCD4">
                <a:alpha val="5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257800" y="2824103"/>
            <a:ext cx="3968496" cy="252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70000"/>
              </a:lnSpc>
              <a:buNone/>
            </a:pPr>
            <a:r>
              <a:rPr lang="en-US" sz="585" spc="68" kern="0" dirty="0">
                <a:solidFill>
                  <a:srgbClr val="8A97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本部分回答三个核心问题：</a:t>
            </a:r>
            <a:pPr algn="r" indent="0" marL="0">
              <a:lnSpc>
                <a:spcPct val="170000"/>
              </a:lnSpc>
              <a:buNone/>
            </a:pPr>
            <a:endParaRPr lang="en-US" sz="585" dirty="0"/>
          </a:p>
          <a:p>
            <a:pPr algn="r" indent="0" marL="0">
              <a:lnSpc>
                <a:spcPct val="170000"/>
              </a:lnSpc>
              <a:buNone/>
            </a:pPr>
            <a:r>
              <a:rPr lang="en-US" sz="585" b="1" spc="6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</a:t>
            </a:r>
            <a:pPr algn="r" indent="0" marL="0">
              <a:lnSpc>
                <a:spcPct val="170000"/>
              </a:lnSpc>
              <a:buNone/>
            </a:pPr>
            <a:r>
              <a:rPr lang="en-US" sz="585" spc="68" kern="0" dirty="0">
                <a:solidFill>
                  <a:srgbClr val="8A97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什么是开源经济学 ·</a:t>
            </a:r>
            <a:pPr algn="r" indent="0" marL="0">
              <a:lnSpc>
                <a:spcPct val="170000"/>
              </a:lnSpc>
              <a:buNone/>
            </a:pPr>
            <a:r>
              <a:rPr lang="en-US" sz="585" b="1" spc="6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</a:t>
            </a:r>
            <a:pPr algn="r" indent="0" marL="0">
              <a:lnSpc>
                <a:spcPct val="170000"/>
              </a:lnSpc>
              <a:buNone/>
            </a:pPr>
            <a:r>
              <a:rPr lang="en-US" sz="585" spc="68" kern="0" dirty="0">
                <a:solidFill>
                  <a:srgbClr val="8A97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它如何运转 ·</a:t>
            </a:r>
            <a:pPr algn="r" indent="0" marL="0">
              <a:lnSpc>
                <a:spcPct val="170000"/>
              </a:lnSpc>
              <a:buNone/>
            </a:pPr>
            <a:r>
              <a:rPr lang="en-US" sz="585" b="1" spc="6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</a:t>
            </a:r>
            <a:pPr algn="r" indent="0" marL="0">
              <a:lnSpc>
                <a:spcPct val="170000"/>
              </a:lnSpc>
              <a:buNone/>
            </a:pPr>
            <a:r>
              <a:rPr lang="en-US" sz="585" spc="68" kern="0" dirty="0">
                <a:solidFill>
                  <a:srgbClr val="8A97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为什么商业世界离不开它</a:t>
            </a:r>
            <a:endParaRPr lang="en-US" sz="585" dirty="0"/>
          </a:p>
        </p:txBody>
      </p:sp>
      <p:sp>
        <p:nvSpPr>
          <p:cNvPr id="21" name="Shape 18"/>
          <p:cNvSpPr/>
          <p:nvPr/>
        </p:nvSpPr>
        <p:spPr>
          <a:xfrm>
            <a:off x="4800600" y="3934420"/>
            <a:ext cx="1257300" cy="866180"/>
          </a:xfrm>
          <a:prstGeom prst="roundRect">
            <a:avLst>
              <a:gd name="adj" fmla="val 3959"/>
            </a:avLst>
          </a:prstGeom>
          <a:solidFill>
            <a:srgbClr val="131C2E">
              <a:alpha val="55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00600" y="4037290"/>
            <a:ext cx="17145" cy="1257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23" name="Text 20"/>
          <p:cNvSpPr/>
          <p:nvPr/>
        </p:nvSpPr>
        <p:spPr>
          <a:xfrm>
            <a:off x="4897755" y="4043005"/>
            <a:ext cx="1190549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INSIGHT</a:t>
            </a:r>
            <a:endParaRPr lang="en-US" sz="495" dirty="0"/>
          </a:p>
        </p:txBody>
      </p:sp>
      <p:sp>
        <p:nvSpPr>
          <p:cNvPr id="24" name="Text 21"/>
          <p:cNvSpPr/>
          <p:nvPr/>
        </p:nvSpPr>
        <p:spPr>
          <a:xfrm>
            <a:off x="4897755" y="4168735"/>
            <a:ext cx="1190549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23" kern="0" dirty="0">
                <a:solidFill>
                  <a:srgbClr val="F0F5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认知纠偏</a:t>
            </a:r>
            <a:endParaRPr lang="en-US" sz="810" dirty="0"/>
          </a:p>
        </p:txBody>
      </p:sp>
      <p:sp>
        <p:nvSpPr>
          <p:cNvPr id="25" name="Text 22"/>
          <p:cNvSpPr/>
          <p:nvPr/>
        </p:nvSpPr>
        <p:spPr>
          <a:xfrm>
            <a:off x="4897755" y="4363045"/>
            <a:ext cx="1190549" cy="328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dirty="0">
                <a:solidFill>
                  <a:srgbClr val="8A97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开源不等于免费，也不等于没有商业模式；它是一套被验证的价值交换逻辑。</a:t>
            </a:r>
            <a:endParaRPr lang="en-US" sz="540" dirty="0"/>
          </a:p>
        </p:txBody>
      </p:sp>
      <p:sp>
        <p:nvSpPr>
          <p:cNvPr id="26" name="Shape 23"/>
          <p:cNvSpPr/>
          <p:nvPr/>
        </p:nvSpPr>
        <p:spPr>
          <a:xfrm>
            <a:off x="6172200" y="3934420"/>
            <a:ext cx="1257300" cy="866180"/>
          </a:xfrm>
          <a:prstGeom prst="roundRect">
            <a:avLst>
              <a:gd name="adj" fmla="val 3959"/>
            </a:avLst>
          </a:prstGeom>
          <a:solidFill>
            <a:srgbClr val="131C2E">
              <a:alpha val="55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72200" y="4037290"/>
            <a:ext cx="17145" cy="1257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28" name="Text 25"/>
          <p:cNvSpPr/>
          <p:nvPr/>
        </p:nvSpPr>
        <p:spPr>
          <a:xfrm>
            <a:off x="6269355" y="4043005"/>
            <a:ext cx="1190549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MECHANISM</a:t>
            </a:r>
            <a:endParaRPr lang="en-US" sz="495" dirty="0"/>
          </a:p>
        </p:txBody>
      </p:sp>
      <p:sp>
        <p:nvSpPr>
          <p:cNvPr id="29" name="Text 26"/>
          <p:cNvSpPr/>
          <p:nvPr/>
        </p:nvSpPr>
        <p:spPr>
          <a:xfrm>
            <a:off x="6269355" y="4168735"/>
            <a:ext cx="1190549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23" kern="0" dirty="0">
                <a:solidFill>
                  <a:srgbClr val="F0F5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价值重构</a:t>
            </a:r>
            <a:endParaRPr lang="en-US" sz="810" dirty="0"/>
          </a:p>
        </p:txBody>
      </p:sp>
      <p:sp>
        <p:nvSpPr>
          <p:cNvPr id="30" name="Text 27"/>
          <p:cNvSpPr/>
          <p:nvPr/>
        </p:nvSpPr>
        <p:spPr>
          <a:xfrm>
            <a:off x="6269355" y="4363045"/>
            <a:ext cx="1190549" cy="328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dirty="0">
                <a:solidFill>
                  <a:srgbClr val="8A97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从许可证设计、协作机制到网络效应，用经济学语言解读开源的运转方式。</a:t>
            </a:r>
            <a:endParaRPr lang="en-US" sz="540" dirty="0"/>
          </a:p>
        </p:txBody>
      </p:sp>
      <p:sp>
        <p:nvSpPr>
          <p:cNvPr id="31" name="Shape 28"/>
          <p:cNvSpPr/>
          <p:nvPr/>
        </p:nvSpPr>
        <p:spPr>
          <a:xfrm>
            <a:off x="7543800" y="3934420"/>
            <a:ext cx="1257300" cy="866180"/>
          </a:xfrm>
          <a:prstGeom prst="roundRect">
            <a:avLst>
              <a:gd name="adj" fmla="val 3959"/>
            </a:avLst>
          </a:prstGeom>
          <a:solidFill>
            <a:srgbClr val="131C2E">
              <a:alpha val="55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543800" y="4037290"/>
            <a:ext cx="17145" cy="1257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33" name="Text 30"/>
          <p:cNvSpPr/>
          <p:nvPr/>
        </p:nvSpPr>
        <p:spPr>
          <a:xfrm>
            <a:off x="7640955" y="4043005"/>
            <a:ext cx="1190549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INDUSTRY</a:t>
            </a:r>
            <a:endParaRPr lang="en-US" sz="495" dirty="0"/>
          </a:p>
        </p:txBody>
      </p:sp>
      <p:sp>
        <p:nvSpPr>
          <p:cNvPr id="34" name="Text 31"/>
          <p:cNvSpPr/>
          <p:nvPr/>
        </p:nvSpPr>
        <p:spPr>
          <a:xfrm>
            <a:off x="7640955" y="4168735"/>
            <a:ext cx="1190549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23" kern="0" dirty="0">
                <a:solidFill>
                  <a:srgbClr val="F0F5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产业视角</a:t>
            </a:r>
            <a:endParaRPr lang="en-US" sz="810" dirty="0"/>
          </a:p>
        </p:txBody>
      </p:sp>
      <p:sp>
        <p:nvSpPr>
          <p:cNvPr id="35" name="Text 32"/>
          <p:cNvSpPr/>
          <p:nvPr/>
        </p:nvSpPr>
        <p:spPr>
          <a:xfrm>
            <a:off x="7640955" y="4363045"/>
            <a:ext cx="1190549" cy="328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dirty="0">
                <a:solidFill>
                  <a:srgbClr val="8A97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全球科技巨头均深度嵌入开源生态，开源已成为核心基础设施与竞争壁垒。</a:t>
            </a:r>
            <a:endParaRPr lang="en-US" sz="540" dirty="0"/>
          </a:p>
        </p:txBody>
      </p:sp>
      <p:sp>
        <p:nvSpPr>
          <p:cNvPr id="36" name="Shape 33"/>
          <p:cNvSpPr/>
          <p:nvPr/>
        </p:nvSpPr>
        <p:spPr>
          <a:xfrm>
            <a:off x="514350" y="4757738"/>
            <a:ext cx="228600" cy="5715"/>
          </a:xfrm>
          <a:prstGeom prst="rect">
            <a:avLst/>
          </a:prstGeom>
          <a:solidFill>
            <a:srgbClr val="2196F3">
              <a:alpha val="60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811530" y="4720590"/>
            <a:ext cx="166420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80" kern="0" dirty="0">
                <a:solidFill>
                  <a:srgbClr val="6E7B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· SOURCE · ECONOMICS</a:t>
            </a:r>
            <a:endParaRPr lang="en-US" sz="49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A2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rect">
            <a:avLst/>
          </a:prstGeom>
          <a:solidFill>
            <a:srgbClr val="2196F3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971800"/>
            <a:ext cx="3200400" cy="3200400"/>
          </a:xfrm>
          <a:prstGeom prst="rect">
            <a:avLst/>
          </a:prstGeom>
          <a:solidFill>
            <a:srgbClr val="00BCD4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6" name="Shape 4"/>
          <p:cNvSpPr/>
          <p:nvPr/>
        </p:nvSpPr>
        <p:spPr>
          <a:xfrm>
            <a:off x="342900" y="338614"/>
            <a:ext cx="194310" cy="1143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7" name="Text 5"/>
          <p:cNvSpPr/>
          <p:nvPr/>
        </p:nvSpPr>
        <p:spPr>
          <a:xfrm>
            <a:off x="605790" y="297180"/>
            <a:ext cx="1923840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15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ECONOMICS · 概念框架</a:t>
            </a:r>
            <a:endParaRPr lang="en-US" sz="495" dirty="0"/>
          </a:p>
        </p:txBody>
      </p:sp>
      <p:sp>
        <p:nvSpPr>
          <p:cNvPr id="8" name="Text 6"/>
          <p:cNvSpPr/>
          <p:nvPr/>
        </p:nvSpPr>
        <p:spPr>
          <a:xfrm>
            <a:off x="342900" y="437198"/>
            <a:ext cx="5069434" cy="382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90" b="1" spc="2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什么是</a:t>
            </a:r>
            <a:pPr algn="l" indent="0" marL="0">
              <a:lnSpc>
                <a:spcPct val="108000"/>
              </a:lnSpc>
              <a:buNone/>
            </a:pPr>
            <a:r>
              <a:rPr lang="en-US" sz="2790" b="1" spc="28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开源经济学</a:t>
            </a:r>
            <a:endParaRPr lang="en-US" sz="2790" dirty="0"/>
          </a:p>
        </p:txBody>
      </p:sp>
      <p:sp>
        <p:nvSpPr>
          <p:cNvPr id="9" name="Text 7"/>
          <p:cNvSpPr/>
          <p:nvPr/>
        </p:nvSpPr>
        <p:spPr>
          <a:xfrm>
            <a:off x="1416606" y="408623"/>
            <a:ext cx="2143750" cy="4286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90" b="1" spc="2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开源经济学</a:t>
            </a:r>
            <a:endParaRPr lang="en-US" sz="2790" dirty="0"/>
          </a:p>
        </p:txBody>
      </p:sp>
      <p:sp>
        <p:nvSpPr>
          <p:cNvPr id="10" name="Text 8"/>
          <p:cNvSpPr/>
          <p:nvPr/>
        </p:nvSpPr>
        <p:spPr>
          <a:xfrm>
            <a:off x="342900" y="865555"/>
            <a:ext cx="5069434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20" spc="43" kern="0" dirty="0">
                <a:solidFill>
                  <a:srgbClr val="7A87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从公共品理论到现代软件协作范式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342900" y="1105585"/>
            <a:ext cx="2234565" cy="541496"/>
          </a:xfrm>
          <a:prstGeom prst="roundRect">
            <a:avLst>
              <a:gd name="adj" fmla="val 10554"/>
            </a:avLst>
          </a:prstGeom>
          <a:solidFill>
            <a:srgbClr val="2196F3">
              <a:alpha val="5000"/>
            </a:srgbClr>
          </a:solidFill>
          <a:ln w="1714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11705" y="1105585"/>
            <a:ext cx="342900" cy="342900"/>
          </a:xfrm>
          <a:prstGeom prst="rect">
            <a:avLst/>
          </a:prstGeom>
          <a:solidFill>
            <a:srgbClr val="2196F3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1485" y="1191310"/>
            <a:ext cx="194310" cy="194310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2196F3"/>
              </a:gs>
              <a:gs pos="100000">
                <a:srgbClr val="1976D2"/>
              </a:gs>
            </a:gsLst>
            <a:lin ang="2700000" scaled="0"/>
          </a:gradFill>
          <a:ln/>
          <a:effectLst>
            <a:outerShdw sx="100000" sy="100000" kx="0" ky="0" algn="bl" rotWithShape="0" blurRad="114300" dist="38100" dir="16200000">
              <a:srgbClr val="2196F3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1485" y="1191310"/>
            <a:ext cx="274320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630" dirty="0"/>
          </a:p>
        </p:txBody>
      </p:sp>
      <p:sp>
        <p:nvSpPr>
          <p:cNvPr id="15" name="Text 13"/>
          <p:cNvSpPr/>
          <p:nvPr/>
        </p:nvSpPr>
        <p:spPr>
          <a:xfrm>
            <a:off x="714375" y="1191310"/>
            <a:ext cx="1977847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b="1" spc="1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公共品属性</a:t>
            </a:r>
            <a:endParaRPr lang="en-US" sz="630" dirty="0"/>
          </a:p>
        </p:txBody>
      </p:sp>
      <p:sp>
        <p:nvSpPr>
          <p:cNvPr id="16" name="Text 14"/>
          <p:cNvSpPr/>
          <p:nvPr/>
        </p:nvSpPr>
        <p:spPr>
          <a:xfrm>
            <a:off x="714375" y="1339900"/>
            <a:ext cx="1977847" cy="221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dirty="0">
                <a:solidFill>
                  <a:srgbClr val="B8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开源软件具备非竞争性，但通过贡献门槛形成部分排他性</a:t>
            </a:r>
            <a:endParaRPr lang="en-US" sz="563" dirty="0"/>
          </a:p>
        </p:txBody>
      </p:sp>
      <p:sp>
        <p:nvSpPr>
          <p:cNvPr id="17" name="Shape 15"/>
          <p:cNvSpPr/>
          <p:nvPr/>
        </p:nvSpPr>
        <p:spPr>
          <a:xfrm>
            <a:off x="2634615" y="1105585"/>
            <a:ext cx="2234565" cy="541496"/>
          </a:xfrm>
          <a:prstGeom prst="roundRect">
            <a:avLst>
              <a:gd name="adj" fmla="val 10554"/>
            </a:avLst>
          </a:prstGeom>
          <a:solidFill>
            <a:srgbClr val="2196F3">
              <a:alpha val="5000"/>
            </a:srgbClr>
          </a:solidFill>
          <a:ln w="1714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03420" y="1105585"/>
            <a:ext cx="342900" cy="342900"/>
          </a:xfrm>
          <a:prstGeom prst="rect">
            <a:avLst/>
          </a:prstGeom>
          <a:solidFill>
            <a:srgbClr val="2196F3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0" y="1191310"/>
            <a:ext cx="194310" cy="194310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2196F3"/>
              </a:gs>
              <a:gs pos="100000">
                <a:srgbClr val="1976D2"/>
              </a:gs>
            </a:gsLst>
            <a:lin ang="2700000" scaled="0"/>
          </a:gradFill>
          <a:ln/>
          <a:effectLst>
            <a:outerShdw sx="100000" sy="100000" kx="0" ky="0" algn="bl" rotWithShape="0" blurRad="114300" dist="38100" dir="16200000">
              <a:srgbClr val="2196F3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0" y="1191310"/>
            <a:ext cx="274320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630" dirty="0"/>
          </a:p>
        </p:txBody>
      </p:sp>
      <p:sp>
        <p:nvSpPr>
          <p:cNvPr id="21" name="Text 19"/>
          <p:cNvSpPr/>
          <p:nvPr/>
        </p:nvSpPr>
        <p:spPr>
          <a:xfrm>
            <a:off x="3006090" y="1191310"/>
            <a:ext cx="1977847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b="1" spc="1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协作外部性</a:t>
            </a:r>
            <a:endParaRPr lang="en-US" sz="630" dirty="0"/>
          </a:p>
        </p:txBody>
      </p:sp>
      <p:sp>
        <p:nvSpPr>
          <p:cNvPr id="22" name="Text 20"/>
          <p:cNvSpPr/>
          <p:nvPr/>
        </p:nvSpPr>
        <p:spPr>
          <a:xfrm>
            <a:off x="3006090" y="1339900"/>
            <a:ext cx="1977847" cy="221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dirty="0">
                <a:solidFill>
                  <a:srgbClr val="B8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每次贡献都产生正外部性，惠及整个生态与未来开发者</a:t>
            </a:r>
            <a:endParaRPr lang="en-US" sz="563" dirty="0"/>
          </a:p>
        </p:txBody>
      </p:sp>
      <p:sp>
        <p:nvSpPr>
          <p:cNvPr id="23" name="Shape 21"/>
          <p:cNvSpPr/>
          <p:nvPr/>
        </p:nvSpPr>
        <p:spPr>
          <a:xfrm>
            <a:off x="342900" y="1704231"/>
            <a:ext cx="2234565" cy="541496"/>
          </a:xfrm>
          <a:prstGeom prst="roundRect">
            <a:avLst>
              <a:gd name="adj" fmla="val 10554"/>
            </a:avLst>
          </a:prstGeom>
          <a:solidFill>
            <a:srgbClr val="2196F3">
              <a:alpha val="5000"/>
            </a:srgbClr>
          </a:solidFill>
          <a:ln w="1714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11705" y="1704231"/>
            <a:ext cx="342900" cy="342900"/>
          </a:xfrm>
          <a:prstGeom prst="rect">
            <a:avLst/>
          </a:prstGeom>
          <a:solidFill>
            <a:srgbClr val="2196F3">
              <a:alpha val="1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51485" y="1789956"/>
            <a:ext cx="194310" cy="194310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2196F3"/>
              </a:gs>
              <a:gs pos="100000">
                <a:srgbClr val="1976D2"/>
              </a:gs>
            </a:gsLst>
            <a:lin ang="2700000" scaled="0"/>
          </a:gradFill>
          <a:ln/>
          <a:effectLst>
            <a:outerShdw sx="100000" sy="100000" kx="0" ky="0" algn="bl" rotWithShape="0" blurRad="114300" dist="38100" dir="16200000">
              <a:srgbClr val="2196F3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1485" y="1789956"/>
            <a:ext cx="274320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630" dirty="0"/>
          </a:p>
        </p:txBody>
      </p:sp>
      <p:sp>
        <p:nvSpPr>
          <p:cNvPr id="27" name="Text 25"/>
          <p:cNvSpPr/>
          <p:nvPr/>
        </p:nvSpPr>
        <p:spPr>
          <a:xfrm>
            <a:off x="714375" y="1789956"/>
            <a:ext cx="1977847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b="1" spc="1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网络效应</a:t>
            </a:r>
            <a:endParaRPr lang="en-US" sz="630" dirty="0"/>
          </a:p>
        </p:txBody>
      </p:sp>
      <p:sp>
        <p:nvSpPr>
          <p:cNvPr id="28" name="Text 26"/>
          <p:cNvSpPr/>
          <p:nvPr/>
        </p:nvSpPr>
        <p:spPr>
          <a:xfrm>
            <a:off x="714375" y="1938546"/>
            <a:ext cx="1977847" cy="1107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dirty="0">
                <a:solidFill>
                  <a:srgbClr val="B8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用户与贡献者规模越大，社区价值呈指数级增长</a:t>
            </a:r>
            <a:endParaRPr lang="en-US" sz="563" dirty="0"/>
          </a:p>
        </p:txBody>
      </p:sp>
      <p:sp>
        <p:nvSpPr>
          <p:cNvPr id="29" name="Shape 27"/>
          <p:cNvSpPr/>
          <p:nvPr/>
        </p:nvSpPr>
        <p:spPr>
          <a:xfrm>
            <a:off x="2634615" y="1704231"/>
            <a:ext cx="2234565" cy="541496"/>
          </a:xfrm>
          <a:prstGeom prst="roundRect">
            <a:avLst>
              <a:gd name="adj" fmla="val 10554"/>
            </a:avLst>
          </a:prstGeom>
          <a:solidFill>
            <a:srgbClr val="2196F3">
              <a:alpha val="5000"/>
            </a:srgbClr>
          </a:solidFill>
          <a:ln w="1714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03420" y="1704231"/>
            <a:ext cx="342900" cy="342900"/>
          </a:xfrm>
          <a:prstGeom prst="rect">
            <a:avLst/>
          </a:prstGeom>
          <a:solidFill>
            <a:srgbClr val="2196F3">
              <a:alpha val="1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0" y="1789956"/>
            <a:ext cx="194310" cy="194310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2196F3"/>
              </a:gs>
              <a:gs pos="100000">
                <a:srgbClr val="1976D2"/>
              </a:gs>
            </a:gsLst>
            <a:lin ang="2700000" scaled="0"/>
          </a:gradFill>
          <a:ln/>
          <a:effectLst>
            <a:outerShdw sx="100000" sy="100000" kx="0" ky="0" algn="bl" rotWithShape="0" blurRad="114300" dist="38100" dir="16200000">
              <a:srgbClr val="2196F3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43200" y="1789956"/>
            <a:ext cx="274320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630" dirty="0"/>
          </a:p>
        </p:txBody>
      </p:sp>
      <p:sp>
        <p:nvSpPr>
          <p:cNvPr id="33" name="Text 31"/>
          <p:cNvSpPr/>
          <p:nvPr/>
        </p:nvSpPr>
        <p:spPr>
          <a:xfrm>
            <a:off x="3006090" y="1789956"/>
            <a:ext cx="1977847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b="1" spc="1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许可证体系</a:t>
            </a:r>
            <a:endParaRPr lang="en-US" sz="630" dirty="0"/>
          </a:p>
        </p:txBody>
      </p:sp>
      <p:sp>
        <p:nvSpPr>
          <p:cNvPr id="34" name="Text 32"/>
          <p:cNvSpPr/>
          <p:nvPr/>
        </p:nvSpPr>
        <p:spPr>
          <a:xfrm>
            <a:off x="3006090" y="1938546"/>
            <a:ext cx="1977847" cy="221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dirty="0">
                <a:solidFill>
                  <a:srgbClr val="B8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GPL、MIT、Apache 等许可证构建差异化的商业规则边界</a:t>
            </a:r>
            <a:endParaRPr lang="en-US" sz="563" dirty="0"/>
          </a:p>
        </p:txBody>
      </p:sp>
      <p:sp>
        <p:nvSpPr>
          <p:cNvPr id="35" name="Shape 33"/>
          <p:cNvSpPr/>
          <p:nvPr/>
        </p:nvSpPr>
        <p:spPr>
          <a:xfrm>
            <a:off x="342900" y="2337167"/>
            <a:ext cx="4526280" cy="391478"/>
          </a:xfrm>
          <a:prstGeom prst="rect">
            <a:avLst/>
          </a:prstGeom>
          <a:gradFill rotWithShape="1">
            <a:gsLst>
              <a:gs pos="0">
                <a:srgbClr val="2196F3">
                  <a:alpha val="6000"/>
                </a:srgbClr>
              </a:gs>
              <a:gs pos="100000">
                <a:srgbClr val="00BCD4">
                  <a:alpha val="4000"/>
                </a:srgbClr>
              </a:gs>
            </a:gsLst>
            <a:lin ang="2700000" scaled="0"/>
          </a:gradFill>
          <a:ln/>
        </p:spPr>
      </p:sp>
      <p:sp>
        <p:nvSpPr>
          <p:cNvPr id="36" name="Shape 34"/>
          <p:cNvSpPr/>
          <p:nvPr/>
        </p:nvSpPr>
        <p:spPr>
          <a:xfrm>
            <a:off x="342900" y="2337167"/>
            <a:ext cx="0" cy="391478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2900" y="2337167"/>
            <a:ext cx="5069434" cy="3914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开源经济学</a:t>
            </a:r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B8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并不是一个独立的学科，而是经济学原理在开放协作范式下的应用。它借用</a:t>
            </a:r>
            <a:pPr algn="l" indent="0" marL="0">
              <a:lnSpc>
                <a:spcPct val="170000"/>
              </a:lnSpc>
              <a:buNone/>
            </a:pPr>
            <a:r>
              <a:rPr lang="en-US" sz="56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公共品理论</a:t>
            </a:r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B8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解释开源软件的天然属性，又借助</a:t>
            </a:r>
            <a:pPr algn="l" indent="0" marL="0">
              <a:lnSpc>
                <a:spcPct val="170000"/>
              </a:lnSpc>
              <a:buNone/>
            </a:pPr>
            <a:r>
              <a:rPr lang="en-US" sz="56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网络效应</a:t>
            </a:r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B8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</a:t>
            </a:r>
            <a:pPr algn="l" indent="0" marL="0">
              <a:lnSpc>
                <a:spcPct val="170000"/>
              </a:lnSpc>
              <a:buNone/>
            </a:pPr>
            <a:r>
              <a:rPr lang="en-US" sz="56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外部性理论</a:t>
            </a:r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B8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说明社区为何能自我强化。许可证体系则是把这套理论固化为可执行规则的关键基础设施。</a:t>
            </a:r>
            <a:endParaRPr lang="en-US" sz="563" dirty="0"/>
          </a:p>
        </p:txBody>
      </p:sp>
      <p:sp>
        <p:nvSpPr>
          <p:cNvPr id="38" name="Shape 36"/>
          <p:cNvSpPr/>
          <p:nvPr/>
        </p:nvSpPr>
        <p:spPr>
          <a:xfrm>
            <a:off x="342900" y="4327148"/>
            <a:ext cx="2228850" cy="587752"/>
          </a:xfrm>
          <a:prstGeom prst="roundRect">
            <a:avLst>
              <a:gd name="adj" fmla="val 9723"/>
            </a:avLst>
          </a:prstGeom>
          <a:solidFill>
            <a:srgbClr val="2D3748">
              <a:alpha val="35000"/>
            </a:srgbClr>
          </a:solidFill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2900" y="4327148"/>
            <a:ext cx="17145" cy="576323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40" name="Text 38"/>
          <p:cNvSpPr/>
          <p:nvPr/>
        </p:nvSpPr>
        <p:spPr>
          <a:xfrm>
            <a:off x="451485" y="4412873"/>
            <a:ext cx="2253082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spc="132" kern="0" dirty="0">
                <a:solidFill>
                  <a:srgbClr val="7A87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许可证种类</a:t>
            </a:r>
            <a:endParaRPr lang="en-US" sz="473" dirty="0"/>
          </a:p>
        </p:txBody>
      </p:sp>
      <p:sp>
        <p:nvSpPr>
          <p:cNvPr id="41" name="Text 39"/>
          <p:cNvSpPr/>
          <p:nvPr/>
        </p:nvSpPr>
        <p:spPr>
          <a:xfrm>
            <a:off x="451485" y="4525744"/>
            <a:ext cx="2253082" cy="1885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spc="-1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600+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451485" y="4737199"/>
            <a:ext cx="2253082" cy="9197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18" dirty="0">
                <a:solidFill>
                  <a:srgbClr val="7A87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主流分类下的开源许可证总数</a:t>
            </a:r>
            <a:endParaRPr lang="en-US" sz="518" dirty="0"/>
          </a:p>
        </p:txBody>
      </p:sp>
      <p:sp>
        <p:nvSpPr>
          <p:cNvPr id="43" name="Shape 41"/>
          <p:cNvSpPr/>
          <p:nvPr/>
        </p:nvSpPr>
        <p:spPr>
          <a:xfrm>
            <a:off x="2640330" y="4327148"/>
            <a:ext cx="2228850" cy="587752"/>
          </a:xfrm>
          <a:prstGeom prst="roundRect">
            <a:avLst>
              <a:gd name="adj" fmla="val 9723"/>
            </a:avLst>
          </a:prstGeom>
          <a:solidFill>
            <a:srgbClr val="2D3748">
              <a:alpha val="35000"/>
            </a:srgbClr>
          </a:solidFill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40330" y="4327148"/>
            <a:ext cx="17145" cy="576323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45" name="Text 43"/>
          <p:cNvSpPr/>
          <p:nvPr/>
        </p:nvSpPr>
        <p:spPr>
          <a:xfrm>
            <a:off x="2748915" y="4412873"/>
            <a:ext cx="2253082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spc="132" kern="0" dirty="0">
                <a:solidFill>
                  <a:srgbClr val="7A87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经济范式</a:t>
            </a:r>
            <a:endParaRPr lang="en-US" sz="473" dirty="0"/>
          </a:p>
        </p:txBody>
      </p:sp>
      <p:sp>
        <p:nvSpPr>
          <p:cNvPr id="46" name="Text 44"/>
          <p:cNvSpPr/>
          <p:nvPr/>
        </p:nvSpPr>
        <p:spPr>
          <a:xfrm>
            <a:off x="2748915" y="4525744"/>
            <a:ext cx="2253082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spc="-9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公共品 + 网络效应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748915" y="4674334"/>
            <a:ext cx="2253082" cy="9197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18" dirty="0">
                <a:solidFill>
                  <a:srgbClr val="7A87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开源价值的两大支柱</a:t>
            </a:r>
            <a:endParaRPr lang="en-US" sz="518" dirty="0"/>
          </a:p>
        </p:txBody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7840" y="1131570"/>
            <a:ext cx="2743200" cy="2743200"/>
          </a:xfrm>
          <a:prstGeom prst="rect">
            <a:avLst/>
          </a:prstGeom>
        </p:spPr>
      </p:pic>
      <p:sp>
        <p:nvSpPr>
          <p:cNvPr id="49" name="Shape 46"/>
          <p:cNvSpPr/>
          <p:nvPr/>
        </p:nvSpPr>
        <p:spPr>
          <a:xfrm>
            <a:off x="6568767" y="4011930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50" name="Text 47"/>
          <p:cNvSpPr/>
          <p:nvPr/>
        </p:nvSpPr>
        <p:spPr>
          <a:xfrm>
            <a:off x="6671637" y="3977640"/>
            <a:ext cx="624096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spc="189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协作网络示意</a:t>
            </a:r>
            <a:endParaRPr lang="en-US" sz="540" dirty="0"/>
          </a:p>
        </p:txBody>
      </p:sp>
      <p:sp>
        <p:nvSpPr>
          <p:cNvPr id="51" name="Shape 48"/>
          <p:cNvSpPr/>
          <p:nvPr/>
        </p:nvSpPr>
        <p:spPr>
          <a:xfrm>
            <a:off x="7295733" y="4011930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52" name="Text 49"/>
          <p:cNvSpPr/>
          <p:nvPr/>
        </p:nvSpPr>
        <p:spPr>
          <a:xfrm>
            <a:off x="342900" y="4969193"/>
            <a:ext cx="1845031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139" kern="0" dirty="0">
                <a:solidFill>
                  <a:srgbClr val="7A87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ECONOMICS · 概念框架</a:t>
            </a:r>
            <a:endParaRPr lang="en-US" sz="495" dirty="0"/>
          </a:p>
        </p:txBody>
      </p:sp>
      <p:sp>
        <p:nvSpPr>
          <p:cNvPr id="53" name="Shape 50"/>
          <p:cNvSpPr/>
          <p:nvPr/>
        </p:nvSpPr>
        <p:spPr>
          <a:xfrm>
            <a:off x="2104549" y="5013484"/>
            <a:ext cx="6057811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000">
                <a:srgbClr val="2196F3">
                  <a:alpha val="60000"/>
                </a:srgbClr>
              </a:gs>
              <a:gs pos="67000">
                <a:srgbClr val="00BCD4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4" name="Text 51"/>
          <p:cNvSpPr/>
          <p:nvPr/>
        </p:nvSpPr>
        <p:spPr>
          <a:xfrm>
            <a:off x="8276659" y="4969193"/>
            <a:ext cx="587373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b="1" spc="119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概念框架</a:t>
            </a:r>
            <a:endParaRPr lang="en-US" sz="49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A0F1C"/>
              </a:gs>
              <a:gs pos="60000">
                <a:srgbClr val="0E1424"/>
              </a:gs>
              <a:gs pos="100000">
                <a:srgbClr val="131C33"/>
              </a:gs>
            </a:gsLst>
            <a:lin ang="2700000" scaled="0"/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086600" y="-914400"/>
            <a:ext cx="2971800" cy="2971800"/>
          </a:xfrm>
          <a:prstGeom prst="ellipse">
            <a:avLst/>
          </a:prstGeom>
          <a:noFill/>
          <a:ln w="5715">
            <a:solidFill>
              <a:srgbClr val="2196F3">
                <a:alpha val="1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486650" y="-514350"/>
            <a:ext cx="2171700" cy="2171700"/>
          </a:xfrm>
          <a:prstGeom prst="ellipse">
            <a:avLst/>
          </a:prstGeom>
          <a:noFill/>
          <a:ln w="5715">
            <a:solidFill>
              <a:srgbClr val="00BCD4">
                <a:alpha val="12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-1257300" y="2743200"/>
            <a:ext cx="3657600" cy="3657600"/>
          </a:xfrm>
          <a:prstGeom prst="ellipse">
            <a:avLst/>
          </a:prstGeom>
          <a:noFill/>
          <a:ln w="5715">
            <a:solidFill>
              <a:srgbClr val="2196F3">
                <a:alpha val="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628650"/>
            <a:ext cx="40005" cy="40005"/>
          </a:xfrm>
          <a:prstGeom prst="ellipse">
            <a:avLst/>
          </a:prstGeom>
          <a:solidFill>
            <a:srgbClr val="00BCD4">
              <a:alpha val="50000"/>
            </a:srgbClr>
          </a:solidFill>
          <a:ln/>
          <a:effectLst>
            <a:outerShdw sx="100000" sy="100000" kx="0" ky="0" algn="bl" rotWithShape="0" blurRad="5715" dist="50800" dir="16200000">
              <a:srgbClr val="00BCD4">
                <a:alpha val="6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86725" y="1428750"/>
            <a:ext cx="28575" cy="28575"/>
          </a:xfrm>
          <a:prstGeom prst="ellipse">
            <a:avLst/>
          </a:prstGeom>
          <a:solidFill>
            <a:srgbClr val="2196F3">
              <a:alpha val="50000"/>
            </a:srgbClr>
          </a:solidFill>
          <a:ln/>
          <a:effectLst>
            <a:outerShdw sx="100000" sy="100000" kx="0" ky="0" algn="bl" rotWithShape="0" blurRad="5715" dist="50800" dir="16200000">
              <a:srgbClr val="2196F3">
                <a:alpha val="6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2900" y="4120515"/>
            <a:ext cx="51435" cy="51435"/>
          </a:xfrm>
          <a:prstGeom prst="ellipse">
            <a:avLst/>
          </a:prstGeom>
          <a:solidFill>
            <a:srgbClr val="2196F3">
              <a:alpha val="50000"/>
            </a:srgbClr>
          </a:solidFill>
          <a:ln/>
          <a:effectLst>
            <a:outerShdw sx="100000" sy="100000" kx="0" ky="0" algn="bl" rotWithShape="0" blurRad="5715" dist="50800" dir="16200000">
              <a:srgbClr val="2196F3">
                <a:alpha val="6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80960" y="4537710"/>
            <a:ext cx="34290" cy="34290"/>
          </a:xfrm>
          <a:prstGeom prst="ellipse">
            <a:avLst/>
          </a:prstGeom>
          <a:solidFill>
            <a:srgbClr val="00BCD4">
              <a:alpha val="50000"/>
            </a:srgbClr>
          </a:solidFill>
          <a:ln/>
          <a:effectLst>
            <a:outerShdw sx="100000" sy="100000" kx="0" ky="0" algn="bl" rotWithShape="0" blurRad="5715" dist="50800" dir="16200000">
              <a:srgbClr val="00BCD4">
                <a:alpha val="6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778240" y="2286000"/>
            <a:ext cx="22860" cy="22860"/>
          </a:xfrm>
          <a:prstGeom prst="ellipse">
            <a:avLst/>
          </a:prstGeom>
          <a:solidFill>
            <a:srgbClr val="00BCD4">
              <a:alpha val="50000"/>
            </a:srgbClr>
          </a:solidFill>
          <a:ln/>
          <a:effectLst>
            <a:outerShdw sx="100000" sy="100000" kx="0" ky="0" algn="bl" rotWithShape="0" blurRad="5715" dist="50800" dir="16200000">
              <a:srgbClr val="00BCD4">
                <a:alpha val="6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943100" y="3177540"/>
            <a:ext cx="22860" cy="22860"/>
          </a:xfrm>
          <a:prstGeom prst="ellipse">
            <a:avLst/>
          </a:prstGeom>
          <a:solidFill>
            <a:srgbClr val="2196F3">
              <a:alpha val="50000"/>
            </a:srgbClr>
          </a:solidFill>
          <a:ln/>
          <a:effectLst>
            <a:outerShdw sx="100000" sy="100000" kx="0" ky="0" algn="bl" rotWithShape="0" blurRad="5715" dist="50800" dir="16200000">
              <a:srgbClr val="2196F3">
                <a:alpha val="6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2900" y="302895"/>
            <a:ext cx="228600" cy="571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4" name="Text 11"/>
          <p:cNvSpPr/>
          <p:nvPr/>
        </p:nvSpPr>
        <p:spPr>
          <a:xfrm>
            <a:off x="640080" y="262890"/>
            <a:ext cx="124355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7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VALUE</a:t>
            </a:r>
            <a:endParaRPr lang="en-US" sz="540" dirty="0"/>
          </a:p>
        </p:txBody>
      </p:sp>
      <p:sp>
        <p:nvSpPr>
          <p:cNvPr id="15" name="Shape 12"/>
          <p:cNvSpPr/>
          <p:nvPr/>
        </p:nvSpPr>
        <p:spPr>
          <a:xfrm>
            <a:off x="1818977" y="288608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921847" y="257175"/>
            <a:ext cx="43076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7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价值维度</a:t>
            </a:r>
            <a:endParaRPr lang="en-US" sz="540" dirty="0"/>
          </a:p>
        </p:txBody>
      </p:sp>
      <p:sp>
        <p:nvSpPr>
          <p:cNvPr id="17" name="Text 14"/>
          <p:cNvSpPr/>
          <p:nvPr/>
        </p:nvSpPr>
        <p:spPr>
          <a:xfrm>
            <a:off x="342900" y="821799"/>
            <a:ext cx="9473184" cy="142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65" spc="23" kern="0" dirty="0">
                <a:solidFill>
                  <a:srgbClr val="95A3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从开发者生产力到企业级采购的复合收益</a:t>
            </a:r>
            <a:endParaRPr lang="en-US" sz="765" dirty="0"/>
          </a:p>
        </p:txBody>
      </p:sp>
      <p:sp>
        <p:nvSpPr>
          <p:cNvPr id="18" name="Shape 15"/>
          <p:cNvSpPr/>
          <p:nvPr/>
        </p:nvSpPr>
        <p:spPr>
          <a:xfrm>
            <a:off x="342900" y="847517"/>
            <a:ext cx="22860" cy="91440"/>
          </a:xfrm>
          <a:prstGeom prst="roundRect">
            <a:avLst>
              <a:gd name="adj" fmla="val 50000"/>
            </a:avLst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6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42900" y="1056114"/>
            <a:ext cx="1943100" cy="1072098"/>
          </a:xfrm>
          <a:prstGeom prst="roundRect">
            <a:avLst>
              <a:gd name="adj" fmla="val 7463"/>
            </a:avLst>
          </a:prstGeom>
          <a:gradFill rotWithShape="1">
            <a:gsLst>
              <a:gs pos="0">
                <a:srgbClr val="2196F3">
                  <a:alpha val="10000"/>
                </a:srgbClr>
              </a:gs>
              <a:gs pos="100000">
                <a:srgbClr val="0F1524">
                  <a:alpha val="55000"/>
                </a:srgbClr>
              </a:gs>
            </a:gsLst>
            <a:lin ang="3900000" scaled="0"/>
          </a:gradFill>
          <a:ln w="5715">
            <a:solidFill>
              <a:srgbClr val="2196F3">
                <a:alpha val="32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42900" y="1056114"/>
            <a:ext cx="193167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21" name="Shape 18"/>
          <p:cNvSpPr/>
          <p:nvPr/>
        </p:nvSpPr>
        <p:spPr>
          <a:xfrm>
            <a:off x="1817370" y="1659584"/>
            <a:ext cx="685800" cy="685800"/>
          </a:xfrm>
          <a:prstGeom prst="rect">
            <a:avLst/>
          </a:prstGeom>
          <a:solidFill>
            <a:srgbClr val="00BCD4">
              <a:alpha val="18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474345" y="1198989"/>
            <a:ext cx="578465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b="1" spc="99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495" dirty="0"/>
          </a:p>
          <a:p>
            <a:pPr algn="l" indent="0" marL="0">
              <a:buNone/>
            </a:pPr>
            <a:r>
              <a:rPr lang="en-US" sz="495" b="1" spc="99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研发周期</a:t>
            </a:r>
            <a:endParaRPr lang="en-US" sz="495" dirty="0"/>
          </a:p>
        </p:txBody>
      </p:sp>
      <p:sp>
        <p:nvSpPr>
          <p:cNvPr id="23" name="Shape 20"/>
          <p:cNvSpPr/>
          <p:nvPr/>
        </p:nvSpPr>
        <p:spPr>
          <a:xfrm>
            <a:off x="474345" y="1198989"/>
            <a:ext cx="179487" cy="91440"/>
          </a:xfrm>
          <a:prstGeom prst="roundRect">
            <a:avLst>
              <a:gd name="adj" fmla="val 18750"/>
            </a:avLst>
          </a:prstGeom>
          <a:solidFill>
            <a:srgbClr val="00BCD4">
              <a:alpha val="18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4345" y="1198989"/>
            <a:ext cx="236637" cy="91440"/>
          </a:xfrm>
          <a:prstGeom prst="rect">
            <a:avLst/>
          </a:prstGeom>
          <a:noFill/>
          <a:ln/>
        </p:spPr>
        <p:txBody>
          <a:bodyPr wrap="none" lIns="5715" tIns="40005" rIns="40005" bIns="5715" rtlCol="0" anchor="ctr"/>
          <a:lstStyle/>
          <a:p>
            <a:pPr algn="l" indent="0" marL="0">
              <a:buNone/>
            </a:pPr>
            <a:r>
              <a:rPr lang="en-US" sz="450" b="1" spc="99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450" dirty="0"/>
          </a:p>
        </p:txBody>
      </p:sp>
      <p:sp>
        <p:nvSpPr>
          <p:cNvPr id="25" name="Text 22"/>
          <p:cNvSpPr/>
          <p:nvPr/>
        </p:nvSpPr>
        <p:spPr>
          <a:xfrm>
            <a:off x="474345" y="1770489"/>
            <a:ext cx="1881835" cy="2377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dirty="0">
                <a:solidFill>
                  <a:srgbClr val="A3AD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复用</a:t>
            </a:r>
            <a:pPr algn="l" indent="0" marL="0">
              <a:lnSpc>
                <a:spcPct val="160000"/>
              </a:lnSpc>
              <a:buNone/>
            </a:pPr>
            <a:r>
              <a:rPr lang="en-US" sz="585" b="1" dirty="0">
                <a:solidFill>
                  <a:srgbClr val="E8E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成熟开源组件</a:t>
            </a:r>
            <a:pPr algn="l" indent="0" marL="0">
              <a:lnSpc>
                <a:spcPct val="160000"/>
              </a:lnSpc>
              <a:buNone/>
            </a:pPr>
            <a:r>
              <a:rPr lang="en-US" sz="585" dirty="0">
                <a:solidFill>
                  <a:srgbClr val="A3AD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可显著缩短从 0 到 1 的</a:t>
            </a:r>
            <a:pPr algn="l" indent="0" marL="0">
              <a:lnSpc>
                <a:spcPct val="160000"/>
              </a:lnSpc>
              <a:buNone/>
            </a:pPr>
            <a:r>
              <a:rPr lang="en-US" sz="585" b="1" dirty="0">
                <a:solidFill>
                  <a:srgbClr val="E8E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时间与人力成本</a:t>
            </a:r>
            <a:pPr algn="l" indent="0" marL="0">
              <a:lnSpc>
                <a:spcPct val="160000"/>
              </a:lnSpc>
              <a:buNone/>
            </a:pPr>
            <a:r>
              <a:rPr lang="en-US" sz="585" dirty="0">
                <a:solidFill>
                  <a:srgbClr val="A3AD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，让核心团队专注高价值创新。</a:t>
            </a:r>
            <a:endParaRPr lang="en-US" sz="585" dirty="0"/>
          </a:p>
        </p:txBody>
      </p:sp>
      <p:sp>
        <p:nvSpPr>
          <p:cNvPr id="26" name="Shape 23"/>
          <p:cNvSpPr/>
          <p:nvPr/>
        </p:nvSpPr>
        <p:spPr>
          <a:xfrm>
            <a:off x="342900" y="2231082"/>
            <a:ext cx="1943100" cy="2123748"/>
          </a:xfrm>
          <a:prstGeom prst="roundRect">
            <a:avLst>
              <a:gd name="adj" fmla="val 4118"/>
            </a:avLst>
          </a:prstGeom>
          <a:gradFill rotWithShape="1">
            <a:gsLst>
              <a:gs pos="0">
                <a:srgbClr val="00BCD4">
                  <a:alpha val="10000"/>
                </a:srgbClr>
              </a:gs>
              <a:gs pos="100000">
                <a:srgbClr val="0F1524">
                  <a:alpha val="55000"/>
                </a:srgbClr>
              </a:gs>
            </a:gsLst>
            <a:lin ang="3900000" scaled="0"/>
          </a:gradFill>
          <a:ln w="5715">
            <a:solidFill>
              <a:srgbClr val="2196F3">
                <a:alpha val="32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42900" y="2231082"/>
            <a:ext cx="193167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28" name="Shape 25"/>
          <p:cNvSpPr/>
          <p:nvPr/>
        </p:nvSpPr>
        <p:spPr>
          <a:xfrm>
            <a:off x="1817370" y="3886198"/>
            <a:ext cx="685800" cy="685800"/>
          </a:xfrm>
          <a:prstGeom prst="rect">
            <a:avLst/>
          </a:prstGeom>
          <a:solidFill>
            <a:srgbClr val="00BCD4">
              <a:alpha val="18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474345" y="2373957"/>
            <a:ext cx="590274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b="1" spc="99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495" dirty="0"/>
          </a:p>
          <a:p>
            <a:pPr algn="l" indent="0" marL="0">
              <a:buNone/>
            </a:pPr>
            <a:r>
              <a:rPr lang="en-US" sz="495" b="1" spc="99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复合壁垒</a:t>
            </a:r>
            <a:endParaRPr lang="en-US" sz="495" dirty="0"/>
          </a:p>
        </p:txBody>
      </p:sp>
      <p:sp>
        <p:nvSpPr>
          <p:cNvPr id="30" name="Shape 27"/>
          <p:cNvSpPr/>
          <p:nvPr/>
        </p:nvSpPr>
        <p:spPr>
          <a:xfrm>
            <a:off x="474345" y="2373957"/>
            <a:ext cx="190917" cy="91440"/>
          </a:xfrm>
          <a:prstGeom prst="roundRect">
            <a:avLst>
              <a:gd name="adj" fmla="val 18750"/>
            </a:avLst>
          </a:prstGeom>
          <a:solidFill>
            <a:srgbClr val="00BCD4">
              <a:alpha val="18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4345" y="2373957"/>
            <a:ext cx="248067" cy="91440"/>
          </a:xfrm>
          <a:prstGeom prst="rect">
            <a:avLst/>
          </a:prstGeom>
          <a:noFill/>
          <a:ln/>
        </p:spPr>
        <p:txBody>
          <a:bodyPr wrap="none" lIns="5715" tIns="40005" rIns="40005" bIns="5715" rtlCol="0" anchor="ctr"/>
          <a:lstStyle/>
          <a:p>
            <a:pPr algn="l" indent="0" marL="0">
              <a:buNone/>
            </a:pPr>
            <a:r>
              <a:rPr lang="en-US" sz="450" b="1" spc="99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450" dirty="0"/>
          </a:p>
        </p:txBody>
      </p:sp>
      <p:sp>
        <p:nvSpPr>
          <p:cNvPr id="32" name="Shape 29"/>
          <p:cNvSpPr/>
          <p:nvPr/>
        </p:nvSpPr>
        <p:spPr>
          <a:xfrm>
            <a:off x="474345" y="2625417"/>
            <a:ext cx="529530" cy="325755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2196F3">
                  <a:alpha val="14000"/>
                </a:srgbClr>
              </a:gs>
              <a:gs pos="100000">
                <a:srgbClr val="2196F3">
                  <a:alpha val="4000"/>
                </a:srgbClr>
              </a:gs>
            </a:gsLst>
            <a:lin ang="5400000" scaled="0"/>
          </a:gradFill>
          <a:ln w="5715">
            <a:solidFill>
              <a:srgbClr val="2196F3">
                <a:alpha val="55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4345" y="2625417"/>
            <a:ext cx="609540" cy="3257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630" dirty="0"/>
          </a:p>
          <a:p>
            <a:pPr algn="ctr" indent="0" marL="0">
              <a:buNone/>
            </a:pPr>
            <a:r>
              <a:rPr lang="en-US" sz="630" b="1" dirty="0">
                <a:solidFill>
                  <a:srgbClr val="E8E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</a:t>
            </a:r>
            <a:endParaRPr lang="en-US" sz="630" dirty="0"/>
          </a:p>
        </p:txBody>
      </p:sp>
      <p:sp>
        <p:nvSpPr>
          <p:cNvPr id="34" name="Shape 31"/>
          <p:cNvSpPr/>
          <p:nvPr/>
        </p:nvSpPr>
        <p:spPr>
          <a:xfrm>
            <a:off x="1049595" y="2625417"/>
            <a:ext cx="529620" cy="325755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2196F3">
                  <a:alpha val="14000"/>
                </a:srgbClr>
              </a:gs>
              <a:gs pos="100000">
                <a:srgbClr val="2196F3">
                  <a:alpha val="4000"/>
                </a:srgbClr>
              </a:gs>
            </a:gsLst>
            <a:lin ang="5400000" scaled="0"/>
          </a:gradFill>
          <a:ln w="5715">
            <a:solidFill>
              <a:srgbClr val="2196F3">
                <a:alpha val="55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49595" y="2625417"/>
            <a:ext cx="609630" cy="3257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</a:t>
            </a:r>
            <a:endParaRPr lang="en-US" sz="630" dirty="0"/>
          </a:p>
          <a:p>
            <a:pPr algn="ctr" indent="0" marL="0">
              <a:buNone/>
            </a:pPr>
            <a:r>
              <a:rPr lang="en-US" sz="630" b="1" dirty="0">
                <a:solidFill>
                  <a:srgbClr val="E8E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人力</a:t>
            </a:r>
            <a:endParaRPr lang="en-US" sz="630" dirty="0"/>
          </a:p>
        </p:txBody>
      </p:sp>
      <p:sp>
        <p:nvSpPr>
          <p:cNvPr id="36" name="Shape 33"/>
          <p:cNvSpPr/>
          <p:nvPr/>
        </p:nvSpPr>
        <p:spPr>
          <a:xfrm>
            <a:off x="1624935" y="2625417"/>
            <a:ext cx="529620" cy="325755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2196F3">
                  <a:alpha val="14000"/>
                </a:srgbClr>
              </a:gs>
              <a:gs pos="100000">
                <a:srgbClr val="2196F3">
                  <a:alpha val="4000"/>
                </a:srgbClr>
              </a:gs>
            </a:gsLst>
            <a:lin ang="5400000" scaled="0"/>
          </a:gradFill>
          <a:ln w="5715">
            <a:solidFill>
              <a:srgbClr val="2196F3">
                <a:alpha val="55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624935" y="2625417"/>
            <a:ext cx="609630" cy="3257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III</a:t>
            </a:r>
            <a:endParaRPr lang="en-US" sz="630" dirty="0"/>
          </a:p>
          <a:p>
            <a:pPr algn="ctr" indent="0" marL="0">
              <a:buNone/>
            </a:pPr>
            <a:r>
              <a:rPr lang="en-US" sz="630" b="1" dirty="0">
                <a:solidFill>
                  <a:srgbClr val="E8E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流程</a:t>
            </a:r>
            <a:endParaRPr lang="en-US" sz="630" dirty="0"/>
          </a:p>
        </p:txBody>
      </p:sp>
      <p:sp>
        <p:nvSpPr>
          <p:cNvPr id="38" name="Text 35"/>
          <p:cNvSpPr/>
          <p:nvPr/>
        </p:nvSpPr>
        <p:spPr>
          <a:xfrm>
            <a:off x="474345" y="3008322"/>
            <a:ext cx="188183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95" spc="124" kern="0" dirty="0">
                <a:solidFill>
                  <a:srgbClr val="8892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三重复合壁垒 —</a:t>
            </a:r>
            <a:endParaRPr lang="en-US" sz="495" dirty="0"/>
          </a:p>
        </p:txBody>
      </p:sp>
      <p:sp>
        <p:nvSpPr>
          <p:cNvPr id="39" name="Shape 36"/>
          <p:cNvSpPr/>
          <p:nvPr/>
        </p:nvSpPr>
        <p:spPr>
          <a:xfrm>
            <a:off x="474345" y="3145482"/>
            <a:ext cx="1680210" cy="282178"/>
          </a:xfrm>
          <a:prstGeom prst="rect">
            <a:avLst/>
          </a:prstGeom>
          <a:noFill/>
          <a:ln/>
        </p:spPr>
      </p:sp>
      <p:sp>
        <p:nvSpPr>
          <p:cNvPr id="40" name="Shape 37"/>
          <p:cNvSpPr/>
          <p:nvPr/>
        </p:nvSpPr>
        <p:spPr>
          <a:xfrm>
            <a:off x="474345" y="3145482"/>
            <a:ext cx="1680210" cy="0"/>
          </a:xfrm>
          <a:prstGeom prst="line">
            <a:avLst/>
          </a:prstGeom>
          <a:noFill/>
          <a:ln w="571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74345" y="3145482"/>
            <a:ext cx="1881835" cy="2821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i="1" dirty="0">
                <a:solidFill>
                  <a:srgbClr val="98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一旦深度使用开源工具链，</a:t>
            </a:r>
            <a:pPr algn="l" indent="0" marL="0">
              <a:lnSpc>
                <a:spcPct val="160000"/>
              </a:lnSpc>
              <a:buNone/>
            </a:pPr>
            <a:r>
              <a:rPr lang="en-US" sz="540" b="1" i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切换成本与协同优势</a:t>
            </a:r>
            <a:pPr algn="l" indent="0" marL="0">
              <a:lnSpc>
                <a:spcPct val="160000"/>
              </a:lnSpc>
              <a:buNone/>
            </a:pPr>
            <a:r>
              <a:rPr lang="en-US" sz="540" i="1" dirty="0">
                <a:solidFill>
                  <a:srgbClr val="98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同步抬升，形成难以复制的组织资产。</a:t>
            </a:r>
            <a:endParaRPr lang="en-US" sz="540" dirty="0"/>
          </a:p>
        </p:txBody>
      </p:sp>
      <p:sp>
        <p:nvSpPr>
          <p:cNvPr id="42" name="Shape 39"/>
          <p:cNvSpPr/>
          <p:nvPr/>
        </p:nvSpPr>
        <p:spPr>
          <a:xfrm>
            <a:off x="2411730" y="1056114"/>
            <a:ext cx="3148965" cy="1603593"/>
          </a:xfrm>
          <a:prstGeom prst="roundRect">
            <a:avLst>
              <a:gd name="adj" fmla="val 4989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F1524">
                  <a:alpha val="60000"/>
                </a:srgbClr>
              </a:gs>
            </a:gsLst>
            <a:lin ang="3900000" scaled="0"/>
          </a:gradFill>
          <a:ln w="5715">
            <a:solidFill>
              <a:srgbClr val="2196F3">
                <a:alpha val="32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411730" y="1056114"/>
            <a:ext cx="188247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4" name="Shape 41"/>
          <p:cNvSpPr/>
          <p:nvPr/>
        </p:nvSpPr>
        <p:spPr>
          <a:xfrm>
            <a:off x="5033755" y="419246"/>
            <a:ext cx="1143000" cy="1143000"/>
          </a:xfrm>
          <a:prstGeom prst="rect">
            <a:avLst/>
          </a:prstGeom>
          <a:solidFill>
            <a:srgbClr val="2196F3">
              <a:alpha val="15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4817745" y="1244709"/>
            <a:ext cx="600075" cy="102870"/>
          </a:xfrm>
          <a:prstGeom prst="roundRect">
            <a:avLst>
              <a:gd name="adj" fmla="val 16667"/>
            </a:avLst>
          </a:prstGeom>
          <a:noFill/>
          <a:ln w="571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817745" y="1244709"/>
            <a:ext cx="672084" cy="10287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6B73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EFFICIENCY</a:t>
            </a:r>
            <a:endParaRPr lang="en-US" sz="450" dirty="0"/>
          </a:p>
        </p:txBody>
      </p:sp>
      <p:sp>
        <p:nvSpPr>
          <p:cNvPr id="47" name="Text 44"/>
          <p:cNvSpPr/>
          <p:nvPr/>
        </p:nvSpPr>
        <p:spPr>
          <a:xfrm>
            <a:off x="2554605" y="1473309"/>
            <a:ext cx="3206801" cy="2114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10" b="1" spc="23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</a:t>
            </a:r>
            <a:endParaRPr lang="en-US" sz="1170" dirty="0"/>
          </a:p>
          <a:p>
            <a:pPr algn="l" indent="0" marL="0">
              <a:buNone/>
            </a:pPr>
            <a:r>
              <a:rPr lang="en-US" sz="1170" b="1" spc="23" kern="0" dirty="0">
                <a:solidFill>
                  <a:srgbClr val="E8E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研发效率</a:t>
            </a:r>
            <a:endParaRPr lang="en-US" sz="1170" dirty="0"/>
          </a:p>
        </p:txBody>
      </p:sp>
      <p:sp>
        <p:nvSpPr>
          <p:cNvPr id="48" name="Shape 45"/>
          <p:cNvSpPr/>
          <p:nvPr/>
        </p:nvSpPr>
        <p:spPr>
          <a:xfrm>
            <a:off x="2554605" y="1481882"/>
            <a:ext cx="194310" cy="194310"/>
          </a:xfrm>
          <a:prstGeom prst="roundRect">
            <a:avLst>
              <a:gd name="adj" fmla="val 26471"/>
            </a:avLst>
          </a:prstGeom>
          <a:gradFill rotWithShape="1">
            <a:gsLst>
              <a:gs pos="0">
                <a:srgbClr val="2196F3">
                  <a:alpha val="22000"/>
                </a:srgbClr>
              </a:gs>
              <a:gs pos="100000">
                <a:srgbClr val="00BCD4">
                  <a:alpha val="14000"/>
                </a:srgbClr>
              </a:gs>
            </a:gsLst>
            <a:lin ang="2700000" scaled="0"/>
          </a:gradFill>
          <a:ln w="5715">
            <a:solidFill>
              <a:srgbClr val="2196F3">
                <a:alpha val="55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554605" y="1481882"/>
            <a:ext cx="297180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23" kern="0" dirty="0">
                <a:solidFill>
                  <a:srgbClr val="E8E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</a:t>
            </a:r>
            <a:endParaRPr lang="en-US" sz="810" dirty="0"/>
          </a:p>
        </p:txBody>
      </p:sp>
      <p:sp>
        <p:nvSpPr>
          <p:cNvPr id="50" name="Text 47"/>
          <p:cNvSpPr/>
          <p:nvPr/>
        </p:nvSpPr>
        <p:spPr>
          <a:xfrm>
            <a:off x="2554605" y="1741914"/>
            <a:ext cx="3206801" cy="265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2000"/>
              </a:lnSpc>
              <a:buNone/>
            </a:pPr>
            <a:r>
              <a:rPr lang="en-US" sz="608" dirty="0">
                <a:solidFill>
                  <a:srgbClr val="A3AD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复用</a:t>
            </a:r>
            <a:pPr algn="l" indent="0" marL="0">
              <a:lnSpc>
                <a:spcPct val="172000"/>
              </a:lnSpc>
              <a:buNone/>
            </a:pPr>
            <a:r>
              <a:rPr lang="en-US" sz="608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成熟开源组件</a:t>
            </a:r>
            <a:pPr algn="l" indent="0" marL="0">
              <a:lnSpc>
                <a:spcPct val="172000"/>
              </a:lnSpc>
              <a:buNone/>
            </a:pPr>
            <a:r>
              <a:rPr lang="en-US" sz="608" dirty="0">
                <a:solidFill>
                  <a:srgbClr val="A3AD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，显著缩短从</a:t>
            </a:r>
            <a:pPr algn="l" indent="0" marL="0">
              <a:lnSpc>
                <a:spcPct val="172000"/>
              </a:lnSpc>
              <a:buNone/>
            </a:pPr>
            <a:r>
              <a:rPr lang="en-US" sz="608" b="1" dirty="0">
                <a:solidFill>
                  <a:srgbClr val="E8E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到 1</a:t>
            </a:r>
            <a:pPr algn="l" indent="0" marL="0">
              <a:lnSpc>
                <a:spcPct val="172000"/>
              </a:lnSpc>
              <a:buNone/>
            </a:pPr>
            <a:r>
              <a:rPr lang="en-US" sz="608" dirty="0">
                <a:solidFill>
                  <a:srgbClr val="A3AD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的时间与人力成本，让团队把算力押注在差异化创新上。</a:t>
            </a:r>
            <a:endParaRPr lang="en-US" sz="608" dirty="0"/>
          </a:p>
        </p:txBody>
      </p:sp>
      <p:sp>
        <p:nvSpPr>
          <p:cNvPr id="51" name="Shape 48"/>
          <p:cNvSpPr/>
          <p:nvPr/>
        </p:nvSpPr>
        <p:spPr>
          <a:xfrm>
            <a:off x="5652135" y="1056114"/>
            <a:ext cx="3148965" cy="1603593"/>
          </a:xfrm>
          <a:prstGeom prst="roundRect">
            <a:avLst>
              <a:gd name="adj" fmla="val 4989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F1524">
                  <a:alpha val="60000"/>
                </a:srgbClr>
              </a:gs>
            </a:gsLst>
            <a:lin ang="3900000" scaled="0"/>
          </a:gradFill>
          <a:ln w="5715">
            <a:solidFill>
              <a:srgbClr val="2196F3">
                <a:alpha val="3200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652135" y="1056114"/>
            <a:ext cx="1882470" cy="1143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3" name="Shape 50"/>
          <p:cNvSpPr/>
          <p:nvPr/>
        </p:nvSpPr>
        <p:spPr>
          <a:xfrm>
            <a:off x="8274160" y="419246"/>
            <a:ext cx="1143000" cy="1143000"/>
          </a:xfrm>
          <a:prstGeom prst="rect">
            <a:avLst/>
          </a:prstGeom>
          <a:solidFill>
            <a:srgbClr val="00BCD4">
              <a:alpha val="14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8189595" y="1244709"/>
            <a:ext cx="468630" cy="102870"/>
          </a:xfrm>
          <a:prstGeom prst="roundRect">
            <a:avLst>
              <a:gd name="adj" fmla="val 16667"/>
            </a:avLst>
          </a:prstGeom>
          <a:noFill/>
          <a:ln w="571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189595" y="1244709"/>
            <a:ext cx="525780" cy="10287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6B73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</a:t>
            </a:r>
            <a:endParaRPr lang="en-US" sz="450" dirty="0"/>
          </a:p>
        </p:txBody>
      </p:sp>
      <p:sp>
        <p:nvSpPr>
          <p:cNvPr id="56" name="Text 53"/>
          <p:cNvSpPr/>
          <p:nvPr/>
        </p:nvSpPr>
        <p:spPr>
          <a:xfrm>
            <a:off x="5795010" y="1473309"/>
            <a:ext cx="3206801" cy="2114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10" b="1" spc="23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👁</a:t>
            </a:r>
            <a:endParaRPr lang="en-US" sz="1170" dirty="0"/>
          </a:p>
          <a:p>
            <a:pPr algn="l" indent="0" marL="0">
              <a:buNone/>
            </a:pPr>
            <a:r>
              <a:rPr lang="en-US" sz="1170" b="1" spc="23" kern="0" dirty="0">
                <a:solidFill>
                  <a:srgbClr val="E8E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质量外溢</a:t>
            </a:r>
            <a:endParaRPr lang="en-US" sz="1170" dirty="0"/>
          </a:p>
        </p:txBody>
      </p:sp>
      <p:sp>
        <p:nvSpPr>
          <p:cNvPr id="57" name="Shape 54"/>
          <p:cNvSpPr/>
          <p:nvPr/>
        </p:nvSpPr>
        <p:spPr>
          <a:xfrm>
            <a:off x="5795010" y="1481882"/>
            <a:ext cx="194310" cy="194310"/>
          </a:xfrm>
          <a:prstGeom prst="roundRect">
            <a:avLst>
              <a:gd name="adj" fmla="val 26471"/>
            </a:avLst>
          </a:prstGeom>
          <a:gradFill rotWithShape="1">
            <a:gsLst>
              <a:gs pos="0">
                <a:srgbClr val="2196F3">
                  <a:alpha val="22000"/>
                </a:srgbClr>
              </a:gs>
              <a:gs pos="100000">
                <a:srgbClr val="00BCD4">
                  <a:alpha val="14000"/>
                </a:srgbClr>
              </a:gs>
            </a:gsLst>
            <a:lin ang="2700000" scaled="0"/>
          </a:gradFill>
          <a:ln w="5715">
            <a:solidFill>
              <a:srgbClr val="2196F3">
                <a:alpha val="55000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795010" y="1481882"/>
            <a:ext cx="297180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23" kern="0" dirty="0">
                <a:solidFill>
                  <a:srgbClr val="E8E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👁</a:t>
            </a:r>
            <a:endParaRPr lang="en-US" sz="810" dirty="0"/>
          </a:p>
        </p:txBody>
      </p:sp>
      <p:sp>
        <p:nvSpPr>
          <p:cNvPr id="59" name="Text 56"/>
          <p:cNvSpPr/>
          <p:nvPr/>
        </p:nvSpPr>
        <p:spPr>
          <a:xfrm>
            <a:off x="5795010" y="1741914"/>
            <a:ext cx="3206801" cy="265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2000"/>
              </a:lnSpc>
              <a:buNone/>
            </a:pPr>
            <a:r>
              <a:rPr lang="en-US" sz="608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成千上万双眼睛</a:t>
            </a:r>
            <a:pPr algn="l" indent="0" marL="0">
              <a:lnSpc>
                <a:spcPct val="172000"/>
              </a:lnSpc>
              <a:buNone/>
            </a:pPr>
            <a:r>
              <a:rPr lang="en-US" sz="608" dirty="0">
                <a:solidFill>
                  <a:srgbClr val="A3AD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审视同一份代码，缺陷发现速度超越任何一家公司的内部 QA 团队，安全性与稳定性外溢。</a:t>
            </a:r>
            <a:endParaRPr lang="en-US" sz="608" dirty="0"/>
          </a:p>
        </p:txBody>
      </p:sp>
      <p:sp>
        <p:nvSpPr>
          <p:cNvPr id="60" name="Shape 57"/>
          <p:cNvSpPr/>
          <p:nvPr/>
        </p:nvSpPr>
        <p:spPr>
          <a:xfrm>
            <a:off x="2411730" y="2751147"/>
            <a:ext cx="3148965" cy="1603683"/>
          </a:xfrm>
          <a:prstGeom prst="roundRect">
            <a:avLst>
              <a:gd name="adj" fmla="val 4989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F1524">
                  <a:alpha val="60000"/>
                </a:srgbClr>
              </a:gs>
            </a:gsLst>
            <a:lin ang="3900000" scaled="0"/>
          </a:gradFill>
          <a:ln w="5715">
            <a:solidFill>
              <a:srgbClr val="2196F3">
                <a:alpha val="3200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411730" y="2751147"/>
            <a:ext cx="188247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2" name="Shape 59"/>
          <p:cNvSpPr/>
          <p:nvPr/>
        </p:nvSpPr>
        <p:spPr>
          <a:xfrm>
            <a:off x="5033755" y="2114279"/>
            <a:ext cx="1143000" cy="1143000"/>
          </a:xfrm>
          <a:prstGeom prst="rect">
            <a:avLst/>
          </a:prstGeom>
          <a:solidFill>
            <a:srgbClr val="2196F3">
              <a:alpha val="14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4960620" y="2939742"/>
            <a:ext cx="457200" cy="102870"/>
          </a:xfrm>
          <a:prstGeom prst="roundRect">
            <a:avLst>
              <a:gd name="adj" fmla="val 16667"/>
            </a:avLst>
          </a:prstGeom>
          <a:noFill/>
          <a:ln w="571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4960620" y="2939742"/>
            <a:ext cx="514350" cy="10287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6B73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LOCK-IN</a:t>
            </a:r>
            <a:endParaRPr lang="en-US" sz="450" dirty="0"/>
          </a:p>
        </p:txBody>
      </p:sp>
      <p:sp>
        <p:nvSpPr>
          <p:cNvPr id="65" name="Text 62"/>
          <p:cNvSpPr/>
          <p:nvPr/>
        </p:nvSpPr>
        <p:spPr>
          <a:xfrm>
            <a:off x="2554605" y="3168342"/>
            <a:ext cx="3206801" cy="2114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10" b="1" spc="23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🔗</a:t>
            </a:r>
            <a:endParaRPr lang="en-US" sz="1170" dirty="0"/>
          </a:p>
          <a:p>
            <a:pPr algn="l" indent="0" marL="0">
              <a:buNone/>
            </a:pPr>
            <a:r>
              <a:rPr lang="en-US" sz="1170" b="1" spc="23" kern="0" dirty="0">
                <a:solidFill>
                  <a:srgbClr val="E8E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生态锁定</a:t>
            </a:r>
            <a:endParaRPr lang="en-US" sz="1170" dirty="0"/>
          </a:p>
        </p:txBody>
      </p:sp>
      <p:sp>
        <p:nvSpPr>
          <p:cNvPr id="66" name="Shape 63"/>
          <p:cNvSpPr/>
          <p:nvPr/>
        </p:nvSpPr>
        <p:spPr>
          <a:xfrm>
            <a:off x="2554605" y="3176915"/>
            <a:ext cx="194310" cy="194310"/>
          </a:xfrm>
          <a:prstGeom prst="roundRect">
            <a:avLst>
              <a:gd name="adj" fmla="val 26471"/>
            </a:avLst>
          </a:prstGeom>
          <a:gradFill rotWithShape="1">
            <a:gsLst>
              <a:gs pos="0">
                <a:srgbClr val="2196F3">
                  <a:alpha val="22000"/>
                </a:srgbClr>
              </a:gs>
              <a:gs pos="100000">
                <a:srgbClr val="00BCD4">
                  <a:alpha val="14000"/>
                </a:srgbClr>
              </a:gs>
            </a:gsLst>
            <a:lin ang="2700000" scaled="0"/>
          </a:gradFill>
          <a:ln w="5715">
            <a:solidFill>
              <a:srgbClr val="2196F3">
                <a:alpha val="55000"/>
              </a:srgbClr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2554605" y="3176915"/>
            <a:ext cx="297180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23" kern="0" dirty="0">
                <a:solidFill>
                  <a:srgbClr val="E8E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🔗</a:t>
            </a:r>
            <a:endParaRPr lang="en-US" sz="810" dirty="0"/>
          </a:p>
        </p:txBody>
      </p:sp>
      <p:sp>
        <p:nvSpPr>
          <p:cNvPr id="68" name="Text 65"/>
          <p:cNvSpPr/>
          <p:nvPr/>
        </p:nvSpPr>
        <p:spPr>
          <a:xfrm>
            <a:off x="2554605" y="3436947"/>
            <a:ext cx="3206801" cy="265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2000"/>
              </a:lnSpc>
              <a:buNone/>
            </a:pPr>
            <a:r>
              <a:rPr lang="en-US" sz="608" dirty="0">
                <a:solidFill>
                  <a:srgbClr val="A3AD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团队一旦深度使用开源工具链，</a:t>
            </a:r>
            <a:pPr algn="l" indent="0" marL="0">
              <a:lnSpc>
                <a:spcPct val="172000"/>
              </a:lnSpc>
              <a:buNone/>
            </a:pPr>
            <a:r>
              <a:rPr lang="en-US" sz="608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切换成本与协同优势</a:t>
            </a:r>
            <a:pPr algn="l" indent="0" marL="0">
              <a:lnSpc>
                <a:spcPct val="172000"/>
              </a:lnSpc>
              <a:buNone/>
            </a:pPr>
            <a:r>
              <a:rPr lang="en-US" sz="608" dirty="0">
                <a:solidFill>
                  <a:srgbClr val="A3AD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同步抬升，形成技术、人力与流程三维复合壁垒。</a:t>
            </a:r>
            <a:endParaRPr lang="en-US" sz="608" dirty="0"/>
          </a:p>
        </p:txBody>
      </p:sp>
      <p:sp>
        <p:nvSpPr>
          <p:cNvPr id="69" name="Shape 66"/>
          <p:cNvSpPr/>
          <p:nvPr/>
        </p:nvSpPr>
        <p:spPr>
          <a:xfrm>
            <a:off x="5652135" y="2751147"/>
            <a:ext cx="3148965" cy="1603683"/>
          </a:xfrm>
          <a:prstGeom prst="roundRect">
            <a:avLst>
              <a:gd name="adj" fmla="val 4989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F1524">
                  <a:alpha val="60000"/>
                </a:srgbClr>
              </a:gs>
            </a:gsLst>
            <a:lin ang="3900000" scaled="0"/>
          </a:gradFill>
          <a:ln w="5715">
            <a:solidFill>
              <a:srgbClr val="2196F3">
                <a:alpha val="3200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5652135" y="2751147"/>
            <a:ext cx="1882470" cy="1143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1" name="Shape 68"/>
          <p:cNvSpPr/>
          <p:nvPr/>
        </p:nvSpPr>
        <p:spPr>
          <a:xfrm>
            <a:off x="8274160" y="2114279"/>
            <a:ext cx="1143000" cy="1143000"/>
          </a:xfrm>
          <a:prstGeom prst="rect">
            <a:avLst/>
          </a:prstGeom>
          <a:solidFill>
            <a:srgbClr val="00BCD4">
              <a:alpha val="14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8121015" y="2939742"/>
            <a:ext cx="537210" cy="102870"/>
          </a:xfrm>
          <a:prstGeom prst="roundRect">
            <a:avLst>
              <a:gd name="adj" fmla="val 16667"/>
            </a:avLst>
          </a:prstGeom>
          <a:noFill/>
          <a:ln w="571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121015" y="2939742"/>
            <a:ext cx="601675" cy="10287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6B73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</a:t>
            </a:r>
            <a:endParaRPr lang="en-US" sz="450" dirty="0"/>
          </a:p>
        </p:txBody>
      </p:sp>
      <p:sp>
        <p:nvSpPr>
          <p:cNvPr id="74" name="Text 71"/>
          <p:cNvSpPr/>
          <p:nvPr/>
        </p:nvSpPr>
        <p:spPr>
          <a:xfrm>
            <a:off x="5795010" y="3168342"/>
            <a:ext cx="3206801" cy="2114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10" b="1" spc="23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🏛</a:t>
            </a:r>
            <a:endParaRPr lang="en-US" sz="1170" dirty="0"/>
          </a:p>
          <a:p>
            <a:pPr algn="l" indent="0" marL="0">
              <a:buNone/>
            </a:pPr>
            <a:r>
              <a:rPr lang="en-US" sz="1170" b="1" spc="23" kern="0" dirty="0">
                <a:solidFill>
                  <a:srgbClr val="E8E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标准权力</a:t>
            </a:r>
            <a:endParaRPr lang="en-US" sz="1170" dirty="0"/>
          </a:p>
        </p:txBody>
      </p:sp>
      <p:sp>
        <p:nvSpPr>
          <p:cNvPr id="75" name="Shape 72"/>
          <p:cNvSpPr/>
          <p:nvPr/>
        </p:nvSpPr>
        <p:spPr>
          <a:xfrm>
            <a:off x="5795010" y="3176915"/>
            <a:ext cx="194310" cy="194310"/>
          </a:xfrm>
          <a:prstGeom prst="roundRect">
            <a:avLst>
              <a:gd name="adj" fmla="val 26471"/>
            </a:avLst>
          </a:prstGeom>
          <a:gradFill rotWithShape="1">
            <a:gsLst>
              <a:gs pos="0">
                <a:srgbClr val="2196F3">
                  <a:alpha val="22000"/>
                </a:srgbClr>
              </a:gs>
              <a:gs pos="100000">
                <a:srgbClr val="00BCD4">
                  <a:alpha val="14000"/>
                </a:srgbClr>
              </a:gs>
            </a:gsLst>
            <a:lin ang="2700000" scaled="0"/>
          </a:gradFill>
          <a:ln w="5715">
            <a:solidFill>
              <a:srgbClr val="2196F3">
                <a:alpha val="55000"/>
              </a:srgbClr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5795010" y="3176915"/>
            <a:ext cx="297180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23" kern="0" dirty="0">
                <a:solidFill>
                  <a:srgbClr val="E8E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🏛</a:t>
            </a:r>
            <a:endParaRPr lang="en-US" sz="810" dirty="0"/>
          </a:p>
        </p:txBody>
      </p:sp>
      <p:sp>
        <p:nvSpPr>
          <p:cNvPr id="77" name="Text 74"/>
          <p:cNvSpPr/>
          <p:nvPr/>
        </p:nvSpPr>
        <p:spPr>
          <a:xfrm>
            <a:off x="5795010" y="3436947"/>
            <a:ext cx="3206801" cy="265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2000"/>
              </a:lnSpc>
              <a:buNone/>
            </a:pPr>
            <a:r>
              <a:rPr lang="en-US" sz="608" dirty="0">
                <a:solidFill>
                  <a:srgbClr val="A3AD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控制核心开源项目意味着参与</a:t>
            </a:r>
            <a:pPr algn="l" indent="0" marL="0">
              <a:lnSpc>
                <a:spcPct val="172000"/>
              </a:lnSpc>
              <a:buNone/>
            </a:pPr>
            <a:r>
              <a:rPr lang="en-US" sz="608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下一代技术标准</a:t>
            </a:r>
            <a:pPr algn="l" indent="0" marL="0">
              <a:lnSpc>
                <a:spcPct val="172000"/>
              </a:lnSpc>
              <a:buNone/>
            </a:pPr>
            <a:r>
              <a:rPr lang="en-US" sz="608" dirty="0">
                <a:solidFill>
                  <a:srgbClr val="A3AD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的制定，把技术选择变成对整个行业的话语权与议价力。</a:t>
            </a:r>
            <a:endParaRPr lang="en-US" sz="608" dirty="0"/>
          </a:p>
        </p:txBody>
      </p:sp>
      <p:sp>
        <p:nvSpPr>
          <p:cNvPr id="78" name="Shape 75"/>
          <p:cNvSpPr/>
          <p:nvPr/>
        </p:nvSpPr>
        <p:spPr>
          <a:xfrm>
            <a:off x="342900" y="4446270"/>
            <a:ext cx="8458200" cy="468630"/>
          </a:xfrm>
          <a:prstGeom prst="roundRect">
            <a:avLst>
              <a:gd name="adj" fmla="val 14634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55000">
                <a:srgbClr val="00BCD4">
                  <a:alpha val="5000"/>
                </a:srgbClr>
              </a:gs>
              <a:gs pos="100000">
                <a:srgbClr val="0F1524">
                  <a:alpha val="60000"/>
                </a:srgbClr>
              </a:gs>
            </a:gsLst>
            <a:lin ang="0" scaled="0"/>
          </a:gradFill>
          <a:ln w="17145">
            <a:solidFill>
              <a:srgbClr val="2196F3">
                <a:alpha val="3200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7749540" y="4446270"/>
            <a:ext cx="1028700" cy="457200"/>
          </a:xfrm>
          <a:prstGeom prst="rect">
            <a:avLst/>
          </a:prstGeom>
          <a:solidFill>
            <a:srgbClr val="00BCD4">
              <a:alpha val="14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508635" y="4543425"/>
            <a:ext cx="274320" cy="27432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71450" dist="38100" dir="16200000">
              <a:srgbClr val="2196F3">
                <a:alpha val="35000"/>
              </a:srgbClr>
            </a:outerShdw>
          </a:effectLst>
        </p:spPr>
      </p:sp>
      <p:sp>
        <p:nvSpPr>
          <p:cNvPr id="81" name="Text 78"/>
          <p:cNvSpPr/>
          <p:nvPr/>
        </p:nvSpPr>
        <p:spPr>
          <a:xfrm>
            <a:off x="508635" y="4543425"/>
            <a:ext cx="40005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dirty="0">
                <a:solidFill>
                  <a:srgbClr val="E8E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990" dirty="0"/>
          </a:p>
        </p:txBody>
      </p:sp>
      <p:sp>
        <p:nvSpPr>
          <p:cNvPr id="82" name="Text 79"/>
          <p:cNvSpPr/>
          <p:nvPr/>
        </p:nvSpPr>
        <p:spPr>
          <a:xfrm>
            <a:off x="908685" y="4544854"/>
            <a:ext cx="8666683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64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 · 核心洞察</a:t>
            </a:r>
            <a:endParaRPr lang="en-US" sz="585" dirty="0"/>
          </a:p>
        </p:txBody>
      </p:sp>
      <p:sp>
        <p:nvSpPr>
          <p:cNvPr id="83" name="Text 80"/>
          <p:cNvSpPr/>
          <p:nvPr/>
        </p:nvSpPr>
        <p:spPr>
          <a:xfrm>
            <a:off x="908685" y="4682014"/>
            <a:ext cx="8666683" cy="134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653" dirty="0">
                <a:solidFill>
                  <a:srgbClr val="C7D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开源的价值不止于</a:t>
            </a:r>
            <a:pPr algn="l" indent="0" marL="0">
              <a:lnSpc>
                <a:spcPct val="162000"/>
              </a:lnSpc>
              <a:buNone/>
            </a:pPr>
            <a:r>
              <a:rPr lang="en-US" sz="653" b="1" dirty="0">
                <a:solidFill>
                  <a:srgbClr val="E8E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免费的代码</a:t>
            </a:r>
            <a:pPr algn="l" indent="0" marL="0">
              <a:lnSpc>
                <a:spcPct val="162000"/>
              </a:lnSpc>
              <a:buNone/>
            </a:pPr>
            <a:r>
              <a:rPr lang="en-US" sz="653" dirty="0">
                <a:solidFill>
                  <a:srgbClr val="C7D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，而是同时释放</a:t>
            </a:r>
            <a:pPr algn="l" indent="0" marL="0">
              <a:lnSpc>
                <a:spcPct val="162000"/>
              </a:lnSpc>
              <a:buNone/>
            </a:pPr>
            <a:r>
              <a:rPr lang="en-US" sz="653" b="1" dirty="0">
                <a:solidFill>
                  <a:srgbClr val="4FB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研发效率、协作质量、生态协同与标准话语权</a:t>
            </a:r>
            <a:pPr algn="l" indent="0" marL="0">
              <a:lnSpc>
                <a:spcPct val="162000"/>
              </a:lnSpc>
              <a:buNone/>
            </a:pPr>
            <a:r>
              <a:rPr lang="en-US" sz="653" dirty="0">
                <a:solidFill>
                  <a:srgbClr val="C7D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四重红利；对企业而言，选择开源不是节省一次采购预算，而是</a:t>
            </a:r>
            <a:pPr algn="l" indent="0" marL="0">
              <a:lnSpc>
                <a:spcPct val="162000"/>
              </a:lnSpc>
              <a:buNone/>
            </a:pPr>
            <a:r>
              <a:rPr lang="en-US" sz="653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买下一整套生态的入场券</a:t>
            </a:r>
            <a:pPr algn="l" indent="0" marL="0">
              <a:lnSpc>
                <a:spcPct val="162000"/>
              </a:lnSpc>
              <a:buNone/>
            </a:pPr>
            <a:r>
              <a:rPr lang="en-US" sz="653" dirty="0">
                <a:solidFill>
                  <a:srgbClr val="C7D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65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303520" y="-1440180"/>
            <a:ext cx="12801600" cy="7200900"/>
          </a:xfrm>
          <a:prstGeom prst="ellipse">
            <a:avLst/>
          </a:prstGeom>
          <a:gradFill rotWithShape="1">
            <a:gsLst>
              <a:gs pos="0">
                <a:srgbClr val="2196F3">
                  <a:alpha val="112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5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70B14">
                  <a:alpha val="50000"/>
                </a:srgbClr>
              </a:gs>
              <a:gs pos="25000">
                <a:srgbClr val="000000">
                  <a:alpha val="0"/>
                </a:srgbClr>
              </a:gs>
              <a:gs pos="70000">
                <a:srgbClr val="000000">
                  <a:alpha val="0"/>
                </a:srgbClr>
              </a:gs>
              <a:gs pos="100000">
                <a:srgbClr val="070B14">
                  <a:alpha val="70000"/>
                </a:srgbClr>
              </a:gs>
            </a:gsLst>
            <a:lin ang="540000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640080" y="771525"/>
            <a:ext cx="28575" cy="28575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114300" dist="50800" dir="16200000">
              <a:srgbClr val="2196F3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0" y="3703320"/>
            <a:ext cx="17145" cy="1714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0" y="565785"/>
            <a:ext cx="22860" cy="22860"/>
          </a:xfrm>
          <a:prstGeom prst="ellipse">
            <a:avLst/>
          </a:prstGeom>
          <a:solidFill>
            <a:srgbClr val="64B5F6"/>
          </a:solidFill>
          <a:ln/>
          <a:effectLst>
            <a:outerShdw sx="100000" sy="100000" kx="0" ky="0" algn="bl" rotWithShape="0" blurRad="114300" dist="50800" dir="16200000">
              <a:srgbClr val="64B5F6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0" y="4526280"/>
            <a:ext cx="17145" cy="1714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0" y="1440180"/>
            <a:ext cx="28575" cy="28575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114300" dist="50800" dir="16200000">
              <a:srgbClr val="2196F3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03520" y="2263140"/>
            <a:ext cx="11430" cy="11430"/>
          </a:xfrm>
          <a:prstGeom prst="ellipse">
            <a:avLst/>
          </a:prstGeom>
          <a:solidFill>
            <a:srgbClr val="64B5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0" y="2468880"/>
            <a:ext cx="11430" cy="1143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0" y="3188970"/>
            <a:ext cx="17145" cy="17145"/>
          </a:xfrm>
          <a:prstGeom prst="ellipse">
            <a:avLst/>
          </a:prstGeom>
          <a:solidFill>
            <a:srgbClr val="64B5F6"/>
          </a:solidFill>
          <a:ln/>
          <a:effectLst>
            <a:outerShdw sx="100000" sy="100000" kx="0" ky="0" algn="bl" rotWithShape="0" blurRad="95250" dist="50800" dir="16200000">
              <a:srgbClr val="64B5F6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" y="462915"/>
            <a:ext cx="84582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2196F3">
                  <a:alpha val="40000"/>
                </a:srgbClr>
              </a:gs>
              <a:gs pos="80000">
                <a:srgbClr val="2196F3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4" name="Shape 12"/>
          <p:cNvSpPr/>
          <p:nvPr/>
        </p:nvSpPr>
        <p:spPr>
          <a:xfrm>
            <a:off x="342900" y="314325"/>
            <a:ext cx="45720" cy="4572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114300" dist="50800" dir="16200000">
              <a:srgbClr val="2196F3">
                <a:alpha val="1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5770" y="297180"/>
            <a:ext cx="46041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9" kern="0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</a:t>
            </a:r>
            <a:endParaRPr lang="en-US" sz="495" dirty="0"/>
          </a:p>
        </p:txBody>
      </p:sp>
      <p:sp>
        <p:nvSpPr>
          <p:cNvPr id="16" name="Shape 14"/>
          <p:cNvSpPr/>
          <p:nvPr/>
        </p:nvSpPr>
        <p:spPr>
          <a:xfrm>
            <a:off x="923330" y="334328"/>
            <a:ext cx="182880" cy="5715"/>
          </a:xfrm>
          <a:prstGeom prst="rect">
            <a:avLst/>
          </a:prstGeom>
          <a:solidFill>
            <a:srgbClr val="CBD5E0">
              <a:alpha val="2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86220" y="297180"/>
            <a:ext cx="1548494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19" kern="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04 · CHAPTER TRANSITION</a:t>
            </a:r>
            <a:endParaRPr lang="en-US" sz="495" dirty="0"/>
          </a:p>
        </p:txBody>
      </p:sp>
      <p:sp>
        <p:nvSpPr>
          <p:cNvPr id="18" name="Text 16"/>
          <p:cNvSpPr/>
          <p:nvPr/>
        </p:nvSpPr>
        <p:spPr>
          <a:xfrm>
            <a:off x="6651367" y="297180"/>
            <a:ext cx="1749019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9" kern="0" dirty="0">
                <a:solidFill>
                  <a:srgbClr val="8FA3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· COMMERCIAL LANDSCAPE</a:t>
            </a:r>
            <a:endParaRPr lang="en-US" sz="495" dirty="0"/>
          </a:p>
        </p:txBody>
      </p:sp>
      <p:sp>
        <p:nvSpPr>
          <p:cNvPr id="19" name="Shape 17"/>
          <p:cNvSpPr/>
          <p:nvPr/>
        </p:nvSpPr>
        <p:spPr>
          <a:xfrm>
            <a:off x="8293001" y="334328"/>
            <a:ext cx="114300" cy="5715"/>
          </a:xfrm>
          <a:prstGeom prst="rect">
            <a:avLst/>
          </a:prstGeom>
          <a:solidFill>
            <a:srgbClr val="CBD5E0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487311" y="297180"/>
            <a:ext cx="376654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9" kern="0" dirty="0">
                <a:solidFill>
                  <a:srgbClr val="8FA3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Ⅱ</a:t>
            </a:r>
            <a:endParaRPr lang="en-US" sz="495" dirty="0"/>
          </a:p>
        </p:txBody>
      </p:sp>
      <p:sp>
        <p:nvSpPr>
          <p:cNvPr id="21" name="Shape 19"/>
          <p:cNvSpPr/>
          <p:nvPr/>
        </p:nvSpPr>
        <p:spPr>
          <a:xfrm>
            <a:off x="342900" y="674370"/>
            <a:ext cx="1119068" cy="182880"/>
          </a:xfrm>
          <a:prstGeom prst="roundRect">
            <a:avLst>
              <a:gd name="adj" fmla="val 6250"/>
            </a:avLst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8625" y="748665"/>
            <a:ext cx="34290" cy="3429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95250" dist="50800" dir="16200000">
              <a:srgbClr val="2196F3">
                <a:alpha val="10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0065" y="720090"/>
            <a:ext cx="95892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58" kern="0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  ·  过渡页</a:t>
            </a:r>
            <a:endParaRPr lang="en-US" sz="495" dirty="0"/>
          </a:p>
        </p:txBody>
      </p:sp>
      <p:sp>
        <p:nvSpPr>
          <p:cNvPr id="24" name="Shape 22"/>
          <p:cNvSpPr/>
          <p:nvPr/>
        </p:nvSpPr>
        <p:spPr>
          <a:xfrm>
            <a:off x="2514600" y="1062990"/>
            <a:ext cx="11430" cy="136017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25" name="Text 23"/>
          <p:cNvSpPr/>
          <p:nvPr/>
        </p:nvSpPr>
        <p:spPr>
          <a:xfrm>
            <a:off x="2663190" y="1108710"/>
            <a:ext cx="125730" cy="775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spc="189" kern="0" dirty="0">
                <a:solidFill>
                  <a:srgbClr val="00BCD4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· TWO</a:t>
            </a:r>
            <a:endParaRPr lang="en-US" sz="450" dirty="0"/>
          </a:p>
        </p:txBody>
      </p:sp>
      <p:sp>
        <p:nvSpPr>
          <p:cNvPr id="26" name="Text 24"/>
          <p:cNvSpPr/>
          <p:nvPr/>
        </p:nvSpPr>
        <p:spPr>
          <a:xfrm>
            <a:off x="342900" y="2606040"/>
            <a:ext cx="3904488" cy="3017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80" b="1" spc="-20" kern="0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第二部分</a:t>
            </a:r>
            <a:pPr algn="l" indent="0" marL="0">
              <a:lnSpc>
                <a:spcPct val="120000"/>
              </a:lnSpc>
              <a:buNone/>
            </a:pPr>
            <a:r>
              <a:rPr lang="en-US" sz="1980" b="1" spc="-2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lnSpc>
                <a:spcPct val="120000"/>
              </a:lnSpc>
              <a:buNone/>
            </a:pPr>
            <a:r>
              <a:rPr lang="en-US" sz="1980" b="1" spc="-20" kern="0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的商业版图</a:t>
            </a:r>
            <a:endParaRPr lang="en-US" sz="1980" dirty="0"/>
          </a:p>
        </p:txBody>
      </p:sp>
      <p:sp>
        <p:nvSpPr>
          <p:cNvPr id="27" name="Text 25"/>
          <p:cNvSpPr/>
          <p:nvPr/>
        </p:nvSpPr>
        <p:spPr>
          <a:xfrm>
            <a:off x="342900" y="2987784"/>
            <a:ext cx="3328416" cy="3107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720" spc="14" kern="0" dirty="0">
                <a:solidFill>
                  <a:srgbClr val="8FA3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从桌面霸主到云端底座，</a:t>
            </a:r>
            <a:pPr algn="l" indent="0" marL="0">
              <a:lnSpc>
                <a:spcPct val="170000"/>
              </a:lnSpc>
              <a:buNone/>
            </a:pPr>
            <a:endParaRPr lang="en-US" sz="72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720" spc="14" kern="0" dirty="0">
                <a:solidFill>
                  <a:srgbClr val="8FA3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走出的商业路径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4126230" y="760095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200525" y="731520"/>
            <a:ext cx="111764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44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VISTAS · 四重视角</a:t>
            </a:r>
            <a:endParaRPr lang="en-US" sz="450" dirty="0"/>
          </a:p>
        </p:txBody>
      </p:sp>
      <p:sp>
        <p:nvSpPr>
          <p:cNvPr id="30" name="Text 28"/>
          <p:cNvSpPr/>
          <p:nvPr/>
        </p:nvSpPr>
        <p:spPr>
          <a:xfrm>
            <a:off x="4126230" y="897255"/>
            <a:ext cx="523585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90" b="1" spc="10" kern="0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本章节包含</a:t>
            </a:r>
            <a:pPr algn="l" indent="0" marL="0">
              <a:buNone/>
            </a:pPr>
            <a:r>
              <a:rPr lang="en-US" sz="1170" b="1" spc="1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pPr algn="l" indent="0" marL="0">
              <a:buNone/>
            </a:pPr>
            <a:r>
              <a:rPr lang="en-US" sz="990" b="1" spc="10" kern="0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个视角</a:t>
            </a:r>
            <a:pPr algn="l" indent="0" marL="0">
              <a:buNone/>
            </a:pPr>
            <a:r>
              <a:rPr lang="en-US" sz="990" b="1" spc="10" kern="0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贯穿 30+ 年的开源商业演进 </a:t>
            </a:r>
            <a:endParaRPr lang="en-US" sz="990" dirty="0"/>
          </a:p>
        </p:txBody>
      </p:sp>
      <p:sp>
        <p:nvSpPr>
          <p:cNvPr id="31" name="Shape 29"/>
          <p:cNvSpPr/>
          <p:nvPr/>
        </p:nvSpPr>
        <p:spPr>
          <a:xfrm>
            <a:off x="4126230" y="1480185"/>
            <a:ext cx="4674870" cy="11430"/>
          </a:xfrm>
          <a:prstGeom prst="rect">
            <a:avLst/>
          </a:prstGeom>
          <a:gradFill rotWithShape="1">
            <a:gsLst>
              <a:gs pos="0">
                <a:srgbClr val="2196F3">
                  <a:alpha val="10000"/>
                </a:srgbClr>
              </a:gs>
              <a:gs pos="10000">
                <a:srgbClr val="2196F3">
                  <a:alpha val="55000"/>
                </a:srgbClr>
              </a:gs>
              <a:gs pos="50000">
                <a:srgbClr val="2196F3"/>
              </a:gs>
              <a:gs pos="90000">
                <a:srgbClr val="2196F3">
                  <a:alpha val="55000"/>
                </a:srgbClr>
              </a:gs>
              <a:gs pos="100000">
                <a:srgbClr val="2196F3">
                  <a:alpha val="10000"/>
                </a:srgbClr>
              </a:gs>
            </a:gsLst>
            <a:lin ang="0" scaled="0"/>
          </a:gradFill>
          <a:ln/>
        </p:spPr>
      </p:sp>
      <p:sp>
        <p:nvSpPr>
          <p:cNvPr id="32" name="Shape 30"/>
          <p:cNvSpPr/>
          <p:nvPr/>
        </p:nvSpPr>
        <p:spPr>
          <a:xfrm>
            <a:off x="4500205" y="1474470"/>
            <a:ext cx="3926919" cy="22860"/>
          </a:xfrm>
          <a:prstGeom prst="rect">
            <a:avLst/>
          </a:prstGeom>
          <a:solidFill>
            <a:srgbClr val="2196F3">
              <a:alpha val="50000"/>
            </a:srgbClr>
          </a:solidFill>
          <a:ln/>
          <a:effectLst>
            <a:outerShdw sx="100000" sy="100000" kx="0" ky="0" algn="bl" rotWithShape="0" blurRad="22860" dist="50800" dir="16200000">
              <a:srgbClr val="2196F3">
                <a:alpha val="6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179719" y="1411605"/>
            <a:ext cx="80010" cy="80010"/>
          </a:xfrm>
          <a:prstGeom prst="ellipse">
            <a:avLst/>
          </a:prstGeom>
          <a:solidFill>
            <a:srgbClr val="070B14"/>
          </a:solidFill>
          <a:ln w="11430">
            <a:solidFill>
              <a:srgbClr val="2196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66337" y="952173"/>
            <a:ext cx="1200150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spc="-1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1991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266337" y="1157913"/>
            <a:ext cx="115214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spc="108" kern="0" dirty="0">
                <a:solidFill>
                  <a:srgbClr val="8FA3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起点 · START</a:t>
            </a:r>
            <a:endParaRPr lang="en-US" sz="450" dirty="0"/>
          </a:p>
        </p:txBody>
      </p:sp>
      <p:sp>
        <p:nvSpPr>
          <p:cNvPr id="36" name="Text 34"/>
          <p:cNvSpPr/>
          <p:nvPr/>
        </p:nvSpPr>
        <p:spPr>
          <a:xfrm>
            <a:off x="4266337" y="1266498"/>
            <a:ext cx="1152144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495" spc="7" kern="0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内核首次公开</a:t>
            </a:r>
            <a:endParaRPr lang="en-US" sz="495" dirty="0"/>
          </a:p>
        </p:txBody>
      </p:sp>
      <p:sp>
        <p:nvSpPr>
          <p:cNvPr id="37" name="Shape 35"/>
          <p:cNvSpPr/>
          <p:nvPr/>
        </p:nvSpPr>
        <p:spPr>
          <a:xfrm>
            <a:off x="4740682" y="1423035"/>
            <a:ext cx="80010" cy="80010"/>
          </a:xfrm>
          <a:prstGeom prst="ellipse">
            <a:avLst/>
          </a:prstGeom>
          <a:solidFill>
            <a:srgbClr val="2196F3"/>
          </a:solidFill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152400" dist="50800" dir="16200000">
              <a:srgbClr val="2196F3">
                <a:alpha val="10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862608" y="1411605"/>
            <a:ext cx="80010" cy="80010"/>
          </a:xfrm>
          <a:prstGeom prst="ellipse">
            <a:avLst/>
          </a:prstGeom>
          <a:solidFill>
            <a:srgbClr val="070B14"/>
          </a:solidFill>
          <a:ln w="11430">
            <a:solidFill>
              <a:srgbClr val="2196F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91129" y="1411605"/>
            <a:ext cx="80010" cy="80010"/>
          </a:xfrm>
          <a:prstGeom prst="ellipse">
            <a:avLst/>
          </a:prstGeom>
          <a:solidFill>
            <a:srgbClr val="070B14"/>
          </a:solidFill>
          <a:ln w="11430">
            <a:solidFill>
              <a:srgbClr val="2196F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19561" y="1411605"/>
            <a:ext cx="80010" cy="80010"/>
          </a:xfrm>
          <a:prstGeom prst="ellipse">
            <a:avLst/>
          </a:prstGeom>
          <a:solidFill>
            <a:srgbClr val="070B14"/>
          </a:solidFill>
          <a:ln w="11430">
            <a:solidFill>
              <a:srgbClr val="2196F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25328" y="952173"/>
            <a:ext cx="1200150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b="1" spc="-1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7625328" y="1157913"/>
            <a:ext cx="115214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50" spc="108" kern="0" dirty="0">
                <a:solidFill>
                  <a:srgbClr val="8FA3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今日 · NOW</a:t>
            </a:r>
            <a:endParaRPr lang="en-US" sz="450" dirty="0"/>
          </a:p>
        </p:txBody>
      </p:sp>
      <p:sp>
        <p:nvSpPr>
          <p:cNvPr id="43" name="Text 41"/>
          <p:cNvSpPr/>
          <p:nvPr/>
        </p:nvSpPr>
        <p:spPr>
          <a:xfrm>
            <a:off x="7625328" y="1266498"/>
            <a:ext cx="1152144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495" spc="7" kern="0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云端 / 容器 / AI 训练底座</a:t>
            </a:r>
            <a:endParaRPr lang="en-US" sz="495" dirty="0"/>
          </a:p>
        </p:txBody>
      </p:sp>
      <p:sp>
        <p:nvSpPr>
          <p:cNvPr id="44" name="Shape 42"/>
          <p:cNvSpPr/>
          <p:nvPr/>
        </p:nvSpPr>
        <p:spPr>
          <a:xfrm>
            <a:off x="8574018" y="1423035"/>
            <a:ext cx="80010" cy="80010"/>
          </a:xfrm>
          <a:prstGeom prst="ellipse">
            <a:avLst/>
          </a:prstGeom>
          <a:solidFill>
            <a:srgbClr val="2196F3"/>
          </a:solidFill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152400" dist="50800" dir="16200000">
              <a:srgbClr val="2196F3">
                <a:alpha val="10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126230" y="2071688"/>
            <a:ext cx="228600" cy="5715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46" name="Text 44"/>
          <p:cNvSpPr/>
          <p:nvPr/>
        </p:nvSpPr>
        <p:spPr>
          <a:xfrm>
            <a:off x="4434840" y="2028825"/>
            <a:ext cx="1638705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b="1" spc="158" kern="0" dirty="0">
                <a:solidFill>
                  <a:srgbClr val="CBD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三个维度</a:t>
            </a:r>
            <a:pPr algn="l" indent="0" marL="0">
              <a:buNone/>
            </a:pPr>
            <a:r>
              <a:rPr lang="en-US" sz="495" b="1" spc="158" kern="0" dirty="0">
                <a:solidFill>
                  <a:srgbClr val="8FA3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THREE DIMENSIONS</a:t>
            </a:r>
            <a:endParaRPr lang="en-US" sz="495" dirty="0"/>
          </a:p>
        </p:txBody>
      </p:sp>
      <p:sp>
        <p:nvSpPr>
          <p:cNvPr id="47" name="Shape 45"/>
          <p:cNvSpPr/>
          <p:nvPr/>
        </p:nvSpPr>
        <p:spPr>
          <a:xfrm>
            <a:off x="4126230" y="2223135"/>
            <a:ext cx="1489650" cy="1060133"/>
          </a:xfrm>
          <a:prstGeom prst="roundRect">
            <a:avLst>
              <a:gd name="adj" fmla="val 1078"/>
            </a:avLst>
          </a:prstGeom>
          <a:gradFill rotWithShape="1">
            <a:gsLst>
              <a:gs pos="0">
                <a:srgbClr val="111A2E">
                  <a:alpha val="95000"/>
                </a:srgbClr>
              </a:gs>
              <a:gs pos="100000">
                <a:srgbClr val="152238">
                  <a:alpha val="85000"/>
                </a:srgbClr>
              </a:gs>
            </a:gsLst>
            <a:lin ang="2700000" scaled="0"/>
          </a:gradFill>
          <a:ln w="5715">
            <a:solidFill>
              <a:srgbClr val="637C9E">
                <a:alpha val="1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26230" y="2223135"/>
            <a:ext cx="11430" cy="1048703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49" name="Shape 47"/>
          <p:cNvSpPr/>
          <p:nvPr/>
        </p:nvSpPr>
        <p:spPr>
          <a:xfrm>
            <a:off x="5147249" y="2223135"/>
            <a:ext cx="457200" cy="457200"/>
          </a:xfrm>
          <a:prstGeom prst="rect">
            <a:avLst/>
          </a:prstGeom>
          <a:solidFill>
            <a:srgbClr val="2196F3">
              <a:alpha val="18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4257675" y="2343150"/>
            <a:ext cx="17305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119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540" dirty="0"/>
          </a:p>
        </p:txBody>
      </p:sp>
      <p:sp>
        <p:nvSpPr>
          <p:cNvPr id="51" name="Shape 49"/>
          <p:cNvSpPr/>
          <p:nvPr/>
        </p:nvSpPr>
        <p:spPr>
          <a:xfrm>
            <a:off x="4430732" y="2383155"/>
            <a:ext cx="655707" cy="5715"/>
          </a:xfrm>
          <a:prstGeom prst="rect">
            <a:avLst/>
          </a:prstGeom>
          <a:gradFill rotWithShape="1">
            <a:gsLst>
              <a:gs pos="0">
                <a:srgbClr val="2196F3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2" name="Text 50"/>
          <p:cNvSpPr/>
          <p:nvPr/>
        </p:nvSpPr>
        <p:spPr>
          <a:xfrm>
            <a:off x="5155019" y="2354580"/>
            <a:ext cx="380851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113" kern="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</a:t>
            </a:r>
            <a:endParaRPr lang="en-US" sz="405" dirty="0"/>
          </a:p>
        </p:txBody>
      </p:sp>
      <p:sp>
        <p:nvSpPr>
          <p:cNvPr id="53" name="Text 51"/>
          <p:cNvSpPr/>
          <p:nvPr/>
        </p:nvSpPr>
        <p:spPr>
          <a:xfrm>
            <a:off x="4257675" y="2508885"/>
            <a:ext cx="1373972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18" kern="0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历史回溯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257675" y="2720340"/>
            <a:ext cx="1373972" cy="364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b="1" spc="7" kern="0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1991</a:t>
            </a:r>
            <a:pPr algn="l" indent="0" marL="0">
              <a:lnSpc>
                <a:spcPct val="170000"/>
              </a:lnSpc>
              <a:buNone/>
            </a:pPr>
            <a:r>
              <a:rPr lang="en-US" sz="563" spc="7" kern="0" dirty="0">
                <a:solidFill>
                  <a:srgbClr val="8FA3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年 Linus Torvalds 的一句</a:t>
            </a:r>
            <a:pPr algn="l" indent="0" marL="0">
              <a:lnSpc>
                <a:spcPct val="170000"/>
              </a:lnSpc>
              <a:buNone/>
            </a:pPr>
            <a:r>
              <a:rPr lang="en-US" sz="563" b="1" spc="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开源宣言</a:t>
            </a:r>
            <a:pPr algn="l" indent="0" marL="0">
              <a:lnSpc>
                <a:spcPct val="170000"/>
              </a:lnSpc>
              <a:buNone/>
            </a:pPr>
            <a:r>
              <a:rPr lang="en-US" sz="563" spc="7" kern="0" dirty="0">
                <a:solidFill>
                  <a:srgbClr val="8FA3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，开启了贯穿三十余年的产业革命。</a:t>
            </a:r>
            <a:endParaRPr lang="en-US" sz="563" dirty="0"/>
          </a:p>
        </p:txBody>
      </p:sp>
      <p:sp>
        <p:nvSpPr>
          <p:cNvPr id="55" name="Shape 53"/>
          <p:cNvSpPr/>
          <p:nvPr/>
        </p:nvSpPr>
        <p:spPr>
          <a:xfrm>
            <a:off x="5718750" y="2223135"/>
            <a:ext cx="1489740" cy="1060133"/>
          </a:xfrm>
          <a:prstGeom prst="roundRect">
            <a:avLst>
              <a:gd name="adj" fmla="val 1078"/>
            </a:avLst>
          </a:prstGeom>
          <a:gradFill rotWithShape="1">
            <a:gsLst>
              <a:gs pos="0">
                <a:srgbClr val="111A2E">
                  <a:alpha val="95000"/>
                </a:srgbClr>
              </a:gs>
              <a:gs pos="100000">
                <a:srgbClr val="152238">
                  <a:alpha val="85000"/>
                </a:srgbClr>
              </a:gs>
            </a:gsLst>
            <a:lin ang="2700000" scaled="0"/>
          </a:gradFill>
          <a:ln w="5715">
            <a:solidFill>
              <a:srgbClr val="637C9E">
                <a:alpha val="1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718750" y="2223135"/>
            <a:ext cx="11430" cy="1048703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57" name="Shape 55"/>
          <p:cNvSpPr/>
          <p:nvPr/>
        </p:nvSpPr>
        <p:spPr>
          <a:xfrm>
            <a:off x="6739861" y="2223135"/>
            <a:ext cx="457200" cy="457200"/>
          </a:xfrm>
          <a:prstGeom prst="rect">
            <a:avLst/>
          </a:prstGeom>
          <a:solidFill>
            <a:srgbClr val="2196F3">
              <a:alpha val="1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5850195" y="2343150"/>
            <a:ext cx="19020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119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540" dirty="0"/>
          </a:p>
        </p:txBody>
      </p:sp>
      <p:sp>
        <p:nvSpPr>
          <p:cNvPr id="59" name="Shape 57"/>
          <p:cNvSpPr/>
          <p:nvPr/>
        </p:nvSpPr>
        <p:spPr>
          <a:xfrm>
            <a:off x="6040398" y="2383155"/>
            <a:ext cx="713125" cy="5715"/>
          </a:xfrm>
          <a:prstGeom prst="rect">
            <a:avLst/>
          </a:prstGeom>
          <a:gradFill rotWithShape="1">
            <a:gsLst>
              <a:gs pos="0">
                <a:srgbClr val="2196F3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0" name="Text 58"/>
          <p:cNvSpPr/>
          <p:nvPr/>
        </p:nvSpPr>
        <p:spPr>
          <a:xfrm>
            <a:off x="6822103" y="2354580"/>
            <a:ext cx="306378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113" kern="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</a:t>
            </a:r>
            <a:endParaRPr lang="en-US" sz="405" dirty="0"/>
          </a:p>
        </p:txBody>
      </p:sp>
      <p:sp>
        <p:nvSpPr>
          <p:cNvPr id="61" name="Text 59"/>
          <p:cNvSpPr/>
          <p:nvPr/>
        </p:nvSpPr>
        <p:spPr>
          <a:xfrm>
            <a:off x="5850195" y="2508885"/>
            <a:ext cx="1374072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18" kern="0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商业模式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850195" y="2720340"/>
            <a:ext cx="1374072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spc="7" kern="0" dirty="0">
                <a:solidFill>
                  <a:srgbClr val="8FA3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</a:t>
            </a:r>
            <a:pPr algn="l" indent="0" marL="0">
              <a:lnSpc>
                <a:spcPct val="170000"/>
              </a:lnSpc>
              <a:buNone/>
            </a:pPr>
            <a:r>
              <a:rPr lang="en-US" sz="563" b="1" spc="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服务</a:t>
            </a:r>
            <a:pPr algn="l" indent="0" marL="0">
              <a:lnSpc>
                <a:spcPct val="170000"/>
              </a:lnSpc>
              <a:buNone/>
            </a:pPr>
            <a:r>
              <a:rPr lang="en-US" sz="563" spc="7" kern="0" dirty="0">
                <a:solidFill>
                  <a:srgbClr val="8FA3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l" indent="0" marL="0">
              <a:lnSpc>
                <a:spcPct val="170000"/>
              </a:lnSpc>
              <a:buNone/>
            </a:pPr>
            <a:r>
              <a:rPr lang="en-US" sz="563" b="1" spc="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发行版</a:t>
            </a:r>
            <a:pPr algn="l" indent="0" marL="0">
              <a:lnSpc>
                <a:spcPct val="170000"/>
              </a:lnSpc>
              <a:buNone/>
            </a:pPr>
            <a:r>
              <a:rPr lang="en-US" sz="563" spc="7" kern="0" dirty="0">
                <a:solidFill>
                  <a:srgbClr val="8FA3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</a:t>
            </a:r>
            <a:pPr algn="l" indent="0" marL="0">
              <a:lnSpc>
                <a:spcPct val="170000"/>
              </a:lnSpc>
              <a:buNone/>
            </a:pPr>
            <a:r>
              <a:rPr lang="en-US" sz="563" b="1" spc="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托管</a:t>
            </a:r>
            <a:pPr algn="l" indent="0" marL="0">
              <a:lnSpc>
                <a:spcPct val="170000"/>
              </a:lnSpc>
              <a:buNone/>
            </a:pPr>
            <a:r>
              <a:rPr lang="en-US" sz="563" spc="7" kern="0" dirty="0">
                <a:solidFill>
                  <a:srgbClr val="8FA3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获取商业回报，已成一条成熟且可复制的路径。</a:t>
            </a:r>
            <a:endParaRPr lang="en-US" sz="563" dirty="0"/>
          </a:p>
        </p:txBody>
      </p:sp>
      <p:sp>
        <p:nvSpPr>
          <p:cNvPr id="63" name="Shape 61"/>
          <p:cNvSpPr/>
          <p:nvPr/>
        </p:nvSpPr>
        <p:spPr>
          <a:xfrm>
            <a:off x="7311360" y="2223135"/>
            <a:ext cx="1489650" cy="1060133"/>
          </a:xfrm>
          <a:prstGeom prst="roundRect">
            <a:avLst>
              <a:gd name="adj" fmla="val 1078"/>
            </a:avLst>
          </a:prstGeom>
          <a:gradFill rotWithShape="1">
            <a:gsLst>
              <a:gs pos="0">
                <a:srgbClr val="111A2E">
                  <a:alpha val="95000"/>
                </a:srgbClr>
              </a:gs>
              <a:gs pos="100000">
                <a:srgbClr val="152238">
                  <a:alpha val="85000"/>
                </a:srgbClr>
              </a:gs>
            </a:gsLst>
            <a:lin ang="2700000" scaled="0"/>
          </a:gradFill>
          <a:ln w="5715">
            <a:solidFill>
              <a:srgbClr val="637C9E">
                <a:alpha val="1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11360" y="2223135"/>
            <a:ext cx="11430" cy="1048703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65" name="Shape 63"/>
          <p:cNvSpPr/>
          <p:nvPr/>
        </p:nvSpPr>
        <p:spPr>
          <a:xfrm>
            <a:off x="8332379" y="2223135"/>
            <a:ext cx="457200" cy="457200"/>
          </a:xfrm>
          <a:prstGeom prst="rect">
            <a:avLst/>
          </a:prstGeom>
          <a:solidFill>
            <a:srgbClr val="2196F3">
              <a:alpha val="1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7442805" y="2343150"/>
            <a:ext cx="19020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119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540" dirty="0"/>
          </a:p>
        </p:txBody>
      </p:sp>
      <p:sp>
        <p:nvSpPr>
          <p:cNvPr id="67" name="Shape 65"/>
          <p:cNvSpPr/>
          <p:nvPr/>
        </p:nvSpPr>
        <p:spPr>
          <a:xfrm>
            <a:off x="7633008" y="2383155"/>
            <a:ext cx="518279" cy="5715"/>
          </a:xfrm>
          <a:prstGeom prst="rect">
            <a:avLst/>
          </a:prstGeom>
          <a:gradFill rotWithShape="1">
            <a:gsLst>
              <a:gs pos="0">
                <a:srgbClr val="2196F3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8" name="Text 66"/>
          <p:cNvSpPr/>
          <p:nvPr/>
        </p:nvSpPr>
        <p:spPr>
          <a:xfrm>
            <a:off x="8219867" y="2354580"/>
            <a:ext cx="503663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113" kern="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ECOSYSTEM</a:t>
            </a:r>
            <a:endParaRPr lang="en-US" sz="405" dirty="0"/>
          </a:p>
        </p:txBody>
      </p:sp>
      <p:sp>
        <p:nvSpPr>
          <p:cNvPr id="69" name="Text 67"/>
          <p:cNvSpPr/>
          <p:nvPr/>
        </p:nvSpPr>
        <p:spPr>
          <a:xfrm>
            <a:off x="7442805" y="2508885"/>
            <a:ext cx="1373972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18" kern="0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生态全景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442805" y="2720340"/>
            <a:ext cx="1373972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spc="7" kern="0" dirty="0">
                <a:solidFill>
                  <a:srgbClr val="8FA3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云端、容器与 AI 训练等现代基础设施，几乎</a:t>
            </a:r>
            <a:pPr algn="l" indent="0" marL="0">
              <a:lnSpc>
                <a:spcPct val="170000"/>
              </a:lnSpc>
              <a:buNone/>
            </a:pPr>
            <a:r>
              <a:rPr lang="en-US" sz="563" b="1" spc="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跑在 Linux 之上</a:t>
            </a:r>
            <a:pPr algn="l" indent="0" marL="0">
              <a:lnSpc>
                <a:spcPct val="170000"/>
              </a:lnSpc>
              <a:buNone/>
            </a:pPr>
            <a:r>
              <a:rPr lang="en-US" sz="563" spc="7" kern="0" dirty="0">
                <a:solidFill>
                  <a:srgbClr val="8FA3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563" dirty="0"/>
          </a:p>
        </p:txBody>
      </p:sp>
      <p:sp>
        <p:nvSpPr>
          <p:cNvPr id="71" name="Shape 69"/>
          <p:cNvSpPr/>
          <p:nvPr/>
        </p:nvSpPr>
        <p:spPr>
          <a:xfrm>
            <a:off x="7442805" y="3020378"/>
            <a:ext cx="298341" cy="131445"/>
          </a:xfrm>
          <a:prstGeom prst="roundRect">
            <a:avLst>
              <a:gd name="adj" fmla="val 4348"/>
            </a:avLst>
          </a:prstGeom>
          <a:noFill/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442805" y="3020378"/>
            <a:ext cx="355491" cy="13144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63" kern="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云计算</a:t>
            </a:r>
            <a:endParaRPr lang="en-US" sz="450" dirty="0"/>
          </a:p>
        </p:txBody>
      </p:sp>
      <p:sp>
        <p:nvSpPr>
          <p:cNvPr id="73" name="Shape 71"/>
          <p:cNvSpPr/>
          <p:nvPr/>
        </p:nvSpPr>
        <p:spPr>
          <a:xfrm>
            <a:off x="7798296" y="3020378"/>
            <a:ext cx="233243" cy="131445"/>
          </a:xfrm>
          <a:prstGeom prst="roundRect">
            <a:avLst>
              <a:gd name="adj" fmla="val 4348"/>
            </a:avLst>
          </a:prstGeom>
          <a:noFill/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798296" y="3020378"/>
            <a:ext cx="290393" cy="13144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63" kern="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容器</a:t>
            </a:r>
            <a:endParaRPr lang="en-US" sz="450" dirty="0"/>
          </a:p>
        </p:txBody>
      </p:sp>
      <p:sp>
        <p:nvSpPr>
          <p:cNvPr id="75" name="Shape 73"/>
          <p:cNvSpPr/>
          <p:nvPr/>
        </p:nvSpPr>
        <p:spPr>
          <a:xfrm>
            <a:off x="8088690" y="3020378"/>
            <a:ext cx="331470" cy="131445"/>
          </a:xfrm>
          <a:prstGeom prst="roundRect">
            <a:avLst>
              <a:gd name="adj" fmla="val 4348"/>
            </a:avLst>
          </a:prstGeom>
          <a:noFill/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088690" y="3020378"/>
            <a:ext cx="388620" cy="13144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63" kern="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训练</a:t>
            </a:r>
            <a:endParaRPr lang="en-US" sz="450" dirty="0"/>
          </a:p>
        </p:txBody>
      </p:sp>
      <p:sp>
        <p:nvSpPr>
          <p:cNvPr id="77" name="Shape 75"/>
          <p:cNvSpPr/>
          <p:nvPr/>
        </p:nvSpPr>
        <p:spPr>
          <a:xfrm>
            <a:off x="342900" y="4519136"/>
            <a:ext cx="84582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2196F3">
                  <a:alpha val="35000"/>
                </a:srgbClr>
              </a:gs>
              <a:gs pos="80000">
                <a:srgbClr val="2196F3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8" name="Shape 76"/>
          <p:cNvSpPr/>
          <p:nvPr/>
        </p:nvSpPr>
        <p:spPr>
          <a:xfrm>
            <a:off x="342900" y="4622006"/>
            <a:ext cx="554891" cy="160020"/>
          </a:xfrm>
          <a:prstGeom prst="roundRect">
            <a:avLst>
              <a:gd name="adj" fmla="val 7143"/>
            </a:avLst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17195" y="4687729"/>
            <a:ext cx="28575" cy="28575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491490" y="4656296"/>
            <a:ext cx="394871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58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过渡引导</a:t>
            </a:r>
            <a:endParaRPr lang="en-US" sz="495" dirty="0"/>
          </a:p>
        </p:txBody>
      </p:sp>
      <p:sp>
        <p:nvSpPr>
          <p:cNvPr id="81" name="Text 79"/>
          <p:cNvSpPr/>
          <p:nvPr/>
        </p:nvSpPr>
        <p:spPr>
          <a:xfrm>
            <a:off x="1023521" y="4622006"/>
            <a:ext cx="8710889" cy="270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spc="12" kern="0" dirty="0">
                <a:solidFill>
                  <a:srgbClr val="CBD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进入</a:t>
            </a:r>
            <a:pPr algn="l" indent="0" marL="0">
              <a:lnSpc>
                <a:spcPct val="175000"/>
              </a:lnSpc>
              <a:buNone/>
            </a:pPr>
            <a:r>
              <a:rPr lang="en-US" sz="608" b="1" spc="12" kern="0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第二部分</a:t>
            </a:r>
            <a:pPr algn="l" indent="0" marL="0">
              <a:lnSpc>
                <a:spcPct val="175000"/>
              </a:lnSpc>
              <a:buNone/>
            </a:pPr>
            <a:r>
              <a:rPr lang="en-US" sz="608" spc="12" kern="0" dirty="0">
                <a:solidFill>
                  <a:srgbClr val="CBD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，我们把镜头从理论拉回到</a:t>
            </a:r>
            <a:pPr algn="l" indent="0" marL="0">
              <a:lnSpc>
                <a:spcPct val="175000"/>
              </a:lnSpc>
              <a:buNone/>
            </a:pPr>
            <a:r>
              <a:rPr lang="en-US" sz="608" b="1" spc="12" kern="0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</a:t>
            </a:r>
            <a:pPr algn="l" indent="0" marL="0">
              <a:lnSpc>
                <a:spcPct val="175000"/>
              </a:lnSpc>
              <a:buNone/>
            </a:pPr>
            <a:r>
              <a:rPr lang="en-US" sz="608" spc="12" kern="0" dirty="0">
                <a:solidFill>
                  <a:srgbClr val="CBD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这个最成功的开源项目。它是开源经济学的</a:t>
            </a:r>
            <a:pPr algn="l" indent="0" marL="0">
              <a:lnSpc>
                <a:spcPct val="175000"/>
              </a:lnSpc>
              <a:buNone/>
            </a:pPr>
            <a:r>
              <a:rPr lang="en-US" sz="608" b="1" spc="12" kern="0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最好教材</a:t>
            </a:r>
            <a:pPr algn="l" indent="0" marL="0">
              <a:lnSpc>
                <a:spcPct val="175000"/>
              </a:lnSpc>
              <a:buNone/>
            </a:pPr>
            <a:r>
              <a:rPr lang="en-US" sz="608" spc="12" kern="0" dirty="0">
                <a:solidFill>
                  <a:srgbClr val="CBD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，也是最直接的</a:t>
            </a:r>
            <a:pPr algn="l" indent="0" marL="0">
              <a:lnSpc>
                <a:spcPct val="175000"/>
              </a:lnSpc>
              <a:buNone/>
            </a:pPr>
            <a:r>
              <a:rPr lang="en-US" sz="608" b="1" spc="12" kern="0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商业样本</a:t>
            </a:r>
            <a:pPr algn="l" indent="0" marL="0">
              <a:lnSpc>
                <a:spcPct val="175000"/>
              </a:lnSpc>
              <a:buNone/>
            </a:pPr>
            <a:r>
              <a:rPr lang="en-US" sz="608" spc="12" kern="0" dirty="0">
                <a:solidFill>
                  <a:srgbClr val="CBD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。接下来几页将沿着</a:t>
            </a:r>
            <a:pPr algn="l" indent="0" marL="0">
              <a:lnSpc>
                <a:spcPct val="175000"/>
              </a:lnSpc>
              <a:buNone/>
            </a:pPr>
            <a:r>
              <a:rPr lang="en-US" sz="608" b="1" spc="12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时间线</a:t>
            </a:r>
            <a:pPr algn="l" indent="0" marL="0">
              <a:lnSpc>
                <a:spcPct val="175000"/>
              </a:lnSpc>
              <a:buNone/>
            </a:pPr>
            <a:r>
              <a:rPr lang="en-US" sz="608" spc="12" kern="0" dirty="0">
                <a:solidFill>
                  <a:srgbClr val="CBD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</a:t>
            </a:r>
            <a:pPr algn="l" indent="0" marL="0">
              <a:lnSpc>
                <a:spcPct val="175000"/>
              </a:lnSpc>
              <a:buNone/>
            </a:pPr>
            <a:r>
              <a:rPr lang="en-US" sz="608" b="1" spc="12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产业线</a:t>
            </a:r>
            <a:pPr algn="l" indent="0" marL="0">
              <a:lnSpc>
                <a:spcPct val="175000"/>
              </a:lnSpc>
              <a:buNone/>
            </a:pPr>
            <a:r>
              <a:rPr lang="en-US" sz="608" spc="12" kern="0" dirty="0">
                <a:solidFill>
                  <a:srgbClr val="CBD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，拆解 Linux 如何从一个爱好项目成长为全球 IT 的</a:t>
            </a:r>
            <a:pPr algn="l" indent="0" marL="0">
              <a:lnSpc>
                <a:spcPct val="175000"/>
              </a:lnSpc>
              <a:buNone/>
            </a:pPr>
            <a:r>
              <a:rPr lang="en-US" sz="608" b="1" spc="12" kern="0" dirty="0">
                <a:solidFill>
                  <a:srgbClr val="F7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隐形底座</a:t>
            </a:r>
            <a:pPr algn="l" indent="0" marL="0">
              <a:lnSpc>
                <a:spcPct val="175000"/>
              </a:lnSpc>
              <a:buNone/>
            </a:pPr>
            <a:r>
              <a:rPr lang="en-US" sz="608" spc="12" kern="0" dirty="0">
                <a:solidFill>
                  <a:srgbClr val="CBD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60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A1729"/>
              </a:gs>
              <a:gs pos="45000">
                <a:srgbClr val="050A14"/>
              </a:gs>
              <a:gs pos="100000">
                <a:srgbClr val="08131F"/>
              </a:gs>
            </a:gsLst>
            <a:lin ang="39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55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55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-1485900" y="-1828800"/>
            <a:ext cx="5143500" cy="5143500"/>
          </a:xfrm>
          <a:prstGeom prst="rect">
            <a:avLst/>
          </a:prstGeom>
          <a:solidFill>
            <a:srgbClr val="2196F3">
              <a:alpha val="2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0" y="1943100"/>
            <a:ext cx="5143500" cy="5143500"/>
          </a:xfrm>
          <a:prstGeom prst="rect">
            <a:avLst/>
          </a:prstGeom>
          <a:solidFill>
            <a:srgbClr val="00BCD4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543800" y="-1028700"/>
            <a:ext cx="2628900" cy="2628900"/>
          </a:xfrm>
          <a:prstGeom prst="rect">
            <a:avLst/>
          </a:prstGeom>
          <a:solidFill>
            <a:srgbClr val="2196F3">
              <a:alpha val="1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-1028700" y="3543300"/>
            <a:ext cx="2628900" cy="2628900"/>
          </a:xfrm>
          <a:prstGeom prst="rect">
            <a:avLst/>
          </a:prstGeom>
          <a:solidFill>
            <a:srgbClr val="2196F3">
              <a:alpha val="1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017270"/>
            <a:ext cx="91440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9" name="Shape 7"/>
          <p:cNvSpPr/>
          <p:nvPr/>
        </p:nvSpPr>
        <p:spPr>
          <a:xfrm>
            <a:off x="0" y="2777490"/>
            <a:ext cx="91440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0" name="Shape 8"/>
          <p:cNvSpPr/>
          <p:nvPr/>
        </p:nvSpPr>
        <p:spPr>
          <a:xfrm>
            <a:off x="0" y="4274820"/>
            <a:ext cx="91440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1" name="Shape 9"/>
          <p:cNvSpPr/>
          <p:nvPr/>
        </p:nvSpPr>
        <p:spPr>
          <a:xfrm>
            <a:off x="342900" y="291465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11468"/>
            <a:ext cx="240030" cy="571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3" name="Text 11"/>
          <p:cNvSpPr/>
          <p:nvPr/>
        </p:nvSpPr>
        <p:spPr>
          <a:xfrm>
            <a:off x="765810" y="274320"/>
            <a:ext cx="202265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18" spc="18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EVOLUTION TIMELINE · 1991–2020</a:t>
            </a:r>
            <a:endParaRPr lang="en-US" sz="518" dirty="0"/>
          </a:p>
        </p:txBody>
      </p:sp>
      <p:sp>
        <p:nvSpPr>
          <p:cNvPr id="14" name="Text 12"/>
          <p:cNvSpPr/>
          <p:nvPr/>
        </p:nvSpPr>
        <p:spPr>
          <a:xfrm>
            <a:off x="342900" y="434340"/>
            <a:ext cx="5120640" cy="3455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20" b="1" spc="-38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</a:t>
            </a:r>
            <a:pPr algn="l" indent="0" marL="0">
              <a:lnSpc>
                <a:spcPct val="108000"/>
              </a:lnSpc>
              <a:buNone/>
            </a:pPr>
            <a:r>
              <a:rPr lang="en-US" sz="2520" b="1" spc="-38" kern="0" dirty="0">
                <a:solidFill>
                  <a:srgbClr val="E5ED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的演进时间线</a:t>
            </a:r>
            <a:endParaRPr lang="en-US" sz="2520" dirty="0"/>
          </a:p>
        </p:txBody>
      </p:sp>
      <p:sp>
        <p:nvSpPr>
          <p:cNvPr id="15" name="Text 13"/>
          <p:cNvSpPr/>
          <p:nvPr/>
        </p:nvSpPr>
        <p:spPr>
          <a:xfrm>
            <a:off x="342900" y="411480"/>
            <a:ext cx="1170503" cy="3886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20" b="1" spc="-3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</a:t>
            </a:r>
            <a:endParaRPr lang="en-US" sz="2520" dirty="0"/>
          </a:p>
        </p:txBody>
      </p:sp>
      <p:sp>
        <p:nvSpPr>
          <p:cNvPr id="16" name="Text 14"/>
          <p:cNvSpPr/>
          <p:nvPr/>
        </p:nvSpPr>
        <p:spPr>
          <a:xfrm>
            <a:off x="342900" y="859929"/>
            <a:ext cx="5120640" cy="14573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65" spc="15" kern="0" dirty="0">
                <a:solidFill>
                  <a:srgbClr val="8FA3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从爱好者内核到全球操作系统基石</a:t>
            </a:r>
            <a:endParaRPr lang="en-US" sz="765" dirty="0"/>
          </a:p>
        </p:txBody>
      </p:sp>
      <p:sp>
        <p:nvSpPr>
          <p:cNvPr id="17" name="Shape 15"/>
          <p:cNvSpPr/>
          <p:nvPr/>
        </p:nvSpPr>
        <p:spPr>
          <a:xfrm>
            <a:off x="5143500" y="251460"/>
            <a:ext cx="1165860" cy="690086"/>
          </a:xfrm>
          <a:prstGeom prst="roundRect">
            <a:avLst>
              <a:gd name="adj" fmla="val 9938"/>
            </a:avLst>
          </a:prstGeom>
          <a:gradFill rotWithShape="1">
            <a:gsLst>
              <a:gs pos="0">
                <a:srgbClr val="2196F3">
                  <a:alpha val="14000"/>
                </a:srgbClr>
              </a:gs>
              <a:gs pos="100000">
                <a:srgbClr val="00BCD4">
                  <a:alpha val="4000"/>
                </a:srgbClr>
              </a:gs>
            </a:gsLst>
            <a:lin ang="30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43500" y="251460"/>
            <a:ext cx="115443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9" name="Shape 17"/>
          <p:cNvSpPr/>
          <p:nvPr/>
        </p:nvSpPr>
        <p:spPr>
          <a:xfrm>
            <a:off x="5955030" y="587216"/>
            <a:ext cx="514350" cy="514350"/>
          </a:xfrm>
          <a:prstGeom prst="rect">
            <a:avLst/>
          </a:prstGeom>
          <a:solidFill>
            <a:srgbClr val="00BCD4">
              <a:alpha val="1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240655" y="360045"/>
            <a:ext cx="1165860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30" b="1" spc="-1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95%+</a:t>
            </a:r>
            <a:endParaRPr lang="en-US" sz="1530" dirty="0"/>
          </a:p>
        </p:txBody>
      </p:sp>
      <p:sp>
        <p:nvSpPr>
          <p:cNvPr id="21" name="Text 19"/>
          <p:cNvSpPr/>
          <p:nvPr/>
        </p:nvSpPr>
        <p:spPr>
          <a:xfrm>
            <a:off x="5240655" y="622935"/>
            <a:ext cx="1088136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8" kern="0" dirty="0">
                <a:solidFill>
                  <a:srgbClr val="E5ED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云端渗透</a:t>
            </a:r>
            <a:endParaRPr lang="en-US" sz="585" dirty="0"/>
          </a:p>
        </p:txBody>
      </p:sp>
      <p:sp>
        <p:nvSpPr>
          <p:cNvPr id="22" name="Text 20"/>
          <p:cNvSpPr/>
          <p:nvPr/>
        </p:nvSpPr>
        <p:spPr>
          <a:xfrm>
            <a:off x="5240655" y="754380"/>
            <a:ext cx="1088136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spc="7" kern="0" dirty="0">
                <a:solidFill>
                  <a:srgbClr val="8FA3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顶级云服务器 Linux 系占比</a:t>
            </a:r>
            <a:endParaRPr lang="en-US" sz="473" dirty="0"/>
          </a:p>
        </p:txBody>
      </p:sp>
      <p:sp>
        <p:nvSpPr>
          <p:cNvPr id="23" name="Shape 21"/>
          <p:cNvSpPr/>
          <p:nvPr/>
        </p:nvSpPr>
        <p:spPr>
          <a:xfrm>
            <a:off x="6389370" y="251460"/>
            <a:ext cx="1165860" cy="690086"/>
          </a:xfrm>
          <a:prstGeom prst="roundRect">
            <a:avLst>
              <a:gd name="adj" fmla="val 9938"/>
            </a:avLst>
          </a:prstGeom>
          <a:gradFill rotWithShape="1">
            <a:gsLst>
              <a:gs pos="0">
                <a:srgbClr val="2196F3">
                  <a:alpha val="14000"/>
                </a:srgbClr>
              </a:gs>
              <a:gs pos="100000">
                <a:srgbClr val="00BCD4">
                  <a:alpha val="4000"/>
                </a:srgbClr>
              </a:gs>
            </a:gsLst>
            <a:lin ang="30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89370" y="251460"/>
            <a:ext cx="115443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25" name="Shape 23"/>
          <p:cNvSpPr/>
          <p:nvPr/>
        </p:nvSpPr>
        <p:spPr>
          <a:xfrm>
            <a:off x="7200900" y="587216"/>
            <a:ext cx="514350" cy="514350"/>
          </a:xfrm>
          <a:prstGeom prst="rect">
            <a:avLst/>
          </a:prstGeom>
          <a:solidFill>
            <a:srgbClr val="00BCD4">
              <a:alpha val="1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86525" y="360045"/>
            <a:ext cx="1165860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30" b="1" spc="-1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数十亿</a:t>
            </a:r>
            <a:endParaRPr lang="en-US" sz="1530" dirty="0"/>
          </a:p>
        </p:txBody>
      </p:sp>
      <p:sp>
        <p:nvSpPr>
          <p:cNvPr id="27" name="Text 25"/>
          <p:cNvSpPr/>
          <p:nvPr/>
        </p:nvSpPr>
        <p:spPr>
          <a:xfrm>
            <a:off x="6486525" y="622935"/>
            <a:ext cx="1088136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8" kern="0" dirty="0">
                <a:solidFill>
                  <a:srgbClr val="E5ED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移动装机</a:t>
            </a:r>
            <a:endParaRPr lang="en-US" sz="585" dirty="0"/>
          </a:p>
        </p:txBody>
      </p:sp>
      <p:sp>
        <p:nvSpPr>
          <p:cNvPr id="28" name="Text 26"/>
          <p:cNvSpPr/>
          <p:nvPr/>
        </p:nvSpPr>
        <p:spPr>
          <a:xfrm>
            <a:off x="6486525" y="754380"/>
            <a:ext cx="1088136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spc="7" kern="0" dirty="0">
                <a:solidFill>
                  <a:srgbClr val="8FA3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Android 覆盖设备数级别</a:t>
            </a:r>
            <a:endParaRPr lang="en-US" sz="473" dirty="0"/>
          </a:p>
        </p:txBody>
      </p:sp>
      <p:sp>
        <p:nvSpPr>
          <p:cNvPr id="29" name="Shape 27"/>
          <p:cNvSpPr/>
          <p:nvPr/>
        </p:nvSpPr>
        <p:spPr>
          <a:xfrm>
            <a:off x="7635240" y="251460"/>
            <a:ext cx="1165860" cy="690086"/>
          </a:xfrm>
          <a:prstGeom prst="roundRect">
            <a:avLst>
              <a:gd name="adj" fmla="val 9938"/>
            </a:avLst>
          </a:prstGeom>
          <a:gradFill rotWithShape="1">
            <a:gsLst>
              <a:gs pos="0">
                <a:srgbClr val="2196F3">
                  <a:alpha val="14000"/>
                </a:srgbClr>
              </a:gs>
              <a:gs pos="100000">
                <a:srgbClr val="00BCD4">
                  <a:alpha val="4000"/>
                </a:srgbClr>
              </a:gs>
            </a:gsLst>
            <a:lin ang="30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35240" y="251460"/>
            <a:ext cx="115443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31" name="Shape 29"/>
          <p:cNvSpPr/>
          <p:nvPr/>
        </p:nvSpPr>
        <p:spPr>
          <a:xfrm>
            <a:off x="8446770" y="587216"/>
            <a:ext cx="514350" cy="514350"/>
          </a:xfrm>
          <a:prstGeom prst="rect">
            <a:avLst/>
          </a:prstGeom>
          <a:solidFill>
            <a:srgbClr val="00BCD4">
              <a:alpha val="1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732395" y="360045"/>
            <a:ext cx="1165860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30" b="1" spc="-1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30+ 年</a:t>
            </a:r>
            <a:endParaRPr lang="en-US" sz="1530" dirty="0"/>
          </a:p>
        </p:txBody>
      </p:sp>
      <p:sp>
        <p:nvSpPr>
          <p:cNvPr id="33" name="Text 31"/>
          <p:cNvSpPr/>
          <p:nvPr/>
        </p:nvSpPr>
        <p:spPr>
          <a:xfrm>
            <a:off x="7732395" y="622935"/>
            <a:ext cx="1088136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8" kern="0" dirty="0">
                <a:solidFill>
                  <a:srgbClr val="E5ED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演进跨度</a:t>
            </a:r>
            <a:endParaRPr lang="en-US" sz="585" dirty="0"/>
          </a:p>
        </p:txBody>
      </p:sp>
      <p:sp>
        <p:nvSpPr>
          <p:cNvPr id="34" name="Text 32"/>
          <p:cNvSpPr/>
          <p:nvPr/>
        </p:nvSpPr>
        <p:spPr>
          <a:xfrm>
            <a:off x="7732395" y="754380"/>
            <a:ext cx="1088136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spc="7" kern="0" dirty="0">
                <a:solidFill>
                  <a:srgbClr val="8FA3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1991 至今</a:t>
            </a:r>
            <a:endParaRPr lang="en-US" sz="473" dirty="0"/>
          </a:p>
        </p:txBody>
      </p:sp>
      <p:sp>
        <p:nvSpPr>
          <p:cNvPr id="35" name="Text 33"/>
          <p:cNvSpPr/>
          <p:nvPr/>
        </p:nvSpPr>
        <p:spPr>
          <a:xfrm>
            <a:off x="342900" y="1177111"/>
            <a:ext cx="17716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540" dirty="0"/>
          </a:p>
        </p:txBody>
      </p:sp>
      <p:sp>
        <p:nvSpPr>
          <p:cNvPr id="36" name="Shape 34"/>
          <p:cNvSpPr/>
          <p:nvPr/>
        </p:nvSpPr>
        <p:spPr>
          <a:xfrm>
            <a:off x="531495" y="1217116"/>
            <a:ext cx="6343650" cy="5715"/>
          </a:xfrm>
          <a:prstGeom prst="rect">
            <a:avLst/>
          </a:prstGeom>
          <a:gradFill rotWithShape="1">
            <a:gsLst>
              <a:gs pos="0">
                <a:srgbClr val="2196F3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7" name="Text 35"/>
          <p:cNvSpPr/>
          <p:nvPr/>
        </p:nvSpPr>
        <p:spPr>
          <a:xfrm>
            <a:off x="6955155" y="1179969"/>
            <a:ext cx="206745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80" kern="0" dirty="0">
                <a:solidFill>
                  <a:srgbClr val="6B7E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DECADES · FIVE MILESTONES</a:t>
            </a:r>
            <a:endParaRPr lang="en-US" sz="495" dirty="0"/>
          </a:p>
        </p:txBody>
      </p:sp>
      <p:sp>
        <p:nvSpPr>
          <p:cNvPr id="38" name="Shape 36"/>
          <p:cNvSpPr/>
          <p:nvPr/>
        </p:nvSpPr>
        <p:spPr>
          <a:xfrm>
            <a:off x="342900" y="1982926"/>
            <a:ext cx="8458200" cy="68580"/>
          </a:xfrm>
          <a:prstGeom prst="rect">
            <a:avLst/>
          </a:prstGeom>
          <a:solidFill>
            <a:srgbClr val="AB0059">
              <a:alpha val="50000"/>
            </a:srgbClr>
          </a:solidFill>
          <a:ln/>
          <a:effectLst>
            <a:outerShdw sx="100000" sy="100000" kx="0" ky="0" algn="bl" rotWithShape="0" blurRad="34290" dist="50800" dir="16200000">
              <a:srgbClr val="AB0059">
                <a:alpha val="6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65810" y="2005786"/>
            <a:ext cx="7612380" cy="17145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2196F3">
                  <a:alpha val="10000"/>
                </a:srgbClr>
              </a:gs>
              <a:gs pos="20000">
                <a:srgbClr val="2196F3"/>
              </a:gs>
              <a:gs pos="80000">
                <a:srgbClr val="00BCD4"/>
              </a:gs>
              <a:gs pos="100000">
                <a:srgbClr val="00BCD4">
                  <a:alpha val="10000"/>
                </a:srgbClr>
              </a:gs>
            </a:gsLst>
            <a:lin ang="0" scaled="0"/>
          </a:gradFill>
          <a:ln/>
          <a:effectLst>
            <a:outerShdw sx="100000" sy="100000" kx="0" ky="0" algn="bl" rotWithShape="0" blurRad="190500" dist="50800" dir="16200000">
              <a:srgbClr val="2196F3">
                <a:alpha val="4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17245" y="1582876"/>
            <a:ext cx="832104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95" b="1" spc="22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 E N E S I S</a:t>
            </a:r>
            <a:endParaRPr lang="en-US" sz="495" dirty="0"/>
          </a:p>
        </p:txBody>
      </p:sp>
      <p:sp>
        <p:nvSpPr>
          <p:cNvPr id="41" name="Text 39"/>
          <p:cNvSpPr/>
          <p:nvPr/>
        </p:nvSpPr>
        <p:spPr>
          <a:xfrm>
            <a:off x="946368" y="1708606"/>
            <a:ext cx="868680" cy="2286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-36" kern="0" dirty="0">
                <a:solidFill>
                  <a:srgbClr val="E5ED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1991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093619" y="2222956"/>
            <a:ext cx="281642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20" b="1" spc="29" kern="0" dirty="0">
                <a:solidFill>
                  <a:srgbClr val="E5ED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元年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1097280" y="2417266"/>
            <a:ext cx="182880" cy="1143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44" name="Text 42"/>
          <p:cNvSpPr/>
          <p:nvPr/>
        </p:nvSpPr>
        <p:spPr>
          <a:xfrm>
            <a:off x="502920" y="2485846"/>
            <a:ext cx="1536192" cy="235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563" spc="7" kern="0" dirty="0">
                <a:solidFill>
                  <a:srgbClr val="8FA3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Linus 在 comp.os.minix 发布公告，Linux 0.01 面向世界开放</a:t>
            </a:r>
            <a:endParaRPr lang="en-US" sz="563" dirty="0"/>
          </a:p>
        </p:txBody>
      </p:sp>
      <p:sp>
        <p:nvSpPr>
          <p:cNvPr id="45" name="Shape 43"/>
          <p:cNvSpPr/>
          <p:nvPr/>
        </p:nvSpPr>
        <p:spPr>
          <a:xfrm>
            <a:off x="1091565" y="1925776"/>
            <a:ext cx="194310" cy="194310"/>
          </a:xfrm>
          <a:prstGeom prst="ellipse">
            <a:avLst/>
          </a:prstGeom>
          <a:gradFill rotWithShape="1">
            <a:gsLst>
              <a:gs pos="0">
                <a:srgbClr val="2196F3">
                  <a:alpha val="22000"/>
                </a:srgbClr>
              </a:gs>
              <a:gs pos="100000">
                <a:srgbClr val="00BCD4">
                  <a:alpha val="22000"/>
                </a:srgbClr>
              </a:gs>
            </a:gsLst>
            <a:lin ang="2700000" scaled="0"/>
          </a:gradFill>
          <a:ln w="5715">
            <a:solidFill>
              <a:srgbClr val="2196F3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0" dist="50800" dir="16200000">
              <a:srgbClr val="2196F3">
                <a:alpha val="5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148715" y="1982926"/>
            <a:ext cx="80010" cy="80010"/>
          </a:xfrm>
          <a:prstGeom prst="ellipse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14300" dist="50800" dir="16200000">
              <a:srgbClr val="00BCD4">
                <a:alpha val="9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508885" y="1582876"/>
            <a:ext cx="832104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95" b="1" spc="22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 I S T R O S</a:t>
            </a:r>
            <a:endParaRPr lang="en-US" sz="495" dirty="0"/>
          </a:p>
        </p:txBody>
      </p:sp>
      <p:sp>
        <p:nvSpPr>
          <p:cNvPr id="48" name="Text 46"/>
          <p:cNvSpPr/>
          <p:nvPr/>
        </p:nvSpPr>
        <p:spPr>
          <a:xfrm>
            <a:off x="2609433" y="1708606"/>
            <a:ext cx="868680" cy="2286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-36" kern="0" dirty="0">
                <a:solidFill>
                  <a:srgbClr val="E5ED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1994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2737664" y="2222956"/>
            <a:ext cx="376744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20" b="1" spc="29" kern="0" dirty="0">
                <a:solidFill>
                  <a:srgbClr val="E5ED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发行版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2788920" y="2417266"/>
            <a:ext cx="182880" cy="1143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51" name="Text 49"/>
          <p:cNvSpPr/>
          <p:nvPr/>
        </p:nvSpPr>
        <p:spPr>
          <a:xfrm>
            <a:off x="2194560" y="2485846"/>
            <a:ext cx="1536192" cy="235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563" spc="7" kern="0" dirty="0">
                <a:solidFill>
                  <a:srgbClr val="8FA3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Debian、Red Hat 相继成立，把内核封装成可商用产品</a:t>
            </a:r>
            <a:endParaRPr lang="en-US" sz="563" dirty="0"/>
          </a:p>
        </p:txBody>
      </p:sp>
      <p:sp>
        <p:nvSpPr>
          <p:cNvPr id="52" name="Shape 50"/>
          <p:cNvSpPr/>
          <p:nvPr/>
        </p:nvSpPr>
        <p:spPr>
          <a:xfrm>
            <a:off x="2783205" y="1925776"/>
            <a:ext cx="194310" cy="194310"/>
          </a:xfrm>
          <a:prstGeom prst="ellipse">
            <a:avLst/>
          </a:prstGeom>
          <a:gradFill rotWithShape="1">
            <a:gsLst>
              <a:gs pos="0">
                <a:srgbClr val="2196F3">
                  <a:alpha val="22000"/>
                </a:srgbClr>
              </a:gs>
              <a:gs pos="100000">
                <a:srgbClr val="00BCD4">
                  <a:alpha val="22000"/>
                </a:srgbClr>
              </a:gs>
            </a:gsLst>
            <a:lin ang="2700000" scaled="0"/>
          </a:gradFill>
          <a:ln w="5715">
            <a:solidFill>
              <a:srgbClr val="2196F3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0" dist="50800" dir="16200000">
              <a:srgbClr val="2196F3">
                <a:alpha val="5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840355" y="1982926"/>
            <a:ext cx="80010" cy="80010"/>
          </a:xfrm>
          <a:prstGeom prst="ellipse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14300" dist="50800" dir="16200000">
              <a:srgbClr val="00BCD4">
                <a:alpha val="9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031933" y="1582876"/>
            <a:ext cx="120975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95" b="1" spc="22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N T E R P R I S E</a:t>
            </a:r>
            <a:endParaRPr lang="en-US" sz="495" dirty="0"/>
          </a:p>
        </p:txBody>
      </p:sp>
      <p:sp>
        <p:nvSpPr>
          <p:cNvPr id="55" name="Text 53"/>
          <p:cNvSpPr/>
          <p:nvPr/>
        </p:nvSpPr>
        <p:spPr>
          <a:xfrm>
            <a:off x="4266783" y="1708606"/>
            <a:ext cx="868680" cy="2286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-36" kern="0" dirty="0">
                <a:solidFill>
                  <a:srgbClr val="E5ED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2000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4381798" y="2222956"/>
            <a:ext cx="471845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20" b="1" spc="29" kern="0" dirty="0">
                <a:solidFill>
                  <a:srgbClr val="E5ED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企业上云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4480560" y="2417266"/>
            <a:ext cx="182880" cy="1143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58" name="Text 56"/>
          <p:cNvSpPr/>
          <p:nvPr/>
        </p:nvSpPr>
        <p:spPr>
          <a:xfrm>
            <a:off x="3886200" y="2485846"/>
            <a:ext cx="1536192" cy="235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563" spc="7" kern="0" dirty="0">
                <a:solidFill>
                  <a:srgbClr val="8FA3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SUSE、Novell 等公司推动 Linux 进入主流数据中心</a:t>
            </a:r>
            <a:endParaRPr lang="en-US" sz="563" dirty="0"/>
          </a:p>
        </p:txBody>
      </p:sp>
      <p:sp>
        <p:nvSpPr>
          <p:cNvPr id="59" name="Shape 57"/>
          <p:cNvSpPr/>
          <p:nvPr/>
        </p:nvSpPr>
        <p:spPr>
          <a:xfrm>
            <a:off x="4474845" y="1925776"/>
            <a:ext cx="194310" cy="194310"/>
          </a:xfrm>
          <a:prstGeom prst="ellipse">
            <a:avLst/>
          </a:prstGeom>
          <a:gradFill rotWithShape="1">
            <a:gsLst>
              <a:gs pos="0">
                <a:srgbClr val="2196F3">
                  <a:alpha val="22000"/>
                </a:srgbClr>
              </a:gs>
              <a:gs pos="100000">
                <a:srgbClr val="00BCD4">
                  <a:alpha val="22000"/>
                </a:srgbClr>
              </a:gs>
            </a:gsLst>
            <a:lin ang="2700000" scaled="0"/>
          </a:gradFill>
          <a:ln w="5715">
            <a:solidFill>
              <a:srgbClr val="2196F3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0" dist="50800" dir="16200000">
              <a:srgbClr val="2196F3">
                <a:alpha val="5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531995" y="1982926"/>
            <a:ext cx="80010" cy="80010"/>
          </a:xfrm>
          <a:prstGeom prst="ellipse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14300" dist="50800" dir="16200000">
              <a:srgbClr val="00BCD4">
                <a:alpha val="9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5946458" y="1582876"/>
            <a:ext cx="710489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95" b="1" spc="22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 O B I L E</a:t>
            </a:r>
            <a:endParaRPr lang="en-US" sz="495" dirty="0"/>
          </a:p>
        </p:txBody>
      </p:sp>
      <p:sp>
        <p:nvSpPr>
          <p:cNvPr id="62" name="Text 60"/>
          <p:cNvSpPr/>
          <p:nvPr/>
        </p:nvSpPr>
        <p:spPr>
          <a:xfrm>
            <a:off x="5986998" y="1708606"/>
            <a:ext cx="868680" cy="2286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-36" kern="0" dirty="0">
                <a:solidFill>
                  <a:srgbClr val="E5ED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2010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6073438" y="2222956"/>
            <a:ext cx="471845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20" b="1" spc="29" kern="0" dirty="0">
                <a:solidFill>
                  <a:srgbClr val="E5ED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移动时代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6172200" y="2417266"/>
            <a:ext cx="182880" cy="1143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65" name="Text 63"/>
          <p:cNvSpPr/>
          <p:nvPr/>
        </p:nvSpPr>
        <p:spPr>
          <a:xfrm>
            <a:off x="5577840" y="2485846"/>
            <a:ext cx="1536192" cy="235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563" spc="7" kern="0" dirty="0">
                <a:solidFill>
                  <a:srgbClr val="8FA3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Android 基于 Linux 内核，让开源系统触达数十亿设备</a:t>
            </a:r>
            <a:endParaRPr lang="en-US" sz="563" dirty="0"/>
          </a:p>
        </p:txBody>
      </p:sp>
      <p:sp>
        <p:nvSpPr>
          <p:cNvPr id="66" name="Shape 64"/>
          <p:cNvSpPr/>
          <p:nvPr/>
        </p:nvSpPr>
        <p:spPr>
          <a:xfrm>
            <a:off x="6166485" y="1925776"/>
            <a:ext cx="194310" cy="194310"/>
          </a:xfrm>
          <a:prstGeom prst="ellipse">
            <a:avLst/>
          </a:prstGeom>
          <a:gradFill rotWithShape="1">
            <a:gsLst>
              <a:gs pos="0">
                <a:srgbClr val="2196F3">
                  <a:alpha val="22000"/>
                </a:srgbClr>
              </a:gs>
              <a:gs pos="100000">
                <a:srgbClr val="00BCD4">
                  <a:alpha val="22000"/>
                </a:srgbClr>
              </a:gs>
            </a:gsLst>
            <a:lin ang="2700000" scaled="0"/>
          </a:gradFill>
          <a:ln w="5715">
            <a:solidFill>
              <a:srgbClr val="2196F3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0" dist="50800" dir="16200000">
              <a:srgbClr val="2196F3">
                <a:alpha val="5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223635" y="1982926"/>
            <a:ext cx="80010" cy="80010"/>
          </a:xfrm>
          <a:prstGeom prst="ellipse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14300" dist="50800" dir="16200000">
              <a:srgbClr val="00BCD4">
                <a:alpha val="90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7683818" y="1582876"/>
            <a:ext cx="608076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95" b="1" spc="22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L O U D</a:t>
            </a:r>
            <a:endParaRPr lang="en-US" sz="495" dirty="0"/>
          </a:p>
        </p:txBody>
      </p:sp>
      <p:sp>
        <p:nvSpPr>
          <p:cNvPr id="69" name="Text 67"/>
          <p:cNvSpPr/>
          <p:nvPr/>
        </p:nvSpPr>
        <p:spPr>
          <a:xfrm>
            <a:off x="7655778" y="1708606"/>
            <a:ext cx="868680" cy="2286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-36" kern="0" dirty="0">
                <a:solidFill>
                  <a:srgbClr val="E5ED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2020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7765078" y="2222956"/>
            <a:ext cx="471845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20" b="1" spc="29" kern="0" dirty="0">
                <a:solidFill>
                  <a:srgbClr val="E5ED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云端底座</a:t>
            </a:r>
            <a:endParaRPr lang="en-US" sz="720" dirty="0"/>
          </a:p>
        </p:txBody>
      </p:sp>
      <p:sp>
        <p:nvSpPr>
          <p:cNvPr id="71" name="Shape 69"/>
          <p:cNvSpPr/>
          <p:nvPr/>
        </p:nvSpPr>
        <p:spPr>
          <a:xfrm>
            <a:off x="7863840" y="2417266"/>
            <a:ext cx="182880" cy="1143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72" name="Text 70"/>
          <p:cNvSpPr/>
          <p:nvPr/>
        </p:nvSpPr>
        <p:spPr>
          <a:xfrm>
            <a:off x="7269480" y="2485846"/>
            <a:ext cx="1536192" cy="235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563" spc="7" kern="0" dirty="0">
                <a:solidFill>
                  <a:srgbClr val="8FA3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95% 以上顶级云端服务器运行 Linux 系发行版</a:t>
            </a:r>
            <a:endParaRPr lang="en-US" sz="563" dirty="0"/>
          </a:p>
        </p:txBody>
      </p:sp>
      <p:sp>
        <p:nvSpPr>
          <p:cNvPr id="73" name="Shape 71"/>
          <p:cNvSpPr/>
          <p:nvPr/>
        </p:nvSpPr>
        <p:spPr>
          <a:xfrm>
            <a:off x="7858125" y="1925776"/>
            <a:ext cx="194310" cy="194310"/>
          </a:xfrm>
          <a:prstGeom prst="ellipse">
            <a:avLst/>
          </a:prstGeom>
          <a:gradFill rotWithShape="1">
            <a:gsLst>
              <a:gs pos="0">
                <a:srgbClr val="2196F3">
                  <a:alpha val="22000"/>
                </a:srgbClr>
              </a:gs>
              <a:gs pos="100000">
                <a:srgbClr val="00BCD4">
                  <a:alpha val="22000"/>
                </a:srgbClr>
              </a:gs>
            </a:gsLst>
            <a:lin ang="2700000" scaled="0"/>
          </a:gradFill>
          <a:ln w="5715">
            <a:solidFill>
              <a:srgbClr val="2196F3">
                <a:alpha val="65000"/>
              </a:srgbClr>
            </a:solidFill>
            <a:prstDash val="solid"/>
          </a:ln>
          <a:effectLst>
            <a:outerShdw sx="100000" sy="100000" kx="0" ky="0" algn="bl" rotWithShape="0" blurRad="190500" dist="50800" dir="16200000">
              <a:srgbClr val="2196F3">
                <a:alpha val="5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7915275" y="1982926"/>
            <a:ext cx="80010" cy="80010"/>
          </a:xfrm>
          <a:prstGeom prst="ellipse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14300" dist="50800" dir="16200000">
              <a:srgbClr val="00BCD4">
                <a:alpha val="9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342900" y="4514850"/>
            <a:ext cx="22860" cy="43434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33350" dist="50800" dir="16200000">
              <a:srgbClr val="2196F3">
                <a:alpha val="60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480060" y="4597003"/>
            <a:ext cx="8525866" cy="270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spc="12" kern="0" dirty="0">
                <a:solidFill>
                  <a:srgbClr val="B8C8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的三十年是一部</a:t>
            </a:r>
            <a:pPr algn="l" indent="0" marL="0">
              <a:lnSpc>
                <a:spcPct val="175000"/>
              </a:lnSpc>
              <a:buNone/>
            </a:pPr>
            <a:r>
              <a:rPr lang="en-US" sz="608" b="1" spc="12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开源软件商业化</a:t>
            </a:r>
            <a:pPr algn="l" indent="0" marL="0">
              <a:lnSpc>
                <a:spcPct val="175000"/>
              </a:lnSpc>
              <a:buNone/>
            </a:pPr>
            <a:r>
              <a:rPr lang="en-US" sz="608" spc="12" kern="0" dirty="0">
                <a:solidFill>
                  <a:srgbClr val="B8C8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的教科书。它从一句公告起步，依靠</a:t>
            </a:r>
            <a:pPr algn="l" indent="0" marL="0">
              <a:lnSpc>
                <a:spcPct val="175000"/>
              </a:lnSpc>
              <a:buNone/>
            </a:pPr>
            <a:r>
              <a:rPr lang="en-US" sz="608" b="1" spc="12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社区协作</a:t>
            </a:r>
            <a:pPr algn="l" indent="0" marL="0">
              <a:lnSpc>
                <a:spcPct val="175000"/>
              </a:lnSpc>
              <a:buNone/>
            </a:pPr>
            <a:r>
              <a:rPr lang="en-US" sz="608" spc="12" kern="0" dirty="0">
                <a:solidFill>
                  <a:srgbClr val="B8C8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</a:t>
            </a:r>
            <a:pPr algn="l" indent="0" marL="0">
              <a:lnSpc>
                <a:spcPct val="175000"/>
              </a:lnSpc>
              <a:buNone/>
            </a:pPr>
            <a:r>
              <a:rPr lang="en-US" sz="608" b="1" spc="12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商业发行版</a:t>
            </a:r>
            <a:pPr algn="l" indent="0" marL="0">
              <a:lnSpc>
                <a:spcPct val="175000"/>
              </a:lnSpc>
              <a:buNone/>
            </a:pPr>
            <a:r>
              <a:rPr lang="en-US" sz="608" spc="12" kern="0" dirty="0">
                <a:solidFill>
                  <a:srgbClr val="B8C8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的合力，逐步占领服务器、移动设备、云端基础设施等关键场景。每个阶段都对应一次商业模式与产业格局的跃迁，为后续分析提供了清晰的历史脉络。</a:t>
            </a:r>
            <a:endParaRPr lang="en-US" sz="608" dirty="0"/>
          </a:p>
        </p:txBody>
      </p:sp>
      <p:sp>
        <p:nvSpPr>
          <p:cNvPr id="77" name="Shape 75"/>
          <p:cNvSpPr/>
          <p:nvPr/>
        </p:nvSpPr>
        <p:spPr>
          <a:xfrm>
            <a:off x="8206740" y="4714875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8286750" y="4697730"/>
            <a:ext cx="576072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6B7E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SENSENOVA</a:t>
            </a:r>
            <a:endParaRPr lang="en-US" sz="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60B14"/>
              </a:gs>
              <a:gs pos="100000">
                <a:srgbClr val="0A1220"/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4572000" y="-2057400"/>
            <a:ext cx="11887200" cy="6686550"/>
          </a:xfrm>
          <a:prstGeom prst="ellipse">
            <a:avLst/>
          </a:prstGeom>
          <a:gradFill rotWithShape="1">
            <a:gsLst>
              <a:gs pos="0">
                <a:srgbClr val="2196F3">
                  <a:alpha val="112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828800" y="1285875"/>
            <a:ext cx="11887200" cy="6686550"/>
          </a:xfrm>
          <a:prstGeom prst="ellipse">
            <a:avLst/>
          </a:prstGeom>
          <a:gradFill rotWithShape="1">
            <a:gsLst>
              <a:gs pos="0">
                <a:srgbClr val="00BCD4">
                  <a:alpha val="80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6" name="Shape 4"/>
          <p:cNvSpPr/>
          <p:nvPr/>
        </p:nvSpPr>
        <p:spPr>
          <a:xfrm>
            <a:off x="320040" y="228600"/>
            <a:ext cx="20574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7" name="Text 5"/>
          <p:cNvSpPr/>
          <p:nvPr/>
        </p:nvSpPr>
        <p:spPr>
          <a:xfrm>
            <a:off x="594360" y="228600"/>
            <a:ext cx="322600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2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MODELS · LINUX OPEN-SOURCE ECONOMY</a:t>
            </a:r>
            <a:endParaRPr lang="en-US" sz="495" dirty="0"/>
          </a:p>
        </p:txBody>
      </p:sp>
      <p:sp>
        <p:nvSpPr>
          <p:cNvPr id="8" name="Text 6"/>
          <p:cNvSpPr/>
          <p:nvPr/>
        </p:nvSpPr>
        <p:spPr>
          <a:xfrm>
            <a:off x="320040" y="360045"/>
            <a:ext cx="3725266" cy="342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50" b="1" spc="-45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的三种主流商业模式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320040" y="760095"/>
            <a:ext cx="48006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spc="45" kern="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服务支持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754380" y="760095"/>
            <a:ext cx="155448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834390" y="760095"/>
            <a:ext cx="57721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spc="45" kern="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发行版授权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365885" y="760095"/>
            <a:ext cx="155448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1445895" y="760095"/>
            <a:ext cx="57721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spc="45" kern="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托管云原生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977390" y="760095"/>
            <a:ext cx="155448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2057400" y="760095"/>
            <a:ext cx="48006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协同三角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320040" y="982980"/>
            <a:ext cx="3314700" cy="3017520"/>
          </a:xfrm>
          <a:prstGeom prst="roundRect">
            <a:avLst>
              <a:gd name="adj" fmla="val 2652"/>
            </a:avLst>
          </a:prstGeom>
          <a:gradFill rotWithShape="1">
            <a:gsLst>
              <a:gs pos="0">
                <a:srgbClr val="101A2C"/>
              </a:gs>
              <a:gs pos="100000">
                <a:srgbClr val="0C1626"/>
              </a:gs>
            </a:gsLst>
            <a:lin ang="3900000" scaled="0"/>
          </a:gradFill>
          <a:ln w="571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982980"/>
            <a:ext cx="330327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000">
                <a:srgbClr val="2196F3"/>
              </a:gs>
              <a:gs pos="67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8" name="Shape 16"/>
          <p:cNvSpPr/>
          <p:nvPr/>
        </p:nvSpPr>
        <p:spPr>
          <a:xfrm>
            <a:off x="428625" y="1068705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8625" y="1068705"/>
            <a:ext cx="838505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Synergy Triangle</a:t>
            </a:r>
            <a:endParaRPr lang="en-US" sz="4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765" y="1091565"/>
            <a:ext cx="3143250" cy="26289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1625918" y="1068705"/>
            <a:ext cx="702945" cy="342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131C2E">
                  <a:alpha val="95000"/>
                </a:srgbClr>
              </a:gs>
              <a:gs pos="100000">
                <a:srgbClr val="0C1626">
                  <a:alpha val="95000"/>
                </a:srgbClr>
              </a:gs>
            </a:gsLst>
            <a:lin ang="3300000" scaled="0"/>
          </a:gradFill>
          <a:ln w="5715">
            <a:solidFill>
              <a:srgbClr val="2196F3">
                <a:alpha val="55000"/>
              </a:srgbClr>
            </a:solidFill>
            <a:prstDash val="solid"/>
          </a:ln>
          <a:effectLst>
            <a:outerShdw sx="100000" sy="100000" kx="0" ky="0" algn="bl" rotWithShape="0" blurRad="209550" dist="57150" dir="16200000">
              <a:srgbClr val="2196F3">
                <a:alpha val="2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928813" y="1131570"/>
            <a:ext cx="154305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b="1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450" dirty="0"/>
          </a:p>
        </p:txBody>
      </p:sp>
      <p:sp>
        <p:nvSpPr>
          <p:cNvPr id="23" name="Text 20"/>
          <p:cNvSpPr/>
          <p:nvPr/>
        </p:nvSpPr>
        <p:spPr>
          <a:xfrm>
            <a:off x="1734503" y="1228725"/>
            <a:ext cx="57721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20" b="1" spc="45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服务与支持</a:t>
            </a:r>
            <a:endParaRPr lang="en-US" sz="720" dirty="0"/>
          </a:p>
        </p:txBody>
      </p:sp>
      <p:sp>
        <p:nvSpPr>
          <p:cNvPr id="24" name="Shape 21"/>
          <p:cNvSpPr/>
          <p:nvPr/>
        </p:nvSpPr>
        <p:spPr>
          <a:xfrm>
            <a:off x="2777490" y="3233529"/>
            <a:ext cx="702945" cy="342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131C2E">
                  <a:alpha val="95000"/>
                </a:srgbClr>
              </a:gs>
              <a:gs pos="100000">
                <a:srgbClr val="0C1626">
                  <a:alpha val="95000"/>
                </a:srgbClr>
              </a:gs>
            </a:gsLst>
            <a:lin ang="3300000" scaled="0"/>
          </a:gradFill>
          <a:ln w="5715">
            <a:solidFill>
              <a:srgbClr val="2196F3">
                <a:alpha val="55000"/>
              </a:srgbClr>
            </a:solidFill>
            <a:prstDash val="solid"/>
          </a:ln>
          <a:effectLst>
            <a:outerShdw sx="100000" sy="100000" kx="0" ky="0" algn="bl" rotWithShape="0" blurRad="209550" dist="57150" dir="16200000">
              <a:srgbClr val="2196F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074670" y="3296394"/>
            <a:ext cx="165735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b="1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450" dirty="0"/>
          </a:p>
        </p:txBody>
      </p:sp>
      <p:sp>
        <p:nvSpPr>
          <p:cNvPr id="26" name="Text 23"/>
          <p:cNvSpPr/>
          <p:nvPr/>
        </p:nvSpPr>
        <p:spPr>
          <a:xfrm>
            <a:off x="2886075" y="3393549"/>
            <a:ext cx="57721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20" b="1" spc="45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发行版授权</a:t>
            </a:r>
            <a:endParaRPr lang="en-US" sz="720" dirty="0"/>
          </a:p>
        </p:txBody>
      </p:sp>
      <p:sp>
        <p:nvSpPr>
          <p:cNvPr id="27" name="Shape 24"/>
          <p:cNvSpPr/>
          <p:nvPr/>
        </p:nvSpPr>
        <p:spPr>
          <a:xfrm>
            <a:off x="474345" y="3233529"/>
            <a:ext cx="702945" cy="342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131C2E">
                  <a:alpha val="95000"/>
                </a:srgbClr>
              </a:gs>
              <a:gs pos="100000">
                <a:srgbClr val="0C1626">
                  <a:alpha val="95000"/>
                </a:srgbClr>
              </a:gs>
            </a:gsLst>
            <a:lin ang="3300000" scaled="0"/>
          </a:gradFill>
          <a:ln w="5715">
            <a:solidFill>
              <a:srgbClr val="2196F3">
                <a:alpha val="55000"/>
              </a:srgbClr>
            </a:solidFill>
            <a:prstDash val="solid"/>
          </a:ln>
          <a:effectLst>
            <a:outerShdw sx="100000" sy="100000" kx="0" ky="0" algn="bl" rotWithShape="0" blurRad="209550" dist="57150" dir="16200000">
              <a:srgbClr val="2196F3">
                <a:alpha val="2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71525" y="3296394"/>
            <a:ext cx="165735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b="1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450" dirty="0"/>
          </a:p>
        </p:txBody>
      </p:sp>
      <p:sp>
        <p:nvSpPr>
          <p:cNvPr id="29" name="Text 26"/>
          <p:cNvSpPr/>
          <p:nvPr/>
        </p:nvSpPr>
        <p:spPr>
          <a:xfrm>
            <a:off x="582930" y="3393549"/>
            <a:ext cx="57721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20" b="1" spc="45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托管云原生</a:t>
            </a:r>
            <a:endParaRPr lang="en-US" sz="720" dirty="0"/>
          </a:p>
        </p:txBody>
      </p:sp>
      <p:sp>
        <p:nvSpPr>
          <p:cNvPr id="30" name="Shape 27"/>
          <p:cNvSpPr/>
          <p:nvPr/>
        </p:nvSpPr>
        <p:spPr>
          <a:xfrm>
            <a:off x="1668780" y="2255103"/>
            <a:ext cx="617220" cy="617220"/>
          </a:xfrm>
          <a:prstGeom prst="ellipse">
            <a:avLst/>
          </a:prstGeom>
          <a:gradFill rotWithShape="1">
            <a:gsLst>
              <a:gs pos="0">
                <a:srgbClr val="2196F3">
                  <a:alpha val="55000"/>
                </a:srgbClr>
              </a:gs>
              <a:gs pos="60000">
                <a:srgbClr val="2196F3">
                  <a:alpha val="15000"/>
                </a:srgbClr>
              </a:gs>
              <a:gs pos="8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  <a:effectLst>
            <a:outerShdw sx="100000" sy="100000" kx="0" ky="0" algn="bl" rotWithShape="0" blurRad="381000" dist="50800" dir="16200000">
              <a:srgbClr val="2196F3">
                <a:alpha val="35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1840230" y="2460843"/>
            <a:ext cx="38862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spc="1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协同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811655" y="2626578"/>
            <a:ext cx="38290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05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Synergy</a:t>
            </a:r>
            <a:endParaRPr lang="en-US" sz="405" dirty="0"/>
          </a:p>
        </p:txBody>
      </p:sp>
      <p:sp>
        <p:nvSpPr>
          <p:cNvPr id="33" name="Shape 30"/>
          <p:cNvSpPr/>
          <p:nvPr/>
        </p:nvSpPr>
        <p:spPr>
          <a:xfrm>
            <a:off x="3817620" y="982980"/>
            <a:ext cx="2463165" cy="1468755"/>
          </a:xfrm>
          <a:prstGeom prst="roundRect">
            <a:avLst>
              <a:gd name="adj" fmla="val 3891"/>
            </a:avLst>
          </a:prstGeom>
          <a:gradFill rotWithShape="1">
            <a:gsLst>
              <a:gs pos="0">
                <a:srgbClr val="16202F"/>
              </a:gs>
              <a:gs pos="100000">
                <a:srgbClr val="111A29"/>
              </a:gs>
            </a:gsLst>
            <a:lin ang="3600000" scaled="0"/>
          </a:gradFill>
          <a:ln w="17145">
            <a:solidFill>
              <a:srgbClr val="2196F3">
                <a:alpha val="8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00725" y="982980"/>
            <a:ext cx="457200" cy="457200"/>
          </a:xfrm>
          <a:prstGeom prst="rect">
            <a:avLst/>
          </a:prstGeom>
          <a:solidFill>
            <a:srgbClr val="2196F3">
              <a:alpha val="14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3960495" y="1068705"/>
            <a:ext cx="171450" cy="17145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95250" dist="28575" dir="16200000">
              <a:srgbClr val="2196F3">
                <a:alpha val="35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4000500" y="1108710"/>
            <a:ext cx="17830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585" dirty="0"/>
          </a:p>
        </p:txBody>
      </p:sp>
      <p:sp>
        <p:nvSpPr>
          <p:cNvPr id="37" name="Text 34"/>
          <p:cNvSpPr/>
          <p:nvPr/>
        </p:nvSpPr>
        <p:spPr>
          <a:xfrm>
            <a:off x="4200525" y="1105853"/>
            <a:ext cx="597218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服务与支持</a:t>
            </a:r>
            <a:endParaRPr lang="en-US" sz="765" dirty="0"/>
          </a:p>
        </p:txBody>
      </p:sp>
      <p:sp>
        <p:nvSpPr>
          <p:cNvPr id="38" name="Text 35"/>
          <p:cNvSpPr/>
          <p:nvPr/>
        </p:nvSpPr>
        <p:spPr>
          <a:xfrm>
            <a:off x="3960495" y="1280160"/>
            <a:ext cx="2477110" cy="1225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85" dirty="0">
                <a:solidFill>
                  <a:srgbClr val="CBD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Hat 为代表，通过订阅方式销售技术支持、补丁与更新。</a:t>
            </a:r>
            <a:endParaRPr lang="en-US" sz="585" dirty="0"/>
          </a:p>
        </p:txBody>
      </p:sp>
      <p:sp>
        <p:nvSpPr>
          <p:cNvPr id="39" name="Shape 36"/>
          <p:cNvSpPr/>
          <p:nvPr/>
        </p:nvSpPr>
        <p:spPr>
          <a:xfrm>
            <a:off x="3960495" y="2257425"/>
            <a:ext cx="2211705" cy="108585"/>
          </a:xfrm>
          <a:prstGeom prst="rect">
            <a:avLst/>
          </a:prstGeom>
          <a:noFill/>
          <a:ln/>
        </p:spPr>
      </p:sp>
      <p:sp>
        <p:nvSpPr>
          <p:cNvPr id="40" name="Shape 37"/>
          <p:cNvSpPr/>
          <p:nvPr/>
        </p:nvSpPr>
        <p:spPr>
          <a:xfrm>
            <a:off x="3960495" y="2257425"/>
            <a:ext cx="2211705" cy="0"/>
          </a:xfrm>
          <a:prstGeom prst="line">
            <a:avLst/>
          </a:prstGeom>
          <a:noFill/>
          <a:ln w="5715">
            <a:solidFill>
              <a:srgbClr val="00BCD4">
                <a:alpha val="25000"/>
              </a:srgbClr>
            </a:solidFill>
            <a:prstDash val="dash"/>
          </a:ln>
        </p:spPr>
      </p:sp>
      <p:sp>
        <p:nvSpPr>
          <p:cNvPr id="41" name="Text 38"/>
          <p:cNvSpPr/>
          <p:nvPr/>
        </p:nvSpPr>
        <p:spPr>
          <a:xfrm>
            <a:off x="3960495" y="2297430"/>
            <a:ext cx="966521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MODEL</a:t>
            </a:r>
            <a:endParaRPr lang="en-US" sz="450" dirty="0"/>
          </a:p>
        </p:txBody>
      </p:sp>
      <p:sp>
        <p:nvSpPr>
          <p:cNvPr id="42" name="Shape 39"/>
          <p:cNvSpPr/>
          <p:nvPr/>
        </p:nvSpPr>
        <p:spPr>
          <a:xfrm>
            <a:off x="6360795" y="982980"/>
            <a:ext cx="2463165" cy="1468755"/>
          </a:xfrm>
          <a:prstGeom prst="roundRect">
            <a:avLst>
              <a:gd name="adj" fmla="val 3891"/>
            </a:avLst>
          </a:prstGeom>
          <a:gradFill rotWithShape="1">
            <a:gsLst>
              <a:gs pos="0">
                <a:srgbClr val="16202F"/>
              </a:gs>
              <a:gs pos="100000">
                <a:srgbClr val="111A29"/>
              </a:gs>
            </a:gsLst>
            <a:lin ang="3600000" scaled="0"/>
          </a:gradFill>
          <a:ln w="17145">
            <a:solidFill>
              <a:srgbClr val="42A5F5">
                <a:alpha val="8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343900" y="982980"/>
            <a:ext cx="457200" cy="457200"/>
          </a:xfrm>
          <a:prstGeom prst="rect">
            <a:avLst/>
          </a:prstGeom>
          <a:solidFill>
            <a:srgbClr val="2196F3">
              <a:alpha val="14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503670" y="1068705"/>
            <a:ext cx="171450" cy="17145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95250" dist="28575" dir="16200000">
              <a:srgbClr val="2196F3">
                <a:alpha val="35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6537960" y="1108710"/>
            <a:ext cx="17830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585" dirty="0"/>
          </a:p>
        </p:txBody>
      </p:sp>
      <p:sp>
        <p:nvSpPr>
          <p:cNvPr id="46" name="Text 43"/>
          <p:cNvSpPr/>
          <p:nvPr/>
        </p:nvSpPr>
        <p:spPr>
          <a:xfrm>
            <a:off x="6743700" y="1105853"/>
            <a:ext cx="597218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发行版授权</a:t>
            </a:r>
            <a:endParaRPr lang="en-US" sz="765" dirty="0"/>
          </a:p>
        </p:txBody>
      </p:sp>
      <p:sp>
        <p:nvSpPr>
          <p:cNvPr id="47" name="Text 44"/>
          <p:cNvSpPr/>
          <p:nvPr/>
        </p:nvSpPr>
        <p:spPr>
          <a:xfrm>
            <a:off x="6503670" y="1280160"/>
            <a:ext cx="2477110" cy="1225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85" dirty="0">
                <a:solidFill>
                  <a:srgbClr val="CBD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Canonical、SUSE 提供商业发行版与 LTS 长期支持。</a:t>
            </a:r>
            <a:endParaRPr lang="en-US" sz="585" dirty="0"/>
          </a:p>
        </p:txBody>
      </p:sp>
      <p:sp>
        <p:nvSpPr>
          <p:cNvPr id="48" name="Shape 45"/>
          <p:cNvSpPr/>
          <p:nvPr/>
        </p:nvSpPr>
        <p:spPr>
          <a:xfrm>
            <a:off x="6503670" y="2257425"/>
            <a:ext cx="2211705" cy="108585"/>
          </a:xfrm>
          <a:prstGeom prst="rect">
            <a:avLst/>
          </a:prstGeom>
          <a:noFill/>
          <a:ln/>
        </p:spPr>
      </p:sp>
      <p:sp>
        <p:nvSpPr>
          <p:cNvPr id="49" name="Shape 46"/>
          <p:cNvSpPr/>
          <p:nvPr/>
        </p:nvSpPr>
        <p:spPr>
          <a:xfrm>
            <a:off x="6503670" y="2257425"/>
            <a:ext cx="2211705" cy="0"/>
          </a:xfrm>
          <a:prstGeom prst="line">
            <a:avLst/>
          </a:prstGeom>
          <a:noFill/>
          <a:ln w="5715">
            <a:solidFill>
              <a:srgbClr val="00BCD4">
                <a:alpha val="25000"/>
              </a:srgbClr>
            </a:solidFill>
            <a:prstDash val="dash"/>
          </a:ln>
        </p:spPr>
      </p:sp>
      <p:sp>
        <p:nvSpPr>
          <p:cNvPr id="50" name="Text 47"/>
          <p:cNvSpPr/>
          <p:nvPr/>
        </p:nvSpPr>
        <p:spPr>
          <a:xfrm>
            <a:off x="6503670" y="2297430"/>
            <a:ext cx="774497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LICENSED DISTRO</a:t>
            </a:r>
            <a:endParaRPr lang="en-US" sz="450" dirty="0"/>
          </a:p>
        </p:txBody>
      </p:sp>
      <p:sp>
        <p:nvSpPr>
          <p:cNvPr id="51" name="Shape 48"/>
          <p:cNvSpPr/>
          <p:nvPr/>
        </p:nvSpPr>
        <p:spPr>
          <a:xfrm>
            <a:off x="3817620" y="2531745"/>
            <a:ext cx="2463165" cy="1468755"/>
          </a:xfrm>
          <a:prstGeom prst="roundRect">
            <a:avLst>
              <a:gd name="adj" fmla="val 3891"/>
            </a:avLst>
          </a:prstGeom>
          <a:gradFill rotWithShape="1">
            <a:gsLst>
              <a:gs pos="0">
                <a:srgbClr val="16202F"/>
              </a:gs>
              <a:gs pos="100000">
                <a:srgbClr val="111A29"/>
              </a:gs>
            </a:gsLst>
            <a:lin ang="3600000" scaled="0"/>
          </a:gradFill>
          <a:ln w="17145">
            <a:solidFill>
              <a:srgbClr val="00BCD4">
                <a:alpha val="800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800725" y="2531745"/>
            <a:ext cx="457200" cy="457200"/>
          </a:xfrm>
          <a:prstGeom prst="rect">
            <a:avLst/>
          </a:prstGeom>
          <a:solidFill>
            <a:srgbClr val="2196F3">
              <a:alpha val="14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3960495" y="2617470"/>
            <a:ext cx="171450" cy="17145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95250" dist="28575" dir="16200000">
              <a:srgbClr val="2196F3">
                <a:alpha val="35000"/>
              </a:srgbClr>
            </a:outerShdw>
          </a:effectLst>
        </p:spPr>
      </p:sp>
      <p:sp>
        <p:nvSpPr>
          <p:cNvPr id="54" name="Text 51"/>
          <p:cNvSpPr/>
          <p:nvPr/>
        </p:nvSpPr>
        <p:spPr>
          <a:xfrm>
            <a:off x="3991928" y="2657475"/>
            <a:ext cx="18288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585" dirty="0"/>
          </a:p>
        </p:txBody>
      </p:sp>
      <p:sp>
        <p:nvSpPr>
          <p:cNvPr id="55" name="Text 52"/>
          <p:cNvSpPr/>
          <p:nvPr/>
        </p:nvSpPr>
        <p:spPr>
          <a:xfrm>
            <a:off x="4200525" y="2654618"/>
            <a:ext cx="597218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托管云原生</a:t>
            </a:r>
            <a:endParaRPr lang="en-US" sz="765" dirty="0"/>
          </a:p>
        </p:txBody>
      </p:sp>
      <p:sp>
        <p:nvSpPr>
          <p:cNvPr id="56" name="Text 53"/>
          <p:cNvSpPr/>
          <p:nvPr/>
        </p:nvSpPr>
        <p:spPr>
          <a:xfrm>
            <a:off x="3960495" y="2828925"/>
            <a:ext cx="2477110" cy="1225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85" dirty="0">
                <a:solidFill>
                  <a:srgbClr val="CBD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AWS、GCP 在 Linux 之上提供托管服务，间接放大开源价值。</a:t>
            </a:r>
            <a:endParaRPr lang="en-US" sz="585" dirty="0"/>
          </a:p>
        </p:txBody>
      </p:sp>
      <p:sp>
        <p:nvSpPr>
          <p:cNvPr id="57" name="Shape 54"/>
          <p:cNvSpPr/>
          <p:nvPr/>
        </p:nvSpPr>
        <p:spPr>
          <a:xfrm>
            <a:off x="3960495" y="3806190"/>
            <a:ext cx="2211705" cy="108585"/>
          </a:xfrm>
          <a:prstGeom prst="rect">
            <a:avLst/>
          </a:prstGeom>
          <a:noFill/>
          <a:ln/>
        </p:spPr>
      </p:sp>
      <p:sp>
        <p:nvSpPr>
          <p:cNvPr id="58" name="Shape 55"/>
          <p:cNvSpPr/>
          <p:nvPr/>
        </p:nvSpPr>
        <p:spPr>
          <a:xfrm>
            <a:off x="3960495" y="3806190"/>
            <a:ext cx="2211705" cy="0"/>
          </a:xfrm>
          <a:prstGeom prst="line">
            <a:avLst/>
          </a:prstGeom>
          <a:noFill/>
          <a:ln w="5715">
            <a:solidFill>
              <a:srgbClr val="00BCD4">
                <a:alpha val="25000"/>
              </a:srgbClr>
            </a:solidFill>
            <a:prstDash val="dash"/>
          </a:ln>
        </p:spPr>
      </p:sp>
      <p:sp>
        <p:nvSpPr>
          <p:cNvPr id="59" name="Text 56"/>
          <p:cNvSpPr/>
          <p:nvPr/>
        </p:nvSpPr>
        <p:spPr>
          <a:xfrm>
            <a:off x="3960495" y="3846195"/>
            <a:ext cx="819302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MULTIPLIER</a:t>
            </a:r>
            <a:endParaRPr lang="en-US" sz="450" dirty="0"/>
          </a:p>
        </p:txBody>
      </p:sp>
      <p:sp>
        <p:nvSpPr>
          <p:cNvPr id="60" name="Shape 57"/>
          <p:cNvSpPr/>
          <p:nvPr/>
        </p:nvSpPr>
        <p:spPr>
          <a:xfrm>
            <a:off x="6360795" y="2531745"/>
            <a:ext cx="2463165" cy="1468755"/>
          </a:xfrm>
          <a:prstGeom prst="roundRect">
            <a:avLst>
              <a:gd name="adj" fmla="val 3891"/>
            </a:avLst>
          </a:prstGeom>
          <a:gradFill rotWithShape="1">
            <a:gsLst>
              <a:gs pos="0">
                <a:srgbClr val="16202F"/>
              </a:gs>
              <a:gs pos="100000">
                <a:srgbClr val="111A29"/>
              </a:gs>
            </a:gsLst>
            <a:lin ang="3600000" scaled="0"/>
          </a:gradFill>
          <a:ln w="17145">
            <a:solidFill>
              <a:srgbClr val="26C6DA">
                <a:alpha val="800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8343900" y="2531745"/>
            <a:ext cx="457200" cy="457200"/>
          </a:xfrm>
          <a:prstGeom prst="rect">
            <a:avLst/>
          </a:prstGeom>
          <a:solidFill>
            <a:srgbClr val="2196F3">
              <a:alpha val="14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6503670" y="2617470"/>
            <a:ext cx="171450" cy="17145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95250" dist="28575" dir="16200000">
              <a:srgbClr val="2196F3">
                <a:alpha val="35000"/>
              </a:srgbClr>
            </a:outerShdw>
          </a:effectLst>
        </p:spPr>
      </p:sp>
      <p:sp>
        <p:nvSpPr>
          <p:cNvPr id="63" name="Text 60"/>
          <p:cNvSpPr/>
          <p:nvPr/>
        </p:nvSpPr>
        <p:spPr>
          <a:xfrm>
            <a:off x="6535103" y="2657475"/>
            <a:ext cx="18288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585" dirty="0"/>
          </a:p>
        </p:txBody>
      </p:sp>
      <p:sp>
        <p:nvSpPr>
          <p:cNvPr id="64" name="Text 61"/>
          <p:cNvSpPr/>
          <p:nvPr/>
        </p:nvSpPr>
        <p:spPr>
          <a:xfrm>
            <a:off x="6743700" y="2654618"/>
            <a:ext cx="597218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企业级捆绑</a:t>
            </a:r>
            <a:endParaRPr lang="en-US" sz="765" dirty="0"/>
          </a:p>
        </p:txBody>
      </p:sp>
      <p:sp>
        <p:nvSpPr>
          <p:cNvPr id="65" name="Text 62"/>
          <p:cNvSpPr/>
          <p:nvPr/>
        </p:nvSpPr>
        <p:spPr>
          <a:xfrm>
            <a:off x="6503670" y="2828925"/>
            <a:ext cx="2477110" cy="1225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85" dirty="0">
                <a:solidFill>
                  <a:srgbClr val="CBD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把内核、容器、AI 组件打包成完整平台，形成订阅闭环。</a:t>
            </a:r>
            <a:endParaRPr lang="en-US" sz="585" dirty="0"/>
          </a:p>
        </p:txBody>
      </p:sp>
      <p:sp>
        <p:nvSpPr>
          <p:cNvPr id="66" name="Shape 63"/>
          <p:cNvSpPr/>
          <p:nvPr/>
        </p:nvSpPr>
        <p:spPr>
          <a:xfrm>
            <a:off x="6503670" y="3806190"/>
            <a:ext cx="2211705" cy="108585"/>
          </a:xfrm>
          <a:prstGeom prst="rect">
            <a:avLst/>
          </a:prstGeom>
          <a:noFill/>
          <a:ln/>
        </p:spPr>
      </p:sp>
      <p:sp>
        <p:nvSpPr>
          <p:cNvPr id="67" name="Shape 64"/>
          <p:cNvSpPr/>
          <p:nvPr/>
        </p:nvSpPr>
        <p:spPr>
          <a:xfrm>
            <a:off x="6503670" y="3806190"/>
            <a:ext cx="2211705" cy="0"/>
          </a:xfrm>
          <a:prstGeom prst="line">
            <a:avLst/>
          </a:prstGeom>
          <a:noFill/>
          <a:ln w="5715">
            <a:solidFill>
              <a:srgbClr val="00BCD4">
                <a:alpha val="25000"/>
              </a:srgbClr>
            </a:solidFill>
            <a:prstDash val="dash"/>
          </a:ln>
        </p:spPr>
      </p:sp>
      <p:sp>
        <p:nvSpPr>
          <p:cNvPr id="68" name="Text 65"/>
          <p:cNvSpPr/>
          <p:nvPr/>
        </p:nvSpPr>
        <p:spPr>
          <a:xfrm>
            <a:off x="6503670" y="3846195"/>
            <a:ext cx="819302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BUNDLE</a:t>
            </a:r>
            <a:endParaRPr lang="en-US" sz="450" dirty="0"/>
          </a:p>
        </p:txBody>
      </p:sp>
      <p:sp>
        <p:nvSpPr>
          <p:cNvPr id="69" name="Shape 66"/>
          <p:cNvSpPr/>
          <p:nvPr/>
        </p:nvSpPr>
        <p:spPr>
          <a:xfrm>
            <a:off x="320040" y="4080510"/>
            <a:ext cx="2781240" cy="537210"/>
          </a:xfrm>
          <a:prstGeom prst="roundRect">
            <a:avLst>
              <a:gd name="adj" fmla="val 10638"/>
            </a:avLst>
          </a:prstGeom>
          <a:gradFill rotWithShape="1">
            <a:gsLst>
              <a:gs pos="0">
                <a:srgbClr val="2196F3">
                  <a:alpha val="10000"/>
                </a:srgbClr>
              </a:gs>
              <a:gs pos="100000">
                <a:srgbClr val="00BCD4">
                  <a:alpha val="6000"/>
                </a:srgbClr>
              </a:gs>
            </a:gsLst>
            <a:lin ang="30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2746949" y="3966210"/>
            <a:ext cx="457200" cy="457200"/>
          </a:xfrm>
          <a:prstGeom prst="rect">
            <a:avLst/>
          </a:prstGeom>
          <a:solidFill>
            <a:srgbClr val="2196F3">
              <a:alpha val="15000"/>
            </a:srgbClr>
          </a:solidFill>
          <a:ln/>
        </p:spPr>
      </p:sp>
      <p:sp>
        <p:nvSpPr>
          <p:cNvPr id="71" name="Text 68"/>
          <p:cNvSpPr/>
          <p:nvPr/>
        </p:nvSpPr>
        <p:spPr>
          <a:xfrm>
            <a:off x="428625" y="4251960"/>
            <a:ext cx="295573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</a:t>
            </a:r>
            <a:endParaRPr lang="en-US" sz="1260" dirty="0"/>
          </a:p>
        </p:txBody>
      </p:sp>
      <p:sp>
        <p:nvSpPr>
          <p:cNvPr id="72" name="Text 69"/>
          <p:cNvSpPr/>
          <p:nvPr/>
        </p:nvSpPr>
        <p:spPr>
          <a:xfrm>
            <a:off x="691515" y="4256514"/>
            <a:ext cx="58864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45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Hat 模式</a:t>
            </a:r>
            <a:endParaRPr lang="en-US" sz="585" dirty="0"/>
          </a:p>
        </p:txBody>
      </p:sp>
      <p:sp>
        <p:nvSpPr>
          <p:cNvPr id="73" name="Text 70"/>
          <p:cNvSpPr/>
          <p:nvPr/>
        </p:nvSpPr>
        <p:spPr>
          <a:xfrm>
            <a:off x="691515" y="4365099"/>
            <a:ext cx="85770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订阅制 · 服务 + 支持 + 更新</a:t>
            </a:r>
            <a:endParaRPr lang="en-US" sz="495" dirty="0"/>
          </a:p>
        </p:txBody>
      </p:sp>
      <p:sp>
        <p:nvSpPr>
          <p:cNvPr id="74" name="Shape 71"/>
          <p:cNvSpPr/>
          <p:nvPr/>
        </p:nvSpPr>
        <p:spPr>
          <a:xfrm>
            <a:off x="3181290" y="4080510"/>
            <a:ext cx="2781330" cy="537210"/>
          </a:xfrm>
          <a:prstGeom prst="roundRect">
            <a:avLst>
              <a:gd name="adj" fmla="val 10638"/>
            </a:avLst>
          </a:prstGeom>
          <a:gradFill rotWithShape="1">
            <a:gsLst>
              <a:gs pos="0">
                <a:srgbClr val="2196F3">
                  <a:alpha val="10000"/>
                </a:srgbClr>
              </a:gs>
              <a:gs pos="100000">
                <a:srgbClr val="00BCD4">
                  <a:alpha val="6000"/>
                </a:srgbClr>
              </a:gs>
            </a:gsLst>
            <a:lin ang="30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5608291" y="3966210"/>
            <a:ext cx="457200" cy="457200"/>
          </a:xfrm>
          <a:prstGeom prst="rect">
            <a:avLst/>
          </a:prstGeom>
          <a:solidFill>
            <a:srgbClr val="2196F3">
              <a:alpha val="15000"/>
            </a:srgbClr>
          </a:solidFill>
          <a:ln/>
        </p:spPr>
      </p:sp>
      <p:sp>
        <p:nvSpPr>
          <p:cNvPr id="76" name="Text 73"/>
          <p:cNvSpPr/>
          <p:nvPr/>
        </p:nvSpPr>
        <p:spPr>
          <a:xfrm>
            <a:off x="3289875" y="4154805"/>
            <a:ext cx="462915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5–10y</a:t>
            </a:r>
            <a:endParaRPr lang="en-US" sz="1260" dirty="0"/>
          </a:p>
        </p:txBody>
      </p:sp>
      <p:sp>
        <p:nvSpPr>
          <p:cNvPr id="77" name="Text 74"/>
          <p:cNvSpPr/>
          <p:nvPr/>
        </p:nvSpPr>
        <p:spPr>
          <a:xfrm>
            <a:off x="3552765" y="4256514"/>
            <a:ext cx="57150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45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LTS 长期支持</a:t>
            </a:r>
            <a:endParaRPr lang="en-US" sz="585" dirty="0"/>
          </a:p>
        </p:txBody>
      </p:sp>
      <p:sp>
        <p:nvSpPr>
          <p:cNvPr id="78" name="Text 75"/>
          <p:cNvSpPr/>
          <p:nvPr/>
        </p:nvSpPr>
        <p:spPr>
          <a:xfrm>
            <a:off x="3552765" y="4365099"/>
            <a:ext cx="77449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主流发行版长期支持年限</a:t>
            </a:r>
            <a:endParaRPr lang="en-US" sz="495" dirty="0"/>
          </a:p>
        </p:txBody>
      </p:sp>
      <p:sp>
        <p:nvSpPr>
          <p:cNvPr id="79" name="Shape 76"/>
          <p:cNvSpPr/>
          <p:nvPr/>
        </p:nvSpPr>
        <p:spPr>
          <a:xfrm>
            <a:off x="6042630" y="4080510"/>
            <a:ext cx="2781240" cy="537210"/>
          </a:xfrm>
          <a:prstGeom prst="roundRect">
            <a:avLst>
              <a:gd name="adj" fmla="val 10638"/>
            </a:avLst>
          </a:prstGeom>
          <a:gradFill rotWithShape="1">
            <a:gsLst>
              <a:gs pos="0">
                <a:srgbClr val="2196F3">
                  <a:alpha val="10000"/>
                </a:srgbClr>
              </a:gs>
              <a:gs pos="100000">
                <a:srgbClr val="00BCD4">
                  <a:alpha val="6000"/>
                </a:srgbClr>
              </a:gs>
            </a:gsLst>
            <a:lin ang="30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8469539" y="3966210"/>
            <a:ext cx="457200" cy="457200"/>
          </a:xfrm>
          <a:prstGeom prst="rect">
            <a:avLst/>
          </a:prstGeom>
          <a:solidFill>
            <a:srgbClr val="2196F3">
              <a:alpha val="15000"/>
            </a:srgbClr>
          </a:solidFill>
          <a:ln/>
        </p:spPr>
      </p:sp>
      <p:sp>
        <p:nvSpPr>
          <p:cNvPr id="81" name="Text 78"/>
          <p:cNvSpPr/>
          <p:nvPr/>
        </p:nvSpPr>
        <p:spPr>
          <a:xfrm>
            <a:off x="6151215" y="4251960"/>
            <a:ext cx="396210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×∞</a:t>
            </a:r>
            <a:endParaRPr lang="en-US" sz="1260" dirty="0"/>
          </a:p>
        </p:txBody>
      </p:sp>
      <p:sp>
        <p:nvSpPr>
          <p:cNvPr id="82" name="Text 79"/>
          <p:cNvSpPr/>
          <p:nvPr/>
        </p:nvSpPr>
        <p:spPr>
          <a:xfrm>
            <a:off x="6414105" y="4256514"/>
            <a:ext cx="47434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45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云收入放大</a:t>
            </a:r>
            <a:endParaRPr lang="en-US" sz="585" dirty="0"/>
          </a:p>
        </p:txBody>
      </p:sp>
      <p:sp>
        <p:nvSpPr>
          <p:cNvPr id="83" name="Text 80"/>
          <p:cNvSpPr/>
          <p:nvPr/>
        </p:nvSpPr>
        <p:spPr>
          <a:xfrm>
            <a:off x="6414105" y="4365099"/>
            <a:ext cx="97292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间接变现 · 开源内核作为云底座</a:t>
            </a:r>
            <a:endParaRPr lang="en-US" sz="495" dirty="0"/>
          </a:p>
        </p:txBody>
      </p:sp>
      <p:sp>
        <p:nvSpPr>
          <p:cNvPr id="84" name="Shape 81"/>
          <p:cNvSpPr/>
          <p:nvPr/>
        </p:nvSpPr>
        <p:spPr>
          <a:xfrm>
            <a:off x="320040" y="4686300"/>
            <a:ext cx="8503920" cy="251460"/>
          </a:xfrm>
          <a:prstGeom prst="roundRect">
            <a:avLst>
              <a:gd name="adj" fmla="val 13636"/>
            </a:avLst>
          </a:prstGeom>
          <a:gradFill rotWithShape="1">
            <a:gsLst>
              <a:gs pos="0">
                <a:srgbClr val="2196F3">
                  <a:alpha val="10000"/>
                </a:srgbClr>
              </a:gs>
              <a:gs pos="50000">
                <a:srgbClr val="00BCD4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85" name="Shape 82"/>
          <p:cNvSpPr/>
          <p:nvPr/>
        </p:nvSpPr>
        <p:spPr>
          <a:xfrm>
            <a:off x="320040" y="4686300"/>
            <a:ext cx="0" cy="251460"/>
          </a:xfrm>
          <a:prstGeom prst="line">
            <a:avLst/>
          </a:prstGeom>
          <a:noFill/>
          <a:ln w="17145">
            <a:solidFill>
              <a:srgbClr val="00BCD4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451485" y="4754880"/>
            <a:ext cx="19431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</a:t>
            </a:r>
            <a:endParaRPr lang="en-US" sz="900" dirty="0"/>
          </a:p>
        </p:txBody>
      </p:sp>
      <p:sp>
        <p:nvSpPr>
          <p:cNvPr id="87" name="Text 84"/>
          <p:cNvSpPr/>
          <p:nvPr/>
        </p:nvSpPr>
        <p:spPr>
          <a:xfrm>
            <a:off x="588645" y="4756309"/>
            <a:ext cx="3974897" cy="1114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85" dirty="0">
                <a:solidFill>
                  <a:srgbClr val="DCE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本身免费，但围绕它的商业价值被反复变现——</a:t>
            </a:r>
            <a:pPr algn="l" indent="0" marL="0">
              <a:lnSpc>
                <a:spcPct val="150000"/>
              </a:lnSpc>
              <a:buNone/>
            </a:pPr>
            <a:r>
              <a:rPr lang="en-US" sz="58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三条路径互为补充</a:t>
            </a:r>
            <a:pPr algn="l" indent="0" marL="0">
              <a:lnSpc>
                <a:spcPct val="150000"/>
              </a:lnSpc>
              <a:buNone/>
            </a:pPr>
            <a:r>
              <a:rPr lang="en-US" sz="585" dirty="0">
                <a:solidFill>
                  <a:srgbClr val="DCE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，共同构成 Linux 商业版图的支柱。</a:t>
            </a:r>
            <a:endParaRPr lang="en-US" sz="58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A1F42"/>
              </a:gs>
              <a:gs pos="52000">
                <a:srgbClr val="061029"/>
              </a:gs>
              <a:gs pos="100000">
                <a:srgbClr val="030711"/>
              </a:gs>
            </a:gsLst>
            <a:lin ang="39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96F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55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55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BCD4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5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8590" y="148590"/>
            <a:ext cx="342900" cy="342900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148590" y="148590"/>
            <a:ext cx="342900" cy="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8590" y="148590"/>
            <a:ext cx="0" cy="34290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52510" y="148590"/>
            <a:ext cx="342900" cy="3429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8652510" y="148590"/>
            <a:ext cx="342900" cy="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95410" y="148590"/>
            <a:ext cx="0" cy="34290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8590" y="4652010"/>
            <a:ext cx="342900" cy="3429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148590" y="4994910"/>
            <a:ext cx="342900" cy="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8590" y="4652010"/>
            <a:ext cx="0" cy="34290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52510" y="4652010"/>
            <a:ext cx="342900" cy="3429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8995410" y="4652010"/>
            <a:ext cx="0" cy="34290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52510" y="4994910"/>
            <a:ext cx="342900" cy="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900" y="342900"/>
            <a:ext cx="2102048" cy="177165"/>
          </a:xfrm>
          <a:prstGeom prst="roundRect">
            <a:avLst>
              <a:gd name="adj" fmla="val 9677"/>
            </a:avLst>
          </a:prstGeom>
          <a:solidFill>
            <a:srgbClr val="00BCD4">
              <a:alpha val="8000"/>
            </a:srgbClr>
          </a:solidFill>
          <a:ln w="5715">
            <a:solidFill>
              <a:srgbClr val="00BCD4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" y="342900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20065" y="382905"/>
            <a:ext cx="2059857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62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ECONOMICS · 隐形资产</a:t>
            </a:r>
            <a:endParaRPr lang="en-US" sz="540" dirty="0"/>
          </a:p>
        </p:txBody>
      </p:sp>
      <p:sp>
        <p:nvSpPr>
          <p:cNvPr id="22" name="Shape 20"/>
          <p:cNvSpPr/>
          <p:nvPr/>
        </p:nvSpPr>
        <p:spPr>
          <a:xfrm>
            <a:off x="342900" y="657225"/>
            <a:ext cx="45720" cy="50292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71450" dist="50800" dir="16200000">
              <a:srgbClr val="2196F3">
                <a:alpha val="8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2900" y="1194435"/>
            <a:ext cx="45720" cy="102870"/>
          </a:xfrm>
          <a:prstGeom prst="rect">
            <a:avLst/>
          </a:prstGeom>
          <a:solidFill>
            <a:srgbClr val="00BCD4">
              <a:alpha val="5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37210" y="652046"/>
            <a:ext cx="2143125" cy="4114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spc="135" kern="0" dirty="0">
                <a:solidFill>
                  <a:srgbClr val="F0F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开源生态的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2337435" y="652046"/>
            <a:ext cx="1783080" cy="4114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隐形收益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537210" y="1148090"/>
            <a:ext cx="341828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spc="63" kern="0" dirty="0">
                <a:solidFill>
                  <a:srgbClr val="A9B8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标准</a:t>
            </a:r>
            <a:endParaRPr lang="en-US" sz="855" dirty="0"/>
          </a:p>
        </p:txBody>
      </p:sp>
      <p:sp>
        <p:nvSpPr>
          <p:cNvPr id="27" name="Shape 25"/>
          <p:cNvSpPr/>
          <p:nvPr/>
        </p:nvSpPr>
        <p:spPr>
          <a:xfrm>
            <a:off x="839033" y="1198453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36188" y="1148090"/>
            <a:ext cx="341828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spc="63" kern="0" dirty="0">
                <a:solidFill>
                  <a:srgbClr val="A9B8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</a:t>
            </a:r>
            <a:endParaRPr lang="en-US" sz="855" dirty="0"/>
          </a:p>
        </p:txBody>
      </p:sp>
      <p:sp>
        <p:nvSpPr>
          <p:cNvPr id="29" name="Shape 27"/>
          <p:cNvSpPr/>
          <p:nvPr/>
        </p:nvSpPr>
        <p:spPr>
          <a:xfrm>
            <a:off x="1238012" y="1198453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335167" y="1148090"/>
            <a:ext cx="691515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spc="63" kern="0" dirty="0">
                <a:solidFill>
                  <a:srgbClr val="A9B8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供应链韧性</a:t>
            </a:r>
            <a:endParaRPr lang="en-US" sz="855" dirty="0"/>
          </a:p>
        </p:txBody>
      </p:sp>
      <p:sp>
        <p:nvSpPr>
          <p:cNvPr id="31" name="Text 29"/>
          <p:cNvSpPr/>
          <p:nvPr/>
        </p:nvSpPr>
        <p:spPr>
          <a:xfrm>
            <a:off x="1975247" y="1148090"/>
            <a:ext cx="184595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spc="63" kern="0" dirty="0">
                <a:solidFill>
                  <a:srgbClr val="7890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855" dirty="0"/>
          </a:p>
        </p:txBody>
      </p:sp>
      <p:sp>
        <p:nvSpPr>
          <p:cNvPr id="32" name="Text 30"/>
          <p:cNvSpPr/>
          <p:nvPr/>
        </p:nvSpPr>
        <p:spPr>
          <a:xfrm>
            <a:off x="2069009" y="1148090"/>
            <a:ext cx="924758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spc="63" kern="0" dirty="0">
                <a:solidFill>
                  <a:srgbClr val="A9B8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带来的长期回报</a:t>
            </a:r>
            <a:endParaRPr lang="en-US" sz="855" dirty="0"/>
          </a:p>
        </p:txBody>
      </p:sp>
      <p:sp>
        <p:nvSpPr>
          <p:cNvPr id="33" name="Shape 31"/>
          <p:cNvSpPr/>
          <p:nvPr/>
        </p:nvSpPr>
        <p:spPr>
          <a:xfrm>
            <a:off x="5800725" y="848678"/>
            <a:ext cx="10287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2196F3">
                  <a:alpha val="60000"/>
                </a:srgbClr>
              </a:gs>
            </a:gsLst>
            <a:lin ang="0" scaled="0"/>
          </a:gradFill>
          <a:ln/>
        </p:spPr>
      </p:sp>
      <p:sp>
        <p:nvSpPr>
          <p:cNvPr id="34" name="Text 32"/>
          <p:cNvSpPr/>
          <p:nvPr/>
        </p:nvSpPr>
        <p:spPr>
          <a:xfrm>
            <a:off x="6886575" y="811530"/>
            <a:ext cx="214426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7890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INVISIBLE · COMPOUNDING · STRUCTURAL</a:t>
            </a:r>
            <a:endParaRPr lang="en-US" sz="495" dirty="0"/>
          </a:p>
        </p:txBody>
      </p:sp>
      <p:sp>
        <p:nvSpPr>
          <p:cNvPr id="35" name="Shape 33"/>
          <p:cNvSpPr/>
          <p:nvPr/>
        </p:nvSpPr>
        <p:spPr>
          <a:xfrm>
            <a:off x="342900" y="1503045"/>
            <a:ext cx="2020253" cy="2700963"/>
          </a:xfrm>
          <a:prstGeom prst="roundRect">
            <a:avLst>
              <a:gd name="adj" fmla="val 3395"/>
            </a:avLst>
          </a:prstGeom>
          <a:gradFill rotWithShape="1">
            <a:gsLst>
              <a:gs pos="0">
                <a:srgbClr val="142444">
                  <a:alpha val="68000"/>
                </a:srgbClr>
              </a:gs>
              <a:gs pos="100000">
                <a:srgbClr val="0A142C">
                  <a:alpha val="92000"/>
                </a:srgbClr>
              </a:gs>
            </a:gsLst>
            <a:lin ang="540000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2900" y="1503045"/>
            <a:ext cx="2008823" cy="1714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7" name="Shape 35"/>
          <p:cNvSpPr/>
          <p:nvPr/>
        </p:nvSpPr>
        <p:spPr>
          <a:xfrm>
            <a:off x="1723073" y="1217295"/>
            <a:ext cx="914400" cy="914400"/>
          </a:xfrm>
          <a:prstGeom prst="rect">
            <a:avLst/>
          </a:prstGeom>
          <a:solidFill>
            <a:srgbClr val="2196F3">
              <a:alpha val="2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945958" y="1623060"/>
            <a:ext cx="630936" cy="2628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70" b="1" spc="-90" kern="0" dirty="0">
                <a:solidFill>
                  <a:srgbClr val="00BCD4">
                    <a:alpha val="1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070" dirty="0"/>
          </a:p>
        </p:txBody>
      </p:sp>
      <p:sp>
        <p:nvSpPr>
          <p:cNvPr id="39" name="Shape 37"/>
          <p:cNvSpPr/>
          <p:nvPr/>
        </p:nvSpPr>
        <p:spPr>
          <a:xfrm>
            <a:off x="462915" y="1657350"/>
            <a:ext cx="617220" cy="617220"/>
          </a:xfrm>
          <a:prstGeom prst="ellipse">
            <a:avLst/>
          </a:prstGeom>
          <a:gradFill rotWithShape="1">
            <a:gsLst>
              <a:gs pos="0">
                <a:srgbClr val="00BCD4">
                  <a:alpha val="55000"/>
                </a:srgbClr>
              </a:gs>
              <a:gs pos="65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7205" y="1691640"/>
            <a:ext cx="548640" cy="54864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497205" y="2394585"/>
            <a:ext cx="817245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35" b="1" spc="45" kern="0" dirty="0">
                <a:solidFill>
                  <a:srgbClr val="F0F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标准话语权</a:t>
            </a:r>
            <a:endParaRPr lang="en-US" sz="1035" dirty="0"/>
          </a:p>
        </p:txBody>
      </p:sp>
      <p:sp>
        <p:nvSpPr>
          <p:cNvPr id="42" name="Text 39"/>
          <p:cNvSpPr/>
          <p:nvPr/>
        </p:nvSpPr>
        <p:spPr>
          <a:xfrm>
            <a:off x="497205" y="2594610"/>
            <a:ext cx="94611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44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POWER</a:t>
            </a:r>
            <a:endParaRPr lang="en-US" sz="495" dirty="0"/>
          </a:p>
        </p:txBody>
      </p:sp>
      <p:sp>
        <p:nvSpPr>
          <p:cNvPr id="43" name="Shape 40"/>
          <p:cNvSpPr/>
          <p:nvPr/>
        </p:nvSpPr>
        <p:spPr>
          <a:xfrm>
            <a:off x="497205" y="2777490"/>
            <a:ext cx="1711643" cy="5715"/>
          </a:xfrm>
          <a:prstGeom prst="rect">
            <a:avLst/>
          </a:prstGeom>
          <a:gradFill rotWithShape="1">
            <a:gsLst>
              <a:gs pos="0">
                <a:srgbClr val="00BCD4">
                  <a:alpha val="5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4" name="Text 41"/>
          <p:cNvSpPr/>
          <p:nvPr/>
        </p:nvSpPr>
        <p:spPr>
          <a:xfrm>
            <a:off x="497205" y="2903220"/>
            <a:ext cx="1792224" cy="4086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75" spc="18" kern="0" dirty="0">
                <a:solidFill>
                  <a:srgbClr val="A9B8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控制 Kube、gRPC、OpenSSL 等核心项目，即定义未来技术标准的边界与演进方向。</a:t>
            </a:r>
            <a:endParaRPr lang="en-US" sz="675" dirty="0"/>
          </a:p>
        </p:txBody>
      </p:sp>
      <p:sp>
        <p:nvSpPr>
          <p:cNvPr id="45" name="Shape 42"/>
          <p:cNvSpPr/>
          <p:nvPr/>
        </p:nvSpPr>
        <p:spPr>
          <a:xfrm>
            <a:off x="497205" y="3826818"/>
            <a:ext cx="1711643" cy="222885"/>
          </a:xfrm>
          <a:prstGeom prst="roundRect">
            <a:avLst>
              <a:gd name="adj" fmla="val 7692"/>
            </a:avLst>
          </a:prstGeom>
          <a:gradFill rotWithShape="1">
            <a:gsLst>
              <a:gs pos="0">
                <a:srgbClr val="00BCD4">
                  <a:alpha val="14000"/>
                </a:srgbClr>
              </a:gs>
              <a:gs pos="100000">
                <a:srgbClr val="2196F3">
                  <a:alpha val="8000"/>
                </a:srgbClr>
              </a:gs>
            </a:gsLst>
            <a:lin ang="0" scaled="0"/>
          </a:gradFill>
          <a:ln/>
        </p:spPr>
      </p:sp>
      <p:sp>
        <p:nvSpPr>
          <p:cNvPr id="46" name="Shape 43"/>
          <p:cNvSpPr/>
          <p:nvPr/>
        </p:nvSpPr>
        <p:spPr>
          <a:xfrm>
            <a:off x="497205" y="3826818"/>
            <a:ext cx="0" cy="222885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97205" y="3826818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48" name="Text 45"/>
          <p:cNvSpPr/>
          <p:nvPr/>
        </p:nvSpPr>
        <p:spPr>
          <a:xfrm>
            <a:off x="662940" y="3883968"/>
            <a:ext cx="851306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标准话语权 · 定义未来</a:t>
            </a:r>
            <a:endParaRPr lang="en-US" sz="585" dirty="0"/>
          </a:p>
        </p:txBody>
      </p:sp>
      <p:sp>
        <p:nvSpPr>
          <p:cNvPr id="49" name="Shape 46"/>
          <p:cNvSpPr/>
          <p:nvPr/>
        </p:nvSpPr>
        <p:spPr>
          <a:xfrm>
            <a:off x="2488883" y="1503045"/>
            <a:ext cx="2020253" cy="2700963"/>
          </a:xfrm>
          <a:prstGeom prst="roundRect">
            <a:avLst>
              <a:gd name="adj" fmla="val 3395"/>
            </a:avLst>
          </a:prstGeom>
          <a:gradFill rotWithShape="1">
            <a:gsLst>
              <a:gs pos="0">
                <a:srgbClr val="142444">
                  <a:alpha val="68000"/>
                </a:srgbClr>
              </a:gs>
              <a:gs pos="100000">
                <a:srgbClr val="0A142C">
                  <a:alpha val="92000"/>
                </a:srgbClr>
              </a:gs>
            </a:gsLst>
            <a:lin ang="540000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488883" y="1503045"/>
            <a:ext cx="2008823" cy="1714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1" name="Shape 48"/>
          <p:cNvSpPr/>
          <p:nvPr/>
        </p:nvSpPr>
        <p:spPr>
          <a:xfrm>
            <a:off x="3869055" y="1217295"/>
            <a:ext cx="914400" cy="914400"/>
          </a:xfrm>
          <a:prstGeom prst="rect">
            <a:avLst/>
          </a:prstGeom>
          <a:solidFill>
            <a:srgbClr val="2196F3">
              <a:alpha val="22000"/>
            </a:srgbClr>
          </a:solidFill>
          <a:ln/>
        </p:spPr>
      </p:sp>
      <p:sp>
        <p:nvSpPr>
          <p:cNvPr id="52" name="Text 49"/>
          <p:cNvSpPr/>
          <p:nvPr/>
        </p:nvSpPr>
        <p:spPr>
          <a:xfrm>
            <a:off x="4040505" y="1623060"/>
            <a:ext cx="630936" cy="2628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70" b="1" spc="-90" kern="0" dirty="0">
                <a:solidFill>
                  <a:srgbClr val="2196F3">
                    <a:alpha val="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070" dirty="0"/>
          </a:p>
        </p:txBody>
      </p:sp>
      <p:sp>
        <p:nvSpPr>
          <p:cNvPr id="53" name="Shape 50"/>
          <p:cNvSpPr/>
          <p:nvPr/>
        </p:nvSpPr>
        <p:spPr>
          <a:xfrm>
            <a:off x="2608898" y="1657350"/>
            <a:ext cx="617220" cy="617220"/>
          </a:xfrm>
          <a:prstGeom prst="ellipse">
            <a:avLst/>
          </a:prstGeom>
          <a:gradFill rotWithShape="1">
            <a:gsLst>
              <a:gs pos="0">
                <a:srgbClr val="2196F3">
                  <a:alpha val="45000"/>
                </a:srgbClr>
              </a:gs>
              <a:gs pos="65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pic>
        <p:nvPicPr>
          <p:cNvPr id="5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43188" y="1691640"/>
            <a:ext cx="548640" cy="548640"/>
          </a:xfrm>
          <a:prstGeom prst="rect">
            <a:avLst/>
          </a:prstGeom>
        </p:spPr>
      </p:pic>
      <p:sp>
        <p:nvSpPr>
          <p:cNvPr id="55" name="Text 51"/>
          <p:cNvSpPr/>
          <p:nvPr/>
        </p:nvSpPr>
        <p:spPr>
          <a:xfrm>
            <a:off x="2643188" y="2394585"/>
            <a:ext cx="817245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35" b="1" spc="45" kern="0" dirty="0">
                <a:solidFill>
                  <a:srgbClr val="F0F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安全众源化</a:t>
            </a:r>
            <a:endParaRPr lang="en-US" sz="1035" dirty="0"/>
          </a:p>
        </p:txBody>
      </p:sp>
      <p:sp>
        <p:nvSpPr>
          <p:cNvPr id="56" name="Text 52"/>
          <p:cNvSpPr/>
          <p:nvPr/>
        </p:nvSpPr>
        <p:spPr>
          <a:xfrm>
            <a:off x="2643188" y="2594610"/>
            <a:ext cx="926916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44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CROWD SECURITY</a:t>
            </a:r>
            <a:endParaRPr lang="en-US" sz="495" dirty="0"/>
          </a:p>
        </p:txBody>
      </p:sp>
      <p:sp>
        <p:nvSpPr>
          <p:cNvPr id="57" name="Shape 53"/>
          <p:cNvSpPr/>
          <p:nvPr/>
        </p:nvSpPr>
        <p:spPr>
          <a:xfrm>
            <a:off x="2643188" y="2777490"/>
            <a:ext cx="1711643" cy="5715"/>
          </a:xfrm>
          <a:prstGeom prst="rect">
            <a:avLst/>
          </a:prstGeom>
          <a:gradFill rotWithShape="1">
            <a:gsLst>
              <a:gs pos="0">
                <a:srgbClr val="00BCD4">
                  <a:alpha val="5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8" name="Text 54"/>
          <p:cNvSpPr/>
          <p:nvPr/>
        </p:nvSpPr>
        <p:spPr>
          <a:xfrm>
            <a:off x="2643188" y="2903220"/>
            <a:ext cx="1903638" cy="258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75" spc="18" kern="0" dirty="0">
                <a:solidFill>
                  <a:srgbClr val="A9B8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CVE 漏洞由全球开发者共同修复，响应速度远超任何单一厂商的封闭团队。</a:t>
            </a:r>
            <a:endParaRPr lang="en-US" sz="675" dirty="0"/>
          </a:p>
        </p:txBody>
      </p:sp>
      <p:sp>
        <p:nvSpPr>
          <p:cNvPr id="59" name="Shape 55"/>
          <p:cNvSpPr/>
          <p:nvPr/>
        </p:nvSpPr>
        <p:spPr>
          <a:xfrm>
            <a:off x="2643188" y="3826818"/>
            <a:ext cx="1711643" cy="222885"/>
          </a:xfrm>
          <a:prstGeom prst="roundRect">
            <a:avLst>
              <a:gd name="adj" fmla="val 7692"/>
            </a:avLst>
          </a:prstGeom>
          <a:gradFill rotWithShape="1">
            <a:gsLst>
              <a:gs pos="0">
                <a:srgbClr val="00BCD4">
                  <a:alpha val="14000"/>
                </a:srgbClr>
              </a:gs>
              <a:gs pos="100000">
                <a:srgbClr val="2196F3">
                  <a:alpha val="8000"/>
                </a:srgbClr>
              </a:gs>
            </a:gsLst>
            <a:lin ang="0" scaled="0"/>
          </a:gradFill>
          <a:ln/>
        </p:spPr>
      </p:sp>
      <p:sp>
        <p:nvSpPr>
          <p:cNvPr id="60" name="Shape 56"/>
          <p:cNvSpPr/>
          <p:nvPr/>
        </p:nvSpPr>
        <p:spPr>
          <a:xfrm>
            <a:off x="2643188" y="3826818"/>
            <a:ext cx="0" cy="222885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2643188" y="3826818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62" name="Text 58"/>
          <p:cNvSpPr/>
          <p:nvPr/>
        </p:nvSpPr>
        <p:spPr>
          <a:xfrm>
            <a:off x="2808923" y="3883968"/>
            <a:ext cx="79690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CVE 响应 · 众源加速</a:t>
            </a:r>
            <a:endParaRPr lang="en-US" sz="585" dirty="0"/>
          </a:p>
        </p:txBody>
      </p:sp>
      <p:sp>
        <p:nvSpPr>
          <p:cNvPr id="63" name="Shape 59"/>
          <p:cNvSpPr/>
          <p:nvPr/>
        </p:nvSpPr>
        <p:spPr>
          <a:xfrm>
            <a:off x="4634865" y="1503045"/>
            <a:ext cx="2020253" cy="2700963"/>
          </a:xfrm>
          <a:prstGeom prst="roundRect">
            <a:avLst>
              <a:gd name="adj" fmla="val 3395"/>
            </a:avLst>
          </a:prstGeom>
          <a:gradFill rotWithShape="1">
            <a:gsLst>
              <a:gs pos="0">
                <a:srgbClr val="142444">
                  <a:alpha val="68000"/>
                </a:srgbClr>
              </a:gs>
              <a:gs pos="100000">
                <a:srgbClr val="0A142C">
                  <a:alpha val="92000"/>
                </a:srgbClr>
              </a:gs>
            </a:gsLst>
            <a:lin ang="540000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4634865" y="1503045"/>
            <a:ext cx="2008823" cy="1714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5" name="Shape 61"/>
          <p:cNvSpPr/>
          <p:nvPr/>
        </p:nvSpPr>
        <p:spPr>
          <a:xfrm>
            <a:off x="6015038" y="1217295"/>
            <a:ext cx="914400" cy="914400"/>
          </a:xfrm>
          <a:prstGeom prst="rect">
            <a:avLst/>
          </a:prstGeom>
          <a:solidFill>
            <a:srgbClr val="2196F3">
              <a:alpha val="22000"/>
            </a:srgbClr>
          </a:solidFill>
          <a:ln/>
        </p:spPr>
      </p:sp>
      <p:sp>
        <p:nvSpPr>
          <p:cNvPr id="66" name="Text 62"/>
          <p:cNvSpPr/>
          <p:nvPr/>
        </p:nvSpPr>
        <p:spPr>
          <a:xfrm>
            <a:off x="6180773" y="1623060"/>
            <a:ext cx="630936" cy="2628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70" b="1" spc="-90" kern="0" dirty="0">
                <a:solidFill>
                  <a:srgbClr val="2196F3">
                    <a:alpha val="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070" dirty="0"/>
          </a:p>
        </p:txBody>
      </p:sp>
      <p:sp>
        <p:nvSpPr>
          <p:cNvPr id="67" name="Shape 63"/>
          <p:cNvSpPr/>
          <p:nvPr/>
        </p:nvSpPr>
        <p:spPr>
          <a:xfrm>
            <a:off x="4754880" y="1657350"/>
            <a:ext cx="617220" cy="617220"/>
          </a:xfrm>
          <a:prstGeom prst="ellipse">
            <a:avLst/>
          </a:prstGeom>
          <a:gradFill rotWithShape="1">
            <a:gsLst>
              <a:gs pos="0">
                <a:srgbClr val="2196F3">
                  <a:alpha val="45000"/>
                </a:srgbClr>
              </a:gs>
              <a:gs pos="65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pic>
        <p:nvPicPr>
          <p:cNvPr id="6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9170" y="1691640"/>
            <a:ext cx="548640" cy="548640"/>
          </a:xfrm>
          <a:prstGeom prst="rect">
            <a:avLst/>
          </a:prstGeom>
        </p:spPr>
      </p:pic>
      <p:sp>
        <p:nvSpPr>
          <p:cNvPr id="69" name="Text 64"/>
          <p:cNvSpPr/>
          <p:nvPr/>
        </p:nvSpPr>
        <p:spPr>
          <a:xfrm>
            <a:off x="4789170" y="2394585"/>
            <a:ext cx="817245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35" b="1" spc="45" kern="0" dirty="0">
                <a:solidFill>
                  <a:srgbClr val="F0F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供应链韧性</a:t>
            </a:r>
            <a:endParaRPr lang="en-US" sz="1035" dirty="0"/>
          </a:p>
        </p:txBody>
      </p:sp>
      <p:sp>
        <p:nvSpPr>
          <p:cNvPr id="70" name="Text 65"/>
          <p:cNvSpPr/>
          <p:nvPr/>
        </p:nvSpPr>
        <p:spPr>
          <a:xfrm>
            <a:off x="4789170" y="2594610"/>
            <a:ext cx="103953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44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RESILIENCE</a:t>
            </a:r>
            <a:endParaRPr lang="en-US" sz="495" dirty="0"/>
          </a:p>
        </p:txBody>
      </p:sp>
      <p:sp>
        <p:nvSpPr>
          <p:cNvPr id="71" name="Shape 66"/>
          <p:cNvSpPr/>
          <p:nvPr/>
        </p:nvSpPr>
        <p:spPr>
          <a:xfrm>
            <a:off x="4789170" y="2777490"/>
            <a:ext cx="1711643" cy="5715"/>
          </a:xfrm>
          <a:prstGeom prst="rect">
            <a:avLst/>
          </a:prstGeom>
          <a:gradFill rotWithShape="1">
            <a:gsLst>
              <a:gs pos="0">
                <a:srgbClr val="00BCD4">
                  <a:alpha val="5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2" name="Text 67"/>
          <p:cNvSpPr/>
          <p:nvPr/>
        </p:nvSpPr>
        <p:spPr>
          <a:xfrm>
            <a:off x="4789170" y="2903220"/>
            <a:ext cx="1872934" cy="258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75" spc="18" kern="0" dirty="0">
                <a:solidFill>
                  <a:srgbClr val="A9B8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多发行版、多发行商体系天然构建冗余，显著降低单一断供与地缘风险敞口。</a:t>
            </a:r>
            <a:endParaRPr lang="en-US" sz="675" dirty="0"/>
          </a:p>
        </p:txBody>
      </p:sp>
      <p:sp>
        <p:nvSpPr>
          <p:cNvPr id="73" name="Shape 68"/>
          <p:cNvSpPr/>
          <p:nvPr/>
        </p:nvSpPr>
        <p:spPr>
          <a:xfrm>
            <a:off x="4789170" y="3826818"/>
            <a:ext cx="1711643" cy="222885"/>
          </a:xfrm>
          <a:prstGeom prst="roundRect">
            <a:avLst>
              <a:gd name="adj" fmla="val 7692"/>
            </a:avLst>
          </a:prstGeom>
          <a:gradFill rotWithShape="1">
            <a:gsLst>
              <a:gs pos="0">
                <a:srgbClr val="00BCD4">
                  <a:alpha val="14000"/>
                </a:srgbClr>
              </a:gs>
              <a:gs pos="100000">
                <a:srgbClr val="2196F3">
                  <a:alpha val="8000"/>
                </a:srgbClr>
              </a:gs>
            </a:gsLst>
            <a:lin ang="0" scaled="0"/>
          </a:gradFill>
          <a:ln/>
        </p:spPr>
      </p:sp>
      <p:sp>
        <p:nvSpPr>
          <p:cNvPr id="74" name="Shape 69"/>
          <p:cNvSpPr/>
          <p:nvPr/>
        </p:nvSpPr>
        <p:spPr>
          <a:xfrm>
            <a:off x="4789170" y="3826818"/>
            <a:ext cx="0" cy="222885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4789170" y="3826818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76" name="Text 71"/>
          <p:cNvSpPr/>
          <p:nvPr/>
        </p:nvSpPr>
        <p:spPr>
          <a:xfrm>
            <a:off x="4954905" y="3883968"/>
            <a:ext cx="851306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供应链 · 多发行商冗余</a:t>
            </a:r>
            <a:endParaRPr lang="en-US" sz="585" dirty="0"/>
          </a:p>
        </p:txBody>
      </p:sp>
      <p:sp>
        <p:nvSpPr>
          <p:cNvPr id="77" name="Shape 72"/>
          <p:cNvSpPr/>
          <p:nvPr/>
        </p:nvSpPr>
        <p:spPr>
          <a:xfrm>
            <a:off x="6780848" y="1503045"/>
            <a:ext cx="2020253" cy="2700963"/>
          </a:xfrm>
          <a:prstGeom prst="roundRect">
            <a:avLst>
              <a:gd name="adj" fmla="val 3395"/>
            </a:avLst>
          </a:prstGeom>
          <a:gradFill rotWithShape="1">
            <a:gsLst>
              <a:gs pos="0">
                <a:srgbClr val="142444">
                  <a:alpha val="68000"/>
                </a:srgbClr>
              </a:gs>
              <a:gs pos="100000">
                <a:srgbClr val="0A142C">
                  <a:alpha val="92000"/>
                </a:srgbClr>
              </a:gs>
            </a:gsLst>
            <a:lin ang="540000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>
            <a:off x="6780848" y="1503045"/>
            <a:ext cx="2008823" cy="1714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9" name="Shape 74"/>
          <p:cNvSpPr/>
          <p:nvPr/>
        </p:nvSpPr>
        <p:spPr>
          <a:xfrm>
            <a:off x="8161020" y="1217295"/>
            <a:ext cx="914400" cy="914400"/>
          </a:xfrm>
          <a:prstGeom prst="rect">
            <a:avLst/>
          </a:prstGeom>
          <a:solidFill>
            <a:srgbClr val="2196F3">
              <a:alpha val="22000"/>
            </a:srgbClr>
          </a:solidFill>
          <a:ln/>
        </p:spPr>
      </p:sp>
      <p:sp>
        <p:nvSpPr>
          <p:cNvPr id="80" name="Text 75"/>
          <p:cNvSpPr/>
          <p:nvPr/>
        </p:nvSpPr>
        <p:spPr>
          <a:xfrm>
            <a:off x="8321040" y="1623060"/>
            <a:ext cx="630936" cy="2628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70" b="1" spc="-90" kern="0" dirty="0">
                <a:solidFill>
                  <a:srgbClr val="2196F3">
                    <a:alpha val="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070" dirty="0"/>
          </a:p>
        </p:txBody>
      </p:sp>
      <p:sp>
        <p:nvSpPr>
          <p:cNvPr id="81" name="Shape 76"/>
          <p:cNvSpPr/>
          <p:nvPr/>
        </p:nvSpPr>
        <p:spPr>
          <a:xfrm>
            <a:off x="6900863" y="1657350"/>
            <a:ext cx="617220" cy="617220"/>
          </a:xfrm>
          <a:prstGeom prst="ellipse">
            <a:avLst/>
          </a:prstGeom>
          <a:gradFill rotWithShape="1">
            <a:gsLst>
              <a:gs pos="0">
                <a:srgbClr val="2196F3">
                  <a:alpha val="45000"/>
                </a:srgbClr>
              </a:gs>
              <a:gs pos="65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pic>
        <p:nvPicPr>
          <p:cNvPr id="8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35153" y="1691640"/>
            <a:ext cx="548640" cy="548640"/>
          </a:xfrm>
          <a:prstGeom prst="rect">
            <a:avLst/>
          </a:prstGeom>
        </p:spPr>
      </p:pic>
      <p:sp>
        <p:nvSpPr>
          <p:cNvPr id="83" name="Text 77"/>
          <p:cNvSpPr/>
          <p:nvPr/>
        </p:nvSpPr>
        <p:spPr>
          <a:xfrm>
            <a:off x="6935153" y="2394585"/>
            <a:ext cx="680085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35" b="1" spc="45" kern="0" dirty="0">
                <a:solidFill>
                  <a:srgbClr val="F0F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人才虹吸</a:t>
            </a:r>
            <a:endParaRPr lang="en-US" sz="1035" dirty="0"/>
          </a:p>
        </p:txBody>
      </p:sp>
      <p:sp>
        <p:nvSpPr>
          <p:cNvPr id="84" name="Text 78"/>
          <p:cNvSpPr/>
          <p:nvPr/>
        </p:nvSpPr>
        <p:spPr>
          <a:xfrm>
            <a:off x="6935153" y="2594610"/>
            <a:ext cx="105103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44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 MAGNETISM</a:t>
            </a:r>
            <a:endParaRPr lang="en-US" sz="495" dirty="0"/>
          </a:p>
        </p:txBody>
      </p:sp>
      <p:sp>
        <p:nvSpPr>
          <p:cNvPr id="85" name="Shape 79"/>
          <p:cNvSpPr/>
          <p:nvPr/>
        </p:nvSpPr>
        <p:spPr>
          <a:xfrm>
            <a:off x="6935153" y="2777490"/>
            <a:ext cx="1711643" cy="5715"/>
          </a:xfrm>
          <a:prstGeom prst="rect">
            <a:avLst/>
          </a:prstGeom>
          <a:gradFill rotWithShape="1">
            <a:gsLst>
              <a:gs pos="0">
                <a:srgbClr val="00BCD4">
                  <a:alpha val="5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86" name="Text 80"/>
          <p:cNvSpPr/>
          <p:nvPr/>
        </p:nvSpPr>
        <p:spPr>
          <a:xfrm>
            <a:off x="6935153" y="2903220"/>
            <a:ext cx="1872934" cy="258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75" spc="18" kern="0" dirty="0">
                <a:solidFill>
                  <a:srgbClr val="A9B8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开源社区成为顶尖开发者聚集地，人才自然向生态中心汇聚并长期沉淀。</a:t>
            </a:r>
            <a:endParaRPr lang="en-US" sz="675" dirty="0"/>
          </a:p>
        </p:txBody>
      </p:sp>
      <p:sp>
        <p:nvSpPr>
          <p:cNvPr id="87" name="Shape 81"/>
          <p:cNvSpPr/>
          <p:nvPr/>
        </p:nvSpPr>
        <p:spPr>
          <a:xfrm>
            <a:off x="6935153" y="3826818"/>
            <a:ext cx="1711643" cy="222885"/>
          </a:xfrm>
          <a:prstGeom prst="roundRect">
            <a:avLst>
              <a:gd name="adj" fmla="val 7692"/>
            </a:avLst>
          </a:prstGeom>
          <a:gradFill rotWithShape="1">
            <a:gsLst>
              <a:gs pos="0">
                <a:srgbClr val="00BCD4">
                  <a:alpha val="14000"/>
                </a:srgbClr>
              </a:gs>
              <a:gs pos="100000">
                <a:srgbClr val="2196F3">
                  <a:alpha val="8000"/>
                </a:srgbClr>
              </a:gs>
            </a:gsLst>
            <a:lin ang="0" scaled="0"/>
          </a:gradFill>
          <a:ln/>
        </p:spPr>
      </p:sp>
      <p:sp>
        <p:nvSpPr>
          <p:cNvPr id="88" name="Shape 82"/>
          <p:cNvSpPr/>
          <p:nvPr/>
        </p:nvSpPr>
        <p:spPr>
          <a:xfrm>
            <a:off x="6935153" y="3826818"/>
            <a:ext cx="0" cy="222885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89" name="Shape 83"/>
          <p:cNvSpPr/>
          <p:nvPr/>
        </p:nvSpPr>
        <p:spPr>
          <a:xfrm>
            <a:off x="6935153" y="3826818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90" name="Text 84"/>
          <p:cNvSpPr/>
          <p:nvPr/>
        </p:nvSpPr>
        <p:spPr>
          <a:xfrm>
            <a:off x="7100888" y="3883968"/>
            <a:ext cx="68008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人才池 · 持续虹吸</a:t>
            </a:r>
            <a:endParaRPr lang="en-US" sz="585" dirty="0"/>
          </a:p>
        </p:txBody>
      </p:sp>
      <p:sp>
        <p:nvSpPr>
          <p:cNvPr id="91" name="Shape 85"/>
          <p:cNvSpPr/>
          <p:nvPr/>
        </p:nvSpPr>
        <p:spPr>
          <a:xfrm>
            <a:off x="342900" y="4375458"/>
            <a:ext cx="8458200" cy="425142"/>
          </a:xfrm>
          <a:prstGeom prst="rect">
            <a:avLst/>
          </a:prstGeom>
          <a:gradFill rotWithShape="1">
            <a:gsLst>
              <a:gs pos="0">
                <a:srgbClr val="2196F3">
                  <a:alpha val="12000"/>
                </a:srgbClr>
              </a:gs>
              <a:gs pos="85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92" name="Shape 86"/>
          <p:cNvSpPr/>
          <p:nvPr/>
        </p:nvSpPr>
        <p:spPr>
          <a:xfrm>
            <a:off x="342900" y="4375458"/>
            <a:ext cx="0" cy="425142"/>
          </a:xfrm>
          <a:prstGeom prst="line">
            <a:avLst/>
          </a:prstGeom>
          <a:noFill/>
          <a:ln w="17145">
            <a:solidFill>
              <a:srgbClr val="2196F3"/>
            </a:solidFill>
            <a:prstDash val="solid"/>
          </a:ln>
        </p:spPr>
      </p:sp>
      <p:sp>
        <p:nvSpPr>
          <p:cNvPr id="93" name="Text 87"/>
          <p:cNvSpPr/>
          <p:nvPr/>
        </p:nvSpPr>
        <p:spPr>
          <a:xfrm>
            <a:off x="485775" y="4466898"/>
            <a:ext cx="9172346" cy="24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90" b="1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</a:t>
            </a:r>
            <a:pPr algn="l" indent="0" marL="0">
              <a:lnSpc>
                <a:spcPct val="170000"/>
              </a:lnSpc>
              <a:buNone/>
            </a:pPr>
            <a:r>
              <a:rPr lang="en-US" sz="675" spc="23" kern="0" dirty="0">
                <a:solidFill>
                  <a:srgbClr val="A9B8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开源经济学最重要的启示，就是把这类外部性——</a:t>
            </a:r>
            <a:pPr algn="l" indent="0" marL="0">
              <a:lnSpc>
                <a:spcPct val="170000"/>
              </a:lnSpc>
              <a:buNone/>
            </a:pPr>
            <a:r>
              <a:rPr lang="en-US" sz="675" b="1" spc="23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标准制定权、安全响应效率、供应链韧性与人才集聚</a:t>
            </a:r>
            <a:pPr algn="l" indent="0" marL="0">
              <a:lnSpc>
                <a:spcPct val="170000"/>
              </a:lnSpc>
              <a:buNone/>
            </a:pPr>
            <a:r>
              <a:rPr lang="en-US" sz="675" spc="23" kern="0" dirty="0">
                <a:solidFill>
                  <a:srgbClr val="A9B8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——纳入企业战略考量。</a:t>
            </a:r>
            <a:pPr algn="l" indent="0" marL="0">
              <a:lnSpc>
                <a:spcPct val="170000"/>
              </a:lnSpc>
              <a:buNone/>
            </a:pPr>
            <a:r>
              <a:rPr lang="en-US" sz="990" b="1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」 </a:t>
            </a:r>
            <a:endParaRPr lang="en-US" sz="675" dirty="0"/>
          </a:p>
        </p:txBody>
      </p:sp>
      <p:sp>
        <p:nvSpPr>
          <p:cNvPr id="94" name="Shape 88"/>
          <p:cNvSpPr/>
          <p:nvPr/>
        </p:nvSpPr>
        <p:spPr>
          <a:xfrm>
            <a:off x="2597468" y="4512618"/>
            <a:ext cx="2037398" cy="120015"/>
          </a:xfrm>
          <a:prstGeom prst="rect">
            <a:avLst/>
          </a:prstGeom>
          <a:noFill/>
          <a:ln/>
        </p:spPr>
      </p:sp>
      <p:sp>
        <p:nvSpPr>
          <p:cNvPr id="95" name="Shape 89"/>
          <p:cNvSpPr/>
          <p:nvPr/>
        </p:nvSpPr>
        <p:spPr>
          <a:xfrm>
            <a:off x="2597468" y="4632633"/>
            <a:ext cx="2037398" cy="0"/>
          </a:xfrm>
          <a:prstGeom prst="line">
            <a:avLst/>
          </a:prstGeom>
          <a:noFill/>
          <a:ln w="5715">
            <a:solidFill>
              <a:srgbClr val="00BCD4">
                <a:alpha val="55000"/>
              </a:srgbClr>
            </a:solidFill>
            <a:prstDash val="dash"/>
          </a:ln>
        </p:spPr>
      </p:sp>
      <p:sp>
        <p:nvSpPr>
          <p:cNvPr id="96" name="Text 90"/>
          <p:cNvSpPr/>
          <p:nvPr/>
        </p:nvSpPr>
        <p:spPr>
          <a:xfrm>
            <a:off x="2597468" y="4512618"/>
            <a:ext cx="2281885" cy="120015"/>
          </a:xfrm>
          <a:prstGeom prst="rect">
            <a:avLst/>
          </a:prstGeom>
          <a:noFill/>
          <a:ln/>
        </p:spPr>
        <p:txBody>
          <a:bodyPr wrap="none" lIns="0" tIns="0" rIns="0" bIns="5715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75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标准制定权、安全响应效率、供应链韧性与人才集聚</a:t>
            </a:r>
            <a:endParaRPr lang="en-US" sz="6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50912"/>
              </a:gs>
              <a:gs pos="45000">
                <a:srgbClr val="0B1220"/>
              </a:gs>
              <a:gs pos="100000">
                <a:srgbClr val="0F1A2E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55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55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BCD4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320040"/>
            <a:ext cx="8321040" cy="200025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411480" y="520065"/>
            <a:ext cx="8321040" cy="0"/>
          </a:xfrm>
          <a:prstGeom prst="line">
            <a:avLst/>
          </a:prstGeom>
          <a:noFill/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337185"/>
            <a:ext cx="57150" cy="57150"/>
          </a:xfrm>
          <a:prstGeom prst="ellipse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8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7210" y="320040"/>
            <a:ext cx="122895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35" kern="0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 JOURNEY</a:t>
            </a:r>
            <a:endParaRPr lang="en-US" sz="585" dirty="0"/>
          </a:p>
        </p:txBody>
      </p:sp>
      <p:sp>
        <p:nvSpPr>
          <p:cNvPr id="9" name="Text 7"/>
          <p:cNvSpPr/>
          <p:nvPr/>
        </p:nvSpPr>
        <p:spPr>
          <a:xfrm>
            <a:off x="6968817" y="322898"/>
            <a:ext cx="100242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68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SECTION 03 / 04</a:t>
            </a:r>
            <a:endParaRPr lang="en-US" sz="540" dirty="0"/>
          </a:p>
        </p:txBody>
      </p:sp>
      <p:sp>
        <p:nvSpPr>
          <p:cNvPr id="10" name="Shape 8"/>
          <p:cNvSpPr/>
          <p:nvPr/>
        </p:nvSpPr>
        <p:spPr>
          <a:xfrm>
            <a:off x="7989570" y="357188"/>
            <a:ext cx="160020" cy="17145"/>
          </a:xfrm>
          <a:prstGeom prst="roundRect">
            <a:avLst>
              <a:gd name="adj" fmla="val 66667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183880" y="357188"/>
            <a:ext cx="160020" cy="17145"/>
          </a:xfrm>
          <a:prstGeom prst="roundRect">
            <a:avLst>
              <a:gd name="adj" fmla="val 66667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378190" y="357188"/>
            <a:ext cx="160020" cy="17145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76200" dist="50800" dir="16200000">
              <a:srgbClr val="2196F3">
                <a:alpha val="7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72500" y="357188"/>
            <a:ext cx="160020" cy="17145"/>
          </a:xfrm>
          <a:prstGeom prst="roundRect">
            <a:avLst>
              <a:gd name="adj" fmla="val 66667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" y="1771650"/>
            <a:ext cx="217170" cy="571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5" name="Text 13"/>
          <p:cNvSpPr/>
          <p:nvPr/>
        </p:nvSpPr>
        <p:spPr>
          <a:xfrm>
            <a:off x="708660" y="1771650"/>
            <a:ext cx="87691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7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03</a:t>
            </a:r>
            <a:endParaRPr lang="en-US" sz="585" dirty="0"/>
          </a:p>
        </p:txBody>
      </p:sp>
      <p:sp>
        <p:nvSpPr>
          <p:cNvPr id="16" name="Text 14"/>
          <p:cNvSpPr/>
          <p:nvPr/>
        </p:nvSpPr>
        <p:spPr>
          <a:xfrm>
            <a:off x="365760" y="1908810"/>
            <a:ext cx="5212080" cy="18459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7100" b="1" spc="-81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7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" y="3851910"/>
            <a:ext cx="2971800" cy="11430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11480" y="4549140"/>
            <a:ext cx="145197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135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↗</a:t>
            </a:r>
            <a:endParaRPr lang="en-US" sz="630" dirty="0"/>
          </a:p>
        </p:txBody>
      </p:sp>
      <p:sp>
        <p:nvSpPr>
          <p:cNvPr id="19" name="Text 16"/>
          <p:cNvSpPr/>
          <p:nvPr/>
        </p:nvSpPr>
        <p:spPr>
          <a:xfrm>
            <a:off x="556677" y="4557713"/>
            <a:ext cx="195874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8FA0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GROWTH · CONTRIBUTION · IMPACT</a:t>
            </a:r>
            <a:endParaRPr lang="en-US" sz="540" dirty="0"/>
          </a:p>
        </p:txBody>
      </p:sp>
      <p:sp>
        <p:nvSpPr>
          <p:cNvPr id="20" name="Shape 17"/>
          <p:cNvSpPr/>
          <p:nvPr/>
        </p:nvSpPr>
        <p:spPr>
          <a:xfrm>
            <a:off x="3634740" y="737235"/>
            <a:ext cx="1708785" cy="148590"/>
          </a:xfrm>
          <a:prstGeom prst="roundRect">
            <a:avLst>
              <a:gd name="adj" fmla="val 15385"/>
            </a:avLst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34740" y="737235"/>
            <a:ext cx="1913839" cy="148590"/>
          </a:xfrm>
          <a:prstGeom prst="rect">
            <a:avLst/>
          </a:prstGeom>
          <a:noFill/>
          <a:ln/>
        </p:spPr>
        <p:txBody>
          <a:bodyPr wrap="square" lIns="28575" tIns="68580" rIns="68580" bIns="28575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03 / OPEN-SOURCE EVANGELISM</a:t>
            </a:r>
            <a:endParaRPr lang="en-US" sz="495" dirty="0"/>
          </a:p>
        </p:txBody>
      </p:sp>
      <p:sp>
        <p:nvSpPr>
          <p:cNvPr id="22" name="Shape 19"/>
          <p:cNvSpPr/>
          <p:nvPr/>
        </p:nvSpPr>
        <p:spPr>
          <a:xfrm>
            <a:off x="5412105" y="808673"/>
            <a:ext cx="3320415" cy="5715"/>
          </a:xfrm>
          <a:prstGeom prst="rect">
            <a:avLst/>
          </a:prstGeom>
          <a:gradFill rotWithShape="1">
            <a:gsLst>
              <a:gs pos="0">
                <a:srgbClr val="2196F3">
                  <a:alpha val="2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3" name="Text 20"/>
          <p:cNvSpPr/>
          <p:nvPr/>
        </p:nvSpPr>
        <p:spPr>
          <a:xfrm>
            <a:off x="3634740" y="965835"/>
            <a:ext cx="5709514" cy="3022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70" b="1" spc="-45" kern="0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第三部分 ·</a:t>
            </a:r>
            <a:pPr algn="l" indent="0" marL="0">
              <a:lnSpc>
                <a:spcPct val="115000"/>
              </a:lnSpc>
              <a:buNone/>
            </a:pPr>
            <a:r>
              <a:rPr lang="en-US" sz="2070" b="1" spc="-45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开源布道与阅读</a:t>
            </a:r>
            <a:endParaRPr lang="en-US" sz="2070" dirty="0"/>
          </a:p>
        </p:txBody>
      </p:sp>
      <p:sp>
        <p:nvSpPr>
          <p:cNvPr id="24" name="Text 21"/>
          <p:cNvSpPr/>
          <p:nvPr/>
        </p:nvSpPr>
        <p:spPr>
          <a:xfrm>
            <a:off x="4852035" y="954405"/>
            <a:ext cx="2063115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70" b="1" spc="-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开源布道与阅读</a:t>
            </a:r>
            <a:endParaRPr lang="en-US" sz="2070" dirty="0"/>
          </a:p>
        </p:txBody>
      </p:sp>
      <p:sp>
        <p:nvSpPr>
          <p:cNvPr id="25" name="Text 22"/>
          <p:cNvSpPr/>
          <p:nvPr/>
        </p:nvSpPr>
        <p:spPr>
          <a:xfrm>
            <a:off x="3634740" y="1336685"/>
            <a:ext cx="5709514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spc="14" kern="0" dirty="0">
                <a:solidFill>
                  <a:srgbClr val="8F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从被动使用到主动贡献的开发者路径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634740" y="1628150"/>
            <a:ext cx="5097780" cy="512207"/>
          </a:xfrm>
          <a:prstGeom prst="rect">
            <a:avLst/>
          </a:prstGeom>
          <a:gradFill rotWithShape="1">
            <a:gsLst>
              <a:gs pos="0">
                <a:srgbClr val="2196F3">
                  <a:alpha val="9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7" name="Shape 24"/>
          <p:cNvSpPr/>
          <p:nvPr/>
        </p:nvSpPr>
        <p:spPr>
          <a:xfrm>
            <a:off x="3634740" y="1628150"/>
            <a:ext cx="0" cy="512207"/>
          </a:xfrm>
          <a:prstGeom prst="line">
            <a:avLst/>
          </a:prstGeom>
          <a:noFill/>
          <a:ln w="11430">
            <a:solidFill>
              <a:srgbClr val="2196F3">
                <a:alpha val="82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34740" y="1628150"/>
            <a:ext cx="5709514" cy="512207"/>
          </a:xfrm>
          <a:prstGeom prst="rect">
            <a:avLst/>
          </a:prstGeom>
          <a:noFill/>
          <a:ln/>
        </p:spPr>
        <p:txBody>
          <a:bodyPr wrap="square" lIns="102870" tIns="125730" rIns="125730" bIns="102870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653" dirty="0">
                <a:solidFill>
                  <a:srgbClr val="E8EEF7">
                    <a:alpha val="8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三部分把镜头拉回分享者本人。开源布道不是单向宣讲，而是把商业价值与开发者路径重新连接。对开发者而言，理解开源经济学能帮助他们做出更明智的选型与贡献；对社区而言，更多愿意深度阅读源码的开发者，会让整个生态持续繁荣。</a:t>
            </a:r>
            <a:endParaRPr lang="en-US" sz="653" dirty="0"/>
          </a:p>
        </p:txBody>
      </p:sp>
      <p:sp>
        <p:nvSpPr>
          <p:cNvPr id="29" name="Shape 26"/>
          <p:cNvSpPr/>
          <p:nvPr/>
        </p:nvSpPr>
        <p:spPr>
          <a:xfrm>
            <a:off x="3634740" y="2288947"/>
            <a:ext cx="1645920" cy="876895"/>
          </a:xfrm>
          <a:prstGeom prst="roundRect">
            <a:avLst>
              <a:gd name="adj" fmla="val 6517"/>
            </a:avLst>
          </a:prstGeom>
          <a:gradFill rotWithShape="1">
            <a:gsLst>
              <a:gs pos="0">
                <a:srgbClr val="2196F3">
                  <a:alpha val="6000"/>
                </a:srgbClr>
              </a:gs>
              <a:gs pos="100000">
                <a:srgbClr val="0B1220">
                  <a:alpha val="40000"/>
                </a:srgbClr>
              </a:gs>
            </a:gsLst>
            <a:lin ang="5400000" scaled="0"/>
          </a:gra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634740" y="2288947"/>
            <a:ext cx="163449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31" name="Text 28"/>
          <p:cNvSpPr/>
          <p:nvPr/>
        </p:nvSpPr>
        <p:spPr>
          <a:xfrm>
            <a:off x="3731895" y="2397532"/>
            <a:ext cx="1625803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EVANGELISM</a:t>
            </a:r>
            <a:endParaRPr lang="en-US" sz="540" dirty="0"/>
          </a:p>
        </p:txBody>
      </p:sp>
      <p:sp>
        <p:nvSpPr>
          <p:cNvPr id="32" name="Shape 29"/>
          <p:cNvSpPr/>
          <p:nvPr/>
        </p:nvSpPr>
        <p:spPr>
          <a:xfrm>
            <a:off x="3731895" y="2423249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3731895" y="2540407"/>
            <a:ext cx="1625803" cy="2468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2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布道定义</a:t>
            </a:r>
            <a:pPr algn="l" indent="0" marL="0">
              <a:lnSpc>
                <a:spcPct val="135000"/>
              </a:lnSpc>
              <a:buNone/>
            </a:pPr>
            <a:r>
              <a:rPr lang="en-US" sz="72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——理念、实践与工具的推广</a:t>
            </a:r>
            <a:endParaRPr lang="en-US" sz="720" dirty="0"/>
          </a:p>
        </p:txBody>
      </p:sp>
      <p:sp>
        <p:nvSpPr>
          <p:cNvPr id="34" name="Text 31"/>
          <p:cNvSpPr/>
          <p:nvPr/>
        </p:nvSpPr>
        <p:spPr>
          <a:xfrm>
            <a:off x="3731895" y="2832943"/>
            <a:ext cx="1625803" cy="235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63" dirty="0">
                <a:solidFill>
                  <a:srgbClr val="8F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把开源理念、实践与工具推广到更多开发者，形成可复用的价值传递链。</a:t>
            </a:r>
            <a:endParaRPr lang="en-US" sz="563" dirty="0"/>
          </a:p>
        </p:txBody>
      </p:sp>
      <p:sp>
        <p:nvSpPr>
          <p:cNvPr id="35" name="Shape 32"/>
          <p:cNvSpPr/>
          <p:nvPr/>
        </p:nvSpPr>
        <p:spPr>
          <a:xfrm>
            <a:off x="5360670" y="2288947"/>
            <a:ext cx="1645920" cy="876895"/>
          </a:xfrm>
          <a:prstGeom prst="roundRect">
            <a:avLst>
              <a:gd name="adj" fmla="val 6517"/>
            </a:avLst>
          </a:prstGeom>
          <a:gradFill rotWithShape="1">
            <a:gsLst>
              <a:gs pos="0">
                <a:srgbClr val="2196F3">
                  <a:alpha val="6000"/>
                </a:srgbClr>
              </a:gs>
              <a:gs pos="100000">
                <a:srgbClr val="0B1220">
                  <a:alpha val="40000"/>
                </a:srgbClr>
              </a:gs>
            </a:gsLst>
            <a:lin ang="5400000" scaled="0"/>
          </a:gra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360670" y="2288947"/>
            <a:ext cx="163449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37" name="Text 34"/>
          <p:cNvSpPr/>
          <p:nvPr/>
        </p:nvSpPr>
        <p:spPr>
          <a:xfrm>
            <a:off x="5457825" y="2397532"/>
            <a:ext cx="1625803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READING</a:t>
            </a:r>
            <a:endParaRPr lang="en-US" sz="540" dirty="0"/>
          </a:p>
        </p:txBody>
      </p:sp>
      <p:sp>
        <p:nvSpPr>
          <p:cNvPr id="38" name="Shape 35"/>
          <p:cNvSpPr/>
          <p:nvPr/>
        </p:nvSpPr>
        <p:spPr>
          <a:xfrm>
            <a:off x="5457825" y="2423249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5457825" y="2540407"/>
            <a:ext cx="1625803" cy="123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2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阅读方法</a:t>
            </a:r>
            <a:pPr algn="l" indent="0" marL="0">
              <a:lnSpc>
                <a:spcPct val="135000"/>
              </a:lnSpc>
              <a:buNone/>
            </a:pPr>
            <a:r>
              <a:rPr lang="en-US" sz="72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——进阶三条腿</a:t>
            </a:r>
            <a:endParaRPr lang="en-US" sz="720" dirty="0"/>
          </a:p>
        </p:txBody>
      </p:sp>
      <p:sp>
        <p:nvSpPr>
          <p:cNvPr id="40" name="Text 37"/>
          <p:cNvSpPr/>
          <p:nvPr/>
        </p:nvSpPr>
        <p:spPr>
          <a:xfrm>
            <a:off x="5457825" y="2709535"/>
            <a:ext cx="1625803" cy="235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63" dirty="0">
                <a:solidFill>
                  <a:srgbClr val="8F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精读源码、复盘提交历史、参与 issue 讨论，构成深度理解的三角支点。</a:t>
            </a:r>
            <a:endParaRPr lang="en-US" sz="563" dirty="0"/>
          </a:p>
        </p:txBody>
      </p:sp>
      <p:sp>
        <p:nvSpPr>
          <p:cNvPr id="41" name="Shape 38"/>
          <p:cNvSpPr/>
          <p:nvPr/>
        </p:nvSpPr>
        <p:spPr>
          <a:xfrm>
            <a:off x="7086600" y="2288947"/>
            <a:ext cx="1645920" cy="876895"/>
          </a:xfrm>
          <a:prstGeom prst="roundRect">
            <a:avLst>
              <a:gd name="adj" fmla="val 6517"/>
            </a:avLst>
          </a:prstGeom>
          <a:gradFill rotWithShape="1">
            <a:gsLst>
              <a:gs pos="0">
                <a:srgbClr val="2196F3">
                  <a:alpha val="6000"/>
                </a:srgbClr>
              </a:gs>
              <a:gs pos="100000">
                <a:srgbClr val="0B1220">
                  <a:alpha val="40000"/>
                </a:srgbClr>
              </a:gs>
            </a:gsLst>
            <a:lin ang="5400000" scaled="0"/>
          </a:gra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086600" y="2288947"/>
            <a:ext cx="163449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43" name="Text 40"/>
          <p:cNvSpPr/>
          <p:nvPr/>
        </p:nvSpPr>
        <p:spPr>
          <a:xfrm>
            <a:off x="7183755" y="2397532"/>
            <a:ext cx="1625803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0B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CONTRIBUTION</a:t>
            </a:r>
            <a:endParaRPr lang="en-US" sz="540" dirty="0"/>
          </a:p>
        </p:txBody>
      </p:sp>
      <p:sp>
        <p:nvSpPr>
          <p:cNvPr id="44" name="Shape 41"/>
          <p:cNvSpPr/>
          <p:nvPr/>
        </p:nvSpPr>
        <p:spPr>
          <a:xfrm>
            <a:off x="7183755" y="2423249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7183755" y="2540407"/>
            <a:ext cx="1625803" cy="123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2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贡献路径</a:t>
            </a:r>
            <a:pPr algn="l" indent="0" marL="0">
              <a:lnSpc>
                <a:spcPct val="135000"/>
              </a:lnSpc>
              <a:buNone/>
            </a:pPr>
            <a:r>
              <a:rPr lang="en-US" sz="72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——循序渐进建立影响力</a:t>
            </a:r>
            <a:endParaRPr lang="en-US" sz="720" dirty="0"/>
          </a:p>
        </p:txBody>
      </p:sp>
      <p:sp>
        <p:nvSpPr>
          <p:cNvPr id="46" name="Text 43"/>
          <p:cNvSpPr/>
          <p:nvPr/>
        </p:nvSpPr>
        <p:spPr>
          <a:xfrm>
            <a:off x="7183755" y="2709535"/>
            <a:ext cx="1625803" cy="235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63" dirty="0">
                <a:solidFill>
                  <a:srgbClr val="8F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从文档、测试到核心代码，一步一步建立个人在开源社区中的可见度。</a:t>
            </a:r>
            <a:endParaRPr lang="en-US" sz="563" dirty="0"/>
          </a:p>
        </p:txBody>
      </p:sp>
      <p:sp>
        <p:nvSpPr>
          <p:cNvPr id="47" name="Shape 44"/>
          <p:cNvSpPr/>
          <p:nvPr/>
        </p:nvSpPr>
        <p:spPr>
          <a:xfrm>
            <a:off x="3634740" y="4463415"/>
            <a:ext cx="2514600" cy="360045"/>
          </a:xfrm>
          <a:prstGeom prst="roundRect">
            <a:avLst>
              <a:gd name="adj" fmla="val 12698"/>
            </a:avLst>
          </a:prstGeom>
          <a:solidFill>
            <a:srgbClr val="0F1A2E">
              <a:alpha val="55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743325" y="4546283"/>
            <a:ext cx="194310" cy="194310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2196F3">
                  <a:alpha val="25000"/>
                </a:srgbClr>
              </a:gs>
              <a:gs pos="100000">
                <a:srgbClr val="00BCD4">
                  <a:alpha val="15000"/>
                </a:srgbClr>
              </a:gs>
            </a:gsLst>
            <a:lin ang="2700000" scaled="0"/>
          </a:gra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89045" y="4592003"/>
            <a:ext cx="102870" cy="102870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4017645" y="4537710"/>
            <a:ext cx="755294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63" spc="23" kern="0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第三部分 · 3 个层次</a:t>
            </a:r>
            <a:endParaRPr lang="en-US" sz="563" dirty="0"/>
          </a:p>
        </p:txBody>
      </p:sp>
      <p:sp>
        <p:nvSpPr>
          <p:cNvPr id="51" name="Text 47"/>
          <p:cNvSpPr/>
          <p:nvPr/>
        </p:nvSpPr>
        <p:spPr>
          <a:xfrm>
            <a:off x="4017645" y="4657725"/>
            <a:ext cx="75529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18" spc="23" kern="0" dirty="0">
                <a:solidFill>
                  <a:srgbClr val="8F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布道 · 阅读 · 贡献</a:t>
            </a:r>
            <a:endParaRPr lang="en-US" sz="518" dirty="0"/>
          </a:p>
        </p:txBody>
      </p:sp>
      <p:sp>
        <p:nvSpPr>
          <p:cNvPr id="52" name="Text 48"/>
          <p:cNvSpPr/>
          <p:nvPr/>
        </p:nvSpPr>
        <p:spPr>
          <a:xfrm>
            <a:off x="5572036" y="4600575"/>
            <a:ext cx="537299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3 LAYERS</a:t>
            </a:r>
            <a:endParaRPr lang="en-US" sz="540" dirty="0"/>
          </a:p>
        </p:txBody>
      </p:sp>
      <p:sp>
        <p:nvSpPr>
          <p:cNvPr id="53" name="Shape 49"/>
          <p:cNvSpPr/>
          <p:nvPr/>
        </p:nvSpPr>
        <p:spPr>
          <a:xfrm>
            <a:off x="6217920" y="4463415"/>
            <a:ext cx="2514600" cy="360045"/>
          </a:xfrm>
          <a:prstGeom prst="roundRect">
            <a:avLst>
              <a:gd name="adj" fmla="val 12698"/>
            </a:avLst>
          </a:prstGeom>
          <a:solidFill>
            <a:srgbClr val="0F1A2E">
              <a:alpha val="55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6326505" y="4546283"/>
            <a:ext cx="194310" cy="194310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2196F3">
                  <a:alpha val="25000"/>
                </a:srgbClr>
              </a:gs>
              <a:gs pos="100000">
                <a:srgbClr val="00BCD4">
                  <a:alpha val="15000"/>
                </a:srgbClr>
              </a:gs>
            </a:gsLst>
            <a:lin ang="2700000" scaled="0"/>
          </a:gra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pic>
        <p:nvPicPr>
          <p:cNvPr id="5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72225" y="4592003"/>
            <a:ext cx="102870" cy="102870"/>
          </a:xfrm>
          <a:prstGeom prst="rect">
            <a:avLst/>
          </a:prstGeom>
        </p:spPr>
      </p:pic>
      <p:sp>
        <p:nvSpPr>
          <p:cNvPr id="56" name="Text 51"/>
          <p:cNvSpPr/>
          <p:nvPr/>
        </p:nvSpPr>
        <p:spPr>
          <a:xfrm>
            <a:off x="6600825" y="4537710"/>
            <a:ext cx="764896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63" spc="23" kern="0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进阶路径 · 深度递进</a:t>
            </a:r>
            <a:endParaRPr lang="en-US" sz="563" dirty="0"/>
          </a:p>
        </p:txBody>
      </p:sp>
      <p:sp>
        <p:nvSpPr>
          <p:cNvPr id="57" name="Text 52"/>
          <p:cNvSpPr/>
          <p:nvPr/>
        </p:nvSpPr>
        <p:spPr>
          <a:xfrm>
            <a:off x="6600825" y="4657725"/>
            <a:ext cx="76489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18" spc="23" kern="0" dirty="0">
                <a:solidFill>
                  <a:srgbClr val="8F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文档 → 测试 → 核心</a:t>
            </a:r>
            <a:endParaRPr lang="en-US" sz="518" dirty="0"/>
          </a:p>
        </p:txBody>
      </p:sp>
      <p:sp>
        <p:nvSpPr>
          <p:cNvPr id="58" name="Text 53"/>
          <p:cNvSpPr/>
          <p:nvPr/>
        </p:nvSpPr>
        <p:spPr>
          <a:xfrm>
            <a:off x="8248977" y="4600575"/>
            <a:ext cx="44353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DEEPEN</a:t>
            </a:r>
            <a:endParaRPr lang="en-US" sz="5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96F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6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571500" y="-1428750"/>
            <a:ext cx="8001000" cy="8001000"/>
          </a:xfrm>
          <a:prstGeom prst="ellipse">
            <a:avLst/>
          </a:prstGeom>
          <a:noFill/>
          <a:ln w="5715">
            <a:solidFill>
              <a:srgbClr val="2196F3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14500" y="-285750"/>
            <a:ext cx="5715000" cy="5715000"/>
          </a:xfrm>
          <a:prstGeom prst="ellipse">
            <a:avLst/>
          </a:prstGeom>
          <a:noFill/>
          <a:ln w="5715">
            <a:solidFill>
              <a:srgbClr val="00BCD4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57500" y="857250"/>
            <a:ext cx="3429000" cy="3429000"/>
          </a:xfrm>
          <a:prstGeom prst="ellipse">
            <a:avLst/>
          </a:prstGeom>
          <a:noFill/>
          <a:ln w="5715">
            <a:solidFill>
              <a:srgbClr val="2196F3">
                <a:alpha val="8000"/>
              </a:srgbClr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31520" y="617220"/>
            <a:ext cx="17145" cy="17145"/>
          </a:xfrm>
          <a:prstGeom prst="ellipse">
            <a:avLst/>
          </a:prstGeom>
          <a:solidFill>
            <a:srgbClr val="64B5F6"/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0" y="1028700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0" y="1800225"/>
            <a:ext cx="17145" cy="17145"/>
          </a:xfrm>
          <a:prstGeom prst="ellipse">
            <a:avLst/>
          </a:prstGeom>
          <a:solidFill>
            <a:srgbClr val="64B5F6"/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0" y="2828925"/>
            <a:ext cx="28575" cy="28575"/>
          </a:xfrm>
          <a:prstGeom prst="ellipse">
            <a:avLst/>
          </a:prstGeom>
          <a:solidFill>
            <a:srgbClr val="64B5F6"/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600450"/>
            <a:ext cx="17145" cy="1714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0" y="4371975"/>
            <a:ext cx="17145" cy="17145"/>
          </a:xfrm>
          <a:prstGeom prst="ellipse">
            <a:avLst/>
          </a:prstGeom>
          <a:solidFill>
            <a:srgbClr val="64B5F6"/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0" y="925830"/>
            <a:ext cx="17145" cy="1714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0" y="4011930"/>
            <a:ext cx="28575" cy="28575"/>
          </a:xfrm>
          <a:prstGeom prst="ellipse">
            <a:avLst/>
          </a:prstGeom>
          <a:solidFill>
            <a:srgbClr val="64B5F6"/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0" y="2160270"/>
            <a:ext cx="17145" cy="17145"/>
          </a:xfrm>
          <a:prstGeom prst="ellipse">
            <a:avLst/>
          </a:prstGeom>
          <a:solidFill>
            <a:srgbClr val="64B5F6"/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97280" y="3086100"/>
            <a:ext cx="17145" cy="1714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0" y="1543050"/>
            <a:ext cx="17145" cy="17145"/>
          </a:xfrm>
          <a:prstGeom prst="ellipse">
            <a:avLst/>
          </a:prstGeom>
          <a:solidFill>
            <a:srgbClr val="64B5F6"/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182880"/>
            <a:ext cx="342900" cy="342900"/>
          </a:xfrm>
          <a:prstGeom prst="rect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182880" y="182880"/>
            <a:ext cx="342900" cy="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182880"/>
            <a:ext cx="0" cy="34290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18220" y="182880"/>
            <a:ext cx="342900" cy="342900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8618220" y="182880"/>
            <a:ext cx="34290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61120" y="182880"/>
            <a:ext cx="0" cy="34290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4617720"/>
            <a:ext cx="342900" cy="342900"/>
          </a:xfrm>
          <a:prstGeom prst="rect">
            <a:avLst/>
          </a:prstGeom>
          <a:noFill/>
          <a:ln/>
        </p:spPr>
      </p:sp>
      <p:sp>
        <p:nvSpPr>
          <p:cNvPr id="25" name="Shape 23"/>
          <p:cNvSpPr/>
          <p:nvPr/>
        </p:nvSpPr>
        <p:spPr>
          <a:xfrm>
            <a:off x="182880" y="4960620"/>
            <a:ext cx="34290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4617720"/>
            <a:ext cx="0" cy="34290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18220" y="4617720"/>
            <a:ext cx="342900" cy="342900"/>
          </a:xfrm>
          <a:prstGeom prst="rect">
            <a:avLst/>
          </a:prstGeom>
          <a:noFill/>
          <a:ln/>
        </p:spPr>
      </p:sp>
      <p:sp>
        <p:nvSpPr>
          <p:cNvPr id="28" name="Shape 26"/>
          <p:cNvSpPr/>
          <p:nvPr/>
        </p:nvSpPr>
        <p:spPr>
          <a:xfrm>
            <a:off x="8961120" y="4617720"/>
            <a:ext cx="0" cy="34290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18220" y="4960620"/>
            <a:ext cx="342900" cy="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60145" y="642938"/>
            <a:ext cx="2286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1" name="Shape 29"/>
          <p:cNvSpPr/>
          <p:nvPr/>
        </p:nvSpPr>
        <p:spPr>
          <a:xfrm>
            <a:off x="1160145" y="642938"/>
            <a:ext cx="2286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2" name="Text 30"/>
          <p:cNvSpPr/>
          <p:nvPr/>
        </p:nvSpPr>
        <p:spPr>
          <a:xfrm>
            <a:off x="1445895" y="642938"/>
            <a:ext cx="2003450" cy="91440"/>
          </a:xfrm>
          <a:prstGeom prst="rect">
            <a:avLst/>
          </a:prstGeom>
          <a:noFill/>
          <a:ln/>
        </p:spPr>
        <p:txBody>
          <a:bodyPr wrap="none" lIns="0" tIns="22860" rIns="22860" bIns="0" rtlCol="0" anchor="ctr"/>
          <a:lstStyle/>
          <a:p>
            <a:pPr algn="ctr" indent="0" marL="0">
              <a:buNone/>
            </a:pPr>
            <a:r>
              <a:rPr lang="en-US" sz="585" spc="27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· TOGETHER</a:t>
            </a:r>
            <a:endParaRPr lang="en-US" sz="585" dirty="0"/>
          </a:p>
        </p:txBody>
      </p:sp>
      <p:sp>
        <p:nvSpPr>
          <p:cNvPr id="33" name="Text 31"/>
          <p:cNvSpPr/>
          <p:nvPr/>
        </p:nvSpPr>
        <p:spPr>
          <a:xfrm>
            <a:off x="3549015" y="297180"/>
            <a:ext cx="4967021" cy="47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20" b="1" spc="180" kern="0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与开源同行</a:t>
            </a:r>
            <a:pPr algn="ctr" indent="0" marL="0">
              <a:lnSpc>
                <a:spcPct val="110000"/>
              </a:lnSpc>
              <a:buNone/>
            </a:pPr>
            <a:r>
              <a:rPr lang="en-US" sz="3420" b="1" spc="18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ctr" indent="0" marL="0">
              <a:lnSpc>
                <a:spcPct val="110000"/>
              </a:lnSpc>
              <a:buNone/>
            </a:pPr>
            <a:r>
              <a:rPr lang="en-US" sz="3420" b="1" spc="180" kern="0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谢谢聆听</a:t>
            </a:r>
            <a:endParaRPr lang="en-US" sz="3420" dirty="0"/>
          </a:p>
        </p:txBody>
      </p:sp>
      <p:sp>
        <p:nvSpPr>
          <p:cNvPr id="34" name="Text 32"/>
          <p:cNvSpPr/>
          <p:nvPr/>
        </p:nvSpPr>
        <p:spPr>
          <a:xfrm>
            <a:off x="411480" y="854928"/>
            <a:ext cx="9319565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5" spc="135" kern="0" dirty="0">
                <a:solidFill>
                  <a:srgbClr val="9AA8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把 Linux 的经验带回自己的项目与团队</a:t>
            </a:r>
            <a:endParaRPr lang="en-US" sz="855" dirty="0"/>
          </a:p>
        </p:txBody>
      </p:sp>
      <p:sp>
        <p:nvSpPr>
          <p:cNvPr id="35" name="Shape 33"/>
          <p:cNvSpPr/>
          <p:nvPr/>
        </p:nvSpPr>
        <p:spPr>
          <a:xfrm>
            <a:off x="411480" y="1272123"/>
            <a:ext cx="8321040" cy="620613"/>
          </a:xfrm>
          <a:prstGeom prst="rect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6" name="Shape 34"/>
          <p:cNvSpPr/>
          <p:nvPr/>
        </p:nvSpPr>
        <p:spPr>
          <a:xfrm>
            <a:off x="411480" y="1272123"/>
            <a:ext cx="0" cy="620613"/>
          </a:xfrm>
          <a:prstGeom prst="line">
            <a:avLst/>
          </a:prstGeom>
          <a:noFill/>
          <a:ln w="17145">
            <a:solidFill>
              <a:srgbClr val="2196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57116" y="1374993"/>
            <a:ext cx="389763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spc="180" kern="0" dirty="0">
                <a:solidFill>
                  <a:srgbClr val="2196F3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❝ ❞</a:t>
            </a:r>
            <a:endParaRPr lang="en-US" sz="990" dirty="0"/>
          </a:p>
        </p:txBody>
      </p:sp>
      <p:sp>
        <p:nvSpPr>
          <p:cNvPr id="38" name="Text 36"/>
          <p:cNvSpPr/>
          <p:nvPr/>
        </p:nvSpPr>
        <p:spPr>
          <a:xfrm>
            <a:off x="622935" y="1397853"/>
            <a:ext cx="8865108" cy="369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765" b="1" spc="23" kern="0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开源经济学</a:t>
            </a:r>
            <a:pPr algn="l" indent="0" marL="0">
              <a:lnSpc>
                <a:spcPct val="190000"/>
              </a:lnSpc>
              <a:buNone/>
            </a:pPr>
            <a:r>
              <a:rPr lang="en-US" sz="765" spc="23" kern="0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并非抽象理论，它可以在每一次代码提交、每一次</a:t>
            </a:r>
            <a:pPr algn="l" indent="0" marL="0">
              <a:lnSpc>
                <a:spcPct val="190000"/>
              </a:lnSpc>
              <a:buNone/>
            </a:pPr>
            <a:r>
              <a:rPr lang="en-US" sz="765" b="1" spc="23" kern="0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bug 修复</a:t>
            </a:r>
            <a:pPr algn="l" indent="0" marL="0">
              <a:lnSpc>
                <a:spcPct val="190000"/>
              </a:lnSpc>
              <a:buNone/>
            </a:pPr>
            <a:r>
              <a:rPr lang="en-US" sz="765" spc="23" kern="0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、每一次文档贡献中被验证与放大。希望每位听众都带着今天的内容回到自己的项目与团队，让</a:t>
            </a:r>
            <a:pPr algn="l" indent="0" marL="0">
              <a:lnSpc>
                <a:spcPct val="190000"/>
              </a:lnSpc>
              <a:buNone/>
            </a:pPr>
            <a:r>
              <a:rPr lang="en-US" sz="765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走过的路</a:t>
            </a:r>
            <a:pPr algn="l" indent="0" marL="0">
              <a:lnSpc>
                <a:spcPct val="190000"/>
              </a:lnSpc>
              <a:buNone/>
            </a:pPr>
            <a:r>
              <a:rPr lang="en-US" sz="765" spc="23" kern="0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，成为你项目前行的一部分。</a:t>
            </a:r>
            <a:endParaRPr lang="en-US" sz="765" dirty="0"/>
          </a:p>
        </p:txBody>
      </p:sp>
      <p:sp>
        <p:nvSpPr>
          <p:cNvPr id="39" name="Shape 37"/>
          <p:cNvSpPr/>
          <p:nvPr/>
        </p:nvSpPr>
        <p:spPr>
          <a:xfrm>
            <a:off x="411480" y="2018467"/>
            <a:ext cx="2697480" cy="868680"/>
          </a:xfrm>
          <a:prstGeom prst="roundRect">
            <a:avLst>
              <a:gd name="adj" fmla="val 6579"/>
            </a:avLst>
          </a:prstGeom>
          <a:solidFill>
            <a:srgbClr val="122040">
              <a:alpha val="55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" y="2018467"/>
            <a:ext cx="2686050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41" name="Shape 39"/>
          <p:cNvSpPr/>
          <p:nvPr/>
        </p:nvSpPr>
        <p:spPr>
          <a:xfrm>
            <a:off x="2640330" y="1789867"/>
            <a:ext cx="685800" cy="685800"/>
          </a:xfrm>
          <a:prstGeom prst="ellipse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2" name="Shape 40"/>
          <p:cNvSpPr/>
          <p:nvPr/>
        </p:nvSpPr>
        <p:spPr>
          <a:xfrm>
            <a:off x="542925" y="2181344"/>
            <a:ext cx="194310" cy="194310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14300" dist="38100" dir="16200000">
              <a:srgbClr val="2196F3">
                <a:alpha val="3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42925" y="2181344"/>
            <a:ext cx="280035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675" dirty="0"/>
          </a:p>
        </p:txBody>
      </p:sp>
      <p:sp>
        <p:nvSpPr>
          <p:cNvPr id="44" name="Text 42"/>
          <p:cNvSpPr/>
          <p:nvPr/>
        </p:nvSpPr>
        <p:spPr>
          <a:xfrm>
            <a:off x="805815" y="2149912"/>
            <a:ext cx="817245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核心回顾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05815" y="2327077"/>
            <a:ext cx="78729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</a:t>
            </a:r>
            <a:endParaRPr lang="en-US" sz="495" dirty="0"/>
          </a:p>
        </p:txBody>
      </p:sp>
      <p:sp>
        <p:nvSpPr>
          <p:cNvPr id="46" name="Text 44"/>
          <p:cNvSpPr/>
          <p:nvPr/>
        </p:nvSpPr>
        <p:spPr>
          <a:xfrm>
            <a:off x="542925" y="2487097"/>
            <a:ext cx="2726741" cy="2800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9AA8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开源是</a:t>
            </a:r>
            <a:pPr algn="l" indent="0" marL="0">
              <a:lnSpc>
                <a:spcPct val="175000"/>
              </a:lnSpc>
              <a:buNone/>
            </a:pPr>
            <a:r>
              <a:rPr lang="en-US" sz="63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免费之上</a:t>
            </a:r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9AA8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的经济学范式，</a:t>
            </a:r>
            <a:pPr algn="l" indent="0" marL="0">
              <a:lnSpc>
                <a:spcPct val="175000"/>
              </a:lnSpc>
              <a:buNone/>
            </a:pPr>
            <a:r>
              <a:rPr lang="en-US" sz="630" b="1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</a:t>
            </a:r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9AA8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是其</a:t>
            </a:r>
            <a:pPr algn="l" indent="0" marL="0">
              <a:lnSpc>
                <a:spcPct val="175000"/>
              </a:lnSpc>
              <a:buNone/>
            </a:pPr>
            <a:r>
              <a:rPr lang="en-US" sz="630" b="1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最成功样本</a:t>
            </a:r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9AA8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——用三十年验证了社区驱动、去中心化协作与共享增值的可行路径。</a:t>
            </a:r>
            <a:endParaRPr lang="en-US" sz="630" dirty="0"/>
          </a:p>
        </p:txBody>
      </p:sp>
      <p:sp>
        <p:nvSpPr>
          <p:cNvPr id="47" name="Shape 45"/>
          <p:cNvSpPr/>
          <p:nvPr/>
        </p:nvSpPr>
        <p:spPr>
          <a:xfrm>
            <a:off x="3223260" y="2018467"/>
            <a:ext cx="2697480" cy="868680"/>
          </a:xfrm>
          <a:prstGeom prst="roundRect">
            <a:avLst>
              <a:gd name="adj" fmla="val 6579"/>
            </a:avLst>
          </a:prstGeom>
          <a:solidFill>
            <a:srgbClr val="122040">
              <a:alpha val="55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23260" y="2018467"/>
            <a:ext cx="2686050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49" name="Shape 47"/>
          <p:cNvSpPr/>
          <p:nvPr/>
        </p:nvSpPr>
        <p:spPr>
          <a:xfrm>
            <a:off x="5452110" y="1789867"/>
            <a:ext cx="685800" cy="685800"/>
          </a:xfrm>
          <a:prstGeom prst="ellipse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0" name="Shape 48"/>
          <p:cNvSpPr/>
          <p:nvPr/>
        </p:nvSpPr>
        <p:spPr>
          <a:xfrm>
            <a:off x="3354705" y="2181344"/>
            <a:ext cx="194310" cy="194310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14300" dist="38100" dir="16200000">
              <a:srgbClr val="2196F3">
                <a:alpha val="3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3354705" y="2181344"/>
            <a:ext cx="280035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675" dirty="0"/>
          </a:p>
        </p:txBody>
      </p:sp>
      <p:sp>
        <p:nvSpPr>
          <p:cNvPr id="52" name="Text 50"/>
          <p:cNvSpPr/>
          <p:nvPr/>
        </p:nvSpPr>
        <p:spPr>
          <a:xfrm>
            <a:off x="3617595" y="2149912"/>
            <a:ext cx="874395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行动号召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617595" y="2327077"/>
            <a:ext cx="851306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TO ACTION</a:t>
            </a:r>
            <a:endParaRPr lang="en-US" sz="495" dirty="0"/>
          </a:p>
        </p:txBody>
      </p:sp>
      <p:sp>
        <p:nvSpPr>
          <p:cNvPr id="54" name="Text 52"/>
          <p:cNvSpPr/>
          <p:nvPr/>
        </p:nvSpPr>
        <p:spPr>
          <a:xfrm>
            <a:off x="3354705" y="2487097"/>
            <a:ext cx="2726741" cy="2800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9AA8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从今天起：</a:t>
            </a:r>
            <a:pPr algn="l" indent="0" marL="0">
              <a:lnSpc>
                <a:spcPct val="175000"/>
              </a:lnSpc>
              <a:buNone/>
            </a:pPr>
            <a:r>
              <a:rPr lang="en-US" sz="63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</a:t>
            </a:r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9AA8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一份内核源码、</a:t>
            </a:r>
            <a:pPr algn="l" indent="0" marL="0">
              <a:lnSpc>
                <a:spcPct val="175000"/>
              </a:lnSpc>
              <a:buNone/>
            </a:pPr>
            <a:r>
              <a:rPr lang="en-US" sz="63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提交</a:t>
            </a:r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9AA8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一个 issue、</a:t>
            </a:r>
            <a:pPr algn="l" indent="0" marL="0">
              <a:lnSpc>
                <a:spcPct val="175000"/>
              </a:lnSpc>
              <a:buNone/>
            </a:pPr>
            <a:r>
              <a:rPr lang="en-US" sz="63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撰写</a:t>
            </a:r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9AA8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一段文档——三个微小动作，把你从"使用者"变成"贡献者"。</a:t>
            </a:r>
            <a:endParaRPr lang="en-US" sz="630" dirty="0"/>
          </a:p>
        </p:txBody>
      </p:sp>
      <p:sp>
        <p:nvSpPr>
          <p:cNvPr id="55" name="Shape 53"/>
          <p:cNvSpPr/>
          <p:nvPr/>
        </p:nvSpPr>
        <p:spPr>
          <a:xfrm>
            <a:off x="6035040" y="2018467"/>
            <a:ext cx="2697480" cy="868680"/>
          </a:xfrm>
          <a:prstGeom prst="roundRect">
            <a:avLst>
              <a:gd name="adj" fmla="val 6579"/>
            </a:avLst>
          </a:prstGeom>
          <a:solidFill>
            <a:srgbClr val="122040">
              <a:alpha val="55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35040" y="2018467"/>
            <a:ext cx="2686050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57" name="Shape 55"/>
          <p:cNvSpPr/>
          <p:nvPr/>
        </p:nvSpPr>
        <p:spPr>
          <a:xfrm>
            <a:off x="8263890" y="1789867"/>
            <a:ext cx="685800" cy="685800"/>
          </a:xfrm>
          <a:prstGeom prst="ellipse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8" name="Shape 56"/>
          <p:cNvSpPr/>
          <p:nvPr/>
        </p:nvSpPr>
        <p:spPr>
          <a:xfrm>
            <a:off x="6166485" y="2181344"/>
            <a:ext cx="194310" cy="194310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14300" dist="38100" dir="16200000">
              <a:srgbClr val="2196F3">
                <a:alpha val="3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6166485" y="2181344"/>
            <a:ext cx="280035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675" dirty="0"/>
          </a:p>
        </p:txBody>
      </p:sp>
      <p:sp>
        <p:nvSpPr>
          <p:cNvPr id="60" name="Text 58"/>
          <p:cNvSpPr/>
          <p:nvPr/>
        </p:nvSpPr>
        <p:spPr>
          <a:xfrm>
            <a:off x="6429375" y="2149912"/>
            <a:ext cx="771525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持续对话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429375" y="2327077"/>
            <a:ext cx="73609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TALKING</a:t>
            </a:r>
            <a:endParaRPr lang="en-US" sz="495" dirty="0"/>
          </a:p>
        </p:txBody>
      </p:sp>
      <p:sp>
        <p:nvSpPr>
          <p:cNvPr id="62" name="Text 60"/>
          <p:cNvSpPr/>
          <p:nvPr/>
        </p:nvSpPr>
        <p:spPr>
          <a:xfrm>
            <a:off x="6166485" y="2487097"/>
            <a:ext cx="2726741" cy="2800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9AA8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欢迎在</a:t>
            </a:r>
            <a:pPr algn="l" indent="0" marL="0">
              <a:lnSpc>
                <a:spcPct val="175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开源之家</a:t>
            </a:r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9AA8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的社群继续</a:t>
            </a:r>
            <a:pPr algn="l" indent="0" marL="0">
              <a:lnSpc>
                <a:spcPct val="175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讨论与共创</a:t>
            </a:r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9AA8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——分享你的实践、提出你的问题、找到同频的伙伴，让开源不止于今天。</a:t>
            </a:r>
            <a:endParaRPr lang="en-US" sz="630" dirty="0"/>
          </a:p>
        </p:txBody>
      </p:sp>
      <p:sp>
        <p:nvSpPr>
          <p:cNvPr id="63" name="Shape 61"/>
          <p:cNvSpPr/>
          <p:nvPr/>
        </p:nvSpPr>
        <p:spPr>
          <a:xfrm>
            <a:off x="411480" y="3081457"/>
            <a:ext cx="832104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1E3159"/>
              </a:gs>
              <a:gs pos="80000">
                <a:srgbClr val="1E3159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4" name="Shape 62"/>
          <p:cNvSpPr/>
          <p:nvPr/>
        </p:nvSpPr>
        <p:spPr>
          <a:xfrm>
            <a:off x="4572000" y="3030022"/>
            <a:ext cx="34290" cy="137160"/>
          </a:xfrm>
          <a:prstGeom prst="rect">
            <a:avLst/>
          </a:prstGeom>
          <a:solidFill>
            <a:srgbClr val="050914"/>
          </a:solidFill>
          <a:ln/>
        </p:spPr>
      </p:sp>
      <p:sp>
        <p:nvSpPr>
          <p:cNvPr id="65" name="Shape 63"/>
          <p:cNvSpPr/>
          <p:nvPr/>
        </p:nvSpPr>
        <p:spPr>
          <a:xfrm>
            <a:off x="411480" y="3190042"/>
            <a:ext cx="4069080" cy="645795"/>
          </a:xfrm>
          <a:prstGeom prst="roundRect">
            <a:avLst>
              <a:gd name="adj" fmla="val 7080"/>
            </a:avLst>
          </a:prstGeom>
          <a:solidFill>
            <a:srgbClr val="0F1E3D">
              <a:alpha val="40000"/>
            </a:srgbClr>
          </a:solidFill>
          <a:ln w="5715">
            <a:solidFill>
              <a:srgbClr val="1E315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11480" y="3190042"/>
            <a:ext cx="17145" cy="634365"/>
          </a:xfrm>
          <a:prstGeom prst="roundRect">
            <a:avLst>
              <a:gd name="adj" fmla="val 26666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67" name="Shape 65"/>
          <p:cNvSpPr/>
          <p:nvPr/>
        </p:nvSpPr>
        <p:spPr>
          <a:xfrm>
            <a:off x="542925" y="3364349"/>
            <a:ext cx="297180" cy="297180"/>
          </a:xfrm>
          <a:prstGeom prst="roundRect">
            <a:avLst>
              <a:gd name="adj" fmla="val 19231"/>
            </a:avLst>
          </a:prstGeom>
          <a:gradFill rotWithShape="1">
            <a:gsLst>
              <a:gs pos="0">
                <a:srgbClr val="2196F3">
                  <a:alpha val="20000"/>
                </a:srgbClr>
              </a:gs>
              <a:gs pos="100000">
                <a:srgbClr val="00BCD4">
                  <a:alpha val="10000"/>
                </a:srgbClr>
              </a:gs>
            </a:gsLst>
            <a:lin ang="2700000" scaled="0"/>
          </a:gradFill>
          <a:ln w="5715">
            <a:solidFill>
              <a:srgbClr val="2196F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2925" y="3364349"/>
            <a:ext cx="422910" cy="2971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990" dirty="0"/>
          </a:p>
        </p:txBody>
      </p:sp>
      <p:sp>
        <p:nvSpPr>
          <p:cNvPr id="69" name="Text 67"/>
          <p:cNvSpPr/>
          <p:nvPr/>
        </p:nvSpPr>
        <p:spPr>
          <a:xfrm>
            <a:off x="954405" y="3304342"/>
            <a:ext cx="380207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8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下一步 · NEXT STEP</a:t>
            </a:r>
            <a:endParaRPr lang="en-US" sz="540" dirty="0"/>
          </a:p>
        </p:txBody>
      </p:sp>
      <p:sp>
        <p:nvSpPr>
          <p:cNvPr id="70" name="Text 68"/>
          <p:cNvSpPr/>
          <p:nvPr/>
        </p:nvSpPr>
        <p:spPr>
          <a:xfrm>
            <a:off x="954405" y="3424357"/>
            <a:ext cx="3802075" cy="165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1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立即实践的</a:t>
            </a:r>
            <a:pPr algn="l" indent="0" marL="0">
              <a:buNone/>
            </a:pPr>
            <a:r>
              <a:rPr lang="en-US" sz="1080" b="1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pPr algn="l" indent="0" marL="0">
              <a:buNone/>
            </a:pPr>
            <a:r>
              <a:rPr lang="en-US" sz="81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个小动作</a:t>
            </a:r>
            <a:endParaRPr lang="en-US" sz="810" dirty="0"/>
          </a:p>
        </p:txBody>
      </p:sp>
      <p:sp>
        <p:nvSpPr>
          <p:cNvPr id="71" name="Text 69"/>
          <p:cNvSpPr/>
          <p:nvPr/>
        </p:nvSpPr>
        <p:spPr>
          <a:xfrm>
            <a:off x="954405" y="3612952"/>
            <a:ext cx="3802075" cy="108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5" spc="23" kern="0" dirty="0">
                <a:solidFill>
                  <a:srgbClr val="9AA8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读源码</a:t>
            </a:r>
            <a:pPr algn="l" indent="0" marL="0">
              <a:buNone/>
            </a:pPr>
            <a:r>
              <a:rPr lang="en-US" sz="585" spc="23" kern="0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buNone/>
            </a:pPr>
            <a:r>
              <a:rPr lang="en-US" sz="585" spc="23" kern="0" dirty="0">
                <a:solidFill>
                  <a:srgbClr val="9AA8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 issue</a:t>
            </a:r>
            <a:pPr algn="l" indent="0" marL="0">
              <a:buNone/>
            </a:pPr>
            <a:r>
              <a:rPr lang="en-US" sz="585" spc="23" kern="0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buNone/>
            </a:pPr>
            <a:r>
              <a:rPr lang="en-US" sz="585" spc="23" kern="0" dirty="0">
                <a:solidFill>
                  <a:srgbClr val="9AA8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写文档</a:t>
            </a:r>
            <a:endParaRPr lang="en-US" sz="585" dirty="0"/>
          </a:p>
        </p:txBody>
      </p:sp>
      <p:sp>
        <p:nvSpPr>
          <p:cNvPr id="72" name="Shape 70"/>
          <p:cNvSpPr/>
          <p:nvPr/>
        </p:nvSpPr>
        <p:spPr>
          <a:xfrm>
            <a:off x="4663440" y="3190042"/>
            <a:ext cx="4069080" cy="645795"/>
          </a:xfrm>
          <a:prstGeom prst="roundRect">
            <a:avLst>
              <a:gd name="adj" fmla="val 7080"/>
            </a:avLst>
          </a:prstGeom>
          <a:solidFill>
            <a:srgbClr val="0F1E3D">
              <a:alpha val="40000"/>
            </a:srgbClr>
          </a:solidFill>
          <a:ln w="5715">
            <a:solidFill>
              <a:srgbClr val="1E315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663440" y="3190042"/>
            <a:ext cx="17145" cy="634365"/>
          </a:xfrm>
          <a:prstGeom prst="roundRect">
            <a:avLst>
              <a:gd name="adj" fmla="val 26666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74" name="Shape 72"/>
          <p:cNvSpPr/>
          <p:nvPr/>
        </p:nvSpPr>
        <p:spPr>
          <a:xfrm>
            <a:off x="4794885" y="3364349"/>
            <a:ext cx="297180" cy="297180"/>
          </a:xfrm>
          <a:prstGeom prst="roundRect">
            <a:avLst>
              <a:gd name="adj" fmla="val 19231"/>
            </a:avLst>
          </a:prstGeom>
          <a:gradFill rotWithShape="1">
            <a:gsLst>
              <a:gs pos="0">
                <a:srgbClr val="2196F3">
                  <a:alpha val="20000"/>
                </a:srgbClr>
              </a:gs>
              <a:gs pos="100000">
                <a:srgbClr val="00BCD4">
                  <a:alpha val="10000"/>
                </a:srgbClr>
              </a:gs>
            </a:gsLst>
            <a:lin ang="2700000" scaled="0"/>
          </a:gradFill>
          <a:ln w="5715">
            <a:solidFill>
              <a:srgbClr val="2196F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94885" y="3364349"/>
            <a:ext cx="422910" cy="2971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◈</a:t>
            </a:r>
            <a:endParaRPr lang="en-US" sz="990" dirty="0"/>
          </a:p>
        </p:txBody>
      </p:sp>
      <p:sp>
        <p:nvSpPr>
          <p:cNvPr id="76" name="Text 74"/>
          <p:cNvSpPr/>
          <p:nvPr/>
        </p:nvSpPr>
        <p:spPr>
          <a:xfrm>
            <a:off x="5206365" y="3287197"/>
            <a:ext cx="380207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8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持续分享 · COMMUNITY</a:t>
            </a:r>
            <a:endParaRPr lang="en-US" sz="540" dirty="0"/>
          </a:p>
        </p:txBody>
      </p:sp>
      <p:sp>
        <p:nvSpPr>
          <p:cNvPr id="77" name="Text 75"/>
          <p:cNvSpPr/>
          <p:nvPr/>
        </p:nvSpPr>
        <p:spPr>
          <a:xfrm>
            <a:off x="5206365" y="3407212"/>
            <a:ext cx="3802075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1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加入</a:t>
            </a:r>
            <a:pPr algn="l" indent="0" marL="0">
              <a:buNone/>
            </a:pPr>
            <a:r>
              <a:rPr lang="en-US" sz="1080" b="1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开源之家</a:t>
            </a:r>
            <a:endParaRPr lang="en-US" sz="810" dirty="0"/>
          </a:p>
        </p:txBody>
      </p:sp>
      <p:sp>
        <p:nvSpPr>
          <p:cNvPr id="78" name="Text 76"/>
          <p:cNvSpPr/>
          <p:nvPr/>
        </p:nvSpPr>
        <p:spPr>
          <a:xfrm>
            <a:off x="5206365" y="3630097"/>
            <a:ext cx="3802075" cy="108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5" spc="23" kern="0" dirty="0">
                <a:solidFill>
                  <a:srgbClr val="9AA8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社群讨论</a:t>
            </a:r>
            <a:pPr algn="l" indent="0" marL="0">
              <a:buNone/>
            </a:pPr>
            <a:r>
              <a:rPr lang="en-US" sz="585" spc="23" kern="0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buNone/>
            </a:pPr>
            <a:r>
              <a:rPr lang="en-US" sz="585" spc="23" kern="0" dirty="0">
                <a:solidFill>
                  <a:srgbClr val="9AA8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共创开源生态</a:t>
            </a:r>
            <a:endParaRPr lang="en-US" sz="585" dirty="0"/>
          </a:p>
        </p:txBody>
      </p:sp>
      <p:sp>
        <p:nvSpPr>
          <p:cNvPr id="79" name="Text 77"/>
          <p:cNvSpPr/>
          <p:nvPr/>
        </p:nvSpPr>
        <p:spPr>
          <a:xfrm>
            <a:off x="434340" y="3938707"/>
            <a:ext cx="199705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5E6E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OF SHARING · 感谢每一次代码提交</a:t>
            </a:r>
            <a:endParaRPr lang="en-US" sz="540" dirty="0"/>
          </a:p>
        </p:txBody>
      </p:sp>
      <p:sp>
        <p:nvSpPr>
          <p:cNvPr id="80" name="Shape 78"/>
          <p:cNvSpPr/>
          <p:nvPr/>
        </p:nvSpPr>
        <p:spPr>
          <a:xfrm>
            <a:off x="434340" y="3938707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6749415" y="3944422"/>
            <a:ext cx="2195474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5E6E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Home ·</a:t>
            </a:r>
            <a:pPr algn="l" indent="0" marL="0">
              <a:buNone/>
            </a:pPr>
            <a:r>
              <a:rPr lang="en-US" sz="540" b="1" spc="135" kern="0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opensource.com.cn</a:t>
            </a:r>
            <a:endParaRPr lang="en-US" sz="5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2026-08-28T15:01:44Z</dcterms:created>
  <dcterms:modified xsi:type="dcterms:W3CDTF">2026-08-28T15:01:44Z</dcterms:modified>
</cp:coreProperties>
</file>