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pic>
        <p:nvPicPr>
          <p:cNvPr id="3" name="Image 0" descr="/home/lee/developing/oscar-open-source-book/website/slides-src/2022-2022-02-the-evoultion-collaboration/images/page_001_hero.png">    </p:cNvPr>
          <p:cNvPicPr>
            <a:picLocks noChangeAspect="1"/>
          </p:cNvPicPr>
          <p:nvPr/>
        </p:nvPicPr>
        <p:blipFill>
          <a:blip r:embed="rId2"/>
          <a:srcRect l="55" r="55" t="0" b="0"/>
          <a:stretch/>
        </p:blipFill>
        <p:spPr>
          <a:xfrm>
            <a:off x="0" y="17145"/>
            <a:ext cx="9144000" cy="51092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1026">
              <a:alpha val="8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71450" y="171450"/>
            <a:ext cx="194310" cy="194310"/>
          </a:xfrm>
          <a:prstGeom prst="rect">
            <a:avLst/>
          </a:prstGeom>
          <a:noFill/>
          <a:ln/>
        </p:spPr>
      </p:sp>
      <p:sp>
        <p:nvSpPr>
          <p:cNvPr id="7" name="Shape 4"/>
          <p:cNvSpPr/>
          <p:nvPr/>
        </p:nvSpPr>
        <p:spPr>
          <a:xfrm>
            <a:off x="171450" y="171450"/>
            <a:ext cx="194310" cy="0"/>
          </a:xfrm>
          <a:prstGeom prst="line">
            <a:avLst/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1450" y="171450"/>
            <a:ext cx="0" cy="194310"/>
          </a:xfrm>
          <a:prstGeom prst="line">
            <a:avLst/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171450"/>
            <a:ext cx="194310" cy="194310"/>
          </a:xfrm>
          <a:prstGeom prst="rect">
            <a:avLst/>
          </a:prstGeom>
          <a:noFill/>
          <a:ln/>
        </p:spPr>
      </p:sp>
      <p:sp>
        <p:nvSpPr>
          <p:cNvPr id="10" name="Shape 7"/>
          <p:cNvSpPr/>
          <p:nvPr/>
        </p:nvSpPr>
        <p:spPr>
          <a:xfrm>
            <a:off x="8778240" y="171450"/>
            <a:ext cx="194310" cy="0"/>
          </a:xfrm>
          <a:prstGeom prst="line">
            <a:avLst/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72550" y="171450"/>
            <a:ext cx="0" cy="194310"/>
          </a:xfrm>
          <a:prstGeom prst="line">
            <a:avLst/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1450" y="4869180"/>
            <a:ext cx="194310" cy="194310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171450" y="5063490"/>
            <a:ext cx="194310" cy="0"/>
          </a:xfrm>
          <a:prstGeom prst="line">
            <a:avLst/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1450" y="4869180"/>
            <a:ext cx="0" cy="194310"/>
          </a:xfrm>
          <a:prstGeom prst="line">
            <a:avLst/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0" y="4869180"/>
            <a:ext cx="194310" cy="194310"/>
          </a:xfrm>
          <a:prstGeom prst="rect">
            <a:avLst/>
          </a:prstGeom>
          <a:noFill/>
          <a:ln/>
        </p:spPr>
      </p:sp>
      <p:sp>
        <p:nvSpPr>
          <p:cNvPr id="16" name="Shape 13"/>
          <p:cNvSpPr/>
          <p:nvPr/>
        </p:nvSpPr>
        <p:spPr>
          <a:xfrm>
            <a:off x="8972550" y="4869180"/>
            <a:ext cx="0" cy="194310"/>
          </a:xfrm>
          <a:prstGeom prst="line">
            <a:avLst/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78240" y="5063490"/>
            <a:ext cx="194310" cy="0"/>
          </a:xfrm>
          <a:prstGeom prst="line">
            <a:avLst/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0" y="3314700"/>
            <a:ext cx="2171700" cy="21717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7200" y="42291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60070" y="400050"/>
            <a:ext cx="134416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F5F7FA">
                    <a:alpha val="5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/ 2022.02</a:t>
            </a:r>
            <a:endParaRPr lang="en-US" sz="540" dirty="0"/>
          </a:p>
        </p:txBody>
      </p:sp>
      <p:sp>
        <p:nvSpPr>
          <p:cNvPr id="21" name="Text 17"/>
          <p:cNvSpPr/>
          <p:nvPr/>
        </p:nvSpPr>
        <p:spPr>
          <a:xfrm>
            <a:off x="6972300" y="400050"/>
            <a:ext cx="19202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F5F7FA">
                    <a:alpha val="5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EVOLUTION OF COLLABORATION</a:t>
            </a:r>
            <a:endParaRPr lang="en-US" sz="540" dirty="0"/>
          </a:p>
        </p:txBody>
      </p:sp>
      <p:sp>
        <p:nvSpPr>
          <p:cNvPr id="22" name="Text 18"/>
          <p:cNvSpPr/>
          <p:nvPr/>
        </p:nvSpPr>
        <p:spPr>
          <a:xfrm>
            <a:off x="3986213" y="1552248"/>
            <a:ext cx="131216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360" kern="0" dirty="0">
                <a:solidFill>
                  <a:srgbClr val="00BCD4">
                    <a:alpha val="9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开源协作 · 深度分享</a:t>
            </a:r>
            <a:endParaRPr lang="en-US" sz="540" dirty="0"/>
          </a:p>
        </p:txBody>
      </p:sp>
      <p:sp>
        <p:nvSpPr>
          <p:cNvPr id="23" name="Text 19"/>
          <p:cNvSpPr/>
          <p:nvPr/>
        </p:nvSpPr>
        <p:spPr>
          <a:xfrm>
            <a:off x="2331720" y="1786563"/>
            <a:ext cx="5097780" cy="648027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860" b="1" spc="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开源协作的演进</a:t>
            </a:r>
            <a:endParaRPr lang="en-US" sz="4860" dirty="0"/>
          </a:p>
        </p:txBody>
      </p:sp>
      <p:sp>
        <p:nvSpPr>
          <p:cNvPr id="24" name="Shape 20"/>
          <p:cNvSpPr/>
          <p:nvPr/>
        </p:nvSpPr>
        <p:spPr>
          <a:xfrm>
            <a:off x="3943350" y="2560320"/>
            <a:ext cx="12573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00BCD4"/>
              </a:gs>
              <a:gs pos="67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5" name="Text 21"/>
          <p:cNvSpPr/>
          <p:nvPr/>
        </p:nvSpPr>
        <p:spPr>
          <a:xfrm>
            <a:off x="3154680" y="2720340"/>
            <a:ext cx="3174797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spc="270" kern="0" dirty="0">
                <a:solidFill>
                  <a:srgbClr val="F5F7FA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2022年2月 · 开源之道适兕的阅读分享</a:t>
            </a:r>
            <a:endParaRPr lang="en-US" sz="990" dirty="0"/>
          </a:p>
        </p:txBody>
      </p:sp>
      <p:sp>
        <p:nvSpPr>
          <p:cNvPr id="26" name="Shape 22"/>
          <p:cNvSpPr/>
          <p:nvPr/>
        </p:nvSpPr>
        <p:spPr>
          <a:xfrm>
            <a:off x="457200" y="4135428"/>
            <a:ext cx="2674620" cy="608022"/>
          </a:xfrm>
          <a:prstGeom prst="roundRect">
            <a:avLst>
              <a:gd name="adj" fmla="val 9399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41026">
                  <a:alpha val="55000"/>
                </a:srgbClr>
              </a:gs>
            </a:gsLst>
            <a:lin ang="42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57200" y="4135428"/>
            <a:ext cx="17145" cy="59659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28" name="Text 24"/>
          <p:cNvSpPr/>
          <p:nvPr/>
        </p:nvSpPr>
        <p:spPr>
          <a:xfrm>
            <a:off x="577215" y="4244013"/>
            <a:ext cx="272674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495" dirty="0"/>
          </a:p>
        </p:txBody>
      </p:sp>
      <p:sp>
        <p:nvSpPr>
          <p:cNvPr id="29" name="Text 25"/>
          <p:cNvSpPr/>
          <p:nvPr/>
        </p:nvSpPr>
        <p:spPr>
          <a:xfrm>
            <a:off x="577215" y="4375458"/>
            <a:ext cx="45148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主题聚焦</a:t>
            </a:r>
            <a:endParaRPr lang="en-US" sz="675" dirty="0"/>
          </a:p>
        </p:txBody>
      </p:sp>
      <p:sp>
        <p:nvSpPr>
          <p:cNvPr id="30" name="Text 26"/>
          <p:cNvSpPr/>
          <p:nvPr/>
        </p:nvSpPr>
        <p:spPr>
          <a:xfrm>
            <a:off x="577215" y="4535478"/>
            <a:ext cx="241950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F5F7FA">
                    <a:alpha val="7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围绕 The Evolution of Collaboration 梳理开源协作的脉络与启示</a:t>
            </a:r>
            <a:endParaRPr lang="en-US" sz="518" dirty="0"/>
          </a:p>
        </p:txBody>
      </p:sp>
      <p:sp>
        <p:nvSpPr>
          <p:cNvPr id="31" name="Shape 27"/>
          <p:cNvSpPr/>
          <p:nvPr/>
        </p:nvSpPr>
        <p:spPr>
          <a:xfrm>
            <a:off x="3234690" y="4135428"/>
            <a:ext cx="2674620" cy="608022"/>
          </a:xfrm>
          <a:prstGeom prst="roundRect">
            <a:avLst>
              <a:gd name="adj" fmla="val 9399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41026">
                  <a:alpha val="55000"/>
                </a:srgbClr>
              </a:gs>
            </a:gsLst>
            <a:lin ang="42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234690" y="4135428"/>
            <a:ext cx="17145" cy="59659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33" name="Text 29"/>
          <p:cNvSpPr/>
          <p:nvPr/>
        </p:nvSpPr>
        <p:spPr>
          <a:xfrm>
            <a:off x="3354705" y="4244013"/>
            <a:ext cx="272674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495" dirty="0"/>
          </a:p>
        </p:txBody>
      </p:sp>
      <p:sp>
        <p:nvSpPr>
          <p:cNvPr id="34" name="Text 30"/>
          <p:cNvSpPr/>
          <p:nvPr/>
        </p:nvSpPr>
        <p:spPr>
          <a:xfrm>
            <a:off x="3354705" y="4375458"/>
            <a:ext cx="45148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分享场合</a:t>
            </a:r>
            <a:endParaRPr lang="en-US" sz="675" dirty="0"/>
          </a:p>
        </p:txBody>
      </p:sp>
      <p:sp>
        <p:nvSpPr>
          <p:cNvPr id="35" name="Text 31"/>
          <p:cNvSpPr/>
          <p:nvPr/>
        </p:nvSpPr>
        <p:spPr>
          <a:xfrm>
            <a:off x="3354705" y="4535478"/>
            <a:ext cx="161940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F5F7FA">
                    <a:alpha val="7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开源之道月度阅读分享会，面向社区开发者与布道者</a:t>
            </a:r>
            <a:endParaRPr lang="en-US" sz="518" dirty="0"/>
          </a:p>
        </p:txBody>
      </p:sp>
      <p:sp>
        <p:nvSpPr>
          <p:cNvPr id="36" name="Shape 32"/>
          <p:cNvSpPr/>
          <p:nvPr/>
        </p:nvSpPr>
        <p:spPr>
          <a:xfrm>
            <a:off x="6012180" y="4135428"/>
            <a:ext cx="2674620" cy="608022"/>
          </a:xfrm>
          <a:prstGeom prst="roundRect">
            <a:avLst>
              <a:gd name="adj" fmla="val 9399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41026">
                  <a:alpha val="55000"/>
                </a:srgbClr>
              </a:gs>
            </a:gsLst>
            <a:lin ang="42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012180" y="4135428"/>
            <a:ext cx="17145" cy="59659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38" name="Text 34"/>
          <p:cNvSpPr/>
          <p:nvPr/>
        </p:nvSpPr>
        <p:spPr>
          <a:xfrm>
            <a:off x="6132195" y="4244013"/>
            <a:ext cx="272674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495" dirty="0"/>
          </a:p>
        </p:txBody>
      </p:sp>
      <p:sp>
        <p:nvSpPr>
          <p:cNvPr id="39" name="Text 35"/>
          <p:cNvSpPr/>
          <p:nvPr/>
        </p:nvSpPr>
        <p:spPr>
          <a:xfrm>
            <a:off x="6132195" y="4375458"/>
            <a:ext cx="3600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演讲者</a:t>
            </a:r>
            <a:endParaRPr lang="en-US" sz="675" dirty="0"/>
          </a:p>
        </p:txBody>
      </p:sp>
      <p:sp>
        <p:nvSpPr>
          <p:cNvPr id="40" name="Text 36"/>
          <p:cNvSpPr/>
          <p:nvPr/>
        </p:nvSpPr>
        <p:spPr>
          <a:xfrm>
            <a:off x="6132195" y="4535478"/>
            <a:ext cx="17602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F5F7FA">
                    <a:alpha val="7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适兕，开源之道核心成员，长期关注社区治理与协作机制</a:t>
            </a:r>
            <a:endParaRPr lang="en-US" sz="518" dirty="0"/>
          </a:p>
        </p:txBody>
      </p:sp>
      <p:sp>
        <p:nvSpPr>
          <p:cNvPr id="41" name="Shape 37"/>
          <p:cNvSpPr/>
          <p:nvPr/>
        </p:nvSpPr>
        <p:spPr>
          <a:xfrm>
            <a:off x="457200" y="4777740"/>
            <a:ext cx="8229600" cy="194310"/>
          </a:xfrm>
          <a:prstGeom prst="rect">
            <a:avLst/>
          </a:prstGeom>
          <a:noFill/>
          <a:ln/>
        </p:spPr>
      </p:sp>
      <p:sp>
        <p:nvSpPr>
          <p:cNvPr id="42" name="Shape 38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186113" y="4874895"/>
            <a:ext cx="310438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3" spc="90" kern="0" dirty="0">
                <a:solidFill>
                  <a:srgbClr val="F5F7FA">
                    <a:alpha val="6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</a:t>
            </a:r>
            <a:pPr algn="ctr" indent="0" marL="0">
              <a:buNone/>
            </a:pPr>
            <a:r>
              <a:rPr lang="en-US" sz="563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代码合 一</a:t>
            </a:r>
            <a:pPr algn="ctr" indent="0" marL="0">
              <a:buNone/>
            </a:pPr>
            <a:r>
              <a:rPr lang="en-US" sz="563" spc="90" kern="0" dirty="0">
                <a:solidFill>
                  <a:srgbClr val="F5F7FA">
                    <a:alpha val="6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到</a:t>
            </a:r>
            <a:pPr algn="ctr" indent="0" marL="0">
              <a:buNone/>
            </a:pPr>
            <a:r>
              <a:rPr lang="en-US" sz="563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生态共建</a:t>
            </a:r>
            <a:pPr algn="ctr" indent="0" marL="0">
              <a:buNone/>
            </a:pPr>
            <a:r>
              <a:rPr lang="en-US" sz="563" spc="90" kern="0" dirty="0">
                <a:solidFill>
                  <a:srgbClr val="F5F7FA">
                    <a:alpha val="6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的演进轨迹，提炼布道者应思考的关键命题</a:t>
            </a:r>
            <a:endParaRPr lang="en-US" sz="56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50000">
                <a:srgbClr val="E8F0FA"/>
              </a:gs>
              <a:gs pos="100000">
                <a:srgbClr val="F5F7F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5034915"/>
            <a:ext cx="8458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D0DAE4"/>
              </a:gs>
              <a:gs pos="80000">
                <a:srgbClr val="D0DAE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342900" y="4909185"/>
            <a:ext cx="115214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5A6A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S1 · SECTION OPENING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7875270" y="4909185"/>
            <a:ext cx="103693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5A6A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2025 / OPEN SOURCE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342900" y="274320"/>
            <a:ext cx="8458200" cy="20574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42900" y="480060"/>
            <a:ext cx="8458200" cy="0"/>
          </a:xfrm>
          <a:prstGeom prst="line">
            <a:avLst/>
          </a:prstGeom>
          <a:noFill/>
          <a:ln w="5715">
            <a:solidFill>
              <a:srgbClr val="D0D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" y="288608"/>
            <a:ext cx="176022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PART 01 / CHAPTER OPENING</a:t>
            </a:r>
            <a:endParaRPr lang="en-US" sz="540" dirty="0"/>
          </a:p>
        </p:txBody>
      </p:sp>
      <p:sp>
        <p:nvSpPr>
          <p:cNvPr id="10" name="Shape 8"/>
          <p:cNvSpPr/>
          <p:nvPr/>
        </p:nvSpPr>
        <p:spPr>
          <a:xfrm>
            <a:off x="8595360" y="311468"/>
            <a:ext cx="45720" cy="457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1" name="Shape 9"/>
          <p:cNvSpPr/>
          <p:nvPr/>
        </p:nvSpPr>
        <p:spPr>
          <a:xfrm>
            <a:off x="8675370" y="311468"/>
            <a:ext cx="45720" cy="4572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2" name="Shape 10"/>
          <p:cNvSpPr/>
          <p:nvPr/>
        </p:nvSpPr>
        <p:spPr>
          <a:xfrm>
            <a:off x="8755380" y="311468"/>
            <a:ext cx="45720" cy="45720"/>
          </a:xfrm>
          <a:prstGeom prst="ellipse">
            <a:avLst/>
          </a:prstGeom>
          <a:solidFill>
            <a:srgbClr val="D0DAE4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" y="937260"/>
            <a:ext cx="50292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360" kern="0" dirty="0">
                <a:solidFill>
                  <a:srgbClr val="5A6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42900" y="1051560"/>
            <a:ext cx="3771900" cy="11658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0800" b="1" spc="-36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800" dirty="0"/>
          </a:p>
        </p:txBody>
      </p:sp>
      <p:sp>
        <p:nvSpPr>
          <p:cNvPr id="15" name="Shape 13"/>
          <p:cNvSpPr/>
          <p:nvPr/>
        </p:nvSpPr>
        <p:spPr>
          <a:xfrm>
            <a:off x="365760" y="2640330"/>
            <a:ext cx="34290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365760" y="2657475"/>
            <a:ext cx="2662733" cy="2194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40" b="1" spc="-22" kern="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协作模式演进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365760" y="2945457"/>
            <a:ext cx="2432304" cy="237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23" kern="0" dirty="0">
                <a:solidFill>
                  <a:srgbClr val="5A6A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从邮件列表到生态治理：</a:t>
            </a:r>
            <a:pPr algn="l" indent="0" marL="0">
              <a:lnSpc>
                <a:spcPct val="160000"/>
              </a:lnSpc>
              <a:buNone/>
            </a:pPr>
            <a:endParaRPr lang="en-US" sz="58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585" spc="23" kern="0" dirty="0">
                <a:solidFill>
                  <a:srgbClr val="5A6A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开源协作形态的百年变迁</a:t>
            </a:r>
            <a:endParaRPr lang="en-US" sz="585" dirty="0"/>
          </a:p>
        </p:txBody>
      </p:sp>
      <p:sp>
        <p:nvSpPr>
          <p:cNvPr id="18" name="Shape 16"/>
          <p:cNvSpPr/>
          <p:nvPr/>
        </p:nvSpPr>
        <p:spPr>
          <a:xfrm>
            <a:off x="2971800" y="594360"/>
            <a:ext cx="5715000" cy="3200400"/>
          </a:xfrm>
          <a:prstGeom prst="roundRect">
            <a:avLst>
              <a:gd name="adj" fmla="val 714"/>
            </a:avLst>
          </a:prstGeom>
          <a:noFill/>
          <a:ln/>
          <a:effectLst>
            <a:outerShdw sx="100000" sy="100000" kx="0" ky="0" algn="bl" rotWithShape="0" blurRad="304800" dist="76200" dir="16200000">
              <a:srgbClr val="0D1B2A">
                <a:alpha val="12000"/>
              </a:srgbClr>
            </a:outerShdw>
          </a:effectLst>
        </p:spPr>
      </p:sp>
      <p:pic>
        <p:nvPicPr>
          <p:cNvPr id="19" name="Image 0" descr="/home/lee/developing/oscar-open-source-book/website/slides-src/2022-2022-02-the-evoultion-collaboration/images/page_002_section_visual.png">    </p:cNvPr>
          <p:cNvPicPr>
            <a:picLocks noChangeAspect="1"/>
          </p:cNvPicPr>
          <p:nvPr/>
        </p:nvPicPr>
        <p:blipFill>
          <a:blip r:embed="rId1"/>
          <a:srcRect l="166" r="166" t="0" b="0"/>
          <a:stretch/>
        </p:blipFill>
        <p:spPr>
          <a:xfrm>
            <a:off x="2971800" y="594360"/>
            <a:ext cx="5715000" cy="32004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2971800" y="594360"/>
            <a:ext cx="137160" cy="13716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2971800" y="594360"/>
            <a:ext cx="13716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71800" y="594360"/>
            <a:ext cx="0" cy="1371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49640" y="594360"/>
            <a:ext cx="137160" cy="13716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8549640" y="594360"/>
            <a:ext cx="13716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86800" y="594360"/>
            <a:ext cx="0" cy="1371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71800" y="3657600"/>
            <a:ext cx="137160" cy="13716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2971800" y="3794760"/>
            <a:ext cx="13716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71800" y="3657600"/>
            <a:ext cx="0" cy="1371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549640" y="3657600"/>
            <a:ext cx="137160" cy="13716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8686800" y="3657600"/>
            <a:ext cx="0" cy="1371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49640" y="3794760"/>
            <a:ext cx="13716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74670" y="3629025"/>
            <a:ext cx="1958645" cy="85725"/>
          </a:xfrm>
          <a:prstGeom prst="rect">
            <a:avLst/>
          </a:prstGeom>
          <a:noFill/>
          <a:ln/>
          <a:effectLst>
            <a:outerShdw sx="100000" sy="100000" kx="0" ky="0" algn="bl" rotWithShape="0" blurRad="22860" dist="5715" dir="10800000">
              <a:srgbClr val="000000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FFFFFF">
                    <a:alpha val="8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TIMELINE · COLLABORATION EVOLUTION</a:t>
            </a:r>
            <a:endParaRPr lang="en-US" sz="495" dirty="0"/>
          </a:p>
        </p:txBody>
      </p:sp>
      <p:sp>
        <p:nvSpPr>
          <p:cNvPr id="33" name="Shape 30"/>
          <p:cNvSpPr/>
          <p:nvPr/>
        </p:nvSpPr>
        <p:spPr>
          <a:xfrm>
            <a:off x="342900" y="4437698"/>
            <a:ext cx="2743200" cy="431483"/>
          </a:xfrm>
          <a:prstGeom prst="rect">
            <a:avLst/>
          </a:prstGeom>
          <a:solidFill>
            <a:srgbClr val="FFFFFF">
              <a:alpha val="70000"/>
            </a:srgbClr>
          </a:solidFill>
          <a:ln w="17145">
            <a:solidFill>
              <a:srgbClr val="2196F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1485" y="4551998"/>
            <a:ext cx="2686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</a:t>
            </a:r>
            <a:endParaRPr lang="en-US" sz="495" dirty="0"/>
          </a:p>
        </p:txBody>
      </p:sp>
      <p:sp>
        <p:nvSpPr>
          <p:cNvPr id="35" name="Text 32"/>
          <p:cNvSpPr/>
          <p:nvPr/>
        </p:nvSpPr>
        <p:spPr>
          <a:xfrm>
            <a:off x="714375" y="4546283"/>
            <a:ext cx="44005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历史切片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451485" y="4689158"/>
            <a:ext cx="2829154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4" kern="0" dirty="0">
                <a:solidFill>
                  <a:srgbClr val="5A6A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 内核、Apache 基金会到 GitHub——不同阶段的协作范式各有侧重。</a:t>
            </a:r>
            <a:endParaRPr lang="en-US" sz="495" dirty="0"/>
          </a:p>
        </p:txBody>
      </p:sp>
      <p:sp>
        <p:nvSpPr>
          <p:cNvPr id="37" name="Shape 34"/>
          <p:cNvSpPr/>
          <p:nvPr/>
        </p:nvSpPr>
        <p:spPr>
          <a:xfrm>
            <a:off x="3200400" y="4437698"/>
            <a:ext cx="2743200" cy="431483"/>
          </a:xfrm>
          <a:prstGeom prst="rect">
            <a:avLst/>
          </a:prstGeom>
          <a:solidFill>
            <a:srgbClr val="FFFFFF">
              <a:alpha val="70000"/>
            </a:srgbClr>
          </a:solidFill>
          <a:ln w="17145">
            <a:solidFill>
              <a:srgbClr val="00BC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08985" y="4551998"/>
            <a:ext cx="2686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</a:t>
            </a:r>
            <a:endParaRPr lang="en-US" sz="495" dirty="0"/>
          </a:p>
        </p:txBody>
      </p:sp>
      <p:sp>
        <p:nvSpPr>
          <p:cNvPr id="39" name="Text 36"/>
          <p:cNvSpPr/>
          <p:nvPr/>
        </p:nvSpPr>
        <p:spPr>
          <a:xfrm>
            <a:off x="3571875" y="4546283"/>
            <a:ext cx="44005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核心命题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3308985" y="4689158"/>
            <a:ext cx="2829154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4" kern="0" dirty="0">
                <a:solidFill>
                  <a:srgbClr val="5A6A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技术基础设施如何决定社区参与门槛与贡献路径。</a:t>
            </a:r>
            <a:endParaRPr lang="en-US" sz="495" dirty="0"/>
          </a:p>
        </p:txBody>
      </p:sp>
      <p:sp>
        <p:nvSpPr>
          <p:cNvPr id="41" name="Shape 38"/>
          <p:cNvSpPr/>
          <p:nvPr/>
        </p:nvSpPr>
        <p:spPr>
          <a:xfrm>
            <a:off x="6057900" y="4437698"/>
            <a:ext cx="2743200" cy="431483"/>
          </a:xfrm>
          <a:prstGeom prst="rect">
            <a:avLst/>
          </a:prstGeom>
          <a:solidFill>
            <a:srgbClr val="FFFFFF">
              <a:alpha val="70000"/>
            </a:srgbClr>
          </a:solidFill>
          <a:ln w="17145">
            <a:solidFill>
              <a:srgbClr val="7E57C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66485" y="4551998"/>
            <a:ext cx="2686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7E57C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</a:t>
            </a:r>
            <a:endParaRPr lang="en-US" sz="495" dirty="0"/>
          </a:p>
        </p:txBody>
      </p:sp>
      <p:sp>
        <p:nvSpPr>
          <p:cNvPr id="43" name="Text 40"/>
          <p:cNvSpPr/>
          <p:nvPr/>
        </p:nvSpPr>
        <p:spPr>
          <a:xfrm>
            <a:off x="6429375" y="4546283"/>
            <a:ext cx="44005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演进线索</a:t>
            </a:r>
            <a:endParaRPr lang="en-US" sz="675" dirty="0"/>
          </a:p>
        </p:txBody>
      </p:sp>
      <p:sp>
        <p:nvSpPr>
          <p:cNvPr id="44" name="Text 41"/>
          <p:cNvSpPr/>
          <p:nvPr/>
        </p:nvSpPr>
        <p:spPr>
          <a:xfrm>
            <a:off x="6166485" y="4689158"/>
            <a:ext cx="2829154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4" kern="0" dirty="0">
                <a:solidFill>
                  <a:srgbClr val="5A6A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去中心化理想与商业平台现实之间的持续张力。</a:t>
            </a:r>
            <a:endParaRPr lang="en-US" sz="4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6000"/>
                </a:srgbClr>
              </a:gs>
              <a:gs pos="33000">
                <a:srgbClr val="000000">
                  <a:alpha val="0"/>
                </a:srgbClr>
              </a:gs>
              <a:gs pos="67000">
                <a:srgbClr val="00000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629400" y="-1257300"/>
            <a:ext cx="3543300" cy="3543300"/>
          </a:xfrm>
          <a:prstGeom prst="ellipse">
            <a:avLst/>
          </a:prstGeom>
          <a:solidFill>
            <a:srgbClr val="2196F3">
              <a:alpha val="32000"/>
            </a:srgbClr>
          </a:solidFill>
          <a:ln/>
          <a:effectLst>
            <a:outerShdw sx="100000" sy="100000" kx="0" ky="0" algn="bl" rotWithShape="0" blurRad="742950" dist="50800" dir="16200000">
              <a:srgbClr val="2196F3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1028700" y="2971800"/>
            <a:ext cx="3543300" cy="3543300"/>
          </a:xfrm>
          <a:prstGeom prst="ellipse">
            <a:avLst/>
          </a:prstGeom>
          <a:solidFill>
            <a:srgbClr val="00BCD4">
              <a:alpha val="32000"/>
            </a:srgbClr>
          </a:solidFill>
          <a:ln/>
          <a:effectLst>
            <a:outerShdw sx="100000" sy="100000" kx="0" ky="0" algn="bl" rotWithShape="0" blurRad="742950" dist="50800" dir="16200000">
              <a:srgbClr val="00BCD4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0" y="17145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0" y="44577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3457575" y="262890"/>
            <a:ext cx="2228850" cy="188595"/>
          </a:xfrm>
          <a:prstGeom prst="roundRect">
            <a:avLst>
              <a:gd name="adj" fmla="val 90909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89020" y="334328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91890" y="314325"/>
            <a:ext cx="208666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COLLABORATION · HISTORY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400050" y="542925"/>
            <a:ext cx="9345168" cy="4629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520" b="1" spc="-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开源协作简史</a:t>
            </a:r>
            <a:endParaRPr lang="en-US" sz="2520" dirty="0"/>
          </a:p>
        </p:txBody>
      </p:sp>
      <p:sp>
        <p:nvSpPr>
          <p:cNvPr id="11" name="Text 9"/>
          <p:cNvSpPr/>
          <p:nvPr/>
        </p:nvSpPr>
        <p:spPr>
          <a:xfrm>
            <a:off x="1200150" y="1085850"/>
            <a:ext cx="7552944" cy="15859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85000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开源协作历经四十余年发展，从少数黑客的邮件合遇到如今全球数百万开发者的平台化协同，每一次工具与制度的跃迁都重塑了参与者和社区的关系形态。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742950" y="1781651"/>
            <a:ext cx="76581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8660" y="1758791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8190" y="1758791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01579" y="1427321"/>
            <a:ext cx="49434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6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1980s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0050" y="2055971"/>
            <a:ext cx="1983105" cy="941725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5715">
            <a:solidFill>
              <a:srgbClr val="2196F3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38100" dir="16200000">
              <a:srgbClr val="2196F3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2700000">
            <a:off x="1385888" y="2015966"/>
            <a:ext cx="74295" cy="74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5888" y="2015966"/>
            <a:ext cx="74295" cy="0"/>
          </a:xfrm>
          <a:prstGeom prst="lin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5888" y="2015966"/>
            <a:ext cx="0" cy="74295"/>
          </a:xfrm>
          <a:prstGeom prst="lin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205" y="2164556"/>
            <a:ext cx="20034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13" kern="0" dirty="0">
                <a:solidFill>
                  <a:srgbClr val="7A88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STAGE 01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497205" y="2273141"/>
            <a:ext cx="200345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早期探索期</a:t>
            </a:r>
            <a:endParaRPr lang="en-US" sz="765" dirty="0"/>
          </a:p>
        </p:txBody>
      </p:sp>
      <p:sp>
        <p:nvSpPr>
          <p:cNvPr id="22" name="Text 20"/>
          <p:cNvSpPr/>
          <p:nvPr/>
        </p:nvSpPr>
        <p:spPr>
          <a:xfrm>
            <a:off x="497205" y="2473166"/>
            <a:ext cx="200345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Unix社区与GNU运动确立自由软件理念，协作以邮件列表为核心</a:t>
            </a:r>
            <a:endParaRPr lang="en-US" sz="540" dirty="0"/>
          </a:p>
        </p:txBody>
      </p:sp>
      <p:sp>
        <p:nvSpPr>
          <p:cNvPr id="23" name="Shape 21"/>
          <p:cNvSpPr/>
          <p:nvPr/>
        </p:nvSpPr>
        <p:spPr>
          <a:xfrm>
            <a:off x="991553" y="2769096"/>
            <a:ext cx="22860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1553" y="2769096"/>
            <a:ext cx="28575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Unix</a:t>
            </a:r>
            <a:endParaRPr lang="en-US" sz="450" dirty="0"/>
          </a:p>
        </p:txBody>
      </p:sp>
      <p:sp>
        <p:nvSpPr>
          <p:cNvPr id="25" name="Shape 23"/>
          <p:cNvSpPr/>
          <p:nvPr/>
        </p:nvSpPr>
        <p:spPr>
          <a:xfrm>
            <a:off x="1248728" y="2769096"/>
            <a:ext cx="19431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48728" y="2769096"/>
            <a:ext cx="25146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GNU</a:t>
            </a:r>
            <a:endParaRPr lang="en-US" sz="450" dirty="0"/>
          </a:p>
        </p:txBody>
      </p:sp>
      <p:sp>
        <p:nvSpPr>
          <p:cNvPr id="27" name="Shape 25"/>
          <p:cNvSpPr/>
          <p:nvPr/>
        </p:nvSpPr>
        <p:spPr>
          <a:xfrm>
            <a:off x="1471613" y="2769096"/>
            <a:ext cx="32004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471613" y="2769096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邮件列表</a:t>
            </a:r>
            <a:endParaRPr lang="en-US" sz="450" dirty="0"/>
          </a:p>
        </p:txBody>
      </p:sp>
      <p:sp>
        <p:nvSpPr>
          <p:cNvPr id="29" name="Shape 27"/>
          <p:cNvSpPr/>
          <p:nvPr/>
        </p:nvSpPr>
        <p:spPr>
          <a:xfrm>
            <a:off x="1225868" y="1633061"/>
            <a:ext cx="331470" cy="33147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2196F3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225868" y="1633061"/>
            <a:ext cx="457200" cy="3314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✉</a:t>
            </a:r>
            <a:endParaRPr lang="en-US" sz="990" dirty="0"/>
          </a:p>
        </p:txBody>
      </p:sp>
      <p:sp>
        <p:nvSpPr>
          <p:cNvPr id="31" name="Text 29"/>
          <p:cNvSpPr/>
          <p:nvPr/>
        </p:nvSpPr>
        <p:spPr>
          <a:xfrm>
            <a:off x="3321844" y="1427321"/>
            <a:ext cx="49434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6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1990s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20315" y="2055971"/>
            <a:ext cx="1983105" cy="941725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5715">
            <a:solidFill>
              <a:srgbClr val="2196F3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38100" dir="16200000">
              <a:srgbClr val="2196F3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 rot="2700000">
            <a:off x="3506153" y="2015966"/>
            <a:ext cx="74295" cy="74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506153" y="2015966"/>
            <a:ext cx="74295" cy="0"/>
          </a:xfrm>
          <a:prstGeom prst="lin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6153" y="2015966"/>
            <a:ext cx="0" cy="74295"/>
          </a:xfrm>
          <a:prstGeom prst="lin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7470" y="2164556"/>
            <a:ext cx="20034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13" kern="0" dirty="0">
                <a:solidFill>
                  <a:srgbClr val="7A88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STAGE 02</a:t>
            </a:r>
            <a:endParaRPr lang="en-US" sz="450" dirty="0"/>
          </a:p>
        </p:txBody>
      </p:sp>
      <p:sp>
        <p:nvSpPr>
          <p:cNvPr id="37" name="Text 35"/>
          <p:cNvSpPr/>
          <p:nvPr/>
        </p:nvSpPr>
        <p:spPr>
          <a:xfrm>
            <a:off x="2617470" y="2273141"/>
            <a:ext cx="200345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制度建设期</a:t>
            </a:r>
            <a:endParaRPr lang="en-US" sz="765" dirty="0"/>
          </a:p>
        </p:txBody>
      </p:sp>
      <p:sp>
        <p:nvSpPr>
          <p:cNvPr id="38" name="Text 36"/>
          <p:cNvSpPr/>
          <p:nvPr/>
        </p:nvSpPr>
        <p:spPr>
          <a:xfrm>
            <a:off x="2617470" y="2473166"/>
            <a:ext cx="200345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Linux内核成熟后Linus确立BDFL模式，开放治理雏形开始显现</a:t>
            </a:r>
            <a:endParaRPr lang="en-US" sz="540" dirty="0"/>
          </a:p>
        </p:txBody>
      </p:sp>
      <p:sp>
        <p:nvSpPr>
          <p:cNvPr id="39" name="Shape 37"/>
          <p:cNvSpPr/>
          <p:nvPr/>
        </p:nvSpPr>
        <p:spPr>
          <a:xfrm>
            <a:off x="3077528" y="2769096"/>
            <a:ext cx="262890" cy="120015"/>
          </a:xfrm>
          <a:prstGeom prst="roundRect">
            <a:avLst>
              <a:gd name="adj" fmla="val 19048"/>
            </a:avLst>
          </a:prstGeom>
          <a:solidFill>
            <a:srgbClr val="42A5F5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077528" y="2769096"/>
            <a:ext cx="32004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</a:t>
            </a:r>
            <a:endParaRPr lang="en-US" sz="450" dirty="0"/>
          </a:p>
        </p:txBody>
      </p:sp>
      <p:sp>
        <p:nvSpPr>
          <p:cNvPr id="41" name="Shape 39"/>
          <p:cNvSpPr/>
          <p:nvPr/>
        </p:nvSpPr>
        <p:spPr>
          <a:xfrm>
            <a:off x="3368993" y="2769096"/>
            <a:ext cx="228600" cy="120015"/>
          </a:xfrm>
          <a:prstGeom prst="roundRect">
            <a:avLst>
              <a:gd name="adj" fmla="val 19048"/>
            </a:avLst>
          </a:prstGeom>
          <a:solidFill>
            <a:srgbClr val="42A5F5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368993" y="2769096"/>
            <a:ext cx="28575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BDFL</a:t>
            </a:r>
            <a:endParaRPr lang="en-US" sz="450" dirty="0"/>
          </a:p>
        </p:txBody>
      </p:sp>
      <p:sp>
        <p:nvSpPr>
          <p:cNvPr id="43" name="Shape 41"/>
          <p:cNvSpPr/>
          <p:nvPr/>
        </p:nvSpPr>
        <p:spPr>
          <a:xfrm>
            <a:off x="3626168" y="2769096"/>
            <a:ext cx="320040" cy="120015"/>
          </a:xfrm>
          <a:prstGeom prst="roundRect">
            <a:avLst>
              <a:gd name="adj" fmla="val 19048"/>
            </a:avLst>
          </a:prstGeom>
          <a:solidFill>
            <a:srgbClr val="42A5F5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626168" y="2769096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开放治理</a:t>
            </a:r>
            <a:endParaRPr lang="en-US" sz="450" dirty="0"/>
          </a:p>
        </p:txBody>
      </p:sp>
      <p:sp>
        <p:nvSpPr>
          <p:cNvPr id="45" name="Shape 43"/>
          <p:cNvSpPr/>
          <p:nvPr/>
        </p:nvSpPr>
        <p:spPr>
          <a:xfrm>
            <a:off x="3346133" y="1633061"/>
            <a:ext cx="331470" cy="33147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42A5F5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346133" y="1633061"/>
            <a:ext cx="457200" cy="3314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42A5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⚙</a:t>
            </a:r>
            <a:endParaRPr lang="en-US" sz="990" dirty="0"/>
          </a:p>
        </p:txBody>
      </p:sp>
      <p:sp>
        <p:nvSpPr>
          <p:cNvPr id="47" name="Text 45"/>
          <p:cNvSpPr/>
          <p:nvPr/>
        </p:nvSpPr>
        <p:spPr>
          <a:xfrm>
            <a:off x="5430679" y="1427321"/>
            <a:ext cx="51720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6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40580" y="2055971"/>
            <a:ext cx="1983105" cy="941725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5715">
            <a:solidFill>
              <a:srgbClr val="2196F3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38100" dir="16200000">
              <a:srgbClr val="2196F3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 rot="2700000">
            <a:off x="5626418" y="2015966"/>
            <a:ext cx="74295" cy="74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5626418" y="2015966"/>
            <a:ext cx="74295" cy="0"/>
          </a:xfrm>
          <a:prstGeom prst="lin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26418" y="2015966"/>
            <a:ext cx="0" cy="74295"/>
          </a:xfrm>
          <a:prstGeom prst="lin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7735" y="2164556"/>
            <a:ext cx="20034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13" kern="0" dirty="0">
                <a:solidFill>
                  <a:srgbClr val="7A88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STAGE 03</a:t>
            </a:r>
            <a:endParaRPr lang="en-US" sz="450" dirty="0"/>
          </a:p>
        </p:txBody>
      </p:sp>
      <p:sp>
        <p:nvSpPr>
          <p:cNvPr id="53" name="Text 51"/>
          <p:cNvSpPr/>
          <p:nvPr/>
        </p:nvSpPr>
        <p:spPr>
          <a:xfrm>
            <a:off x="4737735" y="2273141"/>
            <a:ext cx="200345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平台化时期</a:t>
            </a:r>
            <a:endParaRPr lang="en-US" sz="765" dirty="0"/>
          </a:p>
        </p:txBody>
      </p:sp>
      <p:sp>
        <p:nvSpPr>
          <p:cNvPr id="54" name="Text 52"/>
          <p:cNvSpPr/>
          <p:nvPr/>
        </p:nvSpPr>
        <p:spPr>
          <a:xfrm>
            <a:off x="4737735" y="2473166"/>
            <a:ext cx="200345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GitHub等代码托管平台降低参与门槛，Pull Request成为主流协作范式</a:t>
            </a:r>
            <a:endParaRPr lang="en-US" sz="540" dirty="0"/>
          </a:p>
        </p:txBody>
      </p:sp>
      <p:sp>
        <p:nvSpPr>
          <p:cNvPr id="55" name="Shape 53"/>
          <p:cNvSpPr/>
          <p:nvPr/>
        </p:nvSpPr>
        <p:spPr>
          <a:xfrm>
            <a:off x="5043488" y="2769096"/>
            <a:ext cx="297180" cy="120015"/>
          </a:xfrm>
          <a:prstGeom prst="roundRect">
            <a:avLst>
              <a:gd name="adj" fmla="val 19048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043488" y="2769096"/>
            <a:ext cx="35433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</a:t>
            </a:r>
            <a:endParaRPr lang="en-US" sz="450" dirty="0"/>
          </a:p>
        </p:txBody>
      </p:sp>
      <p:sp>
        <p:nvSpPr>
          <p:cNvPr id="57" name="Shape 55"/>
          <p:cNvSpPr/>
          <p:nvPr/>
        </p:nvSpPr>
        <p:spPr>
          <a:xfrm>
            <a:off x="5369243" y="2769096"/>
            <a:ext cx="502920" cy="120015"/>
          </a:xfrm>
          <a:prstGeom prst="roundRect">
            <a:avLst>
              <a:gd name="adj" fmla="val 19048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369243" y="2769096"/>
            <a:ext cx="56327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Pull Request</a:t>
            </a:r>
            <a:endParaRPr lang="en-US" sz="450" dirty="0"/>
          </a:p>
        </p:txBody>
      </p:sp>
      <p:sp>
        <p:nvSpPr>
          <p:cNvPr id="59" name="Shape 57"/>
          <p:cNvSpPr/>
          <p:nvPr/>
        </p:nvSpPr>
        <p:spPr>
          <a:xfrm>
            <a:off x="5900738" y="2769096"/>
            <a:ext cx="320040" cy="120015"/>
          </a:xfrm>
          <a:prstGeom prst="roundRect">
            <a:avLst>
              <a:gd name="adj" fmla="val 19048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900738" y="2769096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协作范式</a:t>
            </a:r>
            <a:endParaRPr lang="en-US" sz="450" dirty="0"/>
          </a:p>
        </p:txBody>
      </p:sp>
      <p:sp>
        <p:nvSpPr>
          <p:cNvPr id="61" name="Shape 59"/>
          <p:cNvSpPr/>
          <p:nvPr/>
        </p:nvSpPr>
        <p:spPr>
          <a:xfrm>
            <a:off x="5466398" y="1633061"/>
            <a:ext cx="331470" cy="33147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BCD4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466398" y="1633061"/>
            <a:ext cx="457200" cy="3314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⬡</a:t>
            </a:r>
            <a:endParaRPr lang="en-US" sz="990" dirty="0"/>
          </a:p>
        </p:txBody>
      </p:sp>
      <p:sp>
        <p:nvSpPr>
          <p:cNvPr id="63" name="Text 61"/>
          <p:cNvSpPr/>
          <p:nvPr/>
        </p:nvSpPr>
        <p:spPr>
          <a:xfrm>
            <a:off x="7518083" y="1427321"/>
            <a:ext cx="58293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6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2010s+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60845" y="2055971"/>
            <a:ext cx="1983105" cy="941725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5715">
            <a:solidFill>
              <a:srgbClr val="2196F3">
                <a:alpha val="12000"/>
              </a:srgbClr>
            </a:solidFill>
            <a:prstDash val="solid"/>
          </a:ln>
          <a:effectLst>
            <a:outerShdw sx="100000" sy="100000" kx="0" ky="0" algn="bl" rotWithShape="0" blurRad="209550" dist="38100" dir="16200000">
              <a:srgbClr val="2196F3">
                <a:alpha val="9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 rot="2700000">
            <a:off x="7746683" y="2015966"/>
            <a:ext cx="74295" cy="74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7746683" y="2015966"/>
            <a:ext cx="74295" cy="0"/>
          </a:xfrm>
          <a:prstGeom prst="lin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46683" y="2015966"/>
            <a:ext cx="0" cy="74295"/>
          </a:xfrm>
          <a:prstGeom prst="lin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0" y="2164556"/>
            <a:ext cx="20034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13" kern="0" dirty="0">
                <a:solidFill>
                  <a:srgbClr val="7A88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STAGE 04</a:t>
            </a:r>
            <a:endParaRPr lang="en-US" sz="450" dirty="0"/>
          </a:p>
        </p:txBody>
      </p:sp>
      <p:sp>
        <p:nvSpPr>
          <p:cNvPr id="69" name="Text 67"/>
          <p:cNvSpPr/>
          <p:nvPr/>
        </p:nvSpPr>
        <p:spPr>
          <a:xfrm>
            <a:off x="6858000" y="2273141"/>
            <a:ext cx="200345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生态治理期</a:t>
            </a:r>
            <a:endParaRPr lang="en-US" sz="765" dirty="0"/>
          </a:p>
        </p:txBody>
      </p:sp>
      <p:sp>
        <p:nvSpPr>
          <p:cNvPr id="70" name="Text 68"/>
          <p:cNvSpPr/>
          <p:nvPr/>
        </p:nvSpPr>
        <p:spPr>
          <a:xfrm>
            <a:off x="6858000" y="2473166"/>
            <a:ext cx="200345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CNCF、LF等基金会推动企业间协同治理，开源进入规模化合规时代</a:t>
            </a:r>
            <a:endParaRPr lang="en-US" sz="540" dirty="0"/>
          </a:p>
        </p:txBody>
      </p:sp>
      <p:sp>
        <p:nvSpPr>
          <p:cNvPr id="71" name="Shape 69"/>
          <p:cNvSpPr/>
          <p:nvPr/>
        </p:nvSpPr>
        <p:spPr>
          <a:xfrm>
            <a:off x="7129463" y="2769096"/>
            <a:ext cx="228600" cy="120015"/>
          </a:xfrm>
          <a:prstGeom prst="roundRect">
            <a:avLst>
              <a:gd name="adj" fmla="val 19048"/>
            </a:avLst>
          </a:prstGeom>
          <a:solidFill>
            <a:srgbClr val="26A69A">
              <a:alpha val="1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7129463" y="2769096"/>
            <a:ext cx="28575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26A69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CNCF</a:t>
            </a:r>
            <a:endParaRPr lang="en-US" sz="450" dirty="0"/>
          </a:p>
        </p:txBody>
      </p:sp>
      <p:sp>
        <p:nvSpPr>
          <p:cNvPr id="73" name="Shape 71"/>
          <p:cNvSpPr/>
          <p:nvPr/>
        </p:nvSpPr>
        <p:spPr>
          <a:xfrm>
            <a:off x="7386638" y="2769096"/>
            <a:ext cx="640080" cy="120015"/>
          </a:xfrm>
          <a:prstGeom prst="roundRect">
            <a:avLst>
              <a:gd name="adj" fmla="val 19048"/>
            </a:avLst>
          </a:prstGeom>
          <a:solidFill>
            <a:srgbClr val="26A69A">
              <a:alpha val="1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7386638" y="2769096"/>
            <a:ext cx="71689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26A69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 Foundation</a:t>
            </a:r>
            <a:endParaRPr lang="en-US" sz="450" dirty="0"/>
          </a:p>
        </p:txBody>
      </p:sp>
      <p:sp>
        <p:nvSpPr>
          <p:cNvPr id="75" name="Shape 73"/>
          <p:cNvSpPr/>
          <p:nvPr/>
        </p:nvSpPr>
        <p:spPr>
          <a:xfrm>
            <a:off x="8055293" y="2769096"/>
            <a:ext cx="320040" cy="120015"/>
          </a:xfrm>
          <a:prstGeom prst="roundRect">
            <a:avLst>
              <a:gd name="adj" fmla="val 19048"/>
            </a:avLst>
          </a:prstGeom>
          <a:solidFill>
            <a:srgbClr val="26A69A">
              <a:alpha val="1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8055293" y="2769096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26A69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企业治理</a:t>
            </a:r>
            <a:endParaRPr lang="en-US" sz="450" dirty="0"/>
          </a:p>
        </p:txBody>
      </p:sp>
      <p:sp>
        <p:nvSpPr>
          <p:cNvPr id="77" name="Shape 75"/>
          <p:cNvSpPr/>
          <p:nvPr/>
        </p:nvSpPr>
        <p:spPr>
          <a:xfrm>
            <a:off x="7586663" y="1633061"/>
            <a:ext cx="331470" cy="33147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26A69A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586663" y="1633061"/>
            <a:ext cx="457200" cy="3314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26A69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⚐</a:t>
            </a:r>
            <a:endParaRPr lang="en-US" sz="990" dirty="0"/>
          </a:p>
        </p:txBody>
      </p:sp>
      <p:sp>
        <p:nvSpPr>
          <p:cNvPr id="79" name="Shape 77"/>
          <p:cNvSpPr/>
          <p:nvPr/>
        </p:nvSpPr>
        <p:spPr>
          <a:xfrm>
            <a:off x="400050" y="3146286"/>
            <a:ext cx="2712660" cy="409158"/>
          </a:xfrm>
          <a:prstGeom prst="roundRect">
            <a:avLst>
              <a:gd name="adj" fmla="val 13968"/>
            </a:avLst>
          </a:prstGeom>
          <a:solidFill>
            <a:srgbClr val="FFFFFF"/>
          </a:solidFill>
          <a:ln w="5715">
            <a:solidFill>
              <a:srgbClr val="2196F3">
                <a:alpha val="14000"/>
              </a:srgbClr>
            </a:solidFill>
            <a:prstDash val="solid"/>
          </a:ln>
          <a:effectLst>
            <a:outerShdw sx="100000" sy="100000" kx="0" ky="0" algn="bl" rotWithShape="0" blurRad="133350" dist="28575" dir="16200000">
              <a:srgbClr val="2196F3">
                <a:alpha val="7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00050" y="3146286"/>
            <a:ext cx="17145" cy="39772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81" name="Text 79"/>
          <p:cNvSpPr/>
          <p:nvPr/>
        </p:nvSpPr>
        <p:spPr>
          <a:xfrm>
            <a:off x="520065" y="3267998"/>
            <a:ext cx="59436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1991</a:t>
            </a:r>
            <a:endParaRPr lang="en-US" sz="1080" dirty="0"/>
          </a:p>
        </p:txBody>
      </p:sp>
      <p:sp>
        <p:nvSpPr>
          <p:cNvPr id="82" name="Shape 80"/>
          <p:cNvSpPr/>
          <p:nvPr/>
        </p:nvSpPr>
        <p:spPr>
          <a:xfrm>
            <a:off x="1057275" y="3242280"/>
            <a:ext cx="5715" cy="217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83" name="Text 81"/>
          <p:cNvSpPr/>
          <p:nvPr/>
        </p:nvSpPr>
        <p:spPr>
          <a:xfrm>
            <a:off x="1143000" y="3232011"/>
            <a:ext cx="207165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首个版本发布</a:t>
            </a:r>
            <a:endParaRPr lang="en-US" sz="630" dirty="0"/>
          </a:p>
        </p:txBody>
      </p:sp>
      <p:sp>
        <p:nvSpPr>
          <p:cNvPr id="84" name="Text 82"/>
          <p:cNvSpPr/>
          <p:nvPr/>
        </p:nvSpPr>
        <p:spPr>
          <a:xfrm>
            <a:off x="1143000" y="3369171"/>
            <a:ext cx="2071659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Linus Torvalds 在新闻组发布内核代码</a:t>
            </a:r>
            <a:endParaRPr lang="en-US" sz="495" dirty="0"/>
          </a:p>
        </p:txBody>
      </p:sp>
      <p:sp>
        <p:nvSpPr>
          <p:cNvPr id="85" name="Shape 83"/>
          <p:cNvSpPr/>
          <p:nvPr/>
        </p:nvSpPr>
        <p:spPr>
          <a:xfrm>
            <a:off x="3215580" y="3146286"/>
            <a:ext cx="2712750" cy="409158"/>
          </a:xfrm>
          <a:prstGeom prst="roundRect">
            <a:avLst>
              <a:gd name="adj" fmla="val 13968"/>
            </a:avLst>
          </a:prstGeom>
          <a:solidFill>
            <a:srgbClr val="FFFFFF"/>
          </a:solidFill>
          <a:ln w="5715">
            <a:solidFill>
              <a:srgbClr val="2196F3">
                <a:alpha val="14000"/>
              </a:srgbClr>
            </a:solidFill>
            <a:prstDash val="solid"/>
          </a:ln>
          <a:effectLst>
            <a:outerShdw sx="100000" sy="100000" kx="0" ky="0" algn="bl" rotWithShape="0" blurRad="133350" dist="28575" dir="16200000">
              <a:srgbClr val="2196F3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215580" y="3146286"/>
            <a:ext cx="17145" cy="39772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87" name="Text 85"/>
          <p:cNvSpPr/>
          <p:nvPr/>
        </p:nvSpPr>
        <p:spPr>
          <a:xfrm>
            <a:off x="3335595" y="3267998"/>
            <a:ext cx="59436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2008</a:t>
            </a:r>
            <a:endParaRPr lang="en-US" sz="1080" dirty="0"/>
          </a:p>
        </p:txBody>
      </p:sp>
      <p:sp>
        <p:nvSpPr>
          <p:cNvPr id="88" name="Shape 86"/>
          <p:cNvSpPr/>
          <p:nvPr/>
        </p:nvSpPr>
        <p:spPr>
          <a:xfrm>
            <a:off x="3872805" y="3242280"/>
            <a:ext cx="5715" cy="217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89" name="Text 87"/>
          <p:cNvSpPr/>
          <p:nvPr/>
        </p:nvSpPr>
        <p:spPr>
          <a:xfrm>
            <a:off x="3958530" y="3232011"/>
            <a:ext cx="207175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成立</a:t>
            </a:r>
            <a:endParaRPr lang="en-US" sz="630" dirty="0"/>
          </a:p>
        </p:txBody>
      </p:sp>
      <p:sp>
        <p:nvSpPr>
          <p:cNvPr id="90" name="Text 88"/>
          <p:cNvSpPr/>
          <p:nvPr/>
        </p:nvSpPr>
        <p:spPr>
          <a:xfrm>
            <a:off x="3958530" y="3369171"/>
            <a:ext cx="2071759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代码托管平台化转折之年</a:t>
            </a:r>
            <a:endParaRPr lang="en-US" sz="495" dirty="0"/>
          </a:p>
        </p:txBody>
      </p:sp>
      <p:sp>
        <p:nvSpPr>
          <p:cNvPr id="91" name="Shape 89"/>
          <p:cNvSpPr/>
          <p:nvPr/>
        </p:nvSpPr>
        <p:spPr>
          <a:xfrm>
            <a:off x="6031200" y="3146286"/>
            <a:ext cx="2712660" cy="409158"/>
          </a:xfrm>
          <a:prstGeom prst="roundRect">
            <a:avLst>
              <a:gd name="adj" fmla="val 13968"/>
            </a:avLst>
          </a:prstGeom>
          <a:solidFill>
            <a:srgbClr val="FFFFFF"/>
          </a:solidFill>
          <a:ln w="5715">
            <a:solidFill>
              <a:srgbClr val="2196F3">
                <a:alpha val="14000"/>
              </a:srgbClr>
            </a:solidFill>
            <a:prstDash val="solid"/>
          </a:ln>
          <a:effectLst>
            <a:outerShdw sx="100000" sy="100000" kx="0" ky="0" algn="bl" rotWithShape="0" blurRad="133350" dist="28575" dir="16200000">
              <a:srgbClr val="2196F3">
                <a:alpha val="7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6031200" y="3146286"/>
            <a:ext cx="17145" cy="39772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93" name="Text 91"/>
          <p:cNvSpPr/>
          <p:nvPr/>
        </p:nvSpPr>
        <p:spPr>
          <a:xfrm>
            <a:off x="6151215" y="3267998"/>
            <a:ext cx="59436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2015</a:t>
            </a:r>
            <a:endParaRPr lang="en-US" sz="1080" dirty="0"/>
          </a:p>
        </p:txBody>
      </p:sp>
      <p:sp>
        <p:nvSpPr>
          <p:cNvPr id="94" name="Shape 92"/>
          <p:cNvSpPr/>
          <p:nvPr/>
        </p:nvSpPr>
        <p:spPr>
          <a:xfrm>
            <a:off x="6688425" y="3242280"/>
            <a:ext cx="5715" cy="217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95" name="Text 93"/>
          <p:cNvSpPr/>
          <p:nvPr/>
        </p:nvSpPr>
        <p:spPr>
          <a:xfrm>
            <a:off x="6774150" y="3232011"/>
            <a:ext cx="207165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CNCF 成立</a:t>
            </a:r>
            <a:endParaRPr lang="en-US" sz="630" dirty="0"/>
          </a:p>
        </p:txBody>
      </p:sp>
      <p:sp>
        <p:nvSpPr>
          <p:cNvPr id="96" name="Text 94"/>
          <p:cNvSpPr/>
          <p:nvPr/>
        </p:nvSpPr>
        <p:spPr>
          <a:xfrm>
            <a:off x="6774150" y="3369171"/>
            <a:ext cx="2071659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云原生基金会开启企业级治理范式</a:t>
            </a:r>
            <a:endParaRPr lang="en-US" sz="495" dirty="0"/>
          </a:p>
        </p:txBody>
      </p:sp>
      <p:sp>
        <p:nvSpPr>
          <p:cNvPr id="97" name="Text 95"/>
          <p:cNvSpPr/>
          <p:nvPr/>
        </p:nvSpPr>
        <p:spPr>
          <a:xfrm>
            <a:off x="4517708" y="3749754"/>
            <a:ext cx="310896" cy="1462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440" b="1" dirty="0">
                <a:solidFill>
                  <a:srgbClr val="2196F3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440" dirty="0"/>
          </a:p>
        </p:txBody>
      </p:sp>
      <p:sp>
        <p:nvSpPr>
          <p:cNvPr id="98" name="Text 96"/>
          <p:cNvSpPr/>
          <p:nvPr/>
        </p:nvSpPr>
        <p:spPr>
          <a:xfrm>
            <a:off x="3127177" y="3930313"/>
            <a:ext cx="3236404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5" spc="36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从邮件到</a:t>
            </a:r>
            <a:pPr algn="ctr" indent="0" marL="0">
              <a:buNone/>
            </a:pPr>
            <a:r>
              <a:rPr lang="en-US" sz="675" b="1" spc="36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平台</a:t>
            </a:r>
            <a:pPr algn="ctr" indent="0" marL="0">
              <a:buNone/>
            </a:pPr>
            <a:r>
              <a:rPr lang="en-US" sz="675" spc="36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，从个人到</a:t>
            </a:r>
            <a:pPr algn="ctr" indent="0" marL="0">
              <a:buNone/>
            </a:pPr>
            <a:r>
              <a:rPr lang="en-US" sz="675" b="1" spc="36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</a:t>
            </a:r>
            <a:pPr algn="ctr" indent="0" marL="0">
              <a:buNone/>
            </a:pPr>
            <a:r>
              <a:rPr lang="en-US" sz="675" spc="36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，开源协作正在重塑软件世界的生产关系。</a:t>
            </a:r>
            <a:endParaRPr lang="en-US" sz="675" dirty="0"/>
          </a:p>
        </p:txBody>
      </p:sp>
      <p:sp>
        <p:nvSpPr>
          <p:cNvPr id="99" name="Shape 97"/>
          <p:cNvSpPr/>
          <p:nvPr/>
        </p:nvSpPr>
        <p:spPr>
          <a:xfrm>
            <a:off x="4343400" y="4118908"/>
            <a:ext cx="45720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AF2F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290"/>
          </a:xfrm>
          <a:prstGeom prst="rect">
            <a:avLst/>
          </a:prstGeom>
          <a:gradFill rotWithShape="1">
            <a:gsLst>
              <a:gs pos="0">
                <a:srgbClr val="0D47A1"/>
              </a:gs>
              <a:gs pos="35000">
                <a:srgbClr val="2196F3"/>
              </a:gs>
              <a:gs pos="75000">
                <a:srgbClr val="00BCD4"/>
              </a:gs>
              <a:gs pos="100000">
                <a:srgbClr val="80DEEA"/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868680"/>
            <a:ext cx="845820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342900" y="217170"/>
            <a:ext cx="4016502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30" b="1" spc="-22" kern="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开源生态</a:t>
            </a:r>
            <a:pPr algn="l" indent="0" marL="0">
              <a:buNone/>
            </a:pPr>
            <a:r>
              <a:rPr lang="en-US" sz="1530" b="1" spc="-22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关键数据</a:t>
            </a:r>
            <a:pPr algn="l" indent="0" marL="0">
              <a:buNone/>
            </a:pPr>
            <a:r>
              <a:rPr lang="en-US" sz="1530" b="1" spc="-22" kern="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数字经济底层操作系统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6800850" y="360045"/>
            <a:ext cx="224028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ECOSYSTEM · KEY METRICS</a:t>
            </a:r>
            <a:endParaRPr lang="en-US" sz="585" dirty="0"/>
          </a:p>
        </p:txBody>
      </p:sp>
      <p:sp>
        <p:nvSpPr>
          <p:cNvPr id="7" name="Text 5"/>
          <p:cNvSpPr/>
          <p:nvPr/>
        </p:nvSpPr>
        <p:spPr>
          <a:xfrm>
            <a:off x="342900" y="577215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从参与人数、企业依赖度、资金规模到中国份额——开源已从</a:t>
            </a:r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边缘文化</a:t>
            </a:r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演变为支撑</a:t>
            </a:r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数字经济</a:t>
            </a:r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的底层操作系统，全球开源生态在开发者规模、企业采用、基础设施投入三大维度同时形成正循环。</a:t>
            </a:r>
            <a:endParaRPr lang="en-US" sz="675" dirty="0"/>
          </a:p>
        </p:txBody>
      </p:sp>
      <p:sp>
        <p:nvSpPr>
          <p:cNvPr id="8" name="Shape 6"/>
          <p:cNvSpPr/>
          <p:nvPr/>
        </p:nvSpPr>
        <p:spPr>
          <a:xfrm>
            <a:off x="342900" y="1080135"/>
            <a:ext cx="2743200" cy="13716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5715">
            <a:solidFill>
              <a:srgbClr val="E1E8F0"/>
            </a:solidFill>
            <a:prstDash val="solid"/>
          </a:ln>
          <a:effectLst>
            <a:outerShdw sx="100000" sy="100000" kx="0" ky="0" algn="bl" rotWithShape="0" blurRad="209550" dist="57150" dir="16200000">
              <a:srgbClr val="0D1B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" y="1080135"/>
            <a:ext cx="273177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2617470" y="851535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1" name="Text 9"/>
          <p:cNvSpPr/>
          <p:nvPr/>
        </p:nvSpPr>
        <p:spPr>
          <a:xfrm>
            <a:off x="485775" y="1400800"/>
            <a:ext cx="2752344" cy="28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70" b="1" spc="-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1,000</a:t>
            </a:r>
            <a:pPr algn="l" indent="0" marL="0">
              <a:lnSpc>
                <a:spcPct val="110000"/>
              </a:lnSpc>
              <a:buNone/>
            </a:pPr>
            <a:r>
              <a:rPr lang="en-US" sz="990" b="1" spc="-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万+</a:t>
            </a:r>
            <a:endParaRPr lang="en-US" sz="2070" dirty="0"/>
          </a:p>
        </p:txBody>
      </p:sp>
      <p:sp>
        <p:nvSpPr>
          <p:cNvPr id="12" name="Text 10"/>
          <p:cNvSpPr/>
          <p:nvPr/>
        </p:nvSpPr>
        <p:spPr>
          <a:xfrm>
            <a:off x="485775" y="1735663"/>
            <a:ext cx="2752344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全球开源贡献者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85775" y="1907113"/>
            <a:ext cx="2752344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Octoverse 2021 报告披露，全球活跃开源贡献者规模突破千万级，年度活跃仓库数量持续增长。</a:t>
            </a:r>
            <a:endParaRPr lang="en-US" sz="540" dirty="0"/>
          </a:p>
        </p:txBody>
      </p:sp>
      <p:sp>
        <p:nvSpPr>
          <p:cNvPr id="14" name="Shape 12"/>
          <p:cNvSpPr/>
          <p:nvPr/>
        </p:nvSpPr>
        <p:spPr>
          <a:xfrm>
            <a:off x="485775" y="1211580"/>
            <a:ext cx="600075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5775" y="1211580"/>
            <a:ext cx="672084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SCALE</a:t>
            </a:r>
            <a:endParaRPr lang="en-US" sz="495" dirty="0"/>
          </a:p>
        </p:txBody>
      </p:sp>
      <p:sp>
        <p:nvSpPr>
          <p:cNvPr id="16" name="Text 14"/>
          <p:cNvSpPr/>
          <p:nvPr/>
        </p:nvSpPr>
        <p:spPr>
          <a:xfrm>
            <a:off x="2680335" y="1231583"/>
            <a:ext cx="3257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参与规模</a:t>
            </a:r>
            <a:endParaRPr lang="en-US" sz="495" dirty="0"/>
          </a:p>
        </p:txBody>
      </p:sp>
      <p:sp>
        <p:nvSpPr>
          <p:cNvPr id="17" name="Shape 15"/>
          <p:cNvSpPr/>
          <p:nvPr/>
        </p:nvSpPr>
        <p:spPr>
          <a:xfrm>
            <a:off x="485775" y="2260283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8" name="Shape 16"/>
          <p:cNvSpPr/>
          <p:nvPr/>
        </p:nvSpPr>
        <p:spPr>
          <a:xfrm>
            <a:off x="565785" y="2274570"/>
            <a:ext cx="1893897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9" name="Text 17"/>
          <p:cNvSpPr/>
          <p:nvPr/>
        </p:nvSpPr>
        <p:spPr>
          <a:xfrm>
            <a:off x="2505402" y="2234565"/>
            <a:ext cx="50068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4A5A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YoY ▲ 28.9%</a:t>
            </a:r>
            <a:endParaRPr lang="en-US" sz="495" dirty="0"/>
          </a:p>
        </p:txBody>
      </p:sp>
      <p:sp>
        <p:nvSpPr>
          <p:cNvPr id="20" name="Shape 18"/>
          <p:cNvSpPr/>
          <p:nvPr/>
        </p:nvSpPr>
        <p:spPr>
          <a:xfrm>
            <a:off x="3200400" y="1080135"/>
            <a:ext cx="2743200" cy="13716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5715">
            <a:solidFill>
              <a:srgbClr val="E1E8F0"/>
            </a:solidFill>
            <a:prstDash val="solid"/>
          </a:ln>
          <a:effectLst>
            <a:outerShdw sx="100000" sy="100000" kx="0" ky="0" algn="bl" rotWithShape="0" blurRad="209550" dist="57150" dir="16200000">
              <a:srgbClr val="0D1B2A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80135"/>
            <a:ext cx="273177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2" name="Shape 20"/>
          <p:cNvSpPr/>
          <p:nvPr/>
        </p:nvSpPr>
        <p:spPr>
          <a:xfrm>
            <a:off x="5474970" y="851535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3" name="Text 21"/>
          <p:cNvSpPr/>
          <p:nvPr/>
        </p:nvSpPr>
        <p:spPr>
          <a:xfrm>
            <a:off x="3343275" y="1389370"/>
            <a:ext cx="2752344" cy="28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70" b="1" spc="-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90</a:t>
            </a:r>
            <a:pPr algn="l" indent="0" marL="0">
              <a:lnSpc>
                <a:spcPct val="110000"/>
              </a:lnSpc>
              <a:buNone/>
            </a:pPr>
            <a:r>
              <a:rPr lang="en-US" sz="990" b="1" spc="-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%+</a:t>
            </a:r>
            <a:endParaRPr lang="en-US" sz="2070" dirty="0"/>
          </a:p>
        </p:txBody>
      </p:sp>
      <p:sp>
        <p:nvSpPr>
          <p:cNvPr id="24" name="Text 22"/>
          <p:cNvSpPr/>
          <p:nvPr/>
        </p:nvSpPr>
        <p:spPr>
          <a:xfrm>
            <a:off x="3343275" y="1724233"/>
            <a:ext cx="2752344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企业生产环境采用率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343275" y="1895683"/>
            <a:ext cx="2752344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Fortune 500 企业中超过九成已在生产环境中使用开源技术，开源已成为企业级技术栈的核心组成。</a:t>
            </a:r>
            <a:endParaRPr lang="en-US" sz="540" dirty="0"/>
          </a:p>
        </p:txBody>
      </p:sp>
      <p:sp>
        <p:nvSpPr>
          <p:cNvPr id="26" name="Shape 24"/>
          <p:cNvSpPr/>
          <p:nvPr/>
        </p:nvSpPr>
        <p:spPr>
          <a:xfrm>
            <a:off x="3343275" y="1211580"/>
            <a:ext cx="745808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43275" y="1211580"/>
            <a:ext cx="835304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ADOPTION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5537835" y="1231583"/>
            <a:ext cx="3257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企业依赖</a:t>
            </a:r>
            <a:endParaRPr lang="en-US" sz="495" dirty="0"/>
          </a:p>
        </p:txBody>
      </p:sp>
      <p:sp>
        <p:nvSpPr>
          <p:cNvPr id="29" name="Text 27"/>
          <p:cNvSpPr/>
          <p:nvPr/>
        </p:nvSpPr>
        <p:spPr>
          <a:xfrm>
            <a:off x="3343275" y="2234565"/>
            <a:ext cx="3143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dirty="0">
                <a:solidFill>
                  <a:srgbClr val="4A5A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90%</a:t>
            </a:r>
            <a:endParaRPr lang="en-US" sz="495" dirty="0"/>
          </a:p>
        </p:txBody>
      </p:sp>
      <p:sp>
        <p:nvSpPr>
          <p:cNvPr id="30" name="Shape 28"/>
          <p:cNvSpPr/>
          <p:nvPr/>
        </p:nvSpPr>
        <p:spPr>
          <a:xfrm>
            <a:off x="3663315" y="2260283"/>
            <a:ext cx="2137410" cy="34290"/>
          </a:xfrm>
          <a:prstGeom prst="roundRect">
            <a:avLst>
              <a:gd name="adj" fmla="val 50000"/>
            </a:avLst>
          </a:prstGeom>
          <a:solidFill>
            <a:srgbClr val="0D1B2A">
              <a:alpha val="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63315" y="2260283"/>
            <a:ext cx="1923633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2" name="Shape 30"/>
          <p:cNvSpPr/>
          <p:nvPr/>
        </p:nvSpPr>
        <p:spPr>
          <a:xfrm>
            <a:off x="6057900" y="1080135"/>
            <a:ext cx="2743200" cy="13716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5715">
            <a:solidFill>
              <a:srgbClr val="E1E8F0"/>
            </a:solidFill>
            <a:prstDash val="solid"/>
          </a:ln>
          <a:effectLst>
            <a:outerShdw sx="100000" sy="100000" kx="0" ky="0" algn="bl" rotWithShape="0" blurRad="209550" dist="57150" dir="16200000">
              <a:srgbClr val="0D1B2A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57900" y="1080135"/>
            <a:ext cx="273177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4" name="Shape 32"/>
          <p:cNvSpPr/>
          <p:nvPr/>
        </p:nvSpPr>
        <p:spPr>
          <a:xfrm>
            <a:off x="8332470" y="851535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5" name="Text 33"/>
          <p:cNvSpPr/>
          <p:nvPr/>
        </p:nvSpPr>
        <p:spPr>
          <a:xfrm>
            <a:off x="6200775" y="1400800"/>
            <a:ext cx="2752344" cy="28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70" b="1" spc="-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1.7</a:t>
            </a:r>
            <a:pPr algn="l" indent="0" marL="0">
              <a:lnSpc>
                <a:spcPct val="110000"/>
              </a:lnSpc>
              <a:buNone/>
            </a:pPr>
            <a:r>
              <a:rPr lang="en-US" sz="990" b="1" spc="-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亿+</a:t>
            </a:r>
            <a:endParaRPr lang="en-US" sz="2070" dirty="0"/>
          </a:p>
        </p:txBody>
      </p:sp>
      <p:sp>
        <p:nvSpPr>
          <p:cNvPr id="36" name="Text 34"/>
          <p:cNvSpPr/>
          <p:nvPr/>
        </p:nvSpPr>
        <p:spPr>
          <a:xfrm>
            <a:off x="6200775" y="1735663"/>
            <a:ext cx="2752344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累计公开仓库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6200775" y="1907113"/>
            <a:ext cx="2752344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年度新增仓库两位数增长，全球累计公开仓库突破 1.7 亿，代码资产持续沉淀。</a:t>
            </a:r>
            <a:endParaRPr lang="en-US" sz="540" dirty="0"/>
          </a:p>
        </p:txBody>
      </p:sp>
      <p:sp>
        <p:nvSpPr>
          <p:cNvPr id="38" name="Shape 36"/>
          <p:cNvSpPr/>
          <p:nvPr/>
        </p:nvSpPr>
        <p:spPr>
          <a:xfrm>
            <a:off x="6200775" y="1211580"/>
            <a:ext cx="648653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00775" y="1211580"/>
            <a:ext cx="726491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GROWTH</a:t>
            </a:r>
            <a:endParaRPr lang="en-US" sz="495" dirty="0"/>
          </a:p>
        </p:txBody>
      </p:sp>
      <p:sp>
        <p:nvSpPr>
          <p:cNvPr id="40" name="Text 38"/>
          <p:cNvSpPr/>
          <p:nvPr/>
        </p:nvSpPr>
        <p:spPr>
          <a:xfrm>
            <a:off x="8395335" y="1231583"/>
            <a:ext cx="3257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代码产出</a:t>
            </a:r>
            <a:endParaRPr lang="en-US" sz="495" dirty="0"/>
          </a:p>
        </p:txBody>
      </p:sp>
      <p:sp>
        <p:nvSpPr>
          <p:cNvPr id="41" name="Shape 39"/>
          <p:cNvSpPr/>
          <p:nvPr/>
        </p:nvSpPr>
        <p:spPr>
          <a:xfrm>
            <a:off x="6200775" y="2260283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0785" y="2274570"/>
            <a:ext cx="1893897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3" name="Text 41"/>
          <p:cNvSpPr/>
          <p:nvPr/>
        </p:nvSpPr>
        <p:spPr>
          <a:xfrm>
            <a:off x="8220402" y="2234565"/>
            <a:ext cx="50068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4A5A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YoY ▲ 28.9%</a:t>
            </a:r>
            <a:endParaRPr lang="en-US" sz="495" dirty="0"/>
          </a:p>
        </p:txBody>
      </p:sp>
      <p:sp>
        <p:nvSpPr>
          <p:cNvPr id="44" name="Shape 42"/>
          <p:cNvSpPr/>
          <p:nvPr/>
        </p:nvSpPr>
        <p:spPr>
          <a:xfrm>
            <a:off x="342900" y="2566035"/>
            <a:ext cx="2743200" cy="13716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5715">
            <a:solidFill>
              <a:srgbClr val="E1E8F0"/>
            </a:solidFill>
            <a:prstDash val="solid"/>
          </a:ln>
          <a:effectLst>
            <a:outerShdw sx="100000" sy="100000" kx="0" ky="0" algn="bl" rotWithShape="0" blurRad="209550" dist="57150" dir="16200000">
              <a:srgbClr val="0D1B2A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2900" y="2566035"/>
            <a:ext cx="273177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6" name="Shape 44"/>
          <p:cNvSpPr/>
          <p:nvPr/>
        </p:nvSpPr>
        <p:spPr>
          <a:xfrm>
            <a:off x="2617470" y="2337435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7" name="Text 45"/>
          <p:cNvSpPr/>
          <p:nvPr/>
        </p:nvSpPr>
        <p:spPr>
          <a:xfrm>
            <a:off x="485775" y="2875270"/>
            <a:ext cx="2752344" cy="28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70" b="1" spc="-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$10</a:t>
            </a:r>
            <a:pPr algn="l" indent="0" marL="0">
              <a:lnSpc>
                <a:spcPct val="110000"/>
              </a:lnSpc>
              <a:buNone/>
            </a:pPr>
            <a:r>
              <a:rPr lang="en-US" sz="990" b="1" spc="-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亿+</a:t>
            </a:r>
            <a:endParaRPr lang="en-US" sz="2070" dirty="0"/>
          </a:p>
        </p:txBody>
      </p:sp>
      <p:sp>
        <p:nvSpPr>
          <p:cNvPr id="48" name="Text 46"/>
          <p:cNvSpPr/>
          <p:nvPr/>
        </p:nvSpPr>
        <p:spPr>
          <a:xfrm>
            <a:off x="485775" y="3210133"/>
            <a:ext cx="2752344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基金会年度预算合计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85775" y="3381583"/>
            <a:ext cx="2752344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Foundation、Apache Foundation、CNCF 等头部开源基金会年度预算合计超十亿美元。</a:t>
            </a:r>
            <a:endParaRPr lang="en-US" sz="540" dirty="0"/>
          </a:p>
        </p:txBody>
      </p:sp>
      <p:sp>
        <p:nvSpPr>
          <p:cNvPr id="50" name="Shape 48"/>
          <p:cNvSpPr/>
          <p:nvPr/>
        </p:nvSpPr>
        <p:spPr>
          <a:xfrm>
            <a:off x="485775" y="2697480"/>
            <a:ext cx="697230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85775" y="2697480"/>
            <a:ext cx="780898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 CAPITAL</a:t>
            </a:r>
            <a:endParaRPr lang="en-US" sz="495" dirty="0"/>
          </a:p>
        </p:txBody>
      </p:sp>
      <p:sp>
        <p:nvSpPr>
          <p:cNvPr id="52" name="Text 50"/>
          <p:cNvSpPr/>
          <p:nvPr/>
        </p:nvSpPr>
        <p:spPr>
          <a:xfrm>
            <a:off x="2680335" y="2717483"/>
            <a:ext cx="3257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资金规模</a:t>
            </a:r>
            <a:endParaRPr lang="en-US" sz="495" dirty="0"/>
          </a:p>
        </p:txBody>
      </p:sp>
      <p:sp>
        <p:nvSpPr>
          <p:cNvPr id="53" name="Text 51"/>
          <p:cNvSpPr/>
          <p:nvPr/>
        </p:nvSpPr>
        <p:spPr>
          <a:xfrm>
            <a:off x="485775" y="3720465"/>
            <a:ext cx="3143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dirty="0">
                <a:solidFill>
                  <a:srgbClr val="4A5A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$1B+</a:t>
            </a:r>
            <a:endParaRPr lang="en-US" sz="495" dirty="0"/>
          </a:p>
        </p:txBody>
      </p:sp>
      <p:sp>
        <p:nvSpPr>
          <p:cNvPr id="54" name="Shape 52"/>
          <p:cNvSpPr/>
          <p:nvPr/>
        </p:nvSpPr>
        <p:spPr>
          <a:xfrm>
            <a:off x="805815" y="3746183"/>
            <a:ext cx="2137410" cy="34290"/>
          </a:xfrm>
          <a:prstGeom prst="roundRect">
            <a:avLst>
              <a:gd name="adj" fmla="val 50000"/>
            </a:avLst>
          </a:prstGeom>
          <a:solidFill>
            <a:srgbClr val="0D1B2A">
              <a:alpha val="6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5815" y="3746183"/>
            <a:ext cx="1667173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6" name="Shape 54"/>
          <p:cNvSpPr/>
          <p:nvPr/>
        </p:nvSpPr>
        <p:spPr>
          <a:xfrm>
            <a:off x="3200400" y="2566035"/>
            <a:ext cx="2743200" cy="13716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5715">
            <a:solidFill>
              <a:srgbClr val="E1E8F0"/>
            </a:solidFill>
            <a:prstDash val="solid"/>
          </a:ln>
          <a:effectLst>
            <a:outerShdw sx="100000" sy="100000" kx="0" ky="0" algn="bl" rotWithShape="0" blurRad="209550" dist="57150" dir="16200000">
              <a:srgbClr val="0D1B2A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00400" y="2566035"/>
            <a:ext cx="273177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8" name="Shape 56"/>
          <p:cNvSpPr/>
          <p:nvPr/>
        </p:nvSpPr>
        <p:spPr>
          <a:xfrm>
            <a:off x="5474970" y="2337435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9" name="Text 57"/>
          <p:cNvSpPr/>
          <p:nvPr/>
        </p:nvSpPr>
        <p:spPr>
          <a:xfrm>
            <a:off x="3343275" y="2875270"/>
            <a:ext cx="2752344" cy="28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70" b="1" spc="-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</a:t>
            </a:r>
            <a:pPr algn="l" indent="0" marL="0">
              <a:lnSpc>
                <a:spcPct val="110000"/>
              </a:lnSpc>
              <a:buNone/>
            </a:pPr>
            <a:r>
              <a:rPr lang="en-US" sz="990" b="1" spc="-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%+</a:t>
            </a:r>
            <a:endParaRPr lang="en-US" sz="2070" dirty="0"/>
          </a:p>
        </p:txBody>
      </p:sp>
      <p:sp>
        <p:nvSpPr>
          <p:cNvPr id="60" name="Text 58"/>
          <p:cNvSpPr/>
          <p:nvPr/>
        </p:nvSpPr>
        <p:spPr>
          <a:xfrm>
            <a:off x="3343275" y="3210133"/>
            <a:ext cx="2752344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中国贡献者全球占比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343275" y="3381583"/>
            <a:ext cx="2752344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中国贡献者在全球开源社区份额超 20%，在 CNCF、Apache 等组织中活跃度位居前列。</a:t>
            </a:r>
            <a:endParaRPr lang="en-US" sz="540" dirty="0"/>
          </a:p>
        </p:txBody>
      </p:sp>
      <p:sp>
        <p:nvSpPr>
          <p:cNvPr id="62" name="Shape 60"/>
          <p:cNvSpPr/>
          <p:nvPr/>
        </p:nvSpPr>
        <p:spPr>
          <a:xfrm>
            <a:off x="3343275" y="2697480"/>
            <a:ext cx="600075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3343275" y="2697480"/>
            <a:ext cx="672084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 / CHINA</a:t>
            </a:r>
            <a:endParaRPr lang="en-US" sz="495" dirty="0"/>
          </a:p>
        </p:txBody>
      </p:sp>
      <p:sp>
        <p:nvSpPr>
          <p:cNvPr id="64" name="Text 62"/>
          <p:cNvSpPr/>
          <p:nvPr/>
        </p:nvSpPr>
        <p:spPr>
          <a:xfrm>
            <a:off x="5537835" y="2717483"/>
            <a:ext cx="3257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中国份额</a:t>
            </a:r>
            <a:endParaRPr lang="en-US" sz="495" dirty="0"/>
          </a:p>
        </p:txBody>
      </p:sp>
      <p:sp>
        <p:nvSpPr>
          <p:cNvPr id="65" name="Text 63"/>
          <p:cNvSpPr/>
          <p:nvPr/>
        </p:nvSpPr>
        <p:spPr>
          <a:xfrm>
            <a:off x="3343275" y="3720465"/>
            <a:ext cx="3143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dirty="0">
                <a:solidFill>
                  <a:srgbClr val="4A5A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20%</a:t>
            </a:r>
            <a:endParaRPr lang="en-US" sz="495" dirty="0"/>
          </a:p>
        </p:txBody>
      </p:sp>
      <p:sp>
        <p:nvSpPr>
          <p:cNvPr id="66" name="Shape 64"/>
          <p:cNvSpPr/>
          <p:nvPr/>
        </p:nvSpPr>
        <p:spPr>
          <a:xfrm>
            <a:off x="3663315" y="3746183"/>
            <a:ext cx="2137410" cy="34290"/>
          </a:xfrm>
          <a:prstGeom prst="roundRect">
            <a:avLst>
              <a:gd name="adj" fmla="val 50000"/>
            </a:avLst>
          </a:prstGeom>
          <a:solidFill>
            <a:srgbClr val="0D1B2A">
              <a:alpha val="6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663315" y="3746183"/>
            <a:ext cx="1325166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8" name="Shape 66"/>
          <p:cNvSpPr/>
          <p:nvPr/>
        </p:nvSpPr>
        <p:spPr>
          <a:xfrm>
            <a:off x="6057900" y="2566035"/>
            <a:ext cx="2743200" cy="1371600"/>
          </a:xfrm>
          <a:prstGeom prst="roundRect">
            <a:avLst>
              <a:gd name="adj" fmla="val 5833"/>
            </a:avLst>
          </a:prstGeom>
          <a:gradFill rotWithShape="1">
            <a:gsLst>
              <a:gs pos="0">
                <a:srgbClr val="0D2540"/>
              </a:gs>
              <a:gs pos="60000">
                <a:srgbClr val="103A6B"/>
              </a:gs>
              <a:gs pos="100000">
                <a:srgbClr val="0A6079"/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  <a:effectLst>
            <a:outerShdw sx="100000" sy="100000" kx="0" ky="0" algn="bl" rotWithShape="0" blurRad="209550" dist="57150" dir="16200000">
              <a:srgbClr val="0D1B2A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057900" y="2566035"/>
            <a:ext cx="273177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0" name="Shape 68"/>
          <p:cNvSpPr/>
          <p:nvPr/>
        </p:nvSpPr>
        <p:spPr>
          <a:xfrm>
            <a:off x="8332470" y="2337435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1" name="Text 69"/>
          <p:cNvSpPr/>
          <p:nvPr/>
        </p:nvSpPr>
        <p:spPr>
          <a:xfrm>
            <a:off x="6200775" y="2911257"/>
            <a:ext cx="275234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spc="-22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领先全球</a:t>
            </a:r>
            <a:pPr algn="l" indent="0" marL="0">
              <a:lnSpc>
                <a:spcPct val="120000"/>
              </a:lnSpc>
              <a:buNone/>
            </a:pPr>
            <a:r>
              <a:rPr lang="en-US" sz="720" b="1" spc="-22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平均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6200775" y="3174147"/>
            <a:ext cx="2752344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中国贡献者增速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6200775" y="3345597"/>
            <a:ext cx="2752344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CNCF、Apache、Kubernetes 等项目中，中国贡献者增速显著领先全球平均水平，成为推动开源演进的核心力量。</a:t>
            </a:r>
            <a:endParaRPr lang="en-US" sz="540" dirty="0"/>
          </a:p>
        </p:txBody>
      </p:sp>
      <p:sp>
        <p:nvSpPr>
          <p:cNvPr id="74" name="Shape 72"/>
          <p:cNvSpPr/>
          <p:nvPr/>
        </p:nvSpPr>
        <p:spPr>
          <a:xfrm>
            <a:off x="6200775" y="2697480"/>
            <a:ext cx="745808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25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6200775" y="2697480"/>
            <a:ext cx="835304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80DE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 / MOMENTUM</a:t>
            </a:r>
            <a:endParaRPr lang="en-US" sz="495" dirty="0"/>
          </a:p>
        </p:txBody>
      </p:sp>
      <p:sp>
        <p:nvSpPr>
          <p:cNvPr id="76" name="Text 74"/>
          <p:cNvSpPr/>
          <p:nvPr/>
        </p:nvSpPr>
        <p:spPr>
          <a:xfrm>
            <a:off x="8395335" y="2717483"/>
            <a:ext cx="3257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中国增速</a:t>
            </a:r>
            <a:endParaRPr lang="en-US" sz="495" dirty="0"/>
          </a:p>
        </p:txBody>
      </p:sp>
      <p:sp>
        <p:nvSpPr>
          <p:cNvPr id="77" name="Text 75"/>
          <p:cNvSpPr/>
          <p:nvPr/>
        </p:nvSpPr>
        <p:spPr>
          <a:xfrm>
            <a:off x="6200775" y="3720465"/>
            <a:ext cx="3143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dirty="0">
                <a:solidFill>
                  <a:srgbClr val="4A5A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</a:t>
            </a:r>
            <a:endParaRPr lang="en-US" sz="495" dirty="0"/>
          </a:p>
        </p:txBody>
      </p:sp>
      <p:sp>
        <p:nvSpPr>
          <p:cNvPr id="78" name="Shape 76"/>
          <p:cNvSpPr/>
          <p:nvPr/>
        </p:nvSpPr>
        <p:spPr>
          <a:xfrm>
            <a:off x="6520815" y="3746183"/>
            <a:ext cx="1092994" cy="3429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520815" y="3746183"/>
            <a:ext cx="896183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0DEEA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0" name="Text 78"/>
          <p:cNvSpPr/>
          <p:nvPr/>
        </p:nvSpPr>
        <p:spPr>
          <a:xfrm>
            <a:off x="7682389" y="3720465"/>
            <a:ext cx="3143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dirty="0">
                <a:solidFill>
                  <a:srgbClr val="FFFF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WLD</a:t>
            </a:r>
            <a:endParaRPr lang="en-US" sz="495" dirty="0"/>
          </a:p>
        </p:txBody>
      </p:sp>
      <p:sp>
        <p:nvSpPr>
          <p:cNvPr id="81" name="Shape 79"/>
          <p:cNvSpPr/>
          <p:nvPr/>
        </p:nvSpPr>
        <p:spPr>
          <a:xfrm>
            <a:off x="8002429" y="3746183"/>
            <a:ext cx="655796" cy="3429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002429" y="3746183"/>
            <a:ext cx="295037" cy="34290"/>
          </a:xfrm>
          <a:prstGeom prst="roundRect">
            <a:avLst>
              <a:gd name="adj" fmla="val 50000"/>
            </a:avLst>
          </a:prstGeom>
          <a:solidFill>
            <a:srgbClr val="80DEEA">
              <a:alpha val="5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342900" y="3971925"/>
            <a:ext cx="8458200" cy="456486"/>
          </a:xfrm>
          <a:prstGeom prst="roundRect">
            <a:avLst>
              <a:gd name="adj" fmla="val 15023"/>
            </a:avLst>
          </a:prstGeom>
          <a:gradFill rotWithShape="1">
            <a:gsLst>
              <a:gs pos="0">
                <a:srgbClr val="2196F3">
                  <a:alpha val="5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5715">
            <a:solidFill>
              <a:srgbClr val="E1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4345" y="4069080"/>
            <a:ext cx="754380" cy="142875"/>
          </a:xfrm>
          <a:prstGeom prst="roundRect">
            <a:avLst>
              <a:gd name="adj" fmla="val 16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474345" y="4069080"/>
            <a:ext cx="844906" cy="142875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 NARRATIVE</a:t>
            </a:r>
            <a:endParaRPr lang="en-US" sz="495" dirty="0"/>
          </a:p>
        </p:txBody>
      </p:sp>
      <p:sp>
        <p:nvSpPr>
          <p:cNvPr id="86" name="Text 84"/>
          <p:cNvSpPr/>
          <p:nvPr/>
        </p:nvSpPr>
        <p:spPr>
          <a:xfrm>
            <a:off x="1320165" y="4069080"/>
            <a:ext cx="8231429" cy="262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核心叙事：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开源生态已覆盖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千万级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开发者规模；大型企业生产环境开源依赖率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超九成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；GitHub 年度新增仓库保持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两位数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增长；头部开源基金会年度预算合计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超十亿美元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；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083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中国贡献者全球占比超 20%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且在 CNCF 等组织中高度活跃；开源商业模式从云托管到商业授权形成完整链条——开源已成为数字经济的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083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底层操作系统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0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-308610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5943600" y="102870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16002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D6E4F0"/>
              </a:gs>
              <a:gs pos="80000">
                <a:srgbClr val="D6E4F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0" y="36576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D6E4F0"/>
              </a:gs>
              <a:gs pos="80000">
                <a:srgbClr val="D6E4F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320040" y="251460"/>
            <a:ext cx="8903513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CONTENT</a:t>
            </a:r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 05 / 协作模式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320040" y="394335"/>
            <a:ext cx="8903513" cy="27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90" b="1" spc="45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</a:t>
            </a:r>
            <a:pPr algn="l" indent="0" marL="0">
              <a:lnSpc>
                <a:spcPct val="115000"/>
              </a:lnSpc>
              <a:buNone/>
            </a:pPr>
            <a:r>
              <a:rPr lang="en-US" sz="189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模式</a:t>
            </a:r>
            <a:pPr algn="l" indent="0" marL="0">
              <a:lnSpc>
                <a:spcPct val="115000"/>
              </a:lnSpc>
              <a:buNone/>
            </a:pPr>
            <a:r>
              <a:rPr lang="en-US" sz="1890" b="1" spc="45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变迁</a:t>
            </a:r>
            <a:endParaRPr lang="en-US" sz="1890" dirty="0"/>
          </a:p>
        </p:txBody>
      </p:sp>
      <p:sp>
        <p:nvSpPr>
          <p:cNvPr id="8" name="Text 6"/>
          <p:cNvSpPr/>
          <p:nvPr/>
        </p:nvSpPr>
        <p:spPr>
          <a:xfrm>
            <a:off x="320040" y="738932"/>
            <a:ext cx="7168896" cy="125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协作模式的变迁不仅是</a:t>
            </a:r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工具</a:t>
            </a:r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的升级，更是</a:t>
            </a:r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权力结构、参与方式和文化氛围</a:t>
            </a:r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的整体重构，理解这些变迁有助于布道者在当下语境中讲好开源故事。</a:t>
            </a:r>
            <a:endParaRPr lang="en-US" sz="563" dirty="0"/>
          </a:p>
        </p:txBody>
      </p:sp>
      <p:sp>
        <p:nvSpPr>
          <p:cNvPr id="9" name="Text 7"/>
          <p:cNvSpPr/>
          <p:nvPr/>
        </p:nvSpPr>
        <p:spPr>
          <a:xfrm>
            <a:off x="8406765" y="712500"/>
            <a:ext cx="24574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PAGE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8646795" y="681067"/>
            <a:ext cx="30289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90" dirty="0"/>
          </a:p>
        </p:txBody>
      </p:sp>
      <p:sp>
        <p:nvSpPr>
          <p:cNvPr id="11" name="Shape 9"/>
          <p:cNvSpPr/>
          <p:nvPr/>
        </p:nvSpPr>
        <p:spPr>
          <a:xfrm>
            <a:off x="320040" y="966817"/>
            <a:ext cx="4114800" cy="385137"/>
          </a:xfrm>
          <a:prstGeom prst="roundRect">
            <a:avLst>
              <a:gd name="adj" fmla="val 11871"/>
            </a:avLst>
          </a:prstGeom>
          <a:solidFill>
            <a:srgbClr val="FFFFFF"/>
          </a:solidFill>
          <a:ln w="22860">
            <a:solidFill>
              <a:srgbClr val="2196F3"/>
            </a:solidFill>
            <a:prstDash val="solid"/>
          </a:ln>
          <a:effectLst>
            <a:outerShdw sx="100000" sy="100000" kx="0" ky="0" algn="bl" rotWithShape="0" blurRad="190500" dist="57150" dir="16200000">
              <a:srgbClr val="2196F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" y="1035397"/>
            <a:ext cx="297180" cy="24797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7230" y="1035397"/>
            <a:ext cx="4077310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邮件合并</a:t>
            </a:r>
            <a:pPr algn="l" indent="0" marL="0">
              <a:buNone/>
            </a:pPr>
            <a:r>
              <a:rPr lang="en-US" sz="5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75" dirty="0"/>
          </a:p>
          <a:p>
            <a:pPr algn="l" indent="0" marL="0">
              <a:buNone/>
            </a:pPr>
            <a:r>
              <a:rPr lang="en-US" sz="67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97230" y="1178272"/>
            <a:ext cx="4077310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补丁以邮件发送时代协作门槛极高，PR 模式让零散贡献者也能参与，Git 平台成为协作基础设施。</a:t>
            </a:r>
            <a:endParaRPr lang="en-US" sz="518" dirty="0"/>
          </a:p>
        </p:txBody>
      </p:sp>
      <p:sp>
        <p:nvSpPr>
          <p:cNvPr id="15" name="Shape 13"/>
          <p:cNvSpPr/>
          <p:nvPr/>
        </p:nvSpPr>
        <p:spPr>
          <a:xfrm>
            <a:off x="320040" y="1409105"/>
            <a:ext cx="4114800" cy="373707"/>
          </a:xfrm>
          <a:prstGeom prst="roundRect">
            <a:avLst>
              <a:gd name="adj" fmla="val 12234"/>
            </a:avLst>
          </a:prstGeom>
          <a:solidFill>
            <a:srgbClr val="FFFFFF"/>
          </a:solidFill>
          <a:ln w="22860">
            <a:solidFill>
              <a:srgbClr val="00BCD4"/>
            </a:solidFill>
            <a:prstDash val="solid"/>
          </a:ln>
          <a:effectLst>
            <a:outerShdw sx="100000" sy="100000" kx="0" ky="0" algn="bl" rotWithShape="0" blurRad="190500" dist="57150" dir="16200000">
              <a:srgbClr val="2196F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" y="1477685"/>
            <a:ext cx="297180" cy="23654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7230" y="1477685"/>
            <a:ext cx="4077310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BDFL</a:t>
            </a:r>
            <a:pPr algn="l" indent="0" marL="0">
              <a:buNone/>
            </a:pPr>
            <a:r>
              <a:rPr lang="en-US" sz="5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75" dirty="0"/>
          </a:p>
          <a:p>
            <a:pPr algn="l" indent="0" marL="0">
              <a:buNone/>
            </a:pPr>
            <a:r>
              <a:rPr lang="en-US" sz="67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TSC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97230" y="1609130"/>
            <a:ext cx="4077310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从个人权威走向技术指导委员会的集体决策，治理结构制度化，降低单一决策者风险。</a:t>
            </a:r>
            <a:endParaRPr lang="en-US" sz="518" dirty="0"/>
          </a:p>
        </p:txBody>
      </p:sp>
      <p:sp>
        <p:nvSpPr>
          <p:cNvPr id="19" name="Shape 17"/>
          <p:cNvSpPr/>
          <p:nvPr/>
        </p:nvSpPr>
        <p:spPr>
          <a:xfrm>
            <a:off x="320040" y="1839962"/>
            <a:ext cx="4114800" cy="385137"/>
          </a:xfrm>
          <a:prstGeom prst="roundRect">
            <a:avLst>
              <a:gd name="adj" fmla="val 11871"/>
            </a:avLst>
          </a:prstGeom>
          <a:solidFill>
            <a:srgbClr val="FFFFFF"/>
          </a:solidFill>
          <a:ln w="22860">
            <a:solidFill>
              <a:srgbClr val="2196F3"/>
            </a:solidFill>
            <a:prstDash val="solid"/>
          </a:ln>
          <a:effectLst>
            <a:outerShdw sx="100000" sy="100000" kx="0" ky="0" algn="bl" rotWithShape="0" blurRad="190500" dist="57150" dir="16200000">
              <a:srgbClr val="2196F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4340" y="1908542"/>
            <a:ext cx="297180" cy="24797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7230" y="1908542"/>
            <a:ext cx="4077310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异步</a:t>
            </a:r>
            <a:pPr algn="l" indent="0" marL="0">
              <a:buNone/>
            </a:pPr>
            <a:r>
              <a:rPr lang="en-US" sz="5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75" dirty="0"/>
          </a:p>
          <a:p>
            <a:pPr algn="l" indent="0" marL="0">
              <a:buNone/>
            </a:pPr>
            <a:r>
              <a:rPr lang="en-US" sz="67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同步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97230" y="2051417"/>
            <a:ext cx="4077310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异步邮件仍是主流，但 Slack / Discord 推动同步讨论成为补充，社区沟通更即时、密度更高。</a:t>
            </a:r>
            <a:endParaRPr lang="en-US" sz="518" dirty="0"/>
          </a:p>
        </p:txBody>
      </p:sp>
      <p:sp>
        <p:nvSpPr>
          <p:cNvPr id="23" name="Shape 21"/>
          <p:cNvSpPr/>
          <p:nvPr/>
        </p:nvSpPr>
        <p:spPr>
          <a:xfrm>
            <a:off x="320040" y="2282250"/>
            <a:ext cx="4114800" cy="385137"/>
          </a:xfrm>
          <a:prstGeom prst="roundRect">
            <a:avLst>
              <a:gd name="adj" fmla="val 11871"/>
            </a:avLst>
          </a:prstGeom>
          <a:solidFill>
            <a:srgbClr val="FFFFFF"/>
          </a:solidFill>
          <a:ln w="22860">
            <a:solidFill>
              <a:srgbClr val="00BCD4"/>
            </a:solidFill>
            <a:prstDash val="solid"/>
          </a:ln>
          <a:effectLst>
            <a:outerShdw sx="100000" sy="100000" kx="0" ky="0" algn="bl" rotWithShape="0" blurRad="190500" dist="57150" dir="16200000">
              <a:srgbClr val="2196F3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4340" y="2350830"/>
            <a:ext cx="297180" cy="24797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7230" y="2350830"/>
            <a:ext cx="4077310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</a:t>
            </a:r>
            <a:pPr algn="l" indent="0" marL="0">
              <a:buNone/>
            </a:pPr>
            <a:r>
              <a:rPr lang="en-US" sz="5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75" dirty="0"/>
          </a:p>
          <a:p>
            <a:pPr algn="l" indent="0" marL="0">
              <a:buNone/>
            </a:pPr>
            <a:r>
              <a:rPr lang="en-US" sz="67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 + 商业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697230" y="2493705"/>
            <a:ext cx="4077310" cy="10510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商业公司主导的开源项目增多，需在开放性与商业诉求之间寻找平衡，模式更多元。</a:t>
            </a:r>
            <a:endParaRPr lang="en-US" sz="518" dirty="0"/>
          </a:p>
        </p:txBody>
      </p:sp>
      <p:sp>
        <p:nvSpPr>
          <p:cNvPr id="27" name="Shape 25"/>
          <p:cNvSpPr/>
          <p:nvPr/>
        </p:nvSpPr>
        <p:spPr>
          <a:xfrm>
            <a:off x="320040" y="2747397"/>
            <a:ext cx="2023110" cy="567750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  <a:effectLst>
            <a:outerShdw sx="100000" sy="100000" kx="0" ky="0" algn="bl" rotWithShape="0" blurRad="190500" dist="57150" dir="16200000">
              <a:srgbClr val="2196F3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747397"/>
            <a:ext cx="22860" cy="5563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9" name="Text 27"/>
          <p:cNvSpPr/>
          <p:nvPr/>
        </p:nvSpPr>
        <p:spPr>
          <a:xfrm>
            <a:off x="417195" y="2833122"/>
            <a:ext cx="204825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 日均处理量</a:t>
            </a:r>
            <a:endParaRPr lang="en-US" sz="473" dirty="0"/>
          </a:p>
        </p:txBody>
      </p:sp>
      <p:sp>
        <p:nvSpPr>
          <p:cNvPr id="30" name="Text 28"/>
          <p:cNvSpPr/>
          <p:nvPr/>
        </p:nvSpPr>
        <p:spPr>
          <a:xfrm>
            <a:off x="417195" y="2953137"/>
            <a:ext cx="2048256" cy="1634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万+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417195" y="3139410"/>
            <a:ext cx="204825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 平台每日合并请求</a:t>
            </a:r>
            <a:endParaRPr lang="en-US" sz="473" dirty="0"/>
          </a:p>
        </p:txBody>
      </p:sp>
      <p:sp>
        <p:nvSpPr>
          <p:cNvPr id="32" name="Shape 30"/>
          <p:cNvSpPr/>
          <p:nvPr/>
        </p:nvSpPr>
        <p:spPr>
          <a:xfrm>
            <a:off x="2411730" y="2747397"/>
            <a:ext cx="2023110" cy="567750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  <a:effectLst>
            <a:outerShdw sx="100000" sy="100000" kx="0" ky="0" algn="bl" rotWithShape="0" blurRad="190500" dist="57150" dir="16200000">
              <a:srgbClr val="2196F3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11730" y="2747397"/>
            <a:ext cx="22860" cy="5563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2508885" y="2833122"/>
            <a:ext cx="204825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治理模式变迁</a:t>
            </a:r>
            <a:endParaRPr lang="en-US" sz="473" dirty="0"/>
          </a:p>
        </p:txBody>
      </p:sp>
      <p:sp>
        <p:nvSpPr>
          <p:cNvPr id="35" name="Text 33"/>
          <p:cNvSpPr/>
          <p:nvPr/>
        </p:nvSpPr>
        <p:spPr>
          <a:xfrm>
            <a:off x="2508885" y="2953137"/>
            <a:ext cx="2048256" cy="1634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BDFL → TSC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2508885" y="3139410"/>
            <a:ext cx="204825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个人权威向委员会过渡</a:t>
            </a:r>
            <a:endParaRPr lang="en-US" sz="473" dirty="0"/>
          </a:p>
        </p:txBody>
      </p:sp>
      <p:sp>
        <p:nvSpPr>
          <p:cNvPr id="37" name="Shape 35"/>
          <p:cNvSpPr/>
          <p:nvPr/>
        </p:nvSpPr>
        <p:spPr>
          <a:xfrm>
            <a:off x="4560570" y="966817"/>
            <a:ext cx="426339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  <a:effectLst>
            <a:outerShdw sx="100000" sy="100000" kx="0" ky="0" algn="bl" rotWithShape="0" blurRad="190500" dist="57150" dir="16200000">
              <a:srgbClr val="2196F3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9155" y="1063972"/>
            <a:ext cx="4531766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范式对照 · 从低门槛个人协作到平台化众包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4669155" y="1101120"/>
            <a:ext cx="45720" cy="4572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0" name="Text 38"/>
          <p:cNvSpPr/>
          <p:nvPr/>
        </p:nvSpPr>
        <p:spPr>
          <a:xfrm>
            <a:off x="4669155" y="1218277"/>
            <a:ext cx="453176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旧范式：邮件发送 PATCH ↔ 新范式：Pull Request 代码评审流程</a:t>
            </a:r>
            <a:endParaRPr lang="en-US" sz="473" dirty="0"/>
          </a:p>
        </p:txBody>
      </p:sp>
      <p:sp>
        <p:nvSpPr>
          <p:cNvPr id="41" name="Shape 39"/>
          <p:cNvSpPr/>
          <p:nvPr/>
        </p:nvSpPr>
        <p:spPr>
          <a:xfrm>
            <a:off x="4669155" y="1361152"/>
            <a:ext cx="1805940" cy="2205990"/>
          </a:xfrm>
          <a:prstGeom prst="roundRect">
            <a:avLst>
              <a:gd name="adj" fmla="val 2532"/>
            </a:avLst>
          </a:prstGeom>
          <a:solidFill>
            <a:srgbClr val="F5F7FA"/>
          </a:solidFill>
          <a:ln w="17145">
            <a:solidFill>
              <a:srgbClr val="78909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455450"/>
            <a:ext cx="228600" cy="91440"/>
          </a:xfrm>
          <a:prstGeom prst="roundRect">
            <a:avLst>
              <a:gd name="adj" fmla="val 62500"/>
            </a:avLst>
          </a:prstGeom>
          <a:solidFill>
            <a:srgbClr val="ECEFF1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1455450"/>
            <a:ext cx="285750" cy="9144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</a:t>
            </a:r>
            <a:endParaRPr lang="en-US" sz="450" dirty="0"/>
          </a:p>
        </p:txBody>
      </p:sp>
      <p:sp>
        <p:nvSpPr>
          <p:cNvPr id="44" name="Text 42"/>
          <p:cNvSpPr/>
          <p:nvPr/>
        </p:nvSpPr>
        <p:spPr>
          <a:xfrm>
            <a:off x="5029200" y="1446877"/>
            <a:ext cx="70408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邮件 · PATCH 时代</a:t>
            </a:r>
            <a:endParaRPr lang="en-US" sz="585" dirty="0"/>
          </a:p>
        </p:txBody>
      </p:sp>
      <p:sp>
        <p:nvSpPr>
          <p:cNvPr id="45" name="Shape 43"/>
          <p:cNvSpPr/>
          <p:nvPr/>
        </p:nvSpPr>
        <p:spPr>
          <a:xfrm>
            <a:off x="4754880" y="1624042"/>
            <a:ext cx="1634490" cy="26860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17745" y="1684050"/>
            <a:ext cx="148590" cy="148590"/>
          </a:xfrm>
          <a:prstGeom prst="roundRect">
            <a:avLst>
              <a:gd name="adj" fmla="val 23077"/>
            </a:avLst>
          </a:prstGeom>
          <a:solidFill>
            <a:srgbClr val="90A4AE"/>
          </a:solidFill>
          <a:ln/>
        </p:spPr>
      </p:sp>
      <p:sp>
        <p:nvSpPr>
          <p:cNvPr id="47" name="Text 45"/>
          <p:cNvSpPr/>
          <p:nvPr/>
        </p:nvSpPr>
        <p:spPr>
          <a:xfrm>
            <a:off x="4817745" y="1684050"/>
            <a:ext cx="2171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5012055" y="1669762"/>
            <a:ext cx="983823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27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本地开发</a:t>
            </a:r>
            <a:pPr algn="l" indent="0" marL="0"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 format-patch → 生成补丁</a:t>
            </a:r>
            <a:endParaRPr lang="en-US" sz="495" dirty="0"/>
          </a:p>
        </p:txBody>
      </p:sp>
      <p:sp>
        <p:nvSpPr>
          <p:cNvPr id="49" name="Text 47"/>
          <p:cNvSpPr/>
          <p:nvPr/>
        </p:nvSpPr>
        <p:spPr>
          <a:xfrm>
            <a:off x="4754880" y="1926937"/>
            <a:ext cx="1830629" cy="457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↓</a:t>
            </a:r>
            <a:endParaRPr lang="en-US" sz="495" dirty="0"/>
          </a:p>
        </p:txBody>
      </p:sp>
      <p:sp>
        <p:nvSpPr>
          <p:cNvPr id="50" name="Shape 48"/>
          <p:cNvSpPr/>
          <p:nvPr/>
        </p:nvSpPr>
        <p:spPr>
          <a:xfrm>
            <a:off x="4754880" y="2006947"/>
            <a:ext cx="1634490" cy="26860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17745" y="2066955"/>
            <a:ext cx="148590" cy="148590"/>
          </a:xfrm>
          <a:prstGeom prst="roundRect">
            <a:avLst>
              <a:gd name="adj" fmla="val 23077"/>
            </a:avLst>
          </a:prstGeom>
          <a:solidFill>
            <a:srgbClr val="90A4AE"/>
          </a:solidFill>
          <a:ln/>
        </p:spPr>
      </p:sp>
      <p:sp>
        <p:nvSpPr>
          <p:cNvPr id="52" name="Text 50"/>
          <p:cNvSpPr/>
          <p:nvPr/>
        </p:nvSpPr>
        <p:spPr>
          <a:xfrm>
            <a:off x="4817745" y="2066955"/>
            <a:ext cx="2171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✉</a:t>
            </a:r>
            <a:endParaRPr lang="en-US" sz="540" dirty="0"/>
          </a:p>
        </p:txBody>
      </p:sp>
      <p:sp>
        <p:nvSpPr>
          <p:cNvPr id="53" name="Text 51"/>
          <p:cNvSpPr/>
          <p:nvPr/>
        </p:nvSpPr>
        <p:spPr>
          <a:xfrm>
            <a:off x="5012055" y="2052667"/>
            <a:ext cx="601675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27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邮件列表提交</a:t>
            </a:r>
            <a:pPr algn="l" indent="0" marL="0"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patch 附件发往 ML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4754880" y="2309842"/>
            <a:ext cx="1830629" cy="457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↓</a:t>
            </a:r>
            <a:endParaRPr lang="en-US" sz="495" dirty="0"/>
          </a:p>
        </p:txBody>
      </p:sp>
      <p:sp>
        <p:nvSpPr>
          <p:cNvPr id="55" name="Shape 53"/>
          <p:cNvSpPr/>
          <p:nvPr/>
        </p:nvSpPr>
        <p:spPr>
          <a:xfrm>
            <a:off x="4754880" y="2389852"/>
            <a:ext cx="1634490" cy="26860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17745" y="2449860"/>
            <a:ext cx="148590" cy="148590"/>
          </a:xfrm>
          <a:prstGeom prst="roundRect">
            <a:avLst>
              <a:gd name="adj" fmla="val 23077"/>
            </a:avLst>
          </a:prstGeom>
          <a:solidFill>
            <a:srgbClr val="90A4AE"/>
          </a:solidFill>
          <a:ln/>
        </p:spPr>
      </p:sp>
      <p:sp>
        <p:nvSpPr>
          <p:cNvPr id="57" name="Text 55"/>
          <p:cNvSpPr/>
          <p:nvPr/>
        </p:nvSpPr>
        <p:spPr>
          <a:xfrm>
            <a:off x="4817745" y="2449860"/>
            <a:ext cx="2171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↩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5012055" y="2435572"/>
            <a:ext cx="908914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27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来回讨论修订</a:t>
            </a:r>
            <a:pPr algn="l" indent="0" marL="0"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threaded email · 数周周期</a:t>
            </a:r>
            <a:endParaRPr lang="en-US" sz="495" dirty="0"/>
          </a:p>
        </p:txBody>
      </p:sp>
      <p:sp>
        <p:nvSpPr>
          <p:cNvPr id="59" name="Text 57"/>
          <p:cNvSpPr/>
          <p:nvPr/>
        </p:nvSpPr>
        <p:spPr>
          <a:xfrm>
            <a:off x="4754880" y="2692747"/>
            <a:ext cx="1830629" cy="457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↓</a:t>
            </a:r>
            <a:endParaRPr lang="en-US" sz="495" dirty="0"/>
          </a:p>
        </p:txBody>
      </p:sp>
      <p:sp>
        <p:nvSpPr>
          <p:cNvPr id="60" name="Shape 58"/>
          <p:cNvSpPr/>
          <p:nvPr/>
        </p:nvSpPr>
        <p:spPr>
          <a:xfrm>
            <a:off x="4754880" y="2772757"/>
            <a:ext cx="1634490" cy="26289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17745" y="2829907"/>
            <a:ext cx="148590" cy="148590"/>
          </a:xfrm>
          <a:prstGeom prst="roundRect">
            <a:avLst>
              <a:gd name="adj" fmla="val 23077"/>
            </a:avLst>
          </a:prstGeom>
          <a:solidFill>
            <a:srgbClr val="90A4AE"/>
          </a:solidFill>
          <a:ln/>
        </p:spPr>
      </p:sp>
      <p:sp>
        <p:nvSpPr>
          <p:cNvPr id="62" name="Text 60"/>
          <p:cNvSpPr/>
          <p:nvPr/>
        </p:nvSpPr>
        <p:spPr>
          <a:xfrm>
            <a:off x="4817745" y="2829907"/>
            <a:ext cx="2171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⌖</a:t>
            </a:r>
            <a:endParaRPr lang="en-US" sz="540" dirty="0"/>
          </a:p>
        </p:txBody>
      </p:sp>
      <p:sp>
        <p:nvSpPr>
          <p:cNvPr id="63" name="Text 61"/>
          <p:cNvSpPr/>
          <p:nvPr/>
        </p:nvSpPr>
        <p:spPr>
          <a:xfrm>
            <a:off x="5012055" y="2818477"/>
            <a:ext cx="54292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27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维护者手动合并</a:t>
            </a:r>
            <a:pPr algn="l" indent="0" marL="0"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 am / apply</a:t>
            </a:r>
            <a:endParaRPr lang="en-US" sz="495" dirty="0"/>
          </a:p>
        </p:txBody>
      </p:sp>
      <p:sp>
        <p:nvSpPr>
          <p:cNvPr id="64" name="Shape 62"/>
          <p:cNvSpPr/>
          <p:nvPr/>
        </p:nvSpPr>
        <p:spPr>
          <a:xfrm>
            <a:off x="4754880" y="3115657"/>
            <a:ext cx="521940" cy="27432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6315" y="3155662"/>
            <a:ext cx="49336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</a:t>
            </a:r>
            <a:endParaRPr lang="en-US" sz="585" dirty="0"/>
          </a:p>
        </p:txBody>
      </p:sp>
      <p:sp>
        <p:nvSpPr>
          <p:cNvPr id="66" name="Text 64"/>
          <p:cNvSpPr/>
          <p:nvPr/>
        </p:nvSpPr>
        <p:spPr>
          <a:xfrm>
            <a:off x="4806315" y="3275677"/>
            <a:ext cx="47050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协作门槛</a:t>
            </a:r>
            <a:endParaRPr lang="en-US" sz="405" dirty="0"/>
          </a:p>
        </p:txBody>
      </p:sp>
      <p:sp>
        <p:nvSpPr>
          <p:cNvPr id="67" name="Shape 65"/>
          <p:cNvSpPr/>
          <p:nvPr/>
        </p:nvSpPr>
        <p:spPr>
          <a:xfrm>
            <a:off x="5311110" y="3115657"/>
            <a:ext cx="522030" cy="27432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62545" y="3155662"/>
            <a:ext cx="49345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分散</a:t>
            </a:r>
            <a:endParaRPr lang="en-US" sz="585" dirty="0"/>
          </a:p>
        </p:txBody>
      </p:sp>
      <p:sp>
        <p:nvSpPr>
          <p:cNvPr id="69" name="Text 67"/>
          <p:cNvSpPr/>
          <p:nvPr/>
        </p:nvSpPr>
        <p:spPr>
          <a:xfrm>
            <a:off x="5362545" y="3275677"/>
            <a:ext cx="4705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参与群体</a:t>
            </a:r>
            <a:endParaRPr lang="en-US" sz="405" dirty="0"/>
          </a:p>
        </p:txBody>
      </p:sp>
      <p:sp>
        <p:nvSpPr>
          <p:cNvPr id="70" name="Shape 68"/>
          <p:cNvSpPr/>
          <p:nvPr/>
        </p:nvSpPr>
        <p:spPr>
          <a:xfrm>
            <a:off x="5867430" y="3115657"/>
            <a:ext cx="521940" cy="27432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18865" y="3155662"/>
            <a:ext cx="49336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</a:t>
            </a:r>
            <a:endParaRPr lang="en-US" sz="585" dirty="0"/>
          </a:p>
        </p:txBody>
      </p:sp>
      <p:sp>
        <p:nvSpPr>
          <p:cNvPr id="72" name="Text 70"/>
          <p:cNvSpPr/>
          <p:nvPr/>
        </p:nvSpPr>
        <p:spPr>
          <a:xfrm>
            <a:off x="5918865" y="3275677"/>
            <a:ext cx="47050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众包效率</a:t>
            </a:r>
            <a:endParaRPr lang="en-US" sz="405" dirty="0"/>
          </a:p>
        </p:txBody>
      </p:sp>
      <p:sp>
        <p:nvSpPr>
          <p:cNvPr id="73" name="Shape 71"/>
          <p:cNvSpPr/>
          <p:nvPr/>
        </p:nvSpPr>
        <p:spPr>
          <a:xfrm>
            <a:off x="6520815" y="2068384"/>
            <a:ext cx="342900" cy="34290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33350" dist="38100" dir="16200000">
              <a:srgbClr val="2196F3">
                <a:alpha val="3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6520815" y="2068384"/>
            <a:ext cx="445770" cy="342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</a:t>
            </a:r>
            <a:endParaRPr lang="en-US" sz="810" dirty="0"/>
          </a:p>
        </p:txBody>
      </p:sp>
      <p:sp>
        <p:nvSpPr>
          <p:cNvPr id="75" name="Text 73"/>
          <p:cNvSpPr/>
          <p:nvPr/>
        </p:nvSpPr>
        <p:spPr>
          <a:xfrm>
            <a:off x="6495098" y="2468434"/>
            <a:ext cx="451485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5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EVOLUTION</a:t>
            </a:r>
            <a:pPr algn="ctr" indent="0" marL="0">
              <a:lnSpc>
                <a:spcPct val="140000"/>
              </a:lnSpc>
              <a:buNone/>
            </a:pPr>
            <a:endParaRPr lang="en-US" sz="4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45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演进</a:t>
            </a:r>
            <a:endParaRPr lang="en-US" sz="450" dirty="0"/>
          </a:p>
        </p:txBody>
      </p:sp>
      <p:sp>
        <p:nvSpPr>
          <p:cNvPr id="76" name="Text 74"/>
          <p:cNvSpPr/>
          <p:nvPr/>
        </p:nvSpPr>
        <p:spPr>
          <a:xfrm>
            <a:off x="6526530" y="2697034"/>
            <a:ext cx="385763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工具 + 平台</a:t>
            </a:r>
            <a:pPr algn="ctr" indent="0" marL="0">
              <a:lnSpc>
                <a:spcPct val="150000"/>
              </a:lnSpc>
              <a:buNone/>
            </a:pPr>
            <a:endParaRPr lang="en-US" sz="428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 社区</a:t>
            </a:r>
            <a:endParaRPr lang="en-US" sz="428" dirty="0"/>
          </a:p>
        </p:txBody>
      </p:sp>
      <p:sp>
        <p:nvSpPr>
          <p:cNvPr id="77" name="Shape 75"/>
          <p:cNvSpPr/>
          <p:nvPr/>
        </p:nvSpPr>
        <p:spPr>
          <a:xfrm>
            <a:off x="6909435" y="1361152"/>
            <a:ext cx="1805940" cy="2205990"/>
          </a:xfrm>
          <a:prstGeom prst="roundRect">
            <a:avLst>
              <a:gd name="adj" fmla="val 2532"/>
            </a:avLst>
          </a:prstGeom>
          <a:solidFill>
            <a:srgbClr val="F5F7FA"/>
          </a:solidFill>
          <a:ln w="17145">
            <a:solidFill>
              <a:srgbClr val="2196F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95160" y="1455450"/>
            <a:ext cx="245745" cy="91440"/>
          </a:xfrm>
          <a:prstGeom prst="roundRect">
            <a:avLst>
              <a:gd name="adj" fmla="val 625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9" name="Text 77"/>
          <p:cNvSpPr/>
          <p:nvPr/>
        </p:nvSpPr>
        <p:spPr>
          <a:xfrm>
            <a:off x="6995160" y="1455450"/>
            <a:ext cx="302895" cy="9144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450" dirty="0"/>
          </a:p>
        </p:txBody>
      </p:sp>
      <p:sp>
        <p:nvSpPr>
          <p:cNvPr id="80" name="Text 78"/>
          <p:cNvSpPr/>
          <p:nvPr/>
        </p:nvSpPr>
        <p:spPr>
          <a:xfrm>
            <a:off x="7286625" y="1446877"/>
            <a:ext cx="54292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平台 · PR 时代</a:t>
            </a:r>
            <a:endParaRPr lang="en-US" sz="585" dirty="0"/>
          </a:p>
        </p:txBody>
      </p:sp>
      <p:sp>
        <p:nvSpPr>
          <p:cNvPr id="81" name="Shape 79"/>
          <p:cNvSpPr/>
          <p:nvPr/>
        </p:nvSpPr>
        <p:spPr>
          <a:xfrm>
            <a:off x="6995160" y="1624042"/>
            <a:ext cx="1634490" cy="26860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058025" y="1684050"/>
            <a:ext cx="148590" cy="148590"/>
          </a:xfrm>
          <a:prstGeom prst="roundRect">
            <a:avLst>
              <a:gd name="adj" fmla="val 2307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83" name="Text 81"/>
          <p:cNvSpPr/>
          <p:nvPr/>
        </p:nvSpPr>
        <p:spPr>
          <a:xfrm>
            <a:off x="7058025" y="1684050"/>
            <a:ext cx="2171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540" dirty="0"/>
          </a:p>
        </p:txBody>
      </p:sp>
      <p:sp>
        <p:nvSpPr>
          <p:cNvPr id="84" name="Text 82"/>
          <p:cNvSpPr/>
          <p:nvPr/>
        </p:nvSpPr>
        <p:spPr>
          <a:xfrm>
            <a:off x="7252335" y="1669762"/>
            <a:ext cx="601675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27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Fork · 提交分支</a:t>
            </a:r>
            <a:pPr algn="l" indent="0" marL="0"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Web UI · 一键创建</a:t>
            </a:r>
            <a:endParaRPr lang="en-US" sz="495" dirty="0"/>
          </a:p>
        </p:txBody>
      </p:sp>
      <p:sp>
        <p:nvSpPr>
          <p:cNvPr id="85" name="Text 83"/>
          <p:cNvSpPr/>
          <p:nvPr/>
        </p:nvSpPr>
        <p:spPr>
          <a:xfrm>
            <a:off x="6995160" y="1926937"/>
            <a:ext cx="1830629" cy="457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↓</a:t>
            </a:r>
            <a:endParaRPr lang="en-US" sz="495" dirty="0"/>
          </a:p>
        </p:txBody>
      </p:sp>
      <p:sp>
        <p:nvSpPr>
          <p:cNvPr id="86" name="Shape 84"/>
          <p:cNvSpPr/>
          <p:nvPr/>
        </p:nvSpPr>
        <p:spPr>
          <a:xfrm>
            <a:off x="6995160" y="2006947"/>
            <a:ext cx="1634490" cy="26860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58025" y="2066955"/>
            <a:ext cx="148590" cy="148590"/>
          </a:xfrm>
          <a:prstGeom prst="roundRect">
            <a:avLst>
              <a:gd name="adj" fmla="val 2307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88" name="Text 86"/>
          <p:cNvSpPr/>
          <p:nvPr/>
        </p:nvSpPr>
        <p:spPr>
          <a:xfrm>
            <a:off x="7058025" y="2066955"/>
            <a:ext cx="2171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540" dirty="0"/>
          </a:p>
        </p:txBody>
      </p:sp>
      <p:sp>
        <p:nvSpPr>
          <p:cNvPr id="89" name="Text 87"/>
          <p:cNvSpPr/>
          <p:nvPr/>
        </p:nvSpPr>
        <p:spPr>
          <a:xfrm>
            <a:off x="7252335" y="2052667"/>
            <a:ext cx="755294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27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发起 Pull Request</a:t>
            </a:r>
            <a:pPr algn="l" indent="0" marL="0"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diff 可视化 · 自动构建</a:t>
            </a:r>
            <a:endParaRPr lang="en-US" sz="495" dirty="0"/>
          </a:p>
        </p:txBody>
      </p:sp>
      <p:sp>
        <p:nvSpPr>
          <p:cNvPr id="90" name="Text 88"/>
          <p:cNvSpPr/>
          <p:nvPr/>
        </p:nvSpPr>
        <p:spPr>
          <a:xfrm>
            <a:off x="6995160" y="2309842"/>
            <a:ext cx="1830629" cy="457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↓</a:t>
            </a:r>
            <a:endParaRPr lang="en-US" sz="495" dirty="0"/>
          </a:p>
        </p:txBody>
      </p:sp>
      <p:sp>
        <p:nvSpPr>
          <p:cNvPr id="91" name="Shape 89"/>
          <p:cNvSpPr/>
          <p:nvPr/>
        </p:nvSpPr>
        <p:spPr>
          <a:xfrm>
            <a:off x="6995160" y="2389852"/>
            <a:ext cx="1634490" cy="26860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58025" y="2449860"/>
            <a:ext cx="148590" cy="148590"/>
          </a:xfrm>
          <a:prstGeom prst="roundRect">
            <a:avLst>
              <a:gd name="adj" fmla="val 2307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93" name="Text 91"/>
          <p:cNvSpPr/>
          <p:nvPr/>
        </p:nvSpPr>
        <p:spPr>
          <a:xfrm>
            <a:off x="7058025" y="2449860"/>
            <a:ext cx="2171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540" dirty="0"/>
          </a:p>
        </p:txBody>
      </p:sp>
      <p:sp>
        <p:nvSpPr>
          <p:cNvPr id="94" name="Text 92"/>
          <p:cNvSpPr/>
          <p:nvPr/>
        </p:nvSpPr>
        <p:spPr>
          <a:xfrm>
            <a:off x="7252335" y="2435572"/>
            <a:ext cx="684886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27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代码评审 · Review</a:t>
            </a:r>
            <a:pPr algn="l" indent="0" marL="0"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多人参与 · 异步讨论</a:t>
            </a:r>
            <a:endParaRPr lang="en-US" sz="495" dirty="0"/>
          </a:p>
        </p:txBody>
      </p:sp>
      <p:sp>
        <p:nvSpPr>
          <p:cNvPr id="95" name="Text 93"/>
          <p:cNvSpPr/>
          <p:nvPr/>
        </p:nvSpPr>
        <p:spPr>
          <a:xfrm>
            <a:off x="6995160" y="2692747"/>
            <a:ext cx="1830629" cy="457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↓</a:t>
            </a:r>
            <a:endParaRPr lang="en-US" sz="495" dirty="0"/>
          </a:p>
        </p:txBody>
      </p:sp>
      <p:sp>
        <p:nvSpPr>
          <p:cNvPr id="96" name="Shape 94"/>
          <p:cNvSpPr/>
          <p:nvPr/>
        </p:nvSpPr>
        <p:spPr>
          <a:xfrm>
            <a:off x="6995160" y="2772757"/>
            <a:ext cx="1634490" cy="26860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58025" y="2832765"/>
            <a:ext cx="148590" cy="148590"/>
          </a:xfrm>
          <a:prstGeom prst="roundRect">
            <a:avLst>
              <a:gd name="adj" fmla="val 2307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98" name="Text 96"/>
          <p:cNvSpPr/>
          <p:nvPr/>
        </p:nvSpPr>
        <p:spPr>
          <a:xfrm>
            <a:off x="7058025" y="2832765"/>
            <a:ext cx="2171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</a:t>
            </a:r>
            <a:endParaRPr lang="en-US" sz="540" dirty="0"/>
          </a:p>
        </p:txBody>
      </p:sp>
      <p:sp>
        <p:nvSpPr>
          <p:cNvPr id="99" name="Text 97"/>
          <p:cNvSpPr/>
          <p:nvPr/>
        </p:nvSpPr>
        <p:spPr>
          <a:xfrm>
            <a:off x="7252335" y="2818477"/>
            <a:ext cx="633679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27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CI 通过 · Merge</a:t>
            </a:r>
            <a:pPr algn="l" indent="0" marL="0">
              <a:buNone/>
            </a:pPr>
            <a:r>
              <a:rPr lang="en-US" sz="42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自动化流水线合并</a:t>
            </a:r>
            <a:endParaRPr lang="en-US" sz="495" dirty="0"/>
          </a:p>
        </p:txBody>
      </p:sp>
      <p:sp>
        <p:nvSpPr>
          <p:cNvPr id="100" name="Shape 98"/>
          <p:cNvSpPr/>
          <p:nvPr/>
        </p:nvSpPr>
        <p:spPr>
          <a:xfrm>
            <a:off x="6995160" y="3121372"/>
            <a:ext cx="521940" cy="27432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046595" y="3161377"/>
            <a:ext cx="49336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</a:t>
            </a:r>
            <a:endParaRPr lang="en-US" sz="585" dirty="0"/>
          </a:p>
        </p:txBody>
      </p:sp>
      <p:sp>
        <p:nvSpPr>
          <p:cNvPr id="102" name="Text 100"/>
          <p:cNvSpPr/>
          <p:nvPr/>
        </p:nvSpPr>
        <p:spPr>
          <a:xfrm>
            <a:off x="7046595" y="3281392"/>
            <a:ext cx="47050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协作门槛</a:t>
            </a:r>
            <a:endParaRPr lang="en-US" sz="405" dirty="0"/>
          </a:p>
        </p:txBody>
      </p:sp>
      <p:sp>
        <p:nvSpPr>
          <p:cNvPr id="103" name="Shape 101"/>
          <p:cNvSpPr/>
          <p:nvPr/>
        </p:nvSpPr>
        <p:spPr>
          <a:xfrm>
            <a:off x="7551390" y="3121372"/>
            <a:ext cx="522030" cy="27432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02825" y="3161377"/>
            <a:ext cx="49345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广泛</a:t>
            </a:r>
            <a:endParaRPr lang="en-US" sz="585" dirty="0"/>
          </a:p>
        </p:txBody>
      </p:sp>
      <p:sp>
        <p:nvSpPr>
          <p:cNvPr id="105" name="Text 103"/>
          <p:cNvSpPr/>
          <p:nvPr/>
        </p:nvSpPr>
        <p:spPr>
          <a:xfrm>
            <a:off x="7602825" y="3281392"/>
            <a:ext cx="4705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参与群体</a:t>
            </a:r>
            <a:endParaRPr lang="en-US" sz="405" dirty="0"/>
          </a:p>
        </p:txBody>
      </p:sp>
      <p:sp>
        <p:nvSpPr>
          <p:cNvPr id="106" name="Shape 104"/>
          <p:cNvSpPr/>
          <p:nvPr/>
        </p:nvSpPr>
        <p:spPr>
          <a:xfrm>
            <a:off x="8107710" y="3121372"/>
            <a:ext cx="521940" cy="27432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5715">
            <a:solidFill>
              <a:srgbClr val="D6E4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159145" y="3161377"/>
            <a:ext cx="49336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</a:t>
            </a:r>
            <a:endParaRPr lang="en-US" sz="585" dirty="0"/>
          </a:p>
        </p:txBody>
      </p:sp>
      <p:sp>
        <p:nvSpPr>
          <p:cNvPr id="108" name="Text 106"/>
          <p:cNvSpPr/>
          <p:nvPr/>
        </p:nvSpPr>
        <p:spPr>
          <a:xfrm>
            <a:off x="8159145" y="3281392"/>
            <a:ext cx="47050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众包效率</a:t>
            </a:r>
            <a:endParaRPr lang="en-US" sz="405" dirty="0"/>
          </a:p>
        </p:txBody>
      </p:sp>
      <p:sp>
        <p:nvSpPr>
          <p:cNvPr id="109" name="Shape 107"/>
          <p:cNvSpPr/>
          <p:nvPr/>
        </p:nvSpPr>
        <p:spPr>
          <a:xfrm>
            <a:off x="4669155" y="3624292"/>
            <a:ext cx="4046220" cy="445770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96F3">
                  <a:alpha val="4000"/>
                </a:srgbClr>
              </a:gs>
              <a:gs pos="100000">
                <a:srgbClr val="00BCD4">
                  <a:alpha val="4000"/>
                </a:srgbClr>
              </a:gs>
            </a:gsLst>
            <a:lin ang="0" scaled="0"/>
          </a:gradFill>
          <a:ln w="5715">
            <a:solidFill>
              <a:srgbClr val="D6E4F0"/>
            </a:solidFill>
            <a:prstDash val="dash"/>
          </a:ln>
        </p:spPr>
      </p:sp>
      <p:sp>
        <p:nvSpPr>
          <p:cNvPr id="110" name="Text 108"/>
          <p:cNvSpPr/>
          <p:nvPr/>
        </p:nvSpPr>
        <p:spPr>
          <a:xfrm>
            <a:off x="4754880" y="3801457"/>
            <a:ext cx="5600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协作规模 · 时间轴</a:t>
            </a:r>
            <a:endParaRPr lang="en-US" sz="495" dirty="0"/>
          </a:p>
        </p:txBody>
      </p:sp>
      <p:pic>
        <p:nvPicPr>
          <p:cNvPr id="1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0665" y="3687157"/>
            <a:ext cx="3308985" cy="320040"/>
          </a:xfrm>
          <a:prstGeom prst="rect">
            <a:avLst/>
          </a:prstGeom>
        </p:spPr>
      </p:pic>
      <p:sp>
        <p:nvSpPr>
          <p:cNvPr id="112" name="Shape 109"/>
          <p:cNvSpPr/>
          <p:nvPr/>
        </p:nvSpPr>
        <p:spPr>
          <a:xfrm>
            <a:off x="320040" y="4704427"/>
            <a:ext cx="8503920" cy="257175"/>
          </a:xfrm>
          <a:prstGeom prst="roundRect">
            <a:avLst>
              <a:gd name="adj" fmla="val 17778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8000"/>
                </a:srgbClr>
              </a:gs>
            </a:gsLst>
            <a:lin ang="0" scaled="0"/>
          </a:gradFill>
          <a:ln/>
        </p:spPr>
      </p:sp>
      <p:sp>
        <p:nvSpPr>
          <p:cNvPr id="113" name="Shape 110"/>
          <p:cNvSpPr/>
          <p:nvPr/>
        </p:nvSpPr>
        <p:spPr>
          <a:xfrm>
            <a:off x="320040" y="4704427"/>
            <a:ext cx="0" cy="257175"/>
          </a:xfrm>
          <a:prstGeom prst="line">
            <a:avLst/>
          </a:prstGeom>
          <a:noFill/>
          <a:ln w="22860">
            <a:solidFill>
              <a:srgbClr val="00BCD4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516154" y="4778722"/>
            <a:ext cx="14287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◇</a:t>
            </a:r>
            <a:endParaRPr lang="en-US" sz="630" dirty="0"/>
          </a:p>
        </p:txBody>
      </p:sp>
      <p:sp>
        <p:nvSpPr>
          <p:cNvPr id="115" name="Text 112"/>
          <p:cNvSpPr/>
          <p:nvPr/>
        </p:nvSpPr>
        <p:spPr>
          <a:xfrm>
            <a:off x="3659029" y="4773007"/>
            <a:ext cx="2070659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工具在变，协作在变，但</a:t>
            </a:r>
            <a:pPr algn="l" indent="0" marL="0">
              <a:buNone/>
            </a:pPr>
            <a:r>
              <a:rPr lang="en-US" sz="67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开放共享</a:t>
            </a:r>
            <a:pPr algn="l" indent="0" marL="0">
              <a:buNone/>
            </a:pPr>
            <a:r>
              <a:rPr lang="en-US" sz="675" b="1" spc="23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的精神</a:t>
            </a:r>
            <a:pPr algn="l" indent="0" marL="0">
              <a:buNone/>
            </a:pPr>
            <a:r>
              <a:rPr lang="en-US" sz="67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不变</a:t>
            </a:r>
            <a:endParaRPr lang="en-US" sz="675" dirty="0"/>
          </a:p>
        </p:txBody>
      </p:sp>
      <p:sp>
        <p:nvSpPr>
          <p:cNvPr id="116" name="Text 113"/>
          <p:cNvSpPr/>
          <p:nvPr/>
        </p:nvSpPr>
        <p:spPr>
          <a:xfrm>
            <a:off x="5587841" y="4778722"/>
            <a:ext cx="14287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◇</a:t>
            </a:r>
            <a:endParaRPr lang="en-US" sz="6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0" y="-1143000"/>
            <a:ext cx="3429000" cy="34290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  <a:effectLst>
            <a:outerShdw sx="100000" sy="100000" kx="0" ky="0" algn="bl" rotWithShape="0" blurRad="114300" dist="50800" dir="16200000">
              <a:srgbClr val="2196F3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1028700" y="3200400"/>
            <a:ext cx="3200400" cy="3200400"/>
          </a:xfrm>
          <a:prstGeom prst="rect">
            <a:avLst/>
          </a:prstGeom>
          <a:solidFill>
            <a:srgbClr val="00BCD4">
              <a:alpha val="16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2900" y="27432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5770" y="254318"/>
            <a:ext cx="119054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06 · GOVERNANCE</a:t>
            </a:r>
            <a:endParaRPr lang="en-US" sz="540" dirty="0"/>
          </a:p>
        </p:txBody>
      </p:sp>
      <p:sp>
        <p:nvSpPr>
          <p:cNvPr id="7" name="Shape 5"/>
          <p:cNvSpPr/>
          <p:nvPr/>
        </p:nvSpPr>
        <p:spPr>
          <a:xfrm>
            <a:off x="1565910" y="291465"/>
            <a:ext cx="3429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342900" y="471488"/>
            <a:ext cx="34290" cy="21717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480060" y="408623"/>
            <a:ext cx="1932295" cy="3486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14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社区治理与参与</a:t>
            </a:r>
            <a:endParaRPr lang="en-US" sz="1890" dirty="0"/>
          </a:p>
        </p:txBody>
      </p:sp>
      <p:sp>
        <p:nvSpPr>
          <p:cNvPr id="10" name="Text 8"/>
          <p:cNvSpPr/>
          <p:nvPr/>
        </p:nvSpPr>
        <p:spPr>
          <a:xfrm>
            <a:off x="2275195" y="608648"/>
            <a:ext cx="253471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 GOVERNANCE &amp; PARTICIPATION</a:t>
            </a:r>
            <a:endParaRPr lang="en-US" sz="585" dirty="0"/>
          </a:p>
        </p:txBody>
      </p:sp>
      <p:sp>
        <p:nvSpPr>
          <p:cNvPr id="11" name="Shape 9"/>
          <p:cNvSpPr/>
          <p:nvPr/>
        </p:nvSpPr>
        <p:spPr>
          <a:xfrm>
            <a:off x="342900" y="825818"/>
            <a:ext cx="12573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342900" y="922973"/>
            <a:ext cx="7886700" cy="234136"/>
          </a:xfrm>
          <a:prstGeom prst="rect">
            <a:avLst/>
          </a:prstGeom>
          <a:gradFill rotWithShape="1">
            <a:gsLst>
              <a:gs pos="0">
                <a:srgbClr val="2196F3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Shape 11"/>
          <p:cNvSpPr/>
          <p:nvPr/>
        </p:nvSpPr>
        <p:spPr>
          <a:xfrm>
            <a:off x="342900" y="922973"/>
            <a:ext cx="0" cy="234136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" y="922973"/>
            <a:ext cx="8833104" cy="234136"/>
          </a:xfrm>
          <a:prstGeom prst="rect">
            <a:avLst/>
          </a:prstGeom>
          <a:noFill/>
          <a:ln/>
        </p:spPr>
        <p:txBody>
          <a:bodyPr wrap="square" lIns="45720" tIns="91440" rIns="0" bIns="45720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08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治理结构是开源社区可持续运转的骨架。一个健康的社区需要在开放准入与质量控制之间找到平衡，而布道者的工作正是降低参与门槛、激发贡献意愿。</a:t>
            </a:r>
            <a:endParaRPr lang="en-US" sz="608" dirty="0"/>
          </a:p>
        </p:txBody>
      </p:sp>
      <p:sp>
        <p:nvSpPr>
          <p:cNvPr id="15" name="Shape 13"/>
          <p:cNvSpPr/>
          <p:nvPr/>
        </p:nvSpPr>
        <p:spPr>
          <a:xfrm>
            <a:off x="342900" y="1259979"/>
            <a:ext cx="4189095" cy="931545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19050" dir="16200000">
              <a:srgbClr val="2196F3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" y="1259979"/>
            <a:ext cx="22860" cy="9201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7" name="Shape 15"/>
          <p:cNvSpPr/>
          <p:nvPr/>
        </p:nvSpPr>
        <p:spPr>
          <a:xfrm>
            <a:off x="4120515" y="1088529"/>
            <a:ext cx="571500" cy="571500"/>
          </a:xfrm>
          <a:prstGeom prst="ellipse">
            <a:avLst/>
          </a:prstGeom>
          <a:gradFill rotWithShape="1">
            <a:gsLst>
              <a:gs pos="0">
                <a:srgbClr val="00BC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8" name="Shape 16"/>
          <p:cNvSpPr/>
          <p:nvPr/>
        </p:nvSpPr>
        <p:spPr>
          <a:xfrm>
            <a:off x="451485" y="1365706"/>
            <a:ext cx="217170" cy="21717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25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417141"/>
            <a:ext cx="114300" cy="1143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7235" y="1357134"/>
            <a:ext cx="131536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14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治理层级</a:t>
            </a:r>
            <a:endParaRPr lang="en-US" sz="765" dirty="0"/>
          </a:p>
        </p:txBody>
      </p:sp>
      <p:sp>
        <p:nvSpPr>
          <p:cNvPr id="21" name="Text 18"/>
          <p:cNvSpPr/>
          <p:nvPr/>
        </p:nvSpPr>
        <p:spPr>
          <a:xfrm>
            <a:off x="737235" y="1511439"/>
            <a:ext cx="131536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· GOVERNANCE HIERARCHY</a:t>
            </a:r>
            <a:endParaRPr lang="en-US" sz="495" dirty="0"/>
          </a:p>
        </p:txBody>
      </p:sp>
      <p:sp>
        <p:nvSpPr>
          <p:cNvPr id="22" name="Shape 19"/>
          <p:cNvSpPr/>
          <p:nvPr/>
        </p:nvSpPr>
        <p:spPr>
          <a:xfrm>
            <a:off x="451485" y="2018645"/>
            <a:ext cx="1293465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51485" y="2018645"/>
            <a:ext cx="1293465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4" name="Shape 21"/>
          <p:cNvSpPr/>
          <p:nvPr/>
        </p:nvSpPr>
        <p:spPr>
          <a:xfrm>
            <a:off x="1790670" y="2018645"/>
            <a:ext cx="1293555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90670" y="2018645"/>
            <a:ext cx="84073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6" name="Shape 23"/>
          <p:cNvSpPr/>
          <p:nvPr/>
        </p:nvSpPr>
        <p:spPr>
          <a:xfrm>
            <a:off x="3129945" y="2018645"/>
            <a:ext cx="1293465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129945" y="2018645"/>
            <a:ext cx="362099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8" name="Shape 25"/>
          <p:cNvSpPr/>
          <p:nvPr/>
        </p:nvSpPr>
        <p:spPr>
          <a:xfrm>
            <a:off x="451485" y="2195810"/>
            <a:ext cx="820103" cy="131445"/>
          </a:xfrm>
          <a:prstGeom prst="roundRect">
            <a:avLst>
              <a:gd name="adj" fmla="val 86957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1485" y="2195810"/>
            <a:ext cx="918515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贡献者 Contributor</a:t>
            </a:r>
            <a:endParaRPr lang="en-US" sz="473" dirty="0"/>
          </a:p>
        </p:txBody>
      </p:sp>
      <p:sp>
        <p:nvSpPr>
          <p:cNvPr id="30" name="Shape 27"/>
          <p:cNvSpPr/>
          <p:nvPr/>
        </p:nvSpPr>
        <p:spPr>
          <a:xfrm>
            <a:off x="1305878" y="2195810"/>
            <a:ext cx="511493" cy="131445"/>
          </a:xfrm>
          <a:prstGeom prst="roundRect">
            <a:avLst>
              <a:gd name="adj" fmla="val 86957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05878" y="2195810"/>
            <a:ext cx="572872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Committer</a:t>
            </a:r>
            <a:endParaRPr lang="en-US" sz="473" dirty="0"/>
          </a:p>
        </p:txBody>
      </p:sp>
      <p:sp>
        <p:nvSpPr>
          <p:cNvPr id="32" name="Shape 29"/>
          <p:cNvSpPr/>
          <p:nvPr/>
        </p:nvSpPr>
        <p:spPr>
          <a:xfrm>
            <a:off x="1851660" y="2195810"/>
            <a:ext cx="511493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51660" y="2195810"/>
            <a:ext cx="572872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97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PMC / TSC</a:t>
            </a:r>
            <a:endParaRPr lang="en-US" sz="473" dirty="0"/>
          </a:p>
        </p:txBody>
      </p:sp>
      <p:sp>
        <p:nvSpPr>
          <p:cNvPr id="34" name="Text 31"/>
          <p:cNvSpPr/>
          <p:nvPr/>
        </p:nvSpPr>
        <p:spPr>
          <a:xfrm>
            <a:off x="451485" y="1648599"/>
            <a:ext cx="444855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贡献者 → Committer → PMC / TSC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三层架构，逐级赋予决策权与审核权，形成权力制衡与责任下沉的治理链条。</a:t>
            </a:r>
            <a:endParaRPr lang="en-US" sz="563" dirty="0"/>
          </a:p>
        </p:txBody>
      </p:sp>
      <p:sp>
        <p:nvSpPr>
          <p:cNvPr id="35" name="Shape 32"/>
          <p:cNvSpPr/>
          <p:nvPr/>
        </p:nvSpPr>
        <p:spPr>
          <a:xfrm>
            <a:off x="4612005" y="1259979"/>
            <a:ext cx="4189095" cy="931545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19050" dir="16200000">
              <a:srgbClr val="2196F3">
                <a:alpha val="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12005" y="1259979"/>
            <a:ext cx="22860" cy="9201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7" name="Shape 34"/>
          <p:cNvSpPr/>
          <p:nvPr/>
        </p:nvSpPr>
        <p:spPr>
          <a:xfrm>
            <a:off x="8389620" y="1088529"/>
            <a:ext cx="571500" cy="571500"/>
          </a:xfrm>
          <a:prstGeom prst="ellipse">
            <a:avLst/>
          </a:prstGeom>
          <a:gradFill rotWithShape="1">
            <a:gsLst>
              <a:gs pos="0">
                <a:srgbClr val="00BC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8" name="Shape 35"/>
          <p:cNvSpPr/>
          <p:nvPr/>
        </p:nvSpPr>
        <p:spPr>
          <a:xfrm>
            <a:off x="4720590" y="1365706"/>
            <a:ext cx="217170" cy="21717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25000"/>
              </a:srgbClr>
            </a:outerShdw>
          </a:effectLst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2025" y="1417141"/>
            <a:ext cx="114300" cy="11430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006340" y="1357134"/>
            <a:ext cx="1219352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14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参与漏斗</a:t>
            </a:r>
            <a:endParaRPr lang="en-US" sz="765" dirty="0"/>
          </a:p>
        </p:txBody>
      </p:sp>
      <p:sp>
        <p:nvSpPr>
          <p:cNvPr id="41" name="Text 37"/>
          <p:cNvSpPr/>
          <p:nvPr/>
        </p:nvSpPr>
        <p:spPr>
          <a:xfrm>
            <a:off x="5006340" y="1511439"/>
            <a:ext cx="121935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· PARTICIPATION FUNNEL</a:t>
            </a:r>
            <a:endParaRPr lang="en-US" sz="495" dirty="0"/>
          </a:p>
        </p:txBody>
      </p:sp>
      <p:sp>
        <p:nvSpPr>
          <p:cNvPr id="42" name="Text 38"/>
          <p:cNvSpPr/>
          <p:nvPr/>
        </p:nvSpPr>
        <p:spPr>
          <a:xfrm>
            <a:off x="7856786" y="1885057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Star</a:t>
            </a:r>
            <a:endParaRPr lang="en-US" sz="405" dirty="0"/>
          </a:p>
        </p:txBody>
      </p:sp>
      <p:sp>
        <p:nvSpPr>
          <p:cNvPr id="43" name="Text 39"/>
          <p:cNvSpPr/>
          <p:nvPr/>
        </p:nvSpPr>
        <p:spPr>
          <a:xfrm>
            <a:off x="8006536" y="1862197"/>
            <a:ext cx="13601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▸</a:t>
            </a:r>
            <a:endParaRPr lang="en-US" sz="630" dirty="0"/>
          </a:p>
        </p:txBody>
      </p:sp>
      <p:sp>
        <p:nvSpPr>
          <p:cNvPr id="44" name="Text 40"/>
          <p:cNvSpPr/>
          <p:nvPr/>
        </p:nvSpPr>
        <p:spPr>
          <a:xfrm>
            <a:off x="8084850" y="1885057"/>
            <a:ext cx="20288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</a:t>
            </a:r>
            <a:endParaRPr lang="en-US" sz="405" dirty="0"/>
          </a:p>
        </p:txBody>
      </p:sp>
      <p:sp>
        <p:nvSpPr>
          <p:cNvPr id="45" name="Text 41"/>
          <p:cNvSpPr/>
          <p:nvPr/>
        </p:nvSpPr>
        <p:spPr>
          <a:xfrm>
            <a:off x="8264872" y="1862197"/>
            <a:ext cx="13601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▸</a:t>
            </a:r>
            <a:endParaRPr lang="en-US" sz="630" dirty="0"/>
          </a:p>
        </p:txBody>
      </p:sp>
      <p:sp>
        <p:nvSpPr>
          <p:cNvPr id="46" name="Text 42"/>
          <p:cNvSpPr/>
          <p:nvPr/>
        </p:nvSpPr>
        <p:spPr>
          <a:xfrm>
            <a:off x="8343186" y="1885057"/>
            <a:ext cx="123444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</a:t>
            </a:r>
            <a:endParaRPr lang="en-US" sz="405" dirty="0"/>
          </a:p>
        </p:txBody>
      </p:sp>
      <p:sp>
        <p:nvSpPr>
          <p:cNvPr id="47" name="Text 43"/>
          <p:cNvSpPr/>
          <p:nvPr/>
        </p:nvSpPr>
        <p:spPr>
          <a:xfrm>
            <a:off x="8432393" y="1862197"/>
            <a:ext cx="13601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4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▸</a:t>
            </a:r>
            <a:endParaRPr lang="en-US" sz="630" dirty="0"/>
          </a:p>
        </p:txBody>
      </p:sp>
      <p:sp>
        <p:nvSpPr>
          <p:cNvPr id="48" name="Text 44"/>
          <p:cNvSpPr/>
          <p:nvPr/>
        </p:nvSpPr>
        <p:spPr>
          <a:xfrm>
            <a:off x="8510707" y="1885057"/>
            <a:ext cx="23324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4" kern="0" dirty="0">
                <a:solidFill>
                  <a:srgbClr val="0097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Commit</a:t>
            </a:r>
            <a:endParaRPr lang="en-US" sz="405" dirty="0"/>
          </a:p>
        </p:txBody>
      </p:sp>
      <p:sp>
        <p:nvSpPr>
          <p:cNvPr id="49" name="Shape 45"/>
          <p:cNvSpPr/>
          <p:nvPr/>
        </p:nvSpPr>
        <p:spPr>
          <a:xfrm>
            <a:off x="4720590" y="2070795"/>
            <a:ext cx="400050" cy="125730"/>
          </a:xfrm>
          <a:prstGeom prst="roundRect">
            <a:avLst>
              <a:gd name="adj" fmla="val 90909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720590" y="2070795"/>
            <a:ext cx="460058" cy="125730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★ Star</a:t>
            </a:r>
            <a:endParaRPr lang="en-US" sz="473" dirty="0"/>
          </a:p>
        </p:txBody>
      </p:sp>
      <p:sp>
        <p:nvSpPr>
          <p:cNvPr id="51" name="Shape 47"/>
          <p:cNvSpPr/>
          <p:nvPr/>
        </p:nvSpPr>
        <p:spPr>
          <a:xfrm>
            <a:off x="5154930" y="2070795"/>
            <a:ext cx="437198" cy="125730"/>
          </a:xfrm>
          <a:prstGeom prst="roundRect">
            <a:avLst>
              <a:gd name="adj" fmla="val 90909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154930" y="2070795"/>
            <a:ext cx="497205" cy="125730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⊘ Issue</a:t>
            </a:r>
            <a:endParaRPr lang="en-US" sz="473" dirty="0"/>
          </a:p>
        </p:txBody>
      </p:sp>
      <p:sp>
        <p:nvSpPr>
          <p:cNvPr id="53" name="Shape 49"/>
          <p:cNvSpPr/>
          <p:nvPr/>
        </p:nvSpPr>
        <p:spPr>
          <a:xfrm>
            <a:off x="5626418" y="2070795"/>
            <a:ext cx="293251" cy="125730"/>
          </a:xfrm>
          <a:prstGeom prst="roundRect">
            <a:avLst>
              <a:gd name="adj" fmla="val 90909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626418" y="2070795"/>
            <a:ext cx="353258" cy="125730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≡ PR</a:t>
            </a:r>
            <a:endParaRPr lang="en-US" sz="473" dirty="0"/>
          </a:p>
        </p:txBody>
      </p:sp>
      <p:sp>
        <p:nvSpPr>
          <p:cNvPr id="55" name="Shape 51"/>
          <p:cNvSpPr/>
          <p:nvPr/>
        </p:nvSpPr>
        <p:spPr>
          <a:xfrm>
            <a:off x="5953958" y="2070795"/>
            <a:ext cx="464701" cy="125730"/>
          </a:xfrm>
          <a:prstGeom prst="roundRect">
            <a:avLst>
              <a:gd name="adj" fmla="val 90909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953958" y="2070795"/>
            <a:ext cx="524708" cy="125730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97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 Commit</a:t>
            </a:r>
            <a:endParaRPr lang="en-US" sz="473" dirty="0"/>
          </a:p>
        </p:txBody>
      </p:sp>
      <p:sp>
        <p:nvSpPr>
          <p:cNvPr id="57" name="Text 53"/>
          <p:cNvSpPr/>
          <p:nvPr/>
        </p:nvSpPr>
        <p:spPr>
          <a:xfrm>
            <a:off x="4720590" y="1648599"/>
            <a:ext cx="4448556" cy="125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</a:t>
            </a:r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Star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到</a:t>
            </a:r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再到核心</a:t>
            </a:r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Commit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，参与深度呈现</a:t>
            </a:r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指数级衰减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，顶层活跃贡献者极为稀缺。</a:t>
            </a:r>
            <a:endParaRPr lang="en-US" sz="563" dirty="0"/>
          </a:p>
        </p:txBody>
      </p:sp>
      <p:sp>
        <p:nvSpPr>
          <p:cNvPr id="58" name="Shape 54"/>
          <p:cNvSpPr/>
          <p:nvPr/>
        </p:nvSpPr>
        <p:spPr>
          <a:xfrm>
            <a:off x="342900" y="2271534"/>
            <a:ext cx="4189095" cy="931545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19050" dir="16200000">
              <a:srgbClr val="2196F3">
                <a:alpha val="6000"/>
              </a:srgbClr>
            </a:outerShdw>
          </a:effectLst>
        </p:spPr>
      </p:sp>
      <p:sp>
        <p:nvSpPr>
          <p:cNvPr id="59" name="Shape 55"/>
          <p:cNvSpPr/>
          <p:nvPr/>
        </p:nvSpPr>
        <p:spPr>
          <a:xfrm>
            <a:off x="342900" y="2271534"/>
            <a:ext cx="22860" cy="9201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0" name="Shape 56"/>
          <p:cNvSpPr/>
          <p:nvPr/>
        </p:nvSpPr>
        <p:spPr>
          <a:xfrm>
            <a:off x="4120515" y="2100084"/>
            <a:ext cx="571500" cy="571500"/>
          </a:xfrm>
          <a:prstGeom prst="ellipse">
            <a:avLst/>
          </a:prstGeom>
          <a:gradFill rotWithShape="1">
            <a:gsLst>
              <a:gs pos="0">
                <a:srgbClr val="00BC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1" name="Shape 57"/>
          <p:cNvSpPr/>
          <p:nvPr/>
        </p:nvSpPr>
        <p:spPr>
          <a:xfrm>
            <a:off x="451485" y="2377261"/>
            <a:ext cx="217170" cy="21717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25000"/>
              </a:srgbClr>
            </a:outerShdw>
          </a:effectLst>
        </p:spPr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2428696"/>
            <a:ext cx="114300" cy="114300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737235" y="2368689"/>
            <a:ext cx="1353769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14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包容性挑战</a:t>
            </a:r>
            <a:endParaRPr lang="en-US" sz="765" dirty="0"/>
          </a:p>
        </p:txBody>
      </p:sp>
      <p:sp>
        <p:nvSpPr>
          <p:cNvPr id="64" name="Text 59"/>
          <p:cNvSpPr/>
          <p:nvPr/>
        </p:nvSpPr>
        <p:spPr>
          <a:xfrm>
            <a:off x="737235" y="2522994"/>
            <a:ext cx="135376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· INCLUSIVITY CHALLENGES</a:t>
            </a:r>
            <a:endParaRPr lang="en-US" sz="495" dirty="0"/>
          </a:p>
        </p:txBody>
      </p:sp>
      <p:sp>
        <p:nvSpPr>
          <p:cNvPr id="65" name="Shape 60"/>
          <p:cNvSpPr/>
          <p:nvPr/>
        </p:nvSpPr>
        <p:spPr>
          <a:xfrm>
            <a:off x="451485" y="2905185"/>
            <a:ext cx="1293465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66" name="Shape 61"/>
          <p:cNvSpPr/>
          <p:nvPr/>
        </p:nvSpPr>
        <p:spPr>
          <a:xfrm>
            <a:off x="451485" y="2905185"/>
            <a:ext cx="931277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043"/>
              </a:gs>
              <a:gs pos="100000">
                <a:srgbClr val="FFA726"/>
              </a:gs>
            </a:gsLst>
            <a:lin ang="0" scaled="0"/>
          </a:gradFill>
          <a:ln/>
        </p:spPr>
      </p:sp>
      <p:sp>
        <p:nvSpPr>
          <p:cNvPr id="67" name="Shape 62"/>
          <p:cNvSpPr/>
          <p:nvPr/>
        </p:nvSpPr>
        <p:spPr>
          <a:xfrm>
            <a:off x="1790670" y="2905185"/>
            <a:ext cx="1293555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68" name="Shape 63"/>
          <p:cNvSpPr/>
          <p:nvPr/>
        </p:nvSpPr>
        <p:spPr>
          <a:xfrm>
            <a:off x="1790670" y="2905185"/>
            <a:ext cx="750183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043"/>
              </a:gs>
              <a:gs pos="100000">
                <a:srgbClr val="FFA726"/>
              </a:gs>
            </a:gsLst>
            <a:lin ang="0" scaled="0"/>
          </a:gradFill>
          <a:ln/>
        </p:spPr>
      </p:sp>
      <p:sp>
        <p:nvSpPr>
          <p:cNvPr id="69" name="Shape 64"/>
          <p:cNvSpPr/>
          <p:nvPr/>
        </p:nvSpPr>
        <p:spPr>
          <a:xfrm>
            <a:off x="3129945" y="2905185"/>
            <a:ext cx="1293465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70" name="Shape 65"/>
          <p:cNvSpPr/>
          <p:nvPr/>
        </p:nvSpPr>
        <p:spPr>
          <a:xfrm>
            <a:off x="3129945" y="2905185"/>
            <a:ext cx="569089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043"/>
              </a:gs>
              <a:gs pos="100000">
                <a:srgbClr val="FFA726"/>
              </a:gs>
            </a:gsLst>
            <a:lin ang="0" scaled="0"/>
          </a:gradFill>
          <a:ln/>
        </p:spPr>
      </p:sp>
      <p:sp>
        <p:nvSpPr>
          <p:cNvPr id="71" name="Shape 66"/>
          <p:cNvSpPr/>
          <p:nvPr/>
        </p:nvSpPr>
        <p:spPr>
          <a:xfrm>
            <a:off x="451485" y="3082350"/>
            <a:ext cx="365760" cy="131445"/>
          </a:xfrm>
          <a:prstGeom prst="roundRect">
            <a:avLst>
              <a:gd name="adj" fmla="val 86957"/>
            </a:avLst>
          </a:prstGeom>
          <a:solidFill>
            <a:srgbClr val="FF7043">
              <a:alpha val="10000"/>
            </a:srgbClr>
          </a:solidFill>
          <a:ln w="5715">
            <a:solidFill>
              <a:srgbClr val="FF7043">
                <a:alpha val="30000"/>
              </a:srgbClr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451485" y="3082350"/>
            <a:ext cx="425768" cy="131445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E64A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语言壁垒</a:t>
            </a:r>
            <a:endParaRPr lang="en-US" sz="473" dirty="0"/>
          </a:p>
        </p:txBody>
      </p:sp>
      <p:sp>
        <p:nvSpPr>
          <p:cNvPr id="73" name="Shape 68"/>
          <p:cNvSpPr/>
          <p:nvPr/>
        </p:nvSpPr>
        <p:spPr>
          <a:xfrm>
            <a:off x="851535" y="3082350"/>
            <a:ext cx="365760" cy="131445"/>
          </a:xfrm>
          <a:prstGeom prst="roundRect">
            <a:avLst>
              <a:gd name="adj" fmla="val 86957"/>
            </a:avLst>
          </a:prstGeom>
          <a:solidFill>
            <a:srgbClr val="FF7043">
              <a:alpha val="10000"/>
            </a:srgbClr>
          </a:solidFill>
          <a:ln w="5715">
            <a:solidFill>
              <a:srgbClr val="FF7043">
                <a:alpha val="30000"/>
              </a:srgbClr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851535" y="3082350"/>
            <a:ext cx="425768" cy="131445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E64A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时区差异</a:t>
            </a:r>
            <a:endParaRPr lang="en-US" sz="473" dirty="0"/>
          </a:p>
        </p:txBody>
      </p:sp>
      <p:sp>
        <p:nvSpPr>
          <p:cNvPr id="75" name="Shape 70"/>
          <p:cNvSpPr/>
          <p:nvPr/>
        </p:nvSpPr>
        <p:spPr>
          <a:xfrm>
            <a:off x="1251585" y="3082350"/>
            <a:ext cx="365760" cy="131445"/>
          </a:xfrm>
          <a:prstGeom prst="roundRect">
            <a:avLst>
              <a:gd name="adj" fmla="val 86957"/>
            </a:avLst>
          </a:prstGeom>
          <a:solidFill>
            <a:srgbClr val="FF7043">
              <a:alpha val="10000"/>
            </a:srgbClr>
          </a:solidFill>
          <a:ln w="5715">
            <a:solidFill>
              <a:srgbClr val="FF7043">
                <a:alpha val="30000"/>
              </a:srgbClr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1251585" y="3082350"/>
            <a:ext cx="425768" cy="131445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E64A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隐性门槛</a:t>
            </a:r>
            <a:endParaRPr lang="en-US" sz="473" dirty="0"/>
          </a:p>
        </p:txBody>
      </p:sp>
      <p:sp>
        <p:nvSpPr>
          <p:cNvPr id="77" name="Text 72"/>
          <p:cNvSpPr/>
          <p:nvPr/>
        </p:nvSpPr>
        <p:spPr>
          <a:xfrm>
            <a:off x="451485" y="2660154"/>
            <a:ext cx="4448556" cy="125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语言壁垒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时区差异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隐性门槛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持续影响新兴贡献者的留存率，是全球化社区必须直面的结构性问题。</a:t>
            </a:r>
            <a:endParaRPr lang="en-US" sz="563" dirty="0"/>
          </a:p>
        </p:txBody>
      </p:sp>
      <p:sp>
        <p:nvSpPr>
          <p:cNvPr id="78" name="Shape 73"/>
          <p:cNvSpPr/>
          <p:nvPr/>
        </p:nvSpPr>
        <p:spPr>
          <a:xfrm>
            <a:off x="4612005" y="2271534"/>
            <a:ext cx="4189095" cy="931545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19050" dir="16200000">
              <a:srgbClr val="2196F3">
                <a:alpha val="6000"/>
              </a:srgbClr>
            </a:outerShdw>
          </a:effectLst>
        </p:spPr>
      </p:sp>
      <p:sp>
        <p:nvSpPr>
          <p:cNvPr id="79" name="Shape 74"/>
          <p:cNvSpPr/>
          <p:nvPr/>
        </p:nvSpPr>
        <p:spPr>
          <a:xfrm>
            <a:off x="4612005" y="2271534"/>
            <a:ext cx="22860" cy="9201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80" name="Shape 75"/>
          <p:cNvSpPr/>
          <p:nvPr/>
        </p:nvSpPr>
        <p:spPr>
          <a:xfrm>
            <a:off x="8389620" y="2100084"/>
            <a:ext cx="571500" cy="571500"/>
          </a:xfrm>
          <a:prstGeom prst="ellipse">
            <a:avLst/>
          </a:prstGeom>
          <a:gradFill rotWithShape="1">
            <a:gsLst>
              <a:gs pos="0">
                <a:srgbClr val="00BC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1" name="Shape 76"/>
          <p:cNvSpPr/>
          <p:nvPr/>
        </p:nvSpPr>
        <p:spPr>
          <a:xfrm>
            <a:off x="4720590" y="2377261"/>
            <a:ext cx="217170" cy="21717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25000"/>
              </a:srgbClr>
            </a:outerShdw>
          </a:effectLst>
        </p:spPr>
      </p:sp>
      <p:pic>
        <p:nvPicPr>
          <p:cNvPr id="8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2025" y="2428696"/>
            <a:ext cx="114300" cy="114300"/>
          </a:xfrm>
          <a:prstGeom prst="rect">
            <a:avLst/>
          </a:prstGeom>
        </p:spPr>
      </p:pic>
      <p:sp>
        <p:nvSpPr>
          <p:cNvPr id="83" name="Text 77"/>
          <p:cNvSpPr/>
          <p:nvPr/>
        </p:nvSpPr>
        <p:spPr>
          <a:xfrm>
            <a:off x="5006340" y="2368689"/>
            <a:ext cx="95692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14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健康度指标</a:t>
            </a:r>
            <a:endParaRPr lang="en-US" sz="765" dirty="0"/>
          </a:p>
        </p:txBody>
      </p:sp>
      <p:sp>
        <p:nvSpPr>
          <p:cNvPr id="84" name="Text 78"/>
          <p:cNvSpPr/>
          <p:nvPr/>
        </p:nvSpPr>
        <p:spPr>
          <a:xfrm>
            <a:off x="5006340" y="2522994"/>
            <a:ext cx="9569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· HEALTH METRICS</a:t>
            </a:r>
            <a:endParaRPr lang="en-US" sz="495" dirty="0"/>
          </a:p>
        </p:txBody>
      </p:sp>
      <p:sp>
        <p:nvSpPr>
          <p:cNvPr id="85" name="Text 79"/>
          <p:cNvSpPr/>
          <p:nvPr/>
        </p:nvSpPr>
        <p:spPr>
          <a:xfrm>
            <a:off x="4720590" y="2970193"/>
            <a:ext cx="141027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spc="14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9.2</a:t>
            </a:r>
            <a:endParaRPr lang="en-US" sz="585" dirty="0"/>
          </a:p>
        </p:txBody>
      </p:sp>
      <p:sp>
        <p:nvSpPr>
          <p:cNvPr id="86" name="Text 80"/>
          <p:cNvSpPr/>
          <p:nvPr/>
        </p:nvSpPr>
        <p:spPr>
          <a:xfrm>
            <a:off x="4720590" y="3061633"/>
            <a:ext cx="14102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spc="14" kern="0" dirty="0">
                <a:solidFill>
                  <a:srgbClr val="4A5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响应</a:t>
            </a:r>
            <a:endParaRPr lang="en-US" sz="405" dirty="0"/>
          </a:p>
        </p:txBody>
      </p:sp>
      <p:sp>
        <p:nvSpPr>
          <p:cNvPr id="87" name="Shape 81"/>
          <p:cNvSpPr/>
          <p:nvPr/>
        </p:nvSpPr>
        <p:spPr>
          <a:xfrm>
            <a:off x="6025485" y="2984480"/>
            <a:ext cx="5715" cy="137160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88" name="Text 82"/>
          <p:cNvSpPr/>
          <p:nvPr/>
        </p:nvSpPr>
        <p:spPr>
          <a:xfrm>
            <a:off x="6076920" y="2970193"/>
            <a:ext cx="141037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8.6</a:t>
            </a:r>
            <a:endParaRPr lang="en-US" sz="585" dirty="0"/>
          </a:p>
        </p:txBody>
      </p:sp>
      <p:sp>
        <p:nvSpPr>
          <p:cNvPr id="89" name="Text 83"/>
          <p:cNvSpPr/>
          <p:nvPr/>
        </p:nvSpPr>
        <p:spPr>
          <a:xfrm>
            <a:off x="6076920" y="3061633"/>
            <a:ext cx="14103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spc="14" kern="0" dirty="0">
                <a:solidFill>
                  <a:srgbClr val="4A5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</a:t>
            </a:r>
            <a:endParaRPr lang="en-US" sz="405" dirty="0"/>
          </a:p>
        </p:txBody>
      </p:sp>
      <p:sp>
        <p:nvSpPr>
          <p:cNvPr id="90" name="Shape 84"/>
          <p:cNvSpPr/>
          <p:nvPr/>
        </p:nvSpPr>
        <p:spPr>
          <a:xfrm>
            <a:off x="7381905" y="2984480"/>
            <a:ext cx="5715" cy="137160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91" name="Text 85"/>
          <p:cNvSpPr/>
          <p:nvPr/>
        </p:nvSpPr>
        <p:spPr>
          <a:xfrm>
            <a:off x="7433340" y="2970193"/>
            <a:ext cx="141027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spc="14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</a:t>
            </a:r>
            <a:endParaRPr lang="en-US" sz="585" dirty="0"/>
          </a:p>
        </p:txBody>
      </p:sp>
      <p:sp>
        <p:nvSpPr>
          <p:cNvPr id="92" name="Text 86"/>
          <p:cNvSpPr/>
          <p:nvPr/>
        </p:nvSpPr>
        <p:spPr>
          <a:xfrm>
            <a:off x="7433340" y="3061633"/>
            <a:ext cx="14102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spc="14" kern="0" dirty="0">
                <a:solidFill>
                  <a:srgbClr val="4A5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</a:t>
            </a:r>
            <a:endParaRPr lang="en-US" sz="405" dirty="0"/>
          </a:p>
        </p:txBody>
      </p:sp>
      <p:sp>
        <p:nvSpPr>
          <p:cNvPr id="93" name="Shape 87"/>
          <p:cNvSpPr/>
          <p:nvPr/>
        </p:nvSpPr>
        <p:spPr>
          <a:xfrm>
            <a:off x="4720590" y="3207365"/>
            <a:ext cx="768668" cy="131445"/>
          </a:xfrm>
          <a:prstGeom prst="roundRect">
            <a:avLst>
              <a:gd name="adj" fmla="val 86957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94" name="Text 88"/>
          <p:cNvSpPr/>
          <p:nvPr/>
        </p:nvSpPr>
        <p:spPr>
          <a:xfrm>
            <a:off x="4720590" y="3207365"/>
            <a:ext cx="860908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Chaos Butterfly</a:t>
            </a:r>
            <a:endParaRPr lang="en-US" sz="473" dirty="0"/>
          </a:p>
        </p:txBody>
      </p:sp>
      <p:sp>
        <p:nvSpPr>
          <p:cNvPr id="95" name="Shape 89"/>
          <p:cNvSpPr/>
          <p:nvPr/>
        </p:nvSpPr>
        <p:spPr>
          <a:xfrm>
            <a:off x="5523548" y="3207365"/>
            <a:ext cx="520065" cy="131445"/>
          </a:xfrm>
          <a:prstGeom prst="roundRect">
            <a:avLst>
              <a:gd name="adj" fmla="val 86957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96" name="Text 90"/>
          <p:cNvSpPr/>
          <p:nvPr/>
        </p:nvSpPr>
        <p:spPr>
          <a:xfrm>
            <a:off x="5523548" y="3207365"/>
            <a:ext cx="582473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97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CNCF 成熟度</a:t>
            </a:r>
            <a:endParaRPr lang="en-US" sz="473" dirty="0"/>
          </a:p>
        </p:txBody>
      </p:sp>
      <p:sp>
        <p:nvSpPr>
          <p:cNvPr id="97" name="Text 91"/>
          <p:cNvSpPr/>
          <p:nvPr/>
        </p:nvSpPr>
        <p:spPr>
          <a:xfrm>
            <a:off x="4720590" y="2660154"/>
            <a:ext cx="444855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Chaos Butterfly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563" b="1" spc="14" kern="0" dirty="0">
                <a:solidFill>
                  <a:srgbClr val="1565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CNCF 成熟度模型</a:t>
            </a:r>
            <a:pPr algn="l" indent="0" marL="0">
              <a:lnSpc>
                <a:spcPct val="175000"/>
              </a:lnSpc>
              <a:buNone/>
            </a:pPr>
            <a:r>
              <a:rPr lang="en-US" sz="56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等工具正在量化社区活力，从响应速度、决策透明到生态扩展形成评估闭环。</a:t>
            </a:r>
            <a:endParaRPr lang="en-US" sz="563" dirty="0"/>
          </a:p>
        </p:txBody>
      </p:sp>
      <p:sp>
        <p:nvSpPr>
          <p:cNvPr id="98" name="Shape 92"/>
          <p:cNvSpPr/>
          <p:nvPr/>
        </p:nvSpPr>
        <p:spPr>
          <a:xfrm>
            <a:off x="342900" y="3294519"/>
            <a:ext cx="84582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5715">
            <a:solidFill>
              <a:srgbClr val="DCE6F2"/>
            </a:solidFill>
            <a:prstDash val="solid"/>
          </a:ln>
        </p:spPr>
      </p:sp>
      <p:sp>
        <p:nvSpPr>
          <p:cNvPr id="99" name="Shape 93"/>
          <p:cNvSpPr/>
          <p:nvPr/>
        </p:nvSpPr>
        <p:spPr>
          <a:xfrm>
            <a:off x="342900" y="3294519"/>
            <a:ext cx="22860" cy="67437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100" name="Text 94"/>
          <p:cNvSpPr/>
          <p:nvPr/>
        </p:nvSpPr>
        <p:spPr>
          <a:xfrm>
            <a:off x="474345" y="3491686"/>
            <a:ext cx="83210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1A27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参与衰减带</a:t>
            </a:r>
            <a:endParaRPr lang="en-US" sz="675" dirty="0"/>
          </a:p>
        </p:txBody>
      </p:sp>
      <p:sp>
        <p:nvSpPr>
          <p:cNvPr id="101" name="Text 95"/>
          <p:cNvSpPr/>
          <p:nvPr/>
        </p:nvSpPr>
        <p:spPr>
          <a:xfrm>
            <a:off x="474345" y="3634561"/>
            <a:ext cx="832104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PARTICIPATION DECAY</a:t>
            </a:r>
            <a:endParaRPr lang="en-US" sz="450" dirty="0"/>
          </a:p>
        </p:txBody>
      </p:sp>
      <p:sp>
        <p:nvSpPr>
          <p:cNvPr id="102" name="Shape 96"/>
          <p:cNvSpPr/>
          <p:nvPr/>
        </p:nvSpPr>
        <p:spPr>
          <a:xfrm>
            <a:off x="1331595" y="3497401"/>
            <a:ext cx="982980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76200" dist="19050" dir="16200000">
              <a:srgbClr val="2196F3">
                <a:alpha val="25000"/>
              </a:srgbClr>
            </a:outerShdw>
          </a:effectLst>
        </p:spPr>
      </p:sp>
      <p:sp>
        <p:nvSpPr>
          <p:cNvPr id="103" name="Text 97"/>
          <p:cNvSpPr/>
          <p:nvPr/>
        </p:nvSpPr>
        <p:spPr>
          <a:xfrm>
            <a:off x="1331595" y="3497401"/>
            <a:ext cx="1100938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围观者</a:t>
            </a:r>
            <a:endParaRPr lang="en-US" sz="540" dirty="0"/>
          </a:p>
        </p:txBody>
      </p:sp>
      <p:sp>
        <p:nvSpPr>
          <p:cNvPr id="104" name="Text 98"/>
          <p:cNvSpPr/>
          <p:nvPr/>
        </p:nvSpPr>
        <p:spPr>
          <a:xfrm>
            <a:off x="1748790" y="3703141"/>
            <a:ext cx="2171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97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100%</a:t>
            </a:r>
            <a:endParaRPr lang="en-US" sz="450" dirty="0"/>
          </a:p>
        </p:txBody>
      </p:sp>
      <p:sp>
        <p:nvSpPr>
          <p:cNvPr id="105" name="Shape 99"/>
          <p:cNvSpPr/>
          <p:nvPr/>
        </p:nvSpPr>
        <p:spPr>
          <a:xfrm>
            <a:off x="2457004" y="3497401"/>
            <a:ext cx="766703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76200" dist="19050" dir="16200000">
              <a:srgbClr val="2196F3">
                <a:alpha val="25000"/>
              </a:srgbClr>
            </a:outerShdw>
          </a:effectLst>
        </p:spPr>
      </p:sp>
      <p:sp>
        <p:nvSpPr>
          <p:cNvPr id="106" name="Text 100"/>
          <p:cNvSpPr/>
          <p:nvPr/>
        </p:nvSpPr>
        <p:spPr>
          <a:xfrm>
            <a:off x="2457004" y="3497401"/>
            <a:ext cx="8587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/ Watch</a:t>
            </a:r>
            <a:endParaRPr lang="en-US" sz="540" dirty="0"/>
          </a:p>
        </p:txBody>
      </p:sp>
      <p:sp>
        <p:nvSpPr>
          <p:cNvPr id="107" name="Text 101"/>
          <p:cNvSpPr/>
          <p:nvPr/>
        </p:nvSpPr>
        <p:spPr>
          <a:xfrm>
            <a:off x="2766060" y="3703141"/>
            <a:ext cx="2171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97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~60%</a:t>
            </a:r>
            <a:endParaRPr lang="en-US" sz="450" dirty="0"/>
          </a:p>
        </p:txBody>
      </p:sp>
      <p:sp>
        <p:nvSpPr>
          <p:cNvPr id="108" name="Shape 102"/>
          <p:cNvSpPr/>
          <p:nvPr/>
        </p:nvSpPr>
        <p:spPr>
          <a:xfrm>
            <a:off x="3602057" y="3497401"/>
            <a:ext cx="511135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76200" dist="19050" dir="16200000">
              <a:srgbClr val="2196F3">
                <a:alpha val="25000"/>
              </a:srgbClr>
            </a:outerShdw>
          </a:effectLst>
        </p:spPr>
      </p:sp>
      <p:sp>
        <p:nvSpPr>
          <p:cNvPr id="109" name="Text 103"/>
          <p:cNvSpPr/>
          <p:nvPr/>
        </p:nvSpPr>
        <p:spPr>
          <a:xfrm>
            <a:off x="3602057" y="3497401"/>
            <a:ext cx="5797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4" kern="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 Issue</a:t>
            </a:r>
            <a:endParaRPr lang="en-US" sz="540" dirty="0"/>
          </a:p>
        </p:txBody>
      </p:sp>
      <p:sp>
        <p:nvSpPr>
          <p:cNvPr id="110" name="Text 104"/>
          <p:cNvSpPr/>
          <p:nvPr/>
        </p:nvSpPr>
        <p:spPr>
          <a:xfrm>
            <a:off x="3783330" y="3703141"/>
            <a:ext cx="2171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97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~15%</a:t>
            </a:r>
            <a:endParaRPr lang="en-US" sz="450" dirty="0"/>
          </a:p>
        </p:txBody>
      </p:sp>
      <p:sp>
        <p:nvSpPr>
          <p:cNvPr id="111" name="Shape 105"/>
          <p:cNvSpPr/>
          <p:nvPr/>
        </p:nvSpPr>
        <p:spPr>
          <a:xfrm>
            <a:off x="4727466" y="3497401"/>
            <a:ext cx="294858" cy="18288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76200" dist="19050" dir="16200000">
              <a:srgbClr val="2196F3">
                <a:alpha val="25000"/>
              </a:srgbClr>
            </a:outerShdw>
          </a:effectLst>
        </p:spPr>
      </p:sp>
      <p:sp>
        <p:nvSpPr>
          <p:cNvPr id="112" name="Text 106"/>
          <p:cNvSpPr/>
          <p:nvPr/>
        </p:nvSpPr>
        <p:spPr>
          <a:xfrm>
            <a:off x="4727466" y="3497401"/>
            <a:ext cx="3634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4" kern="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 PR</a:t>
            </a:r>
            <a:endParaRPr lang="en-US" sz="540" dirty="0"/>
          </a:p>
        </p:txBody>
      </p:sp>
      <p:sp>
        <p:nvSpPr>
          <p:cNvPr id="113" name="Text 107"/>
          <p:cNvSpPr/>
          <p:nvPr/>
        </p:nvSpPr>
        <p:spPr>
          <a:xfrm>
            <a:off x="4819174" y="3703141"/>
            <a:ext cx="17716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97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~5%</a:t>
            </a:r>
            <a:endParaRPr lang="en-US" sz="450" dirty="0"/>
          </a:p>
        </p:txBody>
      </p:sp>
      <p:sp>
        <p:nvSpPr>
          <p:cNvPr id="114" name="Shape 108"/>
          <p:cNvSpPr/>
          <p:nvPr/>
        </p:nvSpPr>
        <p:spPr>
          <a:xfrm>
            <a:off x="5823317" y="3497401"/>
            <a:ext cx="137606" cy="182880"/>
          </a:xfrm>
          <a:prstGeom prst="roundRect">
            <a:avLst>
              <a:gd name="adj" fmla="val 1661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76200" dist="19050" dir="16200000">
              <a:srgbClr val="2196F3">
                <a:alpha val="25000"/>
              </a:srgbClr>
            </a:outerShdw>
          </a:effectLst>
        </p:spPr>
      </p:sp>
      <p:sp>
        <p:nvSpPr>
          <p:cNvPr id="115" name="Text 109"/>
          <p:cNvSpPr/>
          <p:nvPr/>
        </p:nvSpPr>
        <p:spPr>
          <a:xfrm>
            <a:off x="5823317" y="3497401"/>
            <a:ext cx="2061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4" kern="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 Commit</a:t>
            </a:r>
            <a:endParaRPr lang="en-US" sz="540" dirty="0"/>
          </a:p>
        </p:txBody>
      </p:sp>
      <p:sp>
        <p:nvSpPr>
          <p:cNvPr id="116" name="Text 110"/>
          <p:cNvSpPr/>
          <p:nvPr/>
        </p:nvSpPr>
        <p:spPr>
          <a:xfrm>
            <a:off x="5836444" y="3703141"/>
            <a:ext cx="17716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97A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~2%</a:t>
            </a:r>
            <a:endParaRPr lang="en-US" sz="450" dirty="0"/>
          </a:p>
        </p:txBody>
      </p:sp>
      <p:sp>
        <p:nvSpPr>
          <p:cNvPr id="117" name="Shape 111"/>
          <p:cNvSpPr/>
          <p:nvPr/>
        </p:nvSpPr>
        <p:spPr>
          <a:xfrm>
            <a:off x="6497955" y="3394799"/>
            <a:ext cx="1051560" cy="485150"/>
          </a:xfrm>
          <a:prstGeom prst="roundRect">
            <a:avLst>
              <a:gd name="adj" fmla="val 9424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18" name="Text 112"/>
          <p:cNvSpPr/>
          <p:nvPr/>
        </p:nvSpPr>
        <p:spPr>
          <a:xfrm>
            <a:off x="6572250" y="3457664"/>
            <a:ext cx="1040130" cy="150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b="1" spc="14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pPr algn="l" indent="0" marL="0">
              <a:lnSpc>
                <a:spcPct val="110000"/>
              </a:lnSpc>
              <a:buNone/>
            </a:pPr>
            <a:r>
              <a:rPr lang="en-US" sz="585" b="1" spc="14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-5%</a:t>
            </a:r>
            <a:endParaRPr lang="en-US" sz="1080" dirty="0"/>
          </a:p>
        </p:txBody>
      </p:sp>
      <p:sp>
        <p:nvSpPr>
          <p:cNvPr id="119" name="Text 113"/>
          <p:cNvSpPr/>
          <p:nvPr/>
        </p:nvSpPr>
        <p:spPr>
          <a:xfrm>
            <a:off x="6572250" y="3637062"/>
            <a:ext cx="1011326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核心贡献者占比 · 大多数项目长期贡献者比例</a:t>
            </a:r>
            <a:endParaRPr lang="en-US" sz="473" dirty="0"/>
          </a:p>
        </p:txBody>
      </p:sp>
      <p:sp>
        <p:nvSpPr>
          <p:cNvPr id="120" name="Shape 114"/>
          <p:cNvSpPr/>
          <p:nvPr/>
        </p:nvSpPr>
        <p:spPr>
          <a:xfrm>
            <a:off x="7618095" y="3394799"/>
            <a:ext cx="1051560" cy="485150"/>
          </a:xfrm>
          <a:prstGeom prst="roundRect">
            <a:avLst>
              <a:gd name="adj" fmla="val 9424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21" name="Text 115"/>
          <p:cNvSpPr/>
          <p:nvPr/>
        </p:nvSpPr>
        <p:spPr>
          <a:xfrm>
            <a:off x="7692390" y="3457664"/>
            <a:ext cx="1040130" cy="150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b="1" spc="14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≈30</a:t>
            </a:r>
            <a:pPr algn="l" indent="0" marL="0">
              <a:lnSpc>
                <a:spcPct val="110000"/>
              </a:lnSpc>
              <a:buNone/>
            </a:pPr>
            <a:r>
              <a:rPr lang="en-US" sz="585" b="1" spc="14" kern="0" dirty="0">
                <a:solidFill>
                  <a:srgbClr val="0097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080" dirty="0"/>
          </a:p>
        </p:txBody>
      </p:sp>
      <p:sp>
        <p:nvSpPr>
          <p:cNvPr id="122" name="Text 116"/>
          <p:cNvSpPr/>
          <p:nvPr/>
        </p:nvSpPr>
        <p:spPr>
          <a:xfrm>
            <a:off x="7692390" y="3637062"/>
            <a:ext cx="1011326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4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首次贡献者留存 · 完成首个 PR 后持续参与比例</a:t>
            </a:r>
            <a:endParaRPr lang="en-US" sz="473" dirty="0"/>
          </a:p>
        </p:txBody>
      </p:sp>
      <p:sp>
        <p:nvSpPr>
          <p:cNvPr id="123" name="Shape 117"/>
          <p:cNvSpPr/>
          <p:nvPr/>
        </p:nvSpPr>
        <p:spPr>
          <a:xfrm>
            <a:off x="342900" y="4048899"/>
            <a:ext cx="8458200" cy="177165"/>
          </a:xfrm>
          <a:prstGeom prst="rect">
            <a:avLst/>
          </a:prstGeom>
          <a:noFill/>
          <a:ln/>
        </p:spPr>
      </p:sp>
      <p:sp>
        <p:nvSpPr>
          <p:cNvPr id="124" name="Shape 118"/>
          <p:cNvSpPr/>
          <p:nvPr/>
        </p:nvSpPr>
        <p:spPr>
          <a:xfrm>
            <a:off x="342900" y="4048899"/>
            <a:ext cx="8458200" cy="0"/>
          </a:xfrm>
          <a:prstGeom prst="line">
            <a:avLst/>
          </a:prstGeom>
          <a:noFill/>
          <a:ln w="5715">
            <a:solidFill>
              <a:srgbClr val="DCE6F2"/>
            </a:solidFill>
            <a:prstDash val="dash"/>
          </a:ln>
        </p:spPr>
      </p:sp>
      <p:sp>
        <p:nvSpPr>
          <p:cNvPr id="125" name="Shape 119"/>
          <p:cNvSpPr/>
          <p:nvPr/>
        </p:nvSpPr>
        <p:spPr>
          <a:xfrm>
            <a:off x="342900" y="4111764"/>
            <a:ext cx="617220" cy="1143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126" name="Text 120"/>
          <p:cNvSpPr/>
          <p:nvPr/>
        </p:nvSpPr>
        <p:spPr>
          <a:xfrm>
            <a:off x="342900" y="4111764"/>
            <a:ext cx="691286" cy="114300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</a:t>
            </a:r>
            <a:endParaRPr lang="en-US" sz="473" dirty="0"/>
          </a:p>
        </p:txBody>
      </p:sp>
      <p:sp>
        <p:nvSpPr>
          <p:cNvPr id="127" name="Text 121"/>
          <p:cNvSpPr/>
          <p:nvPr/>
        </p:nvSpPr>
        <p:spPr>
          <a:xfrm>
            <a:off x="1017270" y="4126051"/>
            <a:ext cx="248991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社区治理与参与 / COMMUNITY GOVERNANCE &amp; PARTICIPATION</a:t>
            </a:r>
            <a:endParaRPr lang="en-US" sz="473" dirty="0"/>
          </a:p>
        </p:txBody>
      </p:sp>
      <p:sp>
        <p:nvSpPr>
          <p:cNvPr id="128" name="Text 122"/>
          <p:cNvSpPr/>
          <p:nvPr/>
        </p:nvSpPr>
        <p:spPr>
          <a:xfrm>
            <a:off x="6823710" y="4128909"/>
            <a:ext cx="47148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P06 / GOV</a:t>
            </a:r>
            <a:endParaRPr lang="en-US" sz="473" dirty="0"/>
          </a:p>
        </p:txBody>
      </p:sp>
      <p:sp>
        <p:nvSpPr>
          <p:cNvPr id="129" name="Shape 123"/>
          <p:cNvSpPr/>
          <p:nvPr/>
        </p:nvSpPr>
        <p:spPr>
          <a:xfrm>
            <a:off x="7315200" y="4151769"/>
            <a:ext cx="34290" cy="34290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/>
        </p:spPr>
      </p:sp>
      <p:sp>
        <p:nvSpPr>
          <p:cNvPr id="130" name="Text 124"/>
          <p:cNvSpPr/>
          <p:nvPr/>
        </p:nvSpPr>
        <p:spPr>
          <a:xfrm>
            <a:off x="7429500" y="4128909"/>
            <a:ext cx="153619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4A5A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· INCLUSIVE · SUSTAINABLE</a:t>
            </a:r>
            <a:endParaRPr lang="en-US" sz="47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40000">
                <a:srgbClr val="0B1E3A"/>
              </a:gs>
              <a:gs pos="100000">
                <a:srgbClr val="0A2540"/>
              </a:gs>
            </a:gsLst>
            <a:lin ang="27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8700" y="800100"/>
            <a:ext cx="68580" cy="685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52400" dist="50800" dir="16200000">
              <a:srgbClr val="00BCD4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600200" y="1257300"/>
            <a:ext cx="45720" cy="4572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57400" y="10287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8288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58200" y="1428750"/>
            <a:ext cx="45720" cy="4572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0" y="200025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01000" y="10287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115300" y="4343400"/>
            <a:ext cx="45720" cy="4572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15250" y="462915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572500" y="41148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257300" y="44577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4114800"/>
            <a:ext cx="45720" cy="4572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7250" y="28575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86700" y="28575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62865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49149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857500" y="4572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86500" y="457200"/>
            <a:ext cx="28575" cy="28575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285750"/>
            <a:ext cx="8321040" cy="200025"/>
          </a:xfrm>
          <a:prstGeom prst="rect">
            <a:avLst/>
          </a:prstGeom>
          <a:noFill/>
          <a:ln/>
        </p:spPr>
      </p:sp>
      <p:sp>
        <p:nvSpPr>
          <p:cNvPr id="23" name="Shape 20"/>
          <p:cNvSpPr/>
          <p:nvPr/>
        </p:nvSpPr>
        <p:spPr>
          <a:xfrm>
            <a:off x="411480" y="485775"/>
            <a:ext cx="8321040" cy="0"/>
          </a:xfrm>
          <a:prstGeom prst="line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285750"/>
            <a:ext cx="154899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 SOURCE EVANGELISM</a:t>
            </a:r>
            <a:endParaRPr lang="en-US" sz="540" dirty="0"/>
          </a:p>
        </p:txBody>
      </p:sp>
      <p:sp>
        <p:nvSpPr>
          <p:cNvPr id="25" name="Shape 22"/>
          <p:cNvSpPr/>
          <p:nvPr/>
        </p:nvSpPr>
        <p:spPr>
          <a:xfrm>
            <a:off x="1863090" y="328613"/>
            <a:ext cx="137160" cy="571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068830" y="285750"/>
            <a:ext cx="5086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SECTION</a:t>
            </a:r>
            <a:endParaRPr lang="en-US" sz="540" dirty="0"/>
          </a:p>
        </p:txBody>
      </p:sp>
      <p:sp>
        <p:nvSpPr>
          <p:cNvPr id="27" name="Text 24"/>
          <p:cNvSpPr/>
          <p:nvPr/>
        </p:nvSpPr>
        <p:spPr>
          <a:xfrm>
            <a:off x="7178040" y="288608"/>
            <a:ext cx="83210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8FA9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SYS://PART.02</a:t>
            </a:r>
            <a:endParaRPr lang="en-US" sz="495" dirty="0"/>
          </a:p>
        </p:txBody>
      </p:sp>
      <p:sp>
        <p:nvSpPr>
          <p:cNvPr id="28" name="Text 25"/>
          <p:cNvSpPr/>
          <p:nvPr/>
        </p:nvSpPr>
        <p:spPr>
          <a:xfrm>
            <a:off x="8012430" y="288608"/>
            <a:ext cx="1200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8FA9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</a:t>
            </a:r>
            <a:endParaRPr lang="en-US" sz="495" dirty="0"/>
          </a:p>
        </p:txBody>
      </p:sp>
      <p:sp>
        <p:nvSpPr>
          <p:cNvPr id="29" name="Text 26"/>
          <p:cNvSpPr/>
          <p:nvPr/>
        </p:nvSpPr>
        <p:spPr>
          <a:xfrm>
            <a:off x="8161020" y="288608"/>
            <a:ext cx="6400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PG 07 / 16</a:t>
            </a:r>
            <a:endParaRPr lang="en-US" sz="495" dirty="0"/>
          </a:p>
        </p:txBody>
      </p:sp>
      <p:sp>
        <p:nvSpPr>
          <p:cNvPr id="30" name="Text 27"/>
          <p:cNvSpPr/>
          <p:nvPr/>
        </p:nvSpPr>
        <p:spPr>
          <a:xfrm>
            <a:off x="1691640" y="1328738"/>
            <a:ext cx="50292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36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PART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568643" y="1214438"/>
            <a:ext cx="4937760" cy="2491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200" b="1" spc="-540" kern="0" dirty="0">
                <a:solidFill>
                  <a:srgbClr val="E8F0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200" dirty="0"/>
          </a:p>
        </p:txBody>
      </p:sp>
      <p:sp>
        <p:nvSpPr>
          <p:cNvPr id="32" name="Shape 29"/>
          <p:cNvSpPr/>
          <p:nvPr/>
        </p:nvSpPr>
        <p:spPr>
          <a:xfrm>
            <a:off x="1325880" y="3511868"/>
            <a:ext cx="4572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3" name="Shape 30"/>
          <p:cNvSpPr/>
          <p:nvPr/>
        </p:nvSpPr>
        <p:spPr>
          <a:xfrm>
            <a:off x="1874520" y="349472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011680" y="3511868"/>
            <a:ext cx="4572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5" name="Shape 32"/>
          <p:cNvSpPr/>
          <p:nvPr/>
        </p:nvSpPr>
        <p:spPr>
          <a:xfrm>
            <a:off x="3726180" y="1143000"/>
            <a:ext cx="22860" cy="857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3863340" y="1131570"/>
            <a:ext cx="163449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70" b="1" spc="90" kern="0" dirty="0">
                <a:solidFill>
                  <a:srgbClr val="E8F0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阅读与布道</a:t>
            </a:r>
            <a:endParaRPr lang="en-US" sz="2070" dirty="0"/>
          </a:p>
        </p:txBody>
      </p:sp>
      <p:sp>
        <p:nvSpPr>
          <p:cNvPr id="37" name="Text 34"/>
          <p:cNvSpPr/>
          <p:nvPr/>
        </p:nvSpPr>
        <p:spPr>
          <a:xfrm>
            <a:off x="3863340" y="1490990"/>
            <a:ext cx="140817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READING · EVANGELISM</a:t>
            </a:r>
            <a:endParaRPr lang="en-US" sz="630" dirty="0"/>
          </a:p>
        </p:txBody>
      </p:sp>
      <p:sp>
        <p:nvSpPr>
          <p:cNvPr id="38" name="Text 35"/>
          <p:cNvSpPr/>
          <p:nvPr/>
        </p:nvSpPr>
        <p:spPr>
          <a:xfrm>
            <a:off x="3863340" y="1673870"/>
            <a:ext cx="1613002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8FA9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从开源之道文本中提炼可落地的布道实践</a:t>
            </a:r>
            <a:endParaRPr lang="en-US" sz="585" dirty="0"/>
          </a:p>
        </p:txBody>
      </p:sp>
      <p:sp>
        <p:nvSpPr>
          <p:cNvPr id="39" name="Shape 36"/>
          <p:cNvSpPr/>
          <p:nvPr/>
        </p:nvSpPr>
        <p:spPr>
          <a:xfrm>
            <a:off x="3726180" y="2160270"/>
            <a:ext cx="5006340" cy="468630"/>
          </a:xfrm>
          <a:prstGeom prst="roundRect">
            <a:avLst>
              <a:gd name="adj" fmla="val 9756"/>
            </a:avLst>
          </a:prstGeom>
          <a:solidFill>
            <a:srgbClr val="FFFFFF">
              <a:alpha val="3000"/>
            </a:srgbClr>
          </a:soli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726180" y="2160270"/>
            <a:ext cx="11430" cy="45720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1" name="Shape 38"/>
          <p:cNvSpPr/>
          <p:nvPr/>
        </p:nvSpPr>
        <p:spPr>
          <a:xfrm>
            <a:off x="3846195" y="2245995"/>
            <a:ext cx="251460" cy="25146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914775" y="2311718"/>
            <a:ext cx="21945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4200525" y="2245995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8F0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阅读视角</a:t>
            </a:r>
            <a:endParaRPr lang="en-US" sz="810" dirty="0"/>
          </a:p>
        </p:txBody>
      </p:sp>
      <p:sp>
        <p:nvSpPr>
          <p:cNvPr id="44" name="Shape 41"/>
          <p:cNvSpPr/>
          <p:nvPr/>
        </p:nvSpPr>
        <p:spPr>
          <a:xfrm>
            <a:off x="4669155" y="2260283"/>
            <a:ext cx="605790" cy="120015"/>
          </a:xfrm>
          <a:prstGeom prst="roundRect">
            <a:avLst>
              <a:gd name="adj" fmla="val 14286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69155" y="2260283"/>
            <a:ext cx="678485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PERSPECTIVE</a:t>
            </a:r>
            <a:endParaRPr lang="en-US" sz="495" dirty="0"/>
          </a:p>
        </p:txBody>
      </p:sp>
      <p:sp>
        <p:nvSpPr>
          <p:cNvPr id="46" name="Text 43"/>
          <p:cNvSpPr/>
          <p:nvPr/>
        </p:nvSpPr>
        <p:spPr>
          <a:xfrm>
            <a:off x="4200525" y="2440305"/>
            <a:ext cx="250591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spc="23" kern="0" dirty="0">
                <a:solidFill>
                  <a:srgbClr val="8FA9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以布道者身份重读协作演进，思考如何在当下语境中传递开源价值</a:t>
            </a:r>
            <a:endParaRPr lang="en-US" sz="563" dirty="0"/>
          </a:p>
        </p:txBody>
      </p:sp>
      <p:sp>
        <p:nvSpPr>
          <p:cNvPr id="47" name="Shape 44"/>
          <p:cNvSpPr/>
          <p:nvPr/>
        </p:nvSpPr>
        <p:spPr>
          <a:xfrm>
            <a:off x="3726180" y="2708910"/>
            <a:ext cx="5006340" cy="468630"/>
          </a:xfrm>
          <a:prstGeom prst="roundRect">
            <a:avLst>
              <a:gd name="adj" fmla="val 9756"/>
            </a:avLst>
          </a:prstGeom>
          <a:solidFill>
            <a:srgbClr val="FFFFFF">
              <a:alpha val="3000"/>
            </a:srgbClr>
          </a:soli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726180" y="2708910"/>
            <a:ext cx="11430" cy="45720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9" name="Shape 46"/>
          <p:cNvSpPr/>
          <p:nvPr/>
        </p:nvSpPr>
        <p:spPr>
          <a:xfrm>
            <a:off x="3846195" y="2794635"/>
            <a:ext cx="251460" cy="25146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914775" y="2860358"/>
            <a:ext cx="21945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4200525" y="2794635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8F0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方法提炼</a:t>
            </a:r>
            <a:endParaRPr lang="en-US" sz="810" dirty="0"/>
          </a:p>
        </p:txBody>
      </p:sp>
      <p:sp>
        <p:nvSpPr>
          <p:cNvPr id="52" name="Shape 49"/>
          <p:cNvSpPr/>
          <p:nvPr/>
        </p:nvSpPr>
        <p:spPr>
          <a:xfrm>
            <a:off x="4669155" y="2808923"/>
            <a:ext cx="377190" cy="120015"/>
          </a:xfrm>
          <a:prstGeom prst="roundRect">
            <a:avLst>
              <a:gd name="adj" fmla="val 14286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69155" y="2808923"/>
            <a:ext cx="440055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METHOD</a:t>
            </a:r>
            <a:endParaRPr lang="en-US" sz="495" dirty="0"/>
          </a:p>
        </p:txBody>
      </p:sp>
      <p:sp>
        <p:nvSpPr>
          <p:cNvPr id="54" name="Text 51"/>
          <p:cNvSpPr/>
          <p:nvPr/>
        </p:nvSpPr>
        <p:spPr>
          <a:xfrm>
            <a:off x="4200525" y="2988945"/>
            <a:ext cx="181462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spc="23" kern="0" dirty="0">
                <a:solidFill>
                  <a:srgbClr val="8FA9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从成功案例中抽象可复制的布道路径与关键技巧</a:t>
            </a:r>
            <a:endParaRPr lang="en-US" sz="563" dirty="0"/>
          </a:p>
        </p:txBody>
      </p:sp>
      <p:sp>
        <p:nvSpPr>
          <p:cNvPr id="55" name="Shape 52"/>
          <p:cNvSpPr/>
          <p:nvPr/>
        </p:nvSpPr>
        <p:spPr>
          <a:xfrm>
            <a:off x="3726180" y="3257550"/>
            <a:ext cx="5006340" cy="468630"/>
          </a:xfrm>
          <a:prstGeom prst="roundRect">
            <a:avLst>
              <a:gd name="adj" fmla="val 9756"/>
            </a:avLst>
          </a:prstGeom>
          <a:solidFill>
            <a:srgbClr val="FFFFFF">
              <a:alpha val="3000"/>
            </a:srgbClr>
          </a:soli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726180" y="3257550"/>
            <a:ext cx="11430" cy="45720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7" name="Shape 54"/>
          <p:cNvSpPr/>
          <p:nvPr/>
        </p:nvSpPr>
        <p:spPr>
          <a:xfrm>
            <a:off x="3846195" y="3343275"/>
            <a:ext cx="251460" cy="25146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914775" y="3408998"/>
            <a:ext cx="21945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200525" y="3343275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8F0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行动导向</a:t>
            </a:r>
            <a:endParaRPr lang="en-US" sz="810" dirty="0"/>
          </a:p>
        </p:txBody>
      </p:sp>
      <p:sp>
        <p:nvSpPr>
          <p:cNvPr id="60" name="Shape 57"/>
          <p:cNvSpPr/>
          <p:nvPr/>
        </p:nvSpPr>
        <p:spPr>
          <a:xfrm>
            <a:off x="4669155" y="3357563"/>
            <a:ext cx="377190" cy="120015"/>
          </a:xfrm>
          <a:prstGeom prst="roundRect">
            <a:avLst>
              <a:gd name="adj" fmla="val 14286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669155" y="3357563"/>
            <a:ext cx="440055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</a:t>
            </a:r>
            <a:endParaRPr lang="en-US" sz="495" dirty="0"/>
          </a:p>
        </p:txBody>
      </p:sp>
      <p:sp>
        <p:nvSpPr>
          <p:cNvPr id="62" name="Text 59"/>
          <p:cNvSpPr/>
          <p:nvPr/>
        </p:nvSpPr>
        <p:spPr>
          <a:xfrm>
            <a:off x="4200525" y="3537585"/>
            <a:ext cx="207385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spc="23" kern="0" dirty="0">
                <a:solidFill>
                  <a:srgbClr val="8FA9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让每一次分享都能转化为参与者的实际行动与社区连接</a:t>
            </a:r>
            <a:endParaRPr lang="en-US" sz="563" dirty="0"/>
          </a:p>
        </p:txBody>
      </p:sp>
      <p:sp>
        <p:nvSpPr>
          <p:cNvPr id="63" name="Shape 60"/>
          <p:cNvSpPr/>
          <p:nvPr/>
        </p:nvSpPr>
        <p:spPr>
          <a:xfrm>
            <a:off x="411480" y="4326255"/>
            <a:ext cx="8321040" cy="531495"/>
          </a:xfrm>
          <a:prstGeom prst="roundRect">
            <a:avLst>
              <a:gd name="adj" fmla="val 8602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11480" y="4326255"/>
            <a:ext cx="17145" cy="52006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554355" y="4434840"/>
            <a:ext cx="14859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OUTRO</a:t>
            </a:r>
            <a:endParaRPr lang="en-US" sz="495" dirty="0"/>
          </a:p>
        </p:txBody>
      </p:sp>
      <p:sp>
        <p:nvSpPr>
          <p:cNvPr id="66" name="Text 63"/>
          <p:cNvSpPr/>
          <p:nvPr/>
        </p:nvSpPr>
        <p:spPr>
          <a:xfrm>
            <a:off x="754380" y="4542711"/>
            <a:ext cx="492541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23" kern="0" dirty="0">
                <a:solidFill>
                  <a:srgbClr val="8FA9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第二部分从阅读回到实践，把协作演进的历史洞察转化为</a:t>
            </a:r>
            <a:pPr algn="l" indent="0" marL="0">
              <a:lnSpc>
                <a:spcPct val="170000"/>
              </a:lnSpc>
              <a:buNone/>
            </a:pPr>
            <a:r>
              <a:rPr lang="en-US" sz="563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布道者今日可用的方法论</a:t>
            </a:r>
            <a:pPr algn="l" indent="0" marL="0">
              <a:lnSpc>
                <a:spcPct val="170000"/>
              </a:lnSpc>
              <a:buNone/>
            </a:pPr>
            <a:r>
              <a:rPr lang="en-US" sz="563" spc="23" kern="0" dirty="0">
                <a:solidFill>
                  <a:srgbClr val="8FA9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，涵盖定位、叙事、传播与社群建设四个维度。</a:t>
            </a:r>
            <a:endParaRPr lang="en-US" sz="563" dirty="0"/>
          </a:p>
        </p:txBody>
      </p:sp>
      <p:sp>
        <p:nvSpPr>
          <p:cNvPr id="67" name="Shape 64"/>
          <p:cNvSpPr/>
          <p:nvPr/>
        </p:nvSpPr>
        <p:spPr>
          <a:xfrm>
            <a:off x="7298055" y="4514850"/>
            <a:ext cx="262890" cy="154305"/>
          </a:xfrm>
          <a:prstGeom prst="roundRect">
            <a:avLst>
              <a:gd name="adj" fmla="val 1111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298055" y="4514850"/>
            <a:ext cx="320040" cy="154305"/>
          </a:xfrm>
          <a:prstGeom prst="rect">
            <a:avLst/>
          </a:prstGeom>
          <a:noFill/>
          <a:ln/>
        </p:spPr>
        <p:txBody>
          <a:bodyPr wrap="none" lIns="28575" tIns="57150" rIns="57150" bIns="28575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定位</a:t>
            </a:r>
            <a:endParaRPr lang="en-US" sz="450" dirty="0"/>
          </a:p>
        </p:txBody>
      </p:sp>
      <p:sp>
        <p:nvSpPr>
          <p:cNvPr id="69" name="Shape 66"/>
          <p:cNvSpPr/>
          <p:nvPr/>
        </p:nvSpPr>
        <p:spPr>
          <a:xfrm>
            <a:off x="7595235" y="4514850"/>
            <a:ext cx="262890" cy="154305"/>
          </a:xfrm>
          <a:prstGeom prst="roundRect">
            <a:avLst>
              <a:gd name="adj" fmla="val 1111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595235" y="4514850"/>
            <a:ext cx="320040" cy="154305"/>
          </a:xfrm>
          <a:prstGeom prst="rect">
            <a:avLst/>
          </a:prstGeom>
          <a:noFill/>
          <a:ln/>
        </p:spPr>
        <p:txBody>
          <a:bodyPr wrap="none" lIns="28575" tIns="57150" rIns="57150" bIns="28575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叙事</a:t>
            </a:r>
            <a:endParaRPr lang="en-US" sz="450" dirty="0"/>
          </a:p>
        </p:txBody>
      </p:sp>
      <p:sp>
        <p:nvSpPr>
          <p:cNvPr id="71" name="Shape 68"/>
          <p:cNvSpPr/>
          <p:nvPr/>
        </p:nvSpPr>
        <p:spPr>
          <a:xfrm>
            <a:off x="7892415" y="4514850"/>
            <a:ext cx="262890" cy="154305"/>
          </a:xfrm>
          <a:prstGeom prst="roundRect">
            <a:avLst>
              <a:gd name="adj" fmla="val 1111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892415" y="4514850"/>
            <a:ext cx="320040" cy="154305"/>
          </a:xfrm>
          <a:prstGeom prst="rect">
            <a:avLst/>
          </a:prstGeom>
          <a:noFill/>
          <a:ln/>
        </p:spPr>
        <p:txBody>
          <a:bodyPr wrap="none" lIns="28575" tIns="57150" rIns="57150" bIns="28575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传播</a:t>
            </a:r>
            <a:endParaRPr lang="en-US" sz="450" dirty="0"/>
          </a:p>
        </p:txBody>
      </p:sp>
      <p:sp>
        <p:nvSpPr>
          <p:cNvPr id="73" name="Shape 70"/>
          <p:cNvSpPr/>
          <p:nvPr/>
        </p:nvSpPr>
        <p:spPr>
          <a:xfrm>
            <a:off x="8189595" y="4514850"/>
            <a:ext cx="400050" cy="154305"/>
          </a:xfrm>
          <a:prstGeom prst="roundRect">
            <a:avLst>
              <a:gd name="adj" fmla="val 1111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189595" y="4514850"/>
            <a:ext cx="457200" cy="154305"/>
          </a:xfrm>
          <a:prstGeom prst="rect">
            <a:avLst/>
          </a:prstGeom>
          <a:noFill/>
          <a:ln/>
        </p:spPr>
        <p:txBody>
          <a:bodyPr wrap="none" lIns="28575" tIns="57150" rIns="57150" bIns="28575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社群建设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EF4FC"/>
              </a:gs>
              <a:gs pos="45000">
                <a:srgbClr val="F5F7FA"/>
              </a:gs>
              <a:gs pos="100000">
                <a:srgbClr val="E8F6FA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342900" y="308610"/>
            <a:ext cx="138257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>
                    <a:alpha val="2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OPEN_SOURCE / EVANGELISM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7978140" y="308610"/>
            <a:ext cx="92171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2196F3">
                    <a:alpha val="18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METHODOLOGY · v1.0</a:t>
            </a:r>
            <a:endParaRPr lang="en-US" sz="450" dirty="0"/>
          </a:p>
        </p:txBody>
      </p:sp>
      <p:sp>
        <p:nvSpPr>
          <p:cNvPr id="5" name="Shape 3"/>
          <p:cNvSpPr/>
          <p:nvPr/>
        </p:nvSpPr>
        <p:spPr>
          <a:xfrm>
            <a:off x="8618220" y="217170"/>
            <a:ext cx="28575" cy="28575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69655" y="217170"/>
            <a:ext cx="28575" cy="28575"/>
          </a:xfrm>
          <a:prstGeom prst="ellipse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21090" y="217170"/>
            <a:ext cx="28575" cy="28575"/>
          </a:xfrm>
          <a:prstGeom prst="ellipse">
            <a:avLst/>
          </a:prstGeom>
          <a:solidFill>
            <a:srgbClr val="2196F3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2525" y="217170"/>
            <a:ext cx="28575" cy="28575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2900" y="274320"/>
            <a:ext cx="9473184" cy="45148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11430" dir="10800000">
              <a:srgbClr val="2196F3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30" b="1" spc="90" kern="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</a:t>
            </a:r>
            <a:pPr algn="l" indent="0" marL="0">
              <a:buNone/>
            </a:pPr>
            <a:r>
              <a:rPr lang="en-US" sz="243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</a:t>
            </a:r>
            <a:pPr algn="l" indent="0" marL="0">
              <a:buNone/>
            </a:pPr>
            <a:r>
              <a:rPr lang="en-US" sz="2430" b="1" spc="90" kern="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方法论</a:t>
            </a:r>
            <a:endParaRPr lang="en-US" sz="2430" dirty="0"/>
          </a:p>
        </p:txBody>
      </p:sp>
      <p:sp>
        <p:nvSpPr>
          <p:cNvPr id="10" name="Shape 8"/>
          <p:cNvSpPr/>
          <p:nvPr/>
        </p:nvSpPr>
        <p:spPr>
          <a:xfrm>
            <a:off x="342900" y="782955"/>
            <a:ext cx="1257300" cy="28575"/>
          </a:xfrm>
          <a:prstGeom prst="roundRect">
            <a:avLst>
              <a:gd name="adj" fmla="val 6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" y="868680"/>
            <a:ext cx="9473184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EVANGELISM FRAMEWORK</a:t>
            </a:r>
            <a:pPr algn="l" indent="0" marL="0">
              <a:buNone/>
            </a:pPr>
            <a:r>
              <a:rPr lang="en-US" sz="630" spc="45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定位 · 叙事 · 形式 · 长期</a:t>
            </a:r>
            <a:pPr algn="l" indent="0" marL="0">
              <a:buNone/>
            </a:pPr>
            <a:r>
              <a:rPr lang="en-US" sz="630" spc="45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四步驱动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1417320" y="916097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1765" y="916097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" y="1120140"/>
            <a:ext cx="1977390" cy="182022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57150" dir="16200000">
              <a:srgbClr val="2196F3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910" y="1120140"/>
            <a:ext cx="1805940" cy="2286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1151573" y="1297305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01</a:t>
            </a:r>
            <a:endParaRPr lang="en-US" sz="495" dirty="0"/>
          </a:p>
        </p:txBody>
      </p:sp>
      <p:sp>
        <p:nvSpPr>
          <p:cNvPr id="17" name="Shape 15"/>
          <p:cNvSpPr/>
          <p:nvPr/>
        </p:nvSpPr>
        <p:spPr>
          <a:xfrm>
            <a:off x="1125855" y="1440180"/>
            <a:ext cx="411480" cy="41148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8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196F3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25855" y="1440180"/>
            <a:ext cx="60579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◎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1045845" y="1920240"/>
            <a:ext cx="68580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定位与价值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6632" y="2143125"/>
            <a:ext cx="929416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布道不是传教，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而是</a:t>
            </a:r>
            <a:pPr algn="ctr" indent="0" marL="0">
              <a:lnSpc>
                <a:spcPct val="165000"/>
              </a:lnSpc>
              <a:buNone/>
            </a:pPr>
            <a:r>
              <a:rPr lang="en-US" sz="563" b="1" spc="9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搭桥</a:t>
            </a:r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帮助受众理解开源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如何解决他们的实际问题</a:t>
            </a:r>
            <a:endParaRPr lang="en-US" sz="563" dirty="0"/>
          </a:p>
        </p:txBody>
      </p:sp>
      <p:sp>
        <p:nvSpPr>
          <p:cNvPr id="21" name="Shape 19"/>
          <p:cNvSpPr/>
          <p:nvPr/>
        </p:nvSpPr>
        <p:spPr>
          <a:xfrm>
            <a:off x="965835" y="2683193"/>
            <a:ext cx="731520" cy="137160"/>
          </a:xfrm>
          <a:prstGeom prst="roundRect">
            <a:avLst>
              <a:gd name="adj" fmla="val 8333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835" y="2683193"/>
            <a:ext cx="819302" cy="137160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buNone/>
            </a:pPr>
            <a:r>
              <a:rPr lang="en-US" sz="473" b="1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BRIDGE VALUE</a:t>
            </a:r>
            <a:endParaRPr lang="en-US" sz="473" dirty="0"/>
          </a:p>
        </p:txBody>
      </p:sp>
      <p:sp>
        <p:nvSpPr>
          <p:cNvPr id="23" name="Text 21"/>
          <p:cNvSpPr/>
          <p:nvPr/>
        </p:nvSpPr>
        <p:spPr>
          <a:xfrm>
            <a:off x="2320290" y="1933099"/>
            <a:ext cx="342900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2503170" y="1120140"/>
            <a:ext cx="1977390" cy="182022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57150" dir="16200000">
              <a:srgbClr val="2196F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83180" y="1120140"/>
            <a:ext cx="1805940" cy="2286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3311843" y="1297305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02</a:t>
            </a:r>
            <a:endParaRPr lang="en-US" sz="495" dirty="0"/>
          </a:p>
        </p:txBody>
      </p:sp>
      <p:sp>
        <p:nvSpPr>
          <p:cNvPr id="27" name="Shape 25"/>
          <p:cNvSpPr/>
          <p:nvPr/>
        </p:nvSpPr>
        <p:spPr>
          <a:xfrm>
            <a:off x="3286125" y="1440180"/>
            <a:ext cx="411480" cy="41148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8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196F3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86125" y="1440180"/>
            <a:ext cx="60579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❋</a:t>
            </a:r>
            <a:endParaRPr lang="en-US" sz="1530" dirty="0"/>
          </a:p>
        </p:txBody>
      </p:sp>
      <p:sp>
        <p:nvSpPr>
          <p:cNvPr id="29" name="Text 27"/>
          <p:cNvSpPr/>
          <p:nvPr/>
        </p:nvSpPr>
        <p:spPr>
          <a:xfrm>
            <a:off x="3263265" y="1920240"/>
            <a:ext cx="57150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叙事框架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52358" y="2143125"/>
            <a:ext cx="760495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用故事代替说教，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以</a:t>
            </a:r>
            <a:pPr algn="ctr" indent="0" marL="0">
              <a:lnSpc>
                <a:spcPct val="165000"/>
              </a:lnSpc>
              <a:buNone/>
            </a:pPr>
            <a:r>
              <a:rPr lang="en-US" sz="563" b="1" spc="9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真实案例</a:t>
            </a:r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展示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开源带来的效率提升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与创新空间</a:t>
            </a:r>
            <a:endParaRPr lang="en-US" sz="563" dirty="0"/>
          </a:p>
        </p:txBody>
      </p:sp>
      <p:sp>
        <p:nvSpPr>
          <p:cNvPr id="31" name="Shape 29"/>
          <p:cNvSpPr/>
          <p:nvPr/>
        </p:nvSpPr>
        <p:spPr>
          <a:xfrm>
            <a:off x="3126105" y="2683193"/>
            <a:ext cx="731520" cy="137160"/>
          </a:xfrm>
          <a:prstGeom prst="roundRect">
            <a:avLst>
              <a:gd name="adj" fmla="val 8333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26105" y="2683193"/>
            <a:ext cx="819302" cy="137160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buNone/>
            </a:pPr>
            <a:r>
              <a:rPr lang="en-US" sz="473" b="1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TELL STORIES</a:t>
            </a:r>
            <a:endParaRPr lang="en-US" sz="473" dirty="0"/>
          </a:p>
        </p:txBody>
      </p:sp>
      <p:sp>
        <p:nvSpPr>
          <p:cNvPr id="33" name="Text 31"/>
          <p:cNvSpPr/>
          <p:nvPr/>
        </p:nvSpPr>
        <p:spPr>
          <a:xfrm>
            <a:off x="4480560" y="1933099"/>
            <a:ext cx="342900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60" dirty="0"/>
          </a:p>
        </p:txBody>
      </p:sp>
      <p:sp>
        <p:nvSpPr>
          <p:cNvPr id="34" name="Shape 32"/>
          <p:cNvSpPr/>
          <p:nvPr/>
        </p:nvSpPr>
        <p:spPr>
          <a:xfrm>
            <a:off x="4663440" y="1120140"/>
            <a:ext cx="1977390" cy="182022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57150" dir="16200000">
              <a:srgbClr val="2196F3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43450" y="1120140"/>
            <a:ext cx="1805940" cy="2286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6" name="Text 34"/>
          <p:cNvSpPr/>
          <p:nvPr/>
        </p:nvSpPr>
        <p:spPr>
          <a:xfrm>
            <a:off x="5472113" y="1297305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03</a:t>
            </a:r>
            <a:endParaRPr lang="en-US" sz="495" dirty="0"/>
          </a:p>
        </p:txBody>
      </p:sp>
      <p:sp>
        <p:nvSpPr>
          <p:cNvPr id="37" name="Shape 35"/>
          <p:cNvSpPr/>
          <p:nvPr/>
        </p:nvSpPr>
        <p:spPr>
          <a:xfrm>
            <a:off x="5446395" y="1440180"/>
            <a:ext cx="411480" cy="41148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8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196F3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46395" y="1440180"/>
            <a:ext cx="60579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◈</a:t>
            </a:r>
            <a:endParaRPr lang="en-US" sz="1530" dirty="0"/>
          </a:p>
        </p:txBody>
      </p:sp>
      <p:sp>
        <p:nvSpPr>
          <p:cNvPr id="39" name="Text 37"/>
          <p:cNvSpPr/>
          <p:nvPr/>
        </p:nvSpPr>
        <p:spPr>
          <a:xfrm>
            <a:off x="5423535" y="1920240"/>
            <a:ext cx="57150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内容形式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3154" y="2143125"/>
            <a:ext cx="938417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技术文章 / 演讲视频 /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meetup / 在线课程，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b="1" spc="9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多形态</a:t>
            </a:r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覆盖不同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受众偏好</a:t>
            </a:r>
            <a:endParaRPr lang="en-US" sz="563" dirty="0"/>
          </a:p>
        </p:txBody>
      </p:sp>
      <p:sp>
        <p:nvSpPr>
          <p:cNvPr id="41" name="Shape 39"/>
          <p:cNvSpPr/>
          <p:nvPr/>
        </p:nvSpPr>
        <p:spPr>
          <a:xfrm>
            <a:off x="5262086" y="2683193"/>
            <a:ext cx="780098" cy="137160"/>
          </a:xfrm>
          <a:prstGeom prst="roundRect">
            <a:avLst>
              <a:gd name="adj" fmla="val 8333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2086" y="2683193"/>
            <a:ext cx="873709" cy="137160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buNone/>
            </a:pPr>
            <a:r>
              <a:rPr lang="en-US" sz="473" b="1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MULTI FORMATS</a:t>
            </a:r>
            <a:endParaRPr lang="en-US" sz="473" dirty="0"/>
          </a:p>
        </p:txBody>
      </p:sp>
      <p:sp>
        <p:nvSpPr>
          <p:cNvPr id="43" name="Text 41"/>
          <p:cNvSpPr/>
          <p:nvPr/>
        </p:nvSpPr>
        <p:spPr>
          <a:xfrm>
            <a:off x="6640830" y="1933099"/>
            <a:ext cx="342900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60" dirty="0"/>
          </a:p>
        </p:txBody>
      </p:sp>
      <p:sp>
        <p:nvSpPr>
          <p:cNvPr id="44" name="Shape 42"/>
          <p:cNvSpPr/>
          <p:nvPr/>
        </p:nvSpPr>
        <p:spPr>
          <a:xfrm>
            <a:off x="6823710" y="1120140"/>
            <a:ext cx="1977390" cy="182022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57150" dir="16200000">
              <a:srgbClr val="2196F3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03720" y="1120140"/>
            <a:ext cx="1805940" cy="2286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6" name="Text 44"/>
          <p:cNvSpPr/>
          <p:nvPr/>
        </p:nvSpPr>
        <p:spPr>
          <a:xfrm>
            <a:off x="7632383" y="1297305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04</a:t>
            </a:r>
            <a:endParaRPr lang="en-US" sz="495" dirty="0"/>
          </a:p>
        </p:txBody>
      </p:sp>
      <p:sp>
        <p:nvSpPr>
          <p:cNvPr id="47" name="Shape 45"/>
          <p:cNvSpPr/>
          <p:nvPr/>
        </p:nvSpPr>
        <p:spPr>
          <a:xfrm>
            <a:off x="7606665" y="1440180"/>
            <a:ext cx="411480" cy="41148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8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196F3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606665" y="1440180"/>
            <a:ext cx="60579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♾</a:t>
            </a:r>
            <a:endParaRPr lang="en-US" sz="1530" dirty="0"/>
          </a:p>
        </p:txBody>
      </p:sp>
      <p:sp>
        <p:nvSpPr>
          <p:cNvPr id="49" name="Text 47"/>
          <p:cNvSpPr/>
          <p:nvPr/>
        </p:nvSpPr>
        <p:spPr>
          <a:xfrm>
            <a:off x="7583805" y="1920240"/>
            <a:ext cx="57150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长期主义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97442" y="2143125"/>
            <a:ext cx="929516" cy="353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布道是</a:t>
            </a:r>
            <a:pPr algn="ctr" indent="0" marL="0">
              <a:lnSpc>
                <a:spcPct val="165000"/>
              </a:lnSpc>
              <a:buNone/>
            </a:pPr>
            <a:r>
              <a:rPr lang="en-US" sz="563" b="1" spc="9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马拉松</a:t>
            </a:r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而非冲刺，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持续输出与社群维护</a:t>
            </a:r>
            <a:pPr algn="ctr" indent="0" marL="0">
              <a:lnSpc>
                <a:spcPct val="165000"/>
              </a:lnSpc>
              <a:buNone/>
            </a:pPr>
            <a:endParaRPr lang="en-US" sz="563" dirty="0"/>
          </a:p>
          <a:p>
            <a:pPr algn="ctr" indent="0" marL="0">
              <a:lnSpc>
                <a:spcPct val="165000"/>
              </a:lnSpc>
              <a:buNone/>
            </a:pPr>
            <a:r>
              <a:rPr lang="en-US" sz="563" spc="9" kern="0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比单次爆款更重要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7519511" y="2565321"/>
            <a:ext cx="585788" cy="137160"/>
          </a:xfrm>
          <a:prstGeom prst="roundRect">
            <a:avLst>
              <a:gd name="adj" fmla="val 8333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19511" y="2565321"/>
            <a:ext cx="656082" cy="137160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buNone/>
            </a:pPr>
            <a:r>
              <a:rPr lang="en-US" sz="473" b="1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LONG TERM</a:t>
            </a:r>
            <a:endParaRPr lang="en-US" sz="473" dirty="0"/>
          </a:p>
        </p:txBody>
      </p:sp>
      <p:sp>
        <p:nvSpPr>
          <p:cNvPr id="53" name="Shape 51"/>
          <p:cNvSpPr/>
          <p:nvPr/>
        </p:nvSpPr>
        <p:spPr>
          <a:xfrm>
            <a:off x="342900" y="3066098"/>
            <a:ext cx="4171950" cy="522923"/>
          </a:xfrm>
          <a:prstGeom prst="roundRect">
            <a:avLst>
              <a:gd name="adj" fmla="val 13115"/>
            </a:avLst>
          </a:prstGeom>
          <a:gradFill rotWithShape="1">
            <a:gsLst>
              <a:gs pos="0">
                <a:srgbClr val="FFFFFF"/>
              </a:gs>
              <a:gs pos="100000">
                <a:srgbClr val="F0F7FE"/>
              </a:gs>
            </a:gsLst>
            <a:lin ang="2700000" scaled="0"/>
          </a:gra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152400" dist="38100" dir="16200000">
              <a:srgbClr val="2196F3">
                <a:alpha val="6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4345" y="3224689"/>
            <a:ext cx="1177290" cy="205740"/>
          </a:xfrm>
          <a:prstGeom prst="rect">
            <a:avLst/>
          </a:prstGeom>
          <a:noFill/>
          <a:ln/>
          <a:effectLst>
            <a:outerShdw sx="100000" sy="100000" kx="0" ky="0" algn="bl" rotWithShape="0" blurRad="45720" dist="11430" dir="10800000">
              <a:srgbClr val="2196F3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2–3次</a:t>
            </a:r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/月</a:t>
            </a:r>
            <a:endParaRPr lang="en-US" sz="1620" dirty="0"/>
          </a:p>
        </p:txBody>
      </p:sp>
      <p:sp>
        <p:nvSpPr>
          <p:cNvPr id="55" name="Text 53"/>
          <p:cNvSpPr/>
          <p:nvPr/>
        </p:nvSpPr>
        <p:spPr>
          <a:xfrm>
            <a:off x="1548765" y="3163253"/>
            <a:ext cx="317479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布道者推荐频率</a:t>
            </a:r>
            <a:endParaRPr lang="en-US" sz="585" dirty="0"/>
          </a:p>
        </p:txBody>
      </p:sp>
      <p:sp>
        <p:nvSpPr>
          <p:cNvPr id="56" name="Text 54"/>
          <p:cNvSpPr/>
          <p:nvPr/>
        </p:nvSpPr>
        <p:spPr>
          <a:xfrm>
            <a:off x="1548765" y="3294698"/>
            <a:ext cx="3174797" cy="19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保持活跃可见度的合理节奏，</a:t>
            </a:r>
            <a:pPr algn="l" indent="0" marL="0">
              <a:lnSpc>
                <a:spcPct val="150000"/>
              </a:lnSpc>
              <a:buNone/>
            </a:pPr>
            <a:endParaRPr lang="en-US" sz="518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既不过度曝光引起疲劳，也不掉出受众视野</a:t>
            </a:r>
            <a:endParaRPr lang="en-US" sz="518" dirty="0"/>
          </a:p>
        </p:txBody>
      </p:sp>
      <p:sp>
        <p:nvSpPr>
          <p:cNvPr id="57" name="Shape 55"/>
          <p:cNvSpPr/>
          <p:nvPr/>
        </p:nvSpPr>
        <p:spPr>
          <a:xfrm>
            <a:off x="4629150" y="3066098"/>
            <a:ext cx="4171950" cy="522923"/>
          </a:xfrm>
          <a:prstGeom prst="roundRect">
            <a:avLst>
              <a:gd name="adj" fmla="val 13115"/>
            </a:avLst>
          </a:prstGeom>
          <a:gradFill rotWithShape="1">
            <a:gsLst>
              <a:gs pos="0">
                <a:srgbClr val="FFFFFF"/>
              </a:gs>
              <a:gs pos="100000">
                <a:srgbClr val="F0F7FE"/>
              </a:gs>
            </a:gsLst>
            <a:lin ang="2700000" scaled="0"/>
          </a:gradFill>
          <a:ln w="5715">
            <a:solidFill>
              <a:srgbClr val="DCE6F2"/>
            </a:solidFill>
            <a:prstDash val="solid"/>
          </a:ln>
          <a:effectLst>
            <a:outerShdw sx="100000" sy="100000" kx="0" ky="0" algn="bl" rotWithShape="0" blurRad="152400" dist="38100" dir="16200000">
              <a:srgbClr val="2196F3">
                <a:alpha val="6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60595" y="3224689"/>
            <a:ext cx="1211580" cy="205740"/>
          </a:xfrm>
          <a:prstGeom prst="rect">
            <a:avLst/>
          </a:prstGeom>
          <a:noFill/>
          <a:ln/>
          <a:effectLst>
            <a:outerShdw sx="100000" sy="100000" kx="0" ky="0" algn="bl" rotWithShape="0" blurRad="45720" dist="11430" dir="10800000">
              <a:srgbClr val="2196F3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4A60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40</a:t>
            </a:r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4A60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620" dirty="0"/>
          </a:p>
        </p:txBody>
      </p:sp>
      <p:sp>
        <p:nvSpPr>
          <p:cNvPr id="59" name="Text 57"/>
          <p:cNvSpPr/>
          <p:nvPr/>
        </p:nvSpPr>
        <p:spPr>
          <a:xfrm>
            <a:off x="5869305" y="3163253"/>
            <a:ext cx="313639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内容形式占比</a:t>
            </a:r>
            <a:endParaRPr lang="en-US" sz="585" dirty="0"/>
          </a:p>
        </p:txBody>
      </p:sp>
      <p:sp>
        <p:nvSpPr>
          <p:cNvPr id="60" name="Text 58"/>
          <p:cNvSpPr/>
          <p:nvPr/>
        </p:nvSpPr>
        <p:spPr>
          <a:xfrm>
            <a:off x="5869305" y="3294698"/>
            <a:ext cx="3136392" cy="19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图文 60% · 视频 40%，</a:t>
            </a:r>
            <a:pPr algn="l" indent="0" marL="0">
              <a:lnSpc>
                <a:spcPct val="150000"/>
              </a:lnSpc>
              <a:buNone/>
            </a:pPr>
            <a:endParaRPr lang="en-US" sz="518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607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反映当前主流社区布道内容构成</a:t>
            </a:r>
            <a:endParaRPr lang="en-US" sz="518" dirty="0"/>
          </a:p>
        </p:txBody>
      </p:sp>
      <p:sp>
        <p:nvSpPr>
          <p:cNvPr id="61" name="Shape 59"/>
          <p:cNvSpPr/>
          <p:nvPr/>
        </p:nvSpPr>
        <p:spPr>
          <a:xfrm>
            <a:off x="342900" y="3691890"/>
            <a:ext cx="8458200" cy="281464"/>
          </a:xfrm>
          <a:prstGeom prst="roundRect">
            <a:avLst>
              <a:gd name="adj" fmla="val 12183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6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14300" dist="28575" dir="16200000">
              <a:srgbClr val="2196F3">
                <a:alpha val="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42900" y="3691890"/>
            <a:ext cx="0" cy="281464"/>
          </a:xfrm>
          <a:prstGeom prst="line">
            <a:avLst/>
          </a:prstGeom>
          <a:noFill/>
          <a:ln w="22860">
            <a:solidFill>
              <a:srgbClr val="2196F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2900" y="3691890"/>
            <a:ext cx="9473184" cy="281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有效的开源布道需要回答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两个问题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14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受众为什么要关心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，以及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14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他们下一步可以做什么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；方法论的核心在于用对方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听得懂的语言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讲开源的故事，并把故事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变成行动</a:t>
            </a:r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1A2A3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563" dirty="0"/>
          </a:p>
        </p:txBody>
      </p:sp>
      <p:sp>
        <p:nvSpPr>
          <p:cNvPr id="64" name="Text 62"/>
          <p:cNvSpPr/>
          <p:nvPr/>
        </p:nvSpPr>
        <p:spPr>
          <a:xfrm>
            <a:off x="8092440" y="4920615"/>
            <a:ext cx="79369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>
                    <a:alpha val="2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/ 方法论闭环 ▸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8F0F8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274320"/>
            <a:ext cx="1468755" cy="146268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274320"/>
            <a:ext cx="0" cy="146268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" y="274320"/>
            <a:ext cx="1645006" cy="146268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13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PRACTICE · INSIGHT · 09</a:t>
            </a:r>
            <a:endParaRPr lang="en-US" sz="495" dirty="0"/>
          </a:p>
        </p:txBody>
      </p:sp>
      <p:sp>
        <p:nvSpPr>
          <p:cNvPr id="6" name="Shape 4"/>
          <p:cNvSpPr/>
          <p:nvPr/>
        </p:nvSpPr>
        <p:spPr>
          <a:xfrm>
            <a:off x="342900" y="569178"/>
            <a:ext cx="34290" cy="2057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468630" y="489168"/>
            <a:ext cx="20345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-22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实践中的协作启示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81010" y="745272"/>
            <a:ext cx="806501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90" kern="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P.09 / CONTENT</a:t>
            </a:r>
            <a:endParaRPr lang="en-US" sz="540" dirty="0"/>
          </a:p>
        </p:txBody>
      </p:sp>
      <p:sp>
        <p:nvSpPr>
          <p:cNvPr id="9" name="Text 7"/>
          <p:cNvSpPr/>
          <p:nvPr/>
        </p:nvSpPr>
        <p:spPr>
          <a:xfrm>
            <a:off x="342900" y="934938"/>
            <a:ext cx="8577072" cy="13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从协作演进的视角回看当下，最成功的社区都在做同一件事：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1A233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让贡献变得容易、让反馈变得及时、让参与者感到归属</a:t>
            </a:r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。以下四条启示是布道者可以立刻践行的起点——它们不是理论，而是已经被验证的工程实践。</a:t>
            </a:r>
            <a:endParaRPr lang="en-US" sz="585" dirty="0"/>
          </a:p>
        </p:txBody>
      </p:sp>
      <p:sp>
        <p:nvSpPr>
          <p:cNvPr id="10" name="Shape 8"/>
          <p:cNvSpPr/>
          <p:nvPr/>
        </p:nvSpPr>
        <p:spPr>
          <a:xfrm>
            <a:off x="342900" y="1202115"/>
            <a:ext cx="4457700" cy="760095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5715">
            <a:solidFill>
              <a:srgbClr val="E3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" y="1202115"/>
            <a:ext cx="22860" cy="74866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511493" y="1482685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6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40105" y="1445002"/>
            <a:ext cx="5715" cy="274320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14" name="Text 12"/>
          <p:cNvSpPr/>
          <p:nvPr/>
        </p:nvSpPr>
        <p:spPr>
          <a:xfrm>
            <a:off x="948690" y="1388388"/>
            <a:ext cx="6400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2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降低参与门槛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948690" y="1551801"/>
            <a:ext cx="413491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good first issue、贡献者指南、代码注释规范等，是吸引新人的第一道门。把"我不知道从哪里开始"变成"我可以马上动手"。</a:t>
            </a:r>
            <a:endParaRPr lang="en-US" sz="518" dirty="0"/>
          </a:p>
        </p:txBody>
      </p:sp>
      <p:sp>
        <p:nvSpPr>
          <p:cNvPr id="16" name="Shape 14"/>
          <p:cNvSpPr/>
          <p:nvPr/>
        </p:nvSpPr>
        <p:spPr>
          <a:xfrm>
            <a:off x="948690" y="1676460"/>
            <a:ext cx="462915" cy="109657"/>
          </a:xfrm>
          <a:prstGeom prst="roundRect">
            <a:avLst>
              <a:gd name="adj" fmla="val 20847"/>
            </a:avLst>
          </a:prstGeom>
          <a:solidFill>
            <a:srgbClr val="00BCD4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48690" y="1676460"/>
            <a:ext cx="518465" cy="109657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ONBOARDING</a:t>
            </a:r>
            <a:endParaRPr lang="en-US" sz="428" dirty="0"/>
          </a:p>
        </p:txBody>
      </p:sp>
      <p:sp>
        <p:nvSpPr>
          <p:cNvPr id="18" name="Shape 16"/>
          <p:cNvSpPr/>
          <p:nvPr/>
        </p:nvSpPr>
        <p:spPr>
          <a:xfrm>
            <a:off x="342900" y="2030790"/>
            <a:ext cx="4457700" cy="760095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5715">
            <a:solidFill>
              <a:srgbClr val="E3EA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" y="2030790"/>
            <a:ext cx="22860" cy="74866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494348" y="2311360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6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840105" y="2273677"/>
            <a:ext cx="5715" cy="274320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22" name="Text 20"/>
          <p:cNvSpPr/>
          <p:nvPr/>
        </p:nvSpPr>
        <p:spPr>
          <a:xfrm>
            <a:off x="948690" y="2217063"/>
            <a:ext cx="6400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2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建立反馈闭环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948690" y="2380476"/>
            <a:ext cx="361645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及时回复 Issue、致谢 PR 作者、公开复盘决策，让贡献者感到被看见。反馈不是结束，而是下一次参与的开始。</a:t>
            </a:r>
            <a:endParaRPr lang="en-US" sz="518" dirty="0"/>
          </a:p>
        </p:txBody>
      </p:sp>
      <p:sp>
        <p:nvSpPr>
          <p:cNvPr id="24" name="Shape 22"/>
          <p:cNvSpPr/>
          <p:nvPr/>
        </p:nvSpPr>
        <p:spPr>
          <a:xfrm>
            <a:off x="948690" y="2505135"/>
            <a:ext cx="388620" cy="109657"/>
          </a:xfrm>
          <a:prstGeom prst="roundRect">
            <a:avLst>
              <a:gd name="adj" fmla="val 20847"/>
            </a:avLst>
          </a:prstGeom>
          <a:solidFill>
            <a:srgbClr val="00BCD4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48690" y="2505135"/>
            <a:ext cx="442913" cy="109657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FEEDBACK</a:t>
            </a:r>
            <a:endParaRPr lang="en-US" sz="428" dirty="0"/>
          </a:p>
        </p:txBody>
      </p:sp>
      <p:sp>
        <p:nvSpPr>
          <p:cNvPr id="26" name="Shape 24"/>
          <p:cNvSpPr/>
          <p:nvPr/>
        </p:nvSpPr>
        <p:spPr>
          <a:xfrm>
            <a:off x="342900" y="2859465"/>
            <a:ext cx="4457700" cy="760095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5715">
            <a:solidFill>
              <a:srgbClr val="E3EA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" y="2859465"/>
            <a:ext cx="22860" cy="74866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8" name="Text 26"/>
          <p:cNvSpPr/>
          <p:nvPr/>
        </p:nvSpPr>
        <p:spPr>
          <a:xfrm>
            <a:off x="494348" y="3140035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6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840105" y="3102352"/>
            <a:ext cx="5715" cy="274320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30" name="Text 28"/>
          <p:cNvSpPr/>
          <p:nvPr/>
        </p:nvSpPr>
        <p:spPr>
          <a:xfrm>
            <a:off x="948690" y="3045738"/>
            <a:ext cx="5486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2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跨项目流动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948690" y="3209151"/>
            <a:ext cx="32388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鼓励贡献者在多个项目间流动，形成技能互补与社区网络效应。健康的生态不是孤岛，而是互联的节点。</a:t>
            </a:r>
            <a:endParaRPr lang="en-US" sz="518" dirty="0"/>
          </a:p>
        </p:txBody>
      </p:sp>
      <p:sp>
        <p:nvSpPr>
          <p:cNvPr id="32" name="Shape 30"/>
          <p:cNvSpPr/>
          <p:nvPr/>
        </p:nvSpPr>
        <p:spPr>
          <a:xfrm>
            <a:off x="948690" y="3333810"/>
            <a:ext cx="351473" cy="109657"/>
          </a:xfrm>
          <a:prstGeom prst="roundRect">
            <a:avLst>
              <a:gd name="adj" fmla="val 20847"/>
            </a:avLst>
          </a:prstGeom>
          <a:solidFill>
            <a:srgbClr val="00BCD4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48690" y="3333810"/>
            <a:ext cx="405765" cy="109657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NETWORK</a:t>
            </a:r>
            <a:endParaRPr lang="en-US" sz="428" dirty="0"/>
          </a:p>
        </p:txBody>
      </p:sp>
      <p:sp>
        <p:nvSpPr>
          <p:cNvPr id="34" name="Shape 32"/>
          <p:cNvSpPr/>
          <p:nvPr/>
        </p:nvSpPr>
        <p:spPr>
          <a:xfrm>
            <a:off x="342900" y="3688140"/>
            <a:ext cx="4457700" cy="760095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5715">
            <a:solidFill>
              <a:srgbClr val="E3EA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" y="3688140"/>
            <a:ext cx="22860" cy="74866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6" name="Text 34"/>
          <p:cNvSpPr/>
          <p:nvPr/>
        </p:nvSpPr>
        <p:spPr>
          <a:xfrm>
            <a:off x="491490" y="3968710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6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60" dirty="0"/>
          </a:p>
        </p:txBody>
      </p:sp>
      <p:sp>
        <p:nvSpPr>
          <p:cNvPr id="37" name="Shape 35"/>
          <p:cNvSpPr/>
          <p:nvPr/>
        </p:nvSpPr>
        <p:spPr>
          <a:xfrm>
            <a:off x="840105" y="3931027"/>
            <a:ext cx="5715" cy="274320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38" name="Text 36"/>
          <p:cNvSpPr/>
          <p:nvPr/>
        </p:nvSpPr>
        <p:spPr>
          <a:xfrm>
            <a:off x="948690" y="3874413"/>
            <a:ext cx="5486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2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包容与多元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948690" y="4037826"/>
            <a:ext cx="355884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Code of Conduct、无障碍设计、多语言支持共同构建友善的协作环境。多样性不是口号，是持续投入的工程。</a:t>
            </a:r>
            <a:endParaRPr lang="en-US" sz="518" dirty="0"/>
          </a:p>
        </p:txBody>
      </p:sp>
      <p:sp>
        <p:nvSpPr>
          <p:cNvPr id="40" name="Shape 38"/>
          <p:cNvSpPr/>
          <p:nvPr/>
        </p:nvSpPr>
        <p:spPr>
          <a:xfrm>
            <a:off x="948690" y="4162485"/>
            <a:ext cx="425768" cy="109657"/>
          </a:xfrm>
          <a:prstGeom prst="roundRect">
            <a:avLst>
              <a:gd name="adj" fmla="val 20847"/>
            </a:avLst>
          </a:prstGeom>
          <a:solidFill>
            <a:srgbClr val="00BCD4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48690" y="4162485"/>
            <a:ext cx="480060" cy="109657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28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INCLUSION</a:t>
            </a:r>
            <a:endParaRPr lang="en-US" sz="428" dirty="0"/>
          </a:p>
        </p:txBody>
      </p:sp>
      <p:sp>
        <p:nvSpPr>
          <p:cNvPr id="42" name="Shape 40"/>
          <p:cNvSpPr/>
          <p:nvPr/>
        </p:nvSpPr>
        <p:spPr>
          <a:xfrm>
            <a:off x="4960620" y="1202115"/>
            <a:ext cx="3840480" cy="3758148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5715">
            <a:solidFill>
              <a:srgbClr val="E3EA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69205" y="1299270"/>
            <a:ext cx="34290" cy="3429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4" name="Text 42"/>
          <p:cNvSpPr/>
          <p:nvPr/>
        </p:nvSpPr>
        <p:spPr>
          <a:xfrm>
            <a:off x="5149215" y="1299270"/>
            <a:ext cx="640080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反馈闭环流程图</a:t>
            </a:r>
            <a:endParaRPr lang="en-US" sz="630" dirty="0"/>
          </a:p>
        </p:txBody>
      </p:sp>
      <p:sp>
        <p:nvSpPr>
          <p:cNvPr id="45" name="Text 43"/>
          <p:cNvSpPr/>
          <p:nvPr/>
        </p:nvSpPr>
        <p:spPr>
          <a:xfrm>
            <a:off x="5069205" y="1455807"/>
            <a:ext cx="182302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 → Review → Merge → Feedback，循环不息</a:t>
            </a:r>
            <a:endParaRPr lang="en-US" sz="495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9205" y="1584930"/>
            <a:ext cx="3623310" cy="3278178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4960620" y="5040273"/>
            <a:ext cx="1880235" cy="67437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5715">
            <a:solidFill>
              <a:srgbClr val="E3EAF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29375" y="5040273"/>
            <a:ext cx="400050" cy="400050"/>
          </a:xfrm>
          <a:prstGeom prst="rect">
            <a:avLst/>
          </a:prstGeom>
          <a:solidFill>
            <a:srgbClr val="2196F3">
              <a:alpha val="1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5069205" y="5131713"/>
            <a:ext cx="12001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68" kern="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 CONTRIBUTOR RETENTION</a:t>
            </a:r>
            <a:endParaRPr lang="en-US" sz="450" dirty="0"/>
          </a:p>
        </p:txBody>
      </p:sp>
      <p:sp>
        <p:nvSpPr>
          <p:cNvPr id="50" name="Text 47"/>
          <p:cNvSpPr/>
          <p:nvPr/>
        </p:nvSpPr>
        <p:spPr>
          <a:xfrm>
            <a:off x="5069205" y="5234583"/>
            <a:ext cx="6286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+40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350" dirty="0"/>
          </a:p>
        </p:txBody>
      </p:sp>
      <p:sp>
        <p:nvSpPr>
          <p:cNvPr id="51" name="Text 48"/>
          <p:cNvSpPr/>
          <p:nvPr/>
        </p:nvSpPr>
        <p:spPr>
          <a:xfrm>
            <a:off x="5069205" y="5463183"/>
            <a:ext cx="184343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带有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good first issue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标签的项目，新人留存率较无标签项目提升 40%</a:t>
            </a:r>
            <a:endParaRPr lang="en-US" sz="450" dirty="0"/>
          </a:p>
        </p:txBody>
      </p:sp>
      <p:sp>
        <p:nvSpPr>
          <p:cNvPr id="52" name="Shape 49"/>
          <p:cNvSpPr/>
          <p:nvPr/>
        </p:nvSpPr>
        <p:spPr>
          <a:xfrm>
            <a:off x="6920865" y="5040273"/>
            <a:ext cx="1880235" cy="67437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5715">
            <a:solidFill>
              <a:srgbClr val="E3EAF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389620" y="5040273"/>
            <a:ext cx="400050" cy="400050"/>
          </a:xfrm>
          <a:prstGeom prst="rect">
            <a:avLst/>
          </a:prstGeom>
          <a:solidFill>
            <a:srgbClr val="2196F3">
              <a:alpha val="10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7029450" y="5174575"/>
            <a:ext cx="96012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68" kern="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 AVG RESPONSE TIME</a:t>
            </a:r>
            <a:endParaRPr lang="en-US" sz="450" dirty="0"/>
          </a:p>
        </p:txBody>
      </p:sp>
      <p:sp>
        <p:nvSpPr>
          <p:cNvPr id="55" name="Text 52"/>
          <p:cNvSpPr/>
          <p:nvPr/>
        </p:nvSpPr>
        <p:spPr>
          <a:xfrm>
            <a:off x="7029450" y="5277445"/>
            <a:ext cx="565785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&lt;72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1350" dirty="0"/>
          </a:p>
        </p:txBody>
      </p:sp>
      <p:sp>
        <p:nvSpPr>
          <p:cNvPr id="56" name="Text 53"/>
          <p:cNvSpPr/>
          <p:nvPr/>
        </p:nvSpPr>
        <p:spPr>
          <a:xfrm>
            <a:off x="7029450" y="5506045"/>
            <a:ext cx="1715414" cy="74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健康社区 PR 平均响应时间应小于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72 小时</a:t>
            </a:r>
            <a:pPr algn="l" indent="0" marL="0">
              <a:lnSpc>
                <a:spcPct val="150000"/>
              </a:lnSpc>
              <a:buNone/>
            </a:pPr>
            <a:r>
              <a:rPr lang="en-US" sz="45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，是业界参考线</a:t>
            </a:r>
            <a:endParaRPr lang="en-US" sz="450" dirty="0"/>
          </a:p>
        </p:txBody>
      </p:sp>
      <p:sp>
        <p:nvSpPr>
          <p:cNvPr id="57" name="Shape 54"/>
          <p:cNvSpPr/>
          <p:nvPr/>
        </p:nvSpPr>
        <p:spPr>
          <a:xfrm>
            <a:off x="342900" y="4551105"/>
            <a:ext cx="8458200" cy="195382"/>
          </a:xfrm>
          <a:prstGeom prst="rect">
            <a:avLst/>
          </a:prstGeom>
          <a:noFill/>
          <a:ln/>
        </p:spPr>
      </p:sp>
      <p:sp>
        <p:nvSpPr>
          <p:cNvPr id="58" name="Shape 55"/>
          <p:cNvSpPr/>
          <p:nvPr/>
        </p:nvSpPr>
        <p:spPr>
          <a:xfrm>
            <a:off x="342900" y="4551105"/>
            <a:ext cx="8458200" cy="0"/>
          </a:xfrm>
          <a:prstGeom prst="line">
            <a:avLst/>
          </a:prstGeom>
          <a:noFill/>
          <a:ln w="5715">
            <a:solidFill>
              <a:srgbClr val="E3EAF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42900" y="4674513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60" name="Text 57"/>
          <p:cNvSpPr/>
          <p:nvPr/>
        </p:nvSpPr>
        <p:spPr>
          <a:xfrm>
            <a:off x="434340" y="4636830"/>
            <a:ext cx="1920240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让贡献变得容易，让反馈变得及时，让参与者感到归属。</a:t>
            </a:r>
            <a:endParaRPr lang="en-US" sz="540" dirty="0"/>
          </a:p>
        </p:txBody>
      </p:sp>
      <p:sp>
        <p:nvSpPr>
          <p:cNvPr id="61" name="Text 58"/>
          <p:cNvSpPr/>
          <p:nvPr/>
        </p:nvSpPr>
        <p:spPr>
          <a:xfrm>
            <a:off x="7520940" y="4645938"/>
            <a:ext cx="143377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90" kern="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COLLABORATION · INSIGHT · 09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318897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2196F3">
                  <a:alpha val="176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5029200" y="-205740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00BCD4">
                  <a:alpha val="12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371600" y="-2314575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2196F3">
                  <a:alpha val="112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-914400" y="25717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14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7000">
                <a:srgbClr val="000000">
                  <a:alpha val="0"/>
                </a:srgbClr>
              </a:gs>
              <a:gs pos="33000">
                <a:srgbClr val="000000"/>
              </a:gs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83000">
                <a:srgbClr val="000000">
                  <a:alpha val="6000"/>
                </a:srgbClr>
              </a:gs>
              <a:gs pos="100000">
                <a:srgbClr val="1A2332">
                  <a:alpha val="6000"/>
                </a:srgbClr>
              </a:gs>
            </a:gsLst>
            <a:lin ang="1620000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731520" y="617220"/>
            <a:ext cx="28575" cy="28575"/>
          </a:xfrm>
          <a:prstGeom prst="ellipse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1131570"/>
            <a:ext cx="22860" cy="22860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4011930"/>
            <a:ext cx="34290" cy="34290"/>
          </a:xfrm>
          <a:prstGeom prst="ellipse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4217670"/>
            <a:ext cx="22860" cy="22860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571750"/>
            <a:ext cx="17145" cy="17145"/>
          </a:xfrm>
          <a:prstGeom prst="ellipse">
            <a:avLst/>
          </a:prstGeom>
          <a:solidFill>
            <a:srgbClr val="00BCD4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2314575"/>
            <a:ext cx="17145" cy="17145"/>
          </a:xfrm>
          <a:prstGeom prst="ellipse">
            <a:avLst/>
          </a:prstGeom>
          <a:solidFill>
            <a:srgbClr val="00BCD4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00475" y="314325"/>
            <a:ext cx="205740" cy="5715"/>
          </a:xfrm>
          <a:prstGeom prst="rect">
            <a:avLst/>
          </a:prstGeom>
          <a:solidFill>
            <a:srgbClr val="2196F3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00475" y="314325"/>
            <a:ext cx="205740" cy="5715"/>
          </a:xfrm>
          <a:prstGeom prst="rect">
            <a:avLst/>
          </a:prstGeom>
          <a:solidFill>
            <a:srgbClr val="2196F3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063365" y="314325"/>
            <a:ext cx="113934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18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THANK YOU · 致谢</a:t>
            </a:r>
            <a:endParaRPr lang="en-US" sz="585" dirty="0"/>
          </a:p>
        </p:txBody>
      </p:sp>
      <p:sp>
        <p:nvSpPr>
          <p:cNvPr id="16" name="Text 14"/>
          <p:cNvSpPr/>
          <p:nvPr/>
        </p:nvSpPr>
        <p:spPr>
          <a:xfrm>
            <a:off x="2823210" y="457200"/>
            <a:ext cx="4046220" cy="6629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20" b="1" spc="27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共建开源未来</a:t>
            </a:r>
            <a:endParaRPr lang="en-US" sz="4320" dirty="0"/>
          </a:p>
        </p:txBody>
      </p:sp>
      <p:sp>
        <p:nvSpPr>
          <p:cNvPr id="17" name="Text 15"/>
          <p:cNvSpPr/>
          <p:nvPr/>
        </p:nvSpPr>
        <p:spPr>
          <a:xfrm>
            <a:off x="3460433" y="1181844"/>
            <a:ext cx="2489911" cy="131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5" spc="90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从阅读到实践</a:t>
            </a:r>
            <a:pPr algn="ctr" indent="0" marL="0">
              <a:buNone/>
            </a:pPr>
            <a:r>
              <a:rPr lang="en-US" sz="85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buNone/>
            </a:pPr>
            <a:r>
              <a:rPr lang="en-US" sz="855" spc="90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从参与到布道</a:t>
            </a:r>
            <a:pPr algn="ctr" indent="0" marL="0">
              <a:buNone/>
            </a:pPr>
            <a:r>
              <a:rPr lang="en-US" sz="85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ctr" indent="0" marL="0">
              <a:buNone/>
            </a:pPr>
            <a:r>
              <a:rPr lang="en-US" sz="855" spc="90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与你同行</a:t>
            </a:r>
            <a:endParaRPr lang="en-US" sz="855" dirty="0"/>
          </a:p>
        </p:txBody>
      </p:sp>
      <p:sp>
        <p:nvSpPr>
          <p:cNvPr id="18" name="Shape 16"/>
          <p:cNvSpPr/>
          <p:nvPr/>
        </p:nvSpPr>
        <p:spPr>
          <a:xfrm>
            <a:off x="457200" y="1439019"/>
            <a:ext cx="2644080" cy="998875"/>
          </a:xfrm>
          <a:prstGeom prst="roundRect">
            <a:avLst>
              <a:gd name="adj" fmla="val 8010"/>
            </a:avLst>
          </a:prstGeom>
          <a:solidFill>
            <a:srgbClr val="FFFFFF">
              <a:alpha val="72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439019"/>
            <a:ext cx="17145" cy="98744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2804099" y="1267569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1" name="Text 19"/>
          <p:cNvSpPr/>
          <p:nvPr/>
        </p:nvSpPr>
        <p:spPr>
          <a:xfrm>
            <a:off x="600075" y="1570464"/>
            <a:ext cx="76809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SUMMARY</a:t>
            </a:r>
            <a:endParaRPr lang="en-US" sz="495" dirty="0"/>
          </a:p>
        </p:txBody>
      </p:sp>
      <p:sp>
        <p:nvSpPr>
          <p:cNvPr id="22" name="Text 20"/>
          <p:cNvSpPr/>
          <p:nvPr/>
        </p:nvSpPr>
        <p:spPr>
          <a:xfrm>
            <a:off x="600075" y="1719054"/>
            <a:ext cx="6515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总结要点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600075" y="1930509"/>
            <a:ext cx="18288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4" name="Text 22"/>
          <p:cNvSpPr/>
          <p:nvPr/>
        </p:nvSpPr>
        <p:spPr>
          <a:xfrm>
            <a:off x="600075" y="2033379"/>
            <a:ext cx="2598725" cy="24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协作演进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治理健康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布道方法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实践启示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——四块拼图共同指向同一愿景：让开源成为可持续的社会协作范式。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3249870" y="1439019"/>
            <a:ext cx="2644170" cy="998875"/>
          </a:xfrm>
          <a:prstGeom prst="roundRect">
            <a:avLst>
              <a:gd name="adj" fmla="val 8010"/>
            </a:avLst>
          </a:prstGeom>
          <a:solidFill>
            <a:srgbClr val="FFFFFF">
              <a:alpha val="72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9870" y="1439019"/>
            <a:ext cx="17145" cy="98744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7" name="Shape 25"/>
          <p:cNvSpPr/>
          <p:nvPr/>
        </p:nvSpPr>
        <p:spPr>
          <a:xfrm>
            <a:off x="5596861" y="1267569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8" name="Text 26"/>
          <p:cNvSpPr/>
          <p:nvPr/>
        </p:nvSpPr>
        <p:spPr>
          <a:xfrm>
            <a:off x="3392745" y="1570464"/>
            <a:ext cx="70408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ACTION</a:t>
            </a:r>
            <a:endParaRPr lang="en-US" sz="495" dirty="0"/>
          </a:p>
        </p:txBody>
      </p:sp>
      <p:sp>
        <p:nvSpPr>
          <p:cNvPr id="29" name="Text 27"/>
          <p:cNvSpPr/>
          <p:nvPr/>
        </p:nvSpPr>
        <p:spPr>
          <a:xfrm>
            <a:off x="3392745" y="1719054"/>
            <a:ext cx="78295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下一步行动</a:t>
            </a:r>
            <a:endParaRPr lang="en-US" sz="990" dirty="0"/>
          </a:p>
        </p:txBody>
      </p:sp>
      <p:sp>
        <p:nvSpPr>
          <p:cNvPr id="30" name="Shape 28"/>
          <p:cNvSpPr/>
          <p:nvPr/>
        </p:nvSpPr>
        <p:spPr>
          <a:xfrm>
            <a:off x="3392745" y="1930509"/>
            <a:ext cx="18288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1" name="Text 29"/>
          <p:cNvSpPr/>
          <p:nvPr/>
        </p:nvSpPr>
        <p:spPr>
          <a:xfrm>
            <a:off x="3392745" y="2033379"/>
            <a:ext cx="2598725" cy="24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选一个项目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贡献代码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、办一次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主题分享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、写一篇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实践文章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——从最小的闭环开始，让改变真正发生。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6042630" y="1439019"/>
            <a:ext cx="2644080" cy="998875"/>
          </a:xfrm>
          <a:prstGeom prst="roundRect">
            <a:avLst>
              <a:gd name="adj" fmla="val 8010"/>
            </a:avLst>
          </a:prstGeom>
          <a:solidFill>
            <a:srgbClr val="FFFFFF">
              <a:alpha val="72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42630" y="1439019"/>
            <a:ext cx="17145" cy="98744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4" name="Shape 32"/>
          <p:cNvSpPr/>
          <p:nvPr/>
        </p:nvSpPr>
        <p:spPr>
          <a:xfrm>
            <a:off x="8389529" y="1267569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5" name="Text 33"/>
          <p:cNvSpPr/>
          <p:nvPr/>
        </p:nvSpPr>
        <p:spPr>
          <a:xfrm>
            <a:off x="6185505" y="1570464"/>
            <a:ext cx="76809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CONNECT</a:t>
            </a:r>
            <a:endParaRPr lang="en-US" sz="495" dirty="0"/>
          </a:p>
        </p:txBody>
      </p:sp>
      <p:sp>
        <p:nvSpPr>
          <p:cNvPr id="36" name="Text 34"/>
          <p:cNvSpPr/>
          <p:nvPr/>
        </p:nvSpPr>
        <p:spPr>
          <a:xfrm>
            <a:off x="6185505" y="1719054"/>
            <a:ext cx="6515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持续连接</a:t>
            </a:r>
            <a:endParaRPr lang="en-US" sz="990" dirty="0"/>
          </a:p>
        </p:txBody>
      </p:sp>
      <p:sp>
        <p:nvSpPr>
          <p:cNvPr id="37" name="Shape 35"/>
          <p:cNvSpPr/>
          <p:nvPr/>
        </p:nvSpPr>
        <p:spPr>
          <a:xfrm>
            <a:off x="6185505" y="1930509"/>
            <a:ext cx="18288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8" name="Text 36"/>
          <p:cNvSpPr/>
          <p:nvPr/>
        </p:nvSpPr>
        <p:spPr>
          <a:xfrm>
            <a:off x="6185505" y="2033379"/>
            <a:ext cx="2598725" cy="24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欢迎加入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开源之道社区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，在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月度分享会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中继续这场关于协作的对话——故事才刚刚开始。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4017645" y="2577911"/>
            <a:ext cx="457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40" name="Shape 38"/>
          <p:cNvSpPr/>
          <p:nvPr/>
        </p:nvSpPr>
        <p:spPr>
          <a:xfrm>
            <a:off x="4554855" y="2563624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9155" y="2577911"/>
            <a:ext cx="4572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2" name="Text 40"/>
          <p:cNvSpPr/>
          <p:nvPr/>
        </p:nvSpPr>
        <p:spPr>
          <a:xfrm>
            <a:off x="1223010" y="2712214"/>
            <a:ext cx="7501738" cy="28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10000"/>
              </a:lnSpc>
              <a:buNone/>
            </a:pPr>
            <a:r>
              <a:rPr lang="en-US" sz="675" spc="23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开源协作的故事仍在书写。</a:t>
            </a:r>
            <a:pPr algn="ctr" indent="0" marL="0">
              <a:lnSpc>
                <a:spcPct val="210000"/>
              </a:lnSpc>
              <a:buNone/>
            </a:pPr>
            <a:r>
              <a:rPr lang="en-US" sz="675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每一次 PR</a:t>
            </a:r>
            <a:pPr algn="ctr" indent="0" marL="0">
              <a:lnSpc>
                <a:spcPct val="210000"/>
              </a:lnSpc>
              <a:buNone/>
            </a:pPr>
            <a:r>
              <a:rPr lang="en-US" sz="675" spc="23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ctr" indent="0" marL="0">
              <a:lnSpc>
                <a:spcPct val="210000"/>
              </a:lnSpc>
              <a:buNone/>
            </a:pPr>
            <a:r>
              <a:rPr lang="en-US" sz="675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每一篇分享</a:t>
            </a:r>
            <a:pPr algn="ctr" indent="0" marL="0">
              <a:lnSpc>
                <a:spcPct val="210000"/>
              </a:lnSpc>
              <a:buNone/>
            </a:pPr>
            <a:r>
              <a:rPr lang="en-US" sz="675" spc="23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ctr" indent="0" marL="0">
              <a:lnSpc>
                <a:spcPct val="210000"/>
              </a:lnSpc>
              <a:buNone/>
            </a:pPr>
            <a:r>
              <a:rPr lang="en-US" sz="675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每一场 meetup</a:t>
            </a:r>
            <a:pPr algn="ctr" indent="0" marL="0">
              <a:lnSpc>
                <a:spcPct val="210000"/>
              </a:lnSpc>
              <a:buNone/>
            </a:pPr>
            <a:r>
              <a:rPr lang="en-US" sz="675" spc="23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都是这个故事的新章节。感谢每一位在场的布道者与未来贡献者，愿我们共同推动这个星球最开放的协作实验，走向更远的未来。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457200" y="3117979"/>
            <a:ext cx="8229600" cy="222885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457200" y="3117979"/>
            <a:ext cx="82296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192274"/>
            <a:ext cx="1125855" cy="148590"/>
          </a:xfrm>
          <a:prstGeom prst="roundRect">
            <a:avLst>
              <a:gd name="adj" fmla="val 76923"/>
            </a:avLst>
          </a:prstGeom>
          <a:solidFill>
            <a:srgbClr val="2196F3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37210" y="3226564"/>
            <a:ext cx="108173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 · Open Source</a:t>
            </a:r>
            <a:endParaRPr lang="en-US" sz="495" dirty="0"/>
          </a:p>
        </p:txBody>
      </p:sp>
      <p:sp>
        <p:nvSpPr>
          <p:cNvPr id="47" name="Text 45"/>
          <p:cNvSpPr/>
          <p:nvPr/>
        </p:nvSpPr>
        <p:spPr>
          <a:xfrm>
            <a:off x="1685925" y="3223706"/>
            <a:ext cx="146898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community@opensourcedao.com</a:t>
            </a:r>
            <a:endParaRPr lang="en-US" sz="495" dirty="0"/>
          </a:p>
        </p:txBody>
      </p:sp>
      <p:sp>
        <p:nvSpPr>
          <p:cNvPr id="48" name="Text 46"/>
          <p:cNvSpPr/>
          <p:nvPr/>
        </p:nvSpPr>
        <p:spPr>
          <a:xfrm>
            <a:off x="3100388" y="3223706"/>
            <a:ext cx="130576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github.com/opensourcedao</a:t>
            </a:r>
            <a:endParaRPr lang="en-US" sz="495" dirty="0"/>
          </a:p>
        </p:txBody>
      </p:sp>
      <p:sp>
        <p:nvSpPr>
          <p:cNvPr id="49" name="Text 47"/>
          <p:cNvSpPr/>
          <p:nvPr/>
        </p:nvSpPr>
        <p:spPr>
          <a:xfrm>
            <a:off x="7909560" y="3223706"/>
            <a:ext cx="87050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2024 · THANK YOU</a:t>
            </a:r>
            <a:endParaRPr lang="en-US" sz="4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2026-08-27T22:25:10Z</dcterms:created>
  <dcterms:modified xsi:type="dcterms:W3CDTF">2026-08-27T22:25:10Z</dcterms:modified>
</cp:coreProperties>
</file>