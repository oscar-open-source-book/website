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101F"/>
              </a:gs>
              <a:gs pos="40000">
                <a:srgbClr val="0A1628"/>
              </a:gs>
              <a:gs pos="100000">
                <a:srgbClr val="081B2D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24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24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217170" y="480060"/>
            <a:ext cx="17145" cy="125730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30000">
                <a:srgbClr val="00BCD4"/>
              </a:gs>
              <a:gs pos="60000">
                <a:srgbClr val="00BCD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0025" y="457200"/>
            <a:ext cx="51435" cy="5143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" y="337185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2915" y="308610"/>
            <a:ext cx="65288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开源阅读笔记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125855" y="354330"/>
            <a:ext cx="3331845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342900" y="554355"/>
            <a:ext cx="4608576" cy="100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70" b="1" spc="-13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</a:t>
            </a:r>
            <a:pPr algn="l" indent="0" marL="0">
              <a:lnSpc>
                <a:spcPct val="102000"/>
              </a:lnSpc>
              <a:buNone/>
            </a:pPr>
            <a:endParaRPr lang="en-US" sz="387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870" b="1" spc="-13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记录</a:t>
            </a:r>
            <a:endParaRPr lang="en-US" sz="3870" dirty="0"/>
          </a:p>
        </p:txBody>
      </p:sp>
      <p:sp>
        <p:nvSpPr>
          <p:cNvPr id="10" name="Text 8"/>
          <p:cNvSpPr/>
          <p:nvPr/>
        </p:nvSpPr>
        <p:spPr>
          <a:xfrm>
            <a:off x="342900" y="1671280"/>
            <a:ext cx="4608576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2022年4月</a:t>
            </a:r>
            <a:pPr algn="l" indent="0" marL="0">
              <a:buNone/>
            </a:pPr>
            <a:r>
              <a:rPr lang="en-US" sz="85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开源许可证阅读分享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342900" y="1985605"/>
            <a:ext cx="41148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75000">
                <a:srgbClr val="2196F3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342900" y="2105620"/>
            <a:ext cx="365760" cy="177165"/>
          </a:xfrm>
          <a:prstGeom prst="roundRect">
            <a:avLst>
              <a:gd name="adj" fmla="val 9677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" y="2105620"/>
            <a:ext cx="434340" cy="177165"/>
          </a:xfrm>
          <a:prstGeom prst="rect">
            <a:avLst/>
          </a:prstGeom>
          <a:noFill/>
          <a:ln/>
        </p:spPr>
        <p:txBody>
          <a:bodyPr wrap="none" lIns="34290" tIns="57150" rIns="57150" bIns="34290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</a:t>
            </a:r>
            <a:endParaRPr lang="en-US" sz="540" dirty="0"/>
          </a:p>
        </p:txBody>
      </p:sp>
      <p:sp>
        <p:nvSpPr>
          <p:cNvPr id="14" name="Text 12"/>
          <p:cNvSpPr/>
          <p:nvPr/>
        </p:nvSpPr>
        <p:spPr>
          <a:xfrm>
            <a:off x="811530" y="2125623"/>
            <a:ext cx="1536192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8E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开源许可证全景解读与合规实践要点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900" y="2362795"/>
            <a:ext cx="365760" cy="177165"/>
          </a:xfrm>
          <a:prstGeom prst="roundRect">
            <a:avLst>
              <a:gd name="adj" fmla="val 9677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" y="2362795"/>
            <a:ext cx="434340" cy="177165"/>
          </a:xfrm>
          <a:prstGeom prst="rect">
            <a:avLst/>
          </a:prstGeom>
          <a:noFill/>
          <a:ln/>
        </p:spPr>
        <p:txBody>
          <a:bodyPr wrap="none" lIns="34290" tIns="57150" rIns="57150" bIns="34290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记录者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811530" y="2382798"/>
            <a:ext cx="135056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8E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 · 适兕 的月度阅读笔记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342900" y="2619970"/>
            <a:ext cx="365760" cy="177165"/>
          </a:xfrm>
          <a:prstGeom prst="roundRect">
            <a:avLst>
              <a:gd name="adj" fmla="val 9677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" y="2619970"/>
            <a:ext cx="434340" cy="177165"/>
          </a:xfrm>
          <a:prstGeom prst="rect">
            <a:avLst/>
          </a:prstGeom>
          <a:noFill/>
          <a:ln/>
        </p:spPr>
        <p:txBody>
          <a:bodyPr wrap="none" lIns="34290" tIns="57150" rIns="57150" bIns="34290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811530" y="2639973"/>
            <a:ext cx="1734617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8E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2022年4月，聚焦许可证选择与合规边界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342900" y="2945725"/>
            <a:ext cx="1994535" cy="685800"/>
          </a:xfrm>
          <a:prstGeom prst="roundRect">
            <a:avLst>
              <a:gd name="adj" fmla="val 5000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" y="2951440"/>
            <a:ext cx="17145" cy="67437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474345" y="3014305"/>
            <a:ext cx="576072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890" dirty="0"/>
          </a:p>
        </p:txBody>
      </p:sp>
      <p:sp>
        <p:nvSpPr>
          <p:cNvPr id="24" name="Text 22"/>
          <p:cNvSpPr/>
          <p:nvPr/>
        </p:nvSpPr>
        <p:spPr>
          <a:xfrm>
            <a:off x="782955" y="3082885"/>
            <a:ext cx="29146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4345" y="3334345"/>
            <a:ext cx="16578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覆盖许可证数量　OSI认证的主流与次主流协议</a:t>
            </a:r>
            <a:endParaRPr lang="en-US" sz="540" dirty="0"/>
          </a:p>
        </p:txBody>
      </p:sp>
      <p:sp>
        <p:nvSpPr>
          <p:cNvPr id="26" name="Shape 24"/>
          <p:cNvSpPr/>
          <p:nvPr/>
        </p:nvSpPr>
        <p:spPr>
          <a:xfrm>
            <a:off x="2463165" y="2945725"/>
            <a:ext cx="1994535" cy="685800"/>
          </a:xfrm>
          <a:prstGeom prst="roundRect">
            <a:avLst>
              <a:gd name="adj" fmla="val 5000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2951440"/>
            <a:ext cx="17145" cy="67437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2594610" y="3014305"/>
            <a:ext cx="408051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spc="-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90" dirty="0"/>
          </a:p>
        </p:txBody>
      </p:sp>
      <p:sp>
        <p:nvSpPr>
          <p:cNvPr id="29" name="Text 27"/>
          <p:cNvSpPr/>
          <p:nvPr/>
        </p:nvSpPr>
        <p:spPr>
          <a:xfrm>
            <a:off x="2594610" y="3334345"/>
            <a:ext cx="1901038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核心解读协议　GPL / Apache / MIT / BSD / AGPL / MPL</a:t>
            </a:r>
            <a:endParaRPr lang="en-US" sz="540" dirty="0"/>
          </a:p>
        </p:txBody>
      </p:sp>
      <p:sp>
        <p:nvSpPr>
          <p:cNvPr id="30" name="Shape 28"/>
          <p:cNvSpPr/>
          <p:nvPr/>
        </p:nvSpPr>
        <p:spPr>
          <a:xfrm>
            <a:off x="342900" y="3757255"/>
            <a:ext cx="4114800" cy="313075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342900" y="3757255"/>
            <a:ext cx="0" cy="313075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97260"/>
            <a:ext cx="4460157" cy="225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spc="18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本期阅读分享围绕开源许可证展开，从分类体系到主流协议条款，再到企业选证与合规实践，带你系统理解开源许可的生态全貌。</a:t>
            </a:r>
            <a:endParaRPr lang="en-US" sz="585" dirty="0"/>
          </a:p>
        </p:txBody>
      </p:sp>
      <p:pic>
        <p:nvPicPr>
          <p:cNvPr id="33" name="Image 0" descr="/home/lee/developing/oscar-open-source-book/website/slides-src/2022-04-open-source-licensing-reading/images/page_001_hero.png">    </p:cNvPr>
          <p:cNvPicPr>
            <a:picLocks noChangeAspect="1"/>
          </p:cNvPicPr>
          <p:nvPr/>
        </p:nvPicPr>
        <p:blipFill>
          <a:blip r:embed="rId1"/>
          <a:srcRect l="24771" r="24771" t="0" b="0"/>
          <a:stretch/>
        </p:blipFill>
        <p:spPr>
          <a:xfrm>
            <a:off x="4709160" y="308610"/>
            <a:ext cx="4091940" cy="452628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709160" y="308610"/>
            <a:ext cx="4091940" cy="4526280"/>
          </a:xfrm>
          <a:prstGeom prst="roundRect">
            <a:avLst>
              <a:gd name="adj" fmla="val 1117"/>
            </a:avLst>
          </a:prstGeom>
          <a:solidFill>
            <a:srgbClr val="0A1628">
              <a:alpha val="35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709160" y="4914900"/>
            <a:ext cx="934517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代码流 · 六边形网格</a:t>
            </a:r>
            <a:endParaRPr lang="en-US" sz="495" dirty="0"/>
          </a:p>
        </p:txBody>
      </p:sp>
      <p:sp>
        <p:nvSpPr>
          <p:cNvPr id="36" name="Shape 33"/>
          <p:cNvSpPr/>
          <p:nvPr/>
        </p:nvSpPr>
        <p:spPr>
          <a:xfrm>
            <a:off x="4709160" y="495490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549515" y="4920615"/>
            <a:ext cx="140177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HEXAGRAM · CODE STREAM</a:t>
            </a:r>
            <a:endParaRPr lang="en-US" sz="4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ee/developing/oscar-open-source-book/website/slides-src/2022-04-open-source-licensing-reading/images/page_002_section_bg.png">    </p:cNvPr>
          <p:cNvPicPr>
            <a:picLocks noChangeAspect="1"/>
          </p:cNvPicPr>
          <p:nvPr/>
        </p:nvPicPr>
        <p:blipFill>
          <a:blip r:embed="rId2"/>
          <a:srcRect l="388" r="388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F1E">
                  <a:alpha val="80000"/>
                </a:srgbClr>
              </a:gs>
              <a:gs pos="40000">
                <a:srgbClr val="060F1E">
                  <a:alpha val="55000"/>
                </a:srgbClr>
              </a:gs>
              <a:gs pos="70000">
                <a:srgbClr val="060F1E">
                  <a:alpha val="70000"/>
                </a:srgbClr>
              </a:gs>
              <a:gs pos="100000">
                <a:srgbClr val="060F1E">
                  <a:alpha val="90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2991803" y="257175"/>
            <a:ext cx="3594735" cy="5257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20" b="1" spc="13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阅读背景与动机</a:t>
            </a:r>
            <a:endParaRPr lang="en-US" sz="3420" dirty="0"/>
          </a:p>
        </p:txBody>
      </p:sp>
      <p:sp>
        <p:nvSpPr>
          <p:cNvPr id="5" name="Shape 2"/>
          <p:cNvSpPr/>
          <p:nvPr/>
        </p:nvSpPr>
        <p:spPr>
          <a:xfrm>
            <a:off x="2971800" y="912078"/>
            <a:ext cx="320040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2196F3">
                <a:alpha val="9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300413" y="1077813"/>
            <a:ext cx="2848356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为什么在 2022 年 4 月重新审视开源许可证</a:t>
            </a:r>
            <a:endParaRPr lang="en-US" sz="990" dirty="0"/>
          </a:p>
        </p:txBody>
      </p:sp>
      <p:sp>
        <p:nvSpPr>
          <p:cNvPr id="7" name="Shape 4"/>
          <p:cNvSpPr/>
          <p:nvPr/>
        </p:nvSpPr>
        <p:spPr>
          <a:xfrm>
            <a:off x="400050" y="1380708"/>
            <a:ext cx="8343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57150" dist="50800" dir="16200000">
              <a:srgbClr val="2196F3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0050" y="1546443"/>
            <a:ext cx="1991678" cy="1068348"/>
          </a:xfrm>
          <a:prstGeom prst="roundRect">
            <a:avLst>
              <a:gd name="adj" fmla="val 7489"/>
            </a:avLst>
          </a:prstGeom>
          <a:solidFill>
            <a:srgbClr val="0D1A2E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0050" y="1546443"/>
            <a:ext cx="17145" cy="1056921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7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0065" y="1677888"/>
            <a:ext cx="171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" dirty="0"/>
          </a:p>
        </p:txBody>
      </p:sp>
      <p:sp>
        <p:nvSpPr>
          <p:cNvPr id="11" name="Shape 8"/>
          <p:cNvSpPr/>
          <p:nvPr/>
        </p:nvSpPr>
        <p:spPr>
          <a:xfrm>
            <a:off x="520065" y="1820763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215" y="1877913"/>
            <a:ext cx="137160" cy="137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0065" y="2175093"/>
            <a:ext cx="77724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合规压力上升</a:t>
            </a:r>
            <a:endParaRPr lang="en-US" sz="855" dirty="0"/>
          </a:p>
        </p:txBody>
      </p:sp>
      <p:sp>
        <p:nvSpPr>
          <p:cNvPr id="14" name="Text 10"/>
          <p:cNvSpPr/>
          <p:nvPr/>
        </p:nvSpPr>
        <p:spPr>
          <a:xfrm>
            <a:off x="520065" y="2369403"/>
            <a:ext cx="174741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国内企业与开发者对许可证合规意识快速提升。</a:t>
            </a:r>
            <a:endParaRPr lang="en-US" sz="608" dirty="0"/>
          </a:p>
        </p:txBody>
      </p:sp>
      <p:sp>
        <p:nvSpPr>
          <p:cNvPr id="15" name="Shape 11"/>
          <p:cNvSpPr/>
          <p:nvPr/>
        </p:nvSpPr>
        <p:spPr>
          <a:xfrm>
            <a:off x="2517458" y="1546443"/>
            <a:ext cx="1991678" cy="1068348"/>
          </a:xfrm>
          <a:prstGeom prst="roundRect">
            <a:avLst>
              <a:gd name="adj" fmla="val 7489"/>
            </a:avLst>
          </a:prstGeom>
          <a:solidFill>
            <a:srgbClr val="0D1A2E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517458" y="1546443"/>
            <a:ext cx="17145" cy="1056921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7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637473" y="1677888"/>
            <a:ext cx="1885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" dirty="0"/>
          </a:p>
        </p:txBody>
      </p:sp>
      <p:sp>
        <p:nvSpPr>
          <p:cNvPr id="18" name="Shape 14"/>
          <p:cNvSpPr/>
          <p:nvPr/>
        </p:nvSpPr>
        <p:spPr>
          <a:xfrm>
            <a:off x="2637473" y="1820763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4623" y="1877913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37473" y="2175093"/>
            <a:ext cx="665798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供应链安全</a:t>
            </a:r>
            <a:endParaRPr lang="en-US" sz="855" dirty="0"/>
          </a:p>
        </p:txBody>
      </p:sp>
      <p:sp>
        <p:nvSpPr>
          <p:cNvPr id="21" name="Text 16"/>
          <p:cNvSpPr/>
          <p:nvPr/>
        </p:nvSpPr>
        <p:spPr>
          <a:xfrm>
            <a:off x="2637473" y="2369403"/>
            <a:ext cx="18370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Log4j 等事件后，开源依赖链治理成为焦点议题。</a:t>
            </a:r>
            <a:endParaRPr lang="en-US" sz="608" dirty="0"/>
          </a:p>
        </p:txBody>
      </p:sp>
      <p:sp>
        <p:nvSpPr>
          <p:cNvPr id="22" name="Shape 17"/>
          <p:cNvSpPr/>
          <p:nvPr/>
        </p:nvSpPr>
        <p:spPr>
          <a:xfrm>
            <a:off x="4634865" y="1546443"/>
            <a:ext cx="1991678" cy="1068348"/>
          </a:xfrm>
          <a:prstGeom prst="roundRect">
            <a:avLst>
              <a:gd name="adj" fmla="val 7489"/>
            </a:avLst>
          </a:prstGeom>
          <a:solidFill>
            <a:srgbClr val="0D1A2E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34865" y="1546443"/>
            <a:ext cx="17145" cy="1056921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7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754880" y="1677888"/>
            <a:ext cx="1885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" dirty="0"/>
          </a:p>
        </p:txBody>
      </p:sp>
      <p:sp>
        <p:nvSpPr>
          <p:cNvPr id="25" name="Shape 20"/>
          <p:cNvSpPr/>
          <p:nvPr/>
        </p:nvSpPr>
        <p:spPr>
          <a:xfrm>
            <a:off x="4754880" y="1820763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2030" y="1877913"/>
            <a:ext cx="137160" cy="1371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54880" y="2175093"/>
            <a:ext cx="665798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商业化需求</a:t>
            </a:r>
            <a:endParaRPr lang="en-US" sz="855" dirty="0"/>
          </a:p>
        </p:txBody>
      </p:sp>
      <p:sp>
        <p:nvSpPr>
          <p:cNvPr id="28" name="Text 22"/>
          <p:cNvSpPr/>
          <p:nvPr/>
        </p:nvSpPr>
        <p:spPr>
          <a:xfrm>
            <a:off x="4754880" y="2369403"/>
            <a:ext cx="174741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开源项目商业化路径必须依赖许可证策略设计。</a:t>
            </a:r>
            <a:endParaRPr lang="en-US" sz="608" dirty="0"/>
          </a:p>
        </p:txBody>
      </p:sp>
      <p:sp>
        <p:nvSpPr>
          <p:cNvPr id="29" name="Shape 23"/>
          <p:cNvSpPr/>
          <p:nvPr/>
        </p:nvSpPr>
        <p:spPr>
          <a:xfrm>
            <a:off x="6752273" y="1546443"/>
            <a:ext cx="1991678" cy="1068348"/>
          </a:xfrm>
          <a:prstGeom prst="roundRect">
            <a:avLst>
              <a:gd name="adj" fmla="val 7489"/>
            </a:avLst>
          </a:prstGeom>
          <a:solidFill>
            <a:srgbClr val="0D1A2E">
              <a:alpha val="72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752273" y="1546443"/>
            <a:ext cx="17145" cy="1056921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7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872288" y="1677888"/>
            <a:ext cx="1885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40" dirty="0"/>
          </a:p>
        </p:txBody>
      </p:sp>
      <p:sp>
        <p:nvSpPr>
          <p:cNvPr id="32" name="Shape 26"/>
          <p:cNvSpPr/>
          <p:nvPr/>
        </p:nvSpPr>
        <p:spPr>
          <a:xfrm>
            <a:off x="6872288" y="1820763"/>
            <a:ext cx="251460" cy="25146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2196F3">
                  <a:alpha val="22000"/>
                </a:srgbClr>
              </a:gs>
              <a:gs pos="100000">
                <a:srgbClr val="00BCD4">
                  <a:alpha val="14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9438" y="1877913"/>
            <a:ext cx="137160" cy="1371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72288" y="2175093"/>
            <a:ext cx="665798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政策窗口期</a:t>
            </a:r>
            <a:endParaRPr lang="en-US" sz="855" dirty="0"/>
          </a:p>
        </p:txBody>
      </p:sp>
      <p:sp>
        <p:nvSpPr>
          <p:cNvPr id="35" name="Text 28"/>
          <p:cNvSpPr/>
          <p:nvPr/>
        </p:nvSpPr>
        <p:spPr>
          <a:xfrm>
            <a:off x="6872288" y="2369403"/>
            <a:ext cx="183062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国内推进信创与自主可控，许可证教育需求旺盛。</a:t>
            </a:r>
            <a:endParaRPr lang="en-US" sz="608" dirty="0"/>
          </a:p>
        </p:txBody>
      </p:sp>
      <p:sp>
        <p:nvSpPr>
          <p:cNvPr id="36" name="Shape 29"/>
          <p:cNvSpPr/>
          <p:nvPr/>
        </p:nvSpPr>
        <p:spPr>
          <a:xfrm>
            <a:off x="400050" y="4517350"/>
            <a:ext cx="5385762" cy="325755"/>
          </a:xfrm>
          <a:prstGeom prst="rect">
            <a:avLst/>
          </a:prstGeom>
          <a:noFill/>
          <a:ln/>
        </p:spPr>
      </p:sp>
      <p:sp>
        <p:nvSpPr>
          <p:cNvPr id="37" name="Shape 30"/>
          <p:cNvSpPr/>
          <p:nvPr/>
        </p:nvSpPr>
        <p:spPr>
          <a:xfrm>
            <a:off x="5785812" y="4517350"/>
            <a:ext cx="0" cy="325755"/>
          </a:xfrm>
          <a:prstGeom prst="line">
            <a:avLst/>
          </a:prstGeom>
          <a:noFill/>
          <a:ln w="5715">
            <a:solidFill>
              <a:srgbClr val="B0BEC5">
                <a:alpha val="28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00050" y="4540210"/>
            <a:ext cx="5847831" cy="271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75" spc="14" kern="0" dirty="0">
                <a:solidFill>
                  <a:srgbClr val="E0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年前后，开源生态正经历合规化、商业化和供应链安全的多重压力，系统理解许可证条款不再是律师专属功课，而是每个开发者的必修课。</a:t>
            </a:r>
            <a:endParaRPr lang="en-US" sz="675" dirty="0"/>
          </a:p>
        </p:txBody>
      </p:sp>
      <p:sp>
        <p:nvSpPr>
          <p:cNvPr id="39" name="Text 32"/>
          <p:cNvSpPr/>
          <p:nvPr/>
        </p:nvSpPr>
        <p:spPr>
          <a:xfrm>
            <a:off x="6385620" y="4445645"/>
            <a:ext cx="842963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6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7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2070" dirty="0"/>
          </a:p>
        </p:txBody>
      </p:sp>
      <p:sp>
        <p:nvSpPr>
          <p:cNvPr id="40" name="Text 33"/>
          <p:cNvSpPr/>
          <p:nvPr/>
        </p:nvSpPr>
        <p:spPr>
          <a:xfrm>
            <a:off x="5968692" y="4795957"/>
            <a:ext cx="158359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18" spc="36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全球开源采用率 · 企业级应用采用开源技术比例</a:t>
            </a:r>
            <a:endParaRPr lang="en-US" sz="518" dirty="0"/>
          </a:p>
        </p:txBody>
      </p:sp>
      <p:sp>
        <p:nvSpPr>
          <p:cNvPr id="41" name="Text 34"/>
          <p:cNvSpPr/>
          <p:nvPr/>
        </p:nvSpPr>
        <p:spPr>
          <a:xfrm>
            <a:off x="7791777" y="4445645"/>
            <a:ext cx="1022985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6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7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2070" dirty="0"/>
          </a:p>
        </p:txBody>
      </p:sp>
      <p:sp>
        <p:nvSpPr>
          <p:cNvPr id="42" name="Text 35"/>
          <p:cNvSpPr/>
          <p:nvPr/>
        </p:nvSpPr>
        <p:spPr>
          <a:xfrm>
            <a:off x="7599789" y="4795957"/>
            <a:ext cx="128146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18" spc="36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许可证纠纷年增 · 过去五年年均增长率</a:t>
            </a:r>
            <a:endParaRPr lang="en-US" sz="51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285875"/>
            <a:ext cx="8229600" cy="462915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4114800" y="205740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342900" y="274320"/>
            <a:ext cx="9473184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什么是开源许可证</a:t>
            </a:r>
            <a:endParaRPr lang="en-US" sz="1710" dirty="0"/>
          </a:p>
        </p:txBody>
      </p:sp>
      <p:sp>
        <p:nvSpPr>
          <p:cNvPr id="6" name="Shape 4"/>
          <p:cNvSpPr/>
          <p:nvPr/>
        </p:nvSpPr>
        <p:spPr>
          <a:xfrm>
            <a:off x="342900" y="645795"/>
            <a:ext cx="7886700" cy="14573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42900" y="645795"/>
            <a:ext cx="0" cy="145733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" y="645795"/>
            <a:ext cx="8833104" cy="145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开源许可证不是简单的</a:t>
            </a:r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"免费使用"</a:t>
            </a:r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,而是一份带有</a:t>
            </a:r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条件限制的法律契约</a:t>
            </a:r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。理解其背后的</a:t>
            </a:r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权利让渡逻辑</a:t>
            </a:r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,是选择许可证与合规使用的第一步。</a:t>
            </a:r>
            <a:endParaRPr lang="en-US" sz="675" dirty="0"/>
          </a:p>
        </p:txBody>
      </p:sp>
      <p:sp>
        <p:nvSpPr>
          <p:cNvPr id="9" name="Shape 7"/>
          <p:cNvSpPr/>
          <p:nvPr/>
        </p:nvSpPr>
        <p:spPr>
          <a:xfrm>
            <a:off x="342900" y="917258"/>
            <a:ext cx="1783080" cy="622935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" y="917258"/>
            <a:ext cx="22860" cy="61150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451485" y="1002983"/>
            <a:ext cx="175381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51485" y="1220153"/>
            <a:ext cx="175381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认证许可数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451485" y="1351598"/>
            <a:ext cx="175381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截至2022年OSI认证的开放许可证总数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2217420" y="917258"/>
            <a:ext cx="1783080" cy="622935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17420" y="917258"/>
            <a:ext cx="22860" cy="61150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2326005" y="1002983"/>
            <a:ext cx="1753819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2326005" y="1220153"/>
            <a:ext cx="175381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核心维度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2326005" y="1351598"/>
            <a:ext cx="175381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复制、修改、分发、再授权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342900" y="1631633"/>
            <a:ext cx="3657600" cy="395139"/>
          </a:xfrm>
          <a:prstGeom prst="roundRect">
            <a:avLst>
              <a:gd name="adj" fmla="val 14463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" y="1709142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228600" dist="50800" dir="16200000">
              <a:srgbClr val="00BCD4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1485" y="1709142"/>
            <a:ext cx="35433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2955" y="1705928"/>
            <a:ext cx="318119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法律契约本质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782955" y="1837373"/>
            <a:ext cx="3181198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开源许可证是著作权人授予使用、修改、分发权的法律文件</a:t>
            </a:r>
            <a:endParaRPr lang="en-US" sz="585" dirty="0"/>
          </a:p>
        </p:txBody>
      </p:sp>
      <p:sp>
        <p:nvSpPr>
          <p:cNvPr id="24" name="Text 22"/>
          <p:cNvSpPr/>
          <p:nvPr/>
        </p:nvSpPr>
        <p:spPr>
          <a:xfrm>
            <a:off x="3714750" y="1749147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342900" y="2083921"/>
            <a:ext cx="3657600" cy="388620"/>
          </a:xfrm>
          <a:prstGeom prst="roundRect">
            <a:avLst>
              <a:gd name="adj" fmla="val 14706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485" y="2158216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228600" dist="50800" dir="16200000">
              <a:srgbClr val="00BCD4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1485" y="2158216"/>
            <a:ext cx="35433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2955" y="2163485"/>
            <a:ext cx="314279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vs Permissive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782955" y="2277785"/>
            <a:ext cx="3142793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核心分歧在于衍生作品是否必须沿用相同许可证发布</a:t>
            </a:r>
            <a:endParaRPr lang="en-US" sz="585" dirty="0"/>
          </a:p>
        </p:txBody>
      </p:sp>
      <p:sp>
        <p:nvSpPr>
          <p:cNvPr id="30" name="Text 28"/>
          <p:cNvSpPr/>
          <p:nvPr/>
        </p:nvSpPr>
        <p:spPr>
          <a:xfrm>
            <a:off x="3680460" y="2198221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342900" y="2529691"/>
            <a:ext cx="3657600" cy="395139"/>
          </a:xfrm>
          <a:prstGeom prst="roundRect">
            <a:avLst>
              <a:gd name="adj" fmla="val 14463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485" y="2607201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228600" dist="50800" dir="16200000">
              <a:srgbClr val="00BCD4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1485" y="2607201"/>
            <a:ext cx="35433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2955" y="2603986"/>
            <a:ext cx="314279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认证标准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782955" y="2735431"/>
            <a:ext cx="3142793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Initiative 定义了开源许可须满足的十项标准</a:t>
            </a:r>
            <a:endParaRPr lang="en-US" sz="585" dirty="0"/>
          </a:p>
        </p:txBody>
      </p:sp>
      <p:sp>
        <p:nvSpPr>
          <p:cNvPr id="36" name="Text 34"/>
          <p:cNvSpPr/>
          <p:nvPr/>
        </p:nvSpPr>
        <p:spPr>
          <a:xfrm>
            <a:off x="3680460" y="2647206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37" name="Shape 35"/>
          <p:cNvSpPr/>
          <p:nvPr/>
        </p:nvSpPr>
        <p:spPr>
          <a:xfrm>
            <a:off x="342900" y="2981980"/>
            <a:ext cx="3657600" cy="395139"/>
          </a:xfrm>
          <a:prstGeom prst="roundRect">
            <a:avLst>
              <a:gd name="adj" fmla="val 14463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485" y="3059490"/>
            <a:ext cx="240030" cy="240030"/>
          </a:xfrm>
          <a:prstGeom prst="roundRect">
            <a:avLst>
              <a:gd name="adj" fmla="val 2381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228600" dist="50800" dir="16200000">
              <a:srgbClr val="00BCD4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1485" y="3059490"/>
            <a:ext cx="35433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2955" y="3056275"/>
            <a:ext cx="313639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非开源不等于闭源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782955" y="3187720"/>
            <a:ext cx="3136392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SSPL、BUSL 等新型协议填补商业开源的新形态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3674745" y="3099495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2196F3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4183380" y="917258"/>
            <a:ext cx="4617720" cy="3683318"/>
          </a:xfrm>
          <a:prstGeom prst="roundRect">
            <a:avLst>
              <a:gd name="adj" fmla="val 2172"/>
            </a:avLst>
          </a:prstGeom>
          <a:gradFill rotWithShape="1">
            <a:gsLst>
              <a:gs pos="0">
                <a:srgbClr val="0F2038">
                  <a:alpha val="60000"/>
                </a:srgbClr>
              </a:gs>
              <a:gs pos="100000">
                <a:srgbClr val="0A1628">
                  <a:alpha val="80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83380" y="917258"/>
            <a:ext cx="460629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4303395" y="1025843"/>
            <a:ext cx="4903013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8EE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与 Permissive 四象限对比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4303395" y="106299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303395" y="1168718"/>
            <a:ext cx="490301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基于衍生作品授权要求与附加限制强度两个维度的许可证分类图谱</a:t>
            </a:r>
            <a:endParaRPr lang="en-US" sz="495" dirty="0"/>
          </a:p>
        </p:txBody>
      </p:sp>
      <p:sp>
        <p:nvSpPr>
          <p:cNvPr id="48" name="Shape 46"/>
          <p:cNvSpPr/>
          <p:nvPr/>
        </p:nvSpPr>
        <p:spPr>
          <a:xfrm>
            <a:off x="4531995" y="2933224"/>
            <a:ext cx="392049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6503670" y="1557338"/>
            <a:ext cx="5715" cy="275177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0" name="Shape 48"/>
          <p:cNvSpPr/>
          <p:nvPr/>
        </p:nvSpPr>
        <p:spPr>
          <a:xfrm>
            <a:off x="4531995" y="1511618"/>
            <a:ext cx="1937385" cy="1375886"/>
          </a:xfrm>
          <a:prstGeom prst="roundRect">
            <a:avLst>
              <a:gd name="adj" fmla="val 4154"/>
            </a:avLst>
          </a:prstGeom>
          <a:gradFill rotWithShape="1">
            <a:gsLst>
              <a:gs pos="0">
                <a:srgbClr val="F44336">
                  <a:alpha val="12000"/>
                </a:srgbClr>
              </a:gs>
              <a:gs pos="100000">
                <a:srgbClr val="F44336">
                  <a:alpha val="4000"/>
                </a:srgbClr>
              </a:gs>
            </a:gsLst>
            <a:lin ang="2700000" scaled="0"/>
          </a:gradFill>
          <a:ln w="5715">
            <a:solidFill>
              <a:srgbClr val="F44336">
                <a:alpha val="4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F44336">
                <a:alpha val="2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17720" y="1585913"/>
            <a:ext cx="19778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象限 I · 强 COPYLEFT</a:t>
            </a:r>
            <a:endParaRPr lang="en-US" sz="450" dirty="0"/>
          </a:p>
        </p:txBody>
      </p:sp>
      <p:sp>
        <p:nvSpPr>
          <p:cNvPr id="52" name="Text 50"/>
          <p:cNvSpPr/>
          <p:nvPr/>
        </p:nvSpPr>
        <p:spPr>
          <a:xfrm>
            <a:off x="4617720" y="1700213"/>
            <a:ext cx="1977847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EF53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 Copyleft 协议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4617720" y="1838444"/>
            <a:ext cx="197784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代表：GPL v2 / GPL v3 / AGPL</a:t>
            </a:r>
            <a:endParaRPr lang="en-US" sz="540" dirty="0"/>
          </a:p>
        </p:txBody>
      </p:sp>
      <p:sp>
        <p:nvSpPr>
          <p:cNvPr id="54" name="Text 52"/>
          <p:cNvSpPr/>
          <p:nvPr/>
        </p:nvSpPr>
        <p:spPr>
          <a:xfrm>
            <a:off x="4617720" y="1987034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F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衍生作品必须沿用相同许可证</a:t>
            </a:r>
            <a:endParaRPr lang="en-US" sz="495" dirty="0"/>
          </a:p>
        </p:txBody>
      </p:sp>
      <p:sp>
        <p:nvSpPr>
          <p:cNvPr id="55" name="Shape 53"/>
          <p:cNvSpPr/>
          <p:nvPr/>
        </p:nvSpPr>
        <p:spPr>
          <a:xfrm>
            <a:off x="4617720" y="1987034"/>
            <a:ext cx="22860" cy="22860"/>
          </a:xfrm>
          <a:prstGeom prst="ellipse">
            <a:avLst/>
          </a:prstGeom>
          <a:solidFill>
            <a:srgbClr val="EF9A9A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617720" y="2092136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F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附加限制多,约束网络服务分发</a:t>
            </a:r>
            <a:endParaRPr lang="en-US" sz="495" dirty="0"/>
          </a:p>
        </p:txBody>
      </p:sp>
      <p:sp>
        <p:nvSpPr>
          <p:cNvPr id="57" name="Shape 55"/>
          <p:cNvSpPr/>
          <p:nvPr/>
        </p:nvSpPr>
        <p:spPr>
          <a:xfrm>
            <a:off x="4617720" y="2092136"/>
            <a:ext cx="22860" cy="22860"/>
          </a:xfrm>
          <a:prstGeom prst="ellipse">
            <a:avLst/>
          </a:prstGeom>
          <a:solidFill>
            <a:srgbClr val="EF9A9A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617720" y="2197239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F9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商业使用需开源衍生代码</a:t>
            </a:r>
            <a:endParaRPr lang="en-US" sz="495" dirty="0"/>
          </a:p>
        </p:txBody>
      </p:sp>
      <p:sp>
        <p:nvSpPr>
          <p:cNvPr id="59" name="Shape 57"/>
          <p:cNvSpPr/>
          <p:nvPr/>
        </p:nvSpPr>
        <p:spPr>
          <a:xfrm>
            <a:off x="4617720" y="2197239"/>
            <a:ext cx="22860" cy="22860"/>
          </a:xfrm>
          <a:prstGeom prst="ellipse">
            <a:avLst/>
          </a:prstGeom>
          <a:solidFill>
            <a:srgbClr val="EF9A9A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515100" y="1511618"/>
            <a:ext cx="1937385" cy="1375886"/>
          </a:xfrm>
          <a:prstGeom prst="roundRect">
            <a:avLst>
              <a:gd name="adj" fmla="val 4154"/>
            </a:avLst>
          </a:prstGeom>
          <a:gradFill rotWithShape="1">
            <a:gsLst>
              <a:gs pos="0">
                <a:srgbClr val="00BCD4">
                  <a:alpha val="12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00BCD4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00BCD4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600825" y="1585913"/>
            <a:ext cx="19778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象限 II · 新型商业协议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6600825" y="1700213"/>
            <a:ext cx="1977847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新型商业开源协议</a:t>
            </a:r>
            <a:endParaRPr lang="en-US" sz="630" dirty="0"/>
          </a:p>
        </p:txBody>
      </p:sp>
      <p:sp>
        <p:nvSpPr>
          <p:cNvPr id="63" name="Text 61"/>
          <p:cNvSpPr/>
          <p:nvPr/>
        </p:nvSpPr>
        <p:spPr>
          <a:xfrm>
            <a:off x="6600825" y="1838444"/>
            <a:ext cx="197784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代表：SSPL / BUSL / Elastic License</a:t>
            </a:r>
            <a:endParaRPr lang="en-US" sz="540" dirty="0"/>
          </a:p>
        </p:txBody>
      </p:sp>
      <p:sp>
        <p:nvSpPr>
          <p:cNvPr id="64" name="Text 62"/>
          <p:cNvSpPr/>
          <p:nvPr/>
        </p:nvSpPr>
        <p:spPr>
          <a:xfrm>
            <a:off x="6600825" y="1987034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0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衍生作品不必沿用同许可证</a:t>
            </a:r>
            <a:endParaRPr lang="en-US" sz="495" dirty="0"/>
          </a:p>
        </p:txBody>
      </p:sp>
      <p:sp>
        <p:nvSpPr>
          <p:cNvPr id="65" name="Shape 63"/>
          <p:cNvSpPr/>
          <p:nvPr/>
        </p:nvSpPr>
        <p:spPr>
          <a:xfrm>
            <a:off x="6600825" y="1987034"/>
            <a:ext cx="22860" cy="22860"/>
          </a:xfrm>
          <a:prstGeom prst="ellipse">
            <a:avLst/>
          </a:prstGeom>
          <a:solidFill>
            <a:srgbClr val="80DEEA">
              <a:alpha val="6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600825" y="2092136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0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特定场景限制,如云服务商</a:t>
            </a:r>
            <a:endParaRPr lang="en-US" sz="495" dirty="0"/>
          </a:p>
        </p:txBody>
      </p:sp>
      <p:sp>
        <p:nvSpPr>
          <p:cNvPr id="67" name="Shape 65"/>
          <p:cNvSpPr/>
          <p:nvPr/>
        </p:nvSpPr>
        <p:spPr>
          <a:xfrm>
            <a:off x="6600825" y="2092136"/>
            <a:ext cx="22860" cy="22860"/>
          </a:xfrm>
          <a:prstGeom prst="ellipse">
            <a:avLst/>
          </a:prstGeom>
          <a:solidFill>
            <a:srgbClr val="80DEEA">
              <a:alpha val="6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600825" y="2197239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0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填补商业开源与服务的平衡</a:t>
            </a:r>
            <a:endParaRPr lang="en-US" sz="495" dirty="0"/>
          </a:p>
        </p:txBody>
      </p:sp>
      <p:sp>
        <p:nvSpPr>
          <p:cNvPr id="69" name="Shape 67"/>
          <p:cNvSpPr/>
          <p:nvPr/>
        </p:nvSpPr>
        <p:spPr>
          <a:xfrm>
            <a:off x="6600825" y="2197239"/>
            <a:ext cx="22860" cy="22860"/>
          </a:xfrm>
          <a:prstGeom prst="ellipse">
            <a:avLst/>
          </a:prstGeom>
          <a:solidFill>
            <a:srgbClr val="80DEEA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531995" y="2933224"/>
            <a:ext cx="1937385" cy="1375886"/>
          </a:xfrm>
          <a:prstGeom prst="roundRect">
            <a:avLst>
              <a:gd name="adj" fmla="val 4154"/>
            </a:avLst>
          </a:prstGeom>
          <a:gradFill rotWithShape="1">
            <a:gsLst>
              <a:gs pos="0">
                <a:srgbClr val="FF9800">
                  <a:alpha val="12000"/>
                </a:srgbClr>
              </a:gs>
              <a:gs pos="100000">
                <a:srgbClr val="FF9800">
                  <a:alpha val="4000"/>
                </a:srgbClr>
              </a:gs>
            </a:gsLst>
            <a:lin ang="2700000" scaled="0"/>
          </a:gradFill>
          <a:ln w="5715">
            <a:solidFill>
              <a:srgbClr val="FF980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FF98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617720" y="3007519"/>
            <a:ext cx="19778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象限 III · 弱 COPYLEFT</a:t>
            </a:r>
            <a:endParaRPr lang="en-US" sz="450" dirty="0"/>
          </a:p>
        </p:txBody>
      </p:sp>
      <p:sp>
        <p:nvSpPr>
          <p:cNvPr id="72" name="Text 70"/>
          <p:cNvSpPr/>
          <p:nvPr/>
        </p:nvSpPr>
        <p:spPr>
          <a:xfrm>
            <a:off x="4617720" y="3121819"/>
            <a:ext cx="1977847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FF9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 协议</a:t>
            </a:r>
            <a:endParaRPr lang="en-US" sz="630" dirty="0"/>
          </a:p>
        </p:txBody>
      </p:sp>
      <p:sp>
        <p:nvSpPr>
          <p:cNvPr id="73" name="Text 71"/>
          <p:cNvSpPr/>
          <p:nvPr/>
        </p:nvSpPr>
        <p:spPr>
          <a:xfrm>
            <a:off x="4617720" y="3260050"/>
            <a:ext cx="197784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代表：LGPL / MPL 2.0 / EPL</a:t>
            </a:r>
            <a:endParaRPr lang="en-US" sz="540" dirty="0"/>
          </a:p>
        </p:txBody>
      </p:sp>
      <p:sp>
        <p:nvSpPr>
          <p:cNvPr id="74" name="Text 72"/>
          <p:cNvSpPr/>
          <p:nvPr/>
        </p:nvSpPr>
        <p:spPr>
          <a:xfrm>
            <a:off x="4617720" y="3408640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FFCC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仅要求修改部分沿用许可证</a:t>
            </a:r>
            <a:endParaRPr lang="en-US" sz="495" dirty="0"/>
          </a:p>
        </p:txBody>
      </p:sp>
      <p:sp>
        <p:nvSpPr>
          <p:cNvPr id="75" name="Shape 73"/>
          <p:cNvSpPr/>
          <p:nvPr/>
        </p:nvSpPr>
        <p:spPr>
          <a:xfrm>
            <a:off x="4617720" y="3408640"/>
            <a:ext cx="22860" cy="22860"/>
          </a:xfrm>
          <a:prstGeom prst="ellipse">
            <a:avLst/>
          </a:prstGeom>
          <a:solidFill>
            <a:srgbClr val="FFCC80">
              <a:alpha val="6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4617720" y="3513743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FFCC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库级别 Copyleft,商业集成灵活</a:t>
            </a:r>
            <a:endParaRPr lang="en-US" sz="495" dirty="0"/>
          </a:p>
        </p:txBody>
      </p:sp>
      <p:sp>
        <p:nvSpPr>
          <p:cNvPr id="77" name="Shape 75"/>
          <p:cNvSpPr/>
          <p:nvPr/>
        </p:nvSpPr>
        <p:spPr>
          <a:xfrm>
            <a:off x="4617720" y="3513743"/>
            <a:ext cx="22860" cy="22860"/>
          </a:xfrm>
          <a:prstGeom prst="ellipse">
            <a:avLst/>
          </a:prstGeom>
          <a:solidFill>
            <a:srgbClr val="FFCC80">
              <a:alpha val="6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4617720" y="3618845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FFCC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适合作为商业项目依赖</a:t>
            </a:r>
            <a:endParaRPr lang="en-US" sz="495" dirty="0"/>
          </a:p>
        </p:txBody>
      </p:sp>
      <p:sp>
        <p:nvSpPr>
          <p:cNvPr id="79" name="Shape 77"/>
          <p:cNvSpPr/>
          <p:nvPr/>
        </p:nvSpPr>
        <p:spPr>
          <a:xfrm>
            <a:off x="4617720" y="3618845"/>
            <a:ext cx="22860" cy="22860"/>
          </a:xfrm>
          <a:prstGeom prst="ellipse">
            <a:avLst/>
          </a:prstGeom>
          <a:solidFill>
            <a:srgbClr val="FFCC80">
              <a:alpha val="6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515100" y="2933224"/>
            <a:ext cx="1937385" cy="1375886"/>
          </a:xfrm>
          <a:prstGeom prst="roundRect">
            <a:avLst>
              <a:gd name="adj" fmla="val 4154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600825" y="3007519"/>
            <a:ext cx="19778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象限 IV · 宽松 PERMISSIVE</a:t>
            </a:r>
            <a:endParaRPr lang="en-US" sz="450" dirty="0"/>
          </a:p>
        </p:txBody>
      </p:sp>
      <p:sp>
        <p:nvSpPr>
          <p:cNvPr id="82" name="Text 80"/>
          <p:cNvSpPr/>
          <p:nvPr/>
        </p:nvSpPr>
        <p:spPr>
          <a:xfrm>
            <a:off x="6600825" y="3121819"/>
            <a:ext cx="1977847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 Permissive 协议</a:t>
            </a:r>
            <a:endParaRPr lang="en-US" sz="630" dirty="0"/>
          </a:p>
        </p:txBody>
      </p:sp>
      <p:sp>
        <p:nvSpPr>
          <p:cNvPr id="83" name="Text 81"/>
          <p:cNvSpPr/>
          <p:nvPr/>
        </p:nvSpPr>
        <p:spPr>
          <a:xfrm>
            <a:off x="6600825" y="3260050"/>
            <a:ext cx="197784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代表：MIT / BSD / Apache 2.0</a:t>
            </a:r>
            <a:endParaRPr lang="en-US" sz="540" dirty="0"/>
          </a:p>
        </p:txBody>
      </p:sp>
      <p:sp>
        <p:nvSpPr>
          <p:cNvPr id="84" name="Text 82"/>
          <p:cNvSpPr/>
          <p:nvPr/>
        </p:nvSpPr>
        <p:spPr>
          <a:xfrm>
            <a:off x="6600825" y="3408640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C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衍生作品可自由选择协议</a:t>
            </a:r>
            <a:endParaRPr lang="en-US" sz="495" dirty="0"/>
          </a:p>
        </p:txBody>
      </p:sp>
      <p:sp>
        <p:nvSpPr>
          <p:cNvPr id="85" name="Shape 83"/>
          <p:cNvSpPr/>
          <p:nvPr/>
        </p:nvSpPr>
        <p:spPr>
          <a:xfrm>
            <a:off x="6600825" y="3408640"/>
            <a:ext cx="22860" cy="22860"/>
          </a:xfrm>
          <a:prstGeom prst="ellipse">
            <a:avLst/>
          </a:prstGeom>
          <a:solidFill>
            <a:srgbClr val="90CAF9">
              <a:alpha val="60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6600825" y="3513743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C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附加限制少,可闭源商用</a:t>
            </a:r>
            <a:endParaRPr lang="en-US" sz="495" dirty="0"/>
          </a:p>
        </p:txBody>
      </p:sp>
      <p:sp>
        <p:nvSpPr>
          <p:cNvPr id="87" name="Shape 85"/>
          <p:cNvSpPr/>
          <p:nvPr/>
        </p:nvSpPr>
        <p:spPr>
          <a:xfrm>
            <a:off x="6600825" y="3513743"/>
            <a:ext cx="22860" cy="22860"/>
          </a:xfrm>
          <a:prstGeom prst="ellipse">
            <a:avLst/>
          </a:prstGeom>
          <a:solidFill>
            <a:srgbClr val="90CAF9">
              <a:alpha val="6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6600825" y="3618845"/>
            <a:ext cx="1977847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C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高度商业友好,广泛采用</a:t>
            </a:r>
            <a:endParaRPr lang="en-US" sz="495" dirty="0"/>
          </a:p>
        </p:txBody>
      </p:sp>
      <p:sp>
        <p:nvSpPr>
          <p:cNvPr id="89" name="Shape 87"/>
          <p:cNvSpPr/>
          <p:nvPr/>
        </p:nvSpPr>
        <p:spPr>
          <a:xfrm>
            <a:off x="6600825" y="3618845"/>
            <a:ext cx="22860" cy="22860"/>
          </a:xfrm>
          <a:prstGeom prst="ellipse">
            <a:avLst/>
          </a:prstGeom>
          <a:solidFill>
            <a:srgbClr val="90CAF9">
              <a:alpha val="6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4531995" y="4383405"/>
            <a:ext cx="171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</a:t>
            </a:r>
            <a:endParaRPr lang="en-US" sz="450" dirty="0"/>
          </a:p>
        </p:txBody>
      </p:sp>
      <p:sp>
        <p:nvSpPr>
          <p:cNvPr id="91" name="Text 89"/>
          <p:cNvSpPr/>
          <p:nvPr/>
        </p:nvSpPr>
        <p:spPr>
          <a:xfrm>
            <a:off x="8338185" y="4383405"/>
            <a:ext cx="171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92" name="Text 90"/>
          <p:cNvSpPr/>
          <p:nvPr/>
        </p:nvSpPr>
        <p:spPr>
          <a:xfrm>
            <a:off x="6052185" y="4389120"/>
            <a:ext cx="98572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衍生作品是否必须沿用同许可证</a:t>
            </a:r>
            <a:endParaRPr lang="en-US" sz="495" dirty="0"/>
          </a:p>
        </p:txBody>
      </p:sp>
      <p:sp>
        <p:nvSpPr>
          <p:cNvPr id="93" name="Text 91"/>
          <p:cNvSpPr/>
          <p:nvPr/>
        </p:nvSpPr>
        <p:spPr>
          <a:xfrm>
            <a:off x="4337685" y="1557338"/>
            <a:ext cx="1143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</a:t>
            </a:r>
            <a:endParaRPr lang="en-US" sz="450" dirty="0"/>
          </a:p>
        </p:txBody>
      </p:sp>
      <p:sp>
        <p:nvSpPr>
          <p:cNvPr id="94" name="Text 92"/>
          <p:cNvSpPr/>
          <p:nvPr/>
        </p:nvSpPr>
        <p:spPr>
          <a:xfrm>
            <a:off x="4337685" y="4223385"/>
            <a:ext cx="1143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546E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少</a:t>
            </a:r>
            <a:endParaRPr lang="en-US" sz="450" dirty="0"/>
          </a:p>
        </p:txBody>
      </p:sp>
      <p:sp>
        <p:nvSpPr>
          <p:cNvPr id="95" name="Text 93"/>
          <p:cNvSpPr/>
          <p:nvPr/>
        </p:nvSpPr>
        <p:spPr>
          <a:xfrm rot="-5400000">
            <a:off x="4326255" y="2887504"/>
            <a:ext cx="62727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附加限制 / 协议强度</a:t>
            </a:r>
            <a:endParaRPr lang="en-US" sz="495" dirty="0"/>
          </a:p>
        </p:txBody>
      </p:sp>
      <p:sp>
        <p:nvSpPr>
          <p:cNvPr id="96" name="Shape 94"/>
          <p:cNvSpPr/>
          <p:nvPr/>
        </p:nvSpPr>
        <p:spPr>
          <a:xfrm>
            <a:off x="342900" y="4680585"/>
            <a:ext cx="8458200" cy="2343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7" name="Shape 95"/>
          <p:cNvSpPr/>
          <p:nvPr/>
        </p:nvSpPr>
        <p:spPr>
          <a:xfrm>
            <a:off x="342900" y="4680585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2900" y="4914900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2900" y="4680585"/>
            <a:ext cx="9473184" cy="234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ctr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权利让渡</a:t>
            </a:r>
            <a:pPr algn="ctr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ctr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合规使用</a:t>
            </a:r>
            <a:pPr algn="ctr" indent="0" marL="0"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，理解许可证是开源协作的起点</a:t>
            </a:r>
            <a:endParaRPr lang="en-US" sz="5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43800" y="-685800"/>
            <a:ext cx="2057400" cy="2057400"/>
          </a:xfrm>
          <a:prstGeom prst="ellipse">
            <a:avLst/>
          </a:prstGeom>
          <a:solidFill>
            <a:srgbClr val="2196F3">
              <a:alpha val="18000"/>
            </a:srgbClr>
          </a:solidFill>
          <a:ln/>
          <a:effectLst>
            <a:outerShdw sx="100000" sy="100000" kx="0" ky="0" algn="bl" rotWithShape="0" blurRad="457200" dist="50800" dir="16200000">
              <a:srgbClr val="2196F3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342900" y="4000500"/>
            <a:ext cx="1714500" cy="1714500"/>
          </a:xfrm>
          <a:prstGeom prst="ellipse">
            <a:avLst/>
          </a:prstGeom>
          <a:solidFill>
            <a:srgbClr val="00BCD4">
              <a:alpha val="14000"/>
            </a:srgbClr>
          </a:solidFill>
          <a:ln/>
          <a:effectLst>
            <a:outerShdw sx="100000" sy="100000" kx="0" ky="0" algn="bl" rotWithShape="0" blurRad="457200" dist="50800" dir="16200000">
              <a:srgbClr val="00BCD4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" y="251460"/>
            <a:ext cx="23490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· INHERITANCE · INNOVATION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342900" y="394335"/>
            <a:ext cx="4749394" cy="24967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1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文化传承与创新</a:t>
            </a:r>
            <a:endParaRPr lang="en-US" sz="1710" dirty="0"/>
          </a:p>
        </p:txBody>
      </p:sp>
      <p:sp>
        <p:nvSpPr>
          <p:cNvPr id="7" name="Text 5"/>
          <p:cNvSpPr/>
          <p:nvPr/>
        </p:nvSpPr>
        <p:spPr>
          <a:xfrm>
            <a:off x="342900" y="712589"/>
            <a:ext cx="474939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推动中华优秀传统文化创造性转化、创新性发展——以开源许可证光谱为镜，探索传承与变革之间的连续光谱与选择智慧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7612380" y="531941"/>
            <a:ext cx="1188720" cy="137160"/>
          </a:xfrm>
          <a:prstGeom prst="roundRect">
            <a:avLst>
              <a:gd name="adj" fmla="val 83333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6675" y="560516"/>
            <a:ext cx="116494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SPECTRUM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8001000" y="714821"/>
            <a:ext cx="89611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· 五大协议分类框架</a:t>
            </a:r>
            <a:endParaRPr lang="en-US" sz="495" dirty="0"/>
          </a:p>
        </p:txBody>
      </p:sp>
      <p:sp>
        <p:nvSpPr>
          <p:cNvPr id="11" name="Shape 9"/>
          <p:cNvSpPr/>
          <p:nvPr/>
        </p:nvSpPr>
        <p:spPr>
          <a:xfrm>
            <a:off x="342900" y="954851"/>
            <a:ext cx="8458200" cy="2634615"/>
          </a:xfrm>
          <a:prstGeom prst="roundRect">
            <a:avLst>
              <a:gd name="adj" fmla="val 3471"/>
            </a:avLst>
          </a:prstGeom>
          <a:gradFill rotWithShape="1">
            <a:gsLst>
              <a:gs pos="0">
                <a:srgbClr val="111B30">
                  <a:alpha val="85000"/>
                </a:srgbClr>
              </a:gs>
              <a:gs pos="100000">
                <a:srgbClr val="0C1428">
                  <a:alpha val="70000"/>
                </a:srgbClr>
              </a:gs>
            </a:gsLst>
            <a:lin ang="5400000" scaled="0"/>
          </a:gradFill>
          <a:ln w="5715">
            <a:solidFill>
              <a:srgbClr val="1B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205" y="1097726"/>
            <a:ext cx="194584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开源许可证光谱 · 从宽松到严格的连续维度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7858125" y="1100584"/>
            <a:ext cx="26860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7858125" y="1123444"/>
            <a:ext cx="45720" cy="457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8155305" y="1106299"/>
            <a:ext cx="2388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———&gt;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8418195" y="1100584"/>
            <a:ext cx="29146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</a:t>
            </a:r>
            <a:endParaRPr lang="en-US" sz="495" dirty="0"/>
          </a:p>
        </p:txBody>
      </p:sp>
      <p:sp>
        <p:nvSpPr>
          <p:cNvPr id="17" name="Shape 15"/>
          <p:cNvSpPr/>
          <p:nvPr/>
        </p:nvSpPr>
        <p:spPr>
          <a:xfrm>
            <a:off x="8601075" y="1123444"/>
            <a:ext cx="45720" cy="45720"/>
          </a:xfrm>
          <a:prstGeom prst="ellipse">
            <a:avLst/>
          </a:prstGeom>
          <a:solidFill>
            <a:srgbClr val="F44336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205" y="1297751"/>
            <a:ext cx="1556712" cy="2171700"/>
          </a:xfrm>
          <a:prstGeom prst="roundRect">
            <a:avLst>
              <a:gd name="adj" fmla="val 4405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2196F3">
                  <a:alpha val="4000"/>
                </a:srgbClr>
              </a:gs>
            </a:gsLst>
            <a:lin ang="5400000" scaled="0"/>
          </a:gradFill>
          <a:ln w="571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205" y="1297751"/>
            <a:ext cx="1545285" cy="171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582930" y="1383476"/>
            <a:ext cx="70408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PERMISSIVE</a:t>
            </a:r>
            <a:endParaRPr lang="en-US" sz="450" dirty="0"/>
          </a:p>
        </p:txBody>
      </p:sp>
      <p:sp>
        <p:nvSpPr>
          <p:cNvPr id="21" name="Text 19"/>
          <p:cNvSpPr/>
          <p:nvPr/>
        </p:nvSpPr>
        <p:spPr>
          <a:xfrm>
            <a:off x="582930" y="1474916"/>
            <a:ext cx="32004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宽松型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582930" y="1590288"/>
            <a:ext cx="73609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Permissive License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1149787" y="1716018"/>
            <a:ext cx="251460" cy="742950"/>
          </a:xfrm>
          <a:prstGeom prst="roundRect">
            <a:avLst>
              <a:gd name="adj" fmla="val 13636"/>
            </a:avLst>
          </a:prstGeom>
          <a:solidFill>
            <a:srgbClr val="2196F3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9787" y="2161788"/>
            <a:ext cx="251460" cy="297180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FFFFFF">
                  <a:alpha val="30000"/>
                </a:srgbClr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1181219" y="2333238"/>
            <a:ext cx="251460" cy="80010"/>
          </a:xfrm>
          <a:prstGeom prst="rect">
            <a:avLst/>
          </a:prstGeom>
          <a:noFill/>
          <a:ln/>
          <a:effectLst>
            <a:outerShdw sx="100000" sy="100000" kx="0" ky="0" algn="bl" rotWithShape="0" blurRad="17145" dist="5715" dir="10800000">
              <a:srgbClr val="0000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低约束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582930" y="2533263"/>
            <a:ext cx="177165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2930" y="2533263"/>
            <a:ext cx="234315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771525" y="2533263"/>
            <a:ext cx="188595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1525" y="2533263"/>
            <a:ext cx="245745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BSD</a:t>
            </a:r>
            <a:endParaRPr lang="en-US" sz="450" dirty="0"/>
          </a:p>
        </p:txBody>
      </p:sp>
      <p:sp>
        <p:nvSpPr>
          <p:cNvPr id="30" name="Shape 28"/>
          <p:cNvSpPr/>
          <p:nvPr/>
        </p:nvSpPr>
        <p:spPr>
          <a:xfrm>
            <a:off x="971550" y="2533263"/>
            <a:ext cx="382905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71550" y="2533263"/>
            <a:ext cx="440055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450" dirty="0"/>
          </a:p>
        </p:txBody>
      </p:sp>
      <p:sp>
        <p:nvSpPr>
          <p:cNvPr id="32" name="Shape 30"/>
          <p:cNvSpPr/>
          <p:nvPr/>
        </p:nvSpPr>
        <p:spPr>
          <a:xfrm>
            <a:off x="582930" y="2779008"/>
            <a:ext cx="1385262" cy="5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82930" y="2836158"/>
            <a:ext cx="30289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关键特征</a:t>
            </a:r>
            <a:endParaRPr lang="en-US" sz="405" dirty="0"/>
          </a:p>
        </p:txBody>
      </p:sp>
      <p:sp>
        <p:nvSpPr>
          <p:cNvPr id="34" name="Text 32"/>
          <p:cNvSpPr/>
          <p:nvPr/>
        </p:nvSpPr>
        <p:spPr>
          <a:xfrm>
            <a:off x="582930" y="2933313"/>
            <a:ext cx="1478585" cy="167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仅要求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保留版权声明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商业友好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，允许闭源再发布，使用限制最少。</a:t>
            </a:r>
            <a:endParaRPr lang="en-US" sz="473" dirty="0"/>
          </a:p>
        </p:txBody>
      </p:sp>
      <p:sp>
        <p:nvSpPr>
          <p:cNvPr id="35" name="Shape 33"/>
          <p:cNvSpPr/>
          <p:nvPr/>
        </p:nvSpPr>
        <p:spPr>
          <a:xfrm>
            <a:off x="2145357" y="1297751"/>
            <a:ext cx="1556802" cy="2171700"/>
          </a:xfrm>
          <a:prstGeom prst="roundRect">
            <a:avLst>
              <a:gd name="adj" fmla="val 4405"/>
            </a:avLst>
          </a:prstGeom>
          <a:gradFill rotWithShape="1">
            <a:gsLst>
              <a:gs pos="0">
                <a:srgbClr val="00BCD4">
                  <a:alpha val="18000"/>
                </a:srgbClr>
              </a:gs>
              <a:gs pos="100000">
                <a:srgbClr val="00BCD4">
                  <a:alpha val="4000"/>
                </a:srgbClr>
              </a:gs>
            </a:gsLst>
            <a:lin ang="5400000" scaled="0"/>
          </a:gradFill>
          <a:ln w="571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5357" y="1297751"/>
            <a:ext cx="1545370" cy="1714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7" name="Text 35"/>
          <p:cNvSpPr/>
          <p:nvPr/>
        </p:nvSpPr>
        <p:spPr>
          <a:xfrm>
            <a:off x="2231082" y="1383476"/>
            <a:ext cx="908914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WEAK COPYLEFT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2231082" y="1474916"/>
            <a:ext cx="51435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2231082" y="1590288"/>
            <a:ext cx="54406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Copyleft</a:t>
            </a:r>
            <a:endParaRPr lang="en-US" sz="450" dirty="0"/>
          </a:p>
        </p:txBody>
      </p:sp>
      <p:sp>
        <p:nvSpPr>
          <p:cNvPr id="40" name="Shape 38"/>
          <p:cNvSpPr/>
          <p:nvPr/>
        </p:nvSpPr>
        <p:spPr>
          <a:xfrm>
            <a:off x="2798028" y="1716018"/>
            <a:ext cx="251460" cy="742950"/>
          </a:xfrm>
          <a:prstGeom prst="roundRect">
            <a:avLst>
              <a:gd name="adj" fmla="val 13636"/>
            </a:avLst>
          </a:prstGeom>
          <a:solidFill>
            <a:srgbClr val="00BCD4">
              <a:alpha val="1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798028" y="2050346"/>
            <a:ext cx="251460" cy="408623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FFFFFF">
                  <a:alpha val="30000"/>
                </a:srgbClr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2" name="Text 40"/>
          <p:cNvSpPr/>
          <p:nvPr/>
        </p:nvSpPr>
        <p:spPr>
          <a:xfrm>
            <a:off x="2798028" y="2333238"/>
            <a:ext cx="314325" cy="80010"/>
          </a:xfrm>
          <a:prstGeom prst="rect">
            <a:avLst/>
          </a:prstGeom>
          <a:noFill/>
          <a:ln/>
          <a:effectLst>
            <a:outerShdw sx="100000" sy="100000" kx="0" ky="0" algn="bl" rotWithShape="0" blurRad="17145" dist="5715" dir="10800000">
              <a:srgbClr val="0000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中低约束</a:t>
            </a:r>
            <a:endParaRPr lang="en-US" sz="495" dirty="0"/>
          </a:p>
        </p:txBody>
      </p:sp>
      <p:sp>
        <p:nvSpPr>
          <p:cNvPr id="43" name="Shape 41"/>
          <p:cNvSpPr/>
          <p:nvPr/>
        </p:nvSpPr>
        <p:spPr>
          <a:xfrm>
            <a:off x="2231082" y="2533263"/>
            <a:ext cx="21717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231082" y="2533263"/>
            <a:ext cx="27432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2459682" y="2533263"/>
            <a:ext cx="188595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459682" y="2533263"/>
            <a:ext cx="245745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MPL</a:t>
            </a:r>
            <a:endParaRPr lang="en-US" sz="450" dirty="0"/>
          </a:p>
        </p:txBody>
      </p:sp>
      <p:sp>
        <p:nvSpPr>
          <p:cNvPr id="47" name="Shape 45"/>
          <p:cNvSpPr/>
          <p:nvPr/>
        </p:nvSpPr>
        <p:spPr>
          <a:xfrm>
            <a:off x="2231082" y="2779008"/>
            <a:ext cx="1385352" cy="5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231082" y="2836158"/>
            <a:ext cx="30289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关键特征</a:t>
            </a:r>
            <a:endParaRPr lang="en-US" sz="405" dirty="0"/>
          </a:p>
        </p:txBody>
      </p:sp>
      <p:sp>
        <p:nvSpPr>
          <p:cNvPr id="49" name="Text 47"/>
          <p:cNvSpPr/>
          <p:nvPr/>
        </p:nvSpPr>
        <p:spPr>
          <a:xfrm>
            <a:off x="2231082" y="2933313"/>
            <a:ext cx="1548994" cy="167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库级别传染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，应用层可独立闭源，平衡共享与商业利益。</a:t>
            </a:r>
            <a:endParaRPr lang="en-US" sz="473" dirty="0"/>
          </a:p>
        </p:txBody>
      </p:sp>
      <p:sp>
        <p:nvSpPr>
          <p:cNvPr id="50" name="Shape 48"/>
          <p:cNvSpPr/>
          <p:nvPr/>
        </p:nvSpPr>
        <p:spPr>
          <a:xfrm>
            <a:off x="3793599" y="1297751"/>
            <a:ext cx="1556712" cy="2171700"/>
          </a:xfrm>
          <a:prstGeom prst="roundRect">
            <a:avLst>
              <a:gd name="adj" fmla="val 4405"/>
            </a:avLst>
          </a:prstGeom>
          <a:gradFill rotWithShape="1">
            <a:gsLst>
              <a:gs pos="0">
                <a:srgbClr val="FFC107">
                  <a:alpha val="18000"/>
                </a:srgbClr>
              </a:gs>
              <a:gs pos="100000">
                <a:srgbClr val="FFC107">
                  <a:alpha val="4000"/>
                </a:srgbClr>
              </a:gs>
            </a:gsLst>
            <a:lin ang="5400000" scaled="0"/>
          </a:gradFill>
          <a:ln w="571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93599" y="1297751"/>
            <a:ext cx="1545285" cy="17145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2" name="Text 50"/>
          <p:cNvSpPr/>
          <p:nvPr/>
        </p:nvSpPr>
        <p:spPr>
          <a:xfrm>
            <a:off x="3879324" y="1383476"/>
            <a:ext cx="103052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STRONG COPYLEFT</a:t>
            </a:r>
            <a:endParaRPr lang="en-US" sz="450" dirty="0"/>
          </a:p>
        </p:txBody>
      </p:sp>
      <p:sp>
        <p:nvSpPr>
          <p:cNvPr id="53" name="Text 51"/>
          <p:cNvSpPr/>
          <p:nvPr/>
        </p:nvSpPr>
        <p:spPr>
          <a:xfrm>
            <a:off x="3879324" y="1474916"/>
            <a:ext cx="51435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 Copyleft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3879324" y="1590288"/>
            <a:ext cx="595274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Copyleft</a:t>
            </a:r>
            <a:endParaRPr lang="en-US" sz="450" dirty="0"/>
          </a:p>
        </p:txBody>
      </p:sp>
      <p:sp>
        <p:nvSpPr>
          <p:cNvPr id="55" name="Shape 53"/>
          <p:cNvSpPr/>
          <p:nvPr/>
        </p:nvSpPr>
        <p:spPr>
          <a:xfrm>
            <a:off x="4446181" y="1716018"/>
            <a:ext cx="251460" cy="742950"/>
          </a:xfrm>
          <a:prstGeom prst="roundRect">
            <a:avLst>
              <a:gd name="adj" fmla="val 13636"/>
            </a:avLst>
          </a:prstGeom>
          <a:solidFill>
            <a:srgbClr val="FFC107">
              <a:alpha val="1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446181" y="1924080"/>
            <a:ext cx="251460" cy="534888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FFFFFF">
                  <a:alpha val="30000"/>
                </a:srgbClr>
              </a:gs>
              <a:gs pos="100000">
                <a:srgbClr val="FFC107"/>
              </a:gs>
            </a:gsLst>
            <a:lin ang="5400000" scaled="0"/>
          </a:gradFill>
          <a:ln/>
        </p:spPr>
      </p:sp>
      <p:sp>
        <p:nvSpPr>
          <p:cNvPr id="57" name="Text 55"/>
          <p:cNvSpPr/>
          <p:nvPr/>
        </p:nvSpPr>
        <p:spPr>
          <a:xfrm>
            <a:off x="4446181" y="2333238"/>
            <a:ext cx="314325" cy="80010"/>
          </a:xfrm>
          <a:prstGeom prst="rect">
            <a:avLst/>
          </a:prstGeom>
          <a:noFill/>
          <a:ln/>
          <a:effectLst>
            <a:outerShdw sx="100000" sy="100000" kx="0" ky="0" algn="bl" rotWithShape="0" blurRad="17145" dist="5715" dir="10800000">
              <a:srgbClr val="0000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中高约束</a:t>
            </a:r>
            <a:endParaRPr lang="en-US" sz="495" dirty="0"/>
          </a:p>
        </p:txBody>
      </p:sp>
      <p:sp>
        <p:nvSpPr>
          <p:cNvPr id="58" name="Shape 56"/>
          <p:cNvSpPr/>
          <p:nvPr/>
        </p:nvSpPr>
        <p:spPr>
          <a:xfrm>
            <a:off x="3879324" y="2533263"/>
            <a:ext cx="26289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879324" y="2533263"/>
            <a:ext cx="32004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v2</a:t>
            </a:r>
            <a:endParaRPr lang="en-US" sz="450" dirty="0"/>
          </a:p>
        </p:txBody>
      </p:sp>
      <p:sp>
        <p:nvSpPr>
          <p:cNvPr id="60" name="Shape 58"/>
          <p:cNvSpPr/>
          <p:nvPr/>
        </p:nvSpPr>
        <p:spPr>
          <a:xfrm>
            <a:off x="4153644" y="2533263"/>
            <a:ext cx="26289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153644" y="2533263"/>
            <a:ext cx="32004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v3</a:t>
            </a:r>
            <a:endParaRPr lang="en-US" sz="450" dirty="0"/>
          </a:p>
        </p:txBody>
      </p:sp>
      <p:sp>
        <p:nvSpPr>
          <p:cNvPr id="62" name="Shape 60"/>
          <p:cNvSpPr/>
          <p:nvPr/>
        </p:nvSpPr>
        <p:spPr>
          <a:xfrm>
            <a:off x="4427964" y="2533263"/>
            <a:ext cx="222885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427964" y="2533263"/>
            <a:ext cx="280035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3879324" y="2779008"/>
            <a:ext cx="1385262" cy="5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879324" y="2836158"/>
            <a:ext cx="30289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90" kern="0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关键特征</a:t>
            </a:r>
            <a:endParaRPr lang="en-US" sz="405" dirty="0"/>
          </a:p>
        </p:txBody>
      </p:sp>
      <p:sp>
        <p:nvSpPr>
          <p:cNvPr id="66" name="Text 64"/>
          <p:cNvSpPr/>
          <p:nvPr/>
        </p:nvSpPr>
        <p:spPr>
          <a:xfrm>
            <a:off x="3879324" y="2933313"/>
            <a:ext cx="1536192" cy="167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要求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衍生作品必须开源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，AGPL 额外覆盖网络服务场景。</a:t>
            </a:r>
            <a:endParaRPr lang="en-US" sz="473" dirty="0"/>
          </a:p>
        </p:txBody>
      </p:sp>
      <p:sp>
        <p:nvSpPr>
          <p:cNvPr id="67" name="Shape 65"/>
          <p:cNvSpPr/>
          <p:nvPr/>
        </p:nvSpPr>
        <p:spPr>
          <a:xfrm>
            <a:off x="5441752" y="1297751"/>
            <a:ext cx="1556802" cy="2171700"/>
          </a:xfrm>
          <a:prstGeom prst="roundRect">
            <a:avLst>
              <a:gd name="adj" fmla="val 4405"/>
            </a:avLst>
          </a:prstGeom>
          <a:gradFill rotWithShape="1">
            <a:gsLst>
              <a:gs pos="0">
                <a:srgbClr val="FF5722">
                  <a:alpha val="18000"/>
                </a:srgbClr>
              </a:gs>
              <a:gs pos="100000">
                <a:srgbClr val="FF5722">
                  <a:alpha val="4000"/>
                </a:srgbClr>
              </a:gs>
            </a:gsLst>
            <a:lin ang="5400000" scaled="0"/>
          </a:gradFill>
          <a:ln w="571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41752" y="1297751"/>
            <a:ext cx="1545370" cy="17145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69" name="Text 67"/>
          <p:cNvSpPr/>
          <p:nvPr/>
        </p:nvSpPr>
        <p:spPr>
          <a:xfrm>
            <a:off x="5527477" y="1383476"/>
            <a:ext cx="105613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SOURCE-AVAILABLE</a:t>
            </a:r>
            <a:endParaRPr lang="en-US" sz="450" dirty="0"/>
          </a:p>
        </p:txBody>
      </p:sp>
      <p:sp>
        <p:nvSpPr>
          <p:cNvPr id="70" name="Text 68"/>
          <p:cNvSpPr/>
          <p:nvPr/>
        </p:nvSpPr>
        <p:spPr>
          <a:xfrm>
            <a:off x="5527477" y="1474916"/>
            <a:ext cx="72009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源码可见但非开源</a:t>
            </a:r>
            <a:endParaRPr lang="en-US" sz="630" dirty="0"/>
          </a:p>
        </p:txBody>
      </p:sp>
      <p:sp>
        <p:nvSpPr>
          <p:cNvPr id="71" name="Text 69"/>
          <p:cNvSpPr/>
          <p:nvPr/>
        </p:nvSpPr>
        <p:spPr>
          <a:xfrm>
            <a:off x="5527477" y="1590288"/>
            <a:ext cx="63367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Available</a:t>
            </a:r>
            <a:endParaRPr lang="en-US" sz="450" dirty="0"/>
          </a:p>
        </p:txBody>
      </p:sp>
      <p:sp>
        <p:nvSpPr>
          <p:cNvPr id="72" name="Shape 70"/>
          <p:cNvSpPr/>
          <p:nvPr/>
        </p:nvSpPr>
        <p:spPr>
          <a:xfrm>
            <a:off x="6094422" y="1716018"/>
            <a:ext cx="251460" cy="742950"/>
          </a:xfrm>
          <a:prstGeom prst="roundRect">
            <a:avLst>
              <a:gd name="adj" fmla="val 13636"/>
            </a:avLst>
          </a:prstGeom>
          <a:solidFill>
            <a:srgbClr val="FF5722">
              <a:alpha val="1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094422" y="1827461"/>
            <a:ext cx="251460" cy="631508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FFFFFF">
                  <a:alpha val="30000"/>
                </a:srgbClr>
              </a:gs>
              <a:gs pos="100000">
                <a:srgbClr val="FF5722"/>
              </a:gs>
            </a:gsLst>
            <a:lin ang="5400000" scaled="0"/>
          </a:gradFill>
          <a:ln/>
        </p:spPr>
      </p:sp>
      <p:sp>
        <p:nvSpPr>
          <p:cNvPr id="74" name="Text 72"/>
          <p:cNvSpPr/>
          <p:nvPr/>
        </p:nvSpPr>
        <p:spPr>
          <a:xfrm>
            <a:off x="6125855" y="2333238"/>
            <a:ext cx="251460" cy="80010"/>
          </a:xfrm>
          <a:prstGeom prst="rect">
            <a:avLst/>
          </a:prstGeom>
          <a:noFill/>
          <a:ln/>
          <a:effectLst>
            <a:outerShdw sx="100000" sy="100000" kx="0" ky="0" algn="bl" rotWithShape="0" blurRad="17145" dist="5715" dir="10800000">
              <a:srgbClr val="0000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高约束</a:t>
            </a:r>
            <a:endParaRPr lang="en-US" sz="495" dirty="0"/>
          </a:p>
        </p:txBody>
      </p:sp>
      <p:sp>
        <p:nvSpPr>
          <p:cNvPr id="75" name="Shape 73"/>
          <p:cNvSpPr/>
          <p:nvPr/>
        </p:nvSpPr>
        <p:spPr>
          <a:xfrm>
            <a:off x="5527477" y="2533263"/>
            <a:ext cx="21717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5527477" y="2533263"/>
            <a:ext cx="27432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SSPL</a:t>
            </a:r>
            <a:endParaRPr lang="en-US" sz="450" dirty="0"/>
          </a:p>
        </p:txBody>
      </p:sp>
      <p:sp>
        <p:nvSpPr>
          <p:cNvPr id="77" name="Shape 75"/>
          <p:cNvSpPr/>
          <p:nvPr/>
        </p:nvSpPr>
        <p:spPr>
          <a:xfrm>
            <a:off x="5756077" y="2533263"/>
            <a:ext cx="18288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5756077" y="2533263"/>
            <a:ext cx="24003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</a:t>
            </a:r>
            <a:endParaRPr lang="en-US" sz="450" dirty="0"/>
          </a:p>
        </p:txBody>
      </p:sp>
      <p:sp>
        <p:nvSpPr>
          <p:cNvPr id="79" name="Shape 77"/>
          <p:cNvSpPr/>
          <p:nvPr/>
        </p:nvSpPr>
        <p:spPr>
          <a:xfrm>
            <a:off x="5527477" y="2779008"/>
            <a:ext cx="1385352" cy="5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5527477" y="2836158"/>
            <a:ext cx="30289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90" kern="0" dirty="0">
                <a:solidFill>
                  <a:srgbClr val="FF5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关键特征</a:t>
            </a:r>
            <a:endParaRPr lang="en-US" sz="405" dirty="0"/>
          </a:p>
        </p:txBody>
      </p:sp>
      <p:sp>
        <p:nvSpPr>
          <p:cNvPr id="81" name="Text 79"/>
          <p:cNvSpPr/>
          <p:nvPr/>
        </p:nvSpPr>
        <p:spPr>
          <a:xfrm>
            <a:off x="5527477" y="2933313"/>
            <a:ext cx="1484986" cy="167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源码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可看但禁止 SaaS 或再分发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，属非 OSI 认证的新型商业保护协议。</a:t>
            </a:r>
            <a:endParaRPr lang="en-US" sz="473" dirty="0"/>
          </a:p>
        </p:txBody>
      </p:sp>
      <p:sp>
        <p:nvSpPr>
          <p:cNvPr id="82" name="Shape 80"/>
          <p:cNvSpPr/>
          <p:nvPr/>
        </p:nvSpPr>
        <p:spPr>
          <a:xfrm>
            <a:off x="7089993" y="1297751"/>
            <a:ext cx="1556712" cy="2171700"/>
          </a:xfrm>
          <a:prstGeom prst="roundRect">
            <a:avLst>
              <a:gd name="adj" fmla="val 4405"/>
            </a:avLst>
          </a:prstGeom>
          <a:gradFill rotWithShape="1">
            <a:gsLst>
              <a:gs pos="0">
                <a:srgbClr val="9C27B0">
                  <a:alpha val="20000"/>
                </a:srgbClr>
              </a:gs>
              <a:gs pos="100000">
                <a:srgbClr val="9C27B0">
                  <a:alpha val="4000"/>
                </a:srgbClr>
              </a:gs>
            </a:gsLst>
            <a:lin ang="5400000" scaled="0"/>
          </a:gradFill>
          <a:ln w="571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89993" y="1297751"/>
            <a:ext cx="1545285" cy="17145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84" name="Text 82"/>
          <p:cNvSpPr/>
          <p:nvPr/>
        </p:nvSpPr>
        <p:spPr>
          <a:xfrm>
            <a:off x="7175718" y="1383476"/>
            <a:ext cx="92171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DUAL LICENSING</a:t>
            </a:r>
            <a:endParaRPr lang="en-US" sz="450" dirty="0"/>
          </a:p>
        </p:txBody>
      </p:sp>
      <p:sp>
        <p:nvSpPr>
          <p:cNvPr id="85" name="Text 83"/>
          <p:cNvSpPr/>
          <p:nvPr/>
        </p:nvSpPr>
        <p:spPr>
          <a:xfrm>
            <a:off x="7175718" y="1474916"/>
            <a:ext cx="4800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3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双授权模式</a:t>
            </a:r>
            <a:endParaRPr lang="en-US" sz="630" dirty="0"/>
          </a:p>
        </p:txBody>
      </p:sp>
      <p:sp>
        <p:nvSpPr>
          <p:cNvPr id="86" name="Text 84"/>
          <p:cNvSpPr/>
          <p:nvPr/>
        </p:nvSpPr>
        <p:spPr>
          <a:xfrm>
            <a:off x="7175718" y="1590288"/>
            <a:ext cx="55687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Licensing</a:t>
            </a:r>
            <a:endParaRPr lang="en-US" sz="450" dirty="0"/>
          </a:p>
        </p:txBody>
      </p:sp>
      <p:sp>
        <p:nvSpPr>
          <p:cNvPr id="87" name="Shape 85"/>
          <p:cNvSpPr/>
          <p:nvPr/>
        </p:nvSpPr>
        <p:spPr>
          <a:xfrm>
            <a:off x="7742575" y="1716018"/>
            <a:ext cx="251460" cy="742950"/>
          </a:xfrm>
          <a:prstGeom prst="roundRect">
            <a:avLst>
              <a:gd name="adj" fmla="val 13636"/>
            </a:avLst>
          </a:prstGeom>
          <a:solidFill>
            <a:srgbClr val="9C27B0">
              <a:alpha val="1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742575" y="1716018"/>
            <a:ext cx="251460" cy="742950"/>
          </a:xfrm>
          <a:prstGeom prst="roundRect">
            <a:avLst>
              <a:gd name="adj" fmla="val 13636"/>
            </a:avLst>
          </a:prstGeom>
          <a:gradFill rotWithShape="1">
            <a:gsLst>
              <a:gs pos="0">
                <a:srgbClr val="FFFFFF">
                  <a:alpha val="30000"/>
                </a:srgbClr>
              </a:gs>
              <a:gs pos="100000">
                <a:srgbClr val="9C27B0"/>
              </a:gs>
            </a:gsLst>
            <a:lin ang="5400000" scaled="0"/>
          </a:gradFill>
          <a:ln/>
        </p:spPr>
      </p:sp>
      <p:sp>
        <p:nvSpPr>
          <p:cNvPr id="89" name="Text 87"/>
          <p:cNvSpPr/>
          <p:nvPr/>
        </p:nvSpPr>
        <p:spPr>
          <a:xfrm>
            <a:off x="7742575" y="2333238"/>
            <a:ext cx="314325" cy="80010"/>
          </a:xfrm>
          <a:prstGeom prst="rect">
            <a:avLst/>
          </a:prstGeom>
          <a:noFill/>
          <a:ln/>
          <a:effectLst>
            <a:outerShdw sx="100000" sy="100000" kx="0" ky="0" algn="bl" rotWithShape="0" blurRad="17145" dist="5715" dir="10800000">
              <a:srgbClr val="0000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灵活选择</a:t>
            </a:r>
            <a:endParaRPr lang="en-US" sz="495" dirty="0"/>
          </a:p>
        </p:txBody>
      </p:sp>
      <p:sp>
        <p:nvSpPr>
          <p:cNvPr id="90" name="Shape 88"/>
          <p:cNvSpPr/>
          <p:nvPr/>
        </p:nvSpPr>
        <p:spPr>
          <a:xfrm>
            <a:off x="7175718" y="2533263"/>
            <a:ext cx="27432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7175718" y="2533263"/>
            <a:ext cx="33147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450" dirty="0"/>
          </a:p>
        </p:txBody>
      </p:sp>
      <p:sp>
        <p:nvSpPr>
          <p:cNvPr id="92" name="Shape 90"/>
          <p:cNvSpPr/>
          <p:nvPr/>
        </p:nvSpPr>
        <p:spPr>
          <a:xfrm>
            <a:off x="7461468" y="2533263"/>
            <a:ext cx="137160" cy="108585"/>
          </a:xfrm>
          <a:prstGeom prst="roundRect">
            <a:avLst>
              <a:gd name="adj" fmla="val 1578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7461468" y="2533263"/>
            <a:ext cx="19431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b="1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Qt</a:t>
            </a:r>
            <a:endParaRPr lang="en-US" sz="450" dirty="0"/>
          </a:p>
        </p:txBody>
      </p:sp>
      <p:sp>
        <p:nvSpPr>
          <p:cNvPr id="94" name="Shape 92"/>
          <p:cNvSpPr/>
          <p:nvPr/>
        </p:nvSpPr>
        <p:spPr>
          <a:xfrm>
            <a:off x="7175718" y="2779008"/>
            <a:ext cx="1385262" cy="5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7175718" y="2836158"/>
            <a:ext cx="30289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b="1" spc="90" kern="0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关键特征</a:t>
            </a:r>
            <a:endParaRPr lang="en-US" sz="405" dirty="0"/>
          </a:p>
        </p:txBody>
      </p:sp>
      <p:sp>
        <p:nvSpPr>
          <p:cNvPr id="96" name="Text 94"/>
          <p:cNvSpPr/>
          <p:nvPr/>
        </p:nvSpPr>
        <p:spPr>
          <a:xfrm>
            <a:off x="7175718" y="2933313"/>
            <a:ext cx="1548994" cy="167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同时提供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开源与商业许可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选择，用户可按场景自由切换授权路径。</a:t>
            </a:r>
            <a:endParaRPr lang="en-US" sz="473" dirty="0"/>
          </a:p>
        </p:txBody>
      </p:sp>
      <p:sp>
        <p:nvSpPr>
          <p:cNvPr id="97" name="Shape 95"/>
          <p:cNvSpPr/>
          <p:nvPr/>
        </p:nvSpPr>
        <p:spPr>
          <a:xfrm>
            <a:off x="342900" y="3692336"/>
            <a:ext cx="2758380" cy="427375"/>
          </a:xfrm>
          <a:prstGeom prst="roundRect">
            <a:avLst>
              <a:gd name="adj" fmla="val 16047"/>
            </a:avLst>
          </a:prstGeom>
          <a:gradFill rotWithShape="1">
            <a:gsLst>
              <a:gs pos="0">
                <a:srgbClr val="111B30">
                  <a:alpha val="90000"/>
                </a:srgbClr>
              </a:gs>
              <a:gs pos="100000">
                <a:srgbClr val="0C1428">
                  <a:alpha val="70000"/>
                </a:srgbClr>
              </a:gs>
            </a:gsLst>
            <a:lin ang="2700000" scaled="0"/>
          </a:gradFill>
          <a:ln w="5715">
            <a:solidFill>
              <a:srgbClr val="1B2A4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2900" y="3692336"/>
            <a:ext cx="17145" cy="4159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9" name="Shape 97"/>
          <p:cNvSpPr/>
          <p:nvPr/>
        </p:nvSpPr>
        <p:spPr>
          <a:xfrm>
            <a:off x="451485" y="3780294"/>
            <a:ext cx="251460" cy="251460"/>
          </a:xfrm>
          <a:prstGeom prst="roundRect">
            <a:avLst>
              <a:gd name="adj" fmla="val 22727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0058" y="3846016"/>
            <a:ext cx="3371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52%</a:t>
            </a:r>
            <a:endParaRPr lang="en-US" sz="810" dirty="0"/>
          </a:p>
        </p:txBody>
      </p:sp>
      <p:sp>
        <p:nvSpPr>
          <p:cNvPr id="101" name="Text 99"/>
          <p:cNvSpPr/>
          <p:nvPr/>
        </p:nvSpPr>
        <p:spPr>
          <a:xfrm>
            <a:off x="782955" y="3766631"/>
            <a:ext cx="11658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宽松型占比 52%</a:t>
            </a:r>
            <a:endParaRPr lang="en-US" sz="1080" dirty="0"/>
          </a:p>
        </p:txBody>
      </p:sp>
      <p:sp>
        <p:nvSpPr>
          <p:cNvPr id="102" name="Text 100"/>
          <p:cNvSpPr/>
          <p:nvPr/>
        </p:nvSpPr>
        <p:spPr>
          <a:xfrm>
            <a:off x="782955" y="3946029"/>
            <a:ext cx="105613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Top 10 万项目许可证分布</a:t>
            </a:r>
            <a:endParaRPr lang="en-US" sz="495" dirty="0"/>
          </a:p>
        </p:txBody>
      </p:sp>
      <p:sp>
        <p:nvSpPr>
          <p:cNvPr id="103" name="Shape 101"/>
          <p:cNvSpPr/>
          <p:nvPr/>
        </p:nvSpPr>
        <p:spPr>
          <a:xfrm>
            <a:off x="3192720" y="3692336"/>
            <a:ext cx="2758470" cy="427375"/>
          </a:xfrm>
          <a:prstGeom prst="roundRect">
            <a:avLst>
              <a:gd name="adj" fmla="val 16047"/>
            </a:avLst>
          </a:prstGeom>
          <a:gradFill rotWithShape="1">
            <a:gsLst>
              <a:gs pos="0">
                <a:srgbClr val="111B30">
                  <a:alpha val="90000"/>
                </a:srgbClr>
              </a:gs>
              <a:gs pos="100000">
                <a:srgbClr val="0C1428">
                  <a:alpha val="70000"/>
                </a:srgbClr>
              </a:gs>
            </a:gsLst>
            <a:lin ang="2700000" scaled="0"/>
          </a:gradFill>
          <a:ln w="5715">
            <a:solidFill>
              <a:srgbClr val="1B2A4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192720" y="3692336"/>
            <a:ext cx="17145" cy="415945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301305" y="3780294"/>
            <a:ext cx="251460" cy="251460"/>
          </a:xfrm>
          <a:prstGeom prst="roundRect">
            <a:avLst>
              <a:gd name="adj" fmla="val 22727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315593" y="3846016"/>
            <a:ext cx="32575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810" dirty="0"/>
          </a:p>
        </p:txBody>
      </p:sp>
      <p:sp>
        <p:nvSpPr>
          <p:cNvPr id="107" name="Text 105"/>
          <p:cNvSpPr/>
          <p:nvPr/>
        </p:nvSpPr>
        <p:spPr>
          <a:xfrm>
            <a:off x="3632775" y="3766631"/>
            <a:ext cx="131856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家族占比 18%</a:t>
            </a:r>
            <a:endParaRPr lang="en-US" sz="1080" dirty="0"/>
          </a:p>
        </p:txBody>
      </p:sp>
      <p:sp>
        <p:nvSpPr>
          <p:cNvPr id="108" name="Text 106"/>
          <p:cNvSpPr/>
          <p:nvPr/>
        </p:nvSpPr>
        <p:spPr>
          <a:xfrm>
            <a:off x="3632775" y="3946029"/>
            <a:ext cx="132496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 LGPL 与 AGPL 在内的强 Copyleft 系列</a:t>
            </a:r>
            <a:endParaRPr lang="en-US" sz="495" dirty="0"/>
          </a:p>
        </p:txBody>
      </p:sp>
      <p:sp>
        <p:nvSpPr>
          <p:cNvPr id="109" name="Shape 107"/>
          <p:cNvSpPr/>
          <p:nvPr/>
        </p:nvSpPr>
        <p:spPr>
          <a:xfrm>
            <a:off x="6042630" y="3692336"/>
            <a:ext cx="2758380" cy="427375"/>
          </a:xfrm>
          <a:prstGeom prst="roundRect">
            <a:avLst>
              <a:gd name="adj" fmla="val 16047"/>
            </a:avLst>
          </a:prstGeom>
          <a:gradFill rotWithShape="1">
            <a:gsLst>
              <a:gs pos="0">
                <a:srgbClr val="111B30">
                  <a:alpha val="90000"/>
                </a:srgbClr>
              </a:gs>
              <a:gs pos="100000">
                <a:srgbClr val="0C1428">
                  <a:alpha val="70000"/>
                </a:srgbClr>
              </a:gs>
            </a:gsLst>
            <a:lin ang="2700000" scaled="0"/>
          </a:gradFill>
          <a:ln w="5715">
            <a:solidFill>
              <a:srgbClr val="1B2A4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42630" y="3692336"/>
            <a:ext cx="17145" cy="415945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151215" y="3780294"/>
            <a:ext cx="251460" cy="251460"/>
          </a:xfrm>
          <a:prstGeom prst="roundRect">
            <a:avLst>
              <a:gd name="adj" fmla="val 22727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08365" y="3846016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</a:t>
            </a:r>
            <a:endParaRPr lang="en-US" sz="810" dirty="0"/>
          </a:p>
        </p:txBody>
      </p:sp>
      <p:sp>
        <p:nvSpPr>
          <p:cNvPr id="113" name="Text 111"/>
          <p:cNvSpPr/>
          <p:nvPr/>
        </p:nvSpPr>
        <p:spPr>
          <a:xfrm>
            <a:off x="6482685" y="3766631"/>
            <a:ext cx="124587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新型协议增长 3 倍</a:t>
            </a:r>
            <a:endParaRPr lang="en-US" sz="1080" dirty="0"/>
          </a:p>
        </p:txBody>
      </p:sp>
      <p:sp>
        <p:nvSpPr>
          <p:cNvPr id="114" name="Text 112"/>
          <p:cNvSpPr/>
          <p:nvPr/>
        </p:nvSpPr>
        <p:spPr>
          <a:xfrm>
            <a:off x="6482685" y="3946029"/>
            <a:ext cx="94731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8FA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BSL / SSPL 近三年使用量增长</a:t>
            </a:r>
            <a:endParaRPr lang="en-US" sz="495" dirty="0"/>
          </a:p>
        </p:txBody>
      </p:sp>
      <p:sp>
        <p:nvSpPr>
          <p:cNvPr id="115" name="Shape 113"/>
          <p:cNvSpPr/>
          <p:nvPr/>
        </p:nvSpPr>
        <p:spPr>
          <a:xfrm>
            <a:off x="342900" y="4199721"/>
            <a:ext cx="8458200" cy="231993"/>
          </a:xfrm>
          <a:prstGeom prst="roundRect">
            <a:avLst>
              <a:gd name="adj" fmla="val 19707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50000">
                <a:srgbClr val="00BCD4">
                  <a:alpha val="6000"/>
                </a:srgbClr>
              </a:gs>
              <a:gs pos="100000">
                <a:srgbClr val="9C27B0">
                  <a:alpha val="10000"/>
                </a:srgbClr>
              </a:gs>
            </a:gsLst>
            <a:lin ang="0" scaled="0"/>
          </a:gradFill>
          <a:ln w="1714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2915" y="4279731"/>
            <a:ext cx="33147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核心洞察</a:t>
            </a:r>
            <a:endParaRPr lang="en-US" sz="450" dirty="0"/>
          </a:p>
        </p:txBody>
      </p:sp>
      <p:sp>
        <p:nvSpPr>
          <p:cNvPr id="117" name="Text 115"/>
          <p:cNvSpPr/>
          <p:nvPr/>
        </p:nvSpPr>
        <p:spPr>
          <a:xfrm>
            <a:off x="811530" y="4268301"/>
            <a:ext cx="4454957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开源许可证并非二元对立，而是从宽松到严格再到新型商业许可的</a:t>
            </a:r>
            <a:pPr algn="l" indent="0" marL="0">
              <a:lnSpc>
                <a:spcPct val="155000"/>
              </a:lnSpc>
              <a:buNone/>
            </a:pPr>
            <a:r>
              <a:rPr lang="en-US" sz="54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连续光谱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，选择合适的分类理解框架是制定</a:t>
            </a:r>
            <a:pPr algn="l" indent="0" marL="0">
              <a:lnSpc>
                <a:spcPct val="155000"/>
              </a:lnSpc>
              <a:buNone/>
            </a:pPr>
            <a:r>
              <a:rPr lang="en-US" sz="5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合规策略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的关键起点。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1543050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4572000" y="257175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00BCD4">
                  <a:alpha val="56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5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5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02870" y="102870"/>
            <a:ext cx="320040" cy="32004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102870" y="102870"/>
            <a:ext cx="32004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" y="102870"/>
            <a:ext cx="0" cy="32004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1090" y="102870"/>
            <a:ext cx="320040" cy="32004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721090" y="102870"/>
            <a:ext cx="32004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41130" y="102870"/>
            <a:ext cx="0" cy="32004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" y="4720590"/>
            <a:ext cx="320040" cy="32004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102870" y="5040630"/>
            <a:ext cx="32004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" y="4720590"/>
            <a:ext cx="0" cy="32004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21090" y="4720590"/>
            <a:ext cx="320040" cy="32004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041130" y="4720590"/>
            <a:ext cx="0" cy="32004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21090" y="5040630"/>
            <a:ext cx="32004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7665" y="285750"/>
            <a:ext cx="788670" cy="160020"/>
          </a:xfrm>
          <a:prstGeom prst="roundRect">
            <a:avLst>
              <a:gd name="adj" fmla="val 71429"/>
            </a:avLst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0540" y="331470"/>
            <a:ext cx="5657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22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章 节 · 03</a:t>
            </a:r>
            <a:endParaRPr lang="en-US" sz="495" dirty="0"/>
          </a:p>
        </p:txBody>
      </p:sp>
      <p:sp>
        <p:nvSpPr>
          <p:cNvPr id="19" name="Text 17"/>
          <p:cNvSpPr/>
          <p:nvPr/>
        </p:nvSpPr>
        <p:spPr>
          <a:xfrm>
            <a:off x="342900" y="548640"/>
            <a:ext cx="9473184" cy="39433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核心许可证深度解析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4171950" y="1022985"/>
            <a:ext cx="8001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342900" y="1114425"/>
            <a:ext cx="947318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spc="18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六大主流协议的条款要点与合规红线</a:t>
            </a:r>
            <a:endParaRPr lang="en-US" sz="765" dirty="0"/>
          </a:p>
        </p:txBody>
      </p:sp>
      <p:sp>
        <p:nvSpPr>
          <p:cNvPr id="22" name="Shape 20"/>
          <p:cNvSpPr/>
          <p:nvPr/>
        </p:nvSpPr>
        <p:spPr>
          <a:xfrm>
            <a:off x="645795" y="1971675"/>
            <a:ext cx="1223010" cy="1771650"/>
          </a:xfrm>
          <a:prstGeom prst="roundRect">
            <a:avLst>
              <a:gd name="adj" fmla="val 5607"/>
            </a:avLst>
          </a:prstGeom>
          <a:solidFill>
            <a:srgbClr val="0A1628">
              <a:alpha val="8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5795" y="1971675"/>
            <a:ext cx="12115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1251585" y="3560445"/>
            <a:ext cx="6858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4425" y="2103120"/>
            <a:ext cx="285750" cy="285750"/>
          </a:xfrm>
          <a:prstGeom prst="ellipse">
            <a:avLst/>
          </a:prstGeom>
          <a:solidFill>
            <a:srgbClr val="2196F3">
              <a:alpha val="6000"/>
            </a:srgbClr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68718" y="2188845"/>
            <a:ext cx="28346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151573" y="2468880"/>
            <a:ext cx="30861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endParaRPr lang="en-US" sz="765" dirty="0"/>
          </a:p>
        </p:txBody>
      </p:sp>
      <p:sp>
        <p:nvSpPr>
          <p:cNvPr id="28" name="Text 26"/>
          <p:cNvSpPr/>
          <p:nvPr/>
        </p:nvSpPr>
        <p:spPr>
          <a:xfrm>
            <a:off x="1037273" y="2611755"/>
            <a:ext cx="4972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通用公共许可证</a:t>
            </a:r>
            <a:endParaRPr lang="en-US" sz="450" dirty="0"/>
          </a:p>
        </p:txBody>
      </p:sp>
      <p:sp>
        <p:nvSpPr>
          <p:cNvPr id="29" name="Shape 27"/>
          <p:cNvSpPr/>
          <p:nvPr/>
        </p:nvSpPr>
        <p:spPr>
          <a:xfrm>
            <a:off x="1131570" y="2777490"/>
            <a:ext cx="2514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0" name="Text 28"/>
          <p:cNvSpPr/>
          <p:nvPr/>
        </p:nvSpPr>
        <p:spPr>
          <a:xfrm>
            <a:off x="731520" y="2863215"/>
            <a:ext cx="1177747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最强 Copyleft，修改与衍生作品必须开源</a:t>
            </a:r>
            <a:endParaRPr lang="en-US" sz="540" dirty="0"/>
          </a:p>
        </p:txBody>
      </p:sp>
      <p:sp>
        <p:nvSpPr>
          <p:cNvPr id="31" name="Shape 29"/>
          <p:cNvSpPr/>
          <p:nvPr/>
        </p:nvSpPr>
        <p:spPr>
          <a:xfrm>
            <a:off x="1971675" y="1971675"/>
            <a:ext cx="1223010" cy="1771650"/>
          </a:xfrm>
          <a:prstGeom prst="roundRect">
            <a:avLst>
              <a:gd name="adj" fmla="val 5607"/>
            </a:avLst>
          </a:prstGeom>
          <a:solidFill>
            <a:srgbClr val="0A1628">
              <a:alpha val="8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971675" y="1971675"/>
            <a:ext cx="12115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2577465" y="3560445"/>
            <a:ext cx="6858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440305" y="2103120"/>
            <a:ext cx="285750" cy="285750"/>
          </a:xfrm>
          <a:prstGeom prst="ellipse">
            <a:avLst/>
          </a:prstGeom>
          <a:solidFill>
            <a:srgbClr val="2196F3">
              <a:alpha val="6000"/>
            </a:srgbClr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74595" y="2188845"/>
            <a:ext cx="34747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V2/3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2360295" y="2468880"/>
            <a:ext cx="54292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变体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2394585" y="2640330"/>
            <a:ext cx="4343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条款版本演进</a:t>
            </a:r>
            <a:endParaRPr lang="en-US" sz="450" dirty="0"/>
          </a:p>
        </p:txBody>
      </p:sp>
      <p:sp>
        <p:nvSpPr>
          <p:cNvPr id="38" name="Shape 36"/>
          <p:cNvSpPr/>
          <p:nvPr/>
        </p:nvSpPr>
        <p:spPr>
          <a:xfrm>
            <a:off x="2457450" y="2806065"/>
            <a:ext cx="2514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9" name="Text 37"/>
          <p:cNvSpPr/>
          <p:nvPr/>
        </p:nvSpPr>
        <p:spPr>
          <a:xfrm>
            <a:off x="2068830" y="2891790"/>
            <a:ext cx="115214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商业分发受限，衍生代码强制共享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3297555" y="1971675"/>
            <a:ext cx="1223010" cy="1771650"/>
          </a:xfrm>
          <a:prstGeom prst="roundRect">
            <a:avLst>
              <a:gd name="adj" fmla="val 5607"/>
            </a:avLst>
          </a:prstGeom>
          <a:solidFill>
            <a:srgbClr val="0A1628">
              <a:alpha val="8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7555" y="1971675"/>
            <a:ext cx="12115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Shape 40"/>
          <p:cNvSpPr/>
          <p:nvPr/>
        </p:nvSpPr>
        <p:spPr>
          <a:xfrm>
            <a:off x="3903345" y="3560445"/>
            <a:ext cx="6858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766185" y="2103120"/>
            <a:ext cx="285750" cy="285750"/>
          </a:xfrm>
          <a:prstGeom prst="ellipse">
            <a:avLst/>
          </a:prstGeom>
          <a:solidFill>
            <a:srgbClr val="2196F3">
              <a:alpha val="6000"/>
            </a:srgbClr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5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3338" y="2188845"/>
            <a:ext cx="22288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3766185" y="2468880"/>
            <a:ext cx="3829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</a:t>
            </a:r>
            <a:endParaRPr lang="en-US" sz="765" dirty="0"/>
          </a:p>
        </p:txBody>
      </p:sp>
      <p:sp>
        <p:nvSpPr>
          <p:cNvPr id="46" name="Text 44"/>
          <p:cNvSpPr/>
          <p:nvPr/>
        </p:nvSpPr>
        <p:spPr>
          <a:xfrm>
            <a:off x="3720465" y="2611755"/>
            <a:ext cx="4343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网络服务扩展</a:t>
            </a:r>
            <a:endParaRPr lang="en-US" sz="450" dirty="0"/>
          </a:p>
        </p:txBody>
      </p:sp>
      <p:sp>
        <p:nvSpPr>
          <p:cNvPr id="47" name="Shape 45"/>
          <p:cNvSpPr/>
          <p:nvPr/>
        </p:nvSpPr>
        <p:spPr>
          <a:xfrm>
            <a:off x="3783330" y="2777490"/>
            <a:ext cx="2514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8" name="Text 46"/>
          <p:cNvSpPr/>
          <p:nvPr/>
        </p:nvSpPr>
        <p:spPr>
          <a:xfrm>
            <a:off x="3383280" y="2863215"/>
            <a:ext cx="1177747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网络交互条款扩展，SaaS 使用也须开源</a:t>
            </a:r>
            <a:endParaRPr lang="en-US" sz="540" dirty="0"/>
          </a:p>
        </p:txBody>
      </p:sp>
      <p:sp>
        <p:nvSpPr>
          <p:cNvPr id="49" name="Shape 47"/>
          <p:cNvSpPr/>
          <p:nvPr/>
        </p:nvSpPr>
        <p:spPr>
          <a:xfrm>
            <a:off x="4623435" y="1971675"/>
            <a:ext cx="1223010" cy="1771650"/>
          </a:xfrm>
          <a:prstGeom prst="roundRect">
            <a:avLst>
              <a:gd name="adj" fmla="val 5607"/>
            </a:avLst>
          </a:prstGeom>
          <a:solidFill>
            <a:srgbClr val="0A1628">
              <a:alpha val="85000"/>
            </a:srgbClr>
          </a:solidFill>
          <a:ln w="5715">
            <a:solidFill>
              <a:srgbClr val="00BCD4">
                <a:alpha val="65000"/>
              </a:srgbClr>
            </a:solidFill>
            <a:prstDash val="solid"/>
          </a:ln>
          <a:effectLst>
            <a:outerShdw sx="100000" sy="100000" kx="0" ky="0" algn="bl" rotWithShape="0" blurRad="266700" dist="50800" dir="16200000">
              <a:srgbClr val="00BCD4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23435" y="1971675"/>
            <a:ext cx="12115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00BCD4"/>
              </a:gs>
              <a:gs pos="67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1" name="Shape 49"/>
          <p:cNvSpPr/>
          <p:nvPr/>
        </p:nvSpPr>
        <p:spPr>
          <a:xfrm>
            <a:off x="5229225" y="3560445"/>
            <a:ext cx="6858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092065" y="2103120"/>
            <a:ext cx="285750" cy="285750"/>
          </a:xfrm>
          <a:prstGeom prst="ellipse">
            <a:avLst/>
          </a:prstGeom>
          <a:solidFill>
            <a:srgbClr val="00BCD4">
              <a:alpha val="6000"/>
            </a:srgbClr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152400" dist="50800" dir="16200000">
              <a:srgbClr val="00BCD4">
                <a:alpha val="5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172075" y="2188845"/>
            <a:ext cx="21945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4929188" y="2468880"/>
            <a:ext cx="7086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765" dirty="0"/>
          </a:p>
        </p:txBody>
      </p:sp>
      <p:sp>
        <p:nvSpPr>
          <p:cNvPr id="55" name="Text 53"/>
          <p:cNvSpPr/>
          <p:nvPr/>
        </p:nvSpPr>
        <p:spPr>
          <a:xfrm>
            <a:off x="5046345" y="2611755"/>
            <a:ext cx="4343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企业主流之选</a:t>
            </a:r>
            <a:endParaRPr lang="en-US" sz="450" dirty="0"/>
          </a:p>
        </p:txBody>
      </p:sp>
      <p:sp>
        <p:nvSpPr>
          <p:cNvPr id="56" name="Shape 54"/>
          <p:cNvSpPr/>
          <p:nvPr/>
        </p:nvSpPr>
        <p:spPr>
          <a:xfrm>
            <a:off x="5109210" y="2777490"/>
            <a:ext cx="2514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7" name="Text 55"/>
          <p:cNvSpPr/>
          <p:nvPr/>
        </p:nvSpPr>
        <p:spPr>
          <a:xfrm>
            <a:off x="4754880" y="2863215"/>
            <a:ext cx="1075334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宽松加专利授权，企业主流选择</a:t>
            </a:r>
            <a:endParaRPr lang="en-US" sz="540" dirty="0"/>
          </a:p>
        </p:txBody>
      </p:sp>
      <p:sp>
        <p:nvSpPr>
          <p:cNvPr id="58" name="Shape 56"/>
          <p:cNvSpPr/>
          <p:nvPr/>
        </p:nvSpPr>
        <p:spPr>
          <a:xfrm>
            <a:off x="5949315" y="1971675"/>
            <a:ext cx="1223010" cy="1771650"/>
          </a:xfrm>
          <a:prstGeom prst="roundRect">
            <a:avLst>
              <a:gd name="adj" fmla="val 5607"/>
            </a:avLst>
          </a:prstGeom>
          <a:solidFill>
            <a:srgbClr val="0A1628">
              <a:alpha val="8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949315" y="1971675"/>
            <a:ext cx="12115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0" name="Shape 58"/>
          <p:cNvSpPr/>
          <p:nvPr/>
        </p:nvSpPr>
        <p:spPr>
          <a:xfrm>
            <a:off x="6555105" y="3560445"/>
            <a:ext cx="6858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17945" y="2103120"/>
            <a:ext cx="285750" cy="285750"/>
          </a:xfrm>
          <a:prstGeom prst="ellipse">
            <a:avLst/>
          </a:prstGeom>
          <a:solidFill>
            <a:srgbClr val="2196F3">
              <a:alpha val="6000"/>
            </a:srgbClr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5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517958" y="2188845"/>
            <a:ext cx="17716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6303645" y="2468880"/>
            <a:ext cx="6115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/ BSD</a:t>
            </a:r>
            <a:endParaRPr lang="en-US" sz="765" dirty="0"/>
          </a:p>
        </p:txBody>
      </p:sp>
      <p:sp>
        <p:nvSpPr>
          <p:cNvPr id="64" name="Text 62"/>
          <p:cNvSpPr/>
          <p:nvPr/>
        </p:nvSpPr>
        <p:spPr>
          <a:xfrm>
            <a:off x="6372225" y="2611755"/>
            <a:ext cx="4343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极简宽松许可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6435090" y="2777490"/>
            <a:ext cx="2514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6" name="Text 64"/>
          <p:cNvSpPr/>
          <p:nvPr/>
        </p:nvSpPr>
        <p:spPr>
          <a:xfrm>
            <a:off x="6035040" y="2863215"/>
            <a:ext cx="1177747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最简条款，几乎无限制但无专利保护</a:t>
            </a:r>
            <a:endParaRPr lang="en-US" sz="540" dirty="0"/>
          </a:p>
        </p:txBody>
      </p:sp>
      <p:sp>
        <p:nvSpPr>
          <p:cNvPr id="67" name="Shape 65"/>
          <p:cNvSpPr/>
          <p:nvPr/>
        </p:nvSpPr>
        <p:spPr>
          <a:xfrm>
            <a:off x="7275195" y="1971675"/>
            <a:ext cx="1223010" cy="1771650"/>
          </a:xfrm>
          <a:prstGeom prst="roundRect">
            <a:avLst>
              <a:gd name="adj" fmla="val 5607"/>
            </a:avLst>
          </a:prstGeom>
          <a:solidFill>
            <a:srgbClr val="0A1628">
              <a:alpha val="85000"/>
            </a:srgbClr>
          </a:soli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209550" dist="50800" dir="16200000">
              <a:srgbClr val="2196F3">
                <a:alpha val="1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275195" y="1971675"/>
            <a:ext cx="12115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9" name="Shape 67"/>
          <p:cNvSpPr/>
          <p:nvPr/>
        </p:nvSpPr>
        <p:spPr>
          <a:xfrm>
            <a:off x="7880985" y="3560445"/>
            <a:ext cx="6858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743825" y="2103120"/>
            <a:ext cx="285750" cy="285750"/>
          </a:xfrm>
          <a:prstGeom prst="ellipse">
            <a:avLst/>
          </a:prstGeom>
          <a:solidFill>
            <a:srgbClr val="2196F3">
              <a:alpha val="6000"/>
            </a:srgbClr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133350" dist="50800" dir="16200000">
              <a:srgbClr val="2196F3">
                <a:alpha val="5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826693" y="2188845"/>
            <a:ext cx="21945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LC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7583805" y="2468880"/>
            <a:ext cx="70294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 / MPL</a:t>
            </a:r>
            <a:endParaRPr lang="en-US" sz="765" dirty="0"/>
          </a:p>
        </p:txBody>
      </p:sp>
      <p:sp>
        <p:nvSpPr>
          <p:cNvPr id="73" name="Text 71"/>
          <p:cNvSpPr/>
          <p:nvPr/>
        </p:nvSpPr>
        <p:spPr>
          <a:xfrm>
            <a:off x="7632383" y="2611755"/>
            <a:ext cx="56967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 平衡</a:t>
            </a:r>
            <a:endParaRPr lang="en-US" sz="450" dirty="0"/>
          </a:p>
        </p:txBody>
      </p:sp>
      <p:sp>
        <p:nvSpPr>
          <p:cNvPr id="74" name="Shape 72"/>
          <p:cNvSpPr/>
          <p:nvPr/>
        </p:nvSpPr>
        <p:spPr>
          <a:xfrm>
            <a:off x="7760970" y="2777490"/>
            <a:ext cx="2514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5" name="Text 73"/>
          <p:cNvSpPr/>
          <p:nvPr/>
        </p:nvSpPr>
        <p:spPr>
          <a:xfrm>
            <a:off x="7363778" y="2863215"/>
            <a:ext cx="117134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库级弱 Copyleft，平衡开源与商业</a:t>
            </a:r>
            <a:endParaRPr lang="en-US" sz="540" dirty="0"/>
          </a:p>
        </p:txBody>
      </p:sp>
      <p:sp>
        <p:nvSpPr>
          <p:cNvPr id="76" name="Shape 74"/>
          <p:cNvSpPr/>
          <p:nvPr/>
        </p:nvSpPr>
        <p:spPr>
          <a:xfrm>
            <a:off x="514350" y="4457700"/>
            <a:ext cx="1940243" cy="400050"/>
          </a:xfrm>
          <a:prstGeom prst="roundRect">
            <a:avLst>
              <a:gd name="adj" fmla="val 14286"/>
            </a:avLst>
          </a:prstGeom>
          <a:solidFill>
            <a:srgbClr val="0A1628">
              <a:alpha val="7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14350" y="4457700"/>
            <a:ext cx="17145" cy="38862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8" name="Text 76"/>
          <p:cNvSpPr/>
          <p:nvPr/>
        </p:nvSpPr>
        <p:spPr>
          <a:xfrm>
            <a:off x="691515" y="4543425"/>
            <a:ext cx="48006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045845" y="4551998"/>
            <a:ext cx="137937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解读协议数</a:t>
            </a:r>
            <a:endParaRPr lang="en-US" sz="585" dirty="0"/>
          </a:p>
        </p:txBody>
      </p:sp>
      <p:sp>
        <p:nvSpPr>
          <p:cNvPr id="80" name="Text 78"/>
          <p:cNvSpPr/>
          <p:nvPr/>
        </p:nvSpPr>
        <p:spPr>
          <a:xfrm>
            <a:off x="1045845" y="4683443"/>
            <a:ext cx="137937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· AGPL · Apache · MIT · BSD · MPL</a:t>
            </a:r>
            <a:endParaRPr lang="en-US" sz="495" dirty="0"/>
          </a:p>
        </p:txBody>
      </p:sp>
      <p:sp>
        <p:nvSpPr>
          <p:cNvPr id="81" name="Shape 79"/>
          <p:cNvSpPr/>
          <p:nvPr/>
        </p:nvSpPr>
        <p:spPr>
          <a:xfrm>
            <a:off x="7215188" y="4457700"/>
            <a:ext cx="1414463" cy="400050"/>
          </a:xfrm>
          <a:prstGeom prst="roundRect">
            <a:avLst>
              <a:gd name="adj" fmla="val 14286"/>
            </a:avLst>
          </a:prstGeom>
          <a:solidFill>
            <a:srgbClr val="0A1628">
              <a:alpha val="7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15188" y="4457700"/>
            <a:ext cx="17145" cy="38862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83" name="Text 81"/>
          <p:cNvSpPr/>
          <p:nvPr/>
        </p:nvSpPr>
        <p:spPr>
          <a:xfrm>
            <a:off x="7392353" y="4543425"/>
            <a:ext cx="48006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7746683" y="4546283"/>
            <a:ext cx="79049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关注维度</a:t>
            </a:r>
            <a:endParaRPr lang="en-US" sz="585" dirty="0"/>
          </a:p>
        </p:txBody>
      </p:sp>
      <p:sp>
        <p:nvSpPr>
          <p:cNvPr id="85" name="Text 83"/>
          <p:cNvSpPr/>
          <p:nvPr/>
        </p:nvSpPr>
        <p:spPr>
          <a:xfrm>
            <a:off x="7746683" y="4677728"/>
            <a:ext cx="79049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· 修改 · 分发 · 专利</a:t>
            </a:r>
            <a:endParaRPr lang="en-US" sz="49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164592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4206240" y="-1543050"/>
            <a:ext cx="7680960" cy="432054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274320" y="214313"/>
            <a:ext cx="34290" cy="2971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BCD4">
                <a:alpha val="6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0925" y="280035"/>
            <a:ext cx="1468755" cy="165735"/>
          </a:xfrm>
          <a:prstGeom prst="roundRect">
            <a:avLst>
              <a:gd name="adj" fmla="val 68966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0925" y="280035"/>
            <a:ext cx="34290" cy="34290"/>
          </a:xfrm>
          <a:prstGeom prst="ellipse">
            <a:avLst/>
          </a:prstGeom>
          <a:solidFill>
            <a:srgbClr val="00BCD4">
              <a:alpha val="51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66660" y="320040"/>
            <a:ext cx="13633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LICENSE MATRIX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411480" y="577215"/>
            <a:ext cx="8961120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通过对比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六大主流许可证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六个核心维度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上的差异，可以快速定位适合自己项目场景的许可证类型，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减少合规决策成本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274320" y="830907"/>
            <a:ext cx="85953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274320" y="916632"/>
            <a:ext cx="2080260" cy="590877"/>
          </a:xfrm>
          <a:prstGeom prst="roundRect">
            <a:avLst>
              <a:gd name="adj" fmla="val 1160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16632"/>
            <a:ext cx="17145" cy="5794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2057400" y="745182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" name="Text 13"/>
          <p:cNvSpPr/>
          <p:nvPr/>
        </p:nvSpPr>
        <p:spPr>
          <a:xfrm>
            <a:off x="2218492" y="990927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ECF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📜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382905" y="1002357"/>
            <a:ext cx="208666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许可证总数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531495" y="1208097"/>
            <a:ext cx="48006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类主流协议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382905" y="1333827"/>
            <a:ext cx="2086661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涵盖宽松型与 Copyleft 型两大流派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2446020" y="916632"/>
            <a:ext cx="2080260" cy="590877"/>
          </a:xfrm>
          <a:prstGeom prst="roundRect">
            <a:avLst>
              <a:gd name="adj" fmla="val 1160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46020" y="916632"/>
            <a:ext cx="17145" cy="57945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4229100" y="745182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2" name="Text 20"/>
          <p:cNvSpPr/>
          <p:nvPr/>
        </p:nvSpPr>
        <p:spPr>
          <a:xfrm>
            <a:off x="4390192" y="990927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ECF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2554605" y="1002357"/>
            <a:ext cx="208666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对比维度</a:t>
            </a:r>
            <a:endParaRPr lang="en-US" sz="495" dirty="0"/>
          </a:p>
        </p:txBody>
      </p:sp>
      <p:sp>
        <p:nvSpPr>
          <p:cNvPr id="24" name="Text 22"/>
          <p:cNvSpPr/>
          <p:nvPr/>
        </p:nvSpPr>
        <p:spPr>
          <a:xfrm>
            <a:off x="2703195" y="1208097"/>
            <a:ext cx="48006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个核心维度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2554605" y="1333827"/>
            <a:ext cx="2086661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/ 修改 / SaaS / 专利 / 商标 / 声明</a:t>
            </a:r>
            <a:endParaRPr lang="en-US" sz="495" dirty="0"/>
          </a:p>
        </p:txBody>
      </p:sp>
      <p:sp>
        <p:nvSpPr>
          <p:cNvPr id="26" name="Shape 24"/>
          <p:cNvSpPr/>
          <p:nvPr/>
        </p:nvSpPr>
        <p:spPr>
          <a:xfrm>
            <a:off x="4617720" y="916632"/>
            <a:ext cx="2080260" cy="590877"/>
          </a:xfrm>
          <a:prstGeom prst="roundRect">
            <a:avLst>
              <a:gd name="adj" fmla="val 1160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916632"/>
            <a:ext cx="17145" cy="579450"/>
          </a:xfrm>
          <a:prstGeom prst="rect">
            <a:avLst/>
          </a:prstGeom>
          <a:gradFill rotWithShape="1">
            <a:gsLst>
              <a:gs pos="0">
                <a:srgbClr val="00E676"/>
              </a:gs>
              <a:gs pos="100000">
                <a:srgbClr val="00C853"/>
              </a:gs>
            </a:gsLst>
            <a:lin ang="5400000" scaled="0"/>
          </a:gradFill>
          <a:ln/>
        </p:spPr>
      </p:sp>
      <p:sp>
        <p:nvSpPr>
          <p:cNvPr id="28" name="Shape 26"/>
          <p:cNvSpPr/>
          <p:nvPr/>
        </p:nvSpPr>
        <p:spPr>
          <a:xfrm>
            <a:off x="6400800" y="745182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9" name="Text 27"/>
          <p:cNvSpPr/>
          <p:nvPr/>
        </p:nvSpPr>
        <p:spPr>
          <a:xfrm>
            <a:off x="6561892" y="990927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ECF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🟢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4726305" y="1002357"/>
            <a:ext cx="208666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宽松指数 MIT</a:t>
            </a:r>
            <a:endParaRPr lang="en-US" sz="495" dirty="0"/>
          </a:p>
        </p:txBody>
      </p:sp>
      <p:sp>
        <p:nvSpPr>
          <p:cNvPr id="31" name="Text 29"/>
          <p:cNvSpPr/>
          <p:nvPr/>
        </p:nvSpPr>
        <p:spPr>
          <a:xfrm>
            <a:off x="4960620" y="1208097"/>
            <a:ext cx="30403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10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4726305" y="1333827"/>
            <a:ext cx="2086661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最宽松、最商业友好的许可证选择</a:t>
            </a:r>
            <a:endParaRPr lang="en-US" sz="495" dirty="0"/>
          </a:p>
        </p:txBody>
      </p:sp>
      <p:sp>
        <p:nvSpPr>
          <p:cNvPr id="33" name="Shape 31"/>
          <p:cNvSpPr/>
          <p:nvPr/>
        </p:nvSpPr>
        <p:spPr>
          <a:xfrm>
            <a:off x="6789420" y="916632"/>
            <a:ext cx="2080260" cy="590877"/>
          </a:xfrm>
          <a:prstGeom prst="roundRect">
            <a:avLst>
              <a:gd name="adj" fmla="val 1160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89420" y="916632"/>
            <a:ext cx="17145" cy="579450"/>
          </a:xfrm>
          <a:prstGeom prst="rect">
            <a:avLst/>
          </a:prstGeom>
          <a:gradFill rotWithShape="1">
            <a:gsLst>
              <a:gs pos="0">
                <a:srgbClr val="FF5252"/>
              </a:gs>
              <a:gs pos="100000">
                <a:srgbClr val="D50000"/>
              </a:gs>
            </a:gsLst>
            <a:lin ang="540000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8572500" y="745182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6" name="Text 34"/>
          <p:cNvSpPr/>
          <p:nvPr/>
        </p:nvSpPr>
        <p:spPr>
          <a:xfrm>
            <a:off x="8733592" y="990927"/>
            <a:ext cx="24688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E8ECF4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6898005" y="1002357"/>
            <a:ext cx="208666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严格指数 AGPL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7132320" y="1208097"/>
            <a:ext cx="30403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10</a:t>
            </a:r>
            <a:endParaRPr lang="en-US" sz="630" dirty="0"/>
          </a:p>
        </p:txBody>
      </p:sp>
      <p:sp>
        <p:nvSpPr>
          <p:cNvPr id="39" name="Text 37"/>
          <p:cNvSpPr/>
          <p:nvPr/>
        </p:nvSpPr>
        <p:spPr>
          <a:xfrm>
            <a:off x="6898005" y="1333827"/>
            <a:ext cx="2086661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最强 Copyleft，含网络服务开源要求</a:t>
            </a:r>
            <a:endParaRPr lang="en-US" sz="495" dirty="0"/>
          </a:p>
        </p:txBody>
      </p:sp>
      <p:sp>
        <p:nvSpPr>
          <p:cNvPr id="40" name="Shape 38"/>
          <p:cNvSpPr/>
          <p:nvPr/>
        </p:nvSpPr>
        <p:spPr>
          <a:xfrm>
            <a:off x="274320" y="1598950"/>
            <a:ext cx="8595360" cy="3093065"/>
          </a:xfrm>
          <a:prstGeom prst="roundRect">
            <a:avLst>
              <a:gd name="adj" fmla="val 2587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80035" y="1604665"/>
            <a:ext cx="1028700" cy="218242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2" name="Shape 40"/>
          <p:cNvSpPr/>
          <p:nvPr/>
        </p:nvSpPr>
        <p:spPr>
          <a:xfrm>
            <a:off x="1320165" y="1604665"/>
            <a:ext cx="1247745" cy="218242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2196F3">
                  <a:alpha val="14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320165" y="1604665"/>
            <a:ext cx="1247745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BCD4"/>
              </a:gs>
              <a:gs pos="50000">
                <a:srgbClr val="2196F3"/>
              </a:gs>
              <a:gs pos="7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4" name="Text 42"/>
          <p:cNvSpPr/>
          <p:nvPr/>
        </p:nvSpPr>
        <p:spPr>
          <a:xfrm>
            <a:off x="1868269" y="1661815"/>
            <a:ext cx="230315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585" dirty="0"/>
          </a:p>
        </p:txBody>
      </p:sp>
      <p:sp>
        <p:nvSpPr>
          <p:cNvPr id="45" name="Shape 43"/>
          <p:cNvSpPr/>
          <p:nvPr/>
        </p:nvSpPr>
        <p:spPr>
          <a:xfrm>
            <a:off x="2579340" y="1604665"/>
            <a:ext cx="1247745" cy="218242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2196F3">
                  <a:alpha val="14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79340" y="1604665"/>
            <a:ext cx="1247745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BCD4"/>
              </a:gs>
              <a:gs pos="50000">
                <a:srgbClr val="2196F3"/>
              </a:gs>
              <a:gs pos="7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Text 45"/>
          <p:cNvSpPr/>
          <p:nvPr/>
        </p:nvSpPr>
        <p:spPr>
          <a:xfrm>
            <a:off x="3121729" y="1661815"/>
            <a:ext cx="237173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BSD</a:t>
            </a:r>
            <a:endParaRPr lang="en-US" sz="585" dirty="0"/>
          </a:p>
        </p:txBody>
      </p:sp>
      <p:sp>
        <p:nvSpPr>
          <p:cNvPr id="48" name="Shape 46"/>
          <p:cNvSpPr/>
          <p:nvPr/>
        </p:nvSpPr>
        <p:spPr>
          <a:xfrm>
            <a:off x="3838515" y="1604665"/>
            <a:ext cx="1247745" cy="218242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2196F3">
                  <a:alpha val="14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38515" y="1604665"/>
            <a:ext cx="1247745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BCD4"/>
              </a:gs>
              <a:gs pos="50000">
                <a:srgbClr val="2196F3"/>
              </a:gs>
              <a:gs pos="7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0" name="Text 48"/>
          <p:cNvSpPr/>
          <p:nvPr/>
        </p:nvSpPr>
        <p:spPr>
          <a:xfrm>
            <a:off x="4233743" y="1661815"/>
            <a:ext cx="531495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585" dirty="0"/>
          </a:p>
        </p:txBody>
      </p:sp>
      <p:sp>
        <p:nvSpPr>
          <p:cNvPr id="51" name="Shape 49"/>
          <p:cNvSpPr/>
          <p:nvPr/>
        </p:nvSpPr>
        <p:spPr>
          <a:xfrm>
            <a:off x="5097691" y="1604665"/>
            <a:ext cx="1247835" cy="218242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2196F3">
                  <a:alpha val="14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097691" y="1604665"/>
            <a:ext cx="1247836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BCD4"/>
              </a:gs>
              <a:gs pos="50000">
                <a:srgbClr val="2196F3"/>
              </a:gs>
              <a:gs pos="7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3" name="Text 51"/>
          <p:cNvSpPr/>
          <p:nvPr/>
        </p:nvSpPr>
        <p:spPr>
          <a:xfrm>
            <a:off x="5645884" y="1661815"/>
            <a:ext cx="230315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endParaRPr lang="en-US" sz="585" dirty="0"/>
          </a:p>
        </p:txBody>
      </p:sp>
      <p:sp>
        <p:nvSpPr>
          <p:cNvPr id="54" name="Shape 52"/>
          <p:cNvSpPr/>
          <p:nvPr/>
        </p:nvSpPr>
        <p:spPr>
          <a:xfrm>
            <a:off x="6356955" y="1604665"/>
            <a:ext cx="1247745" cy="218242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2196F3">
                  <a:alpha val="14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56955" y="1604665"/>
            <a:ext cx="1247745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BCD4"/>
              </a:gs>
              <a:gs pos="50000">
                <a:srgbClr val="2196F3"/>
              </a:gs>
              <a:gs pos="7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6" name="Text 54"/>
          <p:cNvSpPr/>
          <p:nvPr/>
        </p:nvSpPr>
        <p:spPr>
          <a:xfrm>
            <a:off x="6883628" y="1661815"/>
            <a:ext cx="282321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</a:t>
            </a:r>
            <a:endParaRPr lang="en-US" sz="585" dirty="0"/>
          </a:p>
        </p:txBody>
      </p:sp>
      <p:sp>
        <p:nvSpPr>
          <p:cNvPr id="57" name="Shape 55"/>
          <p:cNvSpPr/>
          <p:nvPr/>
        </p:nvSpPr>
        <p:spPr>
          <a:xfrm>
            <a:off x="7616130" y="1604665"/>
            <a:ext cx="1247745" cy="218242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2196F3">
                  <a:alpha val="1400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616130" y="1604665"/>
            <a:ext cx="1247745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BCD4"/>
              </a:gs>
              <a:gs pos="50000">
                <a:srgbClr val="2196F3"/>
              </a:gs>
              <a:gs pos="75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9" name="Text 57"/>
          <p:cNvSpPr/>
          <p:nvPr/>
        </p:nvSpPr>
        <p:spPr>
          <a:xfrm>
            <a:off x="8137088" y="1661815"/>
            <a:ext cx="282321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85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</a:t>
            </a:r>
            <a:endParaRPr lang="en-US" sz="585" dirty="0"/>
          </a:p>
        </p:txBody>
      </p:sp>
      <p:sp>
        <p:nvSpPr>
          <p:cNvPr id="60" name="Shape 58"/>
          <p:cNvSpPr/>
          <p:nvPr/>
        </p:nvSpPr>
        <p:spPr>
          <a:xfrm>
            <a:off x="280035" y="1834336"/>
            <a:ext cx="1028700" cy="465773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61" name="Shape 59"/>
          <p:cNvSpPr/>
          <p:nvPr/>
        </p:nvSpPr>
        <p:spPr>
          <a:xfrm>
            <a:off x="1308735" y="1834336"/>
            <a:ext cx="0" cy="465773"/>
          </a:xfrm>
          <a:prstGeom prst="lin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8615" y="1893183"/>
            <a:ext cx="985723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🔓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348615" y="2044005"/>
            <a:ext cx="985723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使用自由</a:t>
            </a:r>
            <a:endParaRPr lang="en-US" sz="563" dirty="0"/>
          </a:p>
        </p:txBody>
      </p:sp>
      <p:sp>
        <p:nvSpPr>
          <p:cNvPr id="64" name="Text 62"/>
          <p:cNvSpPr/>
          <p:nvPr/>
        </p:nvSpPr>
        <p:spPr>
          <a:xfrm>
            <a:off x="348615" y="2161163"/>
            <a:ext cx="9857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自由使用与学习源码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1320165" y="1834336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66" name="Shape 64"/>
          <p:cNvSpPr/>
          <p:nvPr/>
        </p:nvSpPr>
        <p:spPr>
          <a:xfrm>
            <a:off x="1320165" y="1834336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388745" y="1951494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允许</a:t>
            </a:r>
            <a:endParaRPr lang="en-US" sz="563" dirty="0"/>
          </a:p>
        </p:txBody>
      </p:sp>
      <p:sp>
        <p:nvSpPr>
          <p:cNvPr id="68" name="Shape 66"/>
          <p:cNvSpPr/>
          <p:nvPr/>
        </p:nvSpPr>
        <p:spPr>
          <a:xfrm>
            <a:off x="1388745" y="20686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88745" y="20686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70" name="Shape 68"/>
          <p:cNvSpPr/>
          <p:nvPr/>
        </p:nvSpPr>
        <p:spPr>
          <a:xfrm>
            <a:off x="2579340" y="1834336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71" name="Shape 69"/>
          <p:cNvSpPr/>
          <p:nvPr/>
        </p:nvSpPr>
        <p:spPr>
          <a:xfrm>
            <a:off x="2579340" y="1834336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647920" y="1951494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允许</a:t>
            </a:r>
            <a:endParaRPr lang="en-US" sz="563" dirty="0"/>
          </a:p>
        </p:txBody>
      </p:sp>
      <p:sp>
        <p:nvSpPr>
          <p:cNvPr id="73" name="Shape 71"/>
          <p:cNvSpPr/>
          <p:nvPr/>
        </p:nvSpPr>
        <p:spPr>
          <a:xfrm>
            <a:off x="2647920" y="20686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47920" y="20686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3838515" y="1834336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76" name="Shape 74"/>
          <p:cNvSpPr/>
          <p:nvPr/>
        </p:nvSpPr>
        <p:spPr>
          <a:xfrm>
            <a:off x="3838515" y="1834336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907095" y="1951494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允许</a:t>
            </a:r>
            <a:endParaRPr lang="en-US" sz="563" dirty="0"/>
          </a:p>
        </p:txBody>
      </p:sp>
      <p:sp>
        <p:nvSpPr>
          <p:cNvPr id="78" name="Shape 76"/>
          <p:cNvSpPr/>
          <p:nvPr/>
        </p:nvSpPr>
        <p:spPr>
          <a:xfrm>
            <a:off x="3907095" y="20686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07095" y="20686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80" name="Shape 78"/>
          <p:cNvSpPr/>
          <p:nvPr/>
        </p:nvSpPr>
        <p:spPr>
          <a:xfrm>
            <a:off x="5097691" y="1834336"/>
            <a:ext cx="124783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81" name="Shape 79"/>
          <p:cNvSpPr/>
          <p:nvPr/>
        </p:nvSpPr>
        <p:spPr>
          <a:xfrm>
            <a:off x="5097691" y="1834336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166271" y="1951494"/>
            <a:ext cx="12439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允许</a:t>
            </a:r>
            <a:endParaRPr lang="en-US" sz="563" dirty="0"/>
          </a:p>
        </p:txBody>
      </p:sp>
      <p:sp>
        <p:nvSpPr>
          <p:cNvPr id="83" name="Shape 81"/>
          <p:cNvSpPr/>
          <p:nvPr/>
        </p:nvSpPr>
        <p:spPr>
          <a:xfrm>
            <a:off x="5166271" y="20686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66271" y="20686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85" name="Shape 83"/>
          <p:cNvSpPr/>
          <p:nvPr/>
        </p:nvSpPr>
        <p:spPr>
          <a:xfrm>
            <a:off x="6356955" y="1834336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86" name="Shape 84"/>
          <p:cNvSpPr/>
          <p:nvPr/>
        </p:nvSpPr>
        <p:spPr>
          <a:xfrm>
            <a:off x="6356955" y="1834336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6425535" y="1951494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允许</a:t>
            </a:r>
            <a:endParaRPr lang="en-US" sz="563" dirty="0"/>
          </a:p>
        </p:txBody>
      </p:sp>
      <p:sp>
        <p:nvSpPr>
          <p:cNvPr id="88" name="Shape 86"/>
          <p:cNvSpPr/>
          <p:nvPr/>
        </p:nvSpPr>
        <p:spPr>
          <a:xfrm>
            <a:off x="6425535" y="20686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25535" y="20686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90" name="Shape 88"/>
          <p:cNvSpPr/>
          <p:nvPr/>
        </p:nvSpPr>
        <p:spPr>
          <a:xfrm>
            <a:off x="7616130" y="1834336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91" name="Shape 89"/>
          <p:cNvSpPr/>
          <p:nvPr/>
        </p:nvSpPr>
        <p:spPr>
          <a:xfrm>
            <a:off x="7616130" y="1834336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7684710" y="1951494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允许</a:t>
            </a:r>
            <a:endParaRPr lang="en-US" sz="563" dirty="0"/>
          </a:p>
        </p:txBody>
      </p:sp>
      <p:sp>
        <p:nvSpPr>
          <p:cNvPr id="93" name="Shape 91"/>
          <p:cNvSpPr/>
          <p:nvPr/>
        </p:nvSpPr>
        <p:spPr>
          <a:xfrm>
            <a:off x="7684710" y="20686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84710" y="20686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95" name="Shape 93"/>
          <p:cNvSpPr/>
          <p:nvPr/>
        </p:nvSpPr>
        <p:spPr>
          <a:xfrm>
            <a:off x="280035" y="2311539"/>
            <a:ext cx="1028700" cy="465773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96" name="Shape 94"/>
          <p:cNvSpPr/>
          <p:nvPr/>
        </p:nvSpPr>
        <p:spPr>
          <a:xfrm>
            <a:off x="1308735" y="2311539"/>
            <a:ext cx="0" cy="465773"/>
          </a:xfrm>
          <a:prstGeom prst="lin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48615" y="2370386"/>
            <a:ext cx="985723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✏️</a:t>
            </a:r>
            <a:endParaRPr lang="en-US" sz="720" dirty="0"/>
          </a:p>
        </p:txBody>
      </p:sp>
      <p:sp>
        <p:nvSpPr>
          <p:cNvPr id="98" name="Text 96"/>
          <p:cNvSpPr/>
          <p:nvPr/>
        </p:nvSpPr>
        <p:spPr>
          <a:xfrm>
            <a:off x="348615" y="2521208"/>
            <a:ext cx="985723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修改分发</a:t>
            </a:r>
            <a:endParaRPr lang="en-US" sz="563" dirty="0"/>
          </a:p>
        </p:txBody>
      </p:sp>
      <p:sp>
        <p:nvSpPr>
          <p:cNvPr id="99" name="Text 97"/>
          <p:cNvSpPr/>
          <p:nvPr/>
        </p:nvSpPr>
        <p:spPr>
          <a:xfrm>
            <a:off x="348615" y="2638365"/>
            <a:ext cx="9857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衍生作品开源要求</a:t>
            </a:r>
            <a:endParaRPr lang="en-US" sz="450" dirty="0"/>
          </a:p>
        </p:txBody>
      </p:sp>
      <p:sp>
        <p:nvSpPr>
          <p:cNvPr id="100" name="Shape 98"/>
          <p:cNvSpPr/>
          <p:nvPr/>
        </p:nvSpPr>
        <p:spPr>
          <a:xfrm>
            <a:off x="1320165" y="2311539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01" name="Shape 99"/>
          <p:cNvSpPr/>
          <p:nvPr/>
        </p:nvSpPr>
        <p:spPr>
          <a:xfrm>
            <a:off x="1320165" y="2311539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1388745" y="24286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无限制</a:t>
            </a:r>
            <a:endParaRPr lang="en-US" sz="563" dirty="0"/>
          </a:p>
        </p:txBody>
      </p:sp>
      <p:sp>
        <p:nvSpPr>
          <p:cNvPr id="103" name="Shape 101"/>
          <p:cNvSpPr/>
          <p:nvPr/>
        </p:nvSpPr>
        <p:spPr>
          <a:xfrm>
            <a:off x="1388745" y="2545854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388745" y="2545854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05" name="Shape 103"/>
          <p:cNvSpPr/>
          <p:nvPr/>
        </p:nvSpPr>
        <p:spPr>
          <a:xfrm>
            <a:off x="2579340" y="2311539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06" name="Shape 104"/>
          <p:cNvSpPr/>
          <p:nvPr/>
        </p:nvSpPr>
        <p:spPr>
          <a:xfrm>
            <a:off x="2579340" y="2311539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2647920" y="24286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无限制</a:t>
            </a:r>
            <a:endParaRPr lang="en-US" sz="563" dirty="0"/>
          </a:p>
        </p:txBody>
      </p:sp>
      <p:sp>
        <p:nvSpPr>
          <p:cNvPr id="108" name="Shape 106"/>
          <p:cNvSpPr/>
          <p:nvPr/>
        </p:nvSpPr>
        <p:spPr>
          <a:xfrm>
            <a:off x="2647920" y="2545854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647920" y="2545854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10" name="Shape 108"/>
          <p:cNvSpPr/>
          <p:nvPr/>
        </p:nvSpPr>
        <p:spPr>
          <a:xfrm>
            <a:off x="3838515" y="2311539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11" name="Shape 109"/>
          <p:cNvSpPr/>
          <p:nvPr/>
        </p:nvSpPr>
        <p:spPr>
          <a:xfrm>
            <a:off x="3838515" y="2311539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3907095" y="24286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无限制</a:t>
            </a:r>
            <a:endParaRPr lang="en-US" sz="563" dirty="0"/>
          </a:p>
        </p:txBody>
      </p:sp>
      <p:sp>
        <p:nvSpPr>
          <p:cNvPr id="113" name="Shape 111"/>
          <p:cNvSpPr/>
          <p:nvPr/>
        </p:nvSpPr>
        <p:spPr>
          <a:xfrm>
            <a:off x="3907095" y="2545854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07095" y="2545854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15" name="Shape 113"/>
          <p:cNvSpPr/>
          <p:nvPr/>
        </p:nvSpPr>
        <p:spPr>
          <a:xfrm>
            <a:off x="5097691" y="2311539"/>
            <a:ext cx="124783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16" name="Shape 114"/>
          <p:cNvSpPr/>
          <p:nvPr/>
        </p:nvSpPr>
        <p:spPr>
          <a:xfrm>
            <a:off x="5097691" y="2311539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5166271" y="2428696"/>
            <a:ext cx="12439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衍生作品须同许可开源</a:t>
            </a:r>
            <a:endParaRPr lang="en-US" sz="563" dirty="0"/>
          </a:p>
        </p:txBody>
      </p:sp>
      <p:sp>
        <p:nvSpPr>
          <p:cNvPr id="118" name="Shape 116"/>
          <p:cNvSpPr/>
          <p:nvPr/>
        </p:nvSpPr>
        <p:spPr>
          <a:xfrm>
            <a:off x="5166271" y="2545854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166271" y="2545854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20" name="Shape 118"/>
          <p:cNvSpPr/>
          <p:nvPr/>
        </p:nvSpPr>
        <p:spPr>
          <a:xfrm>
            <a:off x="6356955" y="2311539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21" name="Shape 119"/>
          <p:cNvSpPr/>
          <p:nvPr/>
        </p:nvSpPr>
        <p:spPr>
          <a:xfrm>
            <a:off x="6356955" y="2311539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22" name="Text 120"/>
          <p:cNvSpPr/>
          <p:nvPr/>
        </p:nvSpPr>
        <p:spPr>
          <a:xfrm>
            <a:off x="6425535" y="24286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库文件须开源</a:t>
            </a:r>
            <a:endParaRPr lang="en-US" sz="563" dirty="0"/>
          </a:p>
        </p:txBody>
      </p:sp>
      <p:sp>
        <p:nvSpPr>
          <p:cNvPr id="123" name="Shape 121"/>
          <p:cNvSpPr/>
          <p:nvPr/>
        </p:nvSpPr>
        <p:spPr>
          <a:xfrm>
            <a:off x="6425535" y="2545854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425535" y="2545854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25" name="Shape 123"/>
          <p:cNvSpPr/>
          <p:nvPr/>
        </p:nvSpPr>
        <p:spPr>
          <a:xfrm>
            <a:off x="7616130" y="2311539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26" name="Shape 124"/>
          <p:cNvSpPr/>
          <p:nvPr/>
        </p:nvSpPr>
        <p:spPr>
          <a:xfrm>
            <a:off x="7616130" y="2311539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7684710" y="24286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衍生作品须同许可开源</a:t>
            </a:r>
            <a:endParaRPr lang="en-US" sz="563" dirty="0"/>
          </a:p>
        </p:txBody>
      </p:sp>
      <p:sp>
        <p:nvSpPr>
          <p:cNvPr id="128" name="Shape 126"/>
          <p:cNvSpPr/>
          <p:nvPr/>
        </p:nvSpPr>
        <p:spPr>
          <a:xfrm>
            <a:off x="7684710" y="2545854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684710" y="2545854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30" name="Shape 128"/>
          <p:cNvSpPr/>
          <p:nvPr/>
        </p:nvSpPr>
        <p:spPr>
          <a:xfrm>
            <a:off x="280035" y="2788741"/>
            <a:ext cx="1028700" cy="465862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131" name="Shape 129"/>
          <p:cNvSpPr/>
          <p:nvPr/>
        </p:nvSpPr>
        <p:spPr>
          <a:xfrm>
            <a:off x="1308735" y="2788741"/>
            <a:ext cx="0" cy="465862"/>
          </a:xfrm>
          <a:prstGeom prst="lin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48615" y="2847677"/>
            <a:ext cx="985723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</a:t>
            </a:r>
            <a:endParaRPr lang="en-US" sz="720" dirty="0"/>
          </a:p>
        </p:txBody>
      </p:sp>
      <p:sp>
        <p:nvSpPr>
          <p:cNvPr id="133" name="Text 131"/>
          <p:cNvSpPr/>
          <p:nvPr/>
        </p:nvSpPr>
        <p:spPr>
          <a:xfrm>
            <a:off x="348615" y="2998500"/>
            <a:ext cx="985723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适用</a:t>
            </a:r>
            <a:endParaRPr lang="en-US" sz="563" dirty="0"/>
          </a:p>
        </p:txBody>
      </p:sp>
      <p:sp>
        <p:nvSpPr>
          <p:cNvPr id="134" name="Text 132"/>
          <p:cNvSpPr/>
          <p:nvPr/>
        </p:nvSpPr>
        <p:spPr>
          <a:xfrm>
            <a:off x="348615" y="3115657"/>
            <a:ext cx="9857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网络服务开源要求</a:t>
            </a:r>
            <a:endParaRPr lang="en-US" sz="450" dirty="0"/>
          </a:p>
        </p:txBody>
      </p:sp>
      <p:sp>
        <p:nvSpPr>
          <p:cNvPr id="135" name="Shape 133"/>
          <p:cNvSpPr/>
          <p:nvPr/>
        </p:nvSpPr>
        <p:spPr>
          <a:xfrm>
            <a:off x="1320165" y="2788741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36" name="Shape 134"/>
          <p:cNvSpPr/>
          <p:nvPr/>
        </p:nvSpPr>
        <p:spPr>
          <a:xfrm>
            <a:off x="1320165" y="2788741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1388745" y="2905899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563" dirty="0"/>
          </a:p>
        </p:txBody>
      </p:sp>
      <p:sp>
        <p:nvSpPr>
          <p:cNvPr id="138" name="Shape 136"/>
          <p:cNvSpPr/>
          <p:nvPr/>
        </p:nvSpPr>
        <p:spPr>
          <a:xfrm>
            <a:off x="1388745" y="3023056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388745" y="3023056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40" name="Shape 138"/>
          <p:cNvSpPr/>
          <p:nvPr/>
        </p:nvSpPr>
        <p:spPr>
          <a:xfrm>
            <a:off x="2579340" y="2788741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41" name="Shape 139"/>
          <p:cNvSpPr/>
          <p:nvPr/>
        </p:nvSpPr>
        <p:spPr>
          <a:xfrm>
            <a:off x="2579340" y="2788741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2647920" y="2905899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563" dirty="0"/>
          </a:p>
        </p:txBody>
      </p:sp>
      <p:sp>
        <p:nvSpPr>
          <p:cNvPr id="143" name="Shape 141"/>
          <p:cNvSpPr/>
          <p:nvPr/>
        </p:nvSpPr>
        <p:spPr>
          <a:xfrm>
            <a:off x="2647920" y="3023056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647920" y="3023056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45" name="Shape 143"/>
          <p:cNvSpPr/>
          <p:nvPr/>
        </p:nvSpPr>
        <p:spPr>
          <a:xfrm>
            <a:off x="3838515" y="2788741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46" name="Shape 144"/>
          <p:cNvSpPr/>
          <p:nvPr/>
        </p:nvSpPr>
        <p:spPr>
          <a:xfrm>
            <a:off x="3838515" y="2788741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3907095" y="2905899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563" dirty="0"/>
          </a:p>
        </p:txBody>
      </p:sp>
      <p:sp>
        <p:nvSpPr>
          <p:cNvPr id="148" name="Shape 146"/>
          <p:cNvSpPr/>
          <p:nvPr/>
        </p:nvSpPr>
        <p:spPr>
          <a:xfrm>
            <a:off x="3907095" y="3023056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907095" y="3023056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50" name="Shape 148"/>
          <p:cNvSpPr/>
          <p:nvPr/>
        </p:nvSpPr>
        <p:spPr>
          <a:xfrm>
            <a:off x="5097691" y="2788741"/>
            <a:ext cx="124783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51" name="Shape 149"/>
          <p:cNvSpPr/>
          <p:nvPr/>
        </p:nvSpPr>
        <p:spPr>
          <a:xfrm>
            <a:off x="5097691" y="2788741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5166271" y="2905899"/>
            <a:ext cx="12439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563" dirty="0"/>
          </a:p>
        </p:txBody>
      </p:sp>
      <p:sp>
        <p:nvSpPr>
          <p:cNvPr id="153" name="Shape 151"/>
          <p:cNvSpPr/>
          <p:nvPr/>
        </p:nvSpPr>
        <p:spPr>
          <a:xfrm>
            <a:off x="5166271" y="3023056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166271" y="3023056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55" name="Shape 153"/>
          <p:cNvSpPr/>
          <p:nvPr/>
        </p:nvSpPr>
        <p:spPr>
          <a:xfrm>
            <a:off x="6356955" y="2788741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56" name="Shape 154"/>
          <p:cNvSpPr/>
          <p:nvPr/>
        </p:nvSpPr>
        <p:spPr>
          <a:xfrm>
            <a:off x="6356955" y="2788741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6425535" y="2905899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563" dirty="0"/>
          </a:p>
        </p:txBody>
      </p:sp>
      <p:sp>
        <p:nvSpPr>
          <p:cNvPr id="158" name="Shape 156"/>
          <p:cNvSpPr/>
          <p:nvPr/>
        </p:nvSpPr>
        <p:spPr>
          <a:xfrm>
            <a:off x="6425535" y="3023056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425535" y="3023056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60" name="Shape 158"/>
          <p:cNvSpPr/>
          <p:nvPr/>
        </p:nvSpPr>
        <p:spPr>
          <a:xfrm>
            <a:off x="7616130" y="2788741"/>
            <a:ext cx="1247745" cy="465862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61" name="Shape 159"/>
          <p:cNvSpPr/>
          <p:nvPr/>
        </p:nvSpPr>
        <p:spPr>
          <a:xfrm>
            <a:off x="7616130" y="2788741"/>
            <a:ext cx="11430" cy="465862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7684710" y="2905899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网络服务强制开源</a:t>
            </a:r>
            <a:endParaRPr lang="en-US" sz="563" dirty="0"/>
          </a:p>
        </p:txBody>
      </p:sp>
      <p:sp>
        <p:nvSpPr>
          <p:cNvPr id="163" name="Shape 161"/>
          <p:cNvSpPr/>
          <p:nvPr/>
        </p:nvSpPr>
        <p:spPr>
          <a:xfrm>
            <a:off x="7684710" y="3023056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684710" y="3023056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65" name="Shape 163"/>
          <p:cNvSpPr/>
          <p:nvPr/>
        </p:nvSpPr>
        <p:spPr>
          <a:xfrm>
            <a:off x="280035" y="3266033"/>
            <a:ext cx="1028700" cy="465773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166" name="Shape 164"/>
          <p:cNvSpPr/>
          <p:nvPr/>
        </p:nvSpPr>
        <p:spPr>
          <a:xfrm>
            <a:off x="1308735" y="3266033"/>
            <a:ext cx="0" cy="465773"/>
          </a:xfrm>
          <a:prstGeom prst="lin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48615" y="3324880"/>
            <a:ext cx="985723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720" dirty="0"/>
          </a:p>
        </p:txBody>
      </p:sp>
      <p:sp>
        <p:nvSpPr>
          <p:cNvPr id="168" name="Text 166"/>
          <p:cNvSpPr/>
          <p:nvPr/>
        </p:nvSpPr>
        <p:spPr>
          <a:xfrm>
            <a:off x="348615" y="3475702"/>
            <a:ext cx="985723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专利授权</a:t>
            </a:r>
            <a:endParaRPr lang="en-US" sz="563" dirty="0"/>
          </a:p>
        </p:txBody>
      </p:sp>
      <p:sp>
        <p:nvSpPr>
          <p:cNvPr id="169" name="Text 167"/>
          <p:cNvSpPr/>
          <p:nvPr/>
        </p:nvSpPr>
        <p:spPr>
          <a:xfrm>
            <a:off x="348615" y="3592860"/>
            <a:ext cx="9857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是否包含专利许可条款</a:t>
            </a:r>
            <a:endParaRPr lang="en-US" sz="450" dirty="0"/>
          </a:p>
        </p:txBody>
      </p:sp>
      <p:sp>
        <p:nvSpPr>
          <p:cNvPr id="170" name="Shape 168"/>
          <p:cNvSpPr/>
          <p:nvPr/>
        </p:nvSpPr>
        <p:spPr>
          <a:xfrm>
            <a:off x="1320165" y="3266033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71" name="Shape 169"/>
          <p:cNvSpPr/>
          <p:nvPr/>
        </p:nvSpPr>
        <p:spPr>
          <a:xfrm>
            <a:off x="1320165" y="3266033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1388745" y="3383191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无专利条款</a:t>
            </a:r>
            <a:endParaRPr lang="en-US" sz="563" dirty="0"/>
          </a:p>
        </p:txBody>
      </p:sp>
      <p:sp>
        <p:nvSpPr>
          <p:cNvPr id="173" name="Shape 171"/>
          <p:cNvSpPr/>
          <p:nvPr/>
        </p:nvSpPr>
        <p:spPr>
          <a:xfrm>
            <a:off x="1388745" y="3500348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388745" y="3500348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75" name="Shape 173"/>
          <p:cNvSpPr/>
          <p:nvPr/>
        </p:nvSpPr>
        <p:spPr>
          <a:xfrm>
            <a:off x="2579340" y="3266033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76" name="Shape 174"/>
          <p:cNvSpPr/>
          <p:nvPr/>
        </p:nvSpPr>
        <p:spPr>
          <a:xfrm>
            <a:off x="2579340" y="3266033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647920" y="3383191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无专利条款</a:t>
            </a:r>
            <a:endParaRPr lang="en-US" sz="563" dirty="0"/>
          </a:p>
        </p:txBody>
      </p:sp>
      <p:sp>
        <p:nvSpPr>
          <p:cNvPr id="178" name="Shape 176"/>
          <p:cNvSpPr/>
          <p:nvPr/>
        </p:nvSpPr>
        <p:spPr>
          <a:xfrm>
            <a:off x="2647920" y="3500348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647920" y="3500348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80" name="Shape 178"/>
          <p:cNvSpPr/>
          <p:nvPr/>
        </p:nvSpPr>
        <p:spPr>
          <a:xfrm>
            <a:off x="3838515" y="3266033"/>
            <a:ext cx="1247745" cy="465773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81" name="Shape 179"/>
          <p:cNvSpPr/>
          <p:nvPr/>
        </p:nvSpPr>
        <p:spPr>
          <a:xfrm>
            <a:off x="3838515" y="3266033"/>
            <a:ext cx="11430" cy="465773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3907095" y="3383191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明确授予专利许可</a:t>
            </a:r>
            <a:endParaRPr lang="en-US" sz="563" dirty="0"/>
          </a:p>
        </p:txBody>
      </p:sp>
      <p:sp>
        <p:nvSpPr>
          <p:cNvPr id="183" name="Shape 181"/>
          <p:cNvSpPr/>
          <p:nvPr/>
        </p:nvSpPr>
        <p:spPr>
          <a:xfrm>
            <a:off x="3907095" y="3500348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907095" y="3500348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185" name="Shape 183"/>
          <p:cNvSpPr/>
          <p:nvPr/>
        </p:nvSpPr>
        <p:spPr>
          <a:xfrm>
            <a:off x="5097691" y="3266033"/>
            <a:ext cx="124783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86" name="Shape 184"/>
          <p:cNvSpPr/>
          <p:nvPr/>
        </p:nvSpPr>
        <p:spPr>
          <a:xfrm>
            <a:off x="5097691" y="3266033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87" name="Text 185"/>
          <p:cNvSpPr/>
          <p:nvPr/>
        </p:nvSpPr>
        <p:spPr>
          <a:xfrm>
            <a:off x="5166271" y="3383191"/>
            <a:ext cx="12439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无专利条款</a:t>
            </a:r>
            <a:endParaRPr lang="en-US" sz="563" dirty="0"/>
          </a:p>
        </p:txBody>
      </p:sp>
      <p:sp>
        <p:nvSpPr>
          <p:cNvPr id="188" name="Shape 186"/>
          <p:cNvSpPr/>
          <p:nvPr/>
        </p:nvSpPr>
        <p:spPr>
          <a:xfrm>
            <a:off x="5166271" y="3500348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166271" y="3500348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90" name="Shape 188"/>
          <p:cNvSpPr/>
          <p:nvPr/>
        </p:nvSpPr>
        <p:spPr>
          <a:xfrm>
            <a:off x="6356955" y="3266033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91" name="Shape 189"/>
          <p:cNvSpPr/>
          <p:nvPr/>
        </p:nvSpPr>
        <p:spPr>
          <a:xfrm>
            <a:off x="6356955" y="3266033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6425535" y="3383191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无专利条款</a:t>
            </a:r>
            <a:endParaRPr lang="en-US" sz="563" dirty="0"/>
          </a:p>
        </p:txBody>
      </p:sp>
      <p:sp>
        <p:nvSpPr>
          <p:cNvPr id="193" name="Shape 191"/>
          <p:cNvSpPr/>
          <p:nvPr/>
        </p:nvSpPr>
        <p:spPr>
          <a:xfrm>
            <a:off x="6425535" y="3500348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425535" y="3500348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195" name="Shape 193"/>
          <p:cNvSpPr/>
          <p:nvPr/>
        </p:nvSpPr>
        <p:spPr>
          <a:xfrm>
            <a:off x="7616130" y="3266033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196" name="Shape 194"/>
          <p:cNvSpPr/>
          <p:nvPr/>
        </p:nvSpPr>
        <p:spPr>
          <a:xfrm>
            <a:off x="7616130" y="3266033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7684710" y="3383191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无专利条款</a:t>
            </a:r>
            <a:endParaRPr lang="en-US" sz="563" dirty="0"/>
          </a:p>
        </p:txBody>
      </p:sp>
      <p:sp>
        <p:nvSpPr>
          <p:cNvPr id="198" name="Shape 196"/>
          <p:cNvSpPr/>
          <p:nvPr/>
        </p:nvSpPr>
        <p:spPr>
          <a:xfrm>
            <a:off x="7684710" y="3500348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684710" y="3500348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00" name="Shape 198"/>
          <p:cNvSpPr/>
          <p:nvPr/>
        </p:nvSpPr>
        <p:spPr>
          <a:xfrm>
            <a:off x="280035" y="3743236"/>
            <a:ext cx="1028700" cy="465773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201" name="Shape 199"/>
          <p:cNvSpPr/>
          <p:nvPr/>
        </p:nvSpPr>
        <p:spPr>
          <a:xfrm>
            <a:off x="1308735" y="3743236"/>
            <a:ext cx="0" cy="465773"/>
          </a:xfrm>
          <a:prstGeom prst="lin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48615" y="3802082"/>
            <a:ext cx="985723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®️</a:t>
            </a:r>
            <a:endParaRPr lang="en-US" sz="720" dirty="0"/>
          </a:p>
        </p:txBody>
      </p:sp>
      <p:sp>
        <p:nvSpPr>
          <p:cNvPr id="203" name="Text 201"/>
          <p:cNvSpPr/>
          <p:nvPr/>
        </p:nvSpPr>
        <p:spPr>
          <a:xfrm>
            <a:off x="348615" y="3952905"/>
            <a:ext cx="985723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商标使用</a:t>
            </a:r>
            <a:endParaRPr lang="en-US" sz="563" dirty="0"/>
          </a:p>
        </p:txBody>
      </p:sp>
      <p:sp>
        <p:nvSpPr>
          <p:cNvPr id="204" name="Text 202"/>
          <p:cNvSpPr/>
          <p:nvPr/>
        </p:nvSpPr>
        <p:spPr>
          <a:xfrm>
            <a:off x="348615" y="4070062"/>
            <a:ext cx="9857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禁止混淆性营销</a:t>
            </a:r>
            <a:endParaRPr lang="en-US" sz="450" dirty="0"/>
          </a:p>
        </p:txBody>
      </p:sp>
      <p:sp>
        <p:nvSpPr>
          <p:cNvPr id="205" name="Shape 203"/>
          <p:cNvSpPr/>
          <p:nvPr/>
        </p:nvSpPr>
        <p:spPr>
          <a:xfrm>
            <a:off x="1320165" y="3743236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06" name="Shape 204"/>
          <p:cNvSpPr/>
          <p:nvPr/>
        </p:nvSpPr>
        <p:spPr>
          <a:xfrm>
            <a:off x="1320165" y="3743236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1388745" y="3860393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禁止混淆营销</a:t>
            </a:r>
            <a:endParaRPr lang="en-US" sz="563" dirty="0"/>
          </a:p>
        </p:txBody>
      </p:sp>
      <p:sp>
        <p:nvSpPr>
          <p:cNvPr id="208" name="Shape 206"/>
          <p:cNvSpPr/>
          <p:nvPr/>
        </p:nvSpPr>
        <p:spPr>
          <a:xfrm>
            <a:off x="1388745" y="39775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1388745" y="39775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10" name="Shape 208"/>
          <p:cNvSpPr/>
          <p:nvPr/>
        </p:nvSpPr>
        <p:spPr>
          <a:xfrm>
            <a:off x="2579340" y="3743236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11" name="Shape 209"/>
          <p:cNvSpPr/>
          <p:nvPr/>
        </p:nvSpPr>
        <p:spPr>
          <a:xfrm>
            <a:off x="2579340" y="3743236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2647920" y="3860393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禁止混淆营销</a:t>
            </a:r>
            <a:endParaRPr lang="en-US" sz="563" dirty="0"/>
          </a:p>
        </p:txBody>
      </p:sp>
      <p:sp>
        <p:nvSpPr>
          <p:cNvPr id="213" name="Shape 211"/>
          <p:cNvSpPr/>
          <p:nvPr/>
        </p:nvSpPr>
        <p:spPr>
          <a:xfrm>
            <a:off x="2647920" y="39775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647920" y="39775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15" name="Shape 213"/>
          <p:cNvSpPr/>
          <p:nvPr/>
        </p:nvSpPr>
        <p:spPr>
          <a:xfrm>
            <a:off x="3838515" y="3743236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16" name="Shape 214"/>
          <p:cNvSpPr/>
          <p:nvPr/>
        </p:nvSpPr>
        <p:spPr>
          <a:xfrm>
            <a:off x="3838515" y="3743236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17" name="Text 215"/>
          <p:cNvSpPr/>
          <p:nvPr/>
        </p:nvSpPr>
        <p:spPr>
          <a:xfrm>
            <a:off x="3907095" y="3860393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禁止混淆营销</a:t>
            </a:r>
            <a:endParaRPr lang="en-US" sz="563" dirty="0"/>
          </a:p>
        </p:txBody>
      </p:sp>
      <p:sp>
        <p:nvSpPr>
          <p:cNvPr id="218" name="Shape 216"/>
          <p:cNvSpPr/>
          <p:nvPr/>
        </p:nvSpPr>
        <p:spPr>
          <a:xfrm>
            <a:off x="3907095" y="39775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3907095" y="39775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20" name="Shape 218"/>
          <p:cNvSpPr/>
          <p:nvPr/>
        </p:nvSpPr>
        <p:spPr>
          <a:xfrm>
            <a:off x="5097691" y="3743236"/>
            <a:ext cx="124783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21" name="Shape 219"/>
          <p:cNvSpPr/>
          <p:nvPr/>
        </p:nvSpPr>
        <p:spPr>
          <a:xfrm>
            <a:off x="5097691" y="3743236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22" name="Text 220"/>
          <p:cNvSpPr/>
          <p:nvPr/>
        </p:nvSpPr>
        <p:spPr>
          <a:xfrm>
            <a:off x="5166271" y="3860393"/>
            <a:ext cx="12439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禁止混淆营销</a:t>
            </a:r>
            <a:endParaRPr lang="en-US" sz="563" dirty="0"/>
          </a:p>
        </p:txBody>
      </p:sp>
      <p:sp>
        <p:nvSpPr>
          <p:cNvPr id="223" name="Shape 221"/>
          <p:cNvSpPr/>
          <p:nvPr/>
        </p:nvSpPr>
        <p:spPr>
          <a:xfrm>
            <a:off x="5166271" y="39775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5166271" y="39775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25" name="Shape 223"/>
          <p:cNvSpPr/>
          <p:nvPr/>
        </p:nvSpPr>
        <p:spPr>
          <a:xfrm>
            <a:off x="6356955" y="3743236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26" name="Shape 224"/>
          <p:cNvSpPr/>
          <p:nvPr/>
        </p:nvSpPr>
        <p:spPr>
          <a:xfrm>
            <a:off x="6356955" y="3743236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6425535" y="3860393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禁止混淆营销</a:t>
            </a:r>
            <a:endParaRPr lang="en-US" sz="563" dirty="0"/>
          </a:p>
        </p:txBody>
      </p:sp>
      <p:sp>
        <p:nvSpPr>
          <p:cNvPr id="228" name="Shape 226"/>
          <p:cNvSpPr/>
          <p:nvPr/>
        </p:nvSpPr>
        <p:spPr>
          <a:xfrm>
            <a:off x="6425535" y="39775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6425535" y="39775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30" name="Shape 228"/>
          <p:cNvSpPr/>
          <p:nvPr/>
        </p:nvSpPr>
        <p:spPr>
          <a:xfrm>
            <a:off x="7616130" y="3743236"/>
            <a:ext cx="1247745" cy="465773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31" name="Shape 229"/>
          <p:cNvSpPr/>
          <p:nvPr/>
        </p:nvSpPr>
        <p:spPr>
          <a:xfrm>
            <a:off x="7616130" y="3743236"/>
            <a:ext cx="11430" cy="465773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32" name="Text 230"/>
          <p:cNvSpPr/>
          <p:nvPr/>
        </p:nvSpPr>
        <p:spPr>
          <a:xfrm>
            <a:off x="7684710" y="3860393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禁止混淆营销</a:t>
            </a:r>
            <a:endParaRPr lang="en-US" sz="563" dirty="0"/>
          </a:p>
        </p:txBody>
      </p:sp>
      <p:sp>
        <p:nvSpPr>
          <p:cNvPr id="233" name="Shape 231"/>
          <p:cNvSpPr/>
          <p:nvPr/>
        </p:nvSpPr>
        <p:spPr>
          <a:xfrm>
            <a:off x="7684710" y="3977551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7684710" y="3977551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35" name="Shape 233"/>
          <p:cNvSpPr/>
          <p:nvPr/>
        </p:nvSpPr>
        <p:spPr>
          <a:xfrm>
            <a:off x="280035" y="4220438"/>
            <a:ext cx="1028700" cy="465862"/>
          </a:xfrm>
          <a:prstGeom prst="rect">
            <a:avLst/>
          </a:prstGeom>
          <a:gradFill rotWithShape="1">
            <a:gsLst>
              <a:gs pos="0">
                <a:srgbClr val="00BCD4">
                  <a:alpha val="10000"/>
                </a:srgbClr>
              </a:gs>
              <a:gs pos="100000">
                <a:srgbClr val="00BCD4">
                  <a:alpha val="2000"/>
                </a:srgbClr>
              </a:gs>
            </a:gsLst>
            <a:lin ang="0" scaled="0"/>
          </a:gradFill>
          <a:ln/>
        </p:spPr>
      </p:sp>
      <p:sp>
        <p:nvSpPr>
          <p:cNvPr id="236" name="Shape 234"/>
          <p:cNvSpPr/>
          <p:nvPr/>
        </p:nvSpPr>
        <p:spPr>
          <a:xfrm>
            <a:off x="1308735" y="4220438"/>
            <a:ext cx="0" cy="465862"/>
          </a:xfrm>
          <a:prstGeom prst="line">
            <a:avLst/>
          </a:prstGeom>
          <a:noFill/>
          <a:ln w="1143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48615" y="4279374"/>
            <a:ext cx="985723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720" dirty="0"/>
          </a:p>
        </p:txBody>
      </p:sp>
      <p:sp>
        <p:nvSpPr>
          <p:cNvPr id="238" name="Text 236"/>
          <p:cNvSpPr/>
          <p:nvPr/>
        </p:nvSpPr>
        <p:spPr>
          <a:xfrm>
            <a:off x="348615" y="4430197"/>
            <a:ext cx="985723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声明义务</a:t>
            </a:r>
            <a:endParaRPr lang="en-US" sz="563" dirty="0"/>
          </a:p>
        </p:txBody>
      </p:sp>
      <p:sp>
        <p:nvSpPr>
          <p:cNvPr id="239" name="Text 237"/>
          <p:cNvSpPr/>
          <p:nvPr/>
        </p:nvSpPr>
        <p:spPr>
          <a:xfrm>
            <a:off x="348615" y="4547354"/>
            <a:ext cx="9857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版权与署名保留要求</a:t>
            </a:r>
            <a:endParaRPr lang="en-US" sz="450" dirty="0"/>
          </a:p>
        </p:txBody>
      </p:sp>
      <p:sp>
        <p:nvSpPr>
          <p:cNvPr id="240" name="Shape 238"/>
          <p:cNvSpPr/>
          <p:nvPr/>
        </p:nvSpPr>
        <p:spPr>
          <a:xfrm>
            <a:off x="1320165" y="4220438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41" name="Shape 239"/>
          <p:cNvSpPr/>
          <p:nvPr/>
        </p:nvSpPr>
        <p:spPr>
          <a:xfrm>
            <a:off x="1320165" y="4220438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242" name="Text 240"/>
          <p:cNvSpPr/>
          <p:nvPr/>
        </p:nvSpPr>
        <p:spPr>
          <a:xfrm>
            <a:off x="1388745" y="43375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保留版权声明</a:t>
            </a:r>
            <a:endParaRPr lang="en-US" sz="563" dirty="0"/>
          </a:p>
        </p:txBody>
      </p:sp>
      <p:sp>
        <p:nvSpPr>
          <p:cNvPr id="243" name="Shape 241"/>
          <p:cNvSpPr/>
          <p:nvPr/>
        </p:nvSpPr>
        <p:spPr>
          <a:xfrm>
            <a:off x="1388745" y="4454753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1388745" y="4454753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245" name="Shape 243"/>
          <p:cNvSpPr/>
          <p:nvPr/>
        </p:nvSpPr>
        <p:spPr>
          <a:xfrm>
            <a:off x="2579340" y="4220438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46" name="Shape 244"/>
          <p:cNvSpPr/>
          <p:nvPr/>
        </p:nvSpPr>
        <p:spPr>
          <a:xfrm>
            <a:off x="2579340" y="4220438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247" name="Text 245"/>
          <p:cNvSpPr/>
          <p:nvPr/>
        </p:nvSpPr>
        <p:spPr>
          <a:xfrm>
            <a:off x="2647920" y="43375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保留版权声明</a:t>
            </a:r>
            <a:endParaRPr lang="en-US" sz="563" dirty="0"/>
          </a:p>
        </p:txBody>
      </p:sp>
      <p:sp>
        <p:nvSpPr>
          <p:cNvPr id="248" name="Shape 246"/>
          <p:cNvSpPr/>
          <p:nvPr/>
        </p:nvSpPr>
        <p:spPr>
          <a:xfrm>
            <a:off x="2647920" y="4454753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2647920" y="4454753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250" name="Shape 248"/>
          <p:cNvSpPr/>
          <p:nvPr/>
        </p:nvSpPr>
        <p:spPr>
          <a:xfrm>
            <a:off x="3838515" y="4220438"/>
            <a:ext cx="1247745" cy="465862"/>
          </a:xfrm>
          <a:prstGeom prst="rect">
            <a:avLst/>
          </a:prstGeom>
          <a:gradFill rotWithShape="1">
            <a:gsLst>
              <a:gs pos="0">
                <a:srgbClr val="00E676">
                  <a:alpha val="10000"/>
                </a:srgbClr>
              </a:gs>
              <a:gs pos="100000">
                <a:srgbClr val="00E676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51" name="Shape 249"/>
          <p:cNvSpPr/>
          <p:nvPr/>
        </p:nvSpPr>
        <p:spPr>
          <a:xfrm>
            <a:off x="3838515" y="4220438"/>
            <a:ext cx="11430" cy="465862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50800" dir="16200000">
              <a:srgbClr val="00E676">
                <a:alpha val="100000"/>
              </a:srgbClr>
            </a:outerShdw>
          </a:effectLst>
        </p:spPr>
      </p:sp>
      <p:sp>
        <p:nvSpPr>
          <p:cNvPr id="252" name="Text 250"/>
          <p:cNvSpPr/>
          <p:nvPr/>
        </p:nvSpPr>
        <p:spPr>
          <a:xfrm>
            <a:off x="3907095" y="43375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保留版权声明</a:t>
            </a:r>
            <a:endParaRPr lang="en-US" sz="563" dirty="0"/>
          </a:p>
        </p:txBody>
      </p:sp>
      <p:sp>
        <p:nvSpPr>
          <p:cNvPr id="253" name="Shape 251"/>
          <p:cNvSpPr/>
          <p:nvPr/>
        </p:nvSpPr>
        <p:spPr>
          <a:xfrm>
            <a:off x="3907095" y="4454753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5715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3907095" y="4454753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</a:t>
            </a:r>
            <a:endParaRPr lang="en-US" sz="450" dirty="0"/>
          </a:p>
        </p:txBody>
      </p:sp>
      <p:sp>
        <p:nvSpPr>
          <p:cNvPr id="255" name="Shape 253"/>
          <p:cNvSpPr/>
          <p:nvPr/>
        </p:nvSpPr>
        <p:spPr>
          <a:xfrm>
            <a:off x="5097691" y="4220438"/>
            <a:ext cx="1247835" cy="465862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56" name="Shape 254"/>
          <p:cNvSpPr/>
          <p:nvPr/>
        </p:nvSpPr>
        <p:spPr>
          <a:xfrm>
            <a:off x="5097691" y="4220438"/>
            <a:ext cx="11430" cy="465862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57" name="Text 255"/>
          <p:cNvSpPr/>
          <p:nvPr/>
        </p:nvSpPr>
        <p:spPr>
          <a:xfrm>
            <a:off x="5166271" y="4337596"/>
            <a:ext cx="12439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 + 额外声明</a:t>
            </a:r>
            <a:endParaRPr lang="en-US" sz="563" dirty="0"/>
          </a:p>
        </p:txBody>
      </p:sp>
      <p:sp>
        <p:nvSpPr>
          <p:cNvPr id="258" name="Shape 256"/>
          <p:cNvSpPr/>
          <p:nvPr/>
        </p:nvSpPr>
        <p:spPr>
          <a:xfrm>
            <a:off x="5166271" y="4454753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166271" y="4454753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60" name="Shape 258"/>
          <p:cNvSpPr/>
          <p:nvPr/>
        </p:nvSpPr>
        <p:spPr>
          <a:xfrm>
            <a:off x="6356955" y="4220438"/>
            <a:ext cx="1247745" cy="465862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61" name="Shape 259"/>
          <p:cNvSpPr/>
          <p:nvPr/>
        </p:nvSpPr>
        <p:spPr>
          <a:xfrm>
            <a:off x="6356955" y="4220438"/>
            <a:ext cx="11430" cy="465862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62" name="Text 260"/>
          <p:cNvSpPr/>
          <p:nvPr/>
        </p:nvSpPr>
        <p:spPr>
          <a:xfrm>
            <a:off x="6425535" y="43375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 + 额外声明</a:t>
            </a:r>
            <a:endParaRPr lang="en-US" sz="563" dirty="0"/>
          </a:p>
        </p:txBody>
      </p:sp>
      <p:sp>
        <p:nvSpPr>
          <p:cNvPr id="263" name="Shape 261"/>
          <p:cNvSpPr/>
          <p:nvPr/>
        </p:nvSpPr>
        <p:spPr>
          <a:xfrm>
            <a:off x="6425535" y="4454753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6425535" y="4454753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65" name="Shape 263"/>
          <p:cNvSpPr/>
          <p:nvPr/>
        </p:nvSpPr>
        <p:spPr>
          <a:xfrm>
            <a:off x="7616130" y="4220438"/>
            <a:ext cx="1247745" cy="465862"/>
          </a:xfrm>
          <a:prstGeom prst="rect">
            <a:avLst/>
          </a:prstGeom>
          <a:gradFill rotWithShape="1">
            <a:gsLst>
              <a:gs pos="0">
                <a:srgbClr val="FF5252">
                  <a:alpha val="10000"/>
                </a:srgbClr>
              </a:gs>
              <a:gs pos="100000">
                <a:srgbClr val="FF5252">
                  <a:alpha val="2000"/>
                </a:srgbClr>
              </a:gs>
            </a:gsLst>
            <a:lin ang="2700000" scaled="0"/>
          </a:gradFill>
          <a:ln/>
        </p:spPr>
      </p:sp>
      <p:sp>
        <p:nvSpPr>
          <p:cNvPr id="266" name="Shape 264"/>
          <p:cNvSpPr/>
          <p:nvPr/>
        </p:nvSpPr>
        <p:spPr>
          <a:xfrm>
            <a:off x="7616130" y="4220438"/>
            <a:ext cx="11430" cy="465862"/>
          </a:xfrm>
          <a:prstGeom prst="rect">
            <a:avLst/>
          </a:prstGeom>
          <a:solidFill>
            <a:srgbClr val="FF5252"/>
          </a:solidFill>
          <a:ln/>
          <a:effectLst>
            <a:outerShdw sx="100000" sy="100000" kx="0" ky="0" algn="bl" rotWithShape="0" blurRad="76200" dist="50800" dir="16200000">
              <a:srgbClr val="FF5252">
                <a:alpha val="100000"/>
              </a:srgbClr>
            </a:outerShdw>
          </a:effectLst>
        </p:spPr>
      </p:sp>
      <p:sp>
        <p:nvSpPr>
          <p:cNvPr id="267" name="Text 265"/>
          <p:cNvSpPr/>
          <p:nvPr/>
        </p:nvSpPr>
        <p:spPr>
          <a:xfrm>
            <a:off x="7684710" y="4337596"/>
            <a:ext cx="1243855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保留 + 额外声明</a:t>
            </a:r>
            <a:endParaRPr lang="en-US" sz="563" dirty="0"/>
          </a:p>
        </p:txBody>
      </p:sp>
      <p:sp>
        <p:nvSpPr>
          <p:cNvPr id="268" name="Shape 266"/>
          <p:cNvSpPr/>
          <p:nvPr/>
        </p:nvSpPr>
        <p:spPr>
          <a:xfrm>
            <a:off x="7684710" y="4454753"/>
            <a:ext cx="211455" cy="114300"/>
          </a:xfrm>
          <a:prstGeom prst="roundRect">
            <a:avLst>
              <a:gd name="adj" fmla="val 50000"/>
            </a:avLst>
          </a:prstGeom>
          <a:solidFill>
            <a:srgbClr val="FF5252">
              <a:alpha val="16000"/>
            </a:srgbClr>
          </a:solidFill>
          <a:ln w="5715">
            <a:solidFill>
              <a:srgbClr val="FF5252">
                <a:alpha val="40000"/>
              </a:srgbClr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7684710" y="4454753"/>
            <a:ext cx="268605" cy="114300"/>
          </a:xfrm>
          <a:prstGeom prst="rect">
            <a:avLst/>
          </a:prstGeom>
          <a:noFill/>
          <a:ln/>
        </p:spPr>
        <p:txBody>
          <a:bodyPr wrap="none" lIns="11430" tIns="40005" rIns="40005" bIns="1143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50" b="1" spc="23" kern="0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</a:t>
            </a:r>
            <a:endParaRPr lang="en-US" sz="450" dirty="0"/>
          </a:p>
        </p:txBody>
      </p:sp>
      <p:sp>
        <p:nvSpPr>
          <p:cNvPr id="270" name="Shape 268"/>
          <p:cNvSpPr/>
          <p:nvPr/>
        </p:nvSpPr>
        <p:spPr>
          <a:xfrm>
            <a:off x="274320" y="4817745"/>
            <a:ext cx="8595360" cy="154305"/>
          </a:xfrm>
          <a:prstGeom prst="rect">
            <a:avLst/>
          </a:prstGeom>
          <a:noFill/>
          <a:ln/>
        </p:spPr>
      </p:sp>
      <p:sp>
        <p:nvSpPr>
          <p:cNvPr id="271" name="Shape 269"/>
          <p:cNvSpPr/>
          <p:nvPr/>
        </p:nvSpPr>
        <p:spPr>
          <a:xfrm>
            <a:off x="274320" y="4817745"/>
            <a:ext cx="8595360" cy="0"/>
          </a:xfrm>
          <a:prstGeom prst="line">
            <a:avLst/>
          </a:prstGeom>
          <a:noFill/>
          <a:ln w="5715">
            <a:solidFill>
              <a:srgbClr val="B0BEC5">
                <a:alpha val="1200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74320" y="4897755"/>
            <a:ext cx="57150" cy="5715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57150" dist="50800" dir="16200000">
              <a:srgbClr val="00E676">
                <a:alpha val="100000"/>
              </a:srgbClr>
            </a:outerShdw>
          </a:effectLst>
        </p:spPr>
      </p:sp>
      <p:sp>
        <p:nvSpPr>
          <p:cNvPr id="273" name="Text 271"/>
          <p:cNvSpPr/>
          <p:nvPr/>
        </p:nvSpPr>
        <p:spPr>
          <a:xfrm>
            <a:off x="365760" y="4880610"/>
            <a:ext cx="4914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 · 商业友好</a:t>
            </a:r>
            <a:endParaRPr lang="en-US" sz="495" dirty="0"/>
          </a:p>
        </p:txBody>
      </p:sp>
      <p:sp>
        <p:nvSpPr>
          <p:cNvPr id="274" name="Shape 272"/>
          <p:cNvSpPr/>
          <p:nvPr/>
        </p:nvSpPr>
        <p:spPr>
          <a:xfrm>
            <a:off x="897255" y="4897755"/>
            <a:ext cx="57150" cy="57150"/>
          </a:xfrm>
          <a:prstGeom prst="ellipse">
            <a:avLst/>
          </a:prstGeom>
          <a:solidFill>
            <a:srgbClr val="FF5252"/>
          </a:solidFill>
          <a:ln/>
          <a:effectLst>
            <a:outerShdw sx="100000" sy="100000" kx="0" ky="0" algn="bl" rotWithShape="0" blurRad="57150" dist="50800" dir="16200000">
              <a:srgbClr val="FF5252">
                <a:alpha val="100000"/>
              </a:srgbClr>
            </a:outerShdw>
          </a:effectLst>
        </p:spPr>
      </p:sp>
      <p:sp>
        <p:nvSpPr>
          <p:cNvPr id="275" name="Text 273"/>
          <p:cNvSpPr/>
          <p:nvPr/>
        </p:nvSpPr>
        <p:spPr>
          <a:xfrm>
            <a:off x="988695" y="4880610"/>
            <a:ext cx="4914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限制 · 合规注意</a:t>
            </a:r>
            <a:endParaRPr lang="en-US" sz="495" dirty="0"/>
          </a:p>
        </p:txBody>
      </p:sp>
      <p:sp>
        <p:nvSpPr>
          <p:cNvPr id="276" name="Shape 274"/>
          <p:cNvSpPr/>
          <p:nvPr/>
        </p:nvSpPr>
        <p:spPr>
          <a:xfrm>
            <a:off x="1520190" y="4897755"/>
            <a:ext cx="57150" cy="5715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277" name="Text 275"/>
          <p:cNvSpPr/>
          <p:nvPr/>
        </p:nvSpPr>
        <p:spPr>
          <a:xfrm>
            <a:off x="1611630" y="4880610"/>
            <a:ext cx="5543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列头 · 许可证类型</a:t>
            </a:r>
            <a:endParaRPr lang="en-US" sz="495" dirty="0"/>
          </a:p>
        </p:txBody>
      </p:sp>
      <p:sp>
        <p:nvSpPr>
          <p:cNvPr id="278" name="Text 276"/>
          <p:cNvSpPr/>
          <p:nvPr/>
        </p:nvSpPr>
        <p:spPr>
          <a:xfrm>
            <a:off x="6849428" y="4880610"/>
            <a:ext cx="2262683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数据来源：</a:t>
            </a:r>
            <a:pPr algn="l" indent="0" marL="0">
              <a:buNone/>
            </a:pPr>
            <a:r>
              <a:rPr lang="en-US" sz="49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官方文档</a:t>
            </a:r>
            <a:pPr algn="l" indent="0" marL="0">
              <a:buNone/>
            </a:pPr>
            <a:r>
              <a:rPr lang="en-US" sz="495" spc="23" kern="0" dirty="0">
                <a:solidFill>
                  <a:srgbClr val="90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对比时间 2025 · 适用于</a:t>
            </a:r>
            <a:pPr algn="l" indent="0" marL="0">
              <a:buNone/>
            </a:pPr>
            <a:r>
              <a:rPr lang="en-US" sz="49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开源合规决策参考</a:t>
            </a:r>
            <a:endParaRPr lang="en-US" sz="495" dirty="0"/>
          </a:p>
        </p:txBody>
      </p:sp>
      <p:sp>
        <p:nvSpPr>
          <p:cNvPr id="279" name="Shape 277"/>
          <p:cNvSpPr/>
          <p:nvPr/>
        </p:nvSpPr>
        <p:spPr>
          <a:xfrm>
            <a:off x="9132570" y="0"/>
            <a:ext cx="11430" cy="34290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80" name="Shape 278"/>
          <p:cNvSpPr/>
          <p:nvPr/>
        </p:nvSpPr>
        <p:spPr>
          <a:xfrm>
            <a:off x="0" y="5132070"/>
            <a:ext cx="3429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342900" y="274320"/>
            <a:ext cx="9473184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与 AGPL 合规</a:t>
            </a:r>
            <a:endParaRPr lang="en-US" sz="1710" dirty="0"/>
          </a:p>
        </p:txBody>
      </p:sp>
      <p:sp>
        <p:nvSpPr>
          <p:cNvPr id="5" name="Text 3"/>
          <p:cNvSpPr/>
          <p:nvPr/>
        </p:nvSpPr>
        <p:spPr>
          <a:xfrm>
            <a:off x="342900" y="645795"/>
            <a:ext cx="8321040" cy="265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5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与 AGPL 是最容易被忽视的合规雷区——它们的 Copyleft 条款会强制衍生作品开源，尤其是 AGPL 对 SaaS 场景的严格约束，近年来已引发大量企业许可证迁移，开发者必须审慎对待链接关系与网络交互边界。</a:t>
            </a:r>
            <a:endParaRPr lang="en-US" sz="653" dirty="0"/>
          </a:p>
        </p:txBody>
      </p:sp>
      <p:sp>
        <p:nvSpPr>
          <p:cNvPr id="6" name="Shape 4"/>
          <p:cNvSpPr/>
          <p:nvPr/>
        </p:nvSpPr>
        <p:spPr>
          <a:xfrm>
            <a:off x="342900" y="1047988"/>
            <a:ext cx="4114800" cy="400050"/>
          </a:xfrm>
          <a:prstGeom prst="roundRect">
            <a:avLst>
              <a:gd name="adj" fmla="val 11429"/>
            </a:avLst>
          </a:prstGeom>
          <a:solidFill>
            <a:srgbClr val="0F2240"/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1485" y="1122283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" y="1185148"/>
            <a:ext cx="125730" cy="1257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2955" y="1125855"/>
            <a:ext cx="40069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传染机制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782955" y="1263015"/>
            <a:ext cx="4006901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链接 GPL 库的应用程序整体视为衍生作品，须遵循 GPL 协议开源发布全部源码。</a:t>
            </a:r>
            <a:endParaRPr lang="en-US" sz="563" dirty="0"/>
          </a:p>
        </p:txBody>
      </p:sp>
      <p:sp>
        <p:nvSpPr>
          <p:cNvPr id="11" name="Shape 8"/>
          <p:cNvSpPr/>
          <p:nvPr/>
        </p:nvSpPr>
        <p:spPr>
          <a:xfrm>
            <a:off x="342900" y="1505188"/>
            <a:ext cx="4114800" cy="400050"/>
          </a:xfrm>
          <a:prstGeom prst="roundRect">
            <a:avLst>
              <a:gd name="adj" fmla="val 11429"/>
            </a:avLst>
          </a:prstGeom>
          <a:solidFill>
            <a:srgbClr val="0F2240"/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485" y="1579483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" y="1642348"/>
            <a:ext cx="125730" cy="1257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2955" y="1583055"/>
            <a:ext cx="40069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静态 vs 动态链接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782955" y="1720215"/>
            <a:ext cx="4006901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动态链接在 GPL v2 中争议较大，GPL v3 已明确将动态链接视为衍生作品，触发 Copyleft 义务。</a:t>
            </a:r>
            <a:endParaRPr lang="en-US" sz="563" dirty="0"/>
          </a:p>
        </p:txBody>
      </p:sp>
      <p:sp>
        <p:nvSpPr>
          <p:cNvPr id="16" name="Shape 12"/>
          <p:cNvSpPr/>
          <p:nvPr/>
        </p:nvSpPr>
        <p:spPr>
          <a:xfrm>
            <a:off x="342900" y="1962388"/>
            <a:ext cx="4114800" cy="500063"/>
          </a:xfrm>
          <a:prstGeom prst="roundRect">
            <a:avLst>
              <a:gd name="adj" fmla="val 9143"/>
            </a:avLst>
          </a:prstGeom>
          <a:solidFill>
            <a:srgbClr val="0F2240"/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1485" y="2086689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350" y="2149554"/>
            <a:ext cx="125730" cy="1257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2955" y="2036683"/>
            <a:ext cx="40069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 第 13 条</a:t>
            </a:r>
            <a:endParaRPr lang="en-US" sz="675" dirty="0"/>
          </a:p>
        </p:txBody>
      </p:sp>
      <p:sp>
        <p:nvSpPr>
          <p:cNvPr id="20" name="Text 15"/>
          <p:cNvSpPr/>
          <p:nvPr/>
        </p:nvSpPr>
        <p:spPr>
          <a:xfrm>
            <a:off x="782955" y="2173843"/>
            <a:ext cx="4006901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通过网络与用户交互即触发源代码提供义务，SaaS 远程服务也不例外，这是 AGPL 区别于 GPL 的核心条款。</a:t>
            </a:r>
            <a:endParaRPr lang="en-US" sz="563" dirty="0"/>
          </a:p>
        </p:txBody>
      </p:sp>
      <p:sp>
        <p:nvSpPr>
          <p:cNvPr id="21" name="Shape 16"/>
          <p:cNvSpPr/>
          <p:nvPr/>
        </p:nvSpPr>
        <p:spPr>
          <a:xfrm>
            <a:off x="342900" y="2519601"/>
            <a:ext cx="4114800" cy="400050"/>
          </a:xfrm>
          <a:prstGeom prst="roundRect">
            <a:avLst>
              <a:gd name="adj" fmla="val 11429"/>
            </a:avLst>
          </a:prstGeom>
          <a:solidFill>
            <a:srgbClr val="0F2240"/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1485" y="2593896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350" y="2656761"/>
            <a:ext cx="125730" cy="1257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2955" y="2597468"/>
            <a:ext cx="40069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红线</a:t>
            </a:r>
            <a:endParaRPr lang="en-US" sz="675" dirty="0"/>
          </a:p>
        </p:txBody>
      </p:sp>
      <p:sp>
        <p:nvSpPr>
          <p:cNvPr id="25" name="Text 19"/>
          <p:cNvSpPr/>
          <p:nvPr/>
        </p:nvSpPr>
        <p:spPr>
          <a:xfrm>
            <a:off x="782955" y="2734628"/>
            <a:ext cx="4006901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MongoDB、Redis 等知名项目因此转向 SSPL / BSL 许可证，以规避 AGPL 对 SaaS 的强制性开源约束。</a:t>
            </a:r>
            <a:endParaRPr lang="en-US" sz="563" dirty="0"/>
          </a:p>
        </p:txBody>
      </p:sp>
      <p:sp>
        <p:nvSpPr>
          <p:cNvPr id="26" name="Shape 20"/>
          <p:cNvSpPr/>
          <p:nvPr/>
        </p:nvSpPr>
        <p:spPr>
          <a:xfrm>
            <a:off x="342900" y="2976801"/>
            <a:ext cx="4114800" cy="400050"/>
          </a:xfrm>
          <a:prstGeom prst="roundRect">
            <a:avLst>
              <a:gd name="adj" fmla="val 11429"/>
            </a:avLst>
          </a:prstGeom>
          <a:solidFill>
            <a:srgbClr val="0F2240"/>
          </a:soli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1485" y="3051096"/>
            <a:ext cx="251460" cy="251460"/>
          </a:xfrm>
          <a:prstGeom prst="roundRect">
            <a:avLst>
              <a:gd name="adj" fmla="val 1818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350" y="3113961"/>
            <a:ext cx="125730" cy="12573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2955" y="3054668"/>
            <a:ext cx="400690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合规实操建议</a:t>
            </a:r>
            <a:endParaRPr lang="en-US" sz="675" dirty="0"/>
          </a:p>
        </p:txBody>
      </p:sp>
      <p:sp>
        <p:nvSpPr>
          <p:cNvPr id="30" name="Text 23"/>
          <p:cNvSpPr/>
          <p:nvPr/>
        </p:nvSpPr>
        <p:spPr>
          <a:xfrm>
            <a:off x="782955" y="3191828"/>
            <a:ext cx="4006901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商业项目避免静态链接 GPL 库，将 AGPL 组件隔离为独立进程运行，通过 RPC/API 边界切断传染路径。</a:t>
            </a:r>
            <a:endParaRPr lang="en-US" sz="563" dirty="0"/>
          </a:p>
        </p:txBody>
      </p:sp>
      <p:sp>
        <p:nvSpPr>
          <p:cNvPr id="31" name="Shape 24"/>
          <p:cNvSpPr/>
          <p:nvPr/>
        </p:nvSpPr>
        <p:spPr>
          <a:xfrm>
            <a:off x="4594860" y="1047988"/>
            <a:ext cx="4206240" cy="3129141"/>
          </a:xfrm>
          <a:prstGeom prst="roundRect">
            <a:avLst>
              <a:gd name="adj" fmla="val 1826"/>
            </a:avLst>
          </a:prstGeom>
          <a:solidFill>
            <a:srgbClr val="0F2240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714875" y="1145143"/>
            <a:ext cx="119054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传染性传播示意图</a:t>
            </a:r>
            <a:endParaRPr lang="en-US" sz="675" dirty="0"/>
          </a:p>
        </p:txBody>
      </p:sp>
      <p:sp>
        <p:nvSpPr>
          <p:cNvPr id="33" name="Shape 26"/>
          <p:cNvSpPr/>
          <p:nvPr/>
        </p:nvSpPr>
        <p:spPr>
          <a:xfrm>
            <a:off x="5823585" y="1159431"/>
            <a:ext cx="211455" cy="91440"/>
          </a:xfrm>
          <a:prstGeom prst="roundRect">
            <a:avLst>
              <a:gd name="adj" fmla="val 62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4" name="Text 27"/>
          <p:cNvSpPr/>
          <p:nvPr/>
        </p:nvSpPr>
        <p:spPr>
          <a:xfrm>
            <a:off x="5823585" y="1159431"/>
            <a:ext cx="268605" cy="9144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</a:t>
            </a:r>
            <a:endParaRPr lang="en-US" sz="4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14875" y="1299448"/>
            <a:ext cx="3966210" cy="26771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714875" y="3999428"/>
            <a:ext cx="4442155" cy="9197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开源义务通过链接关系层层传递——从核心库到直接链接项目，再扩散至所有衍生项目群</a:t>
            </a:r>
            <a:endParaRPr lang="en-US" sz="518" dirty="0"/>
          </a:p>
        </p:txBody>
      </p:sp>
      <p:sp>
        <p:nvSpPr>
          <p:cNvPr id="37" name="Shape 29"/>
          <p:cNvSpPr/>
          <p:nvPr/>
        </p:nvSpPr>
        <p:spPr>
          <a:xfrm>
            <a:off x="342900" y="4268569"/>
            <a:ext cx="4183380" cy="366296"/>
          </a:xfrm>
          <a:prstGeom prst="roundRect">
            <a:avLst>
              <a:gd name="adj" fmla="val 12482"/>
            </a:avLst>
          </a:prstGeom>
          <a:solidFill>
            <a:srgbClr val="0F2240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51485" y="4360277"/>
            <a:ext cx="62293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1440" dirty="0"/>
          </a:p>
        </p:txBody>
      </p:sp>
      <p:sp>
        <p:nvSpPr>
          <p:cNvPr id="39" name="Text 31"/>
          <p:cNvSpPr/>
          <p:nvPr/>
        </p:nvSpPr>
        <p:spPr>
          <a:xfrm>
            <a:off x="982980" y="4342864"/>
            <a:ext cx="225308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 诉讼增长</a:t>
            </a:r>
            <a:endParaRPr lang="en-US" sz="585" dirty="0"/>
          </a:p>
        </p:txBody>
      </p:sp>
      <p:sp>
        <p:nvSpPr>
          <p:cNvPr id="40" name="Text 32"/>
          <p:cNvSpPr/>
          <p:nvPr/>
        </p:nvSpPr>
        <p:spPr>
          <a:xfrm>
            <a:off x="982980" y="4468594"/>
            <a:ext cx="2253082" cy="9197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2021-2022 年间 AGPL 相关合规纠纷显著增长，企业开源风险持续攀升</a:t>
            </a:r>
            <a:endParaRPr lang="en-US" sz="518" dirty="0"/>
          </a:p>
        </p:txBody>
      </p:sp>
      <p:sp>
        <p:nvSpPr>
          <p:cNvPr id="41" name="Shape 33"/>
          <p:cNvSpPr/>
          <p:nvPr/>
        </p:nvSpPr>
        <p:spPr>
          <a:xfrm>
            <a:off x="4617720" y="4268569"/>
            <a:ext cx="4183380" cy="366296"/>
          </a:xfrm>
          <a:prstGeom prst="roundRect">
            <a:avLst>
              <a:gd name="adj" fmla="val 12482"/>
            </a:avLst>
          </a:prstGeom>
          <a:solidFill>
            <a:srgbClr val="0F2240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726305" y="4360277"/>
            <a:ext cx="566928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1440" dirty="0"/>
          </a:p>
        </p:txBody>
      </p:sp>
      <p:sp>
        <p:nvSpPr>
          <p:cNvPr id="43" name="Text 35"/>
          <p:cNvSpPr/>
          <p:nvPr/>
        </p:nvSpPr>
        <p:spPr>
          <a:xfrm>
            <a:off x="5183505" y="4342864"/>
            <a:ext cx="245150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受影响的 SaaS 项目</a:t>
            </a:r>
            <a:endParaRPr lang="en-US" sz="585" dirty="0"/>
          </a:p>
        </p:txBody>
      </p:sp>
      <p:sp>
        <p:nvSpPr>
          <p:cNvPr id="44" name="Text 36"/>
          <p:cNvSpPr/>
          <p:nvPr/>
        </p:nvSpPr>
        <p:spPr>
          <a:xfrm>
            <a:off x="5183505" y="4468594"/>
            <a:ext cx="2451506" cy="9197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因 AGPL / SSPL 切换许可证的知名项目数量，涵盖数据库、中间件等基础设施</a:t>
            </a:r>
            <a:endParaRPr lang="en-US" sz="518" dirty="0"/>
          </a:p>
        </p:txBody>
      </p:sp>
      <p:sp>
        <p:nvSpPr>
          <p:cNvPr id="45" name="Shape 37"/>
          <p:cNvSpPr/>
          <p:nvPr/>
        </p:nvSpPr>
        <p:spPr>
          <a:xfrm>
            <a:off x="342900" y="4703445"/>
            <a:ext cx="8458200" cy="211455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8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42900" y="4703445"/>
            <a:ext cx="9473184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pPr algn="ctr" indent="0" marL="0">
              <a:buNone/>
            </a:pPr>
            <a:r>
              <a:rPr lang="en-US" sz="585" spc="90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警惕传染 · 主动隔离 · 审慎选型</a:t>
            </a:r>
            <a:pPr algn="ctr" indent="0" marL="0">
              <a:buNone/>
            </a:pPr>
            <a:r>
              <a:rPr lang="en-US" sz="58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</a:t>
            </a:r>
            <a:endParaRPr lang="en-US" sz="5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5717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743200" y="25717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342900" y="257175"/>
            <a:ext cx="9473184" cy="3486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 与 MIT</a:t>
            </a:r>
            <a:endParaRPr lang="en-US" sz="1890" dirty="0"/>
          </a:p>
        </p:txBody>
      </p:sp>
      <p:sp>
        <p:nvSpPr>
          <p:cNvPr id="5" name="Text 3"/>
          <p:cNvSpPr/>
          <p:nvPr/>
        </p:nvSpPr>
        <p:spPr>
          <a:xfrm>
            <a:off x="342900" y="662940"/>
            <a:ext cx="611276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两大最受企业欢迎的宽松型开源许可证：Apache 2.0 凭借明确的专利授权条款成为企业主流选择，MIT 则以极简著称，适合小工具与示例代码。</a:t>
            </a:r>
            <a:endParaRPr lang="en-US" sz="675" dirty="0"/>
          </a:p>
        </p:txBody>
      </p:sp>
      <p:sp>
        <p:nvSpPr>
          <p:cNvPr id="6" name="Shape 4"/>
          <p:cNvSpPr/>
          <p:nvPr/>
        </p:nvSpPr>
        <p:spPr>
          <a:xfrm>
            <a:off x="342900" y="982980"/>
            <a:ext cx="845820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/>
              </a:gs>
              <a:gs pos="50000">
                <a:srgbClr val="00BCD4"/>
              </a:gs>
              <a:gs pos="8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" y="1108710"/>
            <a:ext cx="4223385" cy="2257425"/>
          </a:xfrm>
          <a:prstGeom prst="roundRect">
            <a:avLst>
              <a:gd name="adj" fmla="val 3544"/>
            </a:avLst>
          </a:prstGeom>
          <a:gradFill rotWithShape="1">
            <a:gsLst>
              <a:gs pos="0">
                <a:srgbClr val="111827"/>
              </a:gs>
              <a:gs pos="100000">
                <a:srgbClr val="0D1525"/>
              </a:gs>
            </a:gsLst>
            <a:lin ang="4200000" scaled="0"/>
          </a:gradFill>
          <a:ln w="5715">
            <a:solidFill>
              <a:srgbClr val="1E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" y="1108710"/>
            <a:ext cx="4200525" cy="2234565"/>
          </a:xfrm>
          <a:prstGeom prst="roundRect">
            <a:avLst>
              <a:gd name="adj" fmla="val 3581"/>
            </a:avLst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BCD4">
                  <a:alpha val="15000"/>
                </a:srgbClr>
              </a:gs>
            </a:gsLst>
            <a:lin ang="4200000" scaled="0"/>
          </a:gradFill>
          <a:ln/>
        </p:spPr>
      </p:sp>
      <p:sp>
        <p:nvSpPr>
          <p:cNvPr id="9" name="Shape 7"/>
          <p:cNvSpPr/>
          <p:nvPr/>
        </p:nvSpPr>
        <p:spPr>
          <a:xfrm>
            <a:off x="508635" y="125158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ang="2700000" scaled="0"/>
          </a:gradFill>
          <a:ln/>
          <a:effectLst>
            <a:outerShdw sx="100000" sy="100000" kx="0" ky="0" algn="bl" rotWithShape="0" blurRad="171450" dist="38100" dir="16200000">
              <a:srgbClr val="2196F3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" y="1328738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A2.0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862965" y="1257300"/>
            <a:ext cx="1350569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License 2.0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862965" y="1434465"/>
            <a:ext cx="111373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专利友好 · 企业首选 · 结构化条款</a:t>
            </a:r>
            <a:endParaRPr lang="en-US" sz="540" dirty="0"/>
          </a:p>
        </p:txBody>
      </p:sp>
      <p:sp>
        <p:nvSpPr>
          <p:cNvPr id="13" name="Shape 11"/>
          <p:cNvSpPr/>
          <p:nvPr/>
        </p:nvSpPr>
        <p:spPr>
          <a:xfrm>
            <a:off x="508635" y="1617345"/>
            <a:ext cx="3891915" cy="392013"/>
          </a:xfrm>
          <a:prstGeom prst="roundRect">
            <a:avLst>
              <a:gd name="adj" fmla="val 14579"/>
            </a:avLst>
          </a:prstGeom>
          <a:solidFill>
            <a:srgbClr val="FFFFFF">
              <a:alpha val="2000"/>
            </a:srgbClr>
          </a:solidFill>
          <a:ln w="571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691640"/>
            <a:ext cx="171450" cy="171450"/>
          </a:xfrm>
          <a:prstGeom prst="ellipse">
            <a:avLst/>
          </a:prstGeom>
          <a:solidFill>
            <a:srgbClr val="2196F3">
              <a:alpha val="1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223" y="1731645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834390" y="1703070"/>
            <a:ext cx="88331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 专利条款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834390" y="1834515"/>
            <a:ext cx="268833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贡献者自动授予使用者专利许可，有效防止专利诉讼风险，保障下游用户权益。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508635" y="2077938"/>
            <a:ext cx="3891915" cy="392013"/>
          </a:xfrm>
          <a:prstGeom prst="roundRect">
            <a:avLst>
              <a:gd name="adj" fmla="val 14579"/>
            </a:avLst>
          </a:prstGeom>
          <a:solidFill>
            <a:srgbClr val="FFFFFF">
              <a:alpha val="2000"/>
            </a:srgbClr>
          </a:solidFill>
          <a:ln w="571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152233"/>
            <a:ext cx="171450" cy="171450"/>
          </a:xfrm>
          <a:prstGeom prst="ellipse">
            <a:avLst/>
          </a:prstGeom>
          <a:solidFill>
            <a:srgbClr val="2196F3">
              <a:alpha val="1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508" y="2192238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21" name="Text 19"/>
          <p:cNvSpPr/>
          <p:nvPr/>
        </p:nvSpPr>
        <p:spPr>
          <a:xfrm>
            <a:off x="834390" y="2163663"/>
            <a:ext cx="90251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NOTICE 文件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834390" y="2295108"/>
            <a:ext cx="24003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分发时必须包含 NOTICE 文件，完整保留第三方版权声明与归属信息。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508635" y="2538532"/>
            <a:ext cx="3891915" cy="392013"/>
          </a:xfrm>
          <a:prstGeom prst="roundRect">
            <a:avLst>
              <a:gd name="adj" fmla="val 14579"/>
            </a:avLst>
          </a:prstGeom>
          <a:solidFill>
            <a:srgbClr val="FFFFFF">
              <a:alpha val="2000"/>
            </a:srgbClr>
          </a:solidFill>
          <a:ln w="571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612827"/>
            <a:ext cx="171450" cy="171450"/>
          </a:xfrm>
          <a:prstGeom prst="ellipse">
            <a:avLst/>
          </a:prstGeom>
          <a:solidFill>
            <a:srgbClr val="2196F3">
              <a:alpha val="1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508" y="2652832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5" dirty="0"/>
          </a:p>
        </p:txBody>
      </p:sp>
      <p:sp>
        <p:nvSpPr>
          <p:cNvPr id="26" name="Text 24"/>
          <p:cNvSpPr/>
          <p:nvPr/>
        </p:nvSpPr>
        <p:spPr>
          <a:xfrm>
            <a:off x="834390" y="2624257"/>
            <a:ext cx="6400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企业首选许可证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834390" y="2755702"/>
            <a:ext cx="264993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因其专利保护条款，Apache 2.0 成为大型企业与商业项目的许可证第一选择。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4566285" y="1108710"/>
            <a:ext cx="11430" cy="2257425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50000">
                <a:srgbClr val="00BCD4"/>
              </a:gs>
              <a:gs pos="7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52400" dist="50800" dir="16200000">
              <a:srgbClr val="2196F3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177290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25183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2145983"/>
            <a:ext cx="182880" cy="182880"/>
          </a:xfrm>
          <a:prstGeom prst="ellipse">
            <a:avLst/>
          </a:prstGeom>
          <a:solidFill>
            <a:srgbClr val="0A0E1A"/>
          </a:solidFill>
          <a:ln w="5715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9138" y="2203133"/>
            <a:ext cx="14287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4577715" y="1108710"/>
            <a:ext cx="4223385" cy="2257425"/>
          </a:xfrm>
          <a:prstGeom prst="roundRect">
            <a:avLst>
              <a:gd name="adj" fmla="val 3544"/>
            </a:avLst>
          </a:prstGeom>
          <a:gradFill rotWithShape="1">
            <a:gsLst>
              <a:gs pos="0">
                <a:srgbClr val="111827"/>
              </a:gs>
              <a:gs pos="100000">
                <a:srgbClr val="0D1525"/>
              </a:gs>
            </a:gsLst>
            <a:lin ang="4200000" scaled="0"/>
          </a:gradFill>
          <a:ln w="5715">
            <a:solidFill>
              <a:srgbClr val="1E2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7715" y="1108710"/>
            <a:ext cx="4200525" cy="2234565"/>
          </a:xfrm>
          <a:prstGeom prst="roundRect">
            <a:avLst>
              <a:gd name="adj" fmla="val 3581"/>
            </a:avLst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BCD4">
                  <a:alpha val="15000"/>
                </a:srgbClr>
              </a:gs>
            </a:gsLst>
            <a:lin ang="420000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4743450" y="1251585"/>
            <a:ext cx="274320" cy="27432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0BCD4"/>
              </a:gs>
              <a:gs pos="100000">
                <a:srgbClr val="00838F"/>
              </a:gs>
            </a:gsLst>
            <a:lin ang="2700000" scaled="0"/>
          </a:gradFill>
          <a:ln/>
          <a:effectLst>
            <a:outerShdw sx="100000" sy="100000" kx="0" ky="0" algn="bl" rotWithShape="0" blurRad="171450" dist="38100" dir="16200000">
              <a:srgbClr val="00BCD4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83455" y="1328738"/>
            <a:ext cx="31889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5097780" y="1257300"/>
            <a:ext cx="8686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License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5097780" y="1434465"/>
            <a:ext cx="9601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极简授权 · 零门槛 · 自由使用</a:t>
            </a:r>
            <a:endParaRPr lang="en-US" sz="540" dirty="0"/>
          </a:p>
        </p:txBody>
      </p:sp>
      <p:sp>
        <p:nvSpPr>
          <p:cNvPr id="39" name="Shape 37"/>
          <p:cNvSpPr/>
          <p:nvPr/>
        </p:nvSpPr>
        <p:spPr>
          <a:xfrm>
            <a:off x="4743450" y="1617345"/>
            <a:ext cx="3891915" cy="392013"/>
          </a:xfrm>
          <a:prstGeom prst="roundRect">
            <a:avLst>
              <a:gd name="adj" fmla="val 14579"/>
            </a:avLst>
          </a:prstGeom>
          <a:solidFill>
            <a:srgbClr val="FFFFFF">
              <a:alpha val="2000"/>
            </a:srgbClr>
          </a:solidFill>
          <a:ln w="571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9175" y="1691640"/>
            <a:ext cx="171450" cy="171450"/>
          </a:xfrm>
          <a:prstGeom prst="ellipse">
            <a:avLst/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2038" y="1731645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5069205" y="1703070"/>
            <a:ext cx="57150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极简条款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5069205" y="1834515"/>
            <a:ext cx="261152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仅要求保留版权声明，无任何其他限制，允许自由使用、修改、分发与商用。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4743450" y="2077938"/>
            <a:ext cx="3891915" cy="392013"/>
          </a:xfrm>
          <a:prstGeom prst="roundRect">
            <a:avLst>
              <a:gd name="adj" fmla="val 14579"/>
            </a:avLst>
          </a:prstGeom>
          <a:solidFill>
            <a:srgbClr val="FFFFFF">
              <a:alpha val="2000"/>
            </a:srgbClr>
          </a:solidFill>
          <a:ln w="571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9175" y="2152233"/>
            <a:ext cx="171450" cy="171450"/>
          </a:xfrm>
          <a:prstGeom prst="ellipse">
            <a:avLst/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6323" y="2192238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47" name="Text 45"/>
          <p:cNvSpPr/>
          <p:nvPr/>
        </p:nvSpPr>
        <p:spPr>
          <a:xfrm>
            <a:off x="5069205" y="2163663"/>
            <a:ext cx="90891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8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风险：无专利授权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5069205" y="2295108"/>
            <a:ext cx="253471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无专利授权条款，贡献者理论上可发起专利诉讼，企业合规时需谨慎评估。</a:t>
            </a:r>
            <a:endParaRPr lang="en-US" sz="540" dirty="0"/>
          </a:p>
        </p:txBody>
      </p:sp>
      <p:sp>
        <p:nvSpPr>
          <p:cNvPr id="49" name="Shape 47"/>
          <p:cNvSpPr/>
          <p:nvPr/>
        </p:nvSpPr>
        <p:spPr>
          <a:xfrm>
            <a:off x="342900" y="3469005"/>
            <a:ext cx="2743200" cy="706338"/>
          </a:xfrm>
          <a:prstGeom prst="roundRect">
            <a:avLst>
              <a:gd name="adj" fmla="val 9709"/>
            </a:avLst>
          </a:prstGeom>
          <a:gradFill rotWithShape="1">
            <a:gsLst>
              <a:gs pos="0">
                <a:srgbClr val="111827"/>
              </a:gs>
              <a:gs pos="100000">
                <a:srgbClr val="0D1525"/>
              </a:gs>
            </a:gsLst>
            <a:lin ang="2700000" scaled="0"/>
          </a:gradFill>
          <a:ln w="5715">
            <a:solidFill>
              <a:srgbClr val="1E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900" y="3469005"/>
            <a:ext cx="22860" cy="69491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1" name="Text 49"/>
          <p:cNvSpPr/>
          <p:nvPr/>
        </p:nvSpPr>
        <p:spPr>
          <a:xfrm>
            <a:off x="474345" y="3589020"/>
            <a:ext cx="69128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 使用率</a:t>
            </a:r>
            <a:endParaRPr lang="en-US" sz="495" dirty="0"/>
          </a:p>
        </p:txBody>
      </p:sp>
      <p:sp>
        <p:nvSpPr>
          <p:cNvPr id="52" name="Text 50"/>
          <p:cNvSpPr/>
          <p:nvPr/>
        </p:nvSpPr>
        <p:spPr>
          <a:xfrm>
            <a:off x="474345" y="3686175"/>
            <a:ext cx="685800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26%</a:t>
            </a:r>
            <a:endParaRPr lang="en-US" sz="1620" dirty="0"/>
          </a:p>
        </p:txBody>
      </p:sp>
      <p:sp>
        <p:nvSpPr>
          <p:cNvPr id="53" name="Text 51"/>
          <p:cNvSpPr/>
          <p:nvPr/>
        </p:nvSpPr>
        <p:spPr>
          <a:xfrm>
            <a:off x="474345" y="3969603"/>
            <a:ext cx="111373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开源项目许可证分布第一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3200400" y="3469005"/>
            <a:ext cx="2743200" cy="706338"/>
          </a:xfrm>
          <a:prstGeom prst="roundRect">
            <a:avLst>
              <a:gd name="adj" fmla="val 9709"/>
            </a:avLst>
          </a:prstGeom>
          <a:gradFill rotWithShape="1">
            <a:gsLst>
              <a:gs pos="0">
                <a:srgbClr val="111827"/>
              </a:gs>
              <a:gs pos="100000">
                <a:srgbClr val="0D1525"/>
              </a:gs>
            </a:gsLst>
            <a:lin ang="2700000" scaled="0"/>
          </a:gradFill>
          <a:ln w="5715">
            <a:solidFill>
              <a:srgbClr val="1E2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3469005"/>
            <a:ext cx="22860" cy="69491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6" name="Text 54"/>
          <p:cNvSpPr/>
          <p:nvPr/>
        </p:nvSpPr>
        <p:spPr>
          <a:xfrm>
            <a:off x="3331845" y="3589020"/>
            <a:ext cx="40290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使用率</a:t>
            </a:r>
            <a:endParaRPr lang="en-US" sz="495" dirty="0"/>
          </a:p>
        </p:txBody>
      </p:sp>
      <p:sp>
        <p:nvSpPr>
          <p:cNvPr id="57" name="Text 55"/>
          <p:cNvSpPr/>
          <p:nvPr/>
        </p:nvSpPr>
        <p:spPr>
          <a:xfrm>
            <a:off x="3331845" y="3686175"/>
            <a:ext cx="674370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37%</a:t>
            </a:r>
            <a:endParaRPr lang="en-US" sz="1620" dirty="0"/>
          </a:p>
        </p:txBody>
      </p:sp>
      <p:sp>
        <p:nvSpPr>
          <p:cNvPr id="58" name="Text 56"/>
          <p:cNvSpPr/>
          <p:nvPr/>
        </p:nvSpPr>
        <p:spPr>
          <a:xfrm>
            <a:off x="3331845" y="3969603"/>
            <a:ext cx="84490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小项目与库最常用许可证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6057900" y="3469005"/>
            <a:ext cx="2743200" cy="706338"/>
          </a:xfrm>
          <a:prstGeom prst="roundRect">
            <a:avLst>
              <a:gd name="adj" fmla="val 9709"/>
            </a:avLst>
          </a:prstGeom>
          <a:gradFill rotWithShape="1">
            <a:gsLst>
              <a:gs pos="0">
                <a:srgbClr val="111827"/>
              </a:gs>
              <a:gs pos="100000">
                <a:srgbClr val="0D1525"/>
              </a:gs>
            </a:gsLst>
            <a:lin ang="2700000" scaled="0"/>
          </a:gradFill>
          <a:ln w="5715">
            <a:solidFill>
              <a:srgbClr val="1E2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57900" y="3469005"/>
            <a:ext cx="22860" cy="69491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1" name="Text 59"/>
          <p:cNvSpPr/>
          <p:nvPr/>
        </p:nvSpPr>
        <p:spPr>
          <a:xfrm>
            <a:off x="6189345" y="3589020"/>
            <a:ext cx="45720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专利保护对比</a:t>
            </a:r>
            <a:endParaRPr lang="en-US" sz="495" dirty="0"/>
          </a:p>
        </p:txBody>
      </p:sp>
      <p:sp>
        <p:nvSpPr>
          <p:cNvPr id="62" name="Text 60"/>
          <p:cNvSpPr/>
          <p:nvPr/>
        </p:nvSpPr>
        <p:spPr>
          <a:xfrm>
            <a:off x="6189345" y="3691890"/>
            <a:ext cx="104013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4FC3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专利条款覆盖</a:t>
            </a:r>
            <a:endParaRPr lang="en-US" sz="1170" dirty="0"/>
          </a:p>
        </p:txBody>
      </p:sp>
      <p:sp>
        <p:nvSpPr>
          <p:cNvPr id="63" name="Text 61"/>
          <p:cNvSpPr/>
          <p:nvPr/>
        </p:nvSpPr>
        <p:spPr>
          <a:xfrm>
            <a:off x="6189345" y="3912453"/>
            <a:ext cx="73973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✓</a:t>
            </a:r>
            <a:endParaRPr lang="en-US" sz="990" dirty="0"/>
          </a:p>
        </p:txBody>
      </p:sp>
      <p:sp>
        <p:nvSpPr>
          <p:cNvPr id="64" name="Text 62"/>
          <p:cNvSpPr/>
          <p:nvPr/>
        </p:nvSpPr>
        <p:spPr>
          <a:xfrm>
            <a:off x="6894790" y="3943886"/>
            <a:ext cx="16459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540" dirty="0"/>
          </a:p>
        </p:txBody>
      </p:sp>
      <p:sp>
        <p:nvSpPr>
          <p:cNvPr id="65" name="Text 63"/>
          <p:cNvSpPr/>
          <p:nvPr/>
        </p:nvSpPr>
        <p:spPr>
          <a:xfrm>
            <a:off x="7060525" y="3912453"/>
            <a:ext cx="49970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52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✗</a:t>
            </a:r>
            <a:endParaRPr lang="en-US" sz="9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70B1A"/>
              </a:gs>
              <a:gs pos="60000">
                <a:srgbClr val="0B1228"/>
              </a:gs>
              <a:gs pos="100000">
                <a:srgbClr val="091024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286000" y="-1543050"/>
            <a:ext cx="8229600" cy="4629150"/>
          </a:xfrm>
          <a:prstGeom prst="ellipse">
            <a:avLst/>
          </a:prstGeom>
          <a:gradFill rotWithShape="1">
            <a:gsLst>
              <a:gs pos="0">
                <a:srgbClr val="2196F3">
                  <a:alpha val="14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743200" y="1800225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12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24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24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980498" y="342900"/>
            <a:ext cx="1183005" cy="194310"/>
          </a:xfrm>
          <a:prstGeom prst="roundRect">
            <a:avLst>
              <a:gd name="adj" fmla="val 88235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1943" y="394335"/>
            <a:ext cx="103052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05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3371850" y="651510"/>
            <a:ext cx="2731770" cy="40005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2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1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实践建议与总结</a:t>
            </a:r>
            <a:endParaRPr lang="en-US" sz="2610" dirty="0"/>
          </a:p>
        </p:txBody>
      </p:sp>
      <p:sp>
        <p:nvSpPr>
          <p:cNvPr id="9" name="Text 7"/>
          <p:cNvSpPr/>
          <p:nvPr/>
        </p:nvSpPr>
        <p:spPr>
          <a:xfrm>
            <a:off x="3657600" y="1158359"/>
            <a:ext cx="2048256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从阅读到落地的开源许可证行动指南</a:t>
            </a:r>
            <a:endParaRPr lang="en-US" sz="855" dirty="0"/>
          </a:p>
        </p:txBody>
      </p:sp>
      <p:sp>
        <p:nvSpPr>
          <p:cNvPr id="10" name="Shape 8"/>
          <p:cNvSpPr/>
          <p:nvPr/>
        </p:nvSpPr>
        <p:spPr>
          <a:xfrm>
            <a:off x="3086100" y="1435537"/>
            <a:ext cx="138303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4549140" y="1415534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4870" y="1435537"/>
            <a:ext cx="138303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2280285" y="1564124"/>
            <a:ext cx="5133442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阅读是起点，落地才是目的 — 从</a:t>
            </a:r>
            <a:pPr algn="ctr" indent="0" marL="0">
              <a:buNone/>
            </a:pPr>
            <a:r>
              <a:rPr lang="en-US" sz="67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许可证选型</a:t>
            </a:r>
            <a:pPr algn="ctr" indent="0" marL="0"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ctr" indent="0" marL="0">
              <a:buNone/>
            </a:pPr>
            <a:r>
              <a:rPr lang="en-US" sz="67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依赖审查</a:t>
            </a:r>
            <a:pPr algn="ctr" indent="0" marL="0"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ctr" indent="0" marL="0">
              <a:buNone/>
            </a:pPr>
            <a:r>
              <a:rPr lang="en-US" sz="67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合规文档</a:t>
            </a:r>
            <a:pPr algn="ctr" indent="0" marL="0"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ctr" indent="0" marL="0">
              <a:buNone/>
            </a:pPr>
            <a:r>
              <a:rPr lang="en-US" sz="675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持续学习</a:t>
            </a:r>
            <a:pPr algn="ctr" indent="0" marL="0">
              <a:buNone/>
            </a:pPr>
            <a:r>
              <a:rPr lang="en-US" sz="675" spc="23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四个维度，给出可操作的实践建议。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400050" y="1844159"/>
            <a:ext cx="1880235" cy="1010841"/>
          </a:xfrm>
          <a:prstGeom prst="roundRect">
            <a:avLst>
              <a:gd name="adj" fmla="val 90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A35">
                  <a:alpha val="95000"/>
                </a:srgbClr>
              </a:gs>
            </a:gsLst>
            <a:lin ang="54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1844159"/>
            <a:ext cx="18688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1931670" y="2506385"/>
            <a:ext cx="514350" cy="5143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7" name="Text 15"/>
          <p:cNvSpPr/>
          <p:nvPr/>
        </p:nvSpPr>
        <p:spPr>
          <a:xfrm>
            <a:off x="520065" y="1975604"/>
            <a:ext cx="42862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01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520065" y="2072759"/>
            <a:ext cx="278249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◎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520065" y="2307074"/>
            <a:ext cx="52578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选型原则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520065" y="2501384"/>
            <a:ext cx="1607901" cy="213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新项目优先考虑 Apache 2.0，个人工具选 MIT，确保初始选型与项目定位匹配。</a:t>
            </a:r>
            <a:endParaRPr lang="en-US" sz="585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7435" y="2283857"/>
            <a:ext cx="160020" cy="1143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554605" y="1844159"/>
            <a:ext cx="1880235" cy="1010841"/>
          </a:xfrm>
          <a:prstGeom prst="roundRect">
            <a:avLst>
              <a:gd name="adj" fmla="val 90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A35">
                  <a:alpha val="95000"/>
                </a:srgbClr>
              </a:gs>
            </a:gsLst>
            <a:lin ang="54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554605" y="1844159"/>
            <a:ext cx="18688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4" name="Shape 21"/>
          <p:cNvSpPr/>
          <p:nvPr/>
        </p:nvSpPr>
        <p:spPr>
          <a:xfrm>
            <a:off x="4086225" y="2506385"/>
            <a:ext cx="514350" cy="5143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5" name="Text 22"/>
          <p:cNvSpPr/>
          <p:nvPr/>
        </p:nvSpPr>
        <p:spPr>
          <a:xfrm>
            <a:off x="2674620" y="1975604"/>
            <a:ext cx="4400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02</a:t>
            </a:r>
            <a:endParaRPr lang="en-US" sz="495" dirty="0"/>
          </a:p>
        </p:txBody>
      </p:sp>
      <p:sp>
        <p:nvSpPr>
          <p:cNvPr id="26" name="Text 23"/>
          <p:cNvSpPr/>
          <p:nvPr/>
        </p:nvSpPr>
        <p:spPr>
          <a:xfrm>
            <a:off x="2674620" y="2072759"/>
            <a:ext cx="262890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◈</a:t>
            </a:r>
            <a:endParaRPr lang="en-US" sz="1170" dirty="0"/>
          </a:p>
        </p:txBody>
      </p:sp>
      <p:sp>
        <p:nvSpPr>
          <p:cNvPr id="27" name="Text 24"/>
          <p:cNvSpPr/>
          <p:nvPr/>
        </p:nvSpPr>
        <p:spPr>
          <a:xfrm>
            <a:off x="2674620" y="2307074"/>
            <a:ext cx="52578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依赖审查</a:t>
            </a:r>
            <a:endParaRPr lang="en-US" sz="810" dirty="0"/>
          </a:p>
        </p:txBody>
      </p:sp>
      <p:sp>
        <p:nvSpPr>
          <p:cNvPr id="28" name="Text 25"/>
          <p:cNvSpPr/>
          <p:nvPr/>
        </p:nvSpPr>
        <p:spPr>
          <a:xfrm>
            <a:off x="2674620" y="2501384"/>
            <a:ext cx="1759620" cy="213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 SBOM 清单，并自动检测许可证兼容性，将合规检查融入 CI 流水线。</a:t>
            </a:r>
            <a:endParaRPr lang="en-US" sz="585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990" y="2283857"/>
            <a:ext cx="160020" cy="1143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709160" y="1844159"/>
            <a:ext cx="1880235" cy="1010841"/>
          </a:xfrm>
          <a:prstGeom prst="roundRect">
            <a:avLst>
              <a:gd name="adj" fmla="val 90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A35">
                  <a:alpha val="95000"/>
                </a:srgbClr>
              </a:gs>
            </a:gsLst>
            <a:lin ang="54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09160" y="1844159"/>
            <a:ext cx="18688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2" name="Shape 28"/>
          <p:cNvSpPr/>
          <p:nvPr/>
        </p:nvSpPr>
        <p:spPr>
          <a:xfrm>
            <a:off x="6240780" y="2506385"/>
            <a:ext cx="514350" cy="5143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3" name="Text 29"/>
          <p:cNvSpPr/>
          <p:nvPr/>
        </p:nvSpPr>
        <p:spPr>
          <a:xfrm>
            <a:off x="4829175" y="1975604"/>
            <a:ext cx="4400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03</a:t>
            </a:r>
            <a:endParaRPr lang="en-US" sz="495" dirty="0"/>
          </a:p>
        </p:txBody>
      </p:sp>
      <p:sp>
        <p:nvSpPr>
          <p:cNvPr id="34" name="Text 30"/>
          <p:cNvSpPr/>
          <p:nvPr/>
        </p:nvSpPr>
        <p:spPr>
          <a:xfrm>
            <a:off x="4829175" y="2072759"/>
            <a:ext cx="289054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▤</a:t>
            </a:r>
            <a:endParaRPr lang="en-US" sz="1170" dirty="0"/>
          </a:p>
        </p:txBody>
      </p:sp>
      <p:sp>
        <p:nvSpPr>
          <p:cNvPr id="35" name="Text 31"/>
          <p:cNvSpPr/>
          <p:nvPr/>
        </p:nvSpPr>
        <p:spPr>
          <a:xfrm>
            <a:off x="4829175" y="2307074"/>
            <a:ext cx="52578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合规文档</a:t>
            </a:r>
            <a:endParaRPr lang="en-US" sz="810" dirty="0"/>
          </a:p>
        </p:txBody>
      </p:sp>
      <p:sp>
        <p:nvSpPr>
          <p:cNvPr id="36" name="Text 32"/>
          <p:cNvSpPr/>
          <p:nvPr/>
        </p:nvSpPr>
        <p:spPr>
          <a:xfrm>
            <a:off x="4829175" y="2501384"/>
            <a:ext cx="1760920" cy="213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维护 LICENSE、NOTICE 与版权声明清单，确保分发时所有义务可追溯、可审计。</a:t>
            </a:r>
            <a:endParaRPr lang="en-US" sz="585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6545" y="2283857"/>
            <a:ext cx="160020" cy="11430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6863715" y="1844159"/>
            <a:ext cx="1880235" cy="1010841"/>
          </a:xfrm>
          <a:prstGeom prst="roundRect">
            <a:avLst>
              <a:gd name="adj" fmla="val 90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F1A35">
                  <a:alpha val="95000"/>
                </a:srgbClr>
              </a:gs>
            </a:gsLst>
            <a:lin ang="54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12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863715" y="1844159"/>
            <a:ext cx="186880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0" name="Shape 35"/>
          <p:cNvSpPr/>
          <p:nvPr/>
        </p:nvSpPr>
        <p:spPr>
          <a:xfrm>
            <a:off x="8395335" y="2506385"/>
            <a:ext cx="514350" cy="5143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1" name="Text 36"/>
          <p:cNvSpPr/>
          <p:nvPr/>
        </p:nvSpPr>
        <p:spPr>
          <a:xfrm>
            <a:off x="6983730" y="1975604"/>
            <a:ext cx="4400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04</a:t>
            </a:r>
            <a:endParaRPr lang="en-US" sz="495" dirty="0"/>
          </a:p>
        </p:txBody>
      </p:sp>
      <p:sp>
        <p:nvSpPr>
          <p:cNvPr id="42" name="Text 37"/>
          <p:cNvSpPr/>
          <p:nvPr/>
        </p:nvSpPr>
        <p:spPr>
          <a:xfrm>
            <a:off x="6983730" y="2072759"/>
            <a:ext cx="273159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</a:t>
            </a:r>
            <a:endParaRPr lang="en-US" sz="1170" dirty="0"/>
          </a:p>
        </p:txBody>
      </p:sp>
      <p:sp>
        <p:nvSpPr>
          <p:cNvPr id="43" name="Text 38"/>
          <p:cNvSpPr/>
          <p:nvPr/>
        </p:nvSpPr>
        <p:spPr>
          <a:xfrm>
            <a:off x="6983730" y="2307074"/>
            <a:ext cx="52578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持续学习</a:t>
            </a:r>
            <a:endParaRPr lang="en-US" sz="810" dirty="0"/>
          </a:p>
        </p:txBody>
      </p:sp>
      <p:sp>
        <p:nvSpPr>
          <p:cNvPr id="44" name="Text 39"/>
          <p:cNvSpPr/>
          <p:nvPr/>
        </p:nvSpPr>
        <p:spPr>
          <a:xfrm>
            <a:off x="6983730" y="2501384"/>
            <a:ext cx="1757020" cy="213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 SPDX、FOSSA 等行业合规工具动态，持续更新知识库与团队培训机制。</a:t>
            </a:r>
            <a:endParaRPr lang="en-US" sz="585" dirty="0"/>
          </a:p>
        </p:txBody>
      </p:sp>
      <p:sp>
        <p:nvSpPr>
          <p:cNvPr id="45" name="Shape 40"/>
          <p:cNvSpPr/>
          <p:nvPr/>
        </p:nvSpPr>
        <p:spPr>
          <a:xfrm>
            <a:off x="2603361" y="3003590"/>
            <a:ext cx="1623685" cy="394335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2883396" y="3089315"/>
            <a:ext cx="310896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40" dirty="0"/>
          </a:p>
        </p:txBody>
      </p:sp>
      <p:sp>
        <p:nvSpPr>
          <p:cNvPr id="47" name="Shape 42"/>
          <p:cNvSpPr/>
          <p:nvPr/>
        </p:nvSpPr>
        <p:spPr>
          <a:xfrm>
            <a:off x="3214866" y="3103602"/>
            <a:ext cx="5715" cy="19431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8" name="Text 43"/>
          <p:cNvSpPr/>
          <p:nvPr/>
        </p:nvSpPr>
        <p:spPr>
          <a:xfrm>
            <a:off x="3312021" y="3109317"/>
            <a:ext cx="4686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建议行动项</a:t>
            </a:r>
            <a:endParaRPr lang="en-US" sz="540" dirty="0"/>
          </a:p>
        </p:txBody>
      </p:sp>
      <p:sp>
        <p:nvSpPr>
          <p:cNvPr id="49" name="Text 44"/>
          <p:cNvSpPr/>
          <p:nvPr/>
        </p:nvSpPr>
        <p:spPr>
          <a:xfrm>
            <a:off x="3312021" y="3217902"/>
            <a:ext cx="8392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选型 / 审查 / 文档 / 学习</a:t>
            </a:r>
            <a:endParaRPr lang="en-US" sz="540" dirty="0"/>
          </a:p>
        </p:txBody>
      </p:sp>
      <p:sp>
        <p:nvSpPr>
          <p:cNvPr id="50" name="Shape 45"/>
          <p:cNvSpPr/>
          <p:nvPr/>
        </p:nvSpPr>
        <p:spPr>
          <a:xfrm>
            <a:off x="4341346" y="3003590"/>
            <a:ext cx="2199203" cy="394335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8000"/>
              </a:srgbClr>
            </a:outerShdw>
          </a:effectLst>
        </p:spPr>
      </p:sp>
      <p:sp>
        <p:nvSpPr>
          <p:cNvPr id="51" name="Text 46"/>
          <p:cNvSpPr/>
          <p:nvPr/>
        </p:nvSpPr>
        <p:spPr>
          <a:xfrm>
            <a:off x="4627096" y="3089315"/>
            <a:ext cx="310896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40" dirty="0"/>
          </a:p>
        </p:txBody>
      </p:sp>
      <p:sp>
        <p:nvSpPr>
          <p:cNvPr id="52" name="Shape 47"/>
          <p:cNvSpPr/>
          <p:nvPr/>
        </p:nvSpPr>
        <p:spPr>
          <a:xfrm>
            <a:off x="4952851" y="3103602"/>
            <a:ext cx="5715" cy="19431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3" name="Text 48"/>
          <p:cNvSpPr/>
          <p:nvPr/>
        </p:nvSpPr>
        <p:spPr>
          <a:xfrm>
            <a:off x="5050006" y="3115032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推荐工具</a:t>
            </a:r>
            <a:endParaRPr lang="en-US" sz="540" dirty="0"/>
          </a:p>
        </p:txBody>
      </p:sp>
      <p:sp>
        <p:nvSpPr>
          <p:cNvPr id="54" name="Text 49"/>
          <p:cNvSpPr/>
          <p:nvPr/>
        </p:nvSpPr>
        <p:spPr>
          <a:xfrm>
            <a:off x="5050006" y="3212187"/>
            <a:ext cx="14837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4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FOSSA / Scancode / Ort / SNYK / SPDX</a:t>
            </a:r>
            <a:endParaRPr lang="en-US" sz="540" dirty="0"/>
          </a:p>
        </p:txBody>
      </p:sp>
      <p:sp>
        <p:nvSpPr>
          <p:cNvPr id="55" name="Text 50"/>
          <p:cNvSpPr/>
          <p:nvPr/>
        </p:nvSpPr>
        <p:spPr>
          <a:xfrm>
            <a:off x="400050" y="4737735"/>
            <a:ext cx="6976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阅 读 到 落 地</a:t>
            </a:r>
            <a:endParaRPr lang="en-US" sz="540" dirty="0"/>
          </a:p>
        </p:txBody>
      </p:sp>
      <p:sp>
        <p:nvSpPr>
          <p:cNvPr id="56" name="Shape 51"/>
          <p:cNvSpPr/>
          <p:nvPr/>
        </p:nvSpPr>
        <p:spPr>
          <a:xfrm>
            <a:off x="1102995" y="4709160"/>
            <a:ext cx="1257300" cy="148590"/>
          </a:xfrm>
          <a:prstGeom prst="roundRect">
            <a:avLst>
              <a:gd name="adj" fmla="val 76923"/>
            </a:avLst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1102995" y="4709160"/>
            <a:ext cx="1408176" cy="148590"/>
          </a:xfrm>
          <a:prstGeom prst="rect">
            <a:avLst/>
          </a:prstGeom>
          <a:noFill/>
          <a:ln/>
        </p:spPr>
        <p:txBody>
          <a:bodyPr wrap="square" lIns="28575" tIns="80010" rIns="80010" bIns="2857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READING TO ACTION</a:t>
            </a:r>
            <a:endParaRPr lang="en-US" sz="495" dirty="0"/>
          </a:p>
        </p:txBody>
      </p:sp>
      <p:sp>
        <p:nvSpPr>
          <p:cNvPr id="58" name="Text 53"/>
          <p:cNvSpPr/>
          <p:nvPr/>
        </p:nvSpPr>
        <p:spPr>
          <a:xfrm>
            <a:off x="6886575" y="4740593"/>
            <a:ext cx="20802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LICENSE · PRACTICE &amp; SUMMARY</a:t>
            </a:r>
            <a:endParaRPr lang="en-US" sz="5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71500" y="-1143000"/>
            <a:ext cx="3429000" cy="3429000"/>
          </a:xfrm>
          <a:prstGeom prst="ellipse">
            <a:avLst/>
          </a:prstGeom>
          <a:solidFill>
            <a:srgbClr val="2196F3">
              <a:alpha val="25000"/>
            </a:srgbClr>
          </a:solidFill>
          <a:ln/>
          <a:effectLst>
            <a:outerShdw sx="100000" sy="100000" kx="0" ky="0" algn="bl" rotWithShape="0" blurRad="457200" dist="50800" dir="16200000">
              <a:srgbClr val="2196F3">
                <a:alpha val="6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0" y="3143250"/>
            <a:ext cx="2857500" cy="2857500"/>
          </a:xfrm>
          <a:prstGeom prst="ellipse">
            <a:avLst/>
          </a:prstGeom>
          <a:solidFill>
            <a:srgbClr val="00BCD4">
              <a:alpha val="25000"/>
            </a:srgbClr>
          </a:solidFill>
          <a:ln/>
          <a:effectLst>
            <a:outerShdw sx="100000" sy="100000" kx="0" ky="0" algn="bl" rotWithShape="0" blurRad="457200" dist="50800" dir="16200000">
              <a:srgbClr val="00BCD4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0" y="1143000"/>
            <a:ext cx="2286000" cy="2286000"/>
          </a:xfrm>
          <a:prstGeom prst="ellipse">
            <a:avLst/>
          </a:prstGeom>
          <a:solidFill>
            <a:srgbClr val="2196F3">
              <a:alpha val="12000"/>
            </a:srgbClr>
          </a:solidFill>
          <a:ln/>
          <a:effectLst>
            <a:outerShdw sx="100000" sy="100000" kx="0" ky="0" algn="bl" rotWithShape="0" blurRad="457200" dist="50800" dir="16200000">
              <a:srgbClr val="2196F3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23960" y="4823460"/>
            <a:ext cx="17145" cy="1714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0185" y="4229100"/>
            <a:ext cx="5715" cy="571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95235" y="2286000"/>
            <a:ext cx="17145" cy="17145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94610" y="594360"/>
            <a:ext cx="17145" cy="1714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09060" y="297180"/>
            <a:ext cx="11430" cy="11430"/>
          </a:xfrm>
          <a:prstGeom prst="ellipse">
            <a:avLst/>
          </a:prstGeom>
          <a:solidFill>
            <a:srgbClr val="90CAF9">
              <a:alpha val="41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005" y="5137785"/>
            <a:ext cx="17145" cy="1714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74970" y="4051935"/>
            <a:ext cx="14288" cy="14288"/>
          </a:xfrm>
          <a:prstGeom prst="ellipse">
            <a:avLst/>
          </a:prstGeom>
          <a:solidFill>
            <a:srgbClr val="80DEEA">
              <a:alpha val="49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66460" y="1445895"/>
            <a:ext cx="11430" cy="11430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46220" y="622935"/>
            <a:ext cx="11430" cy="11430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6195" y="2634615"/>
            <a:ext cx="14288" cy="14288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7570" y="4160520"/>
            <a:ext cx="11430" cy="11430"/>
          </a:xfrm>
          <a:prstGeom prst="ellipse">
            <a:avLst/>
          </a:prstGeom>
          <a:solidFill>
            <a:srgbClr val="90CAF9">
              <a:alpha val="43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06740" y="891540"/>
            <a:ext cx="17145" cy="1714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49590" y="725805"/>
            <a:ext cx="11430" cy="11430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2435" y="274320"/>
            <a:ext cx="14288" cy="14288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78215" y="1485900"/>
            <a:ext cx="8573" cy="857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0870" y="3360420"/>
            <a:ext cx="5715" cy="5715"/>
          </a:xfrm>
          <a:prstGeom prst="ellipse">
            <a:avLst/>
          </a:prstGeom>
          <a:solidFill>
            <a:srgbClr val="80DEEA">
              <a:alpha val="41000"/>
            </a:srgbClr>
          </a:solidFill>
          <a:ln/>
          <a:effectLst>
            <a:outerShdw sx="100000" sy="100000" kx="0" ky="0" algn="bl" rotWithShape="0" blurRad="101600" dist="50800" dir="16200000">
              <a:srgbClr val="80DEEA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52110" y="3749040"/>
            <a:ext cx="11430" cy="11430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4330" y="708660"/>
            <a:ext cx="11430" cy="11430"/>
          </a:xfrm>
          <a:prstGeom prst="ellipse">
            <a:avLst/>
          </a:prstGeom>
          <a:solidFill>
            <a:srgbClr val="80DEEA">
              <a:alpha val="34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0070" y="2531745"/>
            <a:ext cx="11430" cy="11430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709660" y="988695"/>
            <a:ext cx="11430" cy="11430"/>
          </a:xfrm>
          <a:prstGeom prst="ellipse">
            <a:avLst/>
          </a:prstGeom>
          <a:solidFill>
            <a:srgbClr val="80DEEA">
              <a:alpha val="33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4080510"/>
            <a:ext cx="14288" cy="14288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817495" y="257175"/>
            <a:ext cx="5715" cy="5715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12230" y="1217295"/>
            <a:ext cx="5715" cy="5715"/>
          </a:xfrm>
          <a:prstGeom prst="ellipse">
            <a:avLst/>
          </a:prstGeom>
          <a:solidFill>
            <a:srgbClr val="64B5F6">
              <a:alpha val="34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51660" y="731520"/>
            <a:ext cx="5715" cy="5715"/>
          </a:xfrm>
          <a:prstGeom prst="ellipse">
            <a:avLst/>
          </a:prstGeom>
          <a:solidFill>
            <a:srgbClr val="4DD0E1">
              <a:alpha val="44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69655" y="4469130"/>
            <a:ext cx="14288" cy="14288"/>
          </a:xfrm>
          <a:prstGeom prst="ellipse">
            <a:avLst/>
          </a:prstGeom>
          <a:solidFill>
            <a:srgbClr val="80DEEA">
              <a:alpha val="39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15250" y="108585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94735" y="4023360"/>
            <a:ext cx="14288" cy="14288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4857750"/>
            <a:ext cx="8573" cy="8573"/>
          </a:xfrm>
          <a:prstGeom prst="ellipse">
            <a:avLst/>
          </a:prstGeom>
          <a:solidFill>
            <a:srgbClr val="80DEEA">
              <a:alpha val="36000"/>
            </a:srgbClr>
          </a:solidFill>
          <a:ln/>
          <a:effectLst>
            <a:outerShdw sx="100000" sy="100000" kx="0" ky="0" algn="bl" rotWithShape="0" blurRad="101600" dist="50800" dir="16200000">
              <a:srgbClr val="80DEEA">
                <a:alpha val="6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46570" y="3914775"/>
            <a:ext cx="17145" cy="17145"/>
          </a:xfrm>
          <a:prstGeom prst="ellipse">
            <a:avLst/>
          </a:prstGeom>
          <a:solidFill>
            <a:srgbClr val="64B5F6">
              <a:alpha val="41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97930" y="102870"/>
            <a:ext cx="5715" cy="5715"/>
          </a:xfrm>
          <a:prstGeom prst="ellipse">
            <a:avLst/>
          </a:prstGeom>
          <a:solidFill>
            <a:srgbClr val="4DD0E1">
              <a:alpha val="43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58125" y="1943100"/>
            <a:ext cx="17145" cy="1714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005" y="2337435"/>
            <a:ext cx="17145" cy="1714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6305" y="40005"/>
            <a:ext cx="5715" cy="571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4370" y="3977640"/>
            <a:ext cx="8573" cy="8573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5795" y="2503170"/>
            <a:ext cx="5715" cy="571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31820" y="914400"/>
            <a:ext cx="17145" cy="17145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66285" y="617220"/>
            <a:ext cx="14288" cy="14288"/>
          </a:xfrm>
          <a:prstGeom prst="ellipse">
            <a:avLst/>
          </a:prstGeom>
          <a:solidFill>
            <a:srgbClr val="4DD0E1">
              <a:alpha val="37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194560" y="1354455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15175" y="4126230"/>
            <a:ext cx="5715" cy="5715"/>
          </a:xfrm>
          <a:prstGeom prst="ellipse">
            <a:avLst/>
          </a:prstGeom>
          <a:solidFill>
            <a:srgbClr val="FFFFFF">
              <a:alpha val="48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63340" y="491490"/>
            <a:ext cx="17145" cy="17145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37760" y="3800475"/>
            <a:ext cx="11430" cy="11430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55055" y="4834890"/>
            <a:ext cx="17145" cy="17145"/>
          </a:xfrm>
          <a:prstGeom prst="ellipse">
            <a:avLst/>
          </a:prstGeom>
          <a:solidFill>
            <a:srgbClr val="64B5F6">
              <a:alpha val="36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480560" y="1485900"/>
            <a:ext cx="11430" cy="11430"/>
          </a:xfrm>
          <a:prstGeom prst="ellipse">
            <a:avLst/>
          </a:prstGeom>
          <a:solidFill>
            <a:srgbClr val="90CAF9">
              <a:alpha val="49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23685" y="3126105"/>
            <a:ext cx="5715" cy="571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548765" y="3228975"/>
            <a:ext cx="14288" cy="14288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46395" y="3937635"/>
            <a:ext cx="8573" cy="8573"/>
          </a:xfrm>
          <a:prstGeom prst="ellipse">
            <a:avLst/>
          </a:prstGeom>
          <a:solidFill>
            <a:srgbClr val="FFFFFF">
              <a:alpha val="34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03195" y="2703195"/>
            <a:ext cx="14288" cy="14288"/>
          </a:xfrm>
          <a:prstGeom prst="ellipse">
            <a:avLst/>
          </a:prstGeom>
          <a:solidFill>
            <a:srgbClr val="4DD0E1">
              <a:alpha val="45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98205" y="2451735"/>
            <a:ext cx="5715" cy="5715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566035" y="4417695"/>
            <a:ext cx="11430" cy="11430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885950" y="4680585"/>
            <a:ext cx="5715" cy="5715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62890" y="1154430"/>
            <a:ext cx="14288" cy="14288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909060" y="1543050"/>
            <a:ext cx="8573" cy="8573"/>
          </a:xfrm>
          <a:prstGeom prst="ellipse">
            <a:avLst/>
          </a:prstGeom>
          <a:solidFill>
            <a:srgbClr val="80DEEA">
              <a:alpha val="45000"/>
            </a:srgbClr>
          </a:solidFill>
          <a:ln/>
          <a:effectLst>
            <a:outerShdw sx="100000" sy="100000" kx="0" ky="0" algn="bl" rotWithShape="0" blurRad="101600" dist="50800" dir="16200000">
              <a:srgbClr val="80DEEA">
                <a:alpha val="6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863590" y="3749040"/>
            <a:ext cx="8573" cy="8573"/>
          </a:xfrm>
          <a:prstGeom prst="ellipse">
            <a:avLst/>
          </a:prstGeom>
          <a:solidFill>
            <a:srgbClr val="4DD0E1">
              <a:alpha val="43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018270" y="4457700"/>
            <a:ext cx="14288" cy="14288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709660" y="3183255"/>
            <a:ext cx="14288" cy="14288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640955" y="3120390"/>
            <a:ext cx="17145" cy="1714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131570" y="1417320"/>
            <a:ext cx="14288" cy="14288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57725" y="3114675"/>
            <a:ext cx="14288" cy="14288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806440" y="2908935"/>
            <a:ext cx="17145" cy="17145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857500" y="2686050"/>
            <a:ext cx="14288" cy="14288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32245" y="3223260"/>
            <a:ext cx="8573" cy="8573"/>
          </a:xfrm>
          <a:prstGeom prst="ellipse">
            <a:avLst/>
          </a:prstGeom>
          <a:solidFill>
            <a:srgbClr val="90CAF9">
              <a:alpha val="47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22935" y="1097280"/>
            <a:ext cx="5715" cy="571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554480" y="1885950"/>
            <a:ext cx="11430" cy="11430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800600" y="3583305"/>
            <a:ext cx="11430" cy="11430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240280" y="3914775"/>
            <a:ext cx="14288" cy="14288"/>
          </a:xfrm>
          <a:prstGeom prst="ellipse">
            <a:avLst/>
          </a:prstGeom>
          <a:solidFill>
            <a:srgbClr val="90CAF9">
              <a:alpha val="33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280910" y="4091940"/>
            <a:ext cx="8573" cy="857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354705" y="3709035"/>
            <a:ext cx="8573" cy="857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817870" y="2463165"/>
            <a:ext cx="5715" cy="571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205990" y="1034415"/>
            <a:ext cx="5715" cy="571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691765" y="4772025"/>
            <a:ext cx="5715" cy="571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588895" y="3246120"/>
            <a:ext cx="14288" cy="14288"/>
          </a:xfrm>
          <a:prstGeom prst="ellipse">
            <a:avLst/>
          </a:prstGeom>
          <a:solidFill>
            <a:srgbClr val="64B5F6">
              <a:alpha val="39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863340" y="291465"/>
            <a:ext cx="8573" cy="8573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749540" y="154305"/>
            <a:ext cx="14288" cy="14288"/>
          </a:xfrm>
          <a:prstGeom prst="ellipse">
            <a:avLst/>
          </a:prstGeom>
          <a:solidFill>
            <a:srgbClr val="80DEEA">
              <a:alpha val="39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229600" y="868680"/>
            <a:ext cx="17145" cy="1714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812405" y="3749040"/>
            <a:ext cx="11430" cy="11430"/>
          </a:xfrm>
          <a:prstGeom prst="ellipse">
            <a:avLst/>
          </a:prstGeom>
          <a:solidFill>
            <a:srgbClr val="64B5F6">
              <a:alpha val="36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075045" y="4817745"/>
            <a:ext cx="8573" cy="8573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635115" y="1045845"/>
            <a:ext cx="5715" cy="571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966335" y="3091815"/>
            <a:ext cx="8573" cy="857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680210" y="4617720"/>
            <a:ext cx="11430" cy="11430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166360" y="382905"/>
            <a:ext cx="14288" cy="14288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766560" y="2686050"/>
            <a:ext cx="8573" cy="8573"/>
          </a:xfrm>
          <a:prstGeom prst="ellipse">
            <a:avLst/>
          </a:prstGeom>
          <a:solidFill>
            <a:srgbClr val="64B5F6">
              <a:alpha val="47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85750" y="4606290"/>
            <a:ext cx="5715" cy="5715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989445" y="2165985"/>
            <a:ext cx="17145" cy="17145"/>
          </a:xfrm>
          <a:prstGeom prst="ellipse">
            <a:avLst/>
          </a:prstGeom>
          <a:solidFill>
            <a:srgbClr val="4DD0E1">
              <a:alpha val="47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349490" y="40005"/>
            <a:ext cx="14288" cy="14288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17195" y="3469005"/>
            <a:ext cx="8573" cy="8573"/>
          </a:xfrm>
          <a:prstGeom prst="ellipse">
            <a:avLst/>
          </a:prstGeom>
          <a:solidFill>
            <a:srgbClr val="90CAF9">
              <a:alpha val="33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612380" y="5143500"/>
            <a:ext cx="17145" cy="17145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3737610" y="674370"/>
            <a:ext cx="17145" cy="1714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583430" y="480060"/>
            <a:ext cx="8573" cy="8573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058150" y="4589145"/>
            <a:ext cx="8573" cy="8573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4DD0E1">
                <a:alpha val="6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5046345" y="1737360"/>
            <a:ext cx="5715" cy="5715"/>
          </a:xfrm>
          <a:prstGeom prst="ellipse">
            <a:avLst/>
          </a:prstGeom>
          <a:solidFill>
            <a:srgbClr val="80DEEA">
              <a:alpha val="45000"/>
            </a:srgbClr>
          </a:solidFill>
          <a:ln/>
          <a:effectLst>
            <a:outerShdw sx="100000" sy="100000" kx="0" ky="0" algn="bl" rotWithShape="0" blurRad="101600" dist="50800" dir="16200000">
              <a:srgbClr val="80DEEA">
                <a:alpha val="6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041005" y="1485900"/>
            <a:ext cx="17145" cy="1714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3686175" y="417195"/>
            <a:ext cx="8573" cy="8573"/>
          </a:xfrm>
          <a:prstGeom prst="ellipse">
            <a:avLst/>
          </a:prstGeom>
          <a:solidFill>
            <a:srgbClr val="FFFFFF">
              <a:alpha val="36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3011805" y="2486025"/>
            <a:ext cx="17145" cy="17145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3600450" y="1468755"/>
            <a:ext cx="17145" cy="1714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3880485" y="4840605"/>
            <a:ext cx="8573" cy="8573"/>
          </a:xfrm>
          <a:prstGeom prst="ellipse">
            <a:avLst/>
          </a:prstGeom>
          <a:solidFill>
            <a:srgbClr val="64B5F6">
              <a:alpha val="38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074920" y="1068705"/>
            <a:ext cx="17145" cy="1714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5526405" y="2714625"/>
            <a:ext cx="11430" cy="1143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3217545" y="3623310"/>
            <a:ext cx="11430" cy="11430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6377940" y="2600325"/>
            <a:ext cx="11430" cy="1143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1383030" y="4446270"/>
            <a:ext cx="17145" cy="17145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6875145" y="4840605"/>
            <a:ext cx="17145" cy="17145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549515" y="5000625"/>
            <a:ext cx="8573" cy="8573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1754505" y="2760345"/>
            <a:ext cx="17145" cy="1714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914400" y="994410"/>
            <a:ext cx="17145" cy="17145"/>
          </a:xfrm>
          <a:prstGeom prst="ellipse">
            <a:avLst/>
          </a:prstGeom>
          <a:solidFill>
            <a:srgbClr val="64B5F6">
              <a:alpha val="46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4669155" y="1011555"/>
            <a:ext cx="14288" cy="14288"/>
          </a:xfrm>
          <a:prstGeom prst="ellipse">
            <a:avLst/>
          </a:prstGeom>
          <a:solidFill>
            <a:srgbClr val="64B5F6">
              <a:alpha val="38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8349615" y="2617470"/>
            <a:ext cx="11430" cy="11430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8926830" y="782955"/>
            <a:ext cx="14288" cy="14288"/>
          </a:xfrm>
          <a:prstGeom prst="ellipse">
            <a:avLst/>
          </a:prstGeom>
          <a:solidFill>
            <a:srgbClr val="4DD0E1">
              <a:alpha val="31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9126855" y="4091940"/>
            <a:ext cx="17145" cy="17145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FFFFFF">
                <a:alpha val="6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5760720" y="360045"/>
            <a:ext cx="11430" cy="11430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2308860" y="3509010"/>
            <a:ext cx="5715" cy="5715"/>
          </a:xfrm>
          <a:prstGeom prst="ellipse">
            <a:avLst/>
          </a:prstGeom>
          <a:solidFill>
            <a:srgbClr val="FFFFFF">
              <a:alpha val="49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8903970" y="2417445"/>
            <a:ext cx="11430" cy="11430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354330" y="3931920"/>
            <a:ext cx="14288" cy="14288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80DEEA">
                <a:alpha val="6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9046845" y="3017520"/>
            <a:ext cx="5715" cy="5715"/>
          </a:xfrm>
          <a:prstGeom prst="ellipse">
            <a:avLst/>
          </a:prstGeom>
          <a:solidFill>
            <a:srgbClr val="80DEEA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80DEEA">
                <a:alpha val="60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451485" y="948690"/>
            <a:ext cx="14288" cy="14288"/>
          </a:xfrm>
          <a:prstGeom prst="ellipse">
            <a:avLst/>
          </a:prstGeom>
          <a:solidFill>
            <a:srgbClr val="4DD0E1">
              <a:alpha val="41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1365885" y="274320"/>
            <a:ext cx="11430" cy="11430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64B5F6">
                <a:alpha val="60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6709410" y="2057400"/>
            <a:ext cx="11430" cy="11430"/>
          </a:xfrm>
          <a:prstGeom prst="ellipse">
            <a:avLst/>
          </a:prstGeom>
          <a:solidFill>
            <a:srgbClr val="4DD0E1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4DD0E1">
                <a:alpha val="60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7932420" y="2594610"/>
            <a:ext cx="8573" cy="857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60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5160645" y="4200525"/>
            <a:ext cx="5715" cy="5715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90CAF9">
                <a:alpha val="6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2000250" y="171450"/>
            <a:ext cx="5715" cy="5715"/>
          </a:xfrm>
          <a:prstGeom prst="ellipse">
            <a:avLst/>
          </a:prstGeom>
          <a:solidFill>
            <a:srgbClr val="64B5F6">
              <a:alpha val="50000"/>
            </a:srgbClr>
          </a:solidFill>
          <a:ln/>
          <a:effectLst>
            <a:outerShdw sx="100000" sy="100000" kx="0" ky="0" algn="bl" rotWithShape="0" blurRad="101600" dist="50800" dir="16200000">
              <a:srgbClr val="64B5F6">
                <a:alpha val="60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3537585" y="782955"/>
            <a:ext cx="11430" cy="11430"/>
          </a:xfrm>
          <a:prstGeom prst="ellipse">
            <a:avLst/>
          </a:prstGeom>
          <a:solidFill>
            <a:srgbClr val="90CAF9">
              <a:alpha val="50000"/>
            </a:srgbClr>
          </a:solidFill>
          <a:ln/>
          <a:effectLst>
            <a:outerShdw sx="100000" sy="100000" kx="0" ky="0" algn="bl" rotWithShape="0" blurRad="2858" dist="50800" dir="16200000">
              <a:srgbClr val="90CAF9">
                <a:alpha val="60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3851910" y="4371975"/>
            <a:ext cx="14377" cy="14377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4754880" y="4349115"/>
            <a:ext cx="17502" cy="17502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857375" y="3577590"/>
            <a:ext cx="19288" cy="19288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6612255" y="1771650"/>
            <a:ext cx="20985" cy="20985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7709535" y="3286125"/>
            <a:ext cx="20449" cy="20449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657225" y="2966085"/>
            <a:ext cx="18395" cy="18395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3680460" y="1251585"/>
            <a:ext cx="12412" cy="12412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4491990" y="788670"/>
            <a:ext cx="17681" cy="17681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14300" dist="50800" dir="16200000">
              <a:srgbClr val="64B5F6">
                <a:alpha val="100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3920490" y="30003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4034790" y="274320"/>
            <a:ext cx="12033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27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JOURNEY</a:t>
            </a:r>
            <a:endParaRPr lang="en-US" sz="540" dirty="0"/>
          </a:p>
        </p:txBody>
      </p:sp>
      <p:sp>
        <p:nvSpPr>
          <p:cNvPr id="135" name="Shape 133"/>
          <p:cNvSpPr/>
          <p:nvPr/>
        </p:nvSpPr>
        <p:spPr>
          <a:xfrm>
            <a:off x="5189220" y="30003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3354705" y="537210"/>
            <a:ext cx="2823210" cy="4686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060" b="1" spc="1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 · 共成长</a:t>
            </a:r>
            <a:endParaRPr lang="en-US" sz="3060" dirty="0"/>
          </a:p>
        </p:txBody>
      </p:sp>
      <p:sp>
        <p:nvSpPr>
          <p:cNvPr id="137" name="Shape 135"/>
          <p:cNvSpPr/>
          <p:nvPr/>
        </p:nvSpPr>
        <p:spPr>
          <a:xfrm>
            <a:off x="4229100" y="1108710"/>
            <a:ext cx="6858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138" name="Text 136"/>
          <p:cNvSpPr/>
          <p:nvPr/>
        </p:nvSpPr>
        <p:spPr>
          <a:xfrm>
            <a:off x="3543300" y="1217295"/>
            <a:ext cx="67437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下期推荐：</a:t>
            </a:r>
            <a:endParaRPr lang="en-US" sz="810" dirty="0"/>
          </a:p>
        </p:txBody>
      </p:sp>
      <p:sp>
        <p:nvSpPr>
          <p:cNvPr id="139" name="Text 137"/>
          <p:cNvSpPr/>
          <p:nvPr/>
        </p:nvSpPr>
        <p:spPr>
          <a:xfrm>
            <a:off x="4114800" y="1217295"/>
            <a:ext cx="166420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开源社区治理与代码贡献规范</a:t>
            </a:r>
            <a:endParaRPr lang="en-US" sz="810" dirty="0"/>
          </a:p>
        </p:txBody>
      </p:sp>
      <p:sp>
        <p:nvSpPr>
          <p:cNvPr id="140" name="Shape 138"/>
          <p:cNvSpPr/>
          <p:nvPr/>
        </p:nvSpPr>
        <p:spPr>
          <a:xfrm>
            <a:off x="457200" y="1514475"/>
            <a:ext cx="2651760" cy="1184077"/>
          </a:xfrm>
          <a:prstGeom prst="roundRect">
            <a:avLst>
              <a:gd name="adj" fmla="val 7722"/>
            </a:avLst>
          </a:prstGeom>
          <a:gradFill rotWithShape="1">
            <a:gsLst>
              <a:gs pos="0">
                <a:srgbClr val="111B33">
                  <a:alpha val="85000"/>
                </a:srgbClr>
              </a:gs>
              <a:gs pos="100000">
                <a:srgbClr val="0D1528">
                  <a:alpha val="90000"/>
                </a:srgbClr>
              </a:gs>
            </a:gsLst>
            <a:lin ang="33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57200" y="1514475"/>
            <a:ext cx="264033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2" name="Shape 140"/>
          <p:cNvSpPr/>
          <p:nvPr/>
        </p:nvSpPr>
        <p:spPr>
          <a:xfrm>
            <a:off x="2640330" y="128587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43" name="Shape 141"/>
          <p:cNvSpPr/>
          <p:nvPr/>
        </p:nvSpPr>
        <p:spPr>
          <a:xfrm>
            <a:off x="588645" y="164592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2196F3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30000"/>
              </a:srgbClr>
            </a:outerShdw>
          </a:effectLst>
        </p:spPr>
      </p:sp>
      <p:pic>
        <p:nvPicPr>
          <p:cNvPr id="1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655" y="1725930"/>
            <a:ext cx="148590" cy="148590"/>
          </a:xfrm>
          <a:prstGeom prst="rect">
            <a:avLst/>
          </a:prstGeom>
        </p:spPr>
      </p:pic>
      <p:sp>
        <p:nvSpPr>
          <p:cNvPr id="145" name="Text 142"/>
          <p:cNvSpPr/>
          <p:nvPr/>
        </p:nvSpPr>
        <p:spPr>
          <a:xfrm>
            <a:off x="588645" y="2023110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146" name="Text 143"/>
          <p:cNvSpPr/>
          <p:nvPr/>
        </p:nvSpPr>
        <p:spPr>
          <a:xfrm>
            <a:off x="588645" y="2148840"/>
            <a:ext cx="56578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阅读回顾</a:t>
            </a:r>
            <a:endParaRPr lang="en-US" sz="855" dirty="0"/>
          </a:p>
        </p:txBody>
      </p:sp>
      <p:sp>
        <p:nvSpPr>
          <p:cNvPr id="147" name="Text 144"/>
          <p:cNvSpPr/>
          <p:nvPr/>
        </p:nvSpPr>
        <p:spPr>
          <a:xfrm>
            <a:off x="588645" y="2343150"/>
            <a:ext cx="2662733" cy="217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本期系统梳理了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20+ 开源许可证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的分类与合规要点，覆盖 GPL / Apache / MIT / BSD 等主流许可体系</a:t>
            </a:r>
            <a:endParaRPr lang="en-US" sz="585" dirty="0"/>
          </a:p>
        </p:txBody>
      </p:sp>
      <p:sp>
        <p:nvSpPr>
          <p:cNvPr id="148" name="Shape 145"/>
          <p:cNvSpPr/>
          <p:nvPr/>
        </p:nvSpPr>
        <p:spPr>
          <a:xfrm>
            <a:off x="3246120" y="1514475"/>
            <a:ext cx="2651760" cy="1184077"/>
          </a:xfrm>
          <a:prstGeom prst="roundRect">
            <a:avLst>
              <a:gd name="adj" fmla="val 7722"/>
            </a:avLst>
          </a:prstGeom>
          <a:gradFill rotWithShape="1">
            <a:gsLst>
              <a:gs pos="0">
                <a:srgbClr val="111B33">
                  <a:alpha val="85000"/>
                </a:srgbClr>
              </a:gs>
              <a:gs pos="100000">
                <a:srgbClr val="0D1528">
                  <a:alpha val="90000"/>
                </a:srgbClr>
              </a:gs>
            </a:gsLst>
            <a:lin ang="33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3246120" y="1514475"/>
            <a:ext cx="264033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0" name="Shape 147"/>
          <p:cNvSpPr/>
          <p:nvPr/>
        </p:nvSpPr>
        <p:spPr>
          <a:xfrm>
            <a:off x="5429250" y="128587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1" name="Shape 148"/>
          <p:cNvSpPr/>
          <p:nvPr/>
        </p:nvSpPr>
        <p:spPr>
          <a:xfrm>
            <a:off x="3377565" y="164592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00BCD4">
                <a:alpha val="30000"/>
              </a:srgbClr>
            </a:outerShdw>
          </a:effectLst>
        </p:spPr>
      </p:sp>
      <p:pic>
        <p:nvPicPr>
          <p:cNvPr id="15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7575" y="1725930"/>
            <a:ext cx="148590" cy="148590"/>
          </a:xfrm>
          <a:prstGeom prst="rect">
            <a:avLst/>
          </a:prstGeom>
        </p:spPr>
      </p:pic>
      <p:sp>
        <p:nvSpPr>
          <p:cNvPr id="153" name="Text 149"/>
          <p:cNvSpPr/>
          <p:nvPr/>
        </p:nvSpPr>
        <p:spPr>
          <a:xfrm>
            <a:off x="3377565" y="2023110"/>
            <a:ext cx="17716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154" name="Text 150"/>
          <p:cNvSpPr/>
          <p:nvPr/>
        </p:nvSpPr>
        <p:spPr>
          <a:xfrm>
            <a:off x="3377565" y="2148840"/>
            <a:ext cx="56578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下期预告</a:t>
            </a:r>
            <a:endParaRPr lang="en-US" sz="855" dirty="0"/>
          </a:p>
        </p:txBody>
      </p:sp>
      <p:sp>
        <p:nvSpPr>
          <p:cNvPr id="155" name="Text 151"/>
          <p:cNvSpPr/>
          <p:nvPr/>
        </p:nvSpPr>
        <p:spPr>
          <a:xfrm>
            <a:off x="3377565" y="2343150"/>
            <a:ext cx="2662733" cy="217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将聚焦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开源社区治理模式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4DD0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高质量贡献指南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，探索核心维护者生态与代码审查流程</a:t>
            </a:r>
            <a:endParaRPr lang="en-US" sz="585" dirty="0"/>
          </a:p>
        </p:txBody>
      </p:sp>
      <p:sp>
        <p:nvSpPr>
          <p:cNvPr id="156" name="Shape 152"/>
          <p:cNvSpPr/>
          <p:nvPr/>
        </p:nvSpPr>
        <p:spPr>
          <a:xfrm>
            <a:off x="6035040" y="1514475"/>
            <a:ext cx="2651760" cy="1184077"/>
          </a:xfrm>
          <a:prstGeom prst="roundRect">
            <a:avLst>
              <a:gd name="adj" fmla="val 7722"/>
            </a:avLst>
          </a:prstGeom>
          <a:gradFill rotWithShape="1">
            <a:gsLst>
              <a:gs pos="0">
                <a:srgbClr val="111B33">
                  <a:alpha val="85000"/>
                </a:srgbClr>
              </a:gs>
              <a:gs pos="100000">
                <a:srgbClr val="0D1528">
                  <a:alpha val="90000"/>
                </a:srgbClr>
              </a:gs>
            </a:gsLst>
            <a:lin ang="33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6035040" y="1514475"/>
            <a:ext cx="264033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8" name="Shape 154"/>
          <p:cNvSpPr/>
          <p:nvPr/>
        </p:nvSpPr>
        <p:spPr>
          <a:xfrm>
            <a:off x="8218170" y="128587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9" name="Shape 155"/>
          <p:cNvSpPr/>
          <p:nvPr/>
        </p:nvSpPr>
        <p:spPr>
          <a:xfrm>
            <a:off x="6166485" y="164592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B0BEC5">
                  <a:alpha val="15000"/>
                </a:srgbClr>
              </a:gs>
              <a:gs pos="100000">
                <a:srgbClr val="B0BEC5">
                  <a:alpha val="3000"/>
                </a:srgbClr>
              </a:gs>
            </a:gsLst>
            <a:lin ang="2700000" scaled="0"/>
          </a:gradFill>
          <a:ln w="5715">
            <a:solidFill>
              <a:srgbClr val="B0BEC5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B0BEC5">
                <a:alpha val="25000"/>
              </a:srgbClr>
            </a:outerShdw>
          </a:effectLst>
        </p:spPr>
      </p:sp>
      <p:pic>
        <p:nvPicPr>
          <p:cNvPr id="16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6495" y="1725930"/>
            <a:ext cx="148590" cy="148590"/>
          </a:xfrm>
          <a:prstGeom prst="rect">
            <a:avLst/>
          </a:prstGeom>
        </p:spPr>
      </p:pic>
      <p:sp>
        <p:nvSpPr>
          <p:cNvPr id="161" name="Text 156"/>
          <p:cNvSpPr/>
          <p:nvPr/>
        </p:nvSpPr>
        <p:spPr>
          <a:xfrm>
            <a:off x="6166485" y="2023110"/>
            <a:ext cx="17716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162" name="Text 157"/>
          <p:cNvSpPr/>
          <p:nvPr/>
        </p:nvSpPr>
        <p:spPr>
          <a:xfrm>
            <a:off x="6166485" y="2148840"/>
            <a:ext cx="56578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交流互动</a:t>
            </a:r>
            <a:endParaRPr lang="en-US" sz="855" dirty="0"/>
          </a:p>
        </p:txBody>
      </p:sp>
      <p:sp>
        <p:nvSpPr>
          <p:cNvPr id="163" name="Text 158"/>
          <p:cNvSpPr/>
          <p:nvPr/>
        </p:nvSpPr>
        <p:spPr>
          <a:xfrm>
            <a:off x="6166485" y="2343150"/>
            <a:ext cx="2662733" cy="217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欢迎在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开源之道社区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留言讨论许可证选型案例，分享你遇到的合规挑战与最佳实践</a:t>
            </a:r>
            <a:endParaRPr lang="en-US" sz="585" dirty="0"/>
          </a:p>
        </p:txBody>
      </p:sp>
      <p:sp>
        <p:nvSpPr>
          <p:cNvPr id="164" name="Text 159"/>
          <p:cNvSpPr/>
          <p:nvPr/>
        </p:nvSpPr>
        <p:spPr>
          <a:xfrm>
            <a:off x="2000250" y="2812852"/>
            <a:ext cx="576072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开源许可证的世界</a:t>
            </a:r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比想象中复杂，但也比想象中有趣。愿这份阅读笔记能为你打开</a:t>
            </a:r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合规与协作</a:t>
            </a:r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的新视角，在</a:t>
            </a:r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开源的旅程</a:t>
            </a:r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中走得更稳更远。</a:t>
            </a:r>
            <a:endParaRPr lang="en-US" sz="630" dirty="0"/>
          </a:p>
        </p:txBody>
      </p:sp>
      <p:sp>
        <p:nvSpPr>
          <p:cNvPr id="165" name="Shape 160"/>
          <p:cNvSpPr/>
          <p:nvPr/>
        </p:nvSpPr>
        <p:spPr>
          <a:xfrm>
            <a:off x="457200" y="3033415"/>
            <a:ext cx="4029075" cy="520065"/>
          </a:xfrm>
          <a:prstGeom prst="roundRect">
            <a:avLst>
              <a:gd name="adj" fmla="val 13187"/>
            </a:avLst>
          </a:prstGeom>
          <a:gradFill rotWithShape="1">
            <a:gsLst>
              <a:gs pos="0">
                <a:srgbClr val="111B33">
                  <a:alpha val="60000"/>
                </a:srgbClr>
              </a:gs>
              <a:gs pos="100000">
                <a:srgbClr val="0A0E1A">
                  <a:alpha val="80000"/>
                </a:srgbClr>
              </a:gs>
            </a:gsLst>
            <a:lin ang="3300000" scaled="0"/>
          </a:gra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457200" y="3033415"/>
            <a:ext cx="17145" cy="5086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167" name="Shape 162"/>
          <p:cNvSpPr/>
          <p:nvPr/>
        </p:nvSpPr>
        <p:spPr>
          <a:xfrm>
            <a:off x="600075" y="3179147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16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25" y="3236297"/>
            <a:ext cx="114300" cy="114300"/>
          </a:xfrm>
          <a:prstGeom prst="rect">
            <a:avLst/>
          </a:prstGeom>
        </p:spPr>
      </p:pic>
      <p:sp>
        <p:nvSpPr>
          <p:cNvPr id="169" name="Text 163"/>
          <p:cNvSpPr/>
          <p:nvPr/>
        </p:nvSpPr>
        <p:spPr>
          <a:xfrm>
            <a:off x="931545" y="3142000"/>
            <a:ext cx="5086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本期阅读时长</a:t>
            </a:r>
            <a:endParaRPr lang="en-US" sz="495" dirty="0"/>
          </a:p>
        </p:txBody>
      </p:sp>
      <p:sp>
        <p:nvSpPr>
          <p:cNvPr id="170" name="Text 164"/>
          <p:cNvSpPr/>
          <p:nvPr/>
        </p:nvSpPr>
        <p:spPr>
          <a:xfrm>
            <a:off x="931545" y="3239155"/>
            <a:ext cx="21945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8h</a:t>
            </a:r>
            <a:endParaRPr lang="en-US" sz="720" dirty="0"/>
          </a:p>
        </p:txBody>
      </p:sp>
      <p:sp>
        <p:nvSpPr>
          <p:cNvPr id="171" name="Text 165"/>
          <p:cNvSpPr/>
          <p:nvPr/>
        </p:nvSpPr>
        <p:spPr>
          <a:xfrm>
            <a:off x="931545" y="3376315"/>
            <a:ext cx="63367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本期笔记整理总用时</a:t>
            </a:r>
            <a:endParaRPr lang="en-US" sz="495" dirty="0"/>
          </a:p>
        </p:txBody>
      </p:sp>
      <p:sp>
        <p:nvSpPr>
          <p:cNvPr id="172" name="Shape 166"/>
          <p:cNvSpPr/>
          <p:nvPr/>
        </p:nvSpPr>
        <p:spPr>
          <a:xfrm>
            <a:off x="4657725" y="3033415"/>
            <a:ext cx="4029075" cy="520065"/>
          </a:xfrm>
          <a:prstGeom prst="roundRect">
            <a:avLst>
              <a:gd name="adj" fmla="val 13187"/>
            </a:avLst>
          </a:prstGeom>
          <a:gradFill rotWithShape="1">
            <a:gsLst>
              <a:gs pos="0">
                <a:srgbClr val="111B33">
                  <a:alpha val="60000"/>
                </a:srgbClr>
              </a:gs>
              <a:gs pos="100000">
                <a:srgbClr val="0A0E1A">
                  <a:alpha val="80000"/>
                </a:srgbClr>
              </a:gs>
            </a:gsLst>
            <a:lin ang="3300000" scaled="0"/>
          </a:gra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4657725" y="3033415"/>
            <a:ext cx="17145" cy="50863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50000"/>
              </a:srgbClr>
            </a:outerShdw>
          </a:effectLst>
        </p:spPr>
      </p:sp>
      <p:sp>
        <p:nvSpPr>
          <p:cNvPr id="174" name="Shape 168"/>
          <p:cNvSpPr/>
          <p:nvPr/>
        </p:nvSpPr>
        <p:spPr>
          <a:xfrm>
            <a:off x="4800600" y="3179147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17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7750" y="3236297"/>
            <a:ext cx="114300" cy="114300"/>
          </a:xfrm>
          <a:prstGeom prst="rect">
            <a:avLst/>
          </a:prstGeom>
        </p:spPr>
      </p:pic>
      <p:sp>
        <p:nvSpPr>
          <p:cNvPr id="176" name="Text 169"/>
          <p:cNvSpPr/>
          <p:nvPr/>
        </p:nvSpPr>
        <p:spPr>
          <a:xfrm>
            <a:off x="5132070" y="3130570"/>
            <a:ext cx="3600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下期主题</a:t>
            </a:r>
            <a:endParaRPr lang="en-US" sz="495" dirty="0"/>
          </a:p>
        </p:txBody>
      </p:sp>
      <p:sp>
        <p:nvSpPr>
          <p:cNvPr id="177" name="Text 170"/>
          <p:cNvSpPr/>
          <p:nvPr/>
        </p:nvSpPr>
        <p:spPr>
          <a:xfrm>
            <a:off x="5132070" y="3244870"/>
            <a:ext cx="46863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社区治理</a:t>
            </a:r>
            <a:endParaRPr lang="en-US" sz="720" dirty="0"/>
          </a:p>
        </p:txBody>
      </p:sp>
      <p:sp>
        <p:nvSpPr>
          <p:cNvPr id="178" name="Text 171"/>
          <p:cNvSpPr/>
          <p:nvPr/>
        </p:nvSpPr>
        <p:spPr>
          <a:xfrm>
            <a:off x="5132070" y="3387745"/>
            <a:ext cx="70408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年 5 月阅读计划</a:t>
            </a:r>
            <a:endParaRPr lang="en-US" sz="495" dirty="0"/>
          </a:p>
        </p:txBody>
      </p:sp>
      <p:sp>
        <p:nvSpPr>
          <p:cNvPr id="179" name="Shape 172"/>
          <p:cNvSpPr/>
          <p:nvPr/>
        </p:nvSpPr>
        <p:spPr>
          <a:xfrm>
            <a:off x="457200" y="3633490"/>
            <a:ext cx="822960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2196F3">
                  <a:alpha val="10000"/>
                </a:srgbClr>
              </a:gs>
              <a:gs pos="30000">
                <a:srgbClr val="2196F3">
                  <a:alpha val="60000"/>
                </a:srgbClr>
              </a:gs>
              <a:gs pos="50000">
                <a:srgbClr val="00BCD4">
                  <a:alpha val="80000"/>
                </a:srgbClr>
              </a:gs>
              <a:gs pos="70000">
                <a:srgbClr val="2196F3">
                  <a:alpha val="60000"/>
                </a:srgbClr>
              </a:gs>
              <a:gs pos="90000">
                <a:srgbClr val="2196F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52400" dist="50800" dir="16200000">
              <a:srgbClr val="2196F3">
                <a:alpha val="50000"/>
              </a:srgbClr>
            </a:outerShdw>
          </a:effectLst>
        </p:spPr>
      </p:sp>
      <p:sp>
        <p:nvSpPr>
          <p:cNvPr id="180" name="Text 173"/>
          <p:cNvSpPr/>
          <p:nvPr/>
        </p:nvSpPr>
        <p:spPr>
          <a:xfrm>
            <a:off x="457200" y="3724930"/>
            <a:ext cx="5086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开源阅读计划</a:t>
            </a:r>
            <a:endParaRPr lang="en-US" sz="495" dirty="0"/>
          </a:p>
        </p:txBody>
      </p:sp>
      <p:sp>
        <p:nvSpPr>
          <p:cNvPr id="181" name="Shape 174"/>
          <p:cNvSpPr/>
          <p:nvPr/>
        </p:nvSpPr>
        <p:spPr>
          <a:xfrm>
            <a:off x="4046220" y="3747790"/>
            <a:ext cx="22860" cy="2286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50000"/>
              </a:srgbClr>
            </a:outerShdw>
          </a:effectLst>
        </p:spPr>
      </p:sp>
      <p:sp>
        <p:nvSpPr>
          <p:cNvPr id="182" name="Text 175"/>
          <p:cNvSpPr/>
          <p:nvPr/>
        </p:nvSpPr>
        <p:spPr>
          <a:xfrm>
            <a:off x="4126230" y="3724930"/>
            <a:ext cx="82570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 · 感谢共读</a:t>
            </a:r>
            <a:endParaRPr lang="en-US" sz="495" dirty="0"/>
          </a:p>
        </p:txBody>
      </p:sp>
      <p:sp>
        <p:nvSpPr>
          <p:cNvPr id="183" name="Shape 176"/>
          <p:cNvSpPr/>
          <p:nvPr/>
        </p:nvSpPr>
        <p:spPr>
          <a:xfrm>
            <a:off x="4920615" y="3747790"/>
            <a:ext cx="22860" cy="2286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50000"/>
              </a:srgbClr>
            </a:outerShdw>
          </a:effectLst>
        </p:spPr>
      </p:sp>
      <p:sp>
        <p:nvSpPr>
          <p:cNvPr id="184" name="Text 177"/>
          <p:cNvSpPr/>
          <p:nvPr/>
        </p:nvSpPr>
        <p:spPr>
          <a:xfrm>
            <a:off x="8086725" y="3724930"/>
            <a:ext cx="67208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· 第 05 期</a:t>
            </a:r>
            <a:endParaRPr lang="en-US" sz="4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2026-08-27T20:23:13Z</dcterms:created>
  <dcterms:modified xsi:type="dcterms:W3CDTF">2026-08-27T20:23:13Z</dcterms:modified>
</cp:coreProperties>
</file>