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许可证分布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137"/>
              </a:solidFill>
              <a:effectLst/>
            </c:spPr>
          </c:dPt>
          <c:dPt>
            <c:idx val="1"/>
            <c:bubble3D val="0"/>
            <c:spPr>
              <a:solidFill>
                <a:srgbClr val="880E4F"/>
              </a:solidFill>
              <a:effectLst/>
            </c:spPr>
          </c:dPt>
          <c:dPt>
            <c:idx val="2"/>
            <c:bubble3D val="0"/>
            <c:spPr>
              <a:solidFill>
                <a:srgbClr val="D4A7C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OSI 已收录许可证</c:v>
                </c:pt>
                <c:pt idx="1">
                  <c:v>衍生争议许可</c:v>
                </c:pt>
                <c:pt idx="2">
                  <c:v>未被 OSI 认可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</c:v>
                </c:pt>
                <c:pt idx="1">
                  <c:v>70</c:v>
                </c:pt>
                <c:pt idx="2">
                  <c:v>26</c:v>
                </c:pt>
              </c:numCache>
            </c:numRef>
          </c:val>
        </c:ser>
        <c:firstSliceAng val="0"/>
        <c:holeSize val="46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1A22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590" y="148590"/>
            <a:ext cx="16002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" y="148590"/>
            <a:ext cx="5715" cy="1600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" name="Shape 2"/>
          <p:cNvSpPr/>
          <p:nvPr/>
        </p:nvSpPr>
        <p:spPr>
          <a:xfrm>
            <a:off x="8835390" y="148590"/>
            <a:ext cx="16002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" name="Shape 3"/>
          <p:cNvSpPr/>
          <p:nvPr/>
        </p:nvSpPr>
        <p:spPr>
          <a:xfrm>
            <a:off x="8989695" y="148590"/>
            <a:ext cx="5715" cy="1600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" y="4989195"/>
            <a:ext cx="16002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" y="4834890"/>
            <a:ext cx="5715" cy="1600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" name="Shape 6"/>
          <p:cNvSpPr/>
          <p:nvPr/>
        </p:nvSpPr>
        <p:spPr>
          <a:xfrm>
            <a:off x="8835390" y="4989195"/>
            <a:ext cx="16002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9" name="Shape 7"/>
          <p:cNvSpPr/>
          <p:nvPr/>
        </p:nvSpPr>
        <p:spPr>
          <a:xfrm>
            <a:off x="8989695" y="4834890"/>
            <a:ext cx="5715" cy="1600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0" name="Shape 8"/>
          <p:cNvSpPr/>
          <p:nvPr/>
        </p:nvSpPr>
        <p:spPr>
          <a:xfrm>
            <a:off x="354330" y="354330"/>
            <a:ext cx="8435340" cy="20574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54330" y="560070"/>
            <a:ext cx="8435340" cy="0"/>
          </a:xfrm>
          <a:prstGeom prst="line">
            <a:avLst/>
          </a:prstGeom>
          <a:noFill/>
          <a:ln w="5715">
            <a:solidFill>
              <a:srgbClr val="F5F5F5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30" y="354330"/>
            <a:ext cx="268903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46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· SOURCE · A · BRIEF · HISTORY</a:t>
            </a:r>
            <a:endParaRPr lang="en-US" sz="585" dirty="0"/>
          </a:p>
        </p:txBody>
      </p:sp>
      <p:sp>
        <p:nvSpPr>
          <p:cNvPr id="13" name="Text 11"/>
          <p:cNvSpPr/>
          <p:nvPr/>
        </p:nvSpPr>
        <p:spPr>
          <a:xfrm>
            <a:off x="7385566" y="377190"/>
            <a:ext cx="157259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8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NO. 012  ·  SEPTEMBER 2023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354330" y="834390"/>
            <a:ext cx="45720" cy="98298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691515"/>
            <a:ext cx="3765113" cy="8858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60" b="1" spc="97" kern="0" dirty="0">
                <a:solidFill>
                  <a:srgbClr val="F5F5F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开源的简史</a:t>
            </a:r>
            <a:endParaRPr lang="en-US" sz="4860" dirty="0"/>
          </a:p>
        </p:txBody>
      </p:sp>
      <p:sp>
        <p:nvSpPr>
          <p:cNvPr id="16" name="Shape 14"/>
          <p:cNvSpPr/>
          <p:nvPr/>
        </p:nvSpPr>
        <p:spPr>
          <a:xfrm>
            <a:off x="594360" y="1619577"/>
            <a:ext cx="18288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" y="1619577"/>
            <a:ext cx="408321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i="1" spc="40" kern="0" dirty="0">
                <a:solidFill>
                  <a:srgbClr val="F5F5F5">
                    <a:alpha val="6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Unix to Kubernetes  ·  A Half-Century of Collaboration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594360" y="2148840"/>
            <a:ext cx="11430" cy="552212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9" name="Text 17"/>
          <p:cNvSpPr/>
          <p:nvPr/>
        </p:nvSpPr>
        <p:spPr>
          <a:xfrm>
            <a:off x="720090" y="2085975"/>
            <a:ext cx="46639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spc="162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NO. 01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720090" y="2257425"/>
            <a:ext cx="95315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5" b="1" spc="19" kern="0" dirty="0">
                <a:solidFill>
                  <a:srgbClr val="F5F5F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 · 一场实验</a:t>
            </a:r>
            <a:endParaRPr lang="en-US" sz="945" dirty="0"/>
          </a:p>
        </p:txBody>
      </p:sp>
      <p:sp>
        <p:nvSpPr>
          <p:cNvPr id="21" name="Shape 19"/>
          <p:cNvSpPr/>
          <p:nvPr/>
        </p:nvSpPr>
        <p:spPr>
          <a:xfrm>
            <a:off x="720090" y="2469952"/>
            <a:ext cx="182880" cy="5715"/>
          </a:xfrm>
          <a:prstGeom prst="rect">
            <a:avLst/>
          </a:prstGeom>
          <a:solidFill>
            <a:srgbClr val="F5F5F5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0090" y="2544247"/>
            <a:ext cx="16753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2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1969 至今，全球开发者共同编写的软件文明</a:t>
            </a:r>
            <a:endParaRPr lang="en-US" sz="585" dirty="0"/>
          </a:p>
        </p:txBody>
      </p:sp>
      <p:sp>
        <p:nvSpPr>
          <p:cNvPr id="23" name="Shape 21"/>
          <p:cNvSpPr/>
          <p:nvPr/>
        </p:nvSpPr>
        <p:spPr>
          <a:xfrm>
            <a:off x="3409890" y="2148840"/>
            <a:ext cx="11430" cy="552212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4" name="Text 22"/>
          <p:cNvSpPr/>
          <p:nvPr/>
        </p:nvSpPr>
        <p:spPr>
          <a:xfrm>
            <a:off x="3535620" y="2085975"/>
            <a:ext cx="47211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spc="162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NO. 02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535620" y="2257425"/>
            <a:ext cx="95315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5" b="1" spc="19" kern="0" dirty="0">
                <a:solidFill>
                  <a:srgbClr val="F5F5F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适合 · 阅读笔记</a:t>
            </a:r>
            <a:endParaRPr lang="en-US" sz="945" dirty="0"/>
          </a:p>
        </p:txBody>
      </p:sp>
      <p:sp>
        <p:nvSpPr>
          <p:cNvPr id="26" name="Shape 24"/>
          <p:cNvSpPr/>
          <p:nvPr/>
        </p:nvSpPr>
        <p:spPr>
          <a:xfrm>
            <a:off x="3535620" y="2469952"/>
            <a:ext cx="182880" cy="5715"/>
          </a:xfrm>
          <a:prstGeom prst="rect">
            <a:avLst/>
          </a:prstGeom>
          <a:solidFill>
            <a:srgbClr val="F5F5F5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35620" y="2544247"/>
            <a:ext cx="149298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2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开源之书的第 12 期分享，2023 年 9 月</a:t>
            </a:r>
            <a:endParaRPr lang="en-US" sz="585" dirty="0"/>
          </a:p>
        </p:txBody>
      </p:sp>
      <p:sp>
        <p:nvSpPr>
          <p:cNvPr id="28" name="Shape 26"/>
          <p:cNvSpPr/>
          <p:nvPr/>
        </p:nvSpPr>
        <p:spPr>
          <a:xfrm>
            <a:off x="6225510" y="2148840"/>
            <a:ext cx="11430" cy="552212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1240" y="2085975"/>
            <a:ext cx="47211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spc="162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NO. 03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6351240" y="2257425"/>
            <a:ext cx="854571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45" b="1" spc="19" kern="0" dirty="0">
                <a:solidFill>
                  <a:srgbClr val="F5F5F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一份阅读清单</a:t>
            </a:r>
            <a:endParaRPr lang="en-US" sz="945" dirty="0"/>
          </a:p>
        </p:txBody>
      </p:sp>
      <p:sp>
        <p:nvSpPr>
          <p:cNvPr id="31" name="Shape 29"/>
          <p:cNvSpPr/>
          <p:nvPr/>
        </p:nvSpPr>
        <p:spPr>
          <a:xfrm>
            <a:off x="6351240" y="2469952"/>
            <a:ext cx="182880" cy="5715"/>
          </a:xfrm>
          <a:prstGeom prst="rect">
            <a:avLst/>
          </a:prstGeom>
          <a:solidFill>
            <a:srgbClr val="F5F5F5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51240" y="2544247"/>
            <a:ext cx="19137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2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《开源：来自边缘的承诺》《大教堂与集市》等经典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354330" y="2895362"/>
            <a:ext cx="8435340" cy="5715"/>
          </a:xfrm>
          <a:prstGeom prst="rect">
            <a:avLst/>
          </a:prstGeom>
          <a:solidFill>
            <a:srgbClr val="F5F5F5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975372"/>
            <a:ext cx="58293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2700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891540" y="3089672"/>
            <a:ext cx="8590874" cy="277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720" spc="22" kern="0" dirty="0">
                <a:solidFill>
                  <a:srgbClr val="F5F5F5">
                    <a:alpha val="88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本期阅读分享聚焦</a:t>
            </a:r>
            <a:pPr algn="l" indent="0" marL="0">
              <a:lnSpc>
                <a:spcPct val="185000"/>
              </a:lnSpc>
              <a:buNone/>
            </a:pPr>
            <a:r>
              <a:rPr lang="en-US" sz="720" b="1" i="1" spc="22" kern="0" dirty="0">
                <a:solidFill>
                  <a:srgbClr val="B027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开源运动的完整脉络</a:t>
            </a:r>
            <a:pPr algn="l" indent="0" marL="0">
              <a:lnSpc>
                <a:spcPct val="185000"/>
              </a:lnSpc>
              <a:buNone/>
            </a:pPr>
            <a:r>
              <a:rPr lang="en-US" sz="720" spc="22" kern="0" dirty="0">
                <a:solidFill>
                  <a:srgbClr val="F5F5F5">
                    <a:alpha val="88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：从贝尔实验室的一行 hello world，到今天云端运行的每一台服务器背后都跑着 Linux。我们用</a:t>
            </a:r>
            <a:pPr algn="l" indent="0" marL="0">
              <a:lnSpc>
                <a:spcPct val="185000"/>
              </a:lnSpc>
              <a:buNone/>
            </a:pPr>
            <a:r>
              <a:rPr lang="en-US" sz="720" b="1" i="1" spc="22" kern="0" dirty="0">
                <a:solidFill>
                  <a:srgbClr val="B027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页</a:t>
            </a:r>
            <a:pPr algn="l" indent="0" marL="0">
              <a:lnSpc>
                <a:spcPct val="185000"/>
              </a:lnSpc>
              <a:buNone/>
            </a:pPr>
            <a:r>
              <a:rPr lang="en-US" sz="720" spc="22" kern="0" dirty="0">
                <a:solidFill>
                  <a:srgbClr val="F5F5F5">
                    <a:alpha val="88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回顾五十年历程，也希望这份提纲能成为一份可扩展的阅读目录。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54330" y="3810298"/>
            <a:ext cx="8435340" cy="807422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354330" y="3810298"/>
            <a:ext cx="8435340" cy="0"/>
          </a:xfrm>
          <a:prstGeom prst="line">
            <a:avLst/>
          </a:prstGeom>
          <a:noFill/>
          <a:ln w="5715">
            <a:solidFill>
              <a:srgbClr val="F5F5F5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330" y="3901738"/>
            <a:ext cx="1389888" cy="4857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b="1" spc="29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1969</a:t>
            </a:r>
            <a:endParaRPr lang="en-US" sz="2880" dirty="0"/>
          </a:p>
        </p:txBody>
      </p:sp>
      <p:sp>
        <p:nvSpPr>
          <p:cNvPr id="39" name="Text 37"/>
          <p:cNvSpPr/>
          <p:nvPr/>
        </p:nvSpPr>
        <p:spPr>
          <a:xfrm>
            <a:off x="354330" y="4398943"/>
            <a:ext cx="103442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spc="35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SOURCE · ORIGIN</a:t>
            </a:r>
            <a:endParaRPr lang="en-US" sz="585" dirty="0"/>
          </a:p>
        </p:txBody>
      </p:sp>
      <p:sp>
        <p:nvSpPr>
          <p:cNvPr id="40" name="Text 38"/>
          <p:cNvSpPr/>
          <p:nvPr/>
        </p:nvSpPr>
        <p:spPr>
          <a:xfrm>
            <a:off x="354330" y="4514046"/>
            <a:ext cx="9162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spc="35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Unix 诞生于贝尔实验室</a:t>
            </a:r>
            <a:endParaRPr lang="en-US" sz="585" dirty="0"/>
          </a:p>
        </p:txBody>
      </p:sp>
      <p:sp>
        <p:nvSpPr>
          <p:cNvPr id="41" name="Text 39"/>
          <p:cNvSpPr/>
          <p:nvPr/>
        </p:nvSpPr>
        <p:spPr>
          <a:xfrm>
            <a:off x="7708374" y="3901738"/>
            <a:ext cx="1447056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880" b="1" spc="29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180M</a:t>
            </a:r>
            <a:pPr algn="r" indent="0" marL="0">
              <a:lnSpc>
                <a:spcPct val="100000"/>
              </a:lnSpc>
              <a:buNone/>
            </a:pPr>
            <a:r>
              <a:rPr lang="en-US" sz="1620" b="1" i="1" spc="29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2880" dirty="0"/>
          </a:p>
        </p:txBody>
      </p:sp>
      <p:sp>
        <p:nvSpPr>
          <p:cNvPr id="42" name="Text 40"/>
          <p:cNvSpPr/>
          <p:nvPr/>
        </p:nvSpPr>
        <p:spPr>
          <a:xfrm>
            <a:off x="7652653" y="4398943"/>
            <a:ext cx="127345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585" spc="35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DEVELOPERS TODAY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7608362" y="4514046"/>
            <a:ext cx="13230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585" spc="35" kern="0" dirty="0">
                <a:solidFill>
                  <a:srgbClr val="F5F5F5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全球使用或维护开源代码的开发者</a:t>
            </a:r>
            <a:endParaRPr lang="en-US" sz="585" dirty="0"/>
          </a:p>
        </p:txBody>
      </p:sp>
      <p:sp>
        <p:nvSpPr>
          <p:cNvPr id="44" name="Shape 42"/>
          <p:cNvSpPr/>
          <p:nvPr/>
        </p:nvSpPr>
        <p:spPr>
          <a:xfrm>
            <a:off x="354330" y="4800600"/>
            <a:ext cx="12573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5" name="Text 43"/>
          <p:cNvSpPr/>
          <p:nvPr/>
        </p:nvSpPr>
        <p:spPr>
          <a:xfrm>
            <a:off x="560070" y="4800600"/>
            <a:ext cx="173901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94" kern="0" dirty="0">
                <a:solidFill>
                  <a:srgbClr val="F5F5F5">
                    <a:alpha val="6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SOURCE READING CLUB</a:t>
            </a:r>
            <a:endParaRPr lang="en-US" sz="540" dirty="0"/>
          </a:p>
        </p:txBody>
      </p:sp>
      <p:sp>
        <p:nvSpPr>
          <p:cNvPr id="46" name="Text 44"/>
          <p:cNvSpPr/>
          <p:nvPr/>
        </p:nvSpPr>
        <p:spPr>
          <a:xfrm>
            <a:off x="7298055" y="4800600"/>
            <a:ext cx="16706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94" kern="0" dirty="0">
                <a:solidFill>
                  <a:srgbClr val="B027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 12 · SEPTEMBER 2023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4330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543300" y="0"/>
            <a:ext cx="342900" cy="2286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08610"/>
            <a:ext cx="8229600" cy="25146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57200" y="560070"/>
            <a:ext cx="8229600" cy="0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68618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42900"/>
            <a:ext cx="92971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4757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自由软件 · 编辑专栏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7400389" y="342900"/>
            <a:ext cx="68330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47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Chapter Opener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8112264" y="348615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8232279" y="342900"/>
            <a:ext cx="24967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4757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起源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8516243" y="348615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8641973" y="348615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4757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457200" y="720090"/>
            <a:ext cx="3182112" cy="11402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440" b="1" i="1" spc="-5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0440" dirty="0"/>
          </a:p>
        </p:txBody>
      </p:sp>
      <p:sp>
        <p:nvSpPr>
          <p:cNvPr id="14" name="Shape 12"/>
          <p:cNvSpPr/>
          <p:nvPr/>
        </p:nvSpPr>
        <p:spPr>
          <a:xfrm>
            <a:off x="1696283" y="1586002"/>
            <a:ext cx="125730" cy="1257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07494"/>
            <a:ext cx="3072384" cy="31200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47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第一章 · 起源</a:t>
            </a:r>
            <a:endParaRPr lang="en-US" sz="2340" dirty="0"/>
          </a:p>
        </p:txBody>
      </p:sp>
      <p:sp>
        <p:nvSpPr>
          <p:cNvPr id="16" name="Text 14"/>
          <p:cNvSpPr/>
          <p:nvPr/>
        </p:nvSpPr>
        <p:spPr>
          <a:xfrm>
            <a:off x="457200" y="3199507"/>
            <a:ext cx="3072384" cy="1682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55" spc="43" kern="0" dirty="0">
                <a:solidFill>
                  <a:srgbClr val="2435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贝尔实验室、MIT 与 1970 年代的共享文化</a:t>
            </a:r>
            <a:endParaRPr lang="en-US" sz="855" dirty="0"/>
          </a:p>
        </p:txBody>
      </p:sp>
      <p:sp>
        <p:nvSpPr>
          <p:cNvPr id="17" name="Shape 15"/>
          <p:cNvSpPr/>
          <p:nvPr/>
        </p:nvSpPr>
        <p:spPr>
          <a:xfrm>
            <a:off x="457200" y="3516332"/>
            <a:ext cx="251460" cy="5715"/>
          </a:xfrm>
          <a:prstGeom prst="rect">
            <a:avLst/>
          </a:prstGeom>
          <a:solidFill>
            <a:srgbClr val="8B96A3"/>
          </a:solidFill>
          <a:ln/>
        </p:spPr>
      </p:sp>
      <p:sp>
        <p:nvSpPr>
          <p:cNvPr id="18" name="Text 16"/>
          <p:cNvSpPr/>
          <p:nvPr/>
        </p:nvSpPr>
        <p:spPr>
          <a:xfrm>
            <a:off x="788670" y="3482042"/>
            <a:ext cx="63758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78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ORIGIN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1437948" y="3482042"/>
            <a:ext cx="6055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9" kern="0" dirty="0">
                <a:solidFill>
                  <a:srgbClr val="4757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 1969 — 1979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3886200" y="720090"/>
            <a:ext cx="4800600" cy="2836247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886200" y="720090"/>
            <a:ext cx="0" cy="2836247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3375" y="731520"/>
            <a:ext cx="30861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i="1" spc="2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4429125" y="782955"/>
            <a:ext cx="793760" cy="74295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4429125" y="782955"/>
            <a:ext cx="0" cy="74295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9125" y="782955"/>
            <a:ext cx="889011" cy="7429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buNone/>
            </a:pPr>
            <a:r>
              <a:rPr lang="en-US" sz="495" spc="168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CHAPTER NOTE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4143375" y="925830"/>
            <a:ext cx="5088636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60" b="1" spc="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实验室的</a:t>
            </a:r>
            <a:pPr algn="l" indent="0" marL="0">
              <a:lnSpc>
                <a:spcPct val="120000"/>
              </a:lnSpc>
              <a:buNone/>
            </a:pPr>
            <a:r>
              <a:rPr lang="en-US" sz="1260" b="1" i="1" spc="13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礼物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4429125" y="1174968"/>
            <a:ext cx="251460" cy="11430"/>
          </a:xfrm>
          <a:prstGeom prst="rect">
            <a:avLst/>
          </a:prstGeom>
          <a:solidFill>
            <a:srgbClr val="880E4F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43375" y="1266408"/>
            <a:ext cx="3840480" cy="300038"/>
          </a:xfrm>
          <a:prstGeom prst="rect">
            <a:avLst/>
          </a:prstGeom>
          <a:noFill/>
          <a:ln/>
        </p:spPr>
        <p:txBody>
          <a:bodyPr wrap="square" lIns="0" tIns="28575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34" kern="0" dirty="0">
                <a:solidFill>
                  <a:srgbClr val="2435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Unix 源码被免费分发给高校研究伙伴，一份代码的流转不再受合同束缚，而像一封写给同道的信。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143375" y="1715036"/>
            <a:ext cx="38976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i="1" spc="2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990" dirty="0"/>
          </a:p>
        </p:txBody>
      </p:sp>
      <p:sp>
        <p:nvSpPr>
          <p:cNvPr id="30" name="Shape 28"/>
          <p:cNvSpPr/>
          <p:nvPr/>
        </p:nvSpPr>
        <p:spPr>
          <a:xfrm>
            <a:off x="4429125" y="1766471"/>
            <a:ext cx="793760" cy="74295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4429125" y="1766471"/>
            <a:ext cx="0" cy="74295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9125" y="1766471"/>
            <a:ext cx="889011" cy="7429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buNone/>
            </a:pPr>
            <a:r>
              <a:rPr lang="en-US" sz="495" spc="168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CHAPTER NOTE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4143375" y="1909346"/>
            <a:ext cx="5088636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60" b="1" spc="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共享是</a:t>
            </a:r>
            <a:pPr algn="l" indent="0" marL="0">
              <a:lnSpc>
                <a:spcPct val="120000"/>
              </a:lnSpc>
              <a:buNone/>
            </a:pPr>
            <a:r>
              <a:rPr lang="en-US" sz="1260" b="1" i="1" spc="13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默认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4429125" y="2158484"/>
            <a:ext cx="251460" cy="11430"/>
          </a:xfrm>
          <a:prstGeom prst="rect">
            <a:avLst/>
          </a:prstGeom>
          <a:solidFill>
            <a:srgbClr val="880E4F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43375" y="2249924"/>
            <a:ext cx="3840480" cy="300038"/>
          </a:xfrm>
          <a:prstGeom prst="rect">
            <a:avLst/>
          </a:prstGeom>
          <a:noFill/>
          <a:ln/>
        </p:spPr>
        <p:txBody>
          <a:bodyPr wrap="square" lIns="0" tIns="28575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34" kern="0" dirty="0">
                <a:solidFill>
                  <a:srgbClr val="2435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当时的软件更像学术出版物，可自由复制、注释与再流通——版权尚未成为它的语法。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143375" y="2698552"/>
            <a:ext cx="477774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i="1" spc="2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990" dirty="0"/>
          </a:p>
        </p:txBody>
      </p:sp>
      <p:sp>
        <p:nvSpPr>
          <p:cNvPr id="37" name="Shape 35"/>
          <p:cNvSpPr/>
          <p:nvPr/>
        </p:nvSpPr>
        <p:spPr>
          <a:xfrm>
            <a:off x="4429125" y="2749987"/>
            <a:ext cx="742325" cy="7429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4429125" y="2749987"/>
            <a:ext cx="0" cy="74295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9125" y="2749987"/>
            <a:ext cx="831404" cy="7429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buNone/>
            </a:pPr>
            <a:r>
              <a:rPr lang="en-US" sz="495" spc="168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READING LIST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4143375" y="2892862"/>
            <a:ext cx="5088636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60" b="1" spc="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本章</a:t>
            </a:r>
            <a:pPr algn="l" indent="0" marL="0">
              <a:lnSpc>
                <a:spcPct val="120000"/>
              </a:lnSpc>
              <a:buNone/>
            </a:pPr>
            <a:r>
              <a:rPr lang="en-US" sz="1260" b="1" i="1" spc="13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阅读</a:t>
            </a:r>
            <a:endParaRPr lang="en-US" sz="1260" dirty="0"/>
          </a:p>
        </p:txBody>
      </p:sp>
      <p:sp>
        <p:nvSpPr>
          <p:cNvPr id="41" name="Shape 39"/>
          <p:cNvSpPr/>
          <p:nvPr/>
        </p:nvSpPr>
        <p:spPr>
          <a:xfrm>
            <a:off x="4429125" y="3142000"/>
            <a:ext cx="251460" cy="11430"/>
          </a:xfrm>
          <a:prstGeom prst="rect">
            <a:avLst/>
          </a:prstGeom>
          <a:solidFill>
            <a:srgbClr val="880E4F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143375" y="3233440"/>
            <a:ext cx="3840480" cy="150019"/>
          </a:xfrm>
          <a:prstGeom prst="rect">
            <a:avLst/>
          </a:prstGeom>
          <a:noFill/>
          <a:ln/>
        </p:spPr>
        <p:txBody>
          <a:bodyPr wrap="none" lIns="0" tIns="28575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34" kern="0" dirty="0">
                <a:solidFill>
                  <a:srgbClr val="24354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《大教堂与集市》前两章 · Ken Thompson 访谈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457200" y="2868930"/>
            <a:ext cx="8229600" cy="84582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57200" y="2868930"/>
            <a:ext cx="8229600" cy="0"/>
          </a:xfrm>
          <a:prstGeom prst="line">
            <a:avLst/>
          </a:prstGeom>
          <a:noFill/>
          <a:ln w="5715">
            <a:solidFill>
              <a:srgbClr val="C9D0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908935"/>
            <a:ext cx="2331720" cy="571500"/>
          </a:xfrm>
          <a:prstGeom prst="rect">
            <a:avLst/>
          </a:prstGeom>
          <a:noFill/>
          <a:ln/>
        </p:spPr>
        <p:txBody>
          <a:bodyPr wrap="none" lIns="0" tIns="0" rIns="45720" bIns="0" rtlCol="0" anchor="ctr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080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0800" dirty="0"/>
          </a:p>
        </p:txBody>
      </p:sp>
      <p:sp>
        <p:nvSpPr>
          <p:cNvPr id="46" name="Shape 44"/>
          <p:cNvSpPr/>
          <p:nvPr/>
        </p:nvSpPr>
        <p:spPr>
          <a:xfrm>
            <a:off x="1400175" y="3159859"/>
            <a:ext cx="171450" cy="5715"/>
          </a:xfrm>
          <a:prstGeom prst="rect">
            <a:avLst/>
          </a:prstGeom>
          <a:solidFill>
            <a:srgbClr val="8B96A3"/>
          </a:solidFill>
          <a:ln/>
        </p:spPr>
      </p:sp>
      <p:sp>
        <p:nvSpPr>
          <p:cNvPr id="47" name="Text 45"/>
          <p:cNvSpPr/>
          <p:nvPr/>
        </p:nvSpPr>
        <p:spPr>
          <a:xfrm>
            <a:off x="1640205" y="3125569"/>
            <a:ext cx="8526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EDITOR’S NOTE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2470041" y="3116997"/>
            <a:ext cx="29673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4757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编者按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1400175" y="3288447"/>
            <a:ext cx="8033004" cy="203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45" i="1" spc="19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在版权生意降临之前，代码像论文一样自由流转——那是一段</a:t>
            </a:r>
            <a:pPr algn="l" indent="0" marL="0">
              <a:lnSpc>
                <a:spcPct val="170000"/>
              </a:lnSpc>
              <a:buNone/>
            </a:pPr>
            <a:r>
              <a:rPr lang="en-US" sz="945" i="1" spc="19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礼物经济</a:t>
            </a:r>
            <a:pPr algn="l" indent="0" marL="0">
              <a:lnSpc>
                <a:spcPct val="170000"/>
              </a:lnSpc>
              <a:buNone/>
            </a:pPr>
            <a:r>
              <a:rPr lang="en-US" sz="945" i="1" spc="19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的年代；Unix、BSD 与 GNU 的故事，正是从这里起步。</a:t>
            </a:r>
            <a:endParaRPr lang="en-US" sz="945" dirty="0"/>
          </a:p>
        </p:txBody>
      </p:sp>
      <p:sp>
        <p:nvSpPr>
          <p:cNvPr id="50" name="Text 48"/>
          <p:cNvSpPr/>
          <p:nvPr/>
        </p:nvSpPr>
        <p:spPr>
          <a:xfrm>
            <a:off x="1400175" y="3560981"/>
            <a:ext cx="80330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B96A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通往 UNIX · BSD · GNU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5F5"/>
              </a:gs>
              <a:gs pos="100000">
                <a:srgbClr val="EFEAE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51460"/>
            <a:ext cx="8458200" cy="215384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42900" y="466844"/>
            <a:ext cx="84582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483989"/>
            <a:ext cx="845820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268605"/>
            <a:ext cx="1516990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spc="18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 CHRONICLE · VOL.047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1800225" y="251460"/>
            <a:ext cx="1273759" cy="1239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i="1" dirty="0">
                <a:solidFill>
                  <a:srgbClr val="6B6B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 on Origins of Free Software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6629400" y="255121"/>
            <a:ext cx="115214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spc="135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ORIGIN · OPEN SOURCE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7795260" y="255121"/>
            <a:ext cx="1126541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DECEMBER 1969 → TODAY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342900" y="592574"/>
            <a:ext cx="9473184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b="1" spc="27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SPECIAL REPORT · 特别报道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342900" y="755987"/>
            <a:ext cx="9473184" cy="44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2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Unix</a:t>
            </a:r>
            <a:pPr algn="l" indent="0" marL="0">
              <a:lnSpc>
                <a:spcPct val="102000"/>
              </a:lnSpc>
              <a:buNone/>
            </a:pPr>
            <a:r>
              <a:rPr lang="en-US" sz="3420" b="1" i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&amp;</a:t>
            </a:r>
            <a:pPr algn="l" indent="0" marL="0">
              <a:lnSpc>
                <a:spcPct val="102000"/>
              </a:lnSpc>
              <a:buNone/>
            </a:pPr>
            <a:r>
              <a:rPr lang="en-US" sz="342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自由的火种</a:t>
            </a:r>
            <a:endParaRPr lang="en-US" sz="3420" dirty="0"/>
          </a:p>
        </p:txBody>
      </p:sp>
      <p:sp>
        <p:nvSpPr>
          <p:cNvPr id="12" name="Text 10"/>
          <p:cNvSpPr/>
          <p:nvPr/>
        </p:nvSpPr>
        <p:spPr>
          <a:xfrm>
            <a:off x="342900" y="1256139"/>
            <a:ext cx="5760720" cy="30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spc="45" kern="0" dirty="0">
                <a:solidFill>
                  <a:srgbClr val="6B6B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从贝尔实验室的一台</a:t>
            </a:r>
            <a:pPr algn="l" indent="0" marL="0">
              <a:lnSpc>
                <a:spcPct val="155000"/>
              </a:lnSpc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PDP-7</a:t>
            </a:r>
            <a:pPr algn="l" indent="0" marL="0">
              <a:lnSpc>
                <a:spcPct val="155000"/>
              </a:lnSpc>
              <a:buNone/>
            </a:pPr>
            <a:r>
              <a:rPr lang="en-US" sz="765" spc="45" kern="0" dirty="0">
                <a:solidFill>
                  <a:srgbClr val="6B6B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到遍布全球的开源生态——Unix 如何把"操作系统"变成了一场持续半个世纪的</a:t>
            </a:r>
            <a:pPr algn="l" indent="0" marL="0">
              <a:lnSpc>
                <a:spcPct val="155000"/>
              </a:lnSpc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协作实验</a:t>
            </a:r>
            <a:pPr algn="l" indent="0" marL="0">
              <a:lnSpc>
                <a:spcPct val="155000"/>
              </a:lnSpc>
              <a:buNone/>
            </a:pPr>
            <a:r>
              <a:rPr lang="en-US" sz="765" spc="45" kern="0" dirty="0">
                <a:solidFill>
                  <a:srgbClr val="6B6B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765" dirty="0"/>
          </a:p>
        </p:txBody>
      </p:sp>
      <p:sp>
        <p:nvSpPr>
          <p:cNvPr id="13" name="Shape 11"/>
          <p:cNvSpPr/>
          <p:nvPr/>
        </p:nvSpPr>
        <p:spPr>
          <a:xfrm>
            <a:off x="342900" y="1797278"/>
            <a:ext cx="2286000" cy="140018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42900" y="1937296"/>
            <a:ext cx="2286000" cy="0"/>
          </a:xfrm>
          <a:prstGeom prst="line">
            <a:avLst/>
          </a:prstGeom>
          <a:noFill/>
          <a:ln w="5715">
            <a:solidFill>
              <a:srgbClr val="D9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" y="1797278"/>
            <a:ext cx="2560320" cy="140018"/>
          </a:xfrm>
          <a:prstGeom prst="rect">
            <a:avLst/>
          </a:prstGeom>
          <a:noFill/>
          <a:ln/>
        </p:spPr>
        <p:txBody>
          <a:bodyPr wrap="square" lIns="0" tIns="0" rIns="0" bIns="4572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b="1" spc="22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TIMELINE · 时间脉络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342900" y="2017306"/>
            <a:ext cx="2903220" cy="5863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60" b="1" spc="-13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1969</a:t>
            </a:r>
            <a:endParaRPr lang="en-US" sz="4860" dirty="0"/>
          </a:p>
        </p:txBody>
      </p:sp>
      <p:sp>
        <p:nvSpPr>
          <p:cNvPr id="17" name="Text 15"/>
          <p:cNvSpPr/>
          <p:nvPr/>
        </p:nvSpPr>
        <p:spPr>
          <a:xfrm>
            <a:off x="342900" y="2637919"/>
            <a:ext cx="2560320" cy="13287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Unix 发行年份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42900" y="2787938"/>
            <a:ext cx="2560320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Ken Thompson 与 Dennis Ritchie 在贝尔实验室完成多用户分时系统原型。</a:t>
            </a:r>
            <a:endParaRPr lang="en-US" sz="563" dirty="0"/>
          </a:p>
        </p:txBody>
      </p:sp>
      <p:sp>
        <p:nvSpPr>
          <p:cNvPr id="19" name="Shape 17"/>
          <p:cNvSpPr/>
          <p:nvPr/>
        </p:nvSpPr>
        <p:spPr>
          <a:xfrm>
            <a:off x="342900" y="3239423"/>
            <a:ext cx="973782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682" y="3197989"/>
            <a:ext cx="205740" cy="8858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b="1" spc="135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扩散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1465272" y="3144857"/>
            <a:ext cx="315486" cy="194846"/>
          </a:xfrm>
          <a:prstGeom prst="rect">
            <a:avLst/>
          </a:prstGeom>
          <a:noFill/>
          <a:ln/>
        </p:spPr>
        <p:txBody>
          <a:bodyPr wrap="none" lIns="0" tIns="57150" rIns="5715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9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1655028" y="3239423"/>
            <a:ext cx="973872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" y="3390870"/>
            <a:ext cx="2903220" cy="5863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60" b="1" spc="-13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1977</a:t>
            </a:r>
            <a:endParaRPr lang="en-US" sz="4860" dirty="0"/>
          </a:p>
        </p:txBody>
      </p:sp>
      <p:sp>
        <p:nvSpPr>
          <p:cNvPr id="24" name="Text 22"/>
          <p:cNvSpPr/>
          <p:nvPr/>
        </p:nvSpPr>
        <p:spPr>
          <a:xfrm>
            <a:off x="342900" y="4011484"/>
            <a:ext cx="2560320" cy="13287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首个 BSD 版本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42900" y="4161502"/>
            <a:ext cx="2560320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Berkeley 团队在 Unix V4 基础上加入虚拟内存与 TCP/IP，形成 BSD 分支。</a:t>
            </a:r>
            <a:endParaRPr lang="en-US" sz="563" dirty="0"/>
          </a:p>
        </p:txBody>
      </p:sp>
      <p:sp>
        <p:nvSpPr>
          <p:cNvPr id="26" name="Shape 24"/>
          <p:cNvSpPr/>
          <p:nvPr/>
        </p:nvSpPr>
        <p:spPr>
          <a:xfrm>
            <a:off x="2880360" y="1774418"/>
            <a:ext cx="5920740" cy="45300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80360" y="1774418"/>
            <a:ext cx="0" cy="453003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1854428"/>
            <a:ext cx="466344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3291840" y="1854428"/>
            <a:ext cx="6042355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1969 · 贝尔实验室</a:t>
            </a:r>
            <a:endParaRPr lang="en-US" sz="765" dirty="0"/>
          </a:p>
        </p:txBody>
      </p:sp>
      <p:sp>
        <p:nvSpPr>
          <p:cNvPr id="30" name="Text 28"/>
          <p:cNvSpPr/>
          <p:nvPr/>
        </p:nvSpPr>
        <p:spPr>
          <a:xfrm>
            <a:off x="3291840" y="2027843"/>
            <a:ext cx="6042355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Ken Thompson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与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Dennis Ritchie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写出多用户分时系统原型，Unix 就此诞生于 Bell Labs。</a:t>
            </a:r>
            <a:endParaRPr lang="en-US" sz="608" dirty="0"/>
          </a:p>
        </p:txBody>
      </p:sp>
      <p:sp>
        <p:nvSpPr>
          <p:cNvPr id="31" name="Shape 29"/>
          <p:cNvSpPr/>
          <p:nvPr/>
        </p:nvSpPr>
        <p:spPr>
          <a:xfrm>
            <a:off x="2880360" y="2296001"/>
            <a:ext cx="5920740" cy="45300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80360" y="2296001"/>
            <a:ext cx="0" cy="453003"/>
          </a:xfrm>
          <a:prstGeom prst="line">
            <a:avLst/>
          </a:prstGeom>
          <a:noFill/>
          <a:ln w="22860">
            <a:solidFill>
              <a:srgbClr val="880E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376011"/>
            <a:ext cx="466344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3291840" y="2376011"/>
            <a:ext cx="6042355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spc="23" kern="0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源码公开分发</a:t>
            </a:r>
            <a:endParaRPr lang="en-US" sz="765" dirty="0"/>
          </a:p>
        </p:txBody>
      </p:sp>
      <p:sp>
        <p:nvSpPr>
          <p:cNvPr id="35" name="Text 33"/>
          <p:cNvSpPr/>
          <p:nvPr/>
        </p:nvSpPr>
        <p:spPr>
          <a:xfrm>
            <a:off x="3291840" y="2549426"/>
            <a:ext cx="6042355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AT&amp;T 以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免费形式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向 MIT、UC Berkeley 等高校寄送 Unix 源码，开启技术外溢的先河。</a:t>
            </a:r>
            <a:endParaRPr lang="en-US" sz="608" dirty="0"/>
          </a:p>
        </p:txBody>
      </p:sp>
      <p:sp>
        <p:nvSpPr>
          <p:cNvPr id="36" name="Shape 34"/>
          <p:cNvSpPr/>
          <p:nvPr/>
        </p:nvSpPr>
        <p:spPr>
          <a:xfrm>
            <a:off x="2880360" y="2817584"/>
            <a:ext cx="5920740" cy="45300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880360" y="2817584"/>
            <a:ext cx="0" cy="453003"/>
          </a:xfrm>
          <a:prstGeom prst="line">
            <a:avLst/>
          </a:prstGeom>
          <a:noFill/>
          <a:ln w="2286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2897594"/>
            <a:ext cx="466344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30" dirty="0"/>
          </a:p>
        </p:txBody>
      </p:sp>
      <p:sp>
        <p:nvSpPr>
          <p:cNvPr id="39" name="Text 37"/>
          <p:cNvSpPr/>
          <p:nvPr/>
        </p:nvSpPr>
        <p:spPr>
          <a:xfrm>
            <a:off x="3291840" y="2897594"/>
            <a:ext cx="6042355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BSD 传承</a:t>
            </a:r>
            <a:endParaRPr lang="en-US" sz="765" dirty="0"/>
          </a:p>
        </p:txBody>
      </p:sp>
      <p:sp>
        <p:nvSpPr>
          <p:cNvPr id="40" name="Text 38"/>
          <p:cNvSpPr/>
          <p:nvPr/>
        </p:nvSpPr>
        <p:spPr>
          <a:xfrm>
            <a:off x="3291840" y="3071009"/>
            <a:ext cx="6042355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Berkeley 团队加入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虚拟内存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与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TCP/IP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，形成独立的 BSD 分支，并直接孵化了 GNU 与 Linux。</a:t>
            </a:r>
            <a:endParaRPr lang="en-US" sz="608" dirty="0"/>
          </a:p>
        </p:txBody>
      </p:sp>
      <p:sp>
        <p:nvSpPr>
          <p:cNvPr id="41" name="Shape 39"/>
          <p:cNvSpPr/>
          <p:nvPr/>
        </p:nvSpPr>
        <p:spPr>
          <a:xfrm>
            <a:off x="2880360" y="3339167"/>
            <a:ext cx="5920740" cy="45300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880360" y="3339167"/>
            <a:ext cx="0" cy="453003"/>
          </a:xfrm>
          <a:prstGeom prst="line">
            <a:avLst/>
          </a:prstGeom>
          <a:noFill/>
          <a:ln w="22860">
            <a:solidFill>
              <a:srgbClr val="880E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3419177"/>
            <a:ext cx="466344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30" dirty="0"/>
          </a:p>
        </p:txBody>
      </p:sp>
      <p:sp>
        <p:nvSpPr>
          <p:cNvPr id="44" name="Text 42"/>
          <p:cNvSpPr/>
          <p:nvPr/>
        </p:nvSpPr>
        <p:spPr>
          <a:xfrm>
            <a:off x="3291840" y="3419177"/>
            <a:ext cx="6042355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spc="23" kern="0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 语言的杠杆</a:t>
            </a:r>
            <a:endParaRPr lang="en-US" sz="765" dirty="0"/>
          </a:p>
        </p:txBody>
      </p:sp>
      <p:sp>
        <p:nvSpPr>
          <p:cNvPr id="45" name="Text 43"/>
          <p:cNvSpPr/>
          <p:nvPr/>
        </p:nvSpPr>
        <p:spPr>
          <a:xfrm>
            <a:off x="3291840" y="3592592"/>
            <a:ext cx="6042355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便携的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语言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让 Unix 成为第一款真正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跨平台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的操作系统，可被移植到任何架构。</a:t>
            </a:r>
            <a:endParaRPr lang="en-US" sz="608" dirty="0"/>
          </a:p>
        </p:txBody>
      </p:sp>
      <p:sp>
        <p:nvSpPr>
          <p:cNvPr id="46" name="Shape 44"/>
          <p:cNvSpPr/>
          <p:nvPr/>
        </p:nvSpPr>
        <p:spPr>
          <a:xfrm>
            <a:off x="342900" y="4604415"/>
            <a:ext cx="8458200" cy="770989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342900" y="4604415"/>
            <a:ext cx="8458200" cy="0"/>
          </a:xfrm>
          <a:prstGeom prst="line">
            <a:avLst/>
          </a:prstGeom>
          <a:noFill/>
          <a:ln w="5715">
            <a:solidFill>
              <a:srgbClr val="D9D3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2900" y="4701570"/>
            <a:ext cx="7488936" cy="673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4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Unix 的意义不只是操作系统本身，而是一种</a:t>
            </a:r>
            <a:pPr algn="l" indent="0" marL="0">
              <a:lnSpc>
                <a:spcPct val="165000"/>
              </a:lnSpc>
              <a:buNone/>
            </a:pPr>
            <a:r>
              <a:rPr lang="en-US" sz="630" b="1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协作范式的原型</a:t>
            </a:r>
            <a:pPr algn="l" indent="0" marL="0">
              <a:lnSpc>
                <a:spcPct val="165000"/>
              </a:lnSpc>
              <a:buNone/>
            </a:pPr>
            <a:r>
              <a:rPr lang="en-US" sz="630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：一个团队写、另一个团队改、再一个团队移植。</a:t>
            </a:r>
            <a:pPr algn="l" indent="0" marL="0">
              <a:lnSpc>
                <a:spcPct val="165000"/>
              </a:lnSpc>
              <a:buNone/>
            </a:pPr>
            <a:r>
              <a:rPr lang="en-US" sz="630" b="1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今天任何一次 pull request，都在重复这场实验。 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7200900" y="4701570"/>
            <a:ext cx="1600200" cy="67383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Shape 48"/>
          <p:cNvSpPr/>
          <p:nvPr/>
        </p:nvSpPr>
        <p:spPr>
          <a:xfrm>
            <a:off x="7200900" y="4701570"/>
            <a:ext cx="17145" cy="673833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1" name="Text 49"/>
          <p:cNvSpPr/>
          <p:nvPr/>
        </p:nvSpPr>
        <p:spPr>
          <a:xfrm>
            <a:off x="7303770" y="4781580"/>
            <a:ext cx="1561795" cy="84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28" b="1" spc="135" kern="0" dirty="0">
                <a:solidFill>
                  <a:srgbClr val="FFFFFF">
                    <a:alpha val="6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TODAY · 至今</a:t>
            </a:r>
            <a:endParaRPr lang="en-US" sz="428" dirty="0"/>
          </a:p>
        </p:txBody>
      </p:sp>
      <p:sp>
        <p:nvSpPr>
          <p:cNvPr id="52" name="Text 50"/>
          <p:cNvSpPr/>
          <p:nvPr/>
        </p:nvSpPr>
        <p:spPr>
          <a:xfrm>
            <a:off x="7303770" y="4888557"/>
            <a:ext cx="156591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数十亿</a:t>
            </a:r>
            <a:pPr algn="l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F0C9A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台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7303770" y="5111442"/>
            <a:ext cx="1561795" cy="183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FFFFFF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仍在运行 Unix 派系的设备——从你手中手机到云端服务器。</a:t>
            </a:r>
            <a:endParaRPr lang="en-US" sz="518" dirty="0"/>
          </a:p>
        </p:txBody>
      </p:sp>
      <p:sp>
        <p:nvSpPr>
          <p:cNvPr id="54" name="Shape 52"/>
          <p:cNvSpPr/>
          <p:nvPr/>
        </p:nvSpPr>
        <p:spPr>
          <a:xfrm>
            <a:off x="342900" y="5443984"/>
            <a:ext cx="8458200" cy="177969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342900" y="5443984"/>
            <a:ext cx="8458200" cy="0"/>
          </a:xfrm>
          <a:prstGeom prst="line">
            <a:avLst/>
          </a:prstGeom>
          <a:noFill/>
          <a:ln w="5715">
            <a:solidFill>
              <a:srgbClr val="D9D3C8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342900" y="5506849"/>
            <a:ext cx="3981298" cy="11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i="1" dirty="0">
                <a:solidFill>
                  <a:srgbClr val="6B6B6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"Be not amorous of software… the best tools are shared."</a:t>
            </a:r>
            <a:pPr algn="l" indent="0" marL="0">
              <a:lnSpc>
                <a:spcPct val="155000"/>
              </a:lnSpc>
              <a:buNone/>
            </a:pPr>
            <a:r>
              <a:rPr lang="en-US" sz="518" b="1" i="1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Ken Thompson, Turing Award Lecture, 1982 </a:t>
            </a:r>
            <a:endParaRPr lang="en-US" sz="585" dirty="0"/>
          </a:p>
        </p:txBody>
      </p:sp>
      <p:sp>
        <p:nvSpPr>
          <p:cNvPr id="57" name="Text 55"/>
          <p:cNvSpPr/>
          <p:nvPr/>
        </p:nvSpPr>
        <p:spPr>
          <a:xfrm>
            <a:off x="7749540" y="5520065"/>
            <a:ext cx="1177747" cy="8858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b="1" spc="135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EDITORIAL · P. 047 / 128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5F5"/>
              </a:gs>
              <a:gs pos="100000">
                <a:srgbClr val="EDEE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0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4905"/>
            <a:ext cx="914400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251460" cy="25146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251460" cy="0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74320"/>
            <a:ext cx="0" cy="251460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18220" y="4617720"/>
            <a:ext cx="251460" cy="25146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869680" y="4617720"/>
            <a:ext cx="0" cy="251460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8220" y="4869180"/>
            <a:ext cx="251460" cy="0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95410" y="2423160"/>
            <a:ext cx="22860" cy="2286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995410" y="2491740"/>
            <a:ext cx="22860" cy="2286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95410" y="2560320"/>
            <a:ext cx="22860" cy="2286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95410" y="2628900"/>
            <a:ext cx="22860" cy="2286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95410" y="2697480"/>
            <a:ext cx="22860" cy="22860"/>
          </a:xfrm>
          <a:prstGeom prst="ellipse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" y="342900"/>
            <a:ext cx="5143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27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第 01 章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857250" y="345758"/>
            <a:ext cx="128016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FOUNDATIONS · 制度奠基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342900" y="497205"/>
            <a:ext cx="3539642" cy="3600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GNU 与自由软件宣言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42900" y="902970"/>
            <a:ext cx="353964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i="1" spc="23" kern="0" dirty="0">
                <a:solidFill>
                  <a:srgbClr val="1E3A5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从宣言到许可证：自由软件运动的制度奠基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7669530" y="611505"/>
            <a:ext cx="132588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7669530" y="851535"/>
            <a:ext cx="126735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450" b="1" spc="13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GNU PROJECT · 1983–1991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7778115" y="965835"/>
            <a:ext cx="114574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200000"/>
              </a:lnSpc>
              <a:buNone/>
            </a:pPr>
            <a:r>
              <a:rPr lang="en-US" sz="450" b="1" spc="13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MANIFESTO &amp; COPELEFT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342900" y="1183005"/>
            <a:ext cx="3657600" cy="994410"/>
          </a:xfrm>
          <a:prstGeom prst="rect">
            <a:avLst/>
          </a:prstGeom>
          <a:solidFill>
            <a:srgbClr val="FFFFFF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775" y="1303020"/>
            <a:ext cx="754380" cy="754380"/>
          </a:xfrm>
          <a:prstGeom prst="ellipse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57150" dir="16200000">
              <a:srgbClr val="880E4F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668" y="1394460"/>
            <a:ext cx="240030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180" kern="0" dirty="0">
                <a:solidFill>
                  <a:srgbClr val="FFFFFF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GNU</a:t>
            </a:r>
            <a:endParaRPr lang="en-US" sz="405" dirty="0"/>
          </a:p>
        </p:txBody>
      </p:sp>
      <p:sp>
        <p:nvSpPr>
          <p:cNvPr id="26" name="Text 24"/>
          <p:cNvSpPr/>
          <p:nvPr/>
        </p:nvSpPr>
        <p:spPr>
          <a:xfrm>
            <a:off x="777240" y="1491615"/>
            <a:ext cx="446913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18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</a:t>
            </a:r>
            <a:endParaRPr lang="en-US" sz="2070" dirty="0"/>
          </a:p>
        </p:txBody>
      </p:sp>
      <p:sp>
        <p:nvSpPr>
          <p:cNvPr id="27" name="Text 25"/>
          <p:cNvSpPr/>
          <p:nvPr/>
        </p:nvSpPr>
        <p:spPr>
          <a:xfrm>
            <a:off x="777240" y="1800225"/>
            <a:ext cx="22288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225" kern="0" dirty="0">
                <a:solidFill>
                  <a:srgbClr val="FFFFFF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FSF</a:t>
            </a:r>
            <a:endParaRPr lang="en-US" sz="405" dirty="0"/>
          </a:p>
        </p:txBody>
      </p:sp>
      <p:sp>
        <p:nvSpPr>
          <p:cNvPr id="28" name="Text 26"/>
          <p:cNvSpPr/>
          <p:nvPr/>
        </p:nvSpPr>
        <p:spPr>
          <a:xfrm>
            <a:off x="745808" y="1885950"/>
            <a:ext cx="2914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i="1" dirty="0">
                <a:solidFill>
                  <a:srgbClr val="A8356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1983 —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1377315" y="1352223"/>
            <a:ext cx="24323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8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自由软件基金会</a:t>
            </a:r>
            <a:endParaRPr lang="en-US" sz="495" dirty="0"/>
          </a:p>
        </p:txBody>
      </p:sp>
      <p:sp>
        <p:nvSpPr>
          <p:cNvPr id="30" name="Shape 28"/>
          <p:cNvSpPr/>
          <p:nvPr/>
        </p:nvSpPr>
        <p:spPr>
          <a:xfrm>
            <a:off x="1377315" y="1352223"/>
            <a:ext cx="8001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1" name="Text 29"/>
          <p:cNvSpPr/>
          <p:nvPr/>
        </p:nvSpPr>
        <p:spPr>
          <a:xfrm>
            <a:off x="1377315" y="1500813"/>
            <a:ext cx="2432304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GNU Project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77315" y="1775133"/>
            <a:ext cx="2432304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吉尼斯内普斯实用程序（GNU's Not Unix）——Richard Stallman 发起的项目，致力于重建一套完全自由的操作系统。</a:t>
            </a:r>
            <a:endParaRPr lang="en-US" sz="540" dirty="0"/>
          </a:p>
        </p:txBody>
      </p:sp>
      <p:sp>
        <p:nvSpPr>
          <p:cNvPr id="33" name="Shape 31"/>
          <p:cNvSpPr/>
          <p:nvPr/>
        </p:nvSpPr>
        <p:spPr>
          <a:xfrm>
            <a:off x="342900" y="2326005"/>
            <a:ext cx="3657600" cy="10672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" y="2326005"/>
            <a:ext cx="0" cy="1067276"/>
          </a:xfrm>
          <a:prstGeom prst="line">
            <a:avLst/>
          </a:prstGeom>
          <a:noFill/>
          <a:ln w="22860">
            <a:solidFill>
              <a:srgbClr val="880E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200275"/>
            <a:ext cx="1263015" cy="7429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dirty="0">
                <a:solidFill>
                  <a:srgbClr val="880E4F">
                    <a:alpha val="18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5850" dirty="0"/>
          </a:p>
        </p:txBody>
      </p:sp>
      <p:sp>
        <p:nvSpPr>
          <p:cNvPr id="36" name="Shape 34"/>
          <p:cNvSpPr/>
          <p:nvPr/>
        </p:nvSpPr>
        <p:spPr>
          <a:xfrm>
            <a:off x="617220" y="3101816"/>
            <a:ext cx="3211830" cy="165735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617220" y="3101816"/>
            <a:ext cx="3211830" cy="0"/>
          </a:xfrm>
          <a:prstGeom prst="line">
            <a:avLst/>
          </a:prstGeom>
          <a:noFill/>
          <a:ln w="5715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" y="3101816"/>
            <a:ext cx="3597250" cy="165735"/>
          </a:xfrm>
          <a:prstGeom prst="rect">
            <a:avLst/>
          </a:prstGeom>
          <a:noFill/>
          <a:ln/>
        </p:spPr>
        <p:txBody>
          <a:bodyPr wrap="square" lIns="68580" tIns="0" rIns="0" bIns="0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GNU MANIFESTO · 节选</a:t>
            </a:r>
            <a:endParaRPr lang="en-US" sz="495" dirty="0"/>
          </a:p>
        </p:txBody>
      </p:sp>
      <p:sp>
        <p:nvSpPr>
          <p:cNvPr id="39" name="Shape 37"/>
          <p:cNvSpPr/>
          <p:nvPr/>
        </p:nvSpPr>
        <p:spPr>
          <a:xfrm>
            <a:off x="617220" y="3101816"/>
            <a:ext cx="13716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" y="2451735"/>
            <a:ext cx="3597250" cy="57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GNU 把</a:t>
            </a:r>
            <a:pPr algn="l" indent="0" marL="0">
              <a:lnSpc>
                <a:spcPct val="175000"/>
              </a:lnSpc>
              <a:buNone/>
            </a:pPr>
            <a:r>
              <a:rPr lang="en-US" sz="855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「共享」</a:t>
            </a:r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升级为</a:t>
            </a:r>
            <a:pPr algn="l" indent="0" marL="0">
              <a:lnSpc>
                <a:spcPct val="175000"/>
              </a:lnSpc>
              <a:buNone/>
            </a:pPr>
            <a:r>
              <a:rPr lang="en-US" sz="855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「权利」</a:t>
            </a:r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：不只是可以复制，而是必须保持自由。GPL 用法律工具把协作精神制度化，这是开源史上最重要的制度创新之一。</a:t>
            </a:r>
            <a:endParaRPr lang="en-US" sz="855" dirty="0"/>
          </a:p>
        </p:txBody>
      </p:sp>
      <p:sp>
        <p:nvSpPr>
          <p:cNvPr id="41" name="Shape 39"/>
          <p:cNvSpPr/>
          <p:nvPr/>
        </p:nvSpPr>
        <p:spPr>
          <a:xfrm>
            <a:off x="4286250" y="1183005"/>
            <a:ext cx="4514850" cy="240030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4286250" y="1423035"/>
            <a:ext cx="451485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86250" y="1183005"/>
            <a:ext cx="113294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 · 制度演进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27318" y="1257300"/>
            <a:ext cx="109063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1983 → 1991 · 8 YEARS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4537710" y="1651635"/>
            <a:ext cx="5715" cy="1240509"/>
          </a:xfrm>
          <a:prstGeom prst="rect">
            <a:avLst/>
          </a:prstGeom>
          <a:solidFill>
            <a:srgbClr val="0D2137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94860" y="1663065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47" name="Shape 45"/>
          <p:cNvSpPr/>
          <p:nvPr/>
        </p:nvSpPr>
        <p:spPr>
          <a:xfrm>
            <a:off x="4491990" y="1628775"/>
            <a:ext cx="114300" cy="1143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1548765"/>
            <a:ext cx="694944" cy="194310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1983</a:t>
            </a:r>
            <a:endParaRPr lang="en-US" sz="1440" dirty="0"/>
          </a:p>
        </p:txBody>
      </p:sp>
      <p:sp>
        <p:nvSpPr>
          <p:cNvPr id="49" name="Text 47"/>
          <p:cNvSpPr/>
          <p:nvPr/>
        </p:nvSpPr>
        <p:spPr>
          <a:xfrm>
            <a:off x="5149215" y="1548765"/>
            <a:ext cx="4090111" cy="128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宣言</a:t>
            </a:r>
            <a:pPr algn="l" indent="0" marL="0">
              <a:lnSpc>
                <a:spcPct val="13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GNU Manifesto 发布</a:t>
            </a:r>
            <a:endParaRPr lang="en-US" sz="765" dirty="0"/>
          </a:p>
        </p:txBody>
      </p:sp>
      <p:sp>
        <p:nvSpPr>
          <p:cNvPr id="50" name="Shape 48"/>
          <p:cNvSpPr/>
          <p:nvPr/>
        </p:nvSpPr>
        <p:spPr>
          <a:xfrm>
            <a:off x="5149215" y="1576090"/>
            <a:ext cx="228600" cy="101084"/>
          </a:xfrm>
          <a:prstGeom prst="roundRect">
            <a:avLst>
              <a:gd name="adj" fmla="val 5654"/>
            </a:avLst>
          </a:prstGeom>
          <a:solidFill>
            <a:srgbClr val="880E4F"/>
          </a:solidFill>
          <a:ln/>
        </p:spPr>
      </p:sp>
      <p:sp>
        <p:nvSpPr>
          <p:cNvPr id="51" name="Text 49"/>
          <p:cNvSpPr/>
          <p:nvPr/>
        </p:nvSpPr>
        <p:spPr>
          <a:xfrm>
            <a:off x="5149215" y="1576090"/>
            <a:ext cx="280035" cy="101084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spc="135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宣言</a:t>
            </a:r>
            <a:endParaRPr lang="en-US" sz="405" dirty="0"/>
          </a:p>
        </p:txBody>
      </p:sp>
      <p:sp>
        <p:nvSpPr>
          <p:cNvPr id="52" name="Text 50"/>
          <p:cNvSpPr/>
          <p:nvPr/>
        </p:nvSpPr>
        <p:spPr>
          <a:xfrm>
            <a:off x="5149215" y="1711464"/>
            <a:ext cx="4090111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Richard Stallman 于 MIT 发布 GNU 宣言，宣告软件自由理念，开启自由软件运动。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4594860" y="2041773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54" name="Shape 52"/>
          <p:cNvSpPr/>
          <p:nvPr/>
        </p:nvSpPr>
        <p:spPr>
          <a:xfrm>
            <a:off x="4491990" y="2007483"/>
            <a:ext cx="114300" cy="1143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1927473"/>
            <a:ext cx="694944" cy="194310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1985</a:t>
            </a:r>
            <a:endParaRPr lang="en-US" sz="1440" dirty="0"/>
          </a:p>
        </p:txBody>
      </p:sp>
      <p:sp>
        <p:nvSpPr>
          <p:cNvPr id="56" name="Text 54"/>
          <p:cNvSpPr/>
          <p:nvPr/>
        </p:nvSpPr>
        <p:spPr>
          <a:xfrm>
            <a:off x="5149215" y="1927473"/>
            <a:ext cx="4090111" cy="128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组织</a:t>
            </a:r>
            <a:pPr algn="l" indent="0" marL="0">
              <a:lnSpc>
                <a:spcPct val="13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FSF 成立</a:t>
            </a:r>
            <a:endParaRPr lang="en-US" sz="765" dirty="0"/>
          </a:p>
        </p:txBody>
      </p:sp>
      <p:sp>
        <p:nvSpPr>
          <p:cNvPr id="57" name="Shape 55"/>
          <p:cNvSpPr/>
          <p:nvPr/>
        </p:nvSpPr>
        <p:spPr>
          <a:xfrm>
            <a:off x="5149215" y="1954798"/>
            <a:ext cx="228600" cy="101084"/>
          </a:xfrm>
          <a:prstGeom prst="roundRect">
            <a:avLst>
              <a:gd name="adj" fmla="val 5654"/>
            </a:avLst>
          </a:prstGeom>
          <a:solidFill>
            <a:srgbClr val="880E4F"/>
          </a:solidFill>
          <a:ln/>
        </p:spPr>
      </p:sp>
      <p:sp>
        <p:nvSpPr>
          <p:cNvPr id="58" name="Text 56"/>
          <p:cNvSpPr/>
          <p:nvPr/>
        </p:nvSpPr>
        <p:spPr>
          <a:xfrm>
            <a:off x="5149215" y="1954798"/>
            <a:ext cx="280035" cy="101084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spc="135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组织</a:t>
            </a:r>
            <a:endParaRPr lang="en-US" sz="405" dirty="0"/>
          </a:p>
        </p:txBody>
      </p:sp>
      <p:sp>
        <p:nvSpPr>
          <p:cNvPr id="59" name="Text 57"/>
          <p:cNvSpPr/>
          <p:nvPr/>
        </p:nvSpPr>
        <p:spPr>
          <a:xfrm>
            <a:off x="5149215" y="2090172"/>
            <a:ext cx="4090111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Free Software Foundation 成为 GNU 项目的组织载体，正式推动开源与自由软件协作。</a:t>
            </a:r>
            <a:endParaRPr lang="en-US" sz="540" dirty="0"/>
          </a:p>
        </p:txBody>
      </p:sp>
      <p:sp>
        <p:nvSpPr>
          <p:cNvPr id="60" name="Shape 58"/>
          <p:cNvSpPr/>
          <p:nvPr/>
        </p:nvSpPr>
        <p:spPr>
          <a:xfrm>
            <a:off x="4594860" y="2420481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61" name="Shape 59"/>
          <p:cNvSpPr/>
          <p:nvPr/>
        </p:nvSpPr>
        <p:spPr>
          <a:xfrm>
            <a:off x="4491990" y="2386191"/>
            <a:ext cx="114300" cy="1143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2306181"/>
            <a:ext cx="694944" cy="194310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1989</a:t>
            </a:r>
            <a:endParaRPr lang="en-US" sz="1440" dirty="0"/>
          </a:p>
        </p:txBody>
      </p:sp>
      <p:sp>
        <p:nvSpPr>
          <p:cNvPr id="63" name="Text 61"/>
          <p:cNvSpPr/>
          <p:nvPr/>
        </p:nvSpPr>
        <p:spPr>
          <a:xfrm>
            <a:off x="5166360" y="2306181"/>
            <a:ext cx="4070909" cy="128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许可证</a:t>
            </a:r>
            <a:pPr algn="l" indent="0" marL="0">
              <a:lnSpc>
                <a:spcPct val="13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GPL v1 发布</a:t>
            </a:r>
            <a:endParaRPr lang="en-US" sz="765" dirty="0"/>
          </a:p>
        </p:txBody>
      </p:sp>
      <p:sp>
        <p:nvSpPr>
          <p:cNvPr id="64" name="Shape 62"/>
          <p:cNvSpPr/>
          <p:nvPr/>
        </p:nvSpPr>
        <p:spPr>
          <a:xfrm>
            <a:off x="5166360" y="2333506"/>
            <a:ext cx="297180" cy="101084"/>
          </a:xfrm>
          <a:prstGeom prst="roundRect">
            <a:avLst>
              <a:gd name="adj" fmla="val 5654"/>
            </a:avLst>
          </a:prstGeom>
          <a:solidFill>
            <a:srgbClr val="880E4F"/>
          </a:solidFill>
          <a:ln/>
        </p:spPr>
      </p:sp>
      <p:sp>
        <p:nvSpPr>
          <p:cNvPr id="65" name="Text 63"/>
          <p:cNvSpPr/>
          <p:nvPr/>
        </p:nvSpPr>
        <p:spPr>
          <a:xfrm>
            <a:off x="5166360" y="2333506"/>
            <a:ext cx="348615" cy="101084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spc="135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许可证</a:t>
            </a:r>
            <a:endParaRPr lang="en-US" sz="405" dirty="0"/>
          </a:p>
        </p:txBody>
      </p:sp>
      <p:sp>
        <p:nvSpPr>
          <p:cNvPr id="66" name="Text 64"/>
          <p:cNvSpPr/>
          <p:nvPr/>
        </p:nvSpPr>
        <p:spPr>
          <a:xfrm>
            <a:off x="5166360" y="2468880"/>
            <a:ext cx="4070909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首次为自由软件定义可传染的许可证，copyleft 概念落地，用法律手段保护共享精神。</a:t>
            </a:r>
            <a:endParaRPr lang="en-US" sz="540" dirty="0"/>
          </a:p>
        </p:txBody>
      </p:sp>
      <p:sp>
        <p:nvSpPr>
          <p:cNvPr id="67" name="Shape 65"/>
          <p:cNvSpPr/>
          <p:nvPr/>
        </p:nvSpPr>
        <p:spPr>
          <a:xfrm>
            <a:off x="4594860" y="2799189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68" name="Shape 66"/>
          <p:cNvSpPr/>
          <p:nvPr/>
        </p:nvSpPr>
        <p:spPr>
          <a:xfrm>
            <a:off x="4491990" y="2764899"/>
            <a:ext cx="114300" cy="1143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2684889"/>
            <a:ext cx="694944" cy="194310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1991</a:t>
            </a:r>
            <a:endParaRPr lang="en-US" sz="1440" dirty="0"/>
          </a:p>
        </p:txBody>
      </p:sp>
      <p:sp>
        <p:nvSpPr>
          <p:cNvPr id="70" name="Text 68"/>
          <p:cNvSpPr/>
          <p:nvPr/>
        </p:nvSpPr>
        <p:spPr>
          <a:xfrm>
            <a:off x="5143500" y="2684889"/>
            <a:ext cx="4096512" cy="128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关键缺口</a:t>
            </a:r>
            <a:pPr algn="l" indent="0" marL="0">
              <a:lnSpc>
                <a:spcPct val="13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Linux 补上内核</a:t>
            </a:r>
            <a:endParaRPr lang="en-US" sz="765" dirty="0"/>
          </a:p>
        </p:txBody>
      </p:sp>
      <p:sp>
        <p:nvSpPr>
          <p:cNvPr id="71" name="Shape 69"/>
          <p:cNvSpPr/>
          <p:nvPr/>
        </p:nvSpPr>
        <p:spPr>
          <a:xfrm>
            <a:off x="5143500" y="2712214"/>
            <a:ext cx="365760" cy="101084"/>
          </a:xfrm>
          <a:prstGeom prst="roundRect">
            <a:avLst>
              <a:gd name="adj" fmla="val 5654"/>
            </a:avLst>
          </a:prstGeom>
          <a:solidFill>
            <a:srgbClr val="880E4F"/>
          </a:solidFill>
          <a:ln/>
        </p:spPr>
      </p:sp>
      <p:sp>
        <p:nvSpPr>
          <p:cNvPr id="72" name="Text 70"/>
          <p:cNvSpPr/>
          <p:nvPr/>
        </p:nvSpPr>
        <p:spPr>
          <a:xfrm>
            <a:off x="5143500" y="2712214"/>
            <a:ext cx="417195" cy="101084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5" b="1" spc="135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关键缺口</a:t>
            </a:r>
            <a:endParaRPr lang="en-US" sz="405" dirty="0"/>
          </a:p>
        </p:txBody>
      </p:sp>
      <p:sp>
        <p:nvSpPr>
          <p:cNvPr id="73" name="Text 71"/>
          <p:cNvSpPr/>
          <p:nvPr/>
        </p:nvSpPr>
        <p:spPr>
          <a:xfrm>
            <a:off x="5143500" y="2847588"/>
            <a:ext cx="4096512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直到 1991 年 GNU 仍缺一个可用的内核，Linus Torvalds 的 Linux 补上了这块拼图。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342900" y="3503295"/>
            <a:ext cx="2045970" cy="4800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5" name="Shape 73"/>
          <p:cNvSpPr/>
          <p:nvPr/>
        </p:nvSpPr>
        <p:spPr>
          <a:xfrm>
            <a:off x="342900" y="3503295"/>
            <a:ext cx="17145" cy="48006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6" name="Text 74"/>
          <p:cNvSpPr/>
          <p:nvPr/>
        </p:nvSpPr>
        <p:spPr>
          <a:xfrm>
            <a:off x="445770" y="3594735"/>
            <a:ext cx="206105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FFFFFF">
                    <a:alpha val="6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PROJECT</a:t>
            </a:r>
            <a:endParaRPr lang="en-US" sz="450" dirty="0"/>
          </a:p>
        </p:txBody>
      </p:sp>
      <p:sp>
        <p:nvSpPr>
          <p:cNvPr id="77" name="Text 75"/>
          <p:cNvSpPr/>
          <p:nvPr/>
        </p:nvSpPr>
        <p:spPr>
          <a:xfrm>
            <a:off x="445770" y="3663315"/>
            <a:ext cx="2061058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1983</a:t>
            </a:r>
            <a:endParaRPr lang="en-US" sz="1620" dirty="0"/>
          </a:p>
        </p:txBody>
      </p:sp>
      <p:sp>
        <p:nvSpPr>
          <p:cNvPr id="78" name="Text 76"/>
          <p:cNvSpPr/>
          <p:nvPr/>
        </p:nvSpPr>
        <p:spPr>
          <a:xfrm>
            <a:off x="445770" y="3869055"/>
            <a:ext cx="2061058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dirty="0">
                <a:solidFill>
                  <a:srgbClr val="FFFFFF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GNU 项目启动</a:t>
            </a:r>
            <a:endParaRPr lang="en-US" sz="540" dirty="0"/>
          </a:p>
        </p:txBody>
      </p:sp>
      <p:sp>
        <p:nvSpPr>
          <p:cNvPr id="79" name="Shape 77"/>
          <p:cNvSpPr/>
          <p:nvPr/>
        </p:nvSpPr>
        <p:spPr>
          <a:xfrm>
            <a:off x="2480310" y="3503295"/>
            <a:ext cx="2045970" cy="4800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0" name="Shape 78"/>
          <p:cNvSpPr/>
          <p:nvPr/>
        </p:nvSpPr>
        <p:spPr>
          <a:xfrm>
            <a:off x="2480310" y="3503295"/>
            <a:ext cx="17145" cy="48006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1" name="Text 79"/>
          <p:cNvSpPr/>
          <p:nvPr/>
        </p:nvSpPr>
        <p:spPr>
          <a:xfrm>
            <a:off x="2583180" y="3594735"/>
            <a:ext cx="206105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FFFFFF">
                    <a:alpha val="6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FOUNDATION</a:t>
            </a:r>
            <a:endParaRPr lang="en-US" sz="450" dirty="0"/>
          </a:p>
        </p:txBody>
      </p:sp>
      <p:sp>
        <p:nvSpPr>
          <p:cNvPr id="82" name="Text 80"/>
          <p:cNvSpPr/>
          <p:nvPr/>
        </p:nvSpPr>
        <p:spPr>
          <a:xfrm>
            <a:off x="2583180" y="3663315"/>
            <a:ext cx="2061058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1985</a:t>
            </a:r>
            <a:endParaRPr lang="en-US" sz="1620" dirty="0"/>
          </a:p>
        </p:txBody>
      </p:sp>
      <p:sp>
        <p:nvSpPr>
          <p:cNvPr id="83" name="Text 81"/>
          <p:cNvSpPr/>
          <p:nvPr/>
        </p:nvSpPr>
        <p:spPr>
          <a:xfrm>
            <a:off x="2583180" y="3869055"/>
            <a:ext cx="2061058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dirty="0">
                <a:solidFill>
                  <a:srgbClr val="FFFFFF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FSF 成立</a:t>
            </a:r>
            <a:endParaRPr lang="en-US" sz="540" dirty="0"/>
          </a:p>
        </p:txBody>
      </p:sp>
      <p:sp>
        <p:nvSpPr>
          <p:cNvPr id="84" name="Shape 82"/>
          <p:cNvSpPr/>
          <p:nvPr/>
        </p:nvSpPr>
        <p:spPr>
          <a:xfrm>
            <a:off x="4617720" y="3503295"/>
            <a:ext cx="2045970" cy="4800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5" name="Shape 83"/>
          <p:cNvSpPr/>
          <p:nvPr/>
        </p:nvSpPr>
        <p:spPr>
          <a:xfrm>
            <a:off x="4617720" y="3503295"/>
            <a:ext cx="17145" cy="48006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6" name="Text 84"/>
          <p:cNvSpPr/>
          <p:nvPr/>
        </p:nvSpPr>
        <p:spPr>
          <a:xfrm>
            <a:off x="4720590" y="3594735"/>
            <a:ext cx="206105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FFFFFF">
                    <a:alpha val="6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LICENSE</a:t>
            </a:r>
            <a:endParaRPr lang="en-US" sz="450" dirty="0"/>
          </a:p>
        </p:txBody>
      </p:sp>
      <p:sp>
        <p:nvSpPr>
          <p:cNvPr id="87" name="Text 85"/>
          <p:cNvSpPr/>
          <p:nvPr/>
        </p:nvSpPr>
        <p:spPr>
          <a:xfrm>
            <a:off x="4720590" y="3663315"/>
            <a:ext cx="2061058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1989</a:t>
            </a:r>
            <a:endParaRPr lang="en-US" sz="1620" dirty="0"/>
          </a:p>
        </p:txBody>
      </p:sp>
      <p:sp>
        <p:nvSpPr>
          <p:cNvPr id="88" name="Text 86"/>
          <p:cNvSpPr/>
          <p:nvPr/>
        </p:nvSpPr>
        <p:spPr>
          <a:xfrm>
            <a:off x="4720590" y="3869055"/>
            <a:ext cx="2061058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dirty="0">
                <a:solidFill>
                  <a:srgbClr val="FFFFFF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GPL v1 发布</a:t>
            </a:r>
            <a:endParaRPr lang="en-US" sz="540" dirty="0"/>
          </a:p>
        </p:txBody>
      </p:sp>
      <p:sp>
        <p:nvSpPr>
          <p:cNvPr id="89" name="Shape 87"/>
          <p:cNvSpPr/>
          <p:nvPr/>
        </p:nvSpPr>
        <p:spPr>
          <a:xfrm>
            <a:off x="6755130" y="3503295"/>
            <a:ext cx="2045970" cy="4800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0" name="Shape 88"/>
          <p:cNvSpPr/>
          <p:nvPr/>
        </p:nvSpPr>
        <p:spPr>
          <a:xfrm>
            <a:off x="6755130" y="3503295"/>
            <a:ext cx="17145" cy="48006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0" y="3594735"/>
            <a:ext cx="206105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FFFFFF">
                    <a:alpha val="6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 · COVERAGE</a:t>
            </a:r>
            <a:endParaRPr lang="en-US" sz="450" dirty="0"/>
          </a:p>
        </p:txBody>
      </p:sp>
      <p:sp>
        <p:nvSpPr>
          <p:cNvPr id="92" name="Text 90"/>
          <p:cNvSpPr/>
          <p:nvPr/>
        </p:nvSpPr>
        <p:spPr>
          <a:xfrm>
            <a:off x="6858000" y="3663315"/>
            <a:ext cx="2061058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99%+</a:t>
            </a:r>
            <a:endParaRPr lang="en-US" sz="1620" dirty="0"/>
          </a:p>
        </p:txBody>
      </p:sp>
      <p:sp>
        <p:nvSpPr>
          <p:cNvPr id="93" name="Text 91"/>
          <p:cNvSpPr/>
          <p:nvPr/>
        </p:nvSpPr>
        <p:spPr>
          <a:xfrm>
            <a:off x="6858000" y="3869055"/>
            <a:ext cx="2061058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dirty="0">
                <a:solidFill>
                  <a:srgbClr val="FFFFFF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GNU 用户级工具覆盖</a:t>
            </a:r>
            <a:endParaRPr lang="en-US" sz="540" dirty="0"/>
          </a:p>
        </p:txBody>
      </p:sp>
      <p:sp>
        <p:nvSpPr>
          <p:cNvPr id="94" name="Shape 92"/>
          <p:cNvSpPr/>
          <p:nvPr/>
        </p:nvSpPr>
        <p:spPr>
          <a:xfrm>
            <a:off x="342900" y="4097655"/>
            <a:ext cx="8458200" cy="3314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342900" y="4097655"/>
            <a:ext cx="84582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2900" y="4429125"/>
            <a:ext cx="84582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8630" y="4194810"/>
            <a:ext cx="75209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从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宣言</a:t>
            </a:r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到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许可证</a:t>
            </a:r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——自由软件运动把「共享」写进法律，让协作成为一种不可撤销的权利。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7320915" y="4169718"/>
            <a:ext cx="1354455" cy="187434"/>
          </a:xfrm>
          <a:prstGeom prst="rect">
            <a:avLst/>
          </a:prstGeom>
          <a:noFill/>
          <a:ln/>
        </p:spPr>
      </p:sp>
      <p:sp>
        <p:nvSpPr>
          <p:cNvPr id="99" name="Shape 97"/>
          <p:cNvSpPr/>
          <p:nvPr/>
        </p:nvSpPr>
        <p:spPr>
          <a:xfrm>
            <a:off x="7320915" y="4169718"/>
            <a:ext cx="0" cy="187434"/>
          </a:xfrm>
          <a:prstGeom prst="line">
            <a:avLst/>
          </a:prstGeom>
          <a:noFill/>
          <a:ln w="5715">
            <a:solidFill>
              <a:srgbClr val="D1D5D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20915" y="4169718"/>
            <a:ext cx="1516990" cy="18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540" b="1" spc="18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GNU · FSF · COPELEFT</a:t>
            </a:r>
            <a:pPr algn="r" indent="0" marL="0">
              <a:lnSpc>
                <a:spcPct val="140000"/>
              </a:lnSpc>
              <a:buNone/>
            </a:pPr>
            <a:r>
              <a:rPr lang="en-US" sz="450" b="1" spc="18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The Institutional Foundation —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7F4EC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33000">
                <a:srgbClr val="000000">
                  <a:alpha val="0"/>
                </a:srgbClr>
              </a:gs>
              <a:gs pos="67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125730" cy="12573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22860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89670" y="228600"/>
            <a:ext cx="125730" cy="12573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8789670" y="22860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22860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4789170"/>
            <a:ext cx="125730" cy="12573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28600" y="491490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478917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89670" y="4789170"/>
            <a:ext cx="125730" cy="12573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8915400" y="4789170"/>
            <a:ext cx="0" cy="12573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89670" y="4914900"/>
            <a:ext cx="12573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350" y="342900"/>
            <a:ext cx="8115300" cy="17716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14350" y="520065"/>
            <a:ext cx="811530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350" y="365760"/>
            <a:ext cx="45720" cy="4572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9" name="Text 17"/>
          <p:cNvSpPr/>
          <p:nvPr/>
        </p:nvSpPr>
        <p:spPr>
          <a:xfrm>
            <a:off x="720090" y="354330"/>
            <a:ext cx="115854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SOURCE · 开源简史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1914525" y="351473"/>
            <a:ext cx="52578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EDITORIAL</a:t>
            </a:r>
            <a:endParaRPr lang="en-US" sz="495" dirty="0"/>
          </a:p>
        </p:txBody>
      </p:sp>
      <p:sp>
        <p:nvSpPr>
          <p:cNvPr id="21" name="Text 19"/>
          <p:cNvSpPr/>
          <p:nvPr/>
        </p:nvSpPr>
        <p:spPr>
          <a:xfrm>
            <a:off x="7016770" y="348615"/>
            <a:ext cx="104973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VOL.02 / CHAPTER 02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8091190" y="348615"/>
            <a:ext cx="60307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1991 → 2001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514350" y="331470"/>
            <a:ext cx="4114800" cy="2286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3500" b="1" spc="-36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3500" dirty="0"/>
          </a:p>
        </p:txBody>
      </p:sp>
      <p:sp>
        <p:nvSpPr>
          <p:cNvPr id="24" name="Text 22"/>
          <p:cNvSpPr/>
          <p:nvPr/>
        </p:nvSpPr>
        <p:spPr>
          <a:xfrm>
            <a:off x="1628775" y="2202061"/>
            <a:ext cx="1000125" cy="106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90" i="1" spc="45" kern="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CHAPTER</a:t>
            </a:r>
            <a:pPr algn="l" indent="0" marL="0">
              <a:lnSpc>
                <a:spcPct val="85000"/>
              </a:lnSpc>
              <a:buNone/>
            </a:pPr>
            <a:r>
              <a:rPr lang="en-US" sz="990" i="1" spc="45" kern="0" dirty="0">
                <a:solidFill>
                  <a:srgbClr val="D9D5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/06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2743200" y="971550"/>
            <a:ext cx="24003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6" name="Text 24"/>
          <p:cNvSpPr/>
          <p:nvPr/>
        </p:nvSpPr>
        <p:spPr>
          <a:xfrm>
            <a:off x="3051810" y="931545"/>
            <a:ext cx="109453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22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BAZAAR ERA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4097655" y="971550"/>
            <a:ext cx="24003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1131570"/>
            <a:ext cx="6592824" cy="477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9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第二章</a:t>
            </a:r>
            <a:pPr algn="l" indent="0" marL="0">
              <a:lnSpc>
                <a:spcPct val="102000"/>
              </a:lnSpc>
              <a:buNone/>
            </a:pPr>
            <a:r>
              <a:rPr lang="en-US" sz="369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pPr algn="l" indent="0" marL="0">
              <a:lnSpc>
                <a:spcPct val="102000"/>
              </a:lnSpc>
              <a:buNone/>
            </a:pPr>
            <a:r>
              <a:rPr lang="en-US" sz="369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集市时代</a:t>
            </a:r>
            <a:endParaRPr lang="en-US" sz="3690" dirty="0"/>
          </a:p>
        </p:txBody>
      </p:sp>
      <p:sp>
        <p:nvSpPr>
          <p:cNvPr id="29" name="Text 27"/>
          <p:cNvSpPr/>
          <p:nvPr/>
        </p:nvSpPr>
        <p:spPr>
          <a:xfrm>
            <a:off x="2743200" y="1643777"/>
            <a:ext cx="6592824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i="1" spc="45" kern="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Cathedral &amp; The Bazaar — 1991 and After</a:t>
            </a:r>
            <a:endParaRPr lang="en-US" sz="990" dirty="0"/>
          </a:p>
        </p:txBody>
      </p:sp>
      <p:sp>
        <p:nvSpPr>
          <p:cNvPr id="30" name="Shape 28"/>
          <p:cNvSpPr/>
          <p:nvPr/>
        </p:nvSpPr>
        <p:spPr>
          <a:xfrm>
            <a:off x="2743200" y="1940957"/>
            <a:ext cx="3657600" cy="46863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1940957"/>
            <a:ext cx="0" cy="468630"/>
          </a:xfrm>
          <a:prstGeom prst="line">
            <a:avLst/>
          </a:prstGeom>
          <a:noFill/>
          <a:ln w="17145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1940957"/>
            <a:ext cx="4096512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1991 之后</a:t>
            </a:r>
            <a:pPr algn="l" indent="0" marL="0">
              <a:lnSpc>
                <a:spcPct val="150000"/>
              </a:lnSpc>
              <a:buNone/>
            </a:pPr>
            <a:r>
              <a:rPr lang="en-US" sz="810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的 Linux、OSI 与商业化的博弈——一场从"大教堂"到"集市"的方法论转向，也在同一时间把慈善项目推上了公司化的快车道。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514350" y="2752487"/>
            <a:ext cx="2621220" cy="1189613"/>
          </a:xfrm>
          <a:prstGeom prst="rect">
            <a:avLst/>
          </a:prstGeom>
          <a:solidFill>
            <a:srgbClr val="FFFFFF"/>
          </a:solidFill>
          <a:ln w="5715">
            <a:solidFill>
              <a:srgbClr val="D9D5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4350" y="2752487"/>
            <a:ext cx="22860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5" name="Text 33"/>
          <p:cNvSpPr/>
          <p:nvPr/>
        </p:nvSpPr>
        <p:spPr>
          <a:xfrm>
            <a:off x="2952690" y="2838212"/>
            <a:ext cx="19202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i="1" dirty="0">
                <a:solidFill>
                  <a:srgbClr val="D9D5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645795" y="2872502"/>
            <a:ext cx="262890" cy="262890"/>
          </a:xfrm>
          <a:prstGeom prst="rect">
            <a:avLst/>
          </a:prstGeom>
          <a:solidFill>
            <a:srgbClr val="FBFAF7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945" y="2929652"/>
            <a:ext cx="148590" cy="14859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88695" y="2932509"/>
            <a:ext cx="91440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集市取代大教堂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45795" y="3203972"/>
            <a:ext cx="2358330" cy="5715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40" name="Text 37"/>
          <p:cNvSpPr/>
          <p:nvPr/>
        </p:nvSpPr>
        <p:spPr>
          <a:xfrm>
            <a:off x="645795" y="3278267"/>
            <a:ext cx="2641330" cy="381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Eric S. Raymond 在 1997 年命名这场方法论转向：</a:t>
            </a:r>
            <a:pPr algn="l" indent="0" marL="0">
              <a:lnSpc>
                <a:spcPct val="165000"/>
              </a:lnSpc>
              <a:buNone/>
            </a:pPr>
            <a:r>
              <a:rPr lang="en-US" sz="608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大教堂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是集中、层级、缓慢迭代；</a:t>
            </a:r>
            <a:pPr algn="l" indent="0" marL="0">
              <a:lnSpc>
                <a:spcPct val="165000"/>
              </a:lnSpc>
              <a:buNone/>
            </a:pPr>
            <a:r>
              <a:rPr lang="en-US" sz="608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集市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是分布式、公开、快速反馈——他论证后者的开发效率并不逊于前者。</a:t>
            </a:r>
            <a:endParaRPr lang="en-US" sz="608" dirty="0"/>
          </a:p>
        </p:txBody>
      </p:sp>
      <p:sp>
        <p:nvSpPr>
          <p:cNvPr id="41" name="Text 38"/>
          <p:cNvSpPr/>
          <p:nvPr/>
        </p:nvSpPr>
        <p:spPr>
          <a:xfrm>
            <a:off x="645795" y="3719215"/>
            <a:ext cx="2641330" cy="1143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METHODOLOGY · TURNING POINT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261300" y="2752487"/>
            <a:ext cx="2621310" cy="1189613"/>
          </a:xfrm>
          <a:prstGeom prst="rect">
            <a:avLst/>
          </a:prstGeom>
          <a:solidFill>
            <a:srgbClr val="FFFFFF"/>
          </a:solidFill>
          <a:ln w="5715">
            <a:solidFill>
              <a:srgbClr val="D9D5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61300" y="2752487"/>
            <a:ext cx="22860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4" name="Text 41"/>
          <p:cNvSpPr/>
          <p:nvPr/>
        </p:nvSpPr>
        <p:spPr>
          <a:xfrm>
            <a:off x="5688300" y="2838212"/>
            <a:ext cx="19202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i="1" dirty="0">
                <a:solidFill>
                  <a:srgbClr val="D9D5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630" dirty="0"/>
          </a:p>
        </p:txBody>
      </p:sp>
      <p:sp>
        <p:nvSpPr>
          <p:cNvPr id="45" name="Shape 42"/>
          <p:cNvSpPr/>
          <p:nvPr/>
        </p:nvSpPr>
        <p:spPr>
          <a:xfrm>
            <a:off x="3392745" y="2872502"/>
            <a:ext cx="262890" cy="262890"/>
          </a:xfrm>
          <a:prstGeom prst="rect">
            <a:avLst/>
          </a:prstGeom>
          <a:solidFill>
            <a:srgbClr val="FBFAF7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9895" y="2929652"/>
            <a:ext cx="148590" cy="14859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3735645" y="2932509"/>
            <a:ext cx="78867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Linux 的诞生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3392745" y="3203972"/>
            <a:ext cx="2358420" cy="5715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49" name="Text 45"/>
          <p:cNvSpPr/>
          <p:nvPr/>
        </p:nvSpPr>
        <p:spPr>
          <a:xfrm>
            <a:off x="3392745" y="3278267"/>
            <a:ext cx="2641430" cy="383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1991 年 8 月 25 日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，22 岁的 Linus Torvalds 在</a:t>
            </a:r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comp.os.minix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上发出那句著名的公开信：「我打算写一个免费的小 OS——有点像 MINIX，但没有那么大。」</a:t>
            </a:r>
            <a:endParaRPr lang="en-US" sz="608" dirty="0"/>
          </a:p>
        </p:txBody>
      </p:sp>
      <p:sp>
        <p:nvSpPr>
          <p:cNvPr id="50" name="Shape 46"/>
          <p:cNvSpPr/>
          <p:nvPr/>
        </p:nvSpPr>
        <p:spPr>
          <a:xfrm>
            <a:off x="5027235" y="3295412"/>
            <a:ext cx="568643" cy="9715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1" name="Text 47"/>
          <p:cNvSpPr/>
          <p:nvPr/>
        </p:nvSpPr>
        <p:spPr>
          <a:xfrm>
            <a:off x="5027235" y="3295412"/>
            <a:ext cx="640080" cy="97155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23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comp.os.minix</a:t>
            </a:r>
            <a:endParaRPr lang="en-US" sz="563" dirty="0"/>
          </a:p>
        </p:txBody>
      </p:sp>
      <p:sp>
        <p:nvSpPr>
          <p:cNvPr id="52" name="Text 48"/>
          <p:cNvSpPr/>
          <p:nvPr/>
        </p:nvSpPr>
        <p:spPr>
          <a:xfrm>
            <a:off x="3392745" y="3719215"/>
            <a:ext cx="2641430" cy="1143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AUG · 25 · 1991</a:t>
            </a:r>
            <a:endParaRPr lang="en-US" sz="450" dirty="0"/>
          </a:p>
        </p:txBody>
      </p:sp>
      <p:sp>
        <p:nvSpPr>
          <p:cNvPr id="53" name="Shape 49"/>
          <p:cNvSpPr/>
          <p:nvPr/>
        </p:nvSpPr>
        <p:spPr>
          <a:xfrm>
            <a:off x="6008340" y="2752487"/>
            <a:ext cx="2621220" cy="1189613"/>
          </a:xfrm>
          <a:prstGeom prst="rect">
            <a:avLst/>
          </a:prstGeom>
          <a:solidFill>
            <a:srgbClr val="FFFFFF"/>
          </a:solidFill>
          <a:ln w="5715">
            <a:solidFill>
              <a:srgbClr val="D9D5CC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008340" y="2752487"/>
            <a:ext cx="22860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5" name="Text 51"/>
          <p:cNvSpPr/>
          <p:nvPr/>
        </p:nvSpPr>
        <p:spPr>
          <a:xfrm>
            <a:off x="8435251" y="2838212"/>
            <a:ext cx="19202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i="1" dirty="0">
                <a:solidFill>
                  <a:srgbClr val="D9D5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630" dirty="0"/>
          </a:p>
        </p:txBody>
      </p:sp>
      <p:sp>
        <p:nvSpPr>
          <p:cNvPr id="56" name="Shape 52"/>
          <p:cNvSpPr/>
          <p:nvPr/>
        </p:nvSpPr>
        <p:spPr>
          <a:xfrm>
            <a:off x="6139785" y="2872502"/>
            <a:ext cx="262890" cy="262890"/>
          </a:xfrm>
          <a:prstGeom prst="rect">
            <a:avLst/>
          </a:prstGeom>
          <a:solidFill>
            <a:srgbClr val="FBFAF7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6935" y="2929652"/>
            <a:ext cx="148590" cy="14859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6482685" y="2932509"/>
            <a:ext cx="57150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本章阅读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6139785" y="3203972"/>
            <a:ext cx="2358330" cy="5715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60" name="Text 55"/>
          <p:cNvSpPr/>
          <p:nvPr/>
        </p:nvSpPr>
        <p:spPr>
          <a:xfrm>
            <a:off x="6139785" y="3278267"/>
            <a:ext cx="2641330" cy="381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608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《大教堂与集市》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E. S. Raymond，1998 首版 ·</a:t>
            </a:r>
            <a:pPr algn="l" indent="0" marL="0">
              <a:lnSpc>
                <a:spcPct val="165000"/>
              </a:lnSpc>
              <a:buNone/>
            </a:pPr>
            <a:endParaRPr lang="en-US" sz="60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608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《Linux 内幕》第三版</a:t>
            </a:r>
            <a:pPr algn="l" indent="0" marL="0">
              <a:lnSpc>
                <a:spcPct val="165000"/>
              </a:lnSpc>
              <a:buNone/>
            </a:pPr>
            <a:r>
              <a:rPr lang="en-US" sz="608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Daniel J. Evans，2000；两本书并置，读懂方法论与工程细节的双重视角。</a:t>
            </a:r>
            <a:endParaRPr lang="en-US" sz="608" dirty="0"/>
          </a:p>
        </p:txBody>
      </p:sp>
      <p:sp>
        <p:nvSpPr>
          <p:cNvPr id="61" name="Text 56"/>
          <p:cNvSpPr/>
          <p:nvPr/>
        </p:nvSpPr>
        <p:spPr>
          <a:xfrm>
            <a:off x="6139785" y="3719215"/>
            <a:ext cx="2641330" cy="1143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FURTHER READING</a:t>
            </a:r>
            <a:endParaRPr lang="en-US" sz="450" dirty="0"/>
          </a:p>
        </p:txBody>
      </p:sp>
      <p:sp>
        <p:nvSpPr>
          <p:cNvPr id="62" name="Shape 57"/>
          <p:cNvSpPr/>
          <p:nvPr/>
        </p:nvSpPr>
        <p:spPr>
          <a:xfrm>
            <a:off x="514350" y="4056400"/>
            <a:ext cx="8115300" cy="211455"/>
          </a:xfrm>
          <a:prstGeom prst="rect">
            <a:avLst/>
          </a:prstGeom>
          <a:noFill/>
          <a:ln/>
        </p:spPr>
      </p:sp>
      <p:sp>
        <p:nvSpPr>
          <p:cNvPr id="63" name="Shape 58"/>
          <p:cNvSpPr/>
          <p:nvPr/>
        </p:nvSpPr>
        <p:spPr>
          <a:xfrm>
            <a:off x="514350" y="4056400"/>
            <a:ext cx="8115300" cy="0"/>
          </a:xfrm>
          <a:prstGeom prst="line">
            <a:avLst/>
          </a:prstGeom>
          <a:noFill/>
          <a:ln w="5715">
            <a:solidFill>
              <a:srgbClr val="D9D5CC"/>
            </a:solidFill>
            <a:prstDash val="dash"/>
          </a:ln>
        </p:spPr>
      </p:sp>
      <p:sp>
        <p:nvSpPr>
          <p:cNvPr id="64" name="Shape 59"/>
          <p:cNvSpPr/>
          <p:nvPr/>
        </p:nvSpPr>
        <p:spPr>
          <a:xfrm>
            <a:off x="514350" y="4267855"/>
            <a:ext cx="8115300" cy="0"/>
          </a:xfrm>
          <a:prstGeom prst="line">
            <a:avLst/>
          </a:prstGeom>
          <a:noFill/>
          <a:ln w="5715">
            <a:solidFill>
              <a:srgbClr val="D9D5CC"/>
            </a:solidFill>
            <a:prstDash val="dash"/>
          </a:ln>
        </p:spPr>
      </p:sp>
      <p:sp>
        <p:nvSpPr>
          <p:cNvPr id="65" name="Text 60"/>
          <p:cNvSpPr/>
          <p:nvPr/>
        </p:nvSpPr>
        <p:spPr>
          <a:xfrm>
            <a:off x="514350" y="4119265"/>
            <a:ext cx="131856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23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POSTED BY</a:t>
            </a:r>
            <a:endParaRPr lang="en-US" sz="540" dirty="0"/>
          </a:p>
          <a:p>
            <a:pPr algn="l" indent="0" marL="0">
              <a:buNone/>
            </a:pPr>
            <a:r>
              <a:rPr lang="en-US" sz="540" spc="23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torvalds@cs.helsinki.fi</a:t>
            </a:r>
            <a:endParaRPr lang="en-US" sz="540" dirty="0"/>
          </a:p>
        </p:txBody>
      </p:sp>
      <p:sp>
        <p:nvSpPr>
          <p:cNvPr id="66" name="Text 61"/>
          <p:cNvSpPr/>
          <p:nvPr/>
        </p:nvSpPr>
        <p:spPr>
          <a:xfrm>
            <a:off x="3142268" y="4119265"/>
            <a:ext cx="107853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23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NEWGROUP</a:t>
            </a:r>
            <a:endParaRPr lang="en-US" sz="540" dirty="0"/>
          </a:p>
          <a:p>
            <a:pPr algn="l" indent="0" marL="0">
              <a:buNone/>
            </a:pPr>
            <a:r>
              <a:rPr lang="en-US" sz="540" spc="23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comp.os.minix</a:t>
            </a:r>
            <a:endParaRPr lang="en-US" sz="540" dirty="0"/>
          </a:p>
        </p:txBody>
      </p:sp>
      <p:sp>
        <p:nvSpPr>
          <p:cNvPr id="67" name="Text 62"/>
          <p:cNvSpPr/>
          <p:nvPr/>
        </p:nvSpPr>
        <p:spPr>
          <a:xfrm>
            <a:off x="5555962" y="4119265"/>
            <a:ext cx="1091336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23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SUBJECT</a:t>
            </a:r>
            <a:endParaRPr lang="en-US" sz="540" dirty="0"/>
          </a:p>
          <a:p>
            <a:pPr algn="l" indent="0" marL="0">
              <a:buNone/>
            </a:pPr>
            <a:r>
              <a:rPr lang="en-US" sz="540" spc="23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Anyone into minix?</a:t>
            </a:r>
            <a:endParaRPr lang="en-US" sz="540" dirty="0"/>
          </a:p>
        </p:txBody>
      </p:sp>
      <p:sp>
        <p:nvSpPr>
          <p:cNvPr id="68" name="Text 63"/>
          <p:cNvSpPr/>
          <p:nvPr/>
        </p:nvSpPr>
        <p:spPr>
          <a:xfrm>
            <a:off x="7980998" y="4119265"/>
            <a:ext cx="726491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spc="23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</a:t>
            </a:r>
            <a:endParaRPr lang="en-US" sz="540" dirty="0"/>
          </a:p>
          <a:p>
            <a:pPr algn="l" indent="0" marL="0">
              <a:buNone/>
            </a:pPr>
            <a:r>
              <a:rPr lang="en-US" sz="540" spc="23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 Aug 1991</a:t>
            </a:r>
            <a:endParaRPr lang="en-US" sz="540" dirty="0"/>
          </a:p>
        </p:txBody>
      </p:sp>
      <p:sp>
        <p:nvSpPr>
          <p:cNvPr id="69" name="Shape 64"/>
          <p:cNvSpPr/>
          <p:nvPr/>
        </p:nvSpPr>
        <p:spPr>
          <a:xfrm>
            <a:off x="514350" y="4373404"/>
            <a:ext cx="8115300" cy="427196"/>
          </a:xfrm>
          <a:prstGeom prst="rect">
            <a:avLst/>
          </a:prstGeom>
          <a:noFill/>
          <a:ln/>
        </p:spPr>
      </p:sp>
      <p:sp>
        <p:nvSpPr>
          <p:cNvPr id="70" name="Shape 65"/>
          <p:cNvSpPr/>
          <p:nvPr/>
        </p:nvSpPr>
        <p:spPr>
          <a:xfrm>
            <a:off x="514350" y="4373404"/>
            <a:ext cx="811530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14350" y="4510564"/>
            <a:ext cx="662940" cy="238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i="1" spc="23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Epilogue</a:t>
            </a:r>
            <a:pPr algn="l" indent="0" marL="0">
              <a:lnSpc>
                <a:spcPct val="140000"/>
              </a:lnSpc>
              <a:buNone/>
            </a:pPr>
            <a:r>
              <a:rPr lang="en-US" sz="495" i="1" spc="23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1991 → 2001</a:t>
            </a:r>
            <a:endParaRPr lang="en-US" sz="720" dirty="0"/>
          </a:p>
        </p:txBody>
      </p:sp>
      <p:sp>
        <p:nvSpPr>
          <p:cNvPr id="72" name="Text 67"/>
          <p:cNvSpPr/>
          <p:nvPr/>
        </p:nvSpPr>
        <p:spPr>
          <a:xfrm>
            <a:off x="1234440" y="4510564"/>
            <a:ext cx="8282635" cy="29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第二章把镜头切换到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1991 之后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的世界——一个芬兰大学生的邮件列表，如何在十年内变成全球最成功的操作系统内核。方法论上，从集中大教堂走向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开放集市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；商业上，从慈善转向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双许可与公司化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A2A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。</a:t>
            </a:r>
            <a:endParaRPr lang="en-US" sz="65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82880"/>
            <a:ext cx="10034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73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 ·  影响力特辑</a:t>
            </a:r>
            <a:endParaRPr lang="en-US" sz="540" dirty="0"/>
          </a:p>
        </p:txBody>
      </p:sp>
      <p:sp>
        <p:nvSpPr>
          <p:cNvPr id="3" name="Text 1"/>
          <p:cNvSpPr/>
          <p:nvPr/>
        </p:nvSpPr>
        <p:spPr>
          <a:xfrm>
            <a:off x="7561124" y="182880"/>
            <a:ext cx="138877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113" kern="0" dirty="0">
                <a:solidFill>
                  <a:srgbClr val="880E4F">
                    <a:alpha val="5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The Silent Backbone —</a:t>
            </a:r>
            <a:endParaRPr lang="en-US" sz="630" dirty="0"/>
          </a:p>
        </p:txBody>
      </p:sp>
      <p:sp>
        <p:nvSpPr>
          <p:cNvPr id="4" name="Shape 2"/>
          <p:cNvSpPr/>
          <p:nvPr/>
        </p:nvSpPr>
        <p:spPr>
          <a:xfrm>
            <a:off x="342900" y="342900"/>
            <a:ext cx="845820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4943475"/>
            <a:ext cx="8458200" cy="571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4783455"/>
            <a:ext cx="89771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76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No. 03 / Influence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768917" y="4806315"/>
            <a:ext cx="11560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· A DATA STORY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342900" y="400050"/>
            <a:ext cx="25146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" y="365760"/>
            <a:ext cx="14962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84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· BY THE NUMBERS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342900" y="508635"/>
            <a:ext cx="9473184" cy="37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80" b="1" spc="-29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Linux：</a:t>
            </a:r>
            <a:pPr algn="l" indent="0" marL="0">
              <a:lnSpc>
                <a:spcPct val="102000"/>
              </a:lnSpc>
              <a:buNone/>
            </a:pPr>
            <a:r>
              <a:rPr lang="en-US" sz="2880" b="1" i="1" spc="-29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数据</a:t>
            </a:r>
            <a:pPr algn="l" indent="0" marL="0">
              <a:lnSpc>
                <a:spcPct val="102000"/>
              </a:lnSpc>
              <a:buNone/>
            </a:pPr>
            <a:r>
              <a:rPr lang="en-US" sz="2880" b="1" spc="-29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看影响力</a:t>
            </a:r>
            <a:endParaRPr lang="en-US" sz="2880" dirty="0"/>
          </a:p>
        </p:txBody>
      </p:sp>
      <p:sp>
        <p:nvSpPr>
          <p:cNvPr id="11" name="Text 9"/>
          <p:cNvSpPr/>
          <p:nvPr/>
        </p:nvSpPr>
        <p:spPr>
          <a:xfrm>
            <a:off x="342900" y="961638"/>
            <a:ext cx="70408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它</a:t>
            </a:r>
            <a:pPr algn="l" indent="0" marL="0">
              <a:lnSpc>
                <a:spcPct val="140000"/>
              </a:lnSpc>
              <a:buNone/>
            </a:pPr>
            <a:r>
              <a:rPr lang="en-US" sz="900" b="1" i="1" dirty="0">
                <a:solidFill>
                  <a:srgbClr val="000000">
                    <a:alpha val="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几乎支撑了互联网上所有计算</a:t>
            </a:r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，却几乎从不署名——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1638"/>
            <a:ext cx="1485900" cy="17145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57200" y="1133088"/>
            <a:ext cx="1485900" cy="0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61638"/>
            <a:ext cx="1664208" cy="171450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几乎支撑了互联网上所有计算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" y="1281678"/>
            <a:ext cx="4177665" cy="112014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19050" dir="16200000">
              <a:srgbClr val="0D2137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06738" y="1367403"/>
            <a:ext cx="57382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101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 / Cloud</a:t>
            </a:r>
            <a:endParaRPr lang="en-US" sz="63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0" y="1847463"/>
            <a:ext cx="6858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5775" y="1401693"/>
            <a:ext cx="43589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云基础设施</a:t>
            </a:r>
            <a:endParaRPr lang="en-US" sz="495" dirty="0"/>
          </a:p>
        </p:txBody>
      </p:sp>
      <p:sp>
        <p:nvSpPr>
          <p:cNvPr id="19" name="Shape 16"/>
          <p:cNvSpPr/>
          <p:nvPr/>
        </p:nvSpPr>
        <p:spPr>
          <a:xfrm>
            <a:off x="485775" y="1527423"/>
            <a:ext cx="18288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" y="1487418"/>
            <a:ext cx="1316736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20" b="1" spc="-1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96</a:t>
            </a:r>
            <a:endParaRPr lang="en-US" sz="4320" dirty="0"/>
          </a:p>
        </p:txBody>
      </p:sp>
      <p:sp>
        <p:nvSpPr>
          <p:cNvPr id="21" name="Text 18"/>
          <p:cNvSpPr/>
          <p:nvPr/>
        </p:nvSpPr>
        <p:spPr>
          <a:xfrm>
            <a:off x="1150858" y="1858893"/>
            <a:ext cx="493776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i="1" spc="-14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%+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485775" y="2162860"/>
            <a:ext cx="4358945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全球公有云基础设施中，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是绝对底座</a:t>
            </a:r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——AWS、Azure、GCP 的主力节点无一例外。</a:t>
            </a:r>
            <a:endParaRPr lang="en-US" sz="675" dirty="0"/>
          </a:p>
        </p:txBody>
      </p:sp>
      <p:sp>
        <p:nvSpPr>
          <p:cNvPr id="23" name="Shape 20"/>
          <p:cNvSpPr/>
          <p:nvPr/>
        </p:nvSpPr>
        <p:spPr>
          <a:xfrm>
            <a:off x="485775" y="2344311"/>
            <a:ext cx="3891915" cy="139392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485775" y="2344311"/>
            <a:ext cx="3891915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485775" y="2344311"/>
            <a:ext cx="4358945" cy="13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b="1" i="1" spc="3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</a:t>
            </a:r>
            <a:pPr algn="l" indent="0" marL="0">
              <a:lnSpc>
                <a:spcPct val="140000"/>
              </a:lnSpc>
              <a:buNone/>
            </a:pPr>
            <a:r>
              <a:rPr lang="en-US" sz="495" spc="3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Gartner, Public Cloud Infrastructure Forecast, 2023</a:t>
            </a:r>
            <a:endParaRPr lang="en-US" sz="495" dirty="0"/>
          </a:p>
        </p:txBody>
      </p:sp>
      <p:sp>
        <p:nvSpPr>
          <p:cNvPr id="26" name="Shape 23"/>
          <p:cNvSpPr/>
          <p:nvPr/>
        </p:nvSpPr>
        <p:spPr>
          <a:xfrm>
            <a:off x="4623435" y="1281678"/>
            <a:ext cx="4177665" cy="112014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19050" dir="16200000">
              <a:srgbClr val="0D2137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140214" y="1367403"/>
            <a:ext cx="62088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101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 / Mobile</a:t>
            </a:r>
            <a:endParaRPr lang="en-US" sz="63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1035" y="1676013"/>
            <a:ext cx="400050" cy="6286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766310" y="1401693"/>
            <a:ext cx="43589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ANDROID 装机量</a:t>
            </a:r>
            <a:endParaRPr lang="en-US" sz="495" dirty="0"/>
          </a:p>
        </p:txBody>
      </p:sp>
      <p:sp>
        <p:nvSpPr>
          <p:cNvPr id="30" name="Shape 26"/>
          <p:cNvSpPr/>
          <p:nvPr/>
        </p:nvSpPr>
        <p:spPr>
          <a:xfrm>
            <a:off x="4766310" y="1527423"/>
            <a:ext cx="18288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1" name="Text 27"/>
          <p:cNvSpPr/>
          <p:nvPr/>
        </p:nvSpPr>
        <p:spPr>
          <a:xfrm>
            <a:off x="4766310" y="1487418"/>
            <a:ext cx="1316736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20" b="1" spc="-1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</a:t>
            </a:r>
            <a:endParaRPr lang="en-US" sz="4320" dirty="0"/>
          </a:p>
        </p:txBody>
      </p:sp>
      <p:sp>
        <p:nvSpPr>
          <p:cNvPr id="32" name="Text 28"/>
          <p:cNvSpPr/>
          <p:nvPr/>
        </p:nvSpPr>
        <p:spPr>
          <a:xfrm>
            <a:off x="5437108" y="1858893"/>
            <a:ext cx="527923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i="1" spc="-14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亿+</a:t>
            </a:r>
            <a:endParaRPr lang="en-US" sz="1620" dirty="0"/>
          </a:p>
        </p:txBody>
      </p:sp>
      <p:sp>
        <p:nvSpPr>
          <p:cNvPr id="33" name="Text 29"/>
          <p:cNvSpPr/>
          <p:nvPr/>
        </p:nvSpPr>
        <p:spPr>
          <a:xfrm>
            <a:off x="4766310" y="2162860"/>
            <a:ext cx="4358945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 Android 设备均运行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内核</a:t>
            </a:r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——每 3 人中就有 2 台 Linux 在你口袋里。</a:t>
            </a:r>
            <a:endParaRPr lang="en-US" sz="675" dirty="0"/>
          </a:p>
        </p:txBody>
      </p:sp>
      <p:sp>
        <p:nvSpPr>
          <p:cNvPr id="34" name="Shape 30"/>
          <p:cNvSpPr/>
          <p:nvPr/>
        </p:nvSpPr>
        <p:spPr>
          <a:xfrm>
            <a:off x="4766310" y="2344311"/>
            <a:ext cx="3891915" cy="139392"/>
          </a:xfrm>
          <a:prstGeom prst="rect">
            <a:avLst/>
          </a:prstGeom>
          <a:noFill/>
          <a:ln/>
        </p:spPr>
      </p:sp>
      <p:sp>
        <p:nvSpPr>
          <p:cNvPr id="35" name="Shape 31"/>
          <p:cNvSpPr/>
          <p:nvPr/>
        </p:nvSpPr>
        <p:spPr>
          <a:xfrm>
            <a:off x="4766310" y="2344311"/>
            <a:ext cx="3891915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4766310" y="2344311"/>
            <a:ext cx="4358945" cy="13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b="1" i="1" spc="3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</a:t>
            </a:r>
            <a:pPr algn="l" indent="0" marL="0">
              <a:lnSpc>
                <a:spcPct val="140000"/>
              </a:lnSpc>
              <a:buNone/>
            </a:pPr>
            <a:r>
              <a:rPr lang="en-US" sz="495" spc="3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StatCounter / Counterpoint, Mobile OS Market, 2024</a:t>
            </a:r>
            <a:endParaRPr lang="en-US" sz="495" dirty="0"/>
          </a:p>
        </p:txBody>
      </p:sp>
      <p:sp>
        <p:nvSpPr>
          <p:cNvPr id="37" name="Shape 33"/>
          <p:cNvSpPr/>
          <p:nvPr/>
        </p:nvSpPr>
        <p:spPr>
          <a:xfrm>
            <a:off x="342900" y="2504688"/>
            <a:ext cx="4177665" cy="112014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19050" dir="16200000">
              <a:srgbClr val="0D2137">
                <a:alpha val="6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3966656" y="2590413"/>
            <a:ext cx="51390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101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 / HPC</a:t>
            </a:r>
            <a:endParaRPr lang="en-US" sz="63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1900" y="2956173"/>
            <a:ext cx="628650" cy="5715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85775" y="2624703"/>
            <a:ext cx="43589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TOP500 超算</a:t>
            </a:r>
            <a:endParaRPr lang="en-US" sz="495" dirty="0"/>
          </a:p>
        </p:txBody>
      </p:sp>
      <p:sp>
        <p:nvSpPr>
          <p:cNvPr id="41" name="Shape 36"/>
          <p:cNvSpPr/>
          <p:nvPr/>
        </p:nvSpPr>
        <p:spPr>
          <a:xfrm>
            <a:off x="485775" y="2750433"/>
            <a:ext cx="18288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2" name="Text 37"/>
          <p:cNvSpPr/>
          <p:nvPr/>
        </p:nvSpPr>
        <p:spPr>
          <a:xfrm>
            <a:off x="485775" y="2710428"/>
            <a:ext cx="1700784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20" b="1" spc="-1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</a:t>
            </a:r>
            <a:endParaRPr lang="en-US" sz="4320" dirty="0"/>
          </a:p>
        </p:txBody>
      </p:sp>
      <p:sp>
        <p:nvSpPr>
          <p:cNvPr id="43" name="Text 38"/>
          <p:cNvSpPr/>
          <p:nvPr/>
        </p:nvSpPr>
        <p:spPr>
          <a:xfrm>
            <a:off x="1463308" y="3081903"/>
            <a:ext cx="36397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i="1" spc="-14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</a:t>
            </a:r>
            <a:endParaRPr lang="en-US" sz="1620" dirty="0"/>
          </a:p>
        </p:txBody>
      </p:sp>
      <p:sp>
        <p:nvSpPr>
          <p:cNvPr id="44" name="Text 39"/>
          <p:cNvSpPr/>
          <p:nvPr/>
        </p:nvSpPr>
        <p:spPr>
          <a:xfrm>
            <a:off x="485775" y="3385870"/>
            <a:ext cx="4358945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500 超级计算机全部运行 Linux</a:t>
            </a:r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，前 10 名无一例外——算力之巅只有它。</a:t>
            </a:r>
            <a:endParaRPr lang="en-US" sz="675" dirty="0"/>
          </a:p>
        </p:txBody>
      </p:sp>
      <p:sp>
        <p:nvSpPr>
          <p:cNvPr id="45" name="Shape 40"/>
          <p:cNvSpPr/>
          <p:nvPr/>
        </p:nvSpPr>
        <p:spPr>
          <a:xfrm>
            <a:off x="485775" y="3567321"/>
            <a:ext cx="3891915" cy="139392"/>
          </a:xfrm>
          <a:prstGeom prst="rect">
            <a:avLst/>
          </a:prstGeom>
          <a:noFill/>
          <a:ln/>
        </p:spPr>
      </p:sp>
      <p:sp>
        <p:nvSpPr>
          <p:cNvPr id="46" name="Shape 41"/>
          <p:cNvSpPr/>
          <p:nvPr/>
        </p:nvSpPr>
        <p:spPr>
          <a:xfrm>
            <a:off x="485775" y="3567321"/>
            <a:ext cx="3891915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dash"/>
          </a:ln>
        </p:spPr>
      </p:sp>
      <p:sp>
        <p:nvSpPr>
          <p:cNvPr id="47" name="Text 42"/>
          <p:cNvSpPr/>
          <p:nvPr/>
        </p:nvSpPr>
        <p:spPr>
          <a:xfrm>
            <a:off x="485775" y="3567321"/>
            <a:ext cx="4358945" cy="13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b="1" i="1" spc="3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</a:t>
            </a:r>
            <a:pPr algn="l" indent="0" marL="0">
              <a:lnSpc>
                <a:spcPct val="140000"/>
              </a:lnSpc>
              <a:buNone/>
            </a:pPr>
            <a:r>
              <a:rPr lang="en-US" sz="495" spc="3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TOP500 List, June 2024 · Linux Foundation</a:t>
            </a:r>
            <a:endParaRPr lang="en-US" sz="495" dirty="0"/>
          </a:p>
        </p:txBody>
      </p:sp>
      <p:sp>
        <p:nvSpPr>
          <p:cNvPr id="48" name="Shape 43"/>
          <p:cNvSpPr/>
          <p:nvPr/>
        </p:nvSpPr>
        <p:spPr>
          <a:xfrm>
            <a:off x="4623435" y="2504688"/>
            <a:ext cx="4177665" cy="112014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19050" dir="16200000">
              <a:srgbClr val="0D2137">
                <a:alpha val="6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8222903" y="2590413"/>
            <a:ext cx="53819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101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 / Code</a:t>
            </a:r>
            <a:endParaRPr lang="en-US" sz="63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5285" y="3013323"/>
            <a:ext cx="685800" cy="51435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766310" y="2624703"/>
            <a:ext cx="43589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内核贡献者</a:t>
            </a:r>
            <a:endParaRPr lang="en-US" sz="495" dirty="0"/>
          </a:p>
        </p:txBody>
      </p:sp>
      <p:sp>
        <p:nvSpPr>
          <p:cNvPr id="52" name="Shape 46"/>
          <p:cNvSpPr/>
          <p:nvPr/>
        </p:nvSpPr>
        <p:spPr>
          <a:xfrm>
            <a:off x="4766310" y="2750433"/>
            <a:ext cx="182880" cy="114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3" name="Text 47"/>
          <p:cNvSpPr/>
          <p:nvPr/>
        </p:nvSpPr>
        <p:spPr>
          <a:xfrm>
            <a:off x="4766310" y="2710428"/>
            <a:ext cx="932688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20" b="1" spc="-14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4320" dirty="0"/>
          </a:p>
        </p:txBody>
      </p:sp>
      <p:sp>
        <p:nvSpPr>
          <p:cNvPr id="54" name="Text 48"/>
          <p:cNvSpPr/>
          <p:nvPr/>
        </p:nvSpPr>
        <p:spPr>
          <a:xfrm>
            <a:off x="5090279" y="3081903"/>
            <a:ext cx="527923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i="1" spc="-14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万+</a:t>
            </a:r>
            <a:endParaRPr lang="en-US" sz="1620" dirty="0"/>
          </a:p>
        </p:txBody>
      </p:sp>
      <p:sp>
        <p:nvSpPr>
          <p:cNvPr id="55" name="Text 49"/>
          <p:cNvSpPr/>
          <p:nvPr/>
        </p:nvSpPr>
        <p:spPr>
          <a:xfrm>
            <a:off x="4766310" y="3385870"/>
            <a:ext cx="4358945" cy="124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累计开发者约</a:t>
            </a:r>
            <a:pPr algn="l" indent="0" marL="0">
              <a:lnSpc>
                <a:spcPct val="145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3000 万行 C 代码</a:t>
            </a:r>
            <a:pPr algn="l" indent="0" marL="0">
              <a:lnSpc>
                <a:spcPct val="14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——三十年众包协作，一部开放世界的操作系统史诗。</a:t>
            </a:r>
            <a:endParaRPr lang="en-US" sz="675" dirty="0"/>
          </a:p>
        </p:txBody>
      </p:sp>
      <p:sp>
        <p:nvSpPr>
          <p:cNvPr id="56" name="Shape 50"/>
          <p:cNvSpPr/>
          <p:nvPr/>
        </p:nvSpPr>
        <p:spPr>
          <a:xfrm>
            <a:off x="4766310" y="3567321"/>
            <a:ext cx="3891915" cy="139392"/>
          </a:xfrm>
          <a:prstGeom prst="rect">
            <a:avLst/>
          </a:prstGeom>
          <a:noFill/>
          <a:ln/>
        </p:spPr>
      </p:sp>
      <p:sp>
        <p:nvSpPr>
          <p:cNvPr id="57" name="Shape 51"/>
          <p:cNvSpPr/>
          <p:nvPr/>
        </p:nvSpPr>
        <p:spPr>
          <a:xfrm>
            <a:off x="4766310" y="3567321"/>
            <a:ext cx="3891915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dash"/>
          </a:ln>
        </p:spPr>
      </p:sp>
      <p:sp>
        <p:nvSpPr>
          <p:cNvPr id="58" name="Text 52"/>
          <p:cNvSpPr/>
          <p:nvPr/>
        </p:nvSpPr>
        <p:spPr>
          <a:xfrm>
            <a:off x="4766310" y="3567321"/>
            <a:ext cx="4358945" cy="13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b="1" i="1" spc="3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</a:t>
            </a:r>
            <a:pPr algn="l" indent="0" marL="0">
              <a:lnSpc>
                <a:spcPct val="140000"/>
              </a:lnSpc>
              <a:buNone/>
            </a:pPr>
            <a:r>
              <a:rPr lang="en-US" sz="495" spc="30" kern="0" dirty="0">
                <a:solidFill>
                  <a:srgbClr val="6B6B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Hub / kernel.org, Historical Contributors, 1991–2024</a:t>
            </a:r>
            <a:endParaRPr lang="en-US" sz="495" dirty="0"/>
          </a:p>
        </p:txBody>
      </p:sp>
      <p:sp>
        <p:nvSpPr>
          <p:cNvPr id="59" name="Shape 53"/>
          <p:cNvSpPr/>
          <p:nvPr/>
        </p:nvSpPr>
        <p:spPr>
          <a:xfrm>
            <a:off x="342900" y="3727698"/>
            <a:ext cx="8458200" cy="580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0" name="Text 54"/>
          <p:cNvSpPr/>
          <p:nvPr/>
        </p:nvSpPr>
        <p:spPr>
          <a:xfrm>
            <a:off x="502920" y="3819138"/>
            <a:ext cx="1555394" cy="397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i="1" spc="20" kern="0" dirty="0">
                <a:solidFill>
                  <a:srgbClr val="000000">
                    <a:alpha val="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1991·09·17</a:t>
            </a:r>
            <a:pPr algn="l" indent="0" marL="0">
              <a:lnSpc>
                <a:spcPct val="110000"/>
              </a:lnSpc>
              <a:buNone/>
            </a:pPr>
            <a:endParaRPr lang="en-US" sz="99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90" i="1" spc="2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Linux 0.01</a:t>
            </a:r>
            <a:pPr algn="l" indent="0" marL="0">
              <a:lnSpc>
                <a:spcPct val="110000"/>
              </a:lnSpc>
              <a:buNone/>
            </a:pPr>
            <a:r>
              <a:rPr lang="en-US" sz="540" b="1" i="1" spc="20" kern="0" dirty="0">
                <a:solidFill>
                  <a:srgbClr val="FFFFFF">
                    <a:alpha val="6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PUBLIC ANNOUNCEMENT</a:t>
            </a:r>
            <a:endParaRPr lang="en-US" sz="990" dirty="0"/>
          </a:p>
        </p:txBody>
      </p:sp>
      <p:sp>
        <p:nvSpPr>
          <p:cNvPr id="61" name="Shape 55"/>
          <p:cNvSpPr/>
          <p:nvPr/>
        </p:nvSpPr>
        <p:spPr>
          <a:xfrm>
            <a:off x="502920" y="3819138"/>
            <a:ext cx="708660" cy="161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6"/>
          <p:cNvSpPr/>
          <p:nvPr/>
        </p:nvSpPr>
        <p:spPr>
          <a:xfrm>
            <a:off x="502920" y="3819138"/>
            <a:ext cx="834390" cy="161092"/>
          </a:xfrm>
          <a:prstGeom prst="rect">
            <a:avLst/>
          </a:prstGeom>
          <a:noFill/>
          <a:ln/>
        </p:spPr>
        <p:txBody>
          <a:bodyPr wrap="none" lIns="11430" tIns="57150" rIns="57150" bIns="1143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1991·09·17</a:t>
            </a:r>
            <a:endParaRPr lang="en-US" sz="990" dirty="0"/>
          </a:p>
        </p:txBody>
      </p:sp>
      <p:sp>
        <p:nvSpPr>
          <p:cNvPr id="63" name="Shape 57"/>
          <p:cNvSpPr/>
          <p:nvPr/>
        </p:nvSpPr>
        <p:spPr>
          <a:xfrm>
            <a:off x="2040255" y="3869323"/>
            <a:ext cx="5715" cy="2971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4" name="Shape 58"/>
          <p:cNvSpPr/>
          <p:nvPr/>
        </p:nvSpPr>
        <p:spPr>
          <a:xfrm>
            <a:off x="2194560" y="3866465"/>
            <a:ext cx="57150" cy="5715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65" name="Text 59"/>
          <p:cNvSpPr/>
          <p:nvPr/>
        </p:nvSpPr>
        <p:spPr>
          <a:xfrm>
            <a:off x="2320290" y="3820745"/>
            <a:ext cx="3299612" cy="39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Linus Torvalds 在 comp.os.minix 上发出公告：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F5C7D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"I'm doing a (free) operating system — just a hobby, won't be big and serious"</a:t>
            </a:r>
            <a:pPr algn="l" indent="0" marL="0">
              <a:lnSpc>
                <a:spcPct val="150000"/>
              </a:lnSpc>
              <a:buNone/>
            </a:pPr>
            <a:endParaRPr lang="en-US" sz="63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FFFFFF">
                    <a:alpha val="72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一句玩笑话，开启了互联网时代最庞大的开源项目。 </a:t>
            </a:r>
            <a:endParaRPr lang="en-US" sz="630" dirty="0"/>
          </a:p>
        </p:txBody>
      </p:sp>
      <p:sp>
        <p:nvSpPr>
          <p:cNvPr id="66" name="Shape 60"/>
          <p:cNvSpPr/>
          <p:nvPr/>
        </p:nvSpPr>
        <p:spPr>
          <a:xfrm>
            <a:off x="5414963" y="3869323"/>
            <a:ext cx="5715" cy="2971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7" name="Shape 61"/>
          <p:cNvSpPr/>
          <p:nvPr/>
        </p:nvSpPr>
        <p:spPr>
          <a:xfrm>
            <a:off x="5569268" y="3935045"/>
            <a:ext cx="57150" cy="5715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68" name="Text 62"/>
          <p:cNvSpPr/>
          <p:nvPr/>
        </p:nvSpPr>
        <p:spPr>
          <a:xfrm>
            <a:off x="5694998" y="3889325"/>
            <a:ext cx="3299612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000000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100+</a:t>
            </a:r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主流发行版超过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F5C7D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一百个</a:t>
            </a:r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F5C7D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Debian</a:t>
            </a:r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与</a:t>
            </a:r>
            <a:pPr algn="l" indent="0" marL="0">
              <a:lnSpc>
                <a:spcPct val="150000"/>
              </a:lnSpc>
              <a:buNone/>
            </a:pPr>
            <a:r>
              <a:rPr lang="en-US" sz="720" b="1" i="1" dirty="0">
                <a:solidFill>
                  <a:srgbClr val="F5C7D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RHEL</a:t>
            </a:r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（Red Hat）两大分支占据生态主力，衍生出 Ubuntu、Fedora、openSUSE 等主流家族。</a:t>
            </a:r>
            <a:endParaRPr lang="en-US" sz="630" dirty="0"/>
          </a:p>
        </p:txBody>
      </p:sp>
      <p:sp>
        <p:nvSpPr>
          <p:cNvPr id="69" name="Shape 63"/>
          <p:cNvSpPr/>
          <p:nvPr/>
        </p:nvSpPr>
        <p:spPr>
          <a:xfrm>
            <a:off x="5694998" y="3917900"/>
            <a:ext cx="274320" cy="10858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0" name="Text 64"/>
          <p:cNvSpPr/>
          <p:nvPr/>
        </p:nvSpPr>
        <p:spPr>
          <a:xfrm>
            <a:off x="5694998" y="3917900"/>
            <a:ext cx="331470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spc="9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100+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Shape 1"/>
          <p:cNvSpPr/>
          <p:nvPr/>
        </p:nvSpPr>
        <p:spPr>
          <a:xfrm>
            <a:off x="8343900" y="228600"/>
            <a:ext cx="457200" cy="457200"/>
          </a:xfrm>
          <a:prstGeom prst="rect">
            <a:avLst/>
          </a:prstGeom>
          <a:noFill/>
          <a:ln w="571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" y="251460"/>
            <a:ext cx="337962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b="1" spc="18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EDITORIAL · ISSUE 12 · 定义与边界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388620" y="422910"/>
            <a:ext cx="3451860" cy="4343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2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OSI 与开源定义</a:t>
            </a:r>
            <a:endParaRPr lang="en-US" sz="3420" dirty="0"/>
          </a:p>
        </p:txBody>
      </p:sp>
      <p:sp>
        <p:nvSpPr>
          <p:cNvPr id="6" name="Text 4"/>
          <p:cNvSpPr/>
          <p:nvPr/>
        </p:nvSpPr>
        <p:spPr>
          <a:xfrm>
            <a:off x="388620" y="937260"/>
            <a:ext cx="337962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i="1" dirty="0">
                <a:solidFill>
                  <a:srgbClr val="6B72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开源，是被重新包装出来的自由软件。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8309610" y="302895"/>
            <a:ext cx="50863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495" b="1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VOL. 1998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8161020" y="405140"/>
            <a:ext cx="742950" cy="2822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1170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 · 25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8161020" y="704552"/>
            <a:ext cx="66568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495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定义 · 收录 · 拒绝</a:t>
            </a:r>
            <a:endParaRPr lang="en-US" sz="495" dirty="0"/>
          </a:p>
        </p:txBody>
      </p:sp>
      <p:sp>
        <p:nvSpPr>
          <p:cNvPr id="10" name="Shape 8"/>
          <p:cNvSpPr/>
          <p:nvPr/>
        </p:nvSpPr>
        <p:spPr>
          <a:xfrm>
            <a:off x="388620" y="1217295"/>
            <a:ext cx="8366760" cy="57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Shape 9"/>
          <p:cNvSpPr/>
          <p:nvPr/>
        </p:nvSpPr>
        <p:spPr>
          <a:xfrm>
            <a:off x="388620" y="1217295"/>
            <a:ext cx="6858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" y="1325880"/>
            <a:ext cx="8366760" cy="429697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620" y="1325880"/>
            <a:ext cx="22860" cy="42969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1417320"/>
            <a:ext cx="524637" cy="2468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3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endParaRPr lang="en-US" sz="2430" dirty="0"/>
          </a:p>
        </p:txBody>
      </p:sp>
      <p:sp>
        <p:nvSpPr>
          <p:cNvPr id="15" name="Text 13"/>
          <p:cNvSpPr/>
          <p:nvPr/>
        </p:nvSpPr>
        <p:spPr>
          <a:xfrm>
            <a:off x="811530" y="1469827"/>
            <a:ext cx="4224528" cy="14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E5B9C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OSI 的十项定义</a:t>
            </a:r>
            <a:pPr algn="l" indent="0" marL="0">
              <a:lnSpc>
                <a:spcPct val="155000"/>
              </a:lnSpc>
              <a:buNone/>
            </a:pPr>
            <a:r>
              <a:rPr lang="en-US" sz="720" spc="23" kern="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让企业法务第一次能把开源写进合同，也开启了之后</a:t>
            </a:r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E5B9C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25 年</a:t>
            </a:r>
            <a:pPr algn="l" indent="0" marL="0">
              <a:lnSpc>
                <a:spcPct val="155000"/>
              </a:lnSpc>
              <a:buNone/>
            </a:pPr>
            <a:r>
              <a:rPr lang="en-US" sz="720" spc="23" kern="0" dirty="0">
                <a:solidFill>
                  <a:srgbClr val="F2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商业化的空间。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88620" y="1904167"/>
            <a:ext cx="4777740" cy="14573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8620" y="2049899"/>
            <a:ext cx="477774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" y="1904167"/>
            <a:ext cx="5351069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22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TIMELINE</a:t>
            </a:r>
            <a:pPr algn="l" indent="0" marL="0">
              <a:lnSpc>
                <a:spcPct val="150000"/>
              </a:lnSpc>
              <a:buNone/>
            </a:pPr>
            <a:r>
              <a:rPr lang="en-US" sz="495" b="1" spc="225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四个叙事节点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388620" y="2152769"/>
            <a:ext cx="4777740" cy="536853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88620" y="2689622"/>
            <a:ext cx="477774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88620" y="2221349"/>
            <a:ext cx="96012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5870" y="2312789"/>
            <a:ext cx="4390949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一个翻译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FRAMING</a:t>
            </a:r>
            <a:endParaRPr lang="en-US" sz="765" dirty="0"/>
          </a:p>
        </p:txBody>
      </p:sp>
      <p:sp>
        <p:nvSpPr>
          <p:cNvPr id="23" name="Text 21"/>
          <p:cNvSpPr/>
          <p:nvPr/>
        </p:nvSpPr>
        <p:spPr>
          <a:xfrm>
            <a:off x="1245870" y="2492812"/>
            <a:ext cx="4390949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1A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开放源代码倡议把自由软件理念翻译成企业能听懂的语言，让「开源」进入商业语境。</a:t>
            </a:r>
            <a:endParaRPr lang="en-US" sz="585" dirty="0"/>
          </a:p>
        </p:txBody>
      </p:sp>
      <p:sp>
        <p:nvSpPr>
          <p:cNvPr id="24" name="Shape 22"/>
          <p:cNvSpPr/>
          <p:nvPr/>
        </p:nvSpPr>
        <p:spPr>
          <a:xfrm>
            <a:off x="388620" y="2689622"/>
            <a:ext cx="4777740" cy="536853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388620" y="3226475"/>
            <a:ext cx="477774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88620" y="2758202"/>
            <a:ext cx="96012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45870" y="2849642"/>
            <a:ext cx="4390949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OS Definition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 CRITERIA</a:t>
            </a:r>
            <a:endParaRPr lang="en-US" sz="765" dirty="0"/>
          </a:p>
        </p:txBody>
      </p:sp>
      <p:sp>
        <p:nvSpPr>
          <p:cNvPr id="28" name="Text 26"/>
          <p:cNvSpPr/>
          <p:nvPr/>
        </p:nvSpPr>
        <p:spPr>
          <a:xfrm>
            <a:off x="1245870" y="3029664"/>
            <a:ext cx="4390949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1A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十项标准定义什么是 open source，成为此后判断许可证的通行标尺。</a:t>
            </a:r>
            <a:endParaRPr lang="en-US" sz="585" dirty="0"/>
          </a:p>
        </p:txBody>
      </p:sp>
      <p:sp>
        <p:nvSpPr>
          <p:cNvPr id="29" name="Shape 27"/>
          <p:cNvSpPr/>
          <p:nvPr/>
        </p:nvSpPr>
        <p:spPr>
          <a:xfrm>
            <a:off x="388620" y="3226475"/>
            <a:ext cx="4777740" cy="536853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388620" y="3763328"/>
            <a:ext cx="477774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88620" y="3295055"/>
            <a:ext cx="96012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5870" y="3386495"/>
            <a:ext cx="4390949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商业转向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NAPSTER → OSI</a:t>
            </a:r>
            <a:endParaRPr lang="en-US" sz="765" dirty="0"/>
          </a:p>
        </p:txBody>
      </p:sp>
      <p:sp>
        <p:nvSpPr>
          <p:cNvPr id="33" name="Text 31"/>
          <p:cNvSpPr/>
          <p:nvPr/>
        </p:nvSpPr>
        <p:spPr>
          <a:xfrm>
            <a:off x="1245870" y="3566517"/>
            <a:ext cx="4390949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1A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Napster 事件后 Bruce Perens 与 Larry Augustin 发起 OSI，把定义推向企业友好一侧。</a:t>
            </a:r>
            <a:endParaRPr lang="en-US" sz="585" dirty="0"/>
          </a:p>
        </p:txBody>
      </p:sp>
      <p:sp>
        <p:nvSpPr>
          <p:cNvPr id="34" name="Text 32"/>
          <p:cNvSpPr/>
          <p:nvPr/>
        </p:nvSpPr>
        <p:spPr>
          <a:xfrm>
            <a:off x="388620" y="3831908"/>
            <a:ext cx="96012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GPL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45870" y="3923348"/>
            <a:ext cx="4390949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 歧</a:t>
            </a:r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DERIVATIVE LICENSES</a:t>
            </a:r>
            <a:endParaRPr lang="en-US" sz="765" dirty="0"/>
          </a:p>
        </p:txBody>
      </p:sp>
      <p:sp>
        <p:nvSpPr>
          <p:cNvPr id="36" name="Text 34"/>
          <p:cNvSpPr/>
          <p:nvPr/>
        </p:nvSpPr>
        <p:spPr>
          <a:xfrm>
            <a:off x="1245870" y="4103370"/>
            <a:ext cx="4390949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1A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OSI 承认 GPL 属于开源，但 AGPL、SSPL 等衍生许可至今仍有争议。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5394960" y="1881307"/>
            <a:ext cx="1074420" cy="894398"/>
          </a:xfrm>
          <a:prstGeom prst="rect">
            <a:avLst/>
          </a:prstGeom>
          <a:solidFill>
            <a:srgbClr val="FFFFFF"/>
          </a:solidFill>
          <a:ln w="5715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881307"/>
            <a:ext cx="106299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9" name="Text 37"/>
          <p:cNvSpPr/>
          <p:nvPr/>
        </p:nvSpPr>
        <p:spPr>
          <a:xfrm>
            <a:off x="5503545" y="2012752"/>
            <a:ext cx="96012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73" b="1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开源定义发布</a:t>
            </a:r>
            <a:endParaRPr lang="en-US" sz="473" dirty="0"/>
          </a:p>
        </p:txBody>
      </p:sp>
      <p:sp>
        <p:nvSpPr>
          <p:cNvPr id="40" name="Text 38"/>
          <p:cNvSpPr/>
          <p:nvPr/>
        </p:nvSpPr>
        <p:spPr>
          <a:xfrm>
            <a:off x="5503545" y="2241352"/>
            <a:ext cx="112014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1998</a:t>
            </a:r>
            <a:pPr algn="l" indent="0" marL="0">
              <a:lnSpc>
                <a:spcPct val="100000"/>
              </a:lnSpc>
              <a:buNone/>
            </a:pPr>
            <a:r>
              <a:rPr lang="en-US" sz="810" b="1" spc="-4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·01</a:t>
            </a:r>
            <a:endParaRPr lang="en-US" sz="2070" dirty="0"/>
          </a:p>
        </p:txBody>
      </p:sp>
      <p:sp>
        <p:nvSpPr>
          <p:cNvPr id="41" name="Text 39"/>
          <p:cNvSpPr/>
          <p:nvPr/>
        </p:nvSpPr>
        <p:spPr>
          <a:xfrm>
            <a:off x="5503545" y="2561392"/>
            <a:ext cx="960120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 Definition 正式发布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6537960" y="1881307"/>
            <a:ext cx="1074420" cy="894398"/>
          </a:xfrm>
          <a:prstGeom prst="rect">
            <a:avLst/>
          </a:prstGeom>
          <a:solidFill>
            <a:srgbClr val="FFFFFF"/>
          </a:solidFill>
          <a:ln w="5715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7960" y="1881307"/>
            <a:ext cx="106299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4" name="Text 42"/>
          <p:cNvSpPr/>
          <p:nvPr/>
        </p:nvSpPr>
        <p:spPr>
          <a:xfrm>
            <a:off x="6646545" y="2012752"/>
            <a:ext cx="96012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73" b="1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OSI 收录许可证</a:t>
            </a:r>
            <a:endParaRPr lang="en-US" sz="473" dirty="0"/>
          </a:p>
        </p:txBody>
      </p:sp>
      <p:sp>
        <p:nvSpPr>
          <p:cNvPr id="45" name="Text 43"/>
          <p:cNvSpPr/>
          <p:nvPr/>
        </p:nvSpPr>
        <p:spPr>
          <a:xfrm>
            <a:off x="6646545" y="2241352"/>
            <a:ext cx="112014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34</a:t>
            </a:r>
            <a:pPr algn="l" indent="0" marL="0">
              <a:lnSpc>
                <a:spcPct val="100000"/>
              </a:lnSpc>
              <a:buNone/>
            </a:pPr>
            <a:r>
              <a:rPr lang="en-US" sz="810" b="1" spc="-4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项</a:t>
            </a:r>
            <a:endParaRPr lang="en-US" sz="2070" dirty="0"/>
          </a:p>
        </p:txBody>
      </p:sp>
      <p:sp>
        <p:nvSpPr>
          <p:cNvPr id="46" name="Text 44"/>
          <p:cNvSpPr/>
          <p:nvPr/>
        </p:nvSpPr>
        <p:spPr>
          <a:xfrm>
            <a:off x="6646545" y="2561392"/>
            <a:ext cx="960120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通过十项标准审核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7680960" y="1881307"/>
            <a:ext cx="1074420" cy="894398"/>
          </a:xfrm>
          <a:prstGeom prst="rect">
            <a:avLst/>
          </a:prstGeom>
          <a:solidFill>
            <a:srgbClr val="FFFFFF"/>
          </a:solidFill>
          <a:ln w="5715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80960" y="1881307"/>
            <a:ext cx="106299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9" name="Text 47"/>
          <p:cNvSpPr/>
          <p:nvPr/>
        </p:nvSpPr>
        <p:spPr>
          <a:xfrm>
            <a:off x="7789545" y="2012752"/>
            <a:ext cx="96012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73" b="1" spc="9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被 OSI 拒绝的申请</a:t>
            </a:r>
            <a:endParaRPr lang="en-US" sz="473" dirty="0"/>
          </a:p>
        </p:txBody>
      </p:sp>
      <p:sp>
        <p:nvSpPr>
          <p:cNvPr id="50" name="Text 48"/>
          <p:cNvSpPr/>
          <p:nvPr/>
        </p:nvSpPr>
        <p:spPr>
          <a:xfrm>
            <a:off x="7789545" y="2241352"/>
            <a:ext cx="112014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70</a:t>
            </a:r>
            <a:pPr algn="l" indent="0" marL="0">
              <a:lnSpc>
                <a:spcPct val="100000"/>
              </a:lnSpc>
              <a:buNone/>
            </a:pPr>
            <a:r>
              <a:rPr lang="en-US" sz="810" b="1" spc="-4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</a:t>
            </a:r>
            <a:endParaRPr lang="en-US" sz="2070" dirty="0"/>
          </a:p>
        </p:txBody>
      </p:sp>
      <p:sp>
        <p:nvSpPr>
          <p:cNvPr id="51" name="Text 49"/>
          <p:cNvSpPr/>
          <p:nvPr/>
        </p:nvSpPr>
        <p:spPr>
          <a:xfrm>
            <a:off x="7789545" y="2561392"/>
            <a:ext cx="960120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未满足开源定义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5394960" y="2901434"/>
            <a:ext cx="3360420" cy="1340168"/>
          </a:xfrm>
          <a:prstGeom prst="rect">
            <a:avLst/>
          </a:prstGeom>
          <a:solidFill>
            <a:srgbClr val="FFFFFF"/>
          </a:solidFill>
          <a:ln w="5715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2901434"/>
            <a:ext cx="17145" cy="132873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4" name="Text 52"/>
          <p:cNvSpPr/>
          <p:nvPr/>
        </p:nvSpPr>
        <p:spPr>
          <a:xfrm>
            <a:off x="5514975" y="2998589"/>
            <a:ext cx="1491386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许可证分布 · OSI 收录 vs 衍生争议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7949565" y="3032879"/>
            <a:ext cx="76809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68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 / OSI.ORG</a:t>
            </a:r>
            <a:endParaRPr lang="en-US" sz="473" dirty="0"/>
          </a:p>
        </p:txBody>
      </p:sp>
      <p:graphicFrame>
        <p:nvGraphicFramePr>
          <p:cNvPr id="56" name="Chart 0" descr=""/>
          <p:cNvGraphicFramePr/>
          <p:nvPr/>
        </p:nvGraphicFramePr>
        <p:xfrm>
          <a:off x="5514975" y="3150037"/>
          <a:ext cx="313182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4"/>
          <p:cNvSpPr/>
          <p:nvPr/>
        </p:nvSpPr>
        <p:spPr>
          <a:xfrm>
            <a:off x="388620" y="4792028"/>
            <a:ext cx="8366760" cy="214313"/>
          </a:xfrm>
          <a:prstGeom prst="rect">
            <a:avLst/>
          </a:prstGeom>
          <a:noFill/>
          <a:ln/>
        </p:spPr>
      </p:sp>
      <p:sp>
        <p:nvSpPr>
          <p:cNvPr id="58" name="Shape 55"/>
          <p:cNvSpPr/>
          <p:nvPr/>
        </p:nvSpPr>
        <p:spPr>
          <a:xfrm>
            <a:off x="388620" y="4792028"/>
            <a:ext cx="836676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88620" y="4786313"/>
            <a:ext cx="11430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0" name="Text 57"/>
          <p:cNvSpPr/>
          <p:nvPr/>
        </p:nvSpPr>
        <p:spPr>
          <a:xfrm>
            <a:off x="388620" y="4877753"/>
            <a:ext cx="3376422" cy="12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b="1" spc="23" kern="0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十项定义</a:t>
            </a:r>
            <a:pPr algn="l" indent="0" marL="0">
              <a:lnSpc>
                <a:spcPct val="15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lnSpc>
                <a:spcPct val="150000"/>
              </a:lnSpc>
              <a:buNone/>
            </a:pPr>
            <a:r>
              <a:rPr lang="en-US" sz="675" b="1" spc="23" kern="0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34 项收录</a:t>
            </a:r>
            <a:pPr algn="l" indent="0" marL="0">
              <a:lnSpc>
                <a:spcPct val="15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lnSpc>
                <a:spcPct val="150000"/>
              </a:lnSpc>
              <a:buNone/>
            </a:pPr>
            <a:r>
              <a:rPr lang="en-US" sz="675" b="1" spc="23" kern="0" dirty="0">
                <a:solidFill>
                  <a:srgbClr val="880E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70+ 被拒申请</a:t>
            </a:r>
            <a:pPr algn="l" indent="0" marL="0">
              <a:lnSpc>
                <a:spcPct val="15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，共同构成了今天开源世界的通行证。</a:t>
            </a:r>
            <a:endParaRPr lang="en-US" sz="675" dirty="0"/>
          </a:p>
        </p:txBody>
      </p:sp>
      <p:sp>
        <p:nvSpPr>
          <p:cNvPr id="61" name="Text 58"/>
          <p:cNvSpPr/>
          <p:nvPr/>
        </p:nvSpPr>
        <p:spPr>
          <a:xfrm>
            <a:off x="7543800" y="4897041"/>
            <a:ext cx="1356970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b="1" spc="180" kern="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SENSENOVA · EDITORIAL</a:t>
            </a:r>
            <a:endParaRPr lang="en-US" sz="47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AFAF8"/>
              </a:gs>
              <a:gs pos="55000">
                <a:srgbClr val="F5F5F5"/>
              </a:gs>
              <a:gs pos="100000">
                <a:srgbClr val="ECECEA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40030"/>
            <a:ext cx="8458200" cy="5715"/>
          </a:xfrm>
          <a:prstGeom prst="rect">
            <a:avLst/>
          </a:prstGeom>
          <a:solidFill>
            <a:srgbClr val="0D2137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4131945"/>
            <a:ext cx="8458200" cy="5715"/>
          </a:xfrm>
          <a:prstGeom prst="rect">
            <a:avLst/>
          </a:prstGeom>
          <a:solidFill>
            <a:srgbClr val="0D2137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182880"/>
            <a:ext cx="214106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OPEN-SOURCE REVIEW  ·  现代开源观察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7606665" y="194310"/>
            <a:ext cx="3886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VOL. IV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8058150" y="194310"/>
            <a:ext cx="26860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2024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8389620" y="194310"/>
            <a:ext cx="4743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专题 · 支柱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342900" y="422910"/>
            <a:ext cx="8458200" cy="92788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1350794"/>
            <a:ext cx="8458200" cy="0"/>
          </a:xfrm>
          <a:prstGeom prst="line">
            <a:avLst/>
          </a:prstGeom>
          <a:noFill/>
          <a:ln w="5715">
            <a:solidFill>
              <a:srgbClr val="0D2137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422910"/>
            <a:ext cx="947318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22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FOUR PILLARS · 现代开源的四座支柱</a:t>
            </a:r>
            <a:endParaRPr lang="en-US" sz="540" dirty="0"/>
          </a:p>
        </p:txBody>
      </p:sp>
      <p:sp>
        <p:nvSpPr>
          <p:cNvPr id="12" name="Shape 10"/>
          <p:cNvSpPr/>
          <p:nvPr/>
        </p:nvSpPr>
        <p:spPr>
          <a:xfrm>
            <a:off x="342900" y="422910"/>
            <a:ext cx="24003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588645"/>
            <a:ext cx="9473184" cy="39638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60" b="1" spc="-45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现代开源的四座支柱</a:t>
            </a:r>
            <a:endParaRPr lang="en-US" sz="3060" dirty="0"/>
          </a:p>
        </p:txBody>
      </p:sp>
      <p:sp>
        <p:nvSpPr>
          <p:cNvPr id="14" name="Text 12"/>
          <p:cNvSpPr/>
          <p:nvPr/>
        </p:nvSpPr>
        <p:spPr>
          <a:xfrm>
            <a:off x="342900" y="1065044"/>
            <a:ext cx="25208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✦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72125" y="1053614"/>
            <a:ext cx="2886761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i="1" spc="23" kern="0" dirty="0">
                <a:solidFill>
                  <a:srgbClr val="0D2137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基金会、协作平台与新基础设施如何重塑软件世界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" y="1465094"/>
            <a:ext cx="7315200" cy="19806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42900" y="1465094"/>
            <a:ext cx="0" cy="198060"/>
          </a:xfrm>
          <a:prstGeom prst="line">
            <a:avLst/>
          </a:prstGeom>
          <a:noFill/>
          <a:ln w="17145">
            <a:solidFill>
              <a:srgbClr val="880E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1419374"/>
            <a:ext cx="272034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462915" y="1465094"/>
            <a:ext cx="8058607" cy="198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698" spc="9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进入 2010 年代后，开源不再只是系统软件的领地。</a:t>
            </a:r>
            <a:pPr algn="l" indent="0" marL="0">
              <a:lnSpc>
                <a:spcPct val="172000"/>
              </a:lnSpc>
              <a:buNone/>
            </a:pPr>
            <a:r>
              <a:rPr lang="en-US" sz="698" b="1" spc="9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容器、编排、机器学习、前端框架</a:t>
            </a:r>
            <a:pPr algn="l" indent="0" marL="0">
              <a:lnSpc>
                <a:spcPct val="172000"/>
              </a:lnSpc>
              <a:buNone/>
            </a:pPr>
            <a:r>
              <a:rPr lang="en-US" sz="698" spc="9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——每一种新技术都天然以开源为发布介质。基金会和协作平台成为开源新基础设施。</a:t>
            </a:r>
            <a:endParaRPr lang="en-US" sz="698" dirty="0"/>
          </a:p>
        </p:txBody>
      </p:sp>
      <p:sp>
        <p:nvSpPr>
          <p:cNvPr id="20" name="Shape 18"/>
          <p:cNvSpPr/>
          <p:nvPr/>
        </p:nvSpPr>
        <p:spPr>
          <a:xfrm>
            <a:off x="342900" y="1800314"/>
            <a:ext cx="2045970" cy="2404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9525" dir="16200000">
              <a:srgbClr val="0D2137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630" y="1926044"/>
            <a:ext cx="22288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468630" y="2086064"/>
            <a:ext cx="13716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960" y="1926044"/>
            <a:ext cx="29718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1965960" y="1926044"/>
            <a:ext cx="44577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23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2200275" y="2160359"/>
            <a:ext cx="80010" cy="8001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6" name="Text 24"/>
          <p:cNvSpPr/>
          <p:nvPr/>
        </p:nvSpPr>
        <p:spPr>
          <a:xfrm>
            <a:off x="468630" y="2326094"/>
            <a:ext cx="200985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08" kern="0" dirty="0">
                <a:solidFill>
                  <a:srgbClr val="0D2137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</a:t>
            </a:r>
            <a:endParaRPr lang="en-US" sz="495" dirty="0"/>
          </a:p>
        </p:txBody>
      </p:sp>
      <p:sp>
        <p:nvSpPr>
          <p:cNvPr id="27" name="Text 25"/>
          <p:cNvSpPr/>
          <p:nvPr/>
        </p:nvSpPr>
        <p:spPr>
          <a:xfrm>
            <a:off x="468630" y="2434679"/>
            <a:ext cx="200985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Apache</a:t>
            </a:r>
            <a:pPr algn="l" indent="0" marL="0">
              <a:lnSpc>
                <a:spcPct val="120000"/>
              </a:lnSpc>
              <a:buNone/>
            </a:pPr>
            <a:endParaRPr lang="en-US" sz="1125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基金会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468630" y="2846159"/>
            <a:ext cx="2286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9" name="Text 27"/>
          <p:cNvSpPr/>
          <p:nvPr/>
        </p:nvSpPr>
        <p:spPr>
          <a:xfrm>
            <a:off x="468630" y="2931884"/>
            <a:ext cx="2009851" cy="25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585" spc="9" kern="0" dirty="0">
                <a:solidFill>
                  <a:srgbClr val="0D2137">
                    <a:alpha val="72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企业级 Java 生态的守护者，治理着一整套分布式计算、存储与流式处理的中台基础设施。</a:t>
            </a:r>
            <a:endParaRPr lang="en-US" sz="585" dirty="0"/>
          </a:p>
        </p:txBody>
      </p:sp>
      <p:sp>
        <p:nvSpPr>
          <p:cNvPr id="30" name="Shape 28"/>
          <p:cNvSpPr/>
          <p:nvPr/>
        </p:nvSpPr>
        <p:spPr>
          <a:xfrm>
            <a:off x="468630" y="3267462"/>
            <a:ext cx="1794510" cy="822960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468630" y="3267462"/>
            <a:ext cx="179451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68630" y="3267462"/>
            <a:ext cx="18842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Hadoop 分布式计算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Spark 内存计算引擎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Kafka 分布式消息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iv.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Flink 流式处理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2480310" y="1800314"/>
            <a:ext cx="2045970" cy="2404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9525" dir="16200000">
              <a:srgbClr val="0D2137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06040" y="1926044"/>
            <a:ext cx="22288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2606040" y="2086064"/>
            <a:ext cx="13716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6" name="Shape 34"/>
          <p:cNvSpPr/>
          <p:nvPr/>
        </p:nvSpPr>
        <p:spPr>
          <a:xfrm>
            <a:off x="4103370" y="1926044"/>
            <a:ext cx="29718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4103370" y="1926044"/>
            <a:ext cx="44577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23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4337685" y="2160359"/>
            <a:ext cx="80010" cy="8001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9" name="Text 37"/>
          <p:cNvSpPr/>
          <p:nvPr/>
        </p:nvSpPr>
        <p:spPr>
          <a:xfrm>
            <a:off x="2606040" y="2326094"/>
            <a:ext cx="200985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08" kern="0" dirty="0">
                <a:solidFill>
                  <a:srgbClr val="0D2137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CLOUD NATIVE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2606040" y="2434679"/>
            <a:ext cx="200985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CNCF 与</a:t>
            </a:r>
            <a:pPr algn="l" indent="0" marL="0">
              <a:lnSpc>
                <a:spcPct val="120000"/>
              </a:lnSpc>
              <a:buNone/>
            </a:pPr>
            <a:endParaRPr lang="en-US" sz="1125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云原生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2606040" y="2846159"/>
            <a:ext cx="2286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2" name="Text 40"/>
          <p:cNvSpPr/>
          <p:nvPr/>
        </p:nvSpPr>
        <p:spPr>
          <a:xfrm>
            <a:off x="2606040" y="2931884"/>
            <a:ext cx="2009851" cy="25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585" spc="9" kern="0" dirty="0">
                <a:solidFill>
                  <a:srgbClr val="0D2137">
                    <a:alpha val="72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容器生态事实标准由 CNCF 定义，93+ 个毕业与孵化项目覆盖编排、观测、服务网格与存储。</a:t>
            </a:r>
            <a:endParaRPr lang="en-US" sz="585" dirty="0"/>
          </a:p>
        </p:txBody>
      </p:sp>
      <p:sp>
        <p:nvSpPr>
          <p:cNvPr id="43" name="Shape 41"/>
          <p:cNvSpPr/>
          <p:nvPr/>
        </p:nvSpPr>
        <p:spPr>
          <a:xfrm>
            <a:off x="2606040" y="3267462"/>
            <a:ext cx="1794510" cy="82296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2606040" y="3267462"/>
            <a:ext cx="179451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606040" y="3267462"/>
            <a:ext cx="18842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Kubernetes 容器编排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Prometheus 可观测性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Envoy 服务网格代理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iv.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93+ 毕业 / 孵化项目</a:t>
            </a:r>
            <a:endParaRPr lang="en-US" sz="563" dirty="0"/>
          </a:p>
        </p:txBody>
      </p:sp>
      <p:sp>
        <p:nvSpPr>
          <p:cNvPr id="46" name="Shape 44"/>
          <p:cNvSpPr/>
          <p:nvPr/>
        </p:nvSpPr>
        <p:spPr>
          <a:xfrm>
            <a:off x="4617720" y="1800314"/>
            <a:ext cx="2045970" cy="2404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9525" dir="16200000">
              <a:srgbClr val="0D2137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43450" y="1926044"/>
            <a:ext cx="22288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4743450" y="2086064"/>
            <a:ext cx="13716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9" name="Shape 47"/>
          <p:cNvSpPr/>
          <p:nvPr/>
        </p:nvSpPr>
        <p:spPr>
          <a:xfrm>
            <a:off x="6240780" y="1926044"/>
            <a:ext cx="29718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Text 48"/>
          <p:cNvSpPr/>
          <p:nvPr/>
        </p:nvSpPr>
        <p:spPr>
          <a:xfrm>
            <a:off x="6240780" y="1926044"/>
            <a:ext cx="44577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23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</a:t>
            </a:r>
            <a:endParaRPr lang="en-US" sz="1170" dirty="0"/>
          </a:p>
        </p:txBody>
      </p:sp>
      <p:sp>
        <p:nvSpPr>
          <p:cNvPr id="51" name="Shape 49"/>
          <p:cNvSpPr/>
          <p:nvPr/>
        </p:nvSpPr>
        <p:spPr>
          <a:xfrm>
            <a:off x="6475095" y="2160359"/>
            <a:ext cx="80010" cy="8001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2" name="Text 50"/>
          <p:cNvSpPr/>
          <p:nvPr/>
        </p:nvSpPr>
        <p:spPr>
          <a:xfrm>
            <a:off x="4743450" y="2326094"/>
            <a:ext cx="200985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08" kern="0" dirty="0">
                <a:solidFill>
                  <a:srgbClr val="0D2137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COLLABORATION</a:t>
            </a:r>
            <a:endParaRPr lang="en-US" sz="495" dirty="0"/>
          </a:p>
        </p:txBody>
      </p:sp>
      <p:sp>
        <p:nvSpPr>
          <p:cNvPr id="53" name="Text 51"/>
          <p:cNvSpPr/>
          <p:nvPr/>
        </p:nvSpPr>
        <p:spPr>
          <a:xfrm>
            <a:off x="4743450" y="2434679"/>
            <a:ext cx="200985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GitHub 与</a:t>
            </a:r>
            <a:pPr algn="l" indent="0" marL="0">
              <a:lnSpc>
                <a:spcPct val="120000"/>
              </a:lnSpc>
              <a:buNone/>
            </a:pPr>
            <a:endParaRPr lang="en-US" sz="1125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协作工具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4743450" y="2846159"/>
            <a:ext cx="2286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55" name="Text 53"/>
          <p:cNvSpPr/>
          <p:nvPr/>
        </p:nvSpPr>
        <p:spPr>
          <a:xfrm>
            <a:off x="4743450" y="2931884"/>
            <a:ext cx="2009851" cy="25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585" spc="9" kern="0" dirty="0">
                <a:solidFill>
                  <a:srgbClr val="0D2137">
                    <a:alpha val="72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2008 年上线的托管平台，重塑了代码评审、CI 与团队协作流程，成为软件开发的公共广场。</a:t>
            </a:r>
            <a:endParaRPr lang="en-US" sz="585" dirty="0"/>
          </a:p>
        </p:txBody>
      </p:sp>
      <p:sp>
        <p:nvSpPr>
          <p:cNvPr id="56" name="Shape 54"/>
          <p:cNvSpPr/>
          <p:nvPr/>
        </p:nvSpPr>
        <p:spPr>
          <a:xfrm>
            <a:off x="4743450" y="3267462"/>
            <a:ext cx="1794510" cy="82296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4743450" y="3267462"/>
            <a:ext cx="179451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4743450" y="3267462"/>
            <a:ext cx="18842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2008 年正式上线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托管 4.5 亿+ 仓库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Pull Request 评审机制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iv.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亿+ 全球开发者</a:t>
            </a:r>
            <a:endParaRPr lang="en-US" sz="563" dirty="0"/>
          </a:p>
        </p:txBody>
      </p:sp>
      <p:sp>
        <p:nvSpPr>
          <p:cNvPr id="59" name="Shape 57"/>
          <p:cNvSpPr/>
          <p:nvPr/>
        </p:nvSpPr>
        <p:spPr>
          <a:xfrm>
            <a:off x="6755130" y="1800314"/>
            <a:ext cx="2045970" cy="2404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9525" dir="16200000">
              <a:srgbClr val="0D2137">
                <a:alpha val="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880860" y="1926044"/>
            <a:ext cx="22288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6880860" y="2086064"/>
            <a:ext cx="13716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2" name="Shape 60"/>
          <p:cNvSpPr/>
          <p:nvPr/>
        </p:nvSpPr>
        <p:spPr>
          <a:xfrm>
            <a:off x="8378190" y="1926044"/>
            <a:ext cx="29718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3" name="Text 61"/>
          <p:cNvSpPr/>
          <p:nvPr/>
        </p:nvSpPr>
        <p:spPr>
          <a:xfrm>
            <a:off x="8378190" y="1926044"/>
            <a:ext cx="44577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spc="23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</a:t>
            </a:r>
            <a:endParaRPr lang="en-US" sz="1170" dirty="0"/>
          </a:p>
        </p:txBody>
      </p:sp>
      <p:sp>
        <p:nvSpPr>
          <p:cNvPr id="64" name="Shape 62"/>
          <p:cNvSpPr/>
          <p:nvPr/>
        </p:nvSpPr>
        <p:spPr>
          <a:xfrm>
            <a:off x="8612505" y="2160359"/>
            <a:ext cx="80010" cy="8001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5" name="Text 63"/>
          <p:cNvSpPr/>
          <p:nvPr/>
        </p:nvSpPr>
        <p:spPr>
          <a:xfrm>
            <a:off x="6880860" y="2326094"/>
            <a:ext cx="200985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08" kern="0" dirty="0">
                <a:solidFill>
                  <a:srgbClr val="0D2137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&amp; AI</a:t>
            </a:r>
            <a:endParaRPr lang="en-US" sz="495" dirty="0"/>
          </a:p>
        </p:txBody>
      </p:sp>
      <p:sp>
        <p:nvSpPr>
          <p:cNvPr id="66" name="Text 64"/>
          <p:cNvSpPr/>
          <p:nvPr/>
        </p:nvSpPr>
        <p:spPr>
          <a:xfrm>
            <a:off x="6880860" y="2434679"/>
            <a:ext cx="200985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 与</a:t>
            </a:r>
            <a:pPr algn="l" indent="0" marL="0">
              <a:lnSpc>
                <a:spcPct val="120000"/>
              </a:lnSpc>
              <a:buNone/>
            </a:pPr>
            <a:endParaRPr lang="en-US" sz="1125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25" b="1" spc="-1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浪潮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6880860" y="2846159"/>
            <a:ext cx="22860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8" name="Text 66"/>
          <p:cNvSpPr/>
          <p:nvPr/>
        </p:nvSpPr>
        <p:spPr>
          <a:xfrm>
            <a:off x="6880860" y="2931884"/>
            <a:ext cx="2009851" cy="25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585" spc="9" kern="0" dirty="0">
                <a:solidFill>
                  <a:srgbClr val="0D2137">
                    <a:alpha val="72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浏览器与训练成为新战场，前端框架与深度学习库让 Web 与 AI 的边界彼此消融。</a:t>
            </a:r>
            <a:endParaRPr lang="en-US" sz="585" dirty="0"/>
          </a:p>
        </p:txBody>
      </p:sp>
      <p:sp>
        <p:nvSpPr>
          <p:cNvPr id="69" name="Shape 67"/>
          <p:cNvSpPr/>
          <p:nvPr/>
        </p:nvSpPr>
        <p:spPr>
          <a:xfrm>
            <a:off x="6880860" y="3267462"/>
            <a:ext cx="1794510" cy="822960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6880860" y="3267462"/>
            <a:ext cx="179451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6880860" y="3267462"/>
            <a:ext cx="18842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· Vue 前端框架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TensorFlow 深度学习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iii.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PyTorch 研究首选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iv.</a:t>
            </a:r>
            <a:endParaRPr lang="en-US" sz="563" dirty="0"/>
          </a:p>
          <a:p>
            <a:pPr algn="l" marL="342900" indent="-342900">
              <a:buSzPct val="100000"/>
              <a:buChar char="•"/>
            </a:pPr>
            <a:r>
              <a:rPr lang="en-US" sz="563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浏览器即新操作系统</a:t>
            </a:r>
            <a:endParaRPr lang="en-US" sz="563" dirty="0"/>
          </a:p>
        </p:txBody>
      </p:sp>
      <p:sp>
        <p:nvSpPr>
          <p:cNvPr id="72" name="Shape 70"/>
          <p:cNvSpPr/>
          <p:nvPr/>
        </p:nvSpPr>
        <p:spPr>
          <a:xfrm>
            <a:off x="342900" y="3811905"/>
            <a:ext cx="8458200" cy="9372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3" name="Shape 71"/>
          <p:cNvSpPr/>
          <p:nvPr/>
        </p:nvSpPr>
        <p:spPr>
          <a:xfrm>
            <a:off x="342900" y="3806190"/>
            <a:ext cx="8458200" cy="1714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4" name="Text 72"/>
          <p:cNvSpPr/>
          <p:nvPr/>
        </p:nvSpPr>
        <p:spPr>
          <a:xfrm>
            <a:off x="491490" y="3949065"/>
            <a:ext cx="212506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APACHE 顶级项目</a:t>
            </a:r>
            <a:endParaRPr lang="en-US" sz="495" dirty="0"/>
          </a:p>
        </p:txBody>
      </p:sp>
      <p:sp>
        <p:nvSpPr>
          <p:cNvPr id="75" name="Text 73"/>
          <p:cNvSpPr/>
          <p:nvPr/>
        </p:nvSpPr>
        <p:spPr>
          <a:xfrm>
            <a:off x="491490" y="4097655"/>
            <a:ext cx="219456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40" b="1" spc="-4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269</a:t>
            </a:r>
            <a:endParaRPr lang="en-US" sz="2340" dirty="0"/>
          </a:p>
        </p:txBody>
      </p:sp>
      <p:sp>
        <p:nvSpPr>
          <p:cNvPr id="76" name="Text 74"/>
          <p:cNvSpPr/>
          <p:nvPr/>
        </p:nvSpPr>
        <p:spPr>
          <a:xfrm>
            <a:off x="491490" y="4529138"/>
            <a:ext cx="2125066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36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Top-Level Projects · 涵盖计算、存储、Web</a:t>
            </a:r>
            <a:endParaRPr lang="en-US" sz="495" dirty="0"/>
          </a:p>
        </p:txBody>
      </p:sp>
      <p:sp>
        <p:nvSpPr>
          <p:cNvPr id="77" name="Shape 75"/>
          <p:cNvSpPr/>
          <p:nvPr/>
        </p:nvSpPr>
        <p:spPr>
          <a:xfrm>
            <a:off x="2514600" y="3949065"/>
            <a:ext cx="2057400" cy="674370"/>
          </a:xfrm>
          <a:prstGeom prst="rect">
            <a:avLst/>
          </a:prstGeom>
          <a:noFill/>
          <a:ln/>
        </p:spPr>
      </p:sp>
      <p:sp>
        <p:nvSpPr>
          <p:cNvPr id="78" name="Shape 76"/>
          <p:cNvSpPr/>
          <p:nvPr/>
        </p:nvSpPr>
        <p:spPr>
          <a:xfrm>
            <a:off x="2514600" y="3949065"/>
            <a:ext cx="0" cy="674370"/>
          </a:xfrm>
          <a:prstGeom prst="line">
            <a:avLst/>
          </a:prstGeom>
          <a:noFill/>
          <a:ln w="571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46045" y="3949065"/>
            <a:ext cx="20162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CNCF 项目总数</a:t>
            </a:r>
            <a:endParaRPr lang="en-US" sz="495" dirty="0"/>
          </a:p>
        </p:txBody>
      </p:sp>
      <p:sp>
        <p:nvSpPr>
          <p:cNvPr id="80" name="Text 78"/>
          <p:cNvSpPr/>
          <p:nvPr/>
        </p:nvSpPr>
        <p:spPr>
          <a:xfrm>
            <a:off x="2646045" y="4097655"/>
            <a:ext cx="2097405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40" b="1" spc="-4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93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2340" dirty="0"/>
          </a:p>
        </p:txBody>
      </p:sp>
      <p:sp>
        <p:nvSpPr>
          <p:cNvPr id="81" name="Text 79"/>
          <p:cNvSpPr/>
          <p:nvPr/>
        </p:nvSpPr>
        <p:spPr>
          <a:xfrm>
            <a:off x="2646045" y="4529138"/>
            <a:ext cx="201625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36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毕业 + 孵化 + 沙箱合计</a:t>
            </a:r>
            <a:endParaRPr lang="en-US" sz="495" dirty="0"/>
          </a:p>
        </p:txBody>
      </p:sp>
      <p:sp>
        <p:nvSpPr>
          <p:cNvPr id="82" name="Shape 80"/>
          <p:cNvSpPr/>
          <p:nvPr/>
        </p:nvSpPr>
        <p:spPr>
          <a:xfrm>
            <a:off x="4572000" y="3949065"/>
            <a:ext cx="2057400" cy="674370"/>
          </a:xfrm>
          <a:prstGeom prst="rect">
            <a:avLst/>
          </a:prstGeom>
          <a:noFill/>
          <a:ln/>
        </p:spPr>
      </p:sp>
      <p:sp>
        <p:nvSpPr>
          <p:cNvPr id="83" name="Shape 81"/>
          <p:cNvSpPr/>
          <p:nvPr/>
        </p:nvSpPr>
        <p:spPr>
          <a:xfrm>
            <a:off x="4572000" y="3949065"/>
            <a:ext cx="0" cy="674370"/>
          </a:xfrm>
          <a:prstGeom prst="line">
            <a:avLst/>
          </a:prstGeom>
          <a:noFill/>
          <a:ln w="571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03445" y="3949065"/>
            <a:ext cx="20162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 仓库数</a:t>
            </a:r>
            <a:endParaRPr lang="en-US" sz="495" dirty="0"/>
          </a:p>
        </p:txBody>
      </p:sp>
      <p:sp>
        <p:nvSpPr>
          <p:cNvPr id="85" name="Text 83"/>
          <p:cNvSpPr/>
          <p:nvPr/>
        </p:nvSpPr>
        <p:spPr>
          <a:xfrm>
            <a:off x="4703445" y="4097655"/>
            <a:ext cx="2097405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40" b="1" spc="-4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4.5</a:t>
            </a:r>
            <a:pPr algn="l" indent="0" marL="0">
              <a:lnSpc>
                <a:spcPct val="100000"/>
              </a:lnSpc>
              <a:buNone/>
            </a:pPr>
            <a:r>
              <a:rPr lang="en-US" sz="1530" b="1" spc="-45" kern="0" dirty="0">
                <a:solidFill>
                  <a:srgbClr val="FFFFFF">
                    <a:alpha val="3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亿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2340" dirty="0"/>
          </a:p>
        </p:txBody>
      </p:sp>
      <p:sp>
        <p:nvSpPr>
          <p:cNvPr id="86" name="Text 84"/>
          <p:cNvSpPr/>
          <p:nvPr/>
        </p:nvSpPr>
        <p:spPr>
          <a:xfrm>
            <a:off x="4703445" y="4529138"/>
            <a:ext cx="201625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36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Repositories · 覆盖几乎所有语言</a:t>
            </a:r>
            <a:endParaRPr lang="en-US" sz="495" dirty="0"/>
          </a:p>
        </p:txBody>
      </p:sp>
      <p:sp>
        <p:nvSpPr>
          <p:cNvPr id="87" name="Shape 85"/>
          <p:cNvSpPr/>
          <p:nvPr/>
        </p:nvSpPr>
        <p:spPr>
          <a:xfrm>
            <a:off x="6629400" y="3949065"/>
            <a:ext cx="2057400" cy="674370"/>
          </a:xfrm>
          <a:prstGeom prst="rect">
            <a:avLst/>
          </a:prstGeom>
          <a:noFill/>
          <a:ln/>
        </p:spPr>
      </p:sp>
      <p:sp>
        <p:nvSpPr>
          <p:cNvPr id="88" name="Shape 86"/>
          <p:cNvSpPr/>
          <p:nvPr/>
        </p:nvSpPr>
        <p:spPr>
          <a:xfrm>
            <a:off x="6629400" y="3949065"/>
            <a:ext cx="0" cy="674370"/>
          </a:xfrm>
          <a:prstGeom prst="line">
            <a:avLst/>
          </a:prstGeom>
          <a:noFill/>
          <a:ln w="571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60845" y="3949065"/>
            <a:ext cx="20162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 开发者</a:t>
            </a:r>
            <a:endParaRPr lang="en-US" sz="495" dirty="0"/>
          </a:p>
        </p:txBody>
      </p:sp>
      <p:sp>
        <p:nvSpPr>
          <p:cNvPr id="90" name="Text 88"/>
          <p:cNvSpPr/>
          <p:nvPr/>
        </p:nvSpPr>
        <p:spPr>
          <a:xfrm>
            <a:off x="6760845" y="4097655"/>
            <a:ext cx="2097405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40" b="1" spc="-4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530" b="1" spc="-45" kern="0" dirty="0">
                <a:solidFill>
                  <a:srgbClr val="FFFFFF">
                    <a:alpha val="3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亿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2340" dirty="0"/>
          </a:p>
        </p:txBody>
      </p:sp>
      <p:sp>
        <p:nvSpPr>
          <p:cNvPr id="91" name="Text 89"/>
          <p:cNvSpPr/>
          <p:nvPr/>
        </p:nvSpPr>
        <p:spPr>
          <a:xfrm>
            <a:off x="6760845" y="4529138"/>
            <a:ext cx="201625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36" kern="0" dirty="0">
                <a:solidFill>
                  <a:srgbClr val="FFFFFF">
                    <a:alpha val="5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Developers · 全球软件创作者</a:t>
            </a:r>
            <a:endParaRPr lang="en-US" sz="495" dirty="0"/>
          </a:p>
        </p:txBody>
      </p:sp>
      <p:sp>
        <p:nvSpPr>
          <p:cNvPr id="92" name="Text 90"/>
          <p:cNvSpPr/>
          <p:nvPr/>
        </p:nvSpPr>
        <p:spPr>
          <a:xfrm>
            <a:off x="342900" y="4829175"/>
            <a:ext cx="211866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◆</a:t>
            </a:r>
            <a:pPr algn="l" indent="0" marL="0">
              <a:buNone/>
            </a:pPr>
            <a:r>
              <a:rPr lang="en-US" sz="450" spc="135" kern="0" dirty="0">
                <a:solidFill>
                  <a:srgbClr val="0D2137">
                    <a:alpha val="4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Open-Source Review · 现代开源观察专题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8086725" y="4837748"/>
            <a:ext cx="80010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0D2137">
                    <a:alpha val="4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 OF FEATURE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800100"/>
            <a:ext cx="2400300" cy="2400300"/>
          </a:xfrm>
          <a:prstGeom prst="ellips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71500" y="4000500"/>
            <a:ext cx="2171700" cy="2171700"/>
          </a:xfrm>
          <a:prstGeom prst="ellips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32345" y="217170"/>
            <a:ext cx="164500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i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OPEN-SOURCE ECONOMY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137160" cy="202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NO.09 / OPEN SOURCE ECONOMICS</a:t>
            </a:r>
            <a:endParaRPr lang="en-US" sz="495" dirty="0"/>
          </a:p>
        </p:txBody>
      </p:sp>
      <p:sp>
        <p:nvSpPr>
          <p:cNvPr id="6" name="Shape 4"/>
          <p:cNvSpPr/>
          <p:nvPr/>
        </p:nvSpPr>
        <p:spPr>
          <a:xfrm>
            <a:off x="342900" y="251460"/>
            <a:ext cx="8458200" cy="679996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42900" y="931456"/>
            <a:ext cx="8458200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" y="251460"/>
            <a:ext cx="86794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8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CHAPTER 09 · 开源经济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342900" y="388620"/>
            <a:ext cx="8679485" cy="27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spc="-22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开源经济：</a:t>
            </a:r>
            <a:pPr algn="l" indent="0" marL="0">
              <a:lnSpc>
                <a:spcPct val="105000"/>
              </a:lnSpc>
              <a:buNone/>
            </a:pPr>
            <a:r>
              <a:rPr lang="en-US" sz="2070" b="1" i="1" spc="-22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谁在用、谁在赚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342900" y="710357"/>
            <a:ext cx="5760720" cy="1239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F3A5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开源早已是产业而非运动——Open Core、云托管、基金会会费、企业赞助四种商业模式叠加，形成每年数百亿美元的隐形市场。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8263890" y="388531"/>
            <a:ext cx="90297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b="1" spc="-9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09</a:t>
            </a:r>
            <a:pPr algn="l" indent="0" marL="0">
              <a:lnSpc>
                <a:spcPct val="100000"/>
              </a:lnSpc>
              <a:buNone/>
            </a:pPr>
            <a:r>
              <a:rPr lang="en-US" sz="450" b="1" spc="-90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· ECON</a:t>
            </a:r>
            <a:endParaRPr lang="en-US" sz="2880" dirty="0"/>
          </a:p>
        </p:txBody>
      </p:sp>
      <p:sp>
        <p:nvSpPr>
          <p:cNvPr id="12" name="Shape 10"/>
          <p:cNvSpPr/>
          <p:nvPr/>
        </p:nvSpPr>
        <p:spPr>
          <a:xfrm>
            <a:off x="342900" y="1057186"/>
            <a:ext cx="4250263" cy="2509331"/>
          </a:xfrm>
          <a:prstGeom prst="rect">
            <a:avLst/>
          </a:prstGeom>
          <a:solidFill>
            <a:srgbClr val="FFFFFF"/>
          </a:solidFill>
          <a:ln w="5715">
            <a:solidFill>
              <a:srgbClr val="D6DB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205" y="1188631"/>
            <a:ext cx="1171346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关键指标 · 开源产业五维</a:t>
            </a:r>
            <a:endParaRPr lang="en-US" sz="765" dirty="0"/>
          </a:p>
        </p:txBody>
      </p:sp>
      <p:sp>
        <p:nvSpPr>
          <p:cNvPr id="14" name="Shape 12"/>
          <p:cNvSpPr/>
          <p:nvPr/>
        </p:nvSpPr>
        <p:spPr>
          <a:xfrm>
            <a:off x="3833068" y="1202918"/>
            <a:ext cx="605790" cy="114300"/>
          </a:xfrm>
          <a:prstGeom prst="rect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3068" y="1202918"/>
            <a:ext cx="678485" cy="114300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FIG.01 / 2023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497205" y="1411516"/>
            <a:ext cx="99212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20" b="1" spc="-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95%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1091565" y="1622971"/>
            <a:ext cx="1158545" cy="191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spc="45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企业正在使用开源</a:t>
            </a:r>
            <a:endParaRPr lang="en-US" sz="49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95" spc="45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Hat 开发者经济调查多年结论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497205" y="1952565"/>
            <a:ext cx="832104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企业使用开源比例</a:t>
            </a:r>
            <a:pPr algn="l" indent="0" marL="0">
              <a:lnSpc>
                <a:spcPct val="125000"/>
              </a:lnSpc>
              <a:buNone/>
            </a:pPr>
            <a:r>
              <a:rPr lang="en-US" sz="45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Hat 调查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1297305" y="1971139"/>
            <a:ext cx="2661493" cy="125730"/>
          </a:xfrm>
          <a:prstGeom prst="roundRect">
            <a:avLst>
              <a:gd name="adj" fmla="val 4545"/>
            </a:avLst>
          </a:prstGeom>
          <a:solidFill>
            <a:srgbClr val="E4E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7305" y="1948279"/>
            <a:ext cx="2528352" cy="17145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7150" dist="19050" dir="16200000">
              <a:srgbClr val="0D2137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15948" y="1948279"/>
            <a:ext cx="54864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9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95%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497205" y="2226618"/>
            <a:ext cx="832104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Gitee 开发者规模</a:t>
            </a:r>
            <a:pPr algn="l" indent="0" marL="0">
              <a:lnSpc>
                <a:spcPct val="125000"/>
              </a:lnSpc>
              <a:buNone/>
            </a:pPr>
            <a:r>
              <a:rPr lang="en-US" sz="45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2500 万+ 单位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1297305" y="2245191"/>
            <a:ext cx="2661493" cy="125730"/>
          </a:xfrm>
          <a:prstGeom prst="roundRect">
            <a:avLst>
              <a:gd name="adj" fmla="val 4545"/>
            </a:avLst>
          </a:prstGeom>
          <a:solidFill>
            <a:srgbClr val="E4E9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297305" y="2245191"/>
            <a:ext cx="2182416" cy="125730"/>
          </a:xfrm>
          <a:prstGeom prst="rect">
            <a:avLst/>
          </a:prstGeom>
          <a:solidFill>
            <a:srgbClr val="A9B8CC"/>
          </a:solidFill>
          <a:ln/>
        </p:spPr>
      </p:sp>
      <p:sp>
        <p:nvSpPr>
          <p:cNvPr id="25" name="Text 23"/>
          <p:cNvSpPr/>
          <p:nvPr/>
        </p:nvSpPr>
        <p:spPr>
          <a:xfrm>
            <a:off x="4015948" y="2248049"/>
            <a:ext cx="51435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F3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2500</a:t>
            </a:r>
            <a:pPr algn="r" indent="0" marL="0">
              <a:buNone/>
            </a:pPr>
            <a:r>
              <a:rPr lang="en-US" sz="495" b="1" dirty="0">
                <a:solidFill>
                  <a:srgbClr val="1F3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万+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97205" y="2496383"/>
            <a:ext cx="832104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会员</a:t>
            </a:r>
            <a:pPr algn="l" indent="0" marL="0">
              <a:lnSpc>
                <a:spcPct val="125000"/>
              </a:lnSpc>
              <a:buNone/>
            </a:pPr>
            <a:r>
              <a:rPr lang="en-US" sz="45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企业数量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1297305" y="2514957"/>
            <a:ext cx="2661493" cy="125730"/>
          </a:xfrm>
          <a:prstGeom prst="roundRect">
            <a:avLst>
              <a:gd name="adj" fmla="val 4545"/>
            </a:avLst>
          </a:prstGeom>
          <a:solidFill>
            <a:srgbClr val="E4E9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97305" y="2514957"/>
            <a:ext cx="1809780" cy="125730"/>
          </a:xfrm>
          <a:prstGeom prst="rect">
            <a:avLst/>
          </a:prstGeom>
          <a:solidFill>
            <a:srgbClr val="A9B8CC"/>
          </a:solidFill>
          <a:ln/>
        </p:spPr>
      </p:sp>
      <p:sp>
        <p:nvSpPr>
          <p:cNvPr id="29" name="Text 27"/>
          <p:cNvSpPr/>
          <p:nvPr/>
        </p:nvSpPr>
        <p:spPr>
          <a:xfrm>
            <a:off x="4015948" y="2517815"/>
            <a:ext cx="51435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F3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1000</a:t>
            </a:r>
            <a:pPr algn="r" indent="0" marL="0">
              <a:buNone/>
            </a:pPr>
            <a:r>
              <a:rPr lang="en-US" sz="495" b="1" dirty="0">
                <a:solidFill>
                  <a:srgbClr val="1F3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97205" y="2766060"/>
            <a:ext cx="832104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 2023 营收</a:t>
            </a:r>
            <a:pPr algn="l" indent="0" marL="0">
              <a:lnSpc>
                <a:spcPct val="125000"/>
              </a:lnSpc>
              <a:buNone/>
            </a:pPr>
            <a:r>
              <a:rPr lang="en-US" sz="45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单位：亿美元</a:t>
            </a:r>
            <a:endParaRPr lang="en-US" sz="540" dirty="0"/>
          </a:p>
        </p:txBody>
      </p:sp>
      <p:sp>
        <p:nvSpPr>
          <p:cNvPr id="31" name="Shape 29"/>
          <p:cNvSpPr/>
          <p:nvPr/>
        </p:nvSpPr>
        <p:spPr>
          <a:xfrm>
            <a:off x="1297305" y="2784634"/>
            <a:ext cx="2661493" cy="125730"/>
          </a:xfrm>
          <a:prstGeom prst="roundRect">
            <a:avLst>
              <a:gd name="adj" fmla="val 4545"/>
            </a:avLst>
          </a:prstGeom>
          <a:solidFill>
            <a:srgbClr val="E4E9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97305" y="2784634"/>
            <a:ext cx="1490365" cy="12573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3" name="Text 31"/>
          <p:cNvSpPr/>
          <p:nvPr/>
        </p:nvSpPr>
        <p:spPr>
          <a:xfrm>
            <a:off x="4015948" y="2778919"/>
            <a:ext cx="51435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$18亿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97205" y="3035826"/>
            <a:ext cx="832104" cy="162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软件代码中开源占比</a:t>
            </a:r>
            <a:pPr algn="l" indent="0" marL="0">
              <a:lnSpc>
                <a:spcPct val="125000"/>
              </a:lnSpc>
              <a:buNone/>
            </a:pPr>
            <a:r>
              <a:rPr lang="en-US" sz="45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估计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1297305" y="3054400"/>
            <a:ext cx="2661493" cy="125730"/>
          </a:xfrm>
          <a:prstGeom prst="roundRect">
            <a:avLst>
              <a:gd name="adj" fmla="val 4545"/>
            </a:avLst>
          </a:prstGeom>
          <a:solidFill>
            <a:srgbClr val="E4E9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297305" y="3054400"/>
            <a:ext cx="638741" cy="125730"/>
          </a:xfrm>
          <a:prstGeom prst="rect">
            <a:avLst/>
          </a:prstGeom>
          <a:solidFill>
            <a:srgbClr val="A9B8CC"/>
          </a:solidFill>
          <a:ln/>
        </p:spPr>
      </p:sp>
      <p:sp>
        <p:nvSpPr>
          <p:cNvPr id="37" name="Text 35"/>
          <p:cNvSpPr/>
          <p:nvPr/>
        </p:nvSpPr>
        <p:spPr>
          <a:xfrm>
            <a:off x="4015948" y="3057257"/>
            <a:ext cx="5143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F3A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24%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97205" y="3286482"/>
            <a:ext cx="3941653" cy="14859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97205" y="3286482"/>
            <a:ext cx="3941653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97205" y="3349347"/>
            <a:ext cx="764896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核心结论</a:t>
            </a:r>
            <a:pPr algn="l" indent="0" marL="0">
              <a:buNone/>
            </a:pPr>
            <a:r>
              <a:rPr lang="en-US" sz="450" spc="23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产业指标</a:t>
            </a:r>
            <a:endParaRPr lang="en-US" sz="450" dirty="0"/>
          </a:p>
        </p:txBody>
      </p:sp>
      <p:sp>
        <p:nvSpPr>
          <p:cNvPr id="41" name="Shape 39"/>
          <p:cNvSpPr/>
          <p:nvPr/>
        </p:nvSpPr>
        <p:spPr>
          <a:xfrm>
            <a:off x="497205" y="3380601"/>
            <a:ext cx="45720" cy="45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Shape 40"/>
          <p:cNvSpPr/>
          <p:nvPr/>
        </p:nvSpPr>
        <p:spPr>
          <a:xfrm>
            <a:off x="860108" y="3380601"/>
            <a:ext cx="45720" cy="45720"/>
          </a:xfrm>
          <a:prstGeom prst="rect">
            <a:avLst/>
          </a:prstGeom>
          <a:solidFill>
            <a:srgbClr val="A9B8CC"/>
          </a:solidFill>
          <a:ln/>
        </p:spPr>
      </p:sp>
      <p:sp>
        <p:nvSpPr>
          <p:cNvPr id="43" name="Text 41"/>
          <p:cNvSpPr/>
          <p:nvPr/>
        </p:nvSpPr>
        <p:spPr>
          <a:xfrm>
            <a:off x="2950101" y="3349347"/>
            <a:ext cx="166740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 Red Hat / Linux Foundation / GitHub / Gitee</a:t>
            </a:r>
            <a:endParaRPr lang="en-US" sz="450" dirty="0"/>
          </a:p>
        </p:txBody>
      </p:sp>
      <p:sp>
        <p:nvSpPr>
          <p:cNvPr id="44" name="Shape 42"/>
          <p:cNvSpPr/>
          <p:nvPr/>
        </p:nvSpPr>
        <p:spPr>
          <a:xfrm>
            <a:off x="4753183" y="1057186"/>
            <a:ext cx="4047917" cy="2509331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5" name="Shape 43"/>
          <p:cNvSpPr/>
          <p:nvPr/>
        </p:nvSpPr>
        <p:spPr>
          <a:xfrm>
            <a:off x="8115301" y="1057186"/>
            <a:ext cx="685800" cy="68580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6" name="Text 44"/>
          <p:cNvSpPr/>
          <p:nvPr/>
        </p:nvSpPr>
        <p:spPr>
          <a:xfrm>
            <a:off x="4890343" y="1182916"/>
            <a:ext cx="422642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五个数字看懂开源经济</a:t>
            </a:r>
            <a:endParaRPr lang="en-US" sz="765" dirty="0"/>
          </a:p>
        </p:txBody>
      </p:sp>
      <p:sp>
        <p:nvSpPr>
          <p:cNvPr id="47" name="Text 45"/>
          <p:cNvSpPr/>
          <p:nvPr/>
        </p:nvSpPr>
        <p:spPr>
          <a:xfrm>
            <a:off x="4890343" y="1348651"/>
            <a:ext cx="422642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B8C4D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· KEY FIGURES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4890343" y="1538942"/>
            <a:ext cx="3773597" cy="325755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4890343" y="1864697"/>
            <a:ext cx="3773597" cy="0"/>
          </a:xfrm>
          <a:prstGeom prst="line">
            <a:avLst/>
          </a:prstGeom>
          <a:noFill/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0343" y="1641812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30373" y="1609665"/>
            <a:ext cx="3330316" cy="17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dirty="0">
                <a:solidFill>
                  <a:srgbClr val="E6EC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企业使用开源比例</a:t>
            </a:r>
            <a:pPr algn="l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Hat 开发者经济调查</a:t>
            </a:r>
            <a:endParaRPr lang="en-US" sz="563" dirty="0"/>
          </a:p>
        </p:txBody>
      </p:sp>
      <p:sp>
        <p:nvSpPr>
          <p:cNvPr id="52" name="Text 50"/>
          <p:cNvSpPr/>
          <p:nvPr/>
        </p:nvSpPr>
        <p:spPr>
          <a:xfrm>
            <a:off x="8161020" y="1584662"/>
            <a:ext cx="6172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95%</a:t>
            </a:r>
            <a:pPr algn="r" indent="0" marL="0">
              <a:lnSpc>
                <a:spcPct val="100000"/>
              </a:lnSpc>
              <a:buNone/>
            </a:pPr>
            <a:r>
              <a:rPr lang="en-US" sz="405" b="1" spc="-22" kern="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ENTERPRISES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0343" y="1971050"/>
            <a:ext cx="3773597" cy="275749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4890343" y="2246799"/>
            <a:ext cx="3773597" cy="0"/>
          </a:xfrm>
          <a:prstGeom prst="line">
            <a:avLst/>
          </a:prstGeom>
          <a:noFill/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0343" y="2048917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30373" y="2016770"/>
            <a:ext cx="3330316" cy="17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dirty="0">
                <a:solidFill>
                  <a:srgbClr val="E6EC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代码中开源占比</a:t>
            </a:r>
            <a:pPr algn="l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报告估计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8161020" y="2017484"/>
            <a:ext cx="617220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24%</a:t>
            </a:r>
            <a:pPr algn="r" indent="0" marL="0">
              <a:lnSpc>
                <a:spcPct val="100000"/>
              </a:lnSpc>
              <a:buNone/>
            </a:pPr>
            <a:r>
              <a:rPr lang="en-US" sz="405" b="1" spc="-22" kern="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CODEBASE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90343" y="2353241"/>
            <a:ext cx="3773597" cy="275749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4890343" y="2628989"/>
            <a:ext cx="3773597" cy="0"/>
          </a:xfrm>
          <a:prstGeom prst="line">
            <a:avLst/>
          </a:prstGeom>
          <a:noFill/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0343" y="2431107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130373" y="2398961"/>
            <a:ext cx="3330316" cy="17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dirty="0">
                <a:solidFill>
                  <a:srgbClr val="E6EC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 2023 商业营收</a:t>
            </a:r>
            <a:pPr algn="l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企业订阅 + Copilot 授权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8161020" y="2399675"/>
            <a:ext cx="617220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$18亿</a:t>
            </a:r>
            <a:pPr algn="r" indent="0" marL="0">
              <a:lnSpc>
                <a:spcPct val="100000"/>
              </a:lnSpc>
              <a:buNone/>
            </a:pPr>
            <a:r>
              <a:rPr lang="en-US" sz="405" b="1" spc="-22" kern="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FY 2023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90343" y="2735342"/>
            <a:ext cx="3773597" cy="275749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4890343" y="3011091"/>
            <a:ext cx="3773597" cy="0"/>
          </a:xfrm>
          <a:prstGeom prst="line">
            <a:avLst/>
          </a:prstGeom>
          <a:noFill/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0343" y="2813209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30373" y="2781062"/>
            <a:ext cx="3330316" cy="17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dirty="0">
                <a:solidFill>
                  <a:srgbClr val="E6EC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会员</a:t>
            </a:r>
            <a:pPr algn="l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全球企业会员单位</a:t>
            </a:r>
            <a:endParaRPr lang="en-US" sz="563" dirty="0"/>
          </a:p>
        </p:txBody>
      </p:sp>
      <p:sp>
        <p:nvSpPr>
          <p:cNvPr id="67" name="Text 65"/>
          <p:cNvSpPr/>
          <p:nvPr/>
        </p:nvSpPr>
        <p:spPr>
          <a:xfrm>
            <a:off x="8161020" y="2781776"/>
            <a:ext cx="617220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1000+</a:t>
            </a:r>
            <a:pPr algn="r" indent="0" marL="0">
              <a:lnSpc>
                <a:spcPct val="100000"/>
              </a:lnSpc>
              <a:buNone/>
            </a:pPr>
            <a:r>
              <a:rPr lang="en-US" sz="405" b="1" spc="-22" kern="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MEMBERS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90343" y="3195399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130373" y="3163253"/>
            <a:ext cx="3330316" cy="17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dirty="0">
                <a:solidFill>
                  <a:srgbClr val="E6EC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Gitee 开发者规模</a:t>
            </a:r>
            <a:pPr algn="l" indent="0" marL="0">
              <a:lnSpc>
                <a:spcPct val="130000"/>
              </a:lnSpc>
              <a:buNone/>
            </a:pPr>
            <a:r>
              <a:rPr lang="en-US" sz="45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中国头部代码托管平台</a:t>
            </a:r>
            <a:endParaRPr lang="en-US" sz="563" dirty="0"/>
          </a:p>
        </p:txBody>
      </p:sp>
      <p:sp>
        <p:nvSpPr>
          <p:cNvPr id="70" name="Text 68"/>
          <p:cNvSpPr/>
          <p:nvPr/>
        </p:nvSpPr>
        <p:spPr>
          <a:xfrm>
            <a:off x="8161020" y="3163967"/>
            <a:ext cx="617220" cy="17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2500万+</a:t>
            </a:r>
            <a:pPr algn="r" indent="0" marL="0">
              <a:lnSpc>
                <a:spcPct val="100000"/>
              </a:lnSpc>
              <a:buNone/>
            </a:pPr>
            <a:r>
              <a:rPr lang="en-US" sz="405" b="1" spc="-22" kern="0" dirty="0">
                <a:solidFill>
                  <a:srgbClr val="8FA3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2900" y="3680817"/>
            <a:ext cx="8458200" cy="982623"/>
          </a:xfrm>
          <a:prstGeom prst="rect">
            <a:avLst/>
          </a:prstGeom>
          <a:solidFill>
            <a:srgbClr val="FFFFFF"/>
          </a:solidFill>
          <a:ln w="5715">
            <a:solidFill>
              <a:srgbClr val="D6DB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8615" y="3686532"/>
            <a:ext cx="8446770" cy="240030"/>
          </a:xfrm>
          <a:prstGeom prst="rect">
            <a:avLst/>
          </a:prstGeom>
          <a:noFill/>
          <a:ln/>
        </p:spPr>
      </p:sp>
      <p:sp>
        <p:nvSpPr>
          <p:cNvPr id="73" name="Shape 71"/>
          <p:cNvSpPr/>
          <p:nvPr/>
        </p:nvSpPr>
        <p:spPr>
          <a:xfrm>
            <a:off x="348615" y="3926562"/>
            <a:ext cx="8446770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4345" y="3743682"/>
            <a:ext cx="151699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六格要点 · 从使用到变现的完整链路</a:t>
            </a:r>
            <a:endParaRPr lang="en-US" sz="675" dirty="0"/>
          </a:p>
        </p:txBody>
      </p:sp>
      <p:sp>
        <p:nvSpPr>
          <p:cNvPr id="75" name="Text 73"/>
          <p:cNvSpPr/>
          <p:nvPr/>
        </p:nvSpPr>
        <p:spPr>
          <a:xfrm>
            <a:off x="7903845" y="3769400"/>
            <a:ext cx="85770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FIG.02 / KEY POINTS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348615" y="3926562"/>
            <a:ext cx="2815530" cy="368439"/>
          </a:xfrm>
          <a:prstGeom prst="rect">
            <a:avLst/>
          </a:prstGeom>
          <a:noFill/>
          <a:ln/>
        </p:spPr>
      </p:sp>
      <p:sp>
        <p:nvSpPr>
          <p:cNvPr id="77" name="Shape 75"/>
          <p:cNvSpPr/>
          <p:nvPr/>
        </p:nvSpPr>
        <p:spPr>
          <a:xfrm>
            <a:off x="3164145" y="3926562"/>
            <a:ext cx="0" cy="368439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8615" y="4295001"/>
            <a:ext cx="2815530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4345" y="4006572"/>
            <a:ext cx="148590" cy="14859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80" name="Text 78"/>
          <p:cNvSpPr/>
          <p:nvPr/>
        </p:nvSpPr>
        <p:spPr>
          <a:xfrm>
            <a:off x="474345" y="4006572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585" dirty="0"/>
          </a:p>
        </p:txBody>
      </p:sp>
      <p:sp>
        <p:nvSpPr>
          <p:cNvPr id="81" name="Text 79"/>
          <p:cNvSpPr/>
          <p:nvPr/>
        </p:nvSpPr>
        <p:spPr>
          <a:xfrm>
            <a:off x="691515" y="4006572"/>
            <a:ext cx="2622128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95%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的企业在使用开源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691515" y="4122301"/>
            <a:ext cx="2622128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Hat 开发者经济调查多年结论，开源已从可选组件变为企业基础设施。</a:t>
            </a:r>
            <a:endParaRPr lang="en-US" sz="473" dirty="0"/>
          </a:p>
        </p:txBody>
      </p:sp>
      <p:sp>
        <p:nvSpPr>
          <p:cNvPr id="83" name="Shape 81"/>
          <p:cNvSpPr/>
          <p:nvPr/>
        </p:nvSpPr>
        <p:spPr>
          <a:xfrm>
            <a:off x="3164145" y="3926562"/>
            <a:ext cx="2815620" cy="368439"/>
          </a:xfrm>
          <a:prstGeom prst="rect">
            <a:avLst/>
          </a:prstGeom>
          <a:noFill/>
          <a:ln/>
        </p:spPr>
      </p:sp>
      <p:sp>
        <p:nvSpPr>
          <p:cNvPr id="84" name="Shape 82"/>
          <p:cNvSpPr/>
          <p:nvPr/>
        </p:nvSpPr>
        <p:spPr>
          <a:xfrm>
            <a:off x="5979765" y="3926562"/>
            <a:ext cx="0" cy="368439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64145" y="4295001"/>
            <a:ext cx="2815620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89875" y="4006572"/>
            <a:ext cx="148590" cy="14859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87" name="Text 85"/>
          <p:cNvSpPr/>
          <p:nvPr/>
        </p:nvSpPr>
        <p:spPr>
          <a:xfrm>
            <a:off x="3289875" y="4006572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585" dirty="0"/>
          </a:p>
        </p:txBody>
      </p:sp>
      <p:sp>
        <p:nvSpPr>
          <p:cNvPr id="88" name="Text 86"/>
          <p:cNvSpPr/>
          <p:nvPr/>
        </p:nvSpPr>
        <p:spPr>
          <a:xfrm>
            <a:off x="3507045" y="4006572"/>
            <a:ext cx="2622228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24%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的软件代码来自开源</a:t>
            </a:r>
            <a:endParaRPr lang="en-US" sz="563" dirty="0"/>
          </a:p>
        </p:txBody>
      </p:sp>
      <p:sp>
        <p:nvSpPr>
          <p:cNvPr id="89" name="Text 87"/>
          <p:cNvSpPr/>
          <p:nvPr/>
        </p:nvSpPr>
        <p:spPr>
          <a:xfrm>
            <a:off x="3507045" y="4122301"/>
            <a:ext cx="2622228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报告估计的开源代码占比，商业软件底层均大量依赖开源。</a:t>
            </a:r>
            <a:endParaRPr lang="en-US" sz="473" dirty="0"/>
          </a:p>
        </p:txBody>
      </p:sp>
      <p:sp>
        <p:nvSpPr>
          <p:cNvPr id="90" name="Shape 88"/>
          <p:cNvSpPr/>
          <p:nvPr/>
        </p:nvSpPr>
        <p:spPr>
          <a:xfrm>
            <a:off x="5979765" y="3926562"/>
            <a:ext cx="2815530" cy="368439"/>
          </a:xfrm>
          <a:prstGeom prst="rect">
            <a:avLst/>
          </a:prstGeom>
          <a:noFill/>
          <a:ln/>
        </p:spPr>
      </p:sp>
      <p:sp>
        <p:nvSpPr>
          <p:cNvPr id="91" name="Shape 89"/>
          <p:cNvSpPr/>
          <p:nvPr/>
        </p:nvSpPr>
        <p:spPr>
          <a:xfrm>
            <a:off x="5979765" y="4295001"/>
            <a:ext cx="2815530" cy="0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05495" y="4006572"/>
            <a:ext cx="148590" cy="14859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93" name="Text 91"/>
          <p:cNvSpPr/>
          <p:nvPr/>
        </p:nvSpPr>
        <p:spPr>
          <a:xfrm>
            <a:off x="6105495" y="4006572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585" dirty="0"/>
          </a:p>
        </p:txBody>
      </p:sp>
      <p:sp>
        <p:nvSpPr>
          <p:cNvPr id="94" name="Text 92"/>
          <p:cNvSpPr/>
          <p:nvPr/>
        </p:nvSpPr>
        <p:spPr>
          <a:xfrm>
            <a:off x="6322665" y="4006572"/>
            <a:ext cx="2628529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 营收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$18亿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（2023）</a:t>
            </a:r>
            <a:endParaRPr lang="en-US" sz="563" dirty="0"/>
          </a:p>
        </p:txBody>
      </p:sp>
      <p:sp>
        <p:nvSpPr>
          <p:cNvPr id="95" name="Text 93"/>
          <p:cNvSpPr/>
          <p:nvPr/>
        </p:nvSpPr>
        <p:spPr>
          <a:xfrm>
            <a:off x="6322665" y="4122301"/>
            <a:ext cx="2628529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主要来自企业订阅（GitHub Enterprise）与 Copilot AI 编码助手授权收入。</a:t>
            </a:r>
            <a:endParaRPr lang="en-US" sz="473" dirty="0"/>
          </a:p>
        </p:txBody>
      </p:sp>
      <p:sp>
        <p:nvSpPr>
          <p:cNvPr id="96" name="Shape 94"/>
          <p:cNvSpPr/>
          <p:nvPr/>
        </p:nvSpPr>
        <p:spPr>
          <a:xfrm>
            <a:off x="348615" y="4295001"/>
            <a:ext cx="2815530" cy="362724"/>
          </a:xfrm>
          <a:prstGeom prst="rect">
            <a:avLst/>
          </a:prstGeom>
          <a:noFill/>
          <a:ln/>
        </p:spPr>
      </p:sp>
      <p:sp>
        <p:nvSpPr>
          <p:cNvPr id="97" name="Shape 95"/>
          <p:cNvSpPr/>
          <p:nvPr/>
        </p:nvSpPr>
        <p:spPr>
          <a:xfrm>
            <a:off x="3164145" y="4295001"/>
            <a:ext cx="0" cy="362724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4345" y="4375011"/>
            <a:ext cx="148590" cy="14859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99" name="Text 97"/>
          <p:cNvSpPr/>
          <p:nvPr/>
        </p:nvSpPr>
        <p:spPr>
          <a:xfrm>
            <a:off x="474345" y="4375011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585" dirty="0"/>
          </a:p>
        </p:txBody>
      </p:sp>
      <p:sp>
        <p:nvSpPr>
          <p:cNvPr id="100" name="Text 98"/>
          <p:cNvSpPr/>
          <p:nvPr/>
        </p:nvSpPr>
        <p:spPr>
          <a:xfrm>
            <a:off x="691515" y="4375011"/>
            <a:ext cx="2622128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Docker 是典型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Core</a:t>
            </a:r>
            <a:endParaRPr lang="en-US" sz="563" dirty="0"/>
          </a:p>
        </p:txBody>
      </p:sp>
      <p:sp>
        <p:nvSpPr>
          <p:cNvPr id="101" name="Text 99"/>
          <p:cNvSpPr/>
          <p:nvPr/>
        </p:nvSpPr>
        <p:spPr>
          <a:xfrm>
            <a:off x="691515" y="4490740"/>
            <a:ext cx="2622128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开源核心 Moby 保持开放，Docker Desktop 商业双许可向企业收取许可费。</a:t>
            </a:r>
            <a:endParaRPr lang="en-US" sz="473" dirty="0"/>
          </a:p>
        </p:txBody>
      </p:sp>
      <p:sp>
        <p:nvSpPr>
          <p:cNvPr id="102" name="Shape 100"/>
          <p:cNvSpPr/>
          <p:nvPr/>
        </p:nvSpPr>
        <p:spPr>
          <a:xfrm>
            <a:off x="3164145" y="4295001"/>
            <a:ext cx="2815620" cy="362724"/>
          </a:xfrm>
          <a:prstGeom prst="rect">
            <a:avLst/>
          </a:prstGeom>
          <a:noFill/>
          <a:ln/>
        </p:spPr>
      </p:sp>
      <p:sp>
        <p:nvSpPr>
          <p:cNvPr id="103" name="Shape 101"/>
          <p:cNvSpPr/>
          <p:nvPr/>
        </p:nvSpPr>
        <p:spPr>
          <a:xfrm>
            <a:off x="5979765" y="4295001"/>
            <a:ext cx="0" cy="362724"/>
          </a:xfrm>
          <a:prstGeom prst="line">
            <a:avLst/>
          </a:prstGeom>
          <a:noFill/>
          <a:ln w="5715">
            <a:solidFill>
              <a:srgbClr val="D6DBE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289875" y="4375011"/>
            <a:ext cx="148590" cy="14859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05" name="Text 103"/>
          <p:cNvSpPr/>
          <p:nvPr/>
        </p:nvSpPr>
        <p:spPr>
          <a:xfrm>
            <a:off x="3289875" y="4375011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585" dirty="0"/>
          </a:p>
        </p:txBody>
      </p:sp>
      <p:sp>
        <p:nvSpPr>
          <p:cNvPr id="106" name="Text 104"/>
          <p:cNvSpPr/>
          <p:nvPr/>
        </p:nvSpPr>
        <p:spPr>
          <a:xfrm>
            <a:off x="3507045" y="4375011"/>
            <a:ext cx="2622228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基金会经济</a:t>
            </a:r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$4亿+</a:t>
            </a:r>
            <a:endParaRPr lang="en-US" sz="563" dirty="0"/>
          </a:p>
        </p:txBody>
      </p:sp>
      <p:sp>
        <p:nvSpPr>
          <p:cNvPr id="107" name="Text 105"/>
          <p:cNvSpPr/>
          <p:nvPr/>
        </p:nvSpPr>
        <p:spPr>
          <a:xfrm>
            <a:off x="3507045" y="4490740"/>
            <a:ext cx="2622228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Linux Foundation 年收入超 4 亿美元，会员超 1000 家，会费与培训为主要收入。</a:t>
            </a:r>
            <a:endParaRPr lang="en-US" sz="473" dirty="0"/>
          </a:p>
        </p:txBody>
      </p:sp>
      <p:sp>
        <p:nvSpPr>
          <p:cNvPr id="108" name="Shape 106"/>
          <p:cNvSpPr/>
          <p:nvPr/>
        </p:nvSpPr>
        <p:spPr>
          <a:xfrm>
            <a:off x="6105495" y="4375011"/>
            <a:ext cx="148590" cy="14859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09" name="Text 107"/>
          <p:cNvSpPr/>
          <p:nvPr/>
        </p:nvSpPr>
        <p:spPr>
          <a:xfrm>
            <a:off x="6105495" y="4375011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585" dirty="0"/>
          </a:p>
        </p:txBody>
      </p:sp>
      <p:sp>
        <p:nvSpPr>
          <p:cNvPr id="110" name="Text 108"/>
          <p:cNvSpPr/>
          <p:nvPr/>
        </p:nvSpPr>
        <p:spPr>
          <a:xfrm>
            <a:off x="6322665" y="4375011"/>
            <a:ext cx="2628529" cy="92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开源在中国的足迹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6322665" y="4485025"/>
            <a:ext cx="2628529" cy="869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73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Gitee 开发者 2500 万+，OpenAtom 开源原子基金会管理 HarmonyOS 等项目。</a:t>
            </a:r>
            <a:endParaRPr lang="en-US" sz="473" dirty="0"/>
          </a:p>
        </p:txBody>
      </p:sp>
      <p:sp>
        <p:nvSpPr>
          <p:cNvPr id="112" name="Shape 110"/>
          <p:cNvSpPr/>
          <p:nvPr/>
        </p:nvSpPr>
        <p:spPr>
          <a:xfrm>
            <a:off x="342900" y="4743450"/>
            <a:ext cx="8458200" cy="171450"/>
          </a:xfrm>
          <a:prstGeom prst="rect">
            <a:avLst/>
          </a:prstGeom>
          <a:noFill/>
          <a:ln/>
        </p:spPr>
      </p:sp>
      <p:sp>
        <p:nvSpPr>
          <p:cNvPr id="113" name="Shape 111"/>
          <p:cNvSpPr/>
          <p:nvPr/>
        </p:nvSpPr>
        <p:spPr>
          <a:xfrm>
            <a:off x="342900" y="4743450"/>
            <a:ext cx="845820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42900" y="4806315"/>
            <a:ext cx="1952244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"四种商业模式叠加，形成</a:t>
            </a:r>
            <a:pPr algn="l" indent="0" marL="0">
              <a:buNone/>
            </a:pPr>
            <a:r>
              <a:rPr lang="en-US" sz="585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数百亿美元</a:t>
            </a:r>
            <a:pPr algn="l" indent="0" marL="0">
              <a:buNone/>
            </a:pPr>
            <a:r>
              <a:rPr lang="en-US" sz="585" i="1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的隐形市场。"</a:t>
            </a:r>
            <a:endParaRPr lang="en-US" sz="585" dirty="0"/>
          </a:p>
        </p:txBody>
      </p:sp>
      <p:sp>
        <p:nvSpPr>
          <p:cNvPr id="115" name="Text 113"/>
          <p:cNvSpPr/>
          <p:nvPr/>
        </p:nvSpPr>
        <p:spPr>
          <a:xfrm>
            <a:off x="7269480" y="4826318"/>
            <a:ext cx="1715414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6B7A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SOURCE · BUSINESS MODELS · 2024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"/>
          </a:xfrm>
          <a:prstGeom prst="rect">
            <a:avLst/>
          </a:prstGeom>
          <a:gradFill rotWithShape="1">
            <a:gsLst>
              <a:gs pos="0">
                <a:srgbClr val="0D2137"/>
              </a:gs>
              <a:gs pos="62000">
                <a:srgbClr val="0D2137"/>
              </a:gs>
              <a:gs pos="62000">
                <a:srgbClr val="880E4F"/>
              </a:gs>
              <a:gs pos="78000">
                <a:srgbClr val="880E4F"/>
              </a:gs>
              <a:gs pos="78000">
                <a:srgbClr val="0D2137"/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48640" y="297180"/>
            <a:ext cx="8046720" cy="25146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804672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7180"/>
            <a:ext cx="83439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i="1" spc="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开源之书记录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48740" y="360045"/>
            <a:ext cx="16130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OASIS NOTES · ISSUE 09 / 2023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7200900" y="377190"/>
            <a:ext cx="65928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N° 10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7835265" y="408444"/>
            <a:ext cx="28575" cy="28575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377190"/>
            <a:ext cx="76809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 OF SHARE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548640" y="754380"/>
            <a:ext cx="9012326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880E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NOTE TO CLOSE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3757613" y="791349"/>
            <a:ext cx="20574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0648" y="791349"/>
            <a:ext cx="205740" cy="5715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74608" y="788670"/>
            <a:ext cx="2503170" cy="8858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860" b="1" spc="9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把开源</a:t>
            </a:r>
            <a:endParaRPr lang="en-US" sz="4860" dirty="0"/>
          </a:p>
        </p:txBody>
      </p:sp>
      <p:sp>
        <p:nvSpPr>
          <p:cNvPr id="14" name="Text 12"/>
          <p:cNvSpPr/>
          <p:nvPr/>
        </p:nvSpPr>
        <p:spPr>
          <a:xfrm>
            <a:off x="4460558" y="828675"/>
            <a:ext cx="1049274" cy="822960"/>
          </a:xfrm>
          <a:prstGeom prst="rect">
            <a:avLst/>
          </a:prstGeom>
          <a:noFill/>
          <a:ln/>
        </p:spPr>
        <p:txBody>
          <a:bodyPr wrap="none" lIns="0" tIns="34290" rIns="3429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860" i="1" spc="-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endParaRPr lang="en-US" sz="4860" dirty="0"/>
          </a:p>
        </p:txBody>
      </p:sp>
      <p:sp>
        <p:nvSpPr>
          <p:cNvPr id="15" name="Text 13"/>
          <p:cNvSpPr/>
          <p:nvPr/>
        </p:nvSpPr>
        <p:spPr>
          <a:xfrm>
            <a:off x="4683443" y="788670"/>
            <a:ext cx="2503170" cy="8858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860" b="1" spc="9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读下去</a:t>
            </a:r>
            <a:endParaRPr lang="en-US" sz="4860" dirty="0"/>
          </a:p>
        </p:txBody>
      </p:sp>
      <p:sp>
        <p:nvSpPr>
          <p:cNvPr id="16" name="Text 14"/>
          <p:cNvSpPr/>
          <p:nvPr/>
        </p:nvSpPr>
        <p:spPr>
          <a:xfrm>
            <a:off x="3591878" y="1686818"/>
            <a:ext cx="82867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90" kern="0" dirty="0">
                <a:solidFill>
                  <a:srgbClr val="3B48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开源之书记录</a:t>
            </a:r>
            <a:endParaRPr lang="en-US" sz="855" dirty="0"/>
          </a:p>
        </p:txBody>
      </p:sp>
      <p:sp>
        <p:nvSpPr>
          <p:cNvPr id="17" name="Text 15"/>
          <p:cNvSpPr/>
          <p:nvPr/>
        </p:nvSpPr>
        <p:spPr>
          <a:xfrm>
            <a:off x="4311968" y="1686818"/>
            <a:ext cx="262890" cy="148590"/>
          </a:xfrm>
          <a:prstGeom prst="rect">
            <a:avLst/>
          </a:prstGeom>
          <a:noFill/>
          <a:ln/>
        </p:spPr>
        <p:txBody>
          <a:bodyPr wrap="none" lIns="0" tIns="57150" rIns="57150" bIns="0" rtlCol="0" anchor="ctr"/>
          <a:lstStyle/>
          <a:p>
            <a:pPr algn="ctr" indent="0" marL="0">
              <a:buNone/>
            </a:pPr>
            <a:r>
              <a:rPr lang="en-US" sz="85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4466273" y="1686818"/>
            <a:ext cx="80010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90" kern="0" dirty="0">
                <a:solidFill>
                  <a:srgbClr val="3B48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2023 年 9 月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5157788" y="1686818"/>
            <a:ext cx="262890" cy="148590"/>
          </a:xfrm>
          <a:prstGeom prst="rect">
            <a:avLst/>
          </a:prstGeom>
          <a:noFill/>
          <a:ln/>
        </p:spPr>
        <p:txBody>
          <a:bodyPr wrap="none" lIns="0" tIns="57150" rIns="57150" bIns="0" rtlCol="0" anchor="ctr"/>
          <a:lstStyle/>
          <a:p>
            <a:pPr algn="ctr" indent="0" marL="0">
              <a:buNone/>
            </a:pPr>
            <a:r>
              <a:rPr lang="en-US" sz="855" b="1" spc="9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·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5312093" y="1686818"/>
            <a:ext cx="34861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90" kern="0" dirty="0">
                <a:solidFill>
                  <a:srgbClr val="3B48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适兕</a:t>
            </a:r>
            <a:endParaRPr lang="en-US" sz="855" dirty="0"/>
          </a:p>
        </p:txBody>
      </p:sp>
      <p:sp>
        <p:nvSpPr>
          <p:cNvPr id="21" name="Shape 19"/>
          <p:cNvSpPr/>
          <p:nvPr/>
        </p:nvSpPr>
        <p:spPr>
          <a:xfrm>
            <a:off x="4400550" y="1961138"/>
            <a:ext cx="342900" cy="1143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Shape 20"/>
          <p:cNvSpPr/>
          <p:nvPr/>
        </p:nvSpPr>
        <p:spPr>
          <a:xfrm>
            <a:off x="1314450" y="2378333"/>
            <a:ext cx="40005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29500" y="2378333"/>
            <a:ext cx="40005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74495" y="2195453"/>
            <a:ext cx="6490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500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分享的最后，我们回到</a:t>
            </a:r>
            <a:pPr algn="ctr" indent="0" marL="0">
              <a:lnSpc>
                <a:spcPct val="185000"/>
              </a:lnSpc>
              <a:buNone/>
            </a:pPr>
            <a:r>
              <a:rPr lang="en-US" sz="90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「读」</a:t>
            </a:r>
            <a:pPr algn="ctr" indent="0" marL="0">
              <a:lnSpc>
                <a:spcPct val="18500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这个动作。开源史本身就是一批读者变成作者的故事 —— 读到某段代码时产生疑问，然后自己</a:t>
            </a:r>
            <a:pPr algn="ctr" indent="0" marL="0">
              <a:lnSpc>
                <a:spcPct val="185000"/>
              </a:lnSpc>
              <a:buNone/>
            </a:pPr>
            <a:r>
              <a:rPr lang="en-US" sz="90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fork</a:t>
            </a:r>
            <a:pPr algn="ctr" indent="0" marL="0">
              <a:lnSpc>
                <a:spcPct val="18500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一份去改。希望这份 10 页提纲，能成为一个入口。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7545" y="2829818"/>
            <a:ext cx="68580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994785" y="2784098"/>
            <a:ext cx="129296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80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CLOSING NOTES —</a:t>
            </a:r>
            <a:endParaRPr lang="en-US" sz="585" dirty="0"/>
          </a:p>
        </p:txBody>
      </p:sp>
      <p:sp>
        <p:nvSpPr>
          <p:cNvPr id="27" name="Shape 25"/>
          <p:cNvSpPr/>
          <p:nvPr/>
        </p:nvSpPr>
        <p:spPr>
          <a:xfrm>
            <a:off x="5240655" y="2829818"/>
            <a:ext cx="685800" cy="5715"/>
          </a:xfrm>
          <a:prstGeom prst="rect">
            <a:avLst/>
          </a:prstGeom>
          <a:solidFill>
            <a:srgbClr val="0D2137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2950" y="3029843"/>
            <a:ext cx="2293590" cy="268605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742950" y="3298448"/>
            <a:ext cx="229359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950" y="3035558"/>
            <a:ext cx="301752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885825" y="3029843"/>
            <a:ext cx="91440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本期延伸阅读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2225010" y="3109853"/>
            <a:ext cx="90891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FURTHER READING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742950" y="3401318"/>
            <a:ext cx="2408270" cy="815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《开源：来自边缘的承诺》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Benjamin M._pkay · Open Source: A Promising Path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ii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《大教堂与集市》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Eric S. Raymond · The Cathedral and the Bazaar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iii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《How Linux Works》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Brian Ward · Understanding the Power of Linux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3230850" y="3029843"/>
            <a:ext cx="2682210" cy="1954530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3230850" y="3029843"/>
            <a:ext cx="0" cy="195453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30875" y="3029843"/>
            <a:ext cx="2287875" cy="268605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3430875" y="3298448"/>
            <a:ext cx="2287875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0875" y="3035558"/>
            <a:ext cx="389763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3625185" y="3029843"/>
            <a:ext cx="1045845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参与开源三步走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5084385" y="3109853"/>
            <a:ext cx="71048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GET INVOLVED</a:t>
            </a:r>
            <a:endParaRPr lang="en-US" sz="495" dirty="0"/>
          </a:p>
        </p:txBody>
      </p:sp>
      <p:sp>
        <p:nvSpPr>
          <p:cNvPr id="41" name="Shape 39"/>
          <p:cNvSpPr/>
          <p:nvPr/>
        </p:nvSpPr>
        <p:spPr>
          <a:xfrm>
            <a:off x="3430875" y="3401318"/>
            <a:ext cx="194310" cy="188595"/>
          </a:xfrm>
          <a:prstGeom prst="rect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0875" y="3401318"/>
            <a:ext cx="274320" cy="188595"/>
          </a:xfrm>
          <a:prstGeom prst="rect">
            <a:avLst/>
          </a:prstGeom>
          <a:noFill/>
          <a:ln/>
        </p:spPr>
        <p:txBody>
          <a:bodyPr wrap="none" lIns="34290" tIns="45720" rIns="45720" bIns="34290" rtlCol="0" anchor="ctr"/>
          <a:lstStyle/>
          <a:p>
            <a:pPr algn="ctr" indent="0" marL="0">
              <a:buNone/>
            </a:pPr>
            <a:r>
              <a:rPr lang="en-US" sz="630" b="1" i="1" spc="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3705195" y="3407033"/>
            <a:ext cx="2255182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找一个熟悉的仓库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3705195" y="3557855"/>
            <a:ext cx="2255182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14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从你日常已经在用的工具切入 —— 熟悉比兴趣更重要。</a:t>
            </a:r>
            <a:endParaRPr lang="en-US" sz="563" dirty="0"/>
          </a:p>
        </p:txBody>
      </p:sp>
      <p:sp>
        <p:nvSpPr>
          <p:cNvPr id="45" name="Text 43"/>
          <p:cNvSpPr/>
          <p:nvPr/>
        </p:nvSpPr>
        <p:spPr>
          <a:xfrm>
            <a:off x="3510885" y="3714304"/>
            <a:ext cx="2472809" cy="10858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>
                    <a:alpha val="18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↓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3430875" y="3868609"/>
            <a:ext cx="205740" cy="188595"/>
          </a:xfrm>
          <a:prstGeom prst="rect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0875" y="3868609"/>
            <a:ext cx="285750" cy="188595"/>
          </a:xfrm>
          <a:prstGeom prst="rect">
            <a:avLst/>
          </a:prstGeom>
          <a:noFill/>
          <a:ln/>
        </p:spPr>
        <p:txBody>
          <a:bodyPr wrap="none" lIns="34290" tIns="45720" rIns="45720" bIns="34290" rtlCol="0" anchor="ctr"/>
          <a:lstStyle/>
          <a:p>
            <a:pPr algn="ctr" indent="0" marL="0">
              <a:buNone/>
            </a:pPr>
            <a:r>
              <a:rPr lang="en-US" sz="630" b="1" i="1" spc="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3716625" y="3874324"/>
            <a:ext cx="2242380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修一个</a:t>
            </a:r>
            <a:pPr algn="l" indent="0" marL="0">
              <a:lnSpc>
                <a:spcPct val="140000"/>
              </a:lnSpc>
              <a:buNone/>
            </a:pPr>
            <a:r>
              <a:rPr lang="en-US" sz="72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typo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3716625" y="4025146"/>
            <a:ext cx="2242380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14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让第一次贡献足够小，小到只需要一次 review 就能合并。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3510885" y="4181594"/>
            <a:ext cx="2472809" cy="10858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>
                    <a:alpha val="18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↓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3430875" y="4335899"/>
            <a:ext cx="205740" cy="188595"/>
          </a:xfrm>
          <a:prstGeom prst="rect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30875" y="4335899"/>
            <a:ext cx="285750" cy="188595"/>
          </a:xfrm>
          <a:prstGeom prst="rect">
            <a:avLst/>
          </a:prstGeom>
          <a:noFill/>
          <a:ln/>
        </p:spPr>
        <p:txBody>
          <a:bodyPr wrap="none" lIns="34290" tIns="45720" rIns="45720" bIns="34290" rtlCol="0" anchor="ctr"/>
          <a:lstStyle/>
          <a:p>
            <a:pPr algn="ctr" indent="0" marL="0">
              <a:buNone/>
            </a:pPr>
            <a:r>
              <a:rPr lang="en-US" sz="630" b="1" i="1" spc="4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3716625" y="4341614"/>
            <a:ext cx="2242380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提一份有测试的 PR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716625" y="4492436"/>
            <a:ext cx="2242380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14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让改动配上测试用例 —— 这是被社区长期接受的最小诚意。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5913060" y="3029843"/>
            <a:ext cx="2682300" cy="195453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5913060" y="3029843"/>
            <a:ext cx="0" cy="195453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13085" y="3029843"/>
            <a:ext cx="2287965" cy="268605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6113085" y="3298448"/>
            <a:ext cx="2287965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13085" y="3035558"/>
            <a:ext cx="477774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i="1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990" dirty="0"/>
          </a:p>
        </p:txBody>
      </p:sp>
      <p:sp>
        <p:nvSpPr>
          <p:cNvPr id="60" name="Text 58"/>
          <p:cNvSpPr/>
          <p:nvPr/>
        </p:nvSpPr>
        <p:spPr>
          <a:xfrm>
            <a:off x="6358830" y="3029843"/>
            <a:ext cx="65151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下期预告</a:t>
            </a:r>
            <a:endParaRPr lang="en-US" sz="990" dirty="0"/>
          </a:p>
        </p:txBody>
      </p:sp>
      <p:sp>
        <p:nvSpPr>
          <p:cNvPr id="61" name="Text 59"/>
          <p:cNvSpPr/>
          <p:nvPr/>
        </p:nvSpPr>
        <p:spPr>
          <a:xfrm>
            <a:off x="7898130" y="3109853"/>
            <a:ext cx="56578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ISSUE</a:t>
            </a:r>
            <a:endParaRPr lang="en-US" sz="495" dirty="0"/>
          </a:p>
        </p:txBody>
      </p:sp>
      <p:sp>
        <p:nvSpPr>
          <p:cNvPr id="62" name="Shape 60"/>
          <p:cNvSpPr/>
          <p:nvPr/>
        </p:nvSpPr>
        <p:spPr>
          <a:xfrm>
            <a:off x="6113085" y="3401318"/>
            <a:ext cx="1400175" cy="22288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3" name="Shape 61"/>
          <p:cNvSpPr/>
          <p:nvPr/>
        </p:nvSpPr>
        <p:spPr>
          <a:xfrm>
            <a:off x="6204525" y="3495615"/>
            <a:ext cx="34290" cy="34290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64" name="Text 62"/>
          <p:cNvSpPr/>
          <p:nvPr/>
        </p:nvSpPr>
        <p:spPr>
          <a:xfrm>
            <a:off x="6295965" y="3447038"/>
            <a:ext cx="60579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90" kern="0" dirty="0">
                <a:solidFill>
                  <a:srgbClr val="F5F5F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许可证对比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6867465" y="3467040"/>
            <a:ext cx="6229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5" kern="0" dirty="0">
                <a:solidFill>
                  <a:srgbClr val="F5F5F5">
                    <a:alpha val="7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Licensing 101</a:t>
            </a:r>
            <a:endParaRPr lang="en-US" sz="540" dirty="0"/>
          </a:p>
        </p:txBody>
      </p:sp>
      <p:sp>
        <p:nvSpPr>
          <p:cNvPr id="66" name="Shape 64"/>
          <p:cNvSpPr/>
          <p:nvPr/>
        </p:nvSpPr>
        <p:spPr>
          <a:xfrm>
            <a:off x="6113085" y="3749933"/>
            <a:ext cx="1109692" cy="314325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113085" y="3749933"/>
            <a:ext cx="0" cy="314325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3095" y="3801368"/>
            <a:ext cx="10764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</a:t>
            </a:r>
            <a:endParaRPr lang="en-US" sz="630" dirty="0"/>
          </a:p>
        </p:txBody>
      </p:sp>
      <p:sp>
        <p:nvSpPr>
          <p:cNvPr id="69" name="Text 67"/>
          <p:cNvSpPr/>
          <p:nvPr/>
        </p:nvSpPr>
        <p:spPr>
          <a:xfrm>
            <a:off x="6193095" y="3921383"/>
            <a:ext cx="10764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宽松 · 最小约束</a:t>
            </a:r>
            <a:endParaRPr lang="en-US" sz="495" dirty="0"/>
          </a:p>
        </p:txBody>
      </p:sp>
      <p:sp>
        <p:nvSpPr>
          <p:cNvPr id="70" name="Shape 68"/>
          <p:cNvSpPr/>
          <p:nvPr/>
        </p:nvSpPr>
        <p:spPr>
          <a:xfrm>
            <a:off x="7291358" y="3749933"/>
            <a:ext cx="1109692" cy="314325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291358" y="3749933"/>
            <a:ext cx="0" cy="314325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71368" y="3801368"/>
            <a:ext cx="10764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Apache-2.0</a:t>
            </a:r>
            <a:endParaRPr lang="en-US" sz="630" dirty="0"/>
          </a:p>
        </p:txBody>
      </p:sp>
      <p:sp>
        <p:nvSpPr>
          <p:cNvPr id="73" name="Text 71"/>
          <p:cNvSpPr/>
          <p:nvPr/>
        </p:nvSpPr>
        <p:spPr>
          <a:xfrm>
            <a:off x="7371368" y="3921383"/>
            <a:ext cx="10764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宽松 · 附专利条款</a:t>
            </a:r>
            <a:endParaRPr lang="en-US" sz="495" dirty="0"/>
          </a:p>
        </p:txBody>
      </p:sp>
      <p:sp>
        <p:nvSpPr>
          <p:cNvPr id="74" name="Shape 72"/>
          <p:cNvSpPr/>
          <p:nvPr/>
        </p:nvSpPr>
        <p:spPr>
          <a:xfrm>
            <a:off x="6113085" y="4121408"/>
            <a:ext cx="1109692" cy="314325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6113085" y="4121408"/>
            <a:ext cx="0" cy="314325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3095" y="4172843"/>
            <a:ext cx="10764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GPL</a:t>
            </a:r>
            <a:endParaRPr lang="en-US" sz="630" dirty="0"/>
          </a:p>
        </p:txBody>
      </p:sp>
      <p:sp>
        <p:nvSpPr>
          <p:cNvPr id="77" name="Text 75"/>
          <p:cNvSpPr/>
          <p:nvPr/>
        </p:nvSpPr>
        <p:spPr>
          <a:xfrm>
            <a:off x="6193095" y="4292858"/>
            <a:ext cx="10764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强 Copyleft</a:t>
            </a:r>
            <a:endParaRPr lang="en-US" sz="495" dirty="0"/>
          </a:p>
        </p:txBody>
      </p:sp>
      <p:sp>
        <p:nvSpPr>
          <p:cNvPr id="78" name="Shape 76"/>
          <p:cNvSpPr/>
          <p:nvPr/>
        </p:nvSpPr>
        <p:spPr>
          <a:xfrm>
            <a:off x="7291358" y="4121408"/>
            <a:ext cx="1109692" cy="314325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7291358" y="4121408"/>
            <a:ext cx="0" cy="314325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71368" y="4172843"/>
            <a:ext cx="10764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AGPL</a:t>
            </a:r>
            <a:endParaRPr lang="en-US" sz="630" dirty="0"/>
          </a:p>
        </p:txBody>
      </p:sp>
      <p:sp>
        <p:nvSpPr>
          <p:cNvPr id="81" name="Text 79"/>
          <p:cNvSpPr/>
          <p:nvPr/>
        </p:nvSpPr>
        <p:spPr>
          <a:xfrm>
            <a:off x="7371368" y="4292858"/>
            <a:ext cx="10764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网络服务延伸</a:t>
            </a:r>
            <a:endParaRPr lang="en-US" sz="495" dirty="0"/>
          </a:p>
        </p:txBody>
      </p:sp>
      <p:sp>
        <p:nvSpPr>
          <p:cNvPr id="82" name="Shape 80"/>
          <p:cNvSpPr/>
          <p:nvPr/>
        </p:nvSpPr>
        <p:spPr>
          <a:xfrm>
            <a:off x="6113085" y="4492883"/>
            <a:ext cx="2287965" cy="31432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3" name="Shape 81"/>
          <p:cNvSpPr/>
          <p:nvPr/>
        </p:nvSpPr>
        <p:spPr>
          <a:xfrm>
            <a:off x="6113085" y="4492883"/>
            <a:ext cx="0" cy="314325"/>
          </a:xfrm>
          <a:prstGeom prst="line">
            <a:avLst/>
          </a:prstGeom>
          <a:noFill/>
          <a:ln w="11430">
            <a:solidFill>
              <a:srgbClr val="880E4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3095" y="4544318"/>
            <a:ext cx="239609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F5F5F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SSPL</a:t>
            </a:r>
            <a:endParaRPr lang="en-US" sz="630" dirty="0"/>
          </a:p>
        </p:txBody>
      </p:sp>
      <p:sp>
        <p:nvSpPr>
          <p:cNvPr id="85" name="Text 83"/>
          <p:cNvSpPr/>
          <p:nvPr/>
        </p:nvSpPr>
        <p:spPr>
          <a:xfrm>
            <a:off x="6193095" y="4664333"/>
            <a:ext cx="239609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F5F5F5">
                    <a:alpha val="75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 Side · 商用条款边界</a:t>
            </a:r>
            <a:endParaRPr lang="en-US" sz="495" dirty="0"/>
          </a:p>
        </p:txBody>
      </p:sp>
      <p:sp>
        <p:nvSpPr>
          <p:cNvPr id="86" name="Text 84"/>
          <p:cNvSpPr/>
          <p:nvPr/>
        </p:nvSpPr>
        <p:spPr>
          <a:xfrm>
            <a:off x="6113085" y="4887218"/>
            <a:ext cx="25625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45" kern="0" dirty="0">
                <a:solidFill>
                  <a:srgbClr val="6B74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Issue 10 / 2023 · 我们下期见</a:t>
            </a:r>
            <a:endParaRPr lang="en-US" sz="540" dirty="0"/>
          </a:p>
        </p:txBody>
      </p:sp>
      <p:sp>
        <p:nvSpPr>
          <p:cNvPr id="87" name="Shape 85"/>
          <p:cNvSpPr/>
          <p:nvPr/>
        </p:nvSpPr>
        <p:spPr>
          <a:xfrm>
            <a:off x="548640" y="4686300"/>
            <a:ext cx="8046720" cy="228600"/>
          </a:xfrm>
          <a:prstGeom prst="rect">
            <a:avLst/>
          </a:prstGeom>
          <a:noFill/>
          <a:ln/>
        </p:spPr>
      </p:sp>
      <p:sp>
        <p:nvSpPr>
          <p:cNvPr id="88" name="Shape 86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4794885"/>
            <a:ext cx="5486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i="1" spc="90" kern="0" dirty="0">
                <a:solidFill>
                  <a:srgbClr val="0D21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开源之书记录</a:t>
            </a:r>
            <a:endParaRPr lang="en-US" sz="540" dirty="0"/>
          </a:p>
        </p:txBody>
      </p:sp>
      <p:sp>
        <p:nvSpPr>
          <p:cNvPr id="90" name="Text 88"/>
          <p:cNvSpPr/>
          <p:nvPr/>
        </p:nvSpPr>
        <p:spPr>
          <a:xfrm>
            <a:off x="1108710" y="4800600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</a:t>
            </a:r>
            <a:endParaRPr lang="en-US" sz="540" dirty="0"/>
          </a:p>
        </p:txBody>
      </p:sp>
      <p:sp>
        <p:nvSpPr>
          <p:cNvPr id="91" name="Text 89"/>
          <p:cNvSpPr/>
          <p:nvPr/>
        </p:nvSpPr>
        <p:spPr>
          <a:xfrm>
            <a:off x="1217295" y="4800600"/>
            <a:ext cx="4114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2023-09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4406265" y="4797743"/>
            <a:ext cx="4457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i="1" spc="135" kern="0" dirty="0">
                <a:solidFill>
                  <a:srgbClr val="880E4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fin —</a:t>
            </a:r>
            <a:endParaRPr lang="en-US" sz="540" dirty="0"/>
          </a:p>
        </p:txBody>
      </p:sp>
      <p:sp>
        <p:nvSpPr>
          <p:cNvPr id="93" name="Text 91"/>
          <p:cNvSpPr/>
          <p:nvPr/>
        </p:nvSpPr>
        <p:spPr>
          <a:xfrm>
            <a:off x="7629525" y="4800600"/>
            <a:ext cx="65288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B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10 / 10</a:t>
            </a:r>
            <a:endParaRPr lang="en-US" sz="540" dirty="0"/>
          </a:p>
        </p:txBody>
      </p:sp>
      <p:sp>
        <p:nvSpPr>
          <p:cNvPr id="94" name="Shape 92"/>
          <p:cNvSpPr/>
          <p:nvPr/>
        </p:nvSpPr>
        <p:spPr>
          <a:xfrm>
            <a:off x="8292465" y="4772025"/>
            <a:ext cx="302895" cy="142875"/>
          </a:xfrm>
          <a:prstGeom prst="rect">
            <a:avLst/>
          </a:prstGeom>
          <a:noFill/>
          <a:ln w="5715">
            <a:solidFill>
              <a:srgbClr val="0D2137">
                <a:alpha val="18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92465" y="4772025"/>
            <a:ext cx="371475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D21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2026-08-28T20:32:19Z</dcterms:created>
  <dcterms:modified xsi:type="dcterms:W3CDTF">2026-08-28T20:32:19Z</dcterms:modified>
</cp:coreProperties>
</file>