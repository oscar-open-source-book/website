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许可证份额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4DD0E1"/>
              </a:solidFill>
              <a:effectLst/>
            </c:spPr>
          </c:dPt>
          <c:dPt>
            <c:idx val="3"/>
            <c:bubble3D val="0"/>
            <c:spPr>
              <a:solidFill>
                <a:srgbClr val="1E3A5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E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E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E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EF5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MIT / BSD 类</c:v>
                </c:pt>
                <c:pt idx="1">
                  <c:v>GPL 系</c:v>
                </c:pt>
                <c:pt idx="2">
                  <c:v>AGPL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18</c:v>
                </c:pt>
                <c:pt idx="2">
                  <c:v>12</c:v>
                </c:pt>
                <c:pt idx="3">
                  <c:v>25</c:v>
                </c:pt>
              </c:numCache>
            </c:numRef>
          </c:val>
        </c:ser>
        <c:firstSliceAng val="0"/>
        <c:holeSize val="4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GPL 系</c:v>
                </c:pt>
              </c:strCache>
            </c:strRef>
          </c:tx>
          <c:spPr>
            <a:solidFill>
              <a:srgbClr val="00BCD4"/>
            </a:solidFill>
            <a:ln w="25400" cap="flat">
              <a:solidFill>
                <a:srgbClr val="00BC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38</c:v>
                </c:pt>
                <c:pt idx="2">
                  <c:v>33</c:v>
                </c:pt>
                <c:pt idx="3">
                  <c:v>28</c:v>
                </c:pt>
                <c:pt idx="4">
                  <c:v>22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MIT / BSD 类</c:v>
                </c:pt>
              </c:strCache>
            </c:strRef>
          </c:tx>
          <c:spPr>
            <a:solidFill>
              <a:srgbClr val="2196F3"/>
            </a:solidFill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38</c:v>
                </c:pt>
                <c:pt idx="2">
                  <c:v>43</c:v>
                </c:pt>
                <c:pt idx="3">
                  <c:v>48</c:v>
                </c:pt>
                <c:pt idx="4">
                  <c:v>52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AGPL</c:v>
                </c:pt>
              </c:strCache>
            </c:strRef>
          </c:tx>
          <c:spPr>
            <a:solidFill>
              <a:srgbClr val="4DD0E1"/>
            </a:solidFill>
            <a:ln w="25400" cap="flat">
              <a:solidFill>
                <a:srgbClr val="4DD0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DD0E1"/>
              </a:solidFill>
              <a:ln w="9525" cap="flat">
                <a:solidFill>
                  <a:srgbClr val="4DD0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3A5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6283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6E7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285750"/>
            <a:ext cx="9473184" cy="326827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3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pPr algn="ctr" indent="0" marL="0">
              <a:lnSpc>
                <a:spcPct val="110000"/>
              </a:lnSpc>
              <a:buNone/>
            </a:pPr>
            <a:r>
              <a:rPr lang="en-US" sz="23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lnSpc>
                <a:spcPct val="110000"/>
              </a:lnSpc>
              <a:buNone/>
            </a:pPr>
            <a:r>
              <a:rPr lang="en-US" sz="23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的燃烧与成长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342900" y="681157"/>
            <a:ext cx="947318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2023年4月开源之书记录</a:t>
            </a:r>
            <a:pPr algn="ctr" indent="0" marL="0">
              <a:buNone/>
            </a:pPr>
            <a:r>
              <a:rPr lang="en-US" sz="63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pPr algn="ctr" indent="0" marL="0">
              <a:buNone/>
            </a:pPr>
            <a:r>
              <a:rPr lang="en-US" sz="63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GPL生态的深度观察与开源布道</a:t>
            </a:r>
            <a:endParaRPr lang="en-US" sz="630" dirty="0"/>
          </a:p>
        </p:txBody>
      </p:sp>
      <p:sp>
        <p:nvSpPr>
          <p:cNvPr id="5" name="Shape 3"/>
          <p:cNvSpPr/>
          <p:nvPr/>
        </p:nvSpPr>
        <p:spPr>
          <a:xfrm>
            <a:off x="1714500" y="898327"/>
            <a:ext cx="5715000" cy="3086100"/>
          </a:xfrm>
          <a:prstGeom prst="roundRect">
            <a:avLst>
              <a:gd name="adj" fmla="val 1111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65935" y="949762"/>
            <a:ext cx="80010" cy="8001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765935" y="949762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5935" y="949762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98055" y="949762"/>
            <a:ext cx="80010" cy="8001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7298055" y="949762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8065" y="949762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5935" y="3852982"/>
            <a:ext cx="80010" cy="8001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765935" y="3932992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5935" y="3852982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8055" y="3852982"/>
            <a:ext cx="80010" cy="8001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7378065" y="3852982"/>
            <a:ext cx="0" cy="8001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8055" y="3932992"/>
            <a:ext cx="8001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pic>
        <p:nvPicPr>
          <p:cNvPr id="18" name="Image 0" descr="/home/lee/developing/oscar-open-source-book/website/slides-src/2023-04-gpl-burn-and-growth/images/page_001_hero.png">    </p:cNvPr>
          <p:cNvPicPr>
            <a:picLocks noChangeAspect="1"/>
          </p:cNvPicPr>
          <p:nvPr/>
        </p:nvPicPr>
        <p:blipFill>
          <a:blip r:embed="rId1"/>
          <a:srcRect l="0" r="0" t="1708" b="1708"/>
          <a:stretch/>
        </p:blipFill>
        <p:spPr>
          <a:xfrm>
            <a:off x="1720215" y="904042"/>
            <a:ext cx="5703570" cy="307467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20215" y="3835837"/>
            <a:ext cx="63879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80" kern="0" dirty="0">
                <a:solidFill>
                  <a:srgbClr val="80CB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 L A M E     ×     C O D E     ×     G P L</a:t>
            </a:r>
            <a:endParaRPr lang="en-US" sz="495" dirty="0"/>
          </a:p>
        </p:txBody>
      </p:sp>
      <p:sp>
        <p:nvSpPr>
          <p:cNvPr id="20" name="Shape 17"/>
          <p:cNvSpPr/>
          <p:nvPr/>
        </p:nvSpPr>
        <p:spPr>
          <a:xfrm>
            <a:off x="400050" y="411872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" y="4087297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记录时间</a:t>
            </a:r>
            <a:endParaRPr lang="en-US" sz="540" dirty="0"/>
          </a:p>
        </p:txBody>
      </p:sp>
      <p:sp>
        <p:nvSpPr>
          <p:cNvPr id="22" name="Text 19"/>
          <p:cNvSpPr/>
          <p:nvPr/>
        </p:nvSpPr>
        <p:spPr>
          <a:xfrm>
            <a:off x="822960" y="4087297"/>
            <a:ext cx="127375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：2023-04（月度开源之书记录）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7440930" y="4087297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核心议题</a:t>
            </a:r>
            <a:endParaRPr lang="en-US" sz="540" dirty="0"/>
          </a:p>
        </p:txBody>
      </p:sp>
      <p:sp>
        <p:nvSpPr>
          <p:cNvPr id="24" name="Text 21"/>
          <p:cNvSpPr/>
          <p:nvPr/>
        </p:nvSpPr>
        <p:spPr>
          <a:xfrm>
            <a:off x="7783830" y="4087297"/>
            <a:ext cx="98572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：GPL（通用公共许可证）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8709660" y="411872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2900" y="4241602"/>
            <a:ext cx="9473184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GPL许可证再次成为全球开源社区的焦点话题，本书记录了GPL生态在争议中燃烧、在争议中成长的双面图景</a:t>
            </a:r>
            <a:endParaRPr lang="en-US" sz="495" dirty="0"/>
          </a:p>
        </p:txBody>
      </p:sp>
      <p:sp>
        <p:nvSpPr>
          <p:cNvPr id="27" name="Shape 24"/>
          <p:cNvSpPr/>
          <p:nvPr/>
        </p:nvSpPr>
        <p:spPr>
          <a:xfrm>
            <a:off x="342900" y="4422160"/>
            <a:ext cx="2758380" cy="384423"/>
          </a:xfrm>
          <a:prstGeom prst="roundRect">
            <a:avLst>
              <a:gd name="adj" fmla="val 5947"/>
            </a:avLst>
          </a:prstGeom>
          <a:solidFill>
            <a:srgbClr val="0A0E1A">
              <a:alpha val="72000"/>
            </a:srgbClr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64119" y="4422160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29" name="Text 26"/>
          <p:cNvSpPr/>
          <p:nvPr/>
        </p:nvSpPr>
        <p:spPr>
          <a:xfrm>
            <a:off x="451485" y="4496455"/>
            <a:ext cx="285895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585" dirty="0"/>
          </a:p>
          <a:p>
            <a:pPr algn="l" indent="0" marL="0">
              <a:buNone/>
            </a:pPr>
            <a:r>
              <a:rPr lang="en-US" sz="585" b="1" spc="45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585" dirty="0"/>
          </a:p>
        </p:txBody>
      </p:sp>
      <p:sp>
        <p:nvSpPr>
          <p:cNvPr id="30" name="Shape 27"/>
          <p:cNvSpPr/>
          <p:nvPr/>
        </p:nvSpPr>
        <p:spPr>
          <a:xfrm>
            <a:off x="451485" y="4502170"/>
            <a:ext cx="148590" cy="97155"/>
          </a:xfrm>
          <a:prstGeom prst="roundRect">
            <a:avLst>
              <a:gd name="adj" fmla="val 11765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51485" y="4502170"/>
            <a:ext cx="205740" cy="9715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451485" y="4639330"/>
            <a:ext cx="285895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记录GPL许可证在全球开源社区中的争议、合规事件与持续增长</a:t>
            </a:r>
            <a:endParaRPr lang="en-US" sz="473" dirty="0"/>
          </a:p>
        </p:txBody>
      </p:sp>
      <p:sp>
        <p:nvSpPr>
          <p:cNvPr id="33" name="Shape 30"/>
          <p:cNvSpPr/>
          <p:nvPr/>
        </p:nvSpPr>
        <p:spPr>
          <a:xfrm>
            <a:off x="3192720" y="4422160"/>
            <a:ext cx="2758470" cy="384423"/>
          </a:xfrm>
          <a:prstGeom prst="roundRect">
            <a:avLst>
              <a:gd name="adj" fmla="val 5947"/>
            </a:avLst>
          </a:prstGeom>
          <a:solidFill>
            <a:srgbClr val="0A0E1A">
              <a:alpha val="72000"/>
            </a:srgbClr>
          </a:solidFill>
          <a:ln w="1714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14031" y="4422160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35" name="Text 32"/>
          <p:cNvSpPr/>
          <p:nvPr/>
        </p:nvSpPr>
        <p:spPr>
          <a:xfrm>
            <a:off x="3301305" y="4496455"/>
            <a:ext cx="285905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585" dirty="0"/>
          </a:p>
          <a:p>
            <a:pPr algn="l" indent="0" marL="0">
              <a:buNone/>
            </a:pPr>
            <a:r>
              <a:rPr lang="en-US" sz="585" b="1" spc="45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燃烧与成长</a:t>
            </a:r>
            <a:endParaRPr lang="en-US" sz="585" dirty="0"/>
          </a:p>
        </p:txBody>
      </p:sp>
      <p:sp>
        <p:nvSpPr>
          <p:cNvPr id="36" name="Shape 33"/>
          <p:cNvSpPr/>
          <p:nvPr/>
        </p:nvSpPr>
        <p:spPr>
          <a:xfrm>
            <a:off x="3301305" y="4502170"/>
            <a:ext cx="148590" cy="97155"/>
          </a:xfrm>
          <a:prstGeom prst="roundRect">
            <a:avLst>
              <a:gd name="adj" fmla="val 11765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3301305" y="4502170"/>
            <a:ext cx="205740" cy="9715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450" dirty="0"/>
          </a:p>
        </p:txBody>
      </p:sp>
      <p:sp>
        <p:nvSpPr>
          <p:cNvPr id="38" name="Text 35"/>
          <p:cNvSpPr/>
          <p:nvPr/>
        </p:nvSpPr>
        <p:spPr>
          <a:xfrm>
            <a:off x="3301305" y="4639330"/>
            <a:ext cx="285905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GPL合规冲突如烈火般考验社区，但生态规模仍在持续扩张</a:t>
            </a:r>
            <a:endParaRPr lang="en-US" sz="473" dirty="0"/>
          </a:p>
        </p:txBody>
      </p:sp>
      <p:sp>
        <p:nvSpPr>
          <p:cNvPr id="39" name="Shape 36"/>
          <p:cNvSpPr/>
          <p:nvPr/>
        </p:nvSpPr>
        <p:spPr>
          <a:xfrm>
            <a:off x="6042630" y="4422160"/>
            <a:ext cx="2758380" cy="384423"/>
          </a:xfrm>
          <a:prstGeom prst="roundRect">
            <a:avLst>
              <a:gd name="adj" fmla="val 5947"/>
            </a:avLst>
          </a:prstGeom>
          <a:solidFill>
            <a:srgbClr val="0A0E1A">
              <a:alpha val="72000"/>
            </a:srgbClr>
          </a:solidFill>
          <a:ln w="17145">
            <a:solidFill>
              <a:srgbClr val="64B5F6">
                <a:alpha val="2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63849" y="4422160"/>
            <a:ext cx="114300" cy="114300"/>
          </a:xfrm>
          <a:prstGeom prst="rect">
            <a:avLst/>
          </a:prstGeom>
          <a:gradFill rotWithShape="1">
            <a:gsLst>
              <a:gs pos="0">
                <a:srgbClr val="00BCD4">
                  <a:alpha val="15000"/>
                </a:srgbClr>
              </a:gs>
              <a:gs pos="60000">
                <a:srgbClr val="000000">
                  <a:alpha val="0"/>
                </a:srgbClr>
              </a:gs>
            </a:gsLst>
            <a:lin ang="8100000" scaled="0"/>
          </a:gradFill>
          <a:ln/>
        </p:spPr>
      </p:sp>
      <p:sp>
        <p:nvSpPr>
          <p:cNvPr id="41" name="Text 38"/>
          <p:cNvSpPr/>
          <p:nvPr/>
        </p:nvSpPr>
        <p:spPr>
          <a:xfrm>
            <a:off x="6151215" y="4496455"/>
            <a:ext cx="285895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585" dirty="0"/>
          </a:p>
          <a:p>
            <a:pPr algn="l" indent="0" marL="0">
              <a:buNone/>
            </a:pPr>
            <a:r>
              <a:rPr lang="en-US" sz="585" b="1" spc="45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开源布道视角</a:t>
            </a:r>
            <a:endParaRPr lang="en-US" sz="585" dirty="0"/>
          </a:p>
        </p:txBody>
      </p:sp>
      <p:sp>
        <p:nvSpPr>
          <p:cNvPr id="42" name="Shape 39"/>
          <p:cNvSpPr/>
          <p:nvPr/>
        </p:nvSpPr>
        <p:spPr>
          <a:xfrm>
            <a:off x="6151215" y="4502170"/>
            <a:ext cx="148590" cy="97155"/>
          </a:xfrm>
          <a:prstGeom prst="roundRect">
            <a:avLst>
              <a:gd name="adj" fmla="val 11765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151215" y="4502170"/>
            <a:ext cx="205740" cy="9715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6151215" y="4639330"/>
            <a:ext cx="285895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从开源布道者的立场，审视GPL哲学在当代的技术与经济意义</a:t>
            </a:r>
            <a:endParaRPr lang="en-US" sz="47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3" name="Image 0" descr="/home/lee/developing/oscar-open-source-book/website/slides-src/2023-04-gpl-burn-and-growth/images/page_002_side_o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0" y="3600450"/>
            <a:ext cx="137160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00950" y="3600450"/>
            <a:ext cx="1371600" cy="1371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71450" y="171450"/>
            <a:ext cx="137160" cy="13716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171450" y="171450"/>
            <a:ext cx="137160" cy="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1450" y="171450"/>
            <a:ext cx="0" cy="13716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35390" y="171450"/>
            <a:ext cx="137160" cy="137160"/>
          </a:xfrm>
          <a:prstGeom prst="rect">
            <a:avLst/>
          </a:prstGeom>
          <a:noFill/>
          <a:ln/>
        </p:spPr>
      </p:sp>
      <p:sp>
        <p:nvSpPr>
          <p:cNvPr id="9" name="Shape 6"/>
          <p:cNvSpPr/>
          <p:nvPr/>
        </p:nvSpPr>
        <p:spPr>
          <a:xfrm>
            <a:off x="8835390" y="171450"/>
            <a:ext cx="137160" cy="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72550" y="171450"/>
            <a:ext cx="0" cy="13716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1450" y="483489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171450" y="4972050"/>
            <a:ext cx="137160" cy="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1450" y="4834890"/>
            <a:ext cx="0" cy="13716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35390" y="483489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8972550" y="4834890"/>
            <a:ext cx="0" cy="13716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35390" y="4972050"/>
            <a:ext cx="137160" cy="0"/>
          </a:xfrm>
          <a:prstGeom prst="line">
            <a:avLst/>
          </a:prstGeom>
          <a:noFill/>
          <a:ln w="5715">
            <a:solidFill>
              <a:srgbClr val="E8F0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" y="342900"/>
            <a:ext cx="84582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30000">
                <a:srgbClr val="000000">
                  <a:alpha val="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342900" y="36576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060" y="342900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TRANSITION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1600200" y="385763"/>
            <a:ext cx="342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Text 18"/>
          <p:cNvSpPr/>
          <p:nvPr/>
        </p:nvSpPr>
        <p:spPr>
          <a:xfrm>
            <a:off x="2034540" y="342900"/>
            <a:ext cx="7680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 01 / 04</a:t>
            </a:r>
            <a:endParaRPr lang="en-US" sz="540" dirty="0"/>
          </a:p>
        </p:txBody>
      </p:sp>
      <p:sp>
        <p:nvSpPr>
          <p:cNvPr id="22" name="Shape 19"/>
          <p:cNvSpPr/>
          <p:nvPr/>
        </p:nvSpPr>
        <p:spPr>
          <a:xfrm>
            <a:off x="2811780" y="385763"/>
            <a:ext cx="342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3246120" y="342900"/>
            <a:ext cx="2400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</a:t>
            </a:r>
            <a:endParaRPr lang="en-US" sz="540" dirty="0"/>
          </a:p>
        </p:txBody>
      </p:sp>
      <p:sp>
        <p:nvSpPr>
          <p:cNvPr id="24" name="Shape 21"/>
          <p:cNvSpPr/>
          <p:nvPr/>
        </p:nvSpPr>
        <p:spPr>
          <a:xfrm>
            <a:off x="645795" y="477203"/>
            <a:ext cx="3200400" cy="32004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25" name="Image 1" descr="/home/lee/developing/oscar-open-source-book/website/slides-src/2023-04-gpl-burn-and-growth/images/page_002_chapter_mar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7245" y="648653"/>
            <a:ext cx="2857500" cy="28575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983105" y="3237548"/>
            <a:ext cx="987552" cy="49720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8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240" b="1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40" dirty="0"/>
          </a:p>
        </p:txBody>
      </p:sp>
      <p:sp>
        <p:nvSpPr>
          <p:cNvPr id="27" name="Text 23"/>
          <p:cNvSpPr/>
          <p:nvPr/>
        </p:nvSpPr>
        <p:spPr>
          <a:xfrm>
            <a:off x="1994535" y="4134803"/>
            <a:ext cx="5657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 ONE</a:t>
            </a:r>
            <a:endParaRPr lang="en-US" sz="495" dirty="0"/>
          </a:p>
        </p:txBody>
      </p:sp>
      <p:sp>
        <p:nvSpPr>
          <p:cNvPr id="28" name="Text 24"/>
          <p:cNvSpPr/>
          <p:nvPr/>
        </p:nvSpPr>
        <p:spPr>
          <a:xfrm>
            <a:off x="1994535" y="4266248"/>
            <a:ext cx="58293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GPL全景</a:t>
            </a:r>
            <a:endParaRPr lang="en-US" sz="630" dirty="0"/>
          </a:p>
        </p:txBody>
      </p:sp>
      <p:sp>
        <p:nvSpPr>
          <p:cNvPr id="29" name="Text 25"/>
          <p:cNvSpPr/>
          <p:nvPr/>
        </p:nvSpPr>
        <p:spPr>
          <a:xfrm>
            <a:off x="4377690" y="571500"/>
            <a:ext cx="4736592" cy="28798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90" b="1" spc="90" kern="0" dirty="0">
                <a:solidFill>
                  <a:srgbClr val="E8F0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第一部分：GPL全景</a:t>
            </a:r>
            <a:endParaRPr lang="en-US" sz="1890" dirty="0"/>
          </a:p>
        </p:txBody>
      </p:sp>
      <p:sp>
        <p:nvSpPr>
          <p:cNvPr id="30" name="Text 26"/>
          <p:cNvSpPr/>
          <p:nvPr/>
        </p:nvSpPr>
        <p:spPr>
          <a:xfrm>
            <a:off x="4377690" y="973782"/>
            <a:ext cx="473659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68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从许可证哲学到全球开源生态的结构性观察</a:t>
            </a:r>
            <a:endParaRPr lang="en-US" sz="675" dirty="0"/>
          </a:p>
        </p:txBody>
      </p:sp>
      <p:sp>
        <p:nvSpPr>
          <p:cNvPr id="31" name="Shape 27"/>
          <p:cNvSpPr/>
          <p:nvPr/>
        </p:nvSpPr>
        <p:spPr>
          <a:xfrm>
            <a:off x="4377690" y="1305252"/>
            <a:ext cx="4229100" cy="605076"/>
          </a:xfrm>
          <a:prstGeom prst="roundRect">
            <a:avLst>
              <a:gd name="adj" fmla="val 1889"/>
            </a:avLst>
          </a:prstGeom>
          <a:solidFill>
            <a:srgbClr val="2196F3">
              <a:alpha val="4000"/>
            </a:srgbClr>
          </a:solidFill>
          <a:ln w="1714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09135" y="1402407"/>
            <a:ext cx="44549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CONTEXT</a:t>
            </a:r>
            <a:endParaRPr lang="en-US" sz="495" dirty="0"/>
          </a:p>
        </p:txBody>
      </p:sp>
      <p:sp>
        <p:nvSpPr>
          <p:cNvPr id="33" name="Shape 29"/>
          <p:cNvSpPr/>
          <p:nvPr/>
        </p:nvSpPr>
        <p:spPr>
          <a:xfrm>
            <a:off x="4509135" y="1516707"/>
            <a:ext cx="22860" cy="9144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600575" y="1516707"/>
            <a:ext cx="64579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GPL是什么</a:t>
            </a:r>
            <a:endParaRPr lang="en-US" sz="720" dirty="0"/>
          </a:p>
        </p:txBody>
      </p:sp>
      <p:sp>
        <p:nvSpPr>
          <p:cNvPr id="35" name="Text 31"/>
          <p:cNvSpPr/>
          <p:nvPr/>
        </p:nvSpPr>
        <p:spPr>
          <a:xfrm>
            <a:off x="4509135" y="1688157"/>
            <a:ext cx="4454957" cy="125016"/>
          </a:xfrm>
          <a:prstGeom prst="rect">
            <a:avLst/>
          </a:prstGeom>
          <a:noFill/>
          <a:ln/>
        </p:spPr>
        <p:txBody>
          <a:bodyPr wrap="none" lIns="0" tIns="9144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GNU通用公共许可证是自由软件运动的核心法律工具，确保软件自由不被剥夺</a:t>
            </a:r>
            <a:endParaRPr lang="en-US" sz="563" dirty="0"/>
          </a:p>
        </p:txBody>
      </p:sp>
      <p:sp>
        <p:nvSpPr>
          <p:cNvPr id="36" name="Shape 32"/>
          <p:cNvSpPr/>
          <p:nvPr/>
        </p:nvSpPr>
        <p:spPr>
          <a:xfrm>
            <a:off x="4377690" y="2001768"/>
            <a:ext cx="4229100" cy="605076"/>
          </a:xfrm>
          <a:prstGeom prst="roundRect">
            <a:avLst>
              <a:gd name="adj" fmla="val 1889"/>
            </a:avLst>
          </a:prstGeom>
          <a:solidFill>
            <a:srgbClr val="2196F3">
              <a:alpha val="4000"/>
            </a:srgbClr>
          </a:solidFill>
          <a:ln w="1714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09135" y="2098923"/>
            <a:ext cx="44549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SIGNIFICANCE</a:t>
            </a:r>
            <a:endParaRPr lang="en-US" sz="495" dirty="0"/>
          </a:p>
        </p:txBody>
      </p:sp>
      <p:sp>
        <p:nvSpPr>
          <p:cNvPr id="38" name="Shape 34"/>
          <p:cNvSpPr/>
          <p:nvPr/>
        </p:nvSpPr>
        <p:spPr>
          <a:xfrm>
            <a:off x="4509135" y="2213223"/>
            <a:ext cx="22860" cy="9144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4600575" y="2213223"/>
            <a:ext cx="5257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为何重要</a:t>
            </a:r>
            <a:endParaRPr lang="en-US" sz="720" dirty="0"/>
          </a:p>
        </p:txBody>
      </p:sp>
      <p:sp>
        <p:nvSpPr>
          <p:cNvPr id="40" name="Text 36"/>
          <p:cNvSpPr/>
          <p:nvPr/>
        </p:nvSpPr>
        <p:spPr>
          <a:xfrm>
            <a:off x="4509135" y="2384673"/>
            <a:ext cx="4454957" cy="125016"/>
          </a:xfrm>
          <a:prstGeom prst="rect">
            <a:avLst/>
          </a:prstGeom>
          <a:noFill/>
          <a:ln/>
        </p:spPr>
        <p:txBody>
          <a:bodyPr wrap="none" lIns="0" tIns="9144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全球数千万个开源项目采用GPL家族许可证，Linux内核是其最著名的代表</a:t>
            </a:r>
            <a:endParaRPr lang="en-US" sz="563" dirty="0"/>
          </a:p>
        </p:txBody>
      </p:sp>
      <p:sp>
        <p:nvSpPr>
          <p:cNvPr id="41" name="Shape 37"/>
          <p:cNvSpPr/>
          <p:nvPr/>
        </p:nvSpPr>
        <p:spPr>
          <a:xfrm>
            <a:off x="4377690" y="2698284"/>
            <a:ext cx="4229100" cy="605076"/>
          </a:xfrm>
          <a:prstGeom prst="roundRect">
            <a:avLst>
              <a:gd name="adj" fmla="val 1889"/>
            </a:avLst>
          </a:prstGeom>
          <a:solidFill>
            <a:srgbClr val="2196F3">
              <a:alpha val="4000"/>
            </a:srgbClr>
          </a:solidFill>
          <a:ln w="1714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509135" y="2795439"/>
            <a:ext cx="44549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FOCUS</a:t>
            </a:r>
            <a:endParaRPr lang="en-US" sz="495" dirty="0"/>
          </a:p>
        </p:txBody>
      </p:sp>
      <p:sp>
        <p:nvSpPr>
          <p:cNvPr id="43" name="Shape 39"/>
          <p:cNvSpPr/>
          <p:nvPr/>
        </p:nvSpPr>
        <p:spPr>
          <a:xfrm>
            <a:off x="4509135" y="2909739"/>
            <a:ext cx="22860" cy="9144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44" name="Text 40"/>
          <p:cNvSpPr/>
          <p:nvPr/>
        </p:nvSpPr>
        <p:spPr>
          <a:xfrm>
            <a:off x="4600575" y="2909739"/>
            <a:ext cx="5257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本季焦点</a:t>
            </a:r>
            <a:endParaRPr lang="en-US" sz="720" dirty="0"/>
          </a:p>
        </p:txBody>
      </p:sp>
      <p:sp>
        <p:nvSpPr>
          <p:cNvPr id="45" name="Text 41"/>
          <p:cNvSpPr/>
          <p:nvPr/>
        </p:nvSpPr>
        <p:spPr>
          <a:xfrm>
            <a:off x="4509135" y="3081189"/>
            <a:ext cx="4454957" cy="125016"/>
          </a:xfrm>
          <a:prstGeom prst="rect">
            <a:avLst/>
          </a:prstGeom>
          <a:noFill/>
          <a:ln/>
        </p:spPr>
        <p:txBody>
          <a:bodyPr wrap="none" lIns="0" tIns="9144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2023年4月GPL生态面临合规争议加剧与项目增长并存的复杂局面</a:t>
            </a:r>
            <a:endParaRPr lang="en-US" sz="563" dirty="0"/>
          </a:p>
        </p:txBody>
      </p:sp>
      <p:sp>
        <p:nvSpPr>
          <p:cNvPr id="46" name="Shape 42"/>
          <p:cNvSpPr/>
          <p:nvPr/>
        </p:nvSpPr>
        <p:spPr>
          <a:xfrm>
            <a:off x="4377690" y="3429089"/>
            <a:ext cx="4229100" cy="283964"/>
          </a:xfrm>
          <a:prstGeom prst="rect">
            <a:avLst/>
          </a:prstGeom>
          <a:noFill/>
          <a:ln/>
        </p:spPr>
      </p:sp>
      <p:sp>
        <p:nvSpPr>
          <p:cNvPr id="47" name="Shape 43"/>
          <p:cNvSpPr/>
          <p:nvPr/>
        </p:nvSpPr>
        <p:spPr>
          <a:xfrm>
            <a:off x="4377690" y="3429089"/>
            <a:ext cx="422910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377690" y="3429089"/>
            <a:ext cx="4736592" cy="283964"/>
          </a:xfrm>
          <a:prstGeom prst="rect">
            <a:avLst/>
          </a:prstGeom>
          <a:noFill/>
          <a:ln/>
        </p:spPr>
        <p:txBody>
          <a:bodyPr wrap="square" lIns="80010" tIns="102870" rIns="102870" bIns="80010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进入GPL的全景视野，我们需要同时理解它的法律哲学、技术影响力和社区生态，才能看清燃烧与成长并存的本质。</a:t>
            </a:r>
            <a:endParaRPr lang="en-US" sz="518" dirty="0"/>
          </a:p>
        </p:txBody>
      </p:sp>
      <p:sp>
        <p:nvSpPr>
          <p:cNvPr id="49" name="Shape 45"/>
          <p:cNvSpPr/>
          <p:nvPr/>
        </p:nvSpPr>
        <p:spPr>
          <a:xfrm>
            <a:off x="4377690" y="3423374"/>
            <a:ext cx="228600" cy="571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342900" y="4726305"/>
            <a:ext cx="16130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B0BEC5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SCROLL // ENTER THE PANORAMA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89120" y="-180022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926080" y="10287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362903"/>
            <a:ext cx="1411605" cy="154305"/>
          </a:xfrm>
          <a:prstGeom prst="roundRect">
            <a:avLst>
              <a:gd name="adj" fmla="val 11111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36290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7205" y="397193"/>
            <a:ext cx="132496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/ MECHANISM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1857375" y="297180"/>
            <a:ext cx="241173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070" b="1" spc="45" kern="0" dirty="0">
                <a:solidFill>
                  <a:srgbClr val="E8F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GPL核心机制解析</a:t>
            </a:r>
            <a:endParaRPr lang="en-US" sz="2070" dirty="0"/>
          </a:p>
        </p:txBody>
      </p:sp>
      <p:sp>
        <p:nvSpPr>
          <p:cNvPr id="9" name="Shape 7"/>
          <p:cNvSpPr/>
          <p:nvPr/>
        </p:nvSpPr>
        <p:spPr>
          <a:xfrm>
            <a:off x="342900" y="685800"/>
            <a:ext cx="7886700" cy="171986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685800"/>
            <a:ext cx="0" cy="171986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" y="720090"/>
            <a:ext cx="462777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GPL的核心机制围绕Copyleft构建，通过法律条款确保软件自由的不可逆传递，理解这些机制是分析GPL争议与成长的前提。</a:t>
            </a:r>
            <a:endParaRPr lang="en-US" sz="585" dirty="0"/>
          </a:p>
        </p:txBody>
      </p:sp>
      <p:sp>
        <p:nvSpPr>
          <p:cNvPr id="12" name="Shape 10"/>
          <p:cNvSpPr/>
          <p:nvPr/>
        </p:nvSpPr>
        <p:spPr>
          <a:xfrm>
            <a:off x="342900" y="994946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/>
              </a:gs>
              <a:gs pos="50000">
                <a:srgbClr val="00BCD4"/>
              </a:gs>
              <a:gs pos="8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4572000" y="977801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" y="1103531"/>
            <a:ext cx="1943100" cy="3342739"/>
          </a:xfrm>
          <a:prstGeom prst="roundRect">
            <a:avLst>
              <a:gd name="adj" fmla="val 1765"/>
            </a:avLst>
          </a:prstGeom>
          <a:gradFill rotWithShape="1">
            <a:gsLst>
              <a:gs pos="0">
                <a:srgbClr val="0D1A2E"/>
              </a:gs>
              <a:gs pos="100000">
                <a:srgbClr val="0A1426"/>
              </a:gs>
            </a:gsLst>
            <a:lin ang="420000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" y="874931"/>
            <a:ext cx="800100" cy="8001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4"/>
          <p:cNvSpPr/>
          <p:nvPr/>
        </p:nvSpPr>
        <p:spPr>
          <a:xfrm>
            <a:off x="1645920" y="3806189"/>
            <a:ext cx="914400" cy="914400"/>
          </a:xfrm>
          <a:prstGeom prst="ellipse">
            <a:avLst/>
          </a:prstGeom>
          <a:gradFill rotWithShape="1">
            <a:gsLst>
              <a:gs pos="0">
                <a:srgbClr val="00BCD4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7" name="Shape 15"/>
          <p:cNvSpPr/>
          <p:nvPr/>
        </p:nvSpPr>
        <p:spPr>
          <a:xfrm>
            <a:off x="857250" y="1905685"/>
            <a:ext cx="914400" cy="9144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60D1A">
                  <a:alpha val="90000"/>
                </a:srgbClr>
              </a:gs>
            </a:gsLst>
            <a:path path="circle">
              <a:fillToRect l="50000" t="50000" r="50000" b="50000"/>
            </a:path>
          </a:gra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80135" y="2054275"/>
            <a:ext cx="982980" cy="6229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7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854393" y="2951530"/>
            <a:ext cx="104584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b="1" spc="45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自由不可逆传递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651510" y="3214420"/>
            <a:ext cx="1484986" cy="186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基于Copyleft理念，保障自由软件在每一次派生中持续自由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1045845" y="3512671"/>
            <a:ext cx="537210" cy="131445"/>
          </a:xfrm>
          <a:prstGeom prst="roundRect">
            <a:avLst>
              <a:gd name="adj" fmla="val 13043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8710" y="3541246"/>
            <a:ext cx="46863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COPYLEFT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2411730" y="1103531"/>
            <a:ext cx="1537335" cy="3342739"/>
          </a:xfrm>
          <a:prstGeom prst="roundRect">
            <a:avLst>
              <a:gd name="adj" fmla="val 1859"/>
            </a:avLst>
          </a:prstGeom>
          <a:gradFill rotWithShape="1">
            <a:gsLst>
              <a:gs pos="0">
                <a:srgbClr val="0D1A2E"/>
              </a:gs>
              <a:gs pos="100000">
                <a:srgbClr val="0A1426"/>
              </a:gs>
            </a:gsLst>
            <a:lin ang="480000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11730" y="1103531"/>
            <a:ext cx="15259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3823335" y="1183541"/>
            <a:ext cx="34290" cy="3429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97455" y="1200686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4605" y="1254978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2497455" y="1486436"/>
            <a:ext cx="6144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MECHANISM_01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2497455" y="1617881"/>
            <a:ext cx="65722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Copyleft原则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497455" y="1793885"/>
            <a:ext cx="136588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Text 29"/>
          <p:cNvSpPr/>
          <p:nvPr/>
        </p:nvSpPr>
        <p:spPr>
          <a:xfrm>
            <a:off x="2497455" y="1862465"/>
            <a:ext cx="1472184" cy="18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GPL要求派生作品必须以相同许可证发布，形成自由软件的保护链。</a:t>
            </a:r>
            <a:endParaRPr lang="en-US" sz="495" dirty="0"/>
          </a:p>
        </p:txBody>
      </p:sp>
      <p:sp>
        <p:nvSpPr>
          <p:cNvPr id="32" name="Shape 30"/>
          <p:cNvSpPr/>
          <p:nvPr/>
        </p:nvSpPr>
        <p:spPr>
          <a:xfrm>
            <a:off x="2497455" y="4234815"/>
            <a:ext cx="136588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2497455" y="4234815"/>
            <a:ext cx="136588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497455" y="430625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5" name="Text 33"/>
          <p:cNvSpPr/>
          <p:nvPr/>
        </p:nvSpPr>
        <p:spPr>
          <a:xfrm>
            <a:off x="2554605" y="4286250"/>
            <a:ext cx="36004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7F95A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PRINCIPLE</a:t>
            </a:r>
            <a:endParaRPr lang="en-US" sz="405" dirty="0"/>
          </a:p>
        </p:txBody>
      </p:sp>
      <p:sp>
        <p:nvSpPr>
          <p:cNvPr id="36" name="Shape 34"/>
          <p:cNvSpPr/>
          <p:nvPr/>
        </p:nvSpPr>
        <p:spPr>
          <a:xfrm>
            <a:off x="4029075" y="1103531"/>
            <a:ext cx="1537335" cy="3342739"/>
          </a:xfrm>
          <a:prstGeom prst="roundRect">
            <a:avLst>
              <a:gd name="adj" fmla="val 1859"/>
            </a:avLst>
          </a:prstGeom>
          <a:gradFill rotWithShape="1">
            <a:gsLst>
              <a:gs pos="0">
                <a:srgbClr val="0D1A2E"/>
              </a:gs>
              <a:gs pos="100000">
                <a:srgbClr val="0A1426"/>
              </a:gs>
            </a:gsLst>
            <a:lin ang="480000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9075" y="1103531"/>
            <a:ext cx="15259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5440680" y="1183541"/>
            <a:ext cx="34290" cy="3429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0" y="1200686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3378" y="1254978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4114800" y="1486436"/>
            <a:ext cx="6144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MECHANISM_02</a:t>
            </a:r>
            <a:endParaRPr lang="en-US" sz="450" dirty="0"/>
          </a:p>
        </p:txBody>
      </p:sp>
      <p:sp>
        <p:nvSpPr>
          <p:cNvPr id="42" name="Text 40"/>
          <p:cNvSpPr/>
          <p:nvPr/>
        </p:nvSpPr>
        <p:spPr>
          <a:xfrm>
            <a:off x="4114800" y="1617881"/>
            <a:ext cx="4572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四大自由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4114800" y="1793885"/>
            <a:ext cx="136588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4114800" y="1862465"/>
            <a:ext cx="1472184" cy="18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使用、研究、复制、改进的自由，是GPL许可证的哲学根基。</a:t>
            </a:r>
            <a:endParaRPr lang="en-US" sz="495" dirty="0"/>
          </a:p>
        </p:txBody>
      </p:sp>
      <p:sp>
        <p:nvSpPr>
          <p:cNvPr id="45" name="Shape 43"/>
          <p:cNvSpPr/>
          <p:nvPr/>
        </p:nvSpPr>
        <p:spPr>
          <a:xfrm>
            <a:off x="4114800" y="4234815"/>
            <a:ext cx="1365885" cy="11430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4114800" y="4234815"/>
            <a:ext cx="136588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114800" y="430625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8" name="Text 46"/>
          <p:cNvSpPr/>
          <p:nvPr/>
        </p:nvSpPr>
        <p:spPr>
          <a:xfrm>
            <a:off x="4171950" y="4286250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7F95A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PHILOSOPHY</a:t>
            </a:r>
            <a:endParaRPr lang="en-US" sz="405" dirty="0"/>
          </a:p>
        </p:txBody>
      </p:sp>
      <p:sp>
        <p:nvSpPr>
          <p:cNvPr id="49" name="Shape 47"/>
          <p:cNvSpPr/>
          <p:nvPr/>
        </p:nvSpPr>
        <p:spPr>
          <a:xfrm>
            <a:off x="5646420" y="1103531"/>
            <a:ext cx="1537335" cy="3342739"/>
          </a:xfrm>
          <a:prstGeom prst="roundRect">
            <a:avLst>
              <a:gd name="adj" fmla="val 1859"/>
            </a:avLst>
          </a:prstGeom>
          <a:gradFill rotWithShape="1">
            <a:gsLst>
              <a:gs pos="0">
                <a:srgbClr val="0D1A2E"/>
              </a:gs>
              <a:gs pos="100000">
                <a:srgbClr val="0A1426"/>
              </a:gs>
            </a:gsLst>
            <a:lin ang="480000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46420" y="1103531"/>
            <a:ext cx="15259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1" name="Shape 49"/>
          <p:cNvSpPr/>
          <p:nvPr/>
        </p:nvSpPr>
        <p:spPr>
          <a:xfrm>
            <a:off x="7058025" y="1183541"/>
            <a:ext cx="34290" cy="3429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32145" y="1200686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7865" y="1254978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" dirty="0"/>
          </a:p>
        </p:txBody>
      </p:sp>
      <p:sp>
        <p:nvSpPr>
          <p:cNvPr id="54" name="Text 52"/>
          <p:cNvSpPr/>
          <p:nvPr/>
        </p:nvSpPr>
        <p:spPr>
          <a:xfrm>
            <a:off x="5732145" y="1486436"/>
            <a:ext cx="6144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MECHANISM_03</a:t>
            </a:r>
            <a:endParaRPr lang="en-US" sz="450" dirty="0"/>
          </a:p>
        </p:txBody>
      </p:sp>
      <p:sp>
        <p:nvSpPr>
          <p:cNvPr id="55" name="Text 53"/>
          <p:cNvSpPr/>
          <p:nvPr/>
        </p:nvSpPr>
        <p:spPr>
          <a:xfrm>
            <a:off x="5732145" y="1617881"/>
            <a:ext cx="5486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传染性条款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732145" y="1793885"/>
            <a:ext cx="136588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5732145" y="1862465"/>
            <a:ext cx="1331366" cy="18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GPL代码被链接或修改后，整个作品需遵循GPL，这是争议的核心来源。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5732145" y="4234815"/>
            <a:ext cx="1365885" cy="114300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5732145" y="4234815"/>
            <a:ext cx="136588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732145" y="430625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61" name="Text 59"/>
          <p:cNvSpPr/>
          <p:nvPr/>
        </p:nvSpPr>
        <p:spPr>
          <a:xfrm>
            <a:off x="5789295" y="4286250"/>
            <a:ext cx="42862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7F95A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CONTENTIOUS</a:t>
            </a:r>
            <a:endParaRPr lang="en-US" sz="405" dirty="0"/>
          </a:p>
        </p:txBody>
      </p:sp>
      <p:sp>
        <p:nvSpPr>
          <p:cNvPr id="62" name="Shape 60"/>
          <p:cNvSpPr/>
          <p:nvPr/>
        </p:nvSpPr>
        <p:spPr>
          <a:xfrm>
            <a:off x="7263765" y="1103531"/>
            <a:ext cx="1537335" cy="3342739"/>
          </a:xfrm>
          <a:prstGeom prst="roundRect">
            <a:avLst>
              <a:gd name="adj" fmla="val 1859"/>
            </a:avLst>
          </a:prstGeom>
          <a:gradFill rotWithShape="1">
            <a:gsLst>
              <a:gs pos="0">
                <a:srgbClr val="0D1A2E"/>
              </a:gs>
              <a:gs pos="100000">
                <a:srgbClr val="0A1426"/>
              </a:gs>
            </a:gsLst>
            <a:lin ang="480000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63765" y="1103531"/>
            <a:ext cx="15259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8675370" y="1183541"/>
            <a:ext cx="34290" cy="3429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349490" y="1200686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5210" y="1254978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10" dirty="0"/>
          </a:p>
        </p:txBody>
      </p:sp>
      <p:sp>
        <p:nvSpPr>
          <p:cNvPr id="67" name="Text 65"/>
          <p:cNvSpPr/>
          <p:nvPr/>
        </p:nvSpPr>
        <p:spPr>
          <a:xfrm>
            <a:off x="7349490" y="1486436"/>
            <a:ext cx="6144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MECHANISM_04</a:t>
            </a:r>
            <a:endParaRPr lang="en-US" sz="450" dirty="0"/>
          </a:p>
        </p:txBody>
      </p:sp>
      <p:sp>
        <p:nvSpPr>
          <p:cNvPr id="68" name="Text 66"/>
          <p:cNvSpPr/>
          <p:nvPr/>
        </p:nvSpPr>
        <p:spPr>
          <a:xfrm>
            <a:off x="7349490" y="1617881"/>
            <a:ext cx="4572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合规义务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7349490" y="1793885"/>
            <a:ext cx="136588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0" name="Text 68"/>
          <p:cNvSpPr/>
          <p:nvPr/>
        </p:nvSpPr>
        <p:spPr>
          <a:xfrm>
            <a:off x="7349490" y="1862465"/>
            <a:ext cx="1472184" cy="18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分发GPL软件必须提供源代码、保留版权声明和许可证副本。</a:t>
            </a:r>
            <a:endParaRPr lang="en-US" sz="495" dirty="0"/>
          </a:p>
        </p:txBody>
      </p:sp>
      <p:sp>
        <p:nvSpPr>
          <p:cNvPr id="71" name="Shape 69"/>
          <p:cNvSpPr/>
          <p:nvPr/>
        </p:nvSpPr>
        <p:spPr>
          <a:xfrm>
            <a:off x="7349490" y="4234815"/>
            <a:ext cx="1365885" cy="114300"/>
          </a:xfrm>
          <a:prstGeom prst="rect">
            <a:avLst/>
          </a:prstGeom>
          <a:noFill/>
          <a:ln/>
        </p:spPr>
      </p:sp>
      <p:sp>
        <p:nvSpPr>
          <p:cNvPr id="72" name="Shape 70"/>
          <p:cNvSpPr/>
          <p:nvPr/>
        </p:nvSpPr>
        <p:spPr>
          <a:xfrm>
            <a:off x="7349490" y="4234815"/>
            <a:ext cx="136588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7349490" y="430625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74" name="Text 72"/>
          <p:cNvSpPr/>
          <p:nvPr/>
        </p:nvSpPr>
        <p:spPr>
          <a:xfrm>
            <a:off x="7406640" y="4286250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7F95A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COMPLIANCE</a:t>
            </a:r>
            <a:endParaRPr lang="en-US" sz="405" dirty="0"/>
          </a:p>
        </p:txBody>
      </p:sp>
      <p:sp>
        <p:nvSpPr>
          <p:cNvPr id="75" name="Shape 73"/>
          <p:cNvSpPr/>
          <p:nvPr/>
        </p:nvSpPr>
        <p:spPr>
          <a:xfrm>
            <a:off x="342900" y="4537710"/>
            <a:ext cx="8458200" cy="400050"/>
          </a:xfrm>
          <a:prstGeom prst="roundRect">
            <a:avLst>
              <a:gd name="adj" fmla="val 714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5000"/>
                </a:srgbClr>
              </a:gs>
            </a:gsLst>
            <a:lin ang="0" scaled="0"/>
          </a:gradFill>
          <a:ln w="5715">
            <a:solidFill>
              <a:srgbClr val="1A35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2900" y="4537710"/>
            <a:ext cx="17145" cy="388620"/>
          </a:xfrm>
          <a:prstGeom prst="roundRect">
            <a:avLst>
              <a:gd name="adj" fmla="val 1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7" name="Text 75"/>
          <p:cNvSpPr/>
          <p:nvPr/>
        </p:nvSpPr>
        <p:spPr>
          <a:xfrm>
            <a:off x="474345" y="4626293"/>
            <a:ext cx="310896" cy="22288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40" dirty="0"/>
          </a:p>
        </p:txBody>
      </p:sp>
      <p:sp>
        <p:nvSpPr>
          <p:cNvPr id="78" name="Text 76"/>
          <p:cNvSpPr/>
          <p:nvPr/>
        </p:nvSpPr>
        <p:spPr>
          <a:xfrm>
            <a:off x="622935" y="4712018"/>
            <a:ext cx="182880" cy="11430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908685" y="4623435"/>
            <a:ext cx="5715" cy="22860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005840" y="4637723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四大自由</a:t>
            </a:r>
            <a:endParaRPr lang="en-US" sz="630" dirty="0"/>
          </a:p>
        </p:txBody>
      </p:sp>
      <p:sp>
        <p:nvSpPr>
          <p:cNvPr id="81" name="Text 79"/>
          <p:cNvSpPr/>
          <p:nvPr/>
        </p:nvSpPr>
        <p:spPr>
          <a:xfrm>
            <a:off x="1005840" y="4763453"/>
            <a:ext cx="96652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使用 / 研究 / 复制 / 改进</a:t>
            </a:r>
            <a:endParaRPr lang="en-US" sz="495" dirty="0"/>
          </a:p>
        </p:txBody>
      </p:sp>
      <p:sp>
        <p:nvSpPr>
          <p:cNvPr id="82" name="Text 80"/>
          <p:cNvSpPr/>
          <p:nvPr/>
        </p:nvSpPr>
        <p:spPr>
          <a:xfrm>
            <a:off x="7512368" y="4637723"/>
            <a:ext cx="49434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630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许可证版本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7555230" y="4763453"/>
            <a:ext cx="4343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GPL主要版本</a:t>
            </a:r>
            <a:endParaRPr lang="en-US" sz="495" dirty="0"/>
          </a:p>
        </p:txBody>
      </p:sp>
      <p:sp>
        <p:nvSpPr>
          <p:cNvPr id="84" name="Shape 82"/>
          <p:cNvSpPr/>
          <p:nvPr/>
        </p:nvSpPr>
        <p:spPr>
          <a:xfrm>
            <a:off x="8018145" y="4623435"/>
            <a:ext cx="5715" cy="22860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8115300" y="4626293"/>
            <a:ext cx="438912" cy="22288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lang="en-US" sz="1440" dirty="0"/>
          </a:p>
        </p:txBody>
      </p:sp>
      <p:sp>
        <p:nvSpPr>
          <p:cNvPr id="86" name="Text 84"/>
          <p:cNvSpPr/>
          <p:nvPr/>
        </p:nvSpPr>
        <p:spPr>
          <a:xfrm>
            <a:off x="8372475" y="4712018"/>
            <a:ext cx="155448" cy="11430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8435340" y="4626293"/>
            <a:ext cx="438912" cy="22288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A14"/>
              </a:gs>
              <a:gs pos="40000">
                <a:srgbClr val="0A1428"/>
              </a:gs>
              <a:gs pos="100000">
                <a:srgbClr val="08101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20040" y="317183"/>
            <a:ext cx="891540" cy="177165"/>
          </a:xfrm>
          <a:prstGeom prst="roundRect">
            <a:avLst>
              <a:gd name="adj" fmla="val 12903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17183"/>
            <a:ext cx="998525" cy="177165"/>
          </a:xfrm>
          <a:prstGeom prst="rect">
            <a:avLst/>
          </a:prstGeom>
          <a:noFill/>
          <a:ln/>
        </p:spPr>
        <p:txBody>
          <a:bodyPr wrap="square" lIns="34290" tIns="80010" rIns="80010" bIns="34290" rtlCol="0" anchor="ctr"/>
          <a:lstStyle/>
          <a:p>
            <a:pPr algn="l" indent="0" marL="0">
              <a:buNone/>
            </a:pPr>
            <a:r>
              <a:rPr lang="en-US" sz="63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 · LICENSE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1314450" y="240030"/>
            <a:ext cx="1868805" cy="3314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E6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GPL许可证家族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57525" y="394335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37535" y="39433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7545" y="408623"/>
            <a:ext cx="457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320040" y="628650"/>
            <a:ext cx="8321040" cy="12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GPL家族已扩展为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多个变体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，各有不同的自由保证强度和适用范围。选择合适的GPL版本，是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项目维护者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商业用户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都需要面对的关键决策——版本选择即自由取舍。</a:t>
            </a:r>
            <a:endParaRPr lang="en-US" sz="585" dirty="0"/>
          </a:p>
        </p:txBody>
      </p:sp>
      <p:sp>
        <p:nvSpPr>
          <p:cNvPr id="12" name="Shape 10"/>
          <p:cNvSpPr/>
          <p:nvPr/>
        </p:nvSpPr>
        <p:spPr>
          <a:xfrm>
            <a:off x="320040" y="857786"/>
            <a:ext cx="4206240" cy="925830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0F1830"/>
              </a:gs>
              <a:gs pos="100000">
                <a:srgbClr val="0A1428"/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857786"/>
            <a:ext cx="41948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4389120" y="92636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57650" y="920651"/>
            <a:ext cx="658368" cy="3371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-90" kern="0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451485" y="966371"/>
            <a:ext cx="55435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v2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948690" y="1012091"/>
            <a:ext cx="7680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RELEASED · 1991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451485" y="116068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485" y="116068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简洁条款</a:t>
            </a:r>
            <a:endParaRPr lang="en-US" sz="473" dirty="0"/>
          </a:p>
        </p:txBody>
      </p:sp>
      <p:sp>
        <p:nvSpPr>
          <p:cNvPr id="20" name="Shape 18"/>
          <p:cNvSpPr/>
          <p:nvPr/>
        </p:nvSpPr>
        <p:spPr>
          <a:xfrm>
            <a:off x="840105" y="1160681"/>
            <a:ext cx="448628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105" y="1160681"/>
            <a:ext cx="508635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Linux内核</a:t>
            </a:r>
            <a:endParaRPr lang="en-US" sz="473" dirty="0"/>
          </a:p>
        </p:txBody>
      </p:sp>
      <p:sp>
        <p:nvSpPr>
          <p:cNvPr id="22" name="Shape 20"/>
          <p:cNvSpPr/>
          <p:nvPr/>
        </p:nvSpPr>
        <p:spPr>
          <a:xfrm>
            <a:off x="1323023" y="116068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3023" y="116068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强传染性</a:t>
            </a:r>
            <a:endParaRPr lang="en-US" sz="473" dirty="0"/>
          </a:p>
        </p:txBody>
      </p:sp>
      <p:sp>
        <p:nvSpPr>
          <p:cNvPr id="24" name="Text 22"/>
          <p:cNvSpPr/>
          <p:nvPr/>
        </p:nvSpPr>
        <p:spPr>
          <a:xfrm>
            <a:off x="451485" y="1349276"/>
            <a:ext cx="4416552" cy="230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1991年发布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，Linux内核使用至今，条款相对简洁。对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patent（专利）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Tivo化（硬件限制）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无明确规定，是开源世界最早被广泛采用的强自由许可证。</a:t>
            </a:r>
            <a:endParaRPr lang="en-US" sz="518" dirty="0"/>
          </a:p>
        </p:txBody>
      </p:sp>
      <p:sp>
        <p:nvSpPr>
          <p:cNvPr id="25" name="Shape 23"/>
          <p:cNvSpPr/>
          <p:nvPr/>
        </p:nvSpPr>
        <p:spPr>
          <a:xfrm>
            <a:off x="451485" y="1625025"/>
            <a:ext cx="3943350" cy="142875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51485" y="1625025"/>
            <a:ext cx="39433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1485" y="1687890"/>
            <a:ext cx="29432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3714750" y="1676460"/>
            <a:ext cx="7616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系统级 / 内核 / 驱动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4617720" y="857786"/>
            <a:ext cx="4206240" cy="925830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0F1830"/>
              </a:gs>
              <a:gs pos="100000">
                <a:srgbClr val="0A1428"/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857786"/>
            <a:ext cx="41948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8686800" y="92636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03895" y="920651"/>
            <a:ext cx="658368" cy="3371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-90" kern="0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60" dirty="0"/>
          </a:p>
        </p:txBody>
      </p:sp>
      <p:sp>
        <p:nvSpPr>
          <p:cNvPr id="33" name="Text 31"/>
          <p:cNvSpPr/>
          <p:nvPr/>
        </p:nvSpPr>
        <p:spPr>
          <a:xfrm>
            <a:off x="4749165" y="966371"/>
            <a:ext cx="55435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v3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5246370" y="1012091"/>
            <a:ext cx="7680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RELEASED · 2007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4749165" y="1160681"/>
            <a:ext cx="405765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9165" y="1160681"/>
            <a:ext cx="46577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反Tivo化</a:t>
            </a:r>
            <a:endParaRPr lang="en-US" sz="473" dirty="0"/>
          </a:p>
        </p:txBody>
      </p:sp>
      <p:sp>
        <p:nvSpPr>
          <p:cNvPr id="37" name="Shape 35"/>
          <p:cNvSpPr/>
          <p:nvPr/>
        </p:nvSpPr>
        <p:spPr>
          <a:xfrm>
            <a:off x="5189220" y="116068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9220" y="116068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专利授权</a:t>
            </a:r>
            <a:endParaRPr lang="en-US" sz="473" dirty="0"/>
          </a:p>
        </p:txBody>
      </p:sp>
      <p:sp>
        <p:nvSpPr>
          <p:cNvPr id="39" name="Shape 37"/>
          <p:cNvSpPr/>
          <p:nvPr/>
        </p:nvSpPr>
        <p:spPr>
          <a:xfrm>
            <a:off x="5577840" y="1160681"/>
            <a:ext cx="362903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1160681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DRM限制</a:t>
            </a:r>
            <a:endParaRPr lang="en-US" sz="473" dirty="0"/>
          </a:p>
        </p:txBody>
      </p:sp>
      <p:sp>
        <p:nvSpPr>
          <p:cNvPr id="41" name="Text 39"/>
          <p:cNvSpPr/>
          <p:nvPr/>
        </p:nvSpPr>
        <p:spPr>
          <a:xfrm>
            <a:off x="4749165" y="1349276"/>
            <a:ext cx="4416552" cy="230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2007年发布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，新增反Tivo化条款、专利授权与DRM限制，在自由保护与商业兼容之间寻找平衡，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争议与保护并存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，是目前最活跃的GPL主版本。</a:t>
            </a:r>
            <a:endParaRPr lang="en-US" sz="518" dirty="0"/>
          </a:p>
        </p:txBody>
      </p:sp>
      <p:sp>
        <p:nvSpPr>
          <p:cNvPr id="42" name="Shape 40"/>
          <p:cNvSpPr/>
          <p:nvPr/>
        </p:nvSpPr>
        <p:spPr>
          <a:xfrm>
            <a:off x="4749165" y="1625025"/>
            <a:ext cx="3943350" cy="142875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4749165" y="1625025"/>
            <a:ext cx="39433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749165" y="1687890"/>
            <a:ext cx="29432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8069580" y="1676460"/>
            <a:ext cx="69768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用户软件 / 通用工具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320040" y="1875056"/>
            <a:ext cx="4206240" cy="925830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0F1830"/>
              </a:gs>
              <a:gs pos="100000">
                <a:srgbClr val="0A1428"/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1875056"/>
            <a:ext cx="41948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4389120" y="194363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000500" y="1937921"/>
            <a:ext cx="658368" cy="3371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-90" kern="0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60" dirty="0"/>
          </a:p>
        </p:txBody>
      </p:sp>
      <p:sp>
        <p:nvSpPr>
          <p:cNvPr id="50" name="Text 48"/>
          <p:cNvSpPr/>
          <p:nvPr/>
        </p:nvSpPr>
        <p:spPr>
          <a:xfrm>
            <a:off x="451485" y="1983641"/>
            <a:ext cx="477774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endParaRPr lang="en-US" sz="990" dirty="0"/>
          </a:p>
        </p:txBody>
      </p:sp>
      <p:sp>
        <p:nvSpPr>
          <p:cNvPr id="51" name="Text 49"/>
          <p:cNvSpPr/>
          <p:nvPr/>
        </p:nvSpPr>
        <p:spPr>
          <a:xfrm>
            <a:off x="828675" y="2023646"/>
            <a:ext cx="74889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宽松通用公共许可证</a:t>
            </a:r>
            <a:endParaRPr lang="en-US" sz="540" dirty="0"/>
          </a:p>
        </p:txBody>
      </p:sp>
      <p:sp>
        <p:nvSpPr>
          <p:cNvPr id="52" name="Shape 50"/>
          <p:cNvSpPr/>
          <p:nvPr/>
        </p:nvSpPr>
        <p:spPr>
          <a:xfrm>
            <a:off x="451485" y="217795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1485" y="217795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弱传染性</a:t>
            </a:r>
            <a:endParaRPr lang="en-US" sz="473" dirty="0"/>
          </a:p>
        </p:txBody>
      </p:sp>
      <p:sp>
        <p:nvSpPr>
          <p:cNvPr id="54" name="Shape 52"/>
          <p:cNvSpPr/>
          <p:nvPr/>
        </p:nvSpPr>
        <p:spPr>
          <a:xfrm>
            <a:off x="840105" y="217795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0105" y="217795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动态链接</a:t>
            </a:r>
            <a:endParaRPr lang="en-US" sz="473" dirty="0"/>
          </a:p>
        </p:txBody>
      </p:sp>
      <p:sp>
        <p:nvSpPr>
          <p:cNvPr id="56" name="Shape 54"/>
          <p:cNvSpPr/>
          <p:nvPr/>
        </p:nvSpPr>
        <p:spPr>
          <a:xfrm>
            <a:off x="1228725" y="217795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28725" y="217795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商业友好</a:t>
            </a:r>
            <a:endParaRPr lang="en-US" sz="473" dirty="0"/>
          </a:p>
        </p:txBody>
      </p:sp>
      <p:sp>
        <p:nvSpPr>
          <p:cNvPr id="58" name="Text 56"/>
          <p:cNvSpPr/>
          <p:nvPr/>
        </p:nvSpPr>
        <p:spPr>
          <a:xfrm>
            <a:off x="451485" y="2366546"/>
            <a:ext cx="44165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宽松通用公共许可证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，允许动态链接的商业闭源软件使用LGPL库而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不触发传染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，为库级开源提供了与闭源产品共存的灵活路径。</a:t>
            </a:r>
            <a:endParaRPr lang="en-US" sz="518" dirty="0"/>
          </a:p>
        </p:txBody>
      </p:sp>
      <p:sp>
        <p:nvSpPr>
          <p:cNvPr id="59" name="Shape 57"/>
          <p:cNvSpPr/>
          <p:nvPr/>
        </p:nvSpPr>
        <p:spPr>
          <a:xfrm>
            <a:off x="451485" y="2549426"/>
            <a:ext cx="3943350" cy="142875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451485" y="2549426"/>
            <a:ext cx="39433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51485" y="2612291"/>
            <a:ext cx="29432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3657600" y="2600861"/>
            <a:ext cx="8257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共享库 / SDK / 中间件</a:t>
            </a:r>
            <a:endParaRPr lang="en-US" sz="495" dirty="0"/>
          </a:p>
        </p:txBody>
      </p:sp>
      <p:sp>
        <p:nvSpPr>
          <p:cNvPr id="63" name="Shape 61"/>
          <p:cNvSpPr/>
          <p:nvPr/>
        </p:nvSpPr>
        <p:spPr>
          <a:xfrm>
            <a:off x="4617720" y="1875056"/>
            <a:ext cx="4206240" cy="925830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0F1830"/>
              </a:gs>
              <a:gs pos="100000">
                <a:srgbClr val="0A1428"/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1875056"/>
            <a:ext cx="41948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5" name="Shape 63"/>
          <p:cNvSpPr/>
          <p:nvPr/>
        </p:nvSpPr>
        <p:spPr>
          <a:xfrm>
            <a:off x="8686800" y="1943636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292465" y="1937921"/>
            <a:ext cx="658368" cy="3371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-90" kern="0" dirty="0">
                <a:solidFill>
                  <a:srgbClr val="2196F3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160" dirty="0"/>
          </a:p>
        </p:txBody>
      </p:sp>
      <p:sp>
        <p:nvSpPr>
          <p:cNvPr id="67" name="Text 65"/>
          <p:cNvSpPr/>
          <p:nvPr/>
        </p:nvSpPr>
        <p:spPr>
          <a:xfrm>
            <a:off x="4749165" y="1983641"/>
            <a:ext cx="6400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v3</a:t>
            </a:r>
            <a:endParaRPr lang="en-US" sz="990" dirty="0"/>
          </a:p>
        </p:txBody>
      </p:sp>
      <p:sp>
        <p:nvSpPr>
          <p:cNvPr id="68" name="Text 66"/>
          <p:cNvSpPr/>
          <p:nvPr/>
        </p:nvSpPr>
        <p:spPr>
          <a:xfrm>
            <a:off x="5332095" y="2029361"/>
            <a:ext cx="7680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RELEASED · 2007</a:t>
            </a:r>
            <a:endParaRPr lang="en-US" sz="540" dirty="0"/>
          </a:p>
        </p:txBody>
      </p:sp>
      <p:sp>
        <p:nvSpPr>
          <p:cNvPr id="69" name="Shape 67"/>
          <p:cNvSpPr/>
          <p:nvPr/>
        </p:nvSpPr>
        <p:spPr>
          <a:xfrm>
            <a:off x="4749165" y="2177951"/>
            <a:ext cx="354330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49165" y="2177951"/>
            <a:ext cx="414338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网络服务</a:t>
            </a:r>
            <a:endParaRPr lang="en-US" sz="473" dirty="0"/>
          </a:p>
        </p:txBody>
      </p:sp>
      <p:sp>
        <p:nvSpPr>
          <p:cNvPr id="71" name="Shape 69"/>
          <p:cNvSpPr/>
          <p:nvPr/>
        </p:nvSpPr>
        <p:spPr>
          <a:xfrm>
            <a:off x="5137785" y="2177951"/>
            <a:ext cx="405765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37785" y="2177951"/>
            <a:ext cx="465773" cy="13144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SaaS覆盖</a:t>
            </a:r>
            <a:endParaRPr lang="en-US" sz="473" dirty="0"/>
          </a:p>
        </p:txBody>
      </p:sp>
      <p:sp>
        <p:nvSpPr>
          <p:cNvPr id="73" name="Shape 71"/>
          <p:cNvSpPr/>
          <p:nvPr/>
        </p:nvSpPr>
        <p:spPr>
          <a:xfrm>
            <a:off x="5577840" y="2177951"/>
            <a:ext cx="337185" cy="131445"/>
          </a:xfrm>
          <a:prstGeom prst="roundRect">
            <a:avLst>
              <a:gd name="adj" fmla="val 13043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2177951"/>
            <a:ext cx="397193" cy="13144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强传染+</a:t>
            </a:r>
            <a:endParaRPr lang="en-US" sz="473" dirty="0"/>
          </a:p>
        </p:txBody>
      </p:sp>
      <p:sp>
        <p:nvSpPr>
          <p:cNvPr id="75" name="Text 73"/>
          <p:cNvSpPr/>
          <p:nvPr/>
        </p:nvSpPr>
        <p:spPr>
          <a:xfrm>
            <a:off x="4749165" y="2366546"/>
            <a:ext cx="44165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Apache通用公共许可证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，补充了网络服务场景的源代码开放要求，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64B5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覆盖SaaS漏洞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——即使仅提供远程访问也必须公开源代码。</a:t>
            </a:r>
            <a:endParaRPr lang="en-US" sz="518" dirty="0"/>
          </a:p>
        </p:txBody>
      </p:sp>
      <p:sp>
        <p:nvSpPr>
          <p:cNvPr id="76" name="Shape 74"/>
          <p:cNvSpPr/>
          <p:nvPr/>
        </p:nvSpPr>
        <p:spPr>
          <a:xfrm>
            <a:off x="4749165" y="2549426"/>
            <a:ext cx="3943350" cy="142875"/>
          </a:xfrm>
          <a:prstGeom prst="rect">
            <a:avLst/>
          </a:prstGeom>
          <a:noFill/>
          <a:ln/>
        </p:spPr>
      </p:sp>
      <p:sp>
        <p:nvSpPr>
          <p:cNvPr id="77" name="Shape 75"/>
          <p:cNvSpPr/>
          <p:nvPr/>
        </p:nvSpPr>
        <p:spPr>
          <a:xfrm>
            <a:off x="4749165" y="2549426"/>
            <a:ext cx="39433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4749165" y="2612291"/>
            <a:ext cx="29432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450" dirty="0"/>
          </a:p>
        </p:txBody>
      </p:sp>
      <p:sp>
        <p:nvSpPr>
          <p:cNvPr id="79" name="Text 77"/>
          <p:cNvSpPr/>
          <p:nvPr/>
        </p:nvSpPr>
        <p:spPr>
          <a:xfrm>
            <a:off x="8132445" y="2600861"/>
            <a:ext cx="6272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云服务 / 网络应用</a:t>
            </a:r>
            <a:endParaRPr lang="en-US" sz="495" dirty="0"/>
          </a:p>
        </p:txBody>
      </p:sp>
      <p:sp>
        <p:nvSpPr>
          <p:cNvPr id="80" name="Shape 78"/>
          <p:cNvSpPr/>
          <p:nvPr/>
        </p:nvSpPr>
        <p:spPr>
          <a:xfrm>
            <a:off x="320040" y="2892326"/>
            <a:ext cx="8503920" cy="1043523"/>
          </a:xfrm>
          <a:prstGeom prst="roundRect">
            <a:avLst>
              <a:gd name="adj" fmla="val 4381"/>
            </a:avLst>
          </a:prstGeom>
          <a:gradFill rotWithShape="1">
            <a:gsLst>
              <a:gs pos="0">
                <a:srgbClr val="0F1830">
                  <a:alpha val="60000"/>
                </a:srgbClr>
              </a:gs>
              <a:gs pos="100000">
                <a:srgbClr val="0A1428">
                  <a:alpha val="30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5775" y="3000911"/>
            <a:ext cx="5943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版本演进脉络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1068705" y="3055203"/>
            <a:ext cx="660082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2196F3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83" name="Text 81"/>
          <p:cNvSpPr/>
          <p:nvPr/>
        </p:nvSpPr>
        <p:spPr>
          <a:xfrm>
            <a:off x="7738110" y="3020913"/>
            <a:ext cx="103052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EVOLUTION · 1991 → 2007</a:t>
            </a:r>
            <a:endParaRPr lang="en-US" sz="450" dirty="0"/>
          </a:p>
        </p:txBody>
      </p:sp>
      <p:sp>
        <p:nvSpPr>
          <p:cNvPr id="84" name="Shape 82"/>
          <p:cNvSpPr/>
          <p:nvPr/>
        </p:nvSpPr>
        <p:spPr>
          <a:xfrm>
            <a:off x="942975" y="3275231"/>
            <a:ext cx="72580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85" name="Text 83"/>
          <p:cNvSpPr/>
          <p:nvPr/>
        </p:nvSpPr>
        <p:spPr>
          <a:xfrm>
            <a:off x="1874520" y="3355241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810" dirty="0"/>
          </a:p>
        </p:txBody>
      </p:sp>
      <p:sp>
        <p:nvSpPr>
          <p:cNvPr id="86" name="Text 84"/>
          <p:cNvSpPr/>
          <p:nvPr/>
        </p:nvSpPr>
        <p:spPr>
          <a:xfrm>
            <a:off x="1797368" y="3509546"/>
            <a:ext cx="47720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v2 发布</a:t>
            </a:r>
            <a:endParaRPr lang="en-US" sz="563" dirty="0"/>
          </a:p>
        </p:txBody>
      </p:sp>
      <p:sp>
        <p:nvSpPr>
          <p:cNvPr id="87" name="Text 85"/>
          <p:cNvSpPr/>
          <p:nvPr/>
        </p:nvSpPr>
        <p:spPr>
          <a:xfrm>
            <a:off x="1200150" y="3646706"/>
            <a:ext cx="1792224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Richard Stallman 主导起草，奠定自由软件运动核心法律框架</a:t>
            </a:r>
            <a:endParaRPr lang="en-US" sz="473" dirty="0"/>
          </a:p>
        </p:txBody>
      </p:sp>
      <p:sp>
        <p:nvSpPr>
          <p:cNvPr id="88" name="Shape 86"/>
          <p:cNvSpPr/>
          <p:nvPr/>
        </p:nvSpPr>
        <p:spPr>
          <a:xfrm>
            <a:off x="1954530" y="3195221"/>
            <a:ext cx="91440" cy="91440"/>
          </a:xfrm>
          <a:prstGeom prst="ellipse">
            <a:avLst/>
          </a:prstGeom>
          <a:solidFill>
            <a:srgbClr val="0A1428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4429125" y="3355241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2007</a:t>
            </a:r>
            <a:endParaRPr lang="en-US" sz="810" dirty="0"/>
          </a:p>
        </p:txBody>
      </p:sp>
      <p:sp>
        <p:nvSpPr>
          <p:cNvPr id="90" name="Text 88"/>
          <p:cNvSpPr/>
          <p:nvPr/>
        </p:nvSpPr>
        <p:spPr>
          <a:xfrm>
            <a:off x="4369118" y="3509546"/>
            <a:ext cx="47720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v3 发布</a:t>
            </a:r>
            <a:endParaRPr lang="en-US" sz="563" dirty="0"/>
          </a:p>
        </p:txBody>
      </p:sp>
      <p:sp>
        <p:nvSpPr>
          <p:cNvPr id="91" name="Text 89"/>
          <p:cNvSpPr/>
          <p:nvPr/>
        </p:nvSpPr>
        <p:spPr>
          <a:xfrm>
            <a:off x="3774758" y="3646706"/>
            <a:ext cx="1785823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加入反Tivo化条款、专利授权与DRM限制，回应硬件锁闭挑战</a:t>
            </a:r>
            <a:endParaRPr lang="en-US" sz="473" dirty="0"/>
          </a:p>
        </p:txBody>
      </p:sp>
      <p:sp>
        <p:nvSpPr>
          <p:cNvPr id="92" name="Shape 90"/>
          <p:cNvSpPr/>
          <p:nvPr/>
        </p:nvSpPr>
        <p:spPr>
          <a:xfrm>
            <a:off x="4526280" y="3195221"/>
            <a:ext cx="91440" cy="91440"/>
          </a:xfrm>
          <a:prstGeom prst="ellipse">
            <a:avLst/>
          </a:prstGeom>
          <a:solidFill>
            <a:srgbClr val="0A1428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7000875" y="3355241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2007</a:t>
            </a:r>
            <a:endParaRPr lang="en-US" sz="810" dirty="0"/>
          </a:p>
        </p:txBody>
      </p:sp>
      <p:sp>
        <p:nvSpPr>
          <p:cNvPr id="94" name="Text 92"/>
          <p:cNvSpPr/>
          <p:nvPr/>
        </p:nvSpPr>
        <p:spPr>
          <a:xfrm>
            <a:off x="6966585" y="3509546"/>
            <a:ext cx="42576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发布</a:t>
            </a:r>
            <a:endParaRPr lang="en-US" sz="563" dirty="0"/>
          </a:p>
        </p:txBody>
      </p:sp>
      <p:sp>
        <p:nvSpPr>
          <p:cNvPr id="95" name="Text 93"/>
          <p:cNvSpPr/>
          <p:nvPr/>
        </p:nvSpPr>
        <p:spPr>
          <a:xfrm>
            <a:off x="6406515" y="3646706"/>
            <a:ext cx="1651406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覆盖网络服务场景，填补SaaS不提供源码下载的法律空白</a:t>
            </a:r>
            <a:endParaRPr lang="en-US" sz="473" dirty="0"/>
          </a:p>
        </p:txBody>
      </p:sp>
      <p:sp>
        <p:nvSpPr>
          <p:cNvPr id="96" name="Shape 94"/>
          <p:cNvSpPr/>
          <p:nvPr/>
        </p:nvSpPr>
        <p:spPr>
          <a:xfrm>
            <a:off x="7098030" y="3195221"/>
            <a:ext cx="91440" cy="91440"/>
          </a:xfrm>
          <a:prstGeom prst="ellipse">
            <a:avLst/>
          </a:prstGeom>
          <a:solidFill>
            <a:srgbClr val="0A1428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20040" y="4015859"/>
            <a:ext cx="8503920" cy="268605"/>
          </a:xfrm>
          <a:prstGeom prst="roundRect">
            <a:avLst>
              <a:gd name="adj" fmla="val 12766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50000">
                <a:srgbClr val="00BCD4">
                  <a:alpha val="6000"/>
                </a:srgbClr>
              </a:gs>
              <a:gs pos="100000">
                <a:srgbClr val="2196F3">
                  <a:alpha val="6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0" y="4090154"/>
            <a:ext cx="17487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810" dirty="0"/>
          </a:p>
        </p:txBody>
      </p:sp>
      <p:sp>
        <p:nvSpPr>
          <p:cNvPr id="99" name="Text 97"/>
          <p:cNvSpPr/>
          <p:nvPr/>
        </p:nvSpPr>
        <p:spPr>
          <a:xfrm>
            <a:off x="3331845" y="4090154"/>
            <a:ext cx="2777947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选择版本，即选择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自由的边界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——每一条条款都是对未来的承诺</a:t>
            </a:r>
            <a:endParaRPr lang="en-US" sz="675" dirty="0"/>
          </a:p>
        </p:txBody>
      </p:sp>
      <p:sp>
        <p:nvSpPr>
          <p:cNvPr id="100" name="Text 98"/>
          <p:cNvSpPr/>
          <p:nvPr/>
        </p:nvSpPr>
        <p:spPr>
          <a:xfrm>
            <a:off x="5892165" y="4090154"/>
            <a:ext cx="17487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" y="68580"/>
            <a:ext cx="137160" cy="13716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8580" y="68580"/>
            <a:ext cx="13716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" y="68580"/>
            <a:ext cx="0" cy="13716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38260" y="68580"/>
            <a:ext cx="137160" cy="13716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938260" y="68580"/>
            <a:ext cx="13716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75420" y="68580"/>
            <a:ext cx="0" cy="13716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" y="493776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580" y="5074920"/>
            <a:ext cx="13716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" y="4937760"/>
            <a:ext cx="0" cy="13716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38260" y="4937760"/>
            <a:ext cx="137160" cy="13716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075420" y="4937760"/>
            <a:ext cx="0" cy="13716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38260" y="5074920"/>
            <a:ext cx="137160" cy="0"/>
          </a:xfrm>
          <a:prstGeom prst="lin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7170"/>
            <a:ext cx="8503920" cy="52542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20040" y="742593"/>
            <a:ext cx="850392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731163"/>
            <a:ext cx="16002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320040" y="302895"/>
            <a:ext cx="80010" cy="8001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33350" dist="50800" dir="16200000">
              <a:srgbClr val="2196F3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14625" y="282178"/>
            <a:ext cx="925830" cy="154305"/>
          </a:xfrm>
          <a:prstGeom prst="roundRect">
            <a:avLst>
              <a:gd name="adj" fmla="val 14815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4625" y="282178"/>
            <a:ext cx="1036930" cy="15430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DASHBOARD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320040" y="525780"/>
            <a:ext cx="8193024" cy="131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年 4 月的数据揭示了一个矛盾图景：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生态在规模和活跃度上持续增长，但合规冲突也在同步加剧。这些数据是理解燃烧与成长辩证关系的量化基础。</a:t>
            </a:r>
            <a:endParaRPr lang="en-US" sz="608" dirty="0"/>
          </a:p>
        </p:txBody>
      </p:sp>
      <p:sp>
        <p:nvSpPr>
          <p:cNvPr id="22" name="Shape 20"/>
          <p:cNvSpPr/>
          <p:nvPr/>
        </p:nvSpPr>
        <p:spPr>
          <a:xfrm>
            <a:off x="320040" y="822603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822603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507600" y="651153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5" name="Text 23"/>
          <p:cNvSpPr/>
          <p:nvPr/>
        </p:nvSpPr>
        <p:spPr>
          <a:xfrm>
            <a:off x="405765" y="908328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GPL 项目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405765" y="93690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5765" y="1562517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万+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405765" y="1834515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5765" y="1834515"/>
            <a:ext cx="115568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5765" y="2391549"/>
            <a:ext cx="1313289" cy="220028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405765" y="2391549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765" y="2391549"/>
            <a:ext cx="1470884" cy="220028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全平台 GPL 许可证项目估算总量，覆盖 v2 / v3 / AGPL。</a:t>
            </a:r>
            <a:endParaRPr lang="en-US" sz="473" dirty="0"/>
          </a:p>
        </p:txBody>
      </p:sp>
      <p:sp>
        <p:nvSpPr>
          <p:cNvPr id="33" name="Shape 31"/>
          <p:cNvSpPr/>
          <p:nvPr/>
        </p:nvSpPr>
        <p:spPr>
          <a:xfrm>
            <a:off x="1884789" y="822603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84789" y="822603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3072349" y="651153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6" name="Text 34"/>
          <p:cNvSpPr/>
          <p:nvPr/>
        </p:nvSpPr>
        <p:spPr>
          <a:xfrm>
            <a:off x="1970514" y="908328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贡献者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1970514" y="93690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70514" y="1562517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19,000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620" dirty="0"/>
          </a:p>
        </p:txBody>
      </p:sp>
      <p:sp>
        <p:nvSpPr>
          <p:cNvPr id="39" name="Shape 37"/>
          <p:cNvSpPr/>
          <p:nvPr/>
        </p:nvSpPr>
        <p:spPr>
          <a:xfrm>
            <a:off x="1970514" y="1834515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70514" y="1834515"/>
            <a:ext cx="945565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970514" y="2391549"/>
            <a:ext cx="1313289" cy="220028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1970514" y="2391549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70514" y="2391549"/>
            <a:ext cx="1470884" cy="220028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内核开发社区活跃度持续增长，月均活跃提交稳定上升。</a:t>
            </a:r>
            <a:endParaRPr lang="en-US" sz="473" dirty="0"/>
          </a:p>
        </p:txBody>
      </p:sp>
      <p:sp>
        <p:nvSpPr>
          <p:cNvPr id="44" name="Shape 42"/>
          <p:cNvSpPr/>
          <p:nvPr/>
        </p:nvSpPr>
        <p:spPr>
          <a:xfrm>
            <a:off x="3449538" y="822603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49538" y="822603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4637098" y="651153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7" name="Text 45"/>
          <p:cNvSpPr/>
          <p:nvPr/>
        </p:nvSpPr>
        <p:spPr>
          <a:xfrm>
            <a:off x="3535263" y="908328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合规争议案件</a:t>
            </a:r>
            <a:endParaRPr lang="en-US" sz="495" dirty="0"/>
          </a:p>
        </p:txBody>
      </p:sp>
      <p:sp>
        <p:nvSpPr>
          <p:cNvPr id="48" name="Shape 46"/>
          <p:cNvSpPr/>
          <p:nvPr/>
        </p:nvSpPr>
        <p:spPr>
          <a:xfrm>
            <a:off x="3535263" y="93690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535263" y="1562517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620" dirty="0"/>
          </a:p>
        </p:txBody>
      </p:sp>
      <p:sp>
        <p:nvSpPr>
          <p:cNvPr id="50" name="Shape 48"/>
          <p:cNvSpPr/>
          <p:nvPr/>
        </p:nvSpPr>
        <p:spPr>
          <a:xfrm>
            <a:off x="3535263" y="1834515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535263" y="1834515"/>
            <a:ext cx="722233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535263" y="2391549"/>
            <a:ext cx="1313289" cy="220028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3535263" y="2391549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35263" y="2391549"/>
            <a:ext cx="1470884" cy="220028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年上半年 GPL 合规争议和诉讼案件同比上升趋势。</a:t>
            </a:r>
            <a:endParaRPr lang="en-US" sz="473" dirty="0"/>
          </a:p>
        </p:txBody>
      </p:sp>
      <p:sp>
        <p:nvSpPr>
          <p:cNvPr id="55" name="Shape 53"/>
          <p:cNvSpPr/>
          <p:nvPr/>
        </p:nvSpPr>
        <p:spPr>
          <a:xfrm>
            <a:off x="320040" y="2765881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2765881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1507600" y="2594431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8" name="Text 56"/>
          <p:cNvSpPr/>
          <p:nvPr/>
        </p:nvSpPr>
        <p:spPr>
          <a:xfrm>
            <a:off x="405765" y="2851606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→ v3 迁移</a:t>
            </a:r>
            <a:endParaRPr lang="en-US" sz="495" dirty="0"/>
          </a:p>
        </p:txBody>
      </p:sp>
      <p:sp>
        <p:nvSpPr>
          <p:cNvPr id="59" name="Shape 57"/>
          <p:cNvSpPr/>
          <p:nvPr/>
        </p:nvSpPr>
        <p:spPr>
          <a:xfrm>
            <a:off x="405765" y="288018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05765" y="3550801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趋势增强</a:t>
            </a:r>
            <a:endParaRPr lang="en-US" sz="1620" dirty="0"/>
          </a:p>
        </p:txBody>
      </p:sp>
      <p:sp>
        <p:nvSpPr>
          <p:cNvPr id="61" name="Shape 59"/>
          <p:cNvSpPr/>
          <p:nvPr/>
        </p:nvSpPr>
        <p:spPr>
          <a:xfrm>
            <a:off x="405765" y="3822799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05765" y="3822799"/>
            <a:ext cx="787956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05765" y="4424839"/>
            <a:ext cx="1313289" cy="130016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405765" y="4424839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5765" y="4424839"/>
            <a:ext cx="1470884" cy="130016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许可证升级运动持续，AGPL 采纳同步走高。</a:t>
            </a:r>
            <a:endParaRPr lang="en-US" sz="473" dirty="0"/>
          </a:p>
        </p:txBody>
      </p:sp>
      <p:sp>
        <p:nvSpPr>
          <p:cNvPr id="66" name="Shape 64"/>
          <p:cNvSpPr/>
          <p:nvPr/>
        </p:nvSpPr>
        <p:spPr>
          <a:xfrm>
            <a:off x="1884789" y="2765881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84789" y="2765881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8" name="Shape 66"/>
          <p:cNvSpPr/>
          <p:nvPr/>
        </p:nvSpPr>
        <p:spPr>
          <a:xfrm>
            <a:off x="3072349" y="2594431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9" name="Text 67"/>
          <p:cNvSpPr/>
          <p:nvPr/>
        </p:nvSpPr>
        <p:spPr>
          <a:xfrm>
            <a:off x="1970514" y="2851606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新兴市场贡献</a:t>
            </a:r>
            <a:endParaRPr lang="en-US" sz="495" dirty="0"/>
          </a:p>
        </p:txBody>
      </p:sp>
      <p:sp>
        <p:nvSpPr>
          <p:cNvPr id="70" name="Shape 68"/>
          <p:cNvSpPr/>
          <p:nvPr/>
        </p:nvSpPr>
        <p:spPr>
          <a:xfrm>
            <a:off x="1970514" y="288018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970514" y="3550801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620" dirty="0"/>
          </a:p>
        </p:txBody>
      </p:sp>
      <p:sp>
        <p:nvSpPr>
          <p:cNvPr id="72" name="Shape 70"/>
          <p:cNvSpPr/>
          <p:nvPr/>
        </p:nvSpPr>
        <p:spPr>
          <a:xfrm>
            <a:off x="1970514" y="3822799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970514" y="3822799"/>
            <a:ext cx="630347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970514" y="4424839"/>
            <a:ext cx="1313289" cy="130016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1970514" y="4424839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70514" y="4424839"/>
            <a:ext cx="1470884" cy="130016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亚洲 / 拉美开发者占比显著提升，全球化加速。</a:t>
            </a:r>
            <a:endParaRPr lang="en-US" sz="473" dirty="0"/>
          </a:p>
        </p:txBody>
      </p:sp>
      <p:sp>
        <p:nvSpPr>
          <p:cNvPr id="77" name="Shape 75"/>
          <p:cNvSpPr/>
          <p:nvPr/>
        </p:nvSpPr>
        <p:spPr>
          <a:xfrm>
            <a:off x="3449538" y="2765881"/>
            <a:ext cx="1484739" cy="1863269"/>
          </a:xfrm>
          <a:prstGeom prst="roundRect">
            <a:avLst>
              <a:gd name="adj" fmla="val 3079"/>
            </a:avLst>
          </a:prstGeom>
          <a:gradFill rotWithShape="1">
            <a:gsLst>
              <a:gs pos="0">
                <a:srgbClr val="0F1A30">
                  <a:alpha val="92000"/>
                </a:srgbClr>
              </a:gs>
              <a:gs pos="100000">
                <a:srgbClr val="080F20">
                  <a:alpha val="92000"/>
                </a:srgbClr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49538" y="2765881"/>
            <a:ext cx="17145" cy="1851837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9" name="Shape 77"/>
          <p:cNvSpPr/>
          <p:nvPr/>
        </p:nvSpPr>
        <p:spPr>
          <a:xfrm>
            <a:off x="4637098" y="2594431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0" name="Text 78"/>
          <p:cNvSpPr/>
          <p:nvPr/>
        </p:nvSpPr>
        <p:spPr>
          <a:xfrm>
            <a:off x="3535263" y="2851606"/>
            <a:ext cx="147088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 GPL 使用率</a:t>
            </a:r>
            <a:endParaRPr lang="en-US" sz="495" dirty="0"/>
          </a:p>
        </p:txBody>
      </p:sp>
      <p:sp>
        <p:nvSpPr>
          <p:cNvPr id="81" name="Shape 79"/>
          <p:cNvSpPr/>
          <p:nvPr/>
        </p:nvSpPr>
        <p:spPr>
          <a:xfrm>
            <a:off x="3535263" y="2880181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535263" y="3505795"/>
            <a:ext cx="1519029" cy="226278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620" dirty="0"/>
          </a:p>
        </p:txBody>
      </p:sp>
      <p:sp>
        <p:nvSpPr>
          <p:cNvPr id="83" name="Shape 81"/>
          <p:cNvSpPr/>
          <p:nvPr/>
        </p:nvSpPr>
        <p:spPr>
          <a:xfrm>
            <a:off x="3535263" y="3777794"/>
            <a:ext cx="1313289" cy="17145"/>
          </a:xfrm>
          <a:prstGeom prst="roundRect">
            <a:avLst>
              <a:gd name="adj" fmla="val 66667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535263" y="3777794"/>
            <a:ext cx="1076831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535263" y="4334828"/>
            <a:ext cx="1313289" cy="220028"/>
          </a:xfrm>
          <a:prstGeom prst="rect">
            <a:avLst/>
          </a:prstGeom>
          <a:noFill/>
          <a:ln/>
        </p:spPr>
      </p:sp>
      <p:sp>
        <p:nvSpPr>
          <p:cNvPr id="86" name="Shape 84"/>
          <p:cNvSpPr/>
          <p:nvPr/>
        </p:nvSpPr>
        <p:spPr>
          <a:xfrm>
            <a:off x="3535263" y="4334828"/>
            <a:ext cx="1313289" cy="0"/>
          </a:xfrm>
          <a:prstGeom prst="line">
            <a:avLst/>
          </a:prstGeom>
          <a:noFill/>
          <a:ln w="5715">
            <a:solidFill>
              <a:srgbClr val="B0BEC5">
                <a:alpha val="1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35263" y="4334828"/>
            <a:ext cx="1470884" cy="220028"/>
          </a:xfrm>
          <a:prstGeom prst="rect">
            <a:avLst/>
          </a:prstGeom>
          <a:noFill/>
          <a:ln/>
        </p:spPr>
        <p:txBody>
          <a:bodyPr wrap="square" lIns="3429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基础设施层普遍采用 GPL 软件，渗透率持续扩大。</a:t>
            </a:r>
            <a:endParaRPr lang="en-US" sz="473" dirty="0"/>
          </a:p>
        </p:txBody>
      </p:sp>
      <p:sp>
        <p:nvSpPr>
          <p:cNvPr id="88" name="Shape 86"/>
          <p:cNvSpPr/>
          <p:nvPr/>
        </p:nvSpPr>
        <p:spPr>
          <a:xfrm>
            <a:off x="5048577" y="822603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37147" y="822603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5128587" y="874038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" dirty="0"/>
          </a:p>
        </p:txBody>
      </p:sp>
      <p:sp>
        <p:nvSpPr>
          <p:cNvPr id="91" name="Text 89"/>
          <p:cNvSpPr/>
          <p:nvPr/>
        </p:nvSpPr>
        <p:spPr>
          <a:xfrm>
            <a:off x="5414337" y="874038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项目规模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SCALE</a:t>
            </a:r>
            <a:endParaRPr lang="en-US" sz="585" dirty="0"/>
          </a:p>
        </p:txBody>
      </p:sp>
      <p:sp>
        <p:nvSpPr>
          <p:cNvPr id="92" name="Shape 90"/>
          <p:cNvSpPr/>
          <p:nvPr/>
        </p:nvSpPr>
        <p:spPr>
          <a:xfrm>
            <a:off x="5757237" y="885468"/>
            <a:ext cx="222885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57237" y="885468"/>
            <a:ext cx="274320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SCALE</a:t>
            </a:r>
            <a:endParaRPr lang="en-US" sz="405" dirty="0"/>
          </a:p>
        </p:txBody>
      </p:sp>
      <p:sp>
        <p:nvSpPr>
          <p:cNvPr id="94" name="Text 92"/>
          <p:cNvSpPr/>
          <p:nvPr/>
        </p:nvSpPr>
        <p:spPr>
          <a:xfrm>
            <a:off x="5414337" y="999768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 上采用 GPL 家族许可证的开源项目数量持续增长，Linux 生态贡献者活跃度同步上升。</a:t>
            </a:r>
            <a:endParaRPr lang="en-US" sz="473" dirty="0"/>
          </a:p>
        </p:txBody>
      </p:sp>
      <p:sp>
        <p:nvSpPr>
          <p:cNvPr id="95" name="Shape 93"/>
          <p:cNvSpPr/>
          <p:nvPr/>
        </p:nvSpPr>
        <p:spPr>
          <a:xfrm>
            <a:off x="5048577" y="1464647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037147" y="1464647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128587" y="1516082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90" dirty="0"/>
          </a:p>
        </p:txBody>
      </p:sp>
      <p:sp>
        <p:nvSpPr>
          <p:cNvPr id="98" name="Text 96"/>
          <p:cNvSpPr/>
          <p:nvPr/>
        </p:nvSpPr>
        <p:spPr>
          <a:xfrm>
            <a:off x="5414337" y="1516082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贡献者增长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CONTRIBUTORS</a:t>
            </a:r>
            <a:endParaRPr lang="en-US" sz="585" dirty="0"/>
          </a:p>
        </p:txBody>
      </p:sp>
      <p:sp>
        <p:nvSpPr>
          <p:cNvPr id="99" name="Shape 97"/>
          <p:cNvSpPr/>
          <p:nvPr/>
        </p:nvSpPr>
        <p:spPr>
          <a:xfrm>
            <a:off x="5831532" y="1527512"/>
            <a:ext cx="422910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31532" y="1527512"/>
            <a:ext cx="474345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CONTRIBUTORS</a:t>
            </a:r>
            <a:endParaRPr lang="en-US" sz="405" dirty="0"/>
          </a:p>
        </p:txBody>
      </p:sp>
      <p:sp>
        <p:nvSpPr>
          <p:cNvPr id="101" name="Text 99"/>
          <p:cNvSpPr/>
          <p:nvPr/>
        </p:nvSpPr>
        <p:spPr>
          <a:xfrm>
            <a:off x="5414337" y="1641812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 GPL 项目的贡献者社区规模扩大，新兴经济体贡献比例显著提升。</a:t>
            </a:r>
            <a:endParaRPr lang="en-US" sz="473" dirty="0"/>
          </a:p>
        </p:txBody>
      </p:sp>
      <p:sp>
        <p:nvSpPr>
          <p:cNvPr id="102" name="Shape 100"/>
          <p:cNvSpPr/>
          <p:nvPr/>
        </p:nvSpPr>
        <p:spPr>
          <a:xfrm>
            <a:off x="5048577" y="2106692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37147" y="2106692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5128587" y="2158127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90" dirty="0"/>
          </a:p>
        </p:txBody>
      </p:sp>
      <p:sp>
        <p:nvSpPr>
          <p:cNvPr id="105" name="Text 103"/>
          <p:cNvSpPr/>
          <p:nvPr/>
        </p:nvSpPr>
        <p:spPr>
          <a:xfrm>
            <a:off x="5414337" y="2158127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企业采用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ENTERPRISE</a:t>
            </a:r>
            <a:endParaRPr lang="en-US" sz="585" dirty="0"/>
          </a:p>
        </p:txBody>
      </p:sp>
      <p:sp>
        <p:nvSpPr>
          <p:cNvPr id="106" name="Shape 104"/>
          <p:cNvSpPr/>
          <p:nvPr/>
        </p:nvSpPr>
        <p:spPr>
          <a:xfrm>
            <a:off x="5757237" y="2169557"/>
            <a:ext cx="365760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57237" y="2169557"/>
            <a:ext cx="417195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ENTERPRISE</a:t>
            </a:r>
            <a:endParaRPr lang="en-US" sz="405" dirty="0"/>
          </a:p>
        </p:txBody>
      </p:sp>
      <p:sp>
        <p:nvSpPr>
          <p:cNvPr id="108" name="Text 106"/>
          <p:cNvSpPr/>
          <p:nvPr/>
        </p:nvSpPr>
        <p:spPr>
          <a:xfrm>
            <a:off x="5414337" y="2283857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越来越多的科技公司在基础设施层采用 GPL 软件，但合规意识参差不齐。</a:t>
            </a:r>
            <a:endParaRPr lang="en-US" sz="473" dirty="0"/>
          </a:p>
        </p:txBody>
      </p:sp>
      <p:sp>
        <p:nvSpPr>
          <p:cNvPr id="109" name="Shape 107"/>
          <p:cNvSpPr/>
          <p:nvPr/>
        </p:nvSpPr>
        <p:spPr>
          <a:xfrm>
            <a:off x="5048577" y="2748736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37147" y="2748736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5128587" y="2800171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90" dirty="0"/>
          </a:p>
        </p:txBody>
      </p:sp>
      <p:sp>
        <p:nvSpPr>
          <p:cNvPr id="112" name="Text 110"/>
          <p:cNvSpPr/>
          <p:nvPr/>
        </p:nvSpPr>
        <p:spPr>
          <a:xfrm>
            <a:off x="5414337" y="2800171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合规事件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COMPLIANCE</a:t>
            </a:r>
            <a:endParaRPr lang="en-US" sz="585" dirty="0"/>
          </a:p>
        </p:txBody>
      </p:sp>
      <p:sp>
        <p:nvSpPr>
          <p:cNvPr id="113" name="Shape 111"/>
          <p:cNvSpPr/>
          <p:nvPr/>
        </p:nvSpPr>
        <p:spPr>
          <a:xfrm>
            <a:off x="5757237" y="2811601"/>
            <a:ext cx="365760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57237" y="2811601"/>
            <a:ext cx="417195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COMPLIANCE</a:t>
            </a:r>
            <a:endParaRPr lang="en-US" sz="405" dirty="0"/>
          </a:p>
        </p:txBody>
      </p:sp>
      <p:sp>
        <p:nvSpPr>
          <p:cNvPr id="115" name="Text 113"/>
          <p:cNvSpPr/>
          <p:nvPr/>
        </p:nvSpPr>
        <p:spPr>
          <a:xfrm>
            <a:off x="5414337" y="2925901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年上半年 GPL 合规争议和诉讼案件数量相比去年同期有所增加。</a:t>
            </a:r>
            <a:endParaRPr lang="en-US" sz="473" dirty="0"/>
          </a:p>
        </p:txBody>
      </p:sp>
      <p:sp>
        <p:nvSpPr>
          <p:cNvPr id="116" name="Shape 114"/>
          <p:cNvSpPr/>
          <p:nvPr/>
        </p:nvSpPr>
        <p:spPr>
          <a:xfrm>
            <a:off x="5048577" y="3390781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37147" y="3390781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5128587" y="3442216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90" dirty="0"/>
          </a:p>
        </p:txBody>
      </p:sp>
      <p:sp>
        <p:nvSpPr>
          <p:cNvPr id="119" name="Text 117"/>
          <p:cNvSpPr/>
          <p:nvPr/>
        </p:nvSpPr>
        <p:spPr>
          <a:xfrm>
            <a:off x="5414337" y="3442216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许可证迁移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MIGRATION</a:t>
            </a:r>
            <a:endParaRPr lang="en-US" sz="585" dirty="0"/>
          </a:p>
        </p:txBody>
      </p:sp>
      <p:sp>
        <p:nvSpPr>
          <p:cNvPr id="120" name="Shape 118"/>
          <p:cNvSpPr/>
          <p:nvPr/>
        </p:nvSpPr>
        <p:spPr>
          <a:xfrm>
            <a:off x="5831532" y="3453646"/>
            <a:ext cx="337185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31532" y="3453646"/>
            <a:ext cx="388620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MIGRATION</a:t>
            </a:r>
            <a:endParaRPr lang="en-US" sz="405" dirty="0"/>
          </a:p>
        </p:txBody>
      </p:sp>
      <p:sp>
        <p:nvSpPr>
          <p:cNvPr id="122" name="Text 120"/>
          <p:cNvSpPr/>
          <p:nvPr/>
        </p:nvSpPr>
        <p:spPr>
          <a:xfrm>
            <a:off x="5414337" y="3567946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部分项目从 GPL v2 向 v3 或 AGPL 迁移，反映对新兴合规场景的关注。</a:t>
            </a:r>
            <a:endParaRPr lang="en-US" sz="473" dirty="0"/>
          </a:p>
        </p:txBody>
      </p:sp>
      <p:sp>
        <p:nvSpPr>
          <p:cNvPr id="123" name="Shape 121"/>
          <p:cNvSpPr/>
          <p:nvPr/>
        </p:nvSpPr>
        <p:spPr>
          <a:xfrm>
            <a:off x="5048577" y="4032825"/>
            <a:ext cx="3775383" cy="596325"/>
          </a:xfrm>
          <a:prstGeom prst="roundRect">
            <a:avLst>
              <a:gd name="adj" fmla="val 3833"/>
            </a:avLst>
          </a:prstGeom>
          <a:gradFill rotWithShape="1">
            <a:gsLst>
              <a:gs pos="0">
                <a:srgbClr val="0F1A30">
                  <a:alpha val="85000"/>
                </a:srgbClr>
              </a:gs>
              <a:gs pos="100000">
                <a:srgbClr val="0D1629">
                  <a:alpha val="55000"/>
                </a:srgbClr>
              </a:gs>
            </a:gsLst>
            <a:lin ang="0" scaled="0"/>
          </a:gradFill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37147" y="4032825"/>
            <a:ext cx="11430" cy="19297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5128587" y="4084260"/>
            <a:ext cx="342900" cy="493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90" dirty="0"/>
          </a:p>
        </p:txBody>
      </p:sp>
      <p:sp>
        <p:nvSpPr>
          <p:cNvPr id="126" name="Text 124"/>
          <p:cNvSpPr/>
          <p:nvPr/>
        </p:nvSpPr>
        <p:spPr>
          <a:xfrm>
            <a:off x="5414337" y="4084260"/>
            <a:ext cx="373556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社区活跃度</a:t>
            </a:r>
            <a:pPr algn="l" indent="0" marL="0"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HEALTH</a:t>
            </a:r>
            <a:endParaRPr lang="en-US" sz="585" dirty="0"/>
          </a:p>
        </p:txBody>
      </p:sp>
      <p:sp>
        <p:nvSpPr>
          <p:cNvPr id="127" name="Shape 125"/>
          <p:cNvSpPr/>
          <p:nvPr/>
        </p:nvSpPr>
        <p:spPr>
          <a:xfrm>
            <a:off x="5831532" y="4095690"/>
            <a:ext cx="251460" cy="85725"/>
          </a:xfrm>
          <a:prstGeom prst="roundRect">
            <a:avLst>
              <a:gd name="adj" fmla="val 200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831532" y="4095690"/>
            <a:ext cx="302895" cy="8572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HEALTH</a:t>
            </a:r>
            <a:endParaRPr lang="en-US" sz="405" dirty="0"/>
          </a:p>
        </p:txBody>
      </p:sp>
      <p:sp>
        <p:nvSpPr>
          <p:cNvPr id="129" name="Text 127"/>
          <p:cNvSpPr/>
          <p:nvPr/>
        </p:nvSpPr>
        <p:spPr>
          <a:xfrm>
            <a:off x="5414337" y="4209990"/>
            <a:ext cx="3735567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项目的 issue 响应时间、PR 合并率等社区健康指标整体呈上升趋势。</a:t>
            </a:r>
            <a:endParaRPr lang="en-US" sz="473" dirty="0"/>
          </a:p>
        </p:txBody>
      </p:sp>
      <p:sp>
        <p:nvSpPr>
          <p:cNvPr id="130" name="Shape 128"/>
          <p:cNvSpPr/>
          <p:nvPr/>
        </p:nvSpPr>
        <p:spPr>
          <a:xfrm>
            <a:off x="320040" y="4697730"/>
            <a:ext cx="8503920" cy="262890"/>
          </a:xfrm>
          <a:prstGeom prst="roundRect">
            <a:avLst>
              <a:gd name="adj" fmla="val 13043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22910" y="4823460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32" name="Text 130"/>
          <p:cNvSpPr/>
          <p:nvPr/>
        </p:nvSpPr>
        <p:spPr>
          <a:xfrm>
            <a:off x="428625" y="4760595"/>
            <a:ext cx="124175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增长与合规的</a:t>
            </a:r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辩证共生</a:t>
            </a:r>
            <a:endParaRPr lang="en-US" sz="720" dirty="0"/>
          </a:p>
        </p:txBody>
      </p:sp>
      <p:sp>
        <p:nvSpPr>
          <p:cNvPr id="133" name="Text 131"/>
          <p:cNvSpPr/>
          <p:nvPr/>
        </p:nvSpPr>
        <p:spPr>
          <a:xfrm>
            <a:off x="6417945" y="4786313"/>
            <a:ext cx="87050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SOURCE: 公开数据综合估算</a:t>
            </a:r>
            <a:endParaRPr lang="en-US" sz="473" dirty="0"/>
          </a:p>
        </p:txBody>
      </p:sp>
      <p:sp>
        <p:nvSpPr>
          <p:cNvPr id="134" name="Text 132"/>
          <p:cNvSpPr/>
          <p:nvPr/>
        </p:nvSpPr>
        <p:spPr>
          <a:xfrm>
            <a:off x="7275195" y="4789170"/>
            <a:ext cx="1020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</a:t>
            </a:r>
            <a:endParaRPr lang="en-US" sz="473" dirty="0"/>
          </a:p>
        </p:txBody>
      </p:sp>
      <p:sp>
        <p:nvSpPr>
          <p:cNvPr id="135" name="Text 133"/>
          <p:cNvSpPr/>
          <p:nvPr/>
        </p:nvSpPr>
        <p:spPr>
          <a:xfrm>
            <a:off x="7395210" y="4789170"/>
            <a:ext cx="71689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UPDATED: 2023-04</a:t>
            </a:r>
            <a:endParaRPr lang="en-US" sz="473" dirty="0"/>
          </a:p>
        </p:txBody>
      </p:sp>
      <p:sp>
        <p:nvSpPr>
          <p:cNvPr id="136" name="Text 134"/>
          <p:cNvSpPr/>
          <p:nvPr/>
        </p:nvSpPr>
        <p:spPr>
          <a:xfrm>
            <a:off x="8115300" y="4789170"/>
            <a:ext cx="1020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</a:t>
            </a:r>
            <a:endParaRPr lang="en-US" sz="473" dirty="0"/>
          </a:p>
        </p:txBody>
      </p:sp>
      <p:sp>
        <p:nvSpPr>
          <p:cNvPr id="137" name="Text 135"/>
          <p:cNvSpPr/>
          <p:nvPr/>
        </p:nvSpPr>
        <p:spPr>
          <a:xfrm>
            <a:off x="8235315" y="4789170"/>
            <a:ext cx="54006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DATASET v1.0</a:t>
            </a:r>
            <a:endParaRPr lang="en-US" sz="47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0287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74320"/>
            <a:ext cx="8503920" cy="734556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20040" y="1008876"/>
            <a:ext cx="8503920" cy="0"/>
          </a:xfrm>
          <a:prstGeom prst="line">
            <a:avLst/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4320"/>
            <a:ext cx="95243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OPEN_SOURCE_LAW · COMPLIANCE_RISK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20040" y="422910"/>
            <a:ext cx="9524390" cy="2891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70" b="1" spc="45" kern="0" dirty="0">
                <a:solidFill>
                  <a:srgbClr val="FFD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GPL合规的火焰</a:t>
            </a:r>
            <a:endParaRPr lang="en-US" sz="2070" dirty="0"/>
          </a:p>
        </p:txBody>
      </p:sp>
      <p:sp>
        <p:nvSpPr>
          <p:cNvPr id="9" name="Text 7"/>
          <p:cNvSpPr/>
          <p:nvPr/>
        </p:nvSpPr>
        <p:spPr>
          <a:xfrm>
            <a:off x="320040" y="769203"/>
            <a:ext cx="883310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GPL的"火焰"并非来自其哲学本身，而是来自实践中的模糊地带：什么算"派生作品"？网络服务是否算"分发"？这些问题在2023年仍然悬而未决。</a:t>
            </a:r>
            <a:endParaRPr lang="en-US" sz="608" dirty="0"/>
          </a:p>
        </p:txBody>
      </p:sp>
      <p:sp>
        <p:nvSpPr>
          <p:cNvPr id="10" name="Shape 8"/>
          <p:cNvSpPr/>
          <p:nvPr/>
        </p:nvSpPr>
        <p:spPr>
          <a:xfrm>
            <a:off x="320040" y="1134606"/>
            <a:ext cx="3401497" cy="2864197"/>
          </a:xfrm>
          <a:prstGeom prst="roundRect">
            <a:avLst>
              <a:gd name="adj" fmla="val 2793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A1628">
                  <a:alpha val="60000"/>
                </a:srgbClr>
              </a:gs>
            </a:gsLst>
            <a:lin ang="42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5075" y="-6428"/>
            <a:ext cx="1714500" cy="1714500"/>
          </a:xfrm>
          <a:prstGeom prst="rect">
            <a:avLst/>
          </a:prstGeom>
          <a:solidFill>
            <a:srgbClr val="FF3D00">
              <a:alpha val="18000"/>
            </a:srgbClr>
          </a:solidFill>
          <a:ln/>
          <a:effectLst>
            <a:outerShdw sx="100000" sy="100000" kx="0" ky="0" algn="bl" rotWithShape="0" blurRad="114300" dist="50800" dir="16200000">
              <a:srgbClr val="FF3D00">
                <a:alpha val="6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4335" y="1197471"/>
            <a:ext cx="4000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◢ FLAME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3190042" y="1197471"/>
            <a:ext cx="5143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SVG · v1.0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394335" y="3861643"/>
            <a:ext cx="66568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RISK_MODEL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3281482" y="3861643"/>
            <a:ext cx="42291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01001011</a:t>
            </a:r>
            <a:endParaRPr lang="en-US" sz="4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0688" y="1823710"/>
            <a:ext cx="1600200" cy="14859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5755" y="3821638"/>
            <a:ext cx="37968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▣ 合 规 之 火 · 模 糊 之 带 ▣</a:t>
            </a:r>
            <a:endParaRPr lang="en-US" sz="495" dirty="0"/>
          </a:p>
        </p:txBody>
      </p:sp>
      <p:sp>
        <p:nvSpPr>
          <p:cNvPr id="18" name="Shape 15"/>
          <p:cNvSpPr/>
          <p:nvPr/>
        </p:nvSpPr>
        <p:spPr>
          <a:xfrm>
            <a:off x="320040" y="4090243"/>
            <a:ext cx="1660743" cy="561767"/>
          </a:xfrm>
          <a:prstGeom prst="roundRect">
            <a:avLst>
              <a:gd name="adj" fmla="val 10173"/>
            </a:avLst>
          </a:prstGeom>
          <a:solidFill>
            <a:srgbClr val="0F1E37">
              <a:alpha val="72000"/>
            </a:srgbClr>
          </a:solidFill>
          <a:ln w="17145">
            <a:solidFill>
              <a:srgbClr val="FF9800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7195" y="4164538"/>
            <a:ext cx="16552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CASE_COUNT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417195" y="4261693"/>
            <a:ext cx="1655207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多起著名合规诉讼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17195" y="4397693"/>
            <a:ext cx="1655207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Docker / Citrix 等案例，反映 GPL 传染条款在商业实践中的持续争议。</a:t>
            </a:r>
            <a:endParaRPr lang="en-US" sz="473" dirty="0"/>
          </a:p>
        </p:txBody>
      </p:sp>
      <p:sp>
        <p:nvSpPr>
          <p:cNvPr id="22" name="Shape 19"/>
          <p:cNvSpPr/>
          <p:nvPr/>
        </p:nvSpPr>
        <p:spPr>
          <a:xfrm>
            <a:off x="2060793" y="4090243"/>
            <a:ext cx="1660743" cy="561767"/>
          </a:xfrm>
          <a:prstGeom prst="roundRect">
            <a:avLst>
              <a:gd name="adj" fmla="val 10173"/>
            </a:avLst>
          </a:prstGeom>
          <a:solidFill>
            <a:srgbClr val="0F1E37">
              <a:alpha val="72000"/>
            </a:srgbClr>
          </a:solidFill>
          <a:ln w="1714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57948" y="4164538"/>
            <a:ext cx="16552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VIOLATION_RATE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2157948" y="4261693"/>
            <a:ext cx="1655207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嵌入式违规率偏高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157948" y="4397693"/>
            <a:ext cx="1655207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IoT 行业普遍问题，固件内含 GPL 代码却未提供源代码。</a:t>
            </a:r>
            <a:endParaRPr lang="en-US" sz="473" dirty="0"/>
          </a:p>
        </p:txBody>
      </p:sp>
      <p:sp>
        <p:nvSpPr>
          <p:cNvPr id="26" name="Shape 23"/>
          <p:cNvSpPr/>
          <p:nvPr/>
        </p:nvSpPr>
        <p:spPr>
          <a:xfrm>
            <a:off x="3881557" y="1134606"/>
            <a:ext cx="5102334" cy="827871"/>
          </a:xfrm>
          <a:prstGeom prst="roundRect">
            <a:avLst>
              <a:gd name="adj" fmla="val 6903"/>
            </a:avLst>
          </a:prstGeom>
          <a:solidFill>
            <a:srgbClr val="0F1E37">
              <a:alpha val="7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81557" y="1214616"/>
            <a:ext cx="17145" cy="656419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Shape 25"/>
          <p:cNvSpPr/>
          <p:nvPr/>
        </p:nvSpPr>
        <p:spPr>
          <a:xfrm>
            <a:off x="3990142" y="1411337"/>
            <a:ext cx="274320" cy="274320"/>
          </a:xfrm>
          <a:prstGeom prst="roundRect">
            <a:avLst>
              <a:gd name="adj" fmla="val 20833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3007" y="1474202"/>
            <a:ext cx="148590" cy="14859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378762" y="1409105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静态链接争议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4984552" y="1423392"/>
            <a:ext cx="611505" cy="108585"/>
          </a:xfrm>
          <a:prstGeom prst="roundRect">
            <a:avLst>
              <a:gd name="adj" fmla="val 21053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84552" y="1423392"/>
            <a:ext cx="684886" cy="108585"/>
          </a:xfrm>
          <a:prstGeom prst="rect">
            <a:avLst/>
          </a:prstGeom>
          <a:noFill/>
          <a:ln/>
        </p:spPr>
        <p:txBody>
          <a:bodyPr wrap="square" lIns="11430" tIns="40005" rIns="40005" bIns="11430" rtlCol="0" anchor="ctr"/>
          <a:lstStyle/>
          <a:p>
            <a:pPr algn="l" indent="0" marL="0">
              <a:buNone/>
            </a:pPr>
            <a:r>
              <a:rPr lang="en-US" sz="428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STILL_LINKING</a:t>
            </a:r>
            <a:endParaRPr lang="en-US" sz="428" dirty="0"/>
          </a:p>
        </p:txBody>
      </p:sp>
      <p:sp>
        <p:nvSpPr>
          <p:cNvPr id="33" name="Text 29"/>
          <p:cNvSpPr/>
          <p:nvPr/>
        </p:nvSpPr>
        <p:spPr>
          <a:xfrm>
            <a:off x="4378762" y="1574840"/>
            <a:ext cx="5036129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闭源商业软件静态链接 GPL 库是否触发传染条款，业界仍无统一司法共识。</a:t>
            </a:r>
            <a:endParaRPr lang="en-US" sz="540" dirty="0"/>
          </a:p>
        </p:txBody>
      </p:sp>
      <p:sp>
        <p:nvSpPr>
          <p:cNvPr id="34" name="Shape 30"/>
          <p:cNvSpPr/>
          <p:nvPr/>
        </p:nvSpPr>
        <p:spPr>
          <a:xfrm>
            <a:off x="3881557" y="2031057"/>
            <a:ext cx="5102334" cy="827961"/>
          </a:xfrm>
          <a:prstGeom prst="roundRect">
            <a:avLst>
              <a:gd name="adj" fmla="val 6902"/>
            </a:avLst>
          </a:prstGeom>
          <a:solidFill>
            <a:srgbClr val="0F1E37">
              <a:alpha val="7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881557" y="2111067"/>
            <a:ext cx="17145" cy="656511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6" name="Shape 32"/>
          <p:cNvSpPr/>
          <p:nvPr/>
        </p:nvSpPr>
        <p:spPr>
          <a:xfrm>
            <a:off x="3990142" y="2307878"/>
            <a:ext cx="274320" cy="274320"/>
          </a:xfrm>
          <a:prstGeom prst="roundRect">
            <a:avLst>
              <a:gd name="adj" fmla="val 20833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3007" y="2370743"/>
            <a:ext cx="148590" cy="14859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378762" y="2305556"/>
            <a:ext cx="71437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合规案</a:t>
            </a:r>
            <a:endParaRPr lang="en-US" sz="720" dirty="0"/>
          </a:p>
        </p:txBody>
      </p:sp>
      <p:sp>
        <p:nvSpPr>
          <p:cNvPr id="39" name="Shape 34"/>
          <p:cNvSpPr/>
          <p:nvPr/>
        </p:nvSpPr>
        <p:spPr>
          <a:xfrm>
            <a:off x="5058847" y="2319844"/>
            <a:ext cx="451485" cy="108585"/>
          </a:xfrm>
          <a:prstGeom prst="roundRect">
            <a:avLst>
              <a:gd name="adj" fmla="val 21053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58847" y="2319844"/>
            <a:ext cx="505778" cy="108585"/>
          </a:xfrm>
          <a:prstGeom prst="rect">
            <a:avLst/>
          </a:prstGeom>
          <a:noFill/>
          <a:ln/>
        </p:spPr>
        <p:txBody>
          <a:bodyPr wrap="square" lIns="11430" tIns="40005" rIns="40005" bIns="11430" rtlCol="0" anchor="ctr"/>
          <a:lstStyle/>
          <a:p>
            <a:pPr algn="l" indent="0" marL="0">
              <a:buNone/>
            </a:pPr>
            <a:r>
              <a:rPr lang="en-US" sz="428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CONTAINER</a:t>
            </a:r>
            <a:endParaRPr lang="en-US" sz="428" dirty="0"/>
          </a:p>
        </p:txBody>
      </p:sp>
      <p:sp>
        <p:nvSpPr>
          <p:cNvPr id="41" name="Text 36"/>
          <p:cNvSpPr/>
          <p:nvPr/>
        </p:nvSpPr>
        <p:spPr>
          <a:xfrm>
            <a:off x="4378762" y="2471291"/>
            <a:ext cx="5036129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Mirantis 曾面临 GPL 合规诉讼，反映容器化部署中 GPL 代码分发的边界模糊。</a:t>
            </a:r>
            <a:endParaRPr lang="en-US" sz="540" dirty="0"/>
          </a:p>
        </p:txBody>
      </p:sp>
      <p:sp>
        <p:nvSpPr>
          <p:cNvPr id="42" name="Shape 37"/>
          <p:cNvSpPr/>
          <p:nvPr/>
        </p:nvSpPr>
        <p:spPr>
          <a:xfrm>
            <a:off x="3881557" y="2927598"/>
            <a:ext cx="5102334" cy="827871"/>
          </a:xfrm>
          <a:prstGeom prst="roundRect">
            <a:avLst>
              <a:gd name="adj" fmla="val 6903"/>
            </a:avLst>
          </a:prstGeom>
          <a:solidFill>
            <a:srgbClr val="0F1E37">
              <a:alpha val="7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881557" y="3007608"/>
            <a:ext cx="17145" cy="656419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4" name="Shape 39"/>
          <p:cNvSpPr/>
          <p:nvPr/>
        </p:nvSpPr>
        <p:spPr>
          <a:xfrm>
            <a:off x="3990142" y="3204329"/>
            <a:ext cx="274320" cy="274320"/>
          </a:xfrm>
          <a:prstGeom prst="roundRect">
            <a:avLst>
              <a:gd name="adj" fmla="val 20833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3007" y="3267194"/>
            <a:ext cx="148590" cy="14859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378762" y="3202097"/>
            <a:ext cx="5486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嵌入式领域</a:t>
            </a:r>
            <a:endParaRPr lang="en-US" sz="720" dirty="0"/>
          </a:p>
        </p:txBody>
      </p:sp>
      <p:sp>
        <p:nvSpPr>
          <p:cNvPr id="47" name="Shape 41"/>
          <p:cNvSpPr/>
          <p:nvPr/>
        </p:nvSpPr>
        <p:spPr>
          <a:xfrm>
            <a:off x="4893112" y="3216384"/>
            <a:ext cx="491490" cy="108585"/>
          </a:xfrm>
          <a:prstGeom prst="roundRect">
            <a:avLst>
              <a:gd name="adj" fmla="val 21053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893112" y="3216384"/>
            <a:ext cx="550469" cy="108585"/>
          </a:xfrm>
          <a:prstGeom prst="rect">
            <a:avLst/>
          </a:prstGeom>
          <a:noFill/>
          <a:ln/>
        </p:spPr>
        <p:txBody>
          <a:bodyPr wrap="square" lIns="11430" tIns="40005" rIns="40005" bIns="11430" rtlCol="0" anchor="ctr"/>
          <a:lstStyle/>
          <a:p>
            <a:pPr algn="l" indent="0" marL="0">
              <a:buNone/>
            </a:pPr>
            <a:r>
              <a:rPr lang="en-US" sz="428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IOT_DEVICE</a:t>
            </a:r>
            <a:endParaRPr lang="en-US" sz="428" dirty="0"/>
          </a:p>
        </p:txBody>
      </p:sp>
      <p:sp>
        <p:nvSpPr>
          <p:cNvPr id="49" name="Text 43"/>
          <p:cNvSpPr/>
          <p:nvPr/>
        </p:nvSpPr>
        <p:spPr>
          <a:xfrm>
            <a:off x="4378762" y="3367832"/>
            <a:ext cx="5036129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IoT 设备厂商常忽视 GPL 合规要求，固件中包含 GPL 代码却不提供源代码。</a:t>
            </a:r>
            <a:endParaRPr lang="en-US" sz="540" dirty="0"/>
          </a:p>
        </p:txBody>
      </p:sp>
      <p:sp>
        <p:nvSpPr>
          <p:cNvPr id="50" name="Shape 44"/>
          <p:cNvSpPr/>
          <p:nvPr/>
        </p:nvSpPr>
        <p:spPr>
          <a:xfrm>
            <a:off x="3881557" y="3824049"/>
            <a:ext cx="5102334" cy="827961"/>
          </a:xfrm>
          <a:prstGeom prst="roundRect">
            <a:avLst>
              <a:gd name="adj" fmla="val 6902"/>
            </a:avLst>
          </a:prstGeom>
          <a:solidFill>
            <a:srgbClr val="0F1E37">
              <a:alpha val="72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881557" y="3904059"/>
            <a:ext cx="17145" cy="656511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2" name="Shape 46"/>
          <p:cNvSpPr/>
          <p:nvPr/>
        </p:nvSpPr>
        <p:spPr>
          <a:xfrm>
            <a:off x="3990142" y="4100870"/>
            <a:ext cx="274320" cy="274320"/>
          </a:xfrm>
          <a:prstGeom prst="roundRect">
            <a:avLst>
              <a:gd name="adj" fmla="val 20833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3007" y="4163735"/>
            <a:ext cx="148590" cy="14859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4378762" y="4098548"/>
            <a:ext cx="6400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法律不确定性</a:t>
            </a:r>
            <a:endParaRPr lang="en-US" sz="720" dirty="0"/>
          </a:p>
        </p:txBody>
      </p:sp>
      <p:sp>
        <p:nvSpPr>
          <p:cNvPr id="55" name="Shape 48"/>
          <p:cNvSpPr/>
          <p:nvPr/>
        </p:nvSpPr>
        <p:spPr>
          <a:xfrm>
            <a:off x="4984552" y="4112835"/>
            <a:ext cx="571500" cy="108585"/>
          </a:xfrm>
          <a:prstGeom prst="roundRect">
            <a:avLst>
              <a:gd name="adj" fmla="val 21053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984552" y="4112835"/>
            <a:ext cx="640080" cy="108585"/>
          </a:xfrm>
          <a:prstGeom prst="rect">
            <a:avLst/>
          </a:prstGeom>
          <a:noFill/>
          <a:ln/>
        </p:spPr>
        <p:txBody>
          <a:bodyPr wrap="square" lIns="11430" tIns="40005" rIns="40005" bIns="11430" rtlCol="0" anchor="ctr"/>
          <a:lstStyle/>
          <a:p>
            <a:pPr algn="l" indent="0" marL="0">
              <a:buNone/>
            </a:pPr>
            <a:r>
              <a:rPr lang="en-US" sz="428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JURISDICTION</a:t>
            </a:r>
            <a:endParaRPr lang="en-US" sz="428" dirty="0"/>
          </a:p>
        </p:txBody>
      </p:sp>
      <p:sp>
        <p:nvSpPr>
          <p:cNvPr id="57" name="Text 50"/>
          <p:cNvSpPr/>
          <p:nvPr/>
        </p:nvSpPr>
        <p:spPr>
          <a:xfrm>
            <a:off x="4378762" y="4264283"/>
            <a:ext cx="5036129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不同司法管辖区对 GPL 条款的解释差异，增加了跨国企业的合规成本。</a:t>
            </a:r>
            <a:endParaRPr lang="en-US" sz="540" dirty="0"/>
          </a:p>
        </p:txBody>
      </p:sp>
      <p:sp>
        <p:nvSpPr>
          <p:cNvPr id="58" name="Shape 51"/>
          <p:cNvSpPr/>
          <p:nvPr/>
        </p:nvSpPr>
        <p:spPr>
          <a:xfrm>
            <a:off x="320040" y="4743450"/>
            <a:ext cx="8503920" cy="171450"/>
          </a:xfrm>
          <a:prstGeom prst="rect">
            <a:avLst/>
          </a:prstGeom>
          <a:noFill/>
          <a:ln/>
        </p:spPr>
      </p:sp>
      <p:sp>
        <p:nvSpPr>
          <p:cNvPr id="59" name="Shape 52"/>
          <p:cNvSpPr/>
          <p:nvPr/>
        </p:nvSpPr>
        <p:spPr>
          <a:xfrm>
            <a:off x="320040" y="4743450"/>
            <a:ext cx="8503920" cy="0"/>
          </a:xfrm>
          <a:prstGeom prst="line">
            <a:avLst/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320040" y="4817745"/>
            <a:ext cx="1536192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火焰之外：</a:t>
            </a:r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的合规边界仍待司法共识</a:t>
            </a:r>
            <a:endParaRPr lang="en-US" sz="540" dirty="0"/>
          </a:p>
        </p:txBody>
      </p:sp>
      <p:sp>
        <p:nvSpPr>
          <p:cNvPr id="61" name="Text 54"/>
          <p:cNvSpPr/>
          <p:nvPr/>
        </p:nvSpPr>
        <p:spPr>
          <a:xfrm>
            <a:off x="7772400" y="4829175"/>
            <a:ext cx="117774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0BEC5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· COMPLIANCE · 2023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4572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320040" y="240030"/>
            <a:ext cx="9524390" cy="74295"/>
          </a:xfrm>
          <a:prstGeom prst="rect">
            <a:avLst/>
          </a:prstGeom>
          <a:noFill/>
          <a:ln/>
        </p:spPr>
        <p:txBody>
          <a:bodyPr wrap="none" lIns="0" tIns="114300" rIns="0" bIns="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LICENSE · TRENDS 2023</a:t>
            </a:r>
            <a:endParaRPr lang="en-US" sz="450" dirty="0"/>
          </a:p>
        </p:txBody>
      </p:sp>
      <p:sp>
        <p:nvSpPr>
          <p:cNvPr id="5" name="Shape 3"/>
          <p:cNvSpPr/>
          <p:nvPr/>
        </p:nvSpPr>
        <p:spPr>
          <a:xfrm>
            <a:off x="320040" y="422910"/>
            <a:ext cx="34290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434340" y="360045"/>
            <a:ext cx="1685925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spc="45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开源许可证趋势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320040" y="691515"/>
            <a:ext cx="8833104" cy="126266"/>
          </a:xfrm>
          <a:prstGeom prst="rect">
            <a:avLst/>
          </a:prstGeom>
          <a:noFill/>
          <a:ln/>
        </p:spPr>
        <p:txBody>
          <a:bodyPr wrap="none" lIns="0" tIns="11430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开源许可证格局在2023年呈现多元化趋势。GPL不再是唯一选项，但它仍是自由软件运动的精神灯塔。理解各许可证的相对地位，是做出明智技术选择的前提。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20040" y="920651"/>
            <a:ext cx="37572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核心指标 · KPI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320040" y="1069241"/>
            <a:ext cx="3354705" cy="513100"/>
          </a:xfrm>
          <a:prstGeom prst="roundRect">
            <a:avLst>
              <a:gd name="adj" fmla="val 6683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60000">
                <a:srgbClr val="11223A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320040" y="1069241"/>
            <a:ext cx="0" cy="513100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195" y="1242923"/>
            <a:ext cx="66294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15–20%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22985" y="1227832"/>
            <a:ext cx="2880360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系项目占比</a:t>
            </a:r>
            <a:endParaRPr lang="en-US" sz="585" dirty="0"/>
          </a:p>
        </p:txBody>
      </p:sp>
      <p:sp>
        <p:nvSpPr>
          <p:cNvPr id="13" name="Text 11"/>
          <p:cNvSpPr/>
          <p:nvPr/>
        </p:nvSpPr>
        <p:spPr>
          <a:xfrm>
            <a:off x="1022985" y="1335792"/>
            <a:ext cx="2880360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主流开源平台估算值，仍是自由软件基石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320040" y="1639491"/>
            <a:ext cx="3354705" cy="513100"/>
          </a:xfrm>
          <a:prstGeom prst="roundRect">
            <a:avLst>
              <a:gd name="adj" fmla="val 6683"/>
            </a:avLst>
          </a:prstGeom>
          <a:gradFill rotWithShape="1">
            <a:gsLst>
              <a:gs pos="0">
                <a:srgbClr val="00BCD4">
                  <a:alpha val="12000"/>
                </a:srgbClr>
              </a:gs>
              <a:gs pos="60000">
                <a:srgbClr val="0E1E33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15" name="Shape 13"/>
          <p:cNvSpPr/>
          <p:nvPr/>
        </p:nvSpPr>
        <p:spPr>
          <a:xfrm>
            <a:off x="320040" y="1639491"/>
            <a:ext cx="0" cy="51310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195" y="1813173"/>
            <a:ext cx="65151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011555" y="1798082"/>
            <a:ext cx="2893162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占比持续增长</a:t>
            </a:r>
            <a:endParaRPr lang="en-US" sz="585" dirty="0"/>
          </a:p>
        </p:txBody>
      </p:sp>
      <p:sp>
        <p:nvSpPr>
          <p:cNvPr id="18" name="Text 16"/>
          <p:cNvSpPr/>
          <p:nvPr/>
        </p:nvSpPr>
        <p:spPr>
          <a:xfrm>
            <a:off x="1011555" y="1906042"/>
            <a:ext cx="2893162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商业友好趋势，新项目首选宽松许可证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320040" y="2209740"/>
            <a:ext cx="3354705" cy="513100"/>
          </a:xfrm>
          <a:prstGeom prst="roundRect">
            <a:avLst>
              <a:gd name="adj" fmla="val 6683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60000">
                <a:srgbClr val="11223A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320040" y="2209740"/>
            <a:ext cx="0" cy="513100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195" y="2383423"/>
            <a:ext cx="65151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11555" y="2368332"/>
            <a:ext cx="2893162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新采用率上升</a:t>
            </a:r>
            <a:endParaRPr lang="en-US" sz="585" dirty="0"/>
          </a:p>
        </p:txBody>
      </p:sp>
      <p:sp>
        <p:nvSpPr>
          <p:cNvPr id="23" name="Text 21"/>
          <p:cNvSpPr/>
          <p:nvPr/>
        </p:nvSpPr>
        <p:spPr>
          <a:xfrm>
            <a:off x="1011555" y="2476292"/>
            <a:ext cx="2893162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数据库 / 中间件领域尤为显著</a:t>
            </a:r>
            <a:endParaRPr lang="en-US" sz="495" dirty="0"/>
          </a:p>
        </p:txBody>
      </p:sp>
      <p:sp>
        <p:nvSpPr>
          <p:cNvPr id="24" name="Shape 22"/>
          <p:cNvSpPr/>
          <p:nvPr/>
        </p:nvSpPr>
        <p:spPr>
          <a:xfrm>
            <a:off x="320040" y="2779990"/>
            <a:ext cx="3354705" cy="513100"/>
          </a:xfrm>
          <a:prstGeom prst="roundRect">
            <a:avLst>
              <a:gd name="adj" fmla="val 6683"/>
            </a:avLst>
          </a:prstGeom>
          <a:gradFill rotWithShape="1">
            <a:gsLst>
              <a:gs pos="0">
                <a:srgbClr val="00BCD4">
                  <a:alpha val="12000"/>
                </a:srgbClr>
              </a:gs>
              <a:gs pos="60000">
                <a:srgbClr val="0E1E33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320040" y="2779990"/>
            <a:ext cx="0" cy="51310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195" y="2953673"/>
            <a:ext cx="65151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×2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011555" y="2938582"/>
            <a:ext cx="2893162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双许可证项目显著增加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1011555" y="3046541"/>
            <a:ext cx="2893162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MongoDB / InfluxDB 等典型案例</a:t>
            </a:r>
            <a:endParaRPr lang="en-US" sz="495" dirty="0"/>
          </a:p>
        </p:txBody>
      </p:sp>
      <p:sp>
        <p:nvSpPr>
          <p:cNvPr id="29" name="Shape 27"/>
          <p:cNvSpPr/>
          <p:nvPr/>
        </p:nvSpPr>
        <p:spPr>
          <a:xfrm>
            <a:off x="320040" y="3350240"/>
            <a:ext cx="3354705" cy="513100"/>
          </a:xfrm>
          <a:prstGeom prst="roundRect">
            <a:avLst>
              <a:gd name="adj" fmla="val 6683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60000">
                <a:srgbClr val="11223A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30" name="Shape 28"/>
          <p:cNvSpPr/>
          <p:nvPr/>
        </p:nvSpPr>
        <p:spPr>
          <a:xfrm>
            <a:off x="320040" y="3350240"/>
            <a:ext cx="0" cy="513100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7195" y="3523923"/>
            <a:ext cx="65151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011555" y="3508831"/>
            <a:ext cx="2893162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合规工具市场年增速</a:t>
            </a:r>
            <a:endParaRPr lang="en-US" sz="585" dirty="0"/>
          </a:p>
        </p:txBody>
      </p:sp>
      <p:sp>
        <p:nvSpPr>
          <p:cNvPr id="33" name="Text 31"/>
          <p:cNvSpPr/>
          <p:nvPr/>
        </p:nvSpPr>
        <p:spPr>
          <a:xfrm>
            <a:off x="1011555" y="3616791"/>
            <a:ext cx="2893162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企业合规需求驱动市场快速扩张</a:t>
            </a:r>
            <a:endParaRPr lang="en-US" sz="495" dirty="0"/>
          </a:p>
        </p:txBody>
      </p:sp>
      <p:sp>
        <p:nvSpPr>
          <p:cNvPr id="34" name="Shape 32"/>
          <p:cNvSpPr/>
          <p:nvPr/>
        </p:nvSpPr>
        <p:spPr>
          <a:xfrm>
            <a:off x="3789045" y="920651"/>
            <a:ext cx="5034915" cy="1828800"/>
          </a:xfrm>
          <a:prstGeom prst="roundRect">
            <a:avLst>
              <a:gd name="adj" fmla="val 2500"/>
            </a:avLst>
          </a:prstGeom>
          <a:solidFill>
            <a:srgbClr val="11223A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1006376"/>
            <a:ext cx="542147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许可证份额分布（2023 估算）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3886200" y="1154966"/>
            <a:ext cx="54214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来源：主流开源平台综合统计 · 数据为近似估算，仅供趋势参考</a:t>
            </a:r>
            <a:endParaRPr lang="en-US" sz="473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3886200" y="1274981"/>
          <a:ext cx="4840605" cy="13887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3789045" y="2818031"/>
            <a:ext cx="5034915" cy="857250"/>
          </a:xfrm>
          <a:prstGeom prst="roundRect">
            <a:avLst>
              <a:gd name="adj" fmla="val 5333"/>
            </a:avLst>
          </a:prstGeom>
          <a:solidFill>
            <a:srgbClr val="0E1E33"/>
          </a:solidFill>
          <a:ln w="5715">
            <a:solidFill>
              <a:srgbClr val="1E3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886200" y="2892326"/>
            <a:ext cx="542147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E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历史采用趋势 · 2015 — 2023</a:t>
            </a:r>
            <a:endParaRPr lang="en-US" sz="63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3886200" y="3029486"/>
          <a:ext cx="4840605" cy="571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320040" y="3966210"/>
            <a:ext cx="1655028" cy="971550"/>
          </a:xfrm>
          <a:prstGeom prst="roundRect">
            <a:avLst>
              <a:gd name="adj" fmla="val 3529"/>
            </a:avLst>
          </a:prstGeom>
          <a:solidFill>
            <a:srgbClr val="11223A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94335" y="4046220"/>
            <a:ext cx="16872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43" name="Text 39"/>
          <p:cNvSpPr/>
          <p:nvPr/>
        </p:nvSpPr>
        <p:spPr>
          <a:xfrm>
            <a:off x="394335" y="4160520"/>
            <a:ext cx="1687211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v2 主导地位</a:t>
            </a:r>
            <a:endParaRPr lang="en-US" sz="585" dirty="0"/>
          </a:p>
        </p:txBody>
      </p:sp>
      <p:sp>
        <p:nvSpPr>
          <p:cNvPr id="44" name="Text 40"/>
          <p:cNvSpPr/>
          <p:nvPr/>
        </p:nvSpPr>
        <p:spPr>
          <a:xfrm>
            <a:off x="394335" y="4291340"/>
            <a:ext cx="1687211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v3 已发布十余年，大量经典项目仍坚守 v2，反映社区谨慎态度。</a:t>
            </a:r>
            <a:endParaRPr lang="en-US" sz="473" dirty="0"/>
          </a:p>
        </p:txBody>
      </p:sp>
      <p:sp>
        <p:nvSpPr>
          <p:cNvPr id="45" name="Shape 41"/>
          <p:cNvSpPr/>
          <p:nvPr/>
        </p:nvSpPr>
        <p:spPr>
          <a:xfrm>
            <a:off x="2032218" y="3966210"/>
            <a:ext cx="1655028" cy="971550"/>
          </a:xfrm>
          <a:prstGeom prst="roundRect">
            <a:avLst>
              <a:gd name="adj" fmla="val 3529"/>
            </a:avLst>
          </a:prstGeom>
          <a:solidFill>
            <a:srgbClr val="11223A"/>
          </a:solidFill>
          <a:ln w="11430">
            <a:solidFill>
              <a:srgbClr val="00BCD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106513" y="4046220"/>
            <a:ext cx="16872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47" name="Text 43"/>
          <p:cNvSpPr/>
          <p:nvPr/>
        </p:nvSpPr>
        <p:spPr>
          <a:xfrm>
            <a:off x="2106513" y="4160520"/>
            <a:ext cx="1687211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/ BSD 增长</a:t>
            </a:r>
            <a:endParaRPr lang="en-US" sz="585" dirty="0"/>
          </a:p>
        </p:txBody>
      </p:sp>
      <p:sp>
        <p:nvSpPr>
          <p:cNvPr id="48" name="Text 44"/>
          <p:cNvSpPr/>
          <p:nvPr/>
        </p:nvSpPr>
        <p:spPr>
          <a:xfrm>
            <a:off x="2106513" y="4291340"/>
            <a:ext cx="1687211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宽松型许可证在商业友好场景中持续增长，与 GPL 形成互补生态格局。</a:t>
            </a:r>
            <a:endParaRPr lang="en-US" sz="473" dirty="0"/>
          </a:p>
        </p:txBody>
      </p:sp>
      <p:sp>
        <p:nvSpPr>
          <p:cNvPr id="49" name="Shape 45"/>
          <p:cNvSpPr/>
          <p:nvPr/>
        </p:nvSpPr>
        <p:spPr>
          <a:xfrm>
            <a:off x="3744397" y="3966210"/>
            <a:ext cx="1655118" cy="971550"/>
          </a:xfrm>
          <a:prstGeom prst="roundRect">
            <a:avLst>
              <a:gd name="adj" fmla="val 3529"/>
            </a:avLst>
          </a:prstGeom>
          <a:solidFill>
            <a:srgbClr val="11223A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818692" y="4046220"/>
            <a:ext cx="16873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51" name="Text 47"/>
          <p:cNvSpPr/>
          <p:nvPr/>
        </p:nvSpPr>
        <p:spPr>
          <a:xfrm>
            <a:off x="3818692" y="4160520"/>
            <a:ext cx="1687311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兴起</a:t>
            </a:r>
            <a:endParaRPr lang="en-US" sz="585" dirty="0"/>
          </a:p>
        </p:txBody>
      </p:sp>
      <p:sp>
        <p:nvSpPr>
          <p:cNvPr id="52" name="Text 48"/>
          <p:cNvSpPr/>
          <p:nvPr/>
        </p:nvSpPr>
        <p:spPr>
          <a:xfrm>
            <a:off x="3818692" y="4291340"/>
            <a:ext cx="1687311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SaaS 普及带动 AGPL 受数据库和 API 项目青睐，覆盖网络服务场景。</a:t>
            </a:r>
            <a:endParaRPr lang="en-US" sz="473" dirty="0"/>
          </a:p>
        </p:txBody>
      </p:sp>
      <p:sp>
        <p:nvSpPr>
          <p:cNvPr id="53" name="Shape 49"/>
          <p:cNvSpPr/>
          <p:nvPr/>
        </p:nvSpPr>
        <p:spPr>
          <a:xfrm>
            <a:off x="5456664" y="3966210"/>
            <a:ext cx="1655028" cy="971550"/>
          </a:xfrm>
          <a:prstGeom prst="roundRect">
            <a:avLst>
              <a:gd name="adj" fmla="val 3529"/>
            </a:avLst>
          </a:prstGeom>
          <a:solidFill>
            <a:srgbClr val="11223A"/>
          </a:solidFill>
          <a:ln w="11430">
            <a:solidFill>
              <a:srgbClr val="00BCD4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530959" y="4046220"/>
            <a:ext cx="16872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95" dirty="0"/>
          </a:p>
        </p:txBody>
      </p:sp>
      <p:sp>
        <p:nvSpPr>
          <p:cNvPr id="55" name="Text 51"/>
          <p:cNvSpPr/>
          <p:nvPr/>
        </p:nvSpPr>
        <p:spPr>
          <a:xfrm>
            <a:off x="5530959" y="4160520"/>
            <a:ext cx="1687211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双许可证模式</a:t>
            </a:r>
            <a:endParaRPr lang="en-US" sz="585" dirty="0"/>
          </a:p>
        </p:txBody>
      </p:sp>
      <p:sp>
        <p:nvSpPr>
          <p:cNvPr id="56" name="Text 52"/>
          <p:cNvSpPr/>
          <p:nvPr/>
        </p:nvSpPr>
        <p:spPr>
          <a:xfrm>
            <a:off x="5530959" y="4291340"/>
            <a:ext cx="1687211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+ 商业双许可证策略日益流行，兼顾社区自由与商业可持续。</a:t>
            </a:r>
            <a:endParaRPr lang="en-US" sz="473" dirty="0"/>
          </a:p>
        </p:txBody>
      </p:sp>
      <p:sp>
        <p:nvSpPr>
          <p:cNvPr id="57" name="Shape 53"/>
          <p:cNvSpPr/>
          <p:nvPr/>
        </p:nvSpPr>
        <p:spPr>
          <a:xfrm>
            <a:off x="7168842" y="3966210"/>
            <a:ext cx="1655118" cy="971550"/>
          </a:xfrm>
          <a:prstGeom prst="roundRect">
            <a:avLst>
              <a:gd name="adj" fmla="val 3529"/>
            </a:avLst>
          </a:prstGeom>
          <a:solidFill>
            <a:srgbClr val="11223A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243137" y="4046220"/>
            <a:ext cx="16873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495" dirty="0"/>
          </a:p>
        </p:txBody>
      </p:sp>
      <p:sp>
        <p:nvSpPr>
          <p:cNvPr id="59" name="Text 55"/>
          <p:cNvSpPr/>
          <p:nvPr/>
        </p:nvSpPr>
        <p:spPr>
          <a:xfrm>
            <a:off x="7243137" y="4160520"/>
            <a:ext cx="1687311" cy="965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合规工具生态</a:t>
            </a:r>
            <a:endParaRPr lang="en-US" sz="585" dirty="0"/>
          </a:p>
        </p:txBody>
      </p:sp>
      <p:sp>
        <p:nvSpPr>
          <p:cNvPr id="60" name="Text 56"/>
          <p:cNvSpPr/>
          <p:nvPr/>
        </p:nvSpPr>
        <p:spPr>
          <a:xfrm>
            <a:off x="7243137" y="4291340"/>
            <a:ext cx="1687311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FOSSA、Black Duck 等自动化扫描工具快速增长，推动合规文化普及。</a:t>
            </a:r>
            <a:endParaRPr lang="en-US" sz="47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200400" y="2057400"/>
            <a:ext cx="1714500" cy="1714500"/>
          </a:xfrm>
          <a:prstGeom prst="ellipse">
            <a:avLst/>
          </a:prstGeom>
          <a:solidFill>
            <a:srgbClr val="AB005E">
              <a:alpha val="50000"/>
            </a:srgbClr>
          </a:solidFill>
          <a:ln/>
          <a:effectLst>
            <a:outerShdw sx="100000" sy="100000" kx="0" ky="0" algn="bl" rotWithShape="0" blurRad="457200" dist="50800" dir="16200000">
              <a:srgbClr val="AB005E">
                <a:alpha val="6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2900" y="285750"/>
            <a:ext cx="7040880" cy="326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40" b="1" spc="-45" kern="0" dirty="0">
                <a:solidFill>
                  <a:srgbClr val="E8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</a:t>
            </a:r>
            <a:pPr algn="l" indent="0" marL="0">
              <a:lnSpc>
                <a:spcPct val="110000"/>
              </a:lnSpc>
              <a:buNone/>
            </a:pPr>
            <a:r>
              <a:rPr lang="en-US" sz="2340" b="1" spc="-45" kern="0" dirty="0">
                <a:solidFill>
                  <a:srgbClr val="E8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的成长</a:t>
            </a:r>
            <a:endParaRPr lang="en-US" sz="2340" dirty="0"/>
          </a:p>
        </p:txBody>
      </p:sp>
      <p:sp>
        <p:nvSpPr>
          <p:cNvPr id="5" name="Text 3"/>
          <p:cNvSpPr/>
          <p:nvPr/>
        </p:nvSpPr>
        <p:spPr>
          <a:xfrm>
            <a:off x="342900" y="692587"/>
            <a:ext cx="5760720" cy="12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在合规争议的火焰之外，GPL生态展现出顽强的成长力，从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操作系统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数据库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，从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开发工具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基础设施</a:t>
            </a:r>
            <a:pPr algn="l" indent="0" marL="0">
              <a:lnSpc>
                <a:spcPct val="165000"/>
              </a:lnSpc>
              <a:buNone/>
            </a:pPr>
            <a:r>
              <a:rPr lang="en-US" sz="585" spc="9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，GPL软件已深入现代技术的每一个角落。</a:t>
            </a:r>
            <a:endParaRPr lang="en-US" sz="585" dirty="0"/>
          </a:p>
        </p:txBody>
      </p:sp>
      <p:sp>
        <p:nvSpPr>
          <p:cNvPr id="6" name="Shape 4"/>
          <p:cNvSpPr/>
          <p:nvPr/>
        </p:nvSpPr>
        <p:spPr>
          <a:xfrm>
            <a:off x="7372350" y="603647"/>
            <a:ext cx="1428750" cy="211455"/>
          </a:xfrm>
          <a:prstGeom prst="roundRect">
            <a:avLst>
              <a:gd name="adj" fmla="val 64865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80935" y="686514"/>
            <a:ext cx="45720" cy="45720"/>
          </a:xfrm>
          <a:prstGeom prst="ellipse">
            <a:avLst/>
          </a:prstGeom>
          <a:solidFill>
            <a:srgbClr val="00BCD4">
              <a:alpha val="69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95235" y="666512"/>
            <a:ext cx="8193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ECOSYSTEM REPORT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8395335" y="666512"/>
            <a:ext cx="1085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BA9D6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|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8509635" y="666512"/>
            <a:ext cx="2457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</a:t>
            </a:r>
            <a:endParaRPr lang="en-US" sz="495" dirty="0"/>
          </a:p>
        </p:txBody>
      </p:sp>
      <p:sp>
        <p:nvSpPr>
          <p:cNvPr id="11" name="Shape 9"/>
          <p:cNvSpPr/>
          <p:nvPr/>
        </p:nvSpPr>
        <p:spPr>
          <a:xfrm>
            <a:off x="422910" y="1009412"/>
            <a:ext cx="91440" cy="9144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22910" y="1009412"/>
            <a:ext cx="91440" cy="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910" y="1009412"/>
            <a:ext cx="0" cy="9144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9650" y="1009412"/>
            <a:ext cx="91440" cy="9144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8629650" y="1009412"/>
            <a:ext cx="91440" cy="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21090" y="1009412"/>
            <a:ext cx="0" cy="9144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910" y="3837623"/>
            <a:ext cx="91440" cy="9144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22910" y="3929063"/>
            <a:ext cx="91440" cy="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910" y="3837623"/>
            <a:ext cx="0" cy="9144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9650" y="3837623"/>
            <a:ext cx="91440" cy="9144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8721090" y="3837623"/>
            <a:ext cx="0" cy="9144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9650" y="3929063"/>
            <a:ext cx="91440" cy="0"/>
          </a:xfrm>
          <a:prstGeom prst="line">
            <a:avLst/>
          </a:prstGeom>
          <a:noFill/>
          <a:ln w="11430">
            <a:solidFill>
              <a:srgbClr val="E8F2F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929402"/>
            <a:ext cx="8458200" cy="3200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342900" y="929402"/>
            <a:ext cx="1885950" cy="1028700"/>
          </a:xfrm>
          <a:prstGeom prst="roundRect">
            <a:avLst>
              <a:gd name="adj" fmla="val 7778"/>
            </a:avLst>
          </a:prstGeom>
          <a:solidFill>
            <a:srgbClr val="0A1A34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38100" dir="16200000">
              <a:srgbClr val="000000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2915" y="1037987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42875" dist="38100" dir="16200000">
              <a:srgbClr val="2196F3">
                <a:alpha val="3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" y="1089422"/>
            <a:ext cx="125730" cy="12573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0095" y="1037987"/>
            <a:ext cx="69723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基础设施基石</a:t>
            </a:r>
            <a:endParaRPr lang="en-US" sz="765" dirty="0"/>
          </a:p>
        </p:txBody>
      </p:sp>
      <p:sp>
        <p:nvSpPr>
          <p:cNvPr id="28" name="Text 24"/>
          <p:cNvSpPr/>
          <p:nvPr/>
        </p:nvSpPr>
        <p:spPr>
          <a:xfrm>
            <a:off x="760095" y="1192292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INFRASTRUCTURE</a:t>
            </a:r>
            <a:endParaRPr lang="en-US" sz="450" dirty="0"/>
          </a:p>
        </p:txBody>
      </p:sp>
      <p:sp>
        <p:nvSpPr>
          <p:cNvPr id="29" name="Text 25"/>
          <p:cNvSpPr/>
          <p:nvPr/>
        </p:nvSpPr>
        <p:spPr>
          <a:xfrm>
            <a:off x="462915" y="1335167"/>
            <a:ext cx="184343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GCC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 GPL 核心项目构成现代计算基础设施的底层基石，支撑起全球服务器的运转。</a:t>
            </a:r>
            <a:endParaRPr lang="en-US" sz="540" dirty="0"/>
          </a:p>
        </p:txBody>
      </p:sp>
      <p:sp>
        <p:nvSpPr>
          <p:cNvPr id="30" name="Shape 26"/>
          <p:cNvSpPr/>
          <p:nvPr/>
        </p:nvSpPr>
        <p:spPr>
          <a:xfrm>
            <a:off x="462915" y="1636812"/>
            <a:ext cx="2743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2915" y="1636812"/>
            <a:ext cx="33147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endParaRPr lang="en-US" sz="450" dirty="0"/>
          </a:p>
        </p:txBody>
      </p:sp>
      <p:sp>
        <p:nvSpPr>
          <p:cNvPr id="32" name="Shape 28"/>
          <p:cNvSpPr/>
          <p:nvPr/>
        </p:nvSpPr>
        <p:spPr>
          <a:xfrm>
            <a:off x="782955" y="1636812"/>
            <a:ext cx="20574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2955" y="1636812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</a:t>
            </a:r>
            <a:endParaRPr lang="en-US" sz="450" dirty="0"/>
          </a:p>
        </p:txBody>
      </p:sp>
      <p:sp>
        <p:nvSpPr>
          <p:cNvPr id="34" name="Shape 30"/>
          <p:cNvSpPr/>
          <p:nvPr/>
        </p:nvSpPr>
        <p:spPr>
          <a:xfrm>
            <a:off x="1034415" y="1636812"/>
            <a:ext cx="20574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34415" y="1636812"/>
            <a:ext cx="2628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GCC</a:t>
            </a:r>
            <a:endParaRPr lang="en-US" sz="450" dirty="0"/>
          </a:p>
        </p:txBody>
      </p:sp>
      <p:sp>
        <p:nvSpPr>
          <p:cNvPr id="36" name="Shape 32"/>
          <p:cNvSpPr/>
          <p:nvPr/>
        </p:nvSpPr>
        <p:spPr>
          <a:xfrm>
            <a:off x="1285875" y="1636812"/>
            <a:ext cx="41148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285875" y="1636812"/>
            <a:ext cx="46863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v2/v3</a:t>
            </a:r>
            <a:endParaRPr lang="en-US" sz="450" dirty="0"/>
          </a:p>
        </p:txBody>
      </p:sp>
      <p:sp>
        <p:nvSpPr>
          <p:cNvPr id="38" name="Shape 34"/>
          <p:cNvSpPr/>
          <p:nvPr/>
        </p:nvSpPr>
        <p:spPr>
          <a:xfrm>
            <a:off x="6915150" y="929402"/>
            <a:ext cx="1885950" cy="1028700"/>
          </a:xfrm>
          <a:prstGeom prst="roundRect">
            <a:avLst>
              <a:gd name="adj" fmla="val 7778"/>
            </a:avLst>
          </a:prstGeom>
          <a:solidFill>
            <a:srgbClr val="0A1A34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38100" dir="16200000">
              <a:srgbClr val="000000">
                <a:alpha val="4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7035165" y="1037987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42875" dist="38100" dir="16200000">
              <a:srgbClr val="2196F3">
                <a:alpha val="30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0" y="1089422"/>
            <a:ext cx="125730" cy="12573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332345" y="1037987"/>
            <a:ext cx="74009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数据库新势力</a:t>
            </a:r>
            <a:endParaRPr lang="en-US" sz="765" dirty="0"/>
          </a:p>
        </p:txBody>
      </p:sp>
      <p:sp>
        <p:nvSpPr>
          <p:cNvPr id="42" name="Text 37"/>
          <p:cNvSpPr/>
          <p:nvPr/>
        </p:nvSpPr>
        <p:spPr>
          <a:xfrm>
            <a:off x="7332345" y="1192292"/>
            <a:ext cx="72009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DATABASE RISING</a:t>
            </a:r>
            <a:endParaRPr lang="en-US" sz="450" dirty="0"/>
          </a:p>
        </p:txBody>
      </p:sp>
      <p:sp>
        <p:nvSpPr>
          <p:cNvPr id="43" name="Text 38"/>
          <p:cNvSpPr/>
          <p:nvPr/>
        </p:nvSpPr>
        <p:spPr>
          <a:xfrm>
            <a:off x="7035165" y="1335167"/>
            <a:ext cx="1843430" cy="349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MariaDB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Redis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 GPL/AGPL 数据库项目在企业级场景中持续壮大市场份额，成为开源数据层的核心力量。</a:t>
            </a:r>
            <a:endParaRPr lang="en-US" sz="540" dirty="0"/>
          </a:p>
        </p:txBody>
      </p:sp>
      <p:sp>
        <p:nvSpPr>
          <p:cNvPr id="44" name="Shape 39"/>
          <p:cNvSpPr/>
          <p:nvPr/>
        </p:nvSpPr>
        <p:spPr>
          <a:xfrm>
            <a:off x="7035165" y="1753344"/>
            <a:ext cx="34290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035165" y="1753344"/>
            <a:ext cx="40005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MariaDB</a:t>
            </a:r>
            <a:endParaRPr lang="en-US" sz="450" dirty="0"/>
          </a:p>
        </p:txBody>
      </p:sp>
      <p:sp>
        <p:nvSpPr>
          <p:cNvPr id="46" name="Shape 41"/>
          <p:cNvSpPr/>
          <p:nvPr/>
        </p:nvSpPr>
        <p:spPr>
          <a:xfrm>
            <a:off x="7423785" y="1753344"/>
            <a:ext cx="2743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423785" y="1753344"/>
            <a:ext cx="33147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Redis</a:t>
            </a:r>
            <a:endParaRPr lang="en-US" sz="450" dirty="0"/>
          </a:p>
        </p:txBody>
      </p:sp>
      <p:sp>
        <p:nvSpPr>
          <p:cNvPr id="48" name="Shape 43"/>
          <p:cNvSpPr/>
          <p:nvPr/>
        </p:nvSpPr>
        <p:spPr>
          <a:xfrm>
            <a:off x="7743825" y="1753344"/>
            <a:ext cx="24003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743825" y="1753344"/>
            <a:ext cx="29718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AGPL</a:t>
            </a:r>
            <a:endParaRPr lang="en-US" sz="450" dirty="0"/>
          </a:p>
        </p:txBody>
      </p:sp>
      <p:sp>
        <p:nvSpPr>
          <p:cNvPr id="50" name="Shape 45"/>
          <p:cNvSpPr/>
          <p:nvPr/>
        </p:nvSpPr>
        <p:spPr>
          <a:xfrm>
            <a:off x="8029575" y="1753344"/>
            <a:ext cx="44577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029575" y="1753344"/>
            <a:ext cx="50292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Enterprise</a:t>
            </a:r>
            <a:endParaRPr lang="en-US" sz="450" dirty="0"/>
          </a:p>
        </p:txBody>
      </p:sp>
      <p:sp>
        <p:nvSpPr>
          <p:cNvPr id="52" name="Shape 47"/>
          <p:cNvSpPr/>
          <p:nvPr/>
        </p:nvSpPr>
        <p:spPr>
          <a:xfrm>
            <a:off x="342900" y="2980373"/>
            <a:ext cx="1885950" cy="1028700"/>
          </a:xfrm>
          <a:prstGeom prst="roundRect">
            <a:avLst>
              <a:gd name="adj" fmla="val 7778"/>
            </a:avLst>
          </a:prstGeom>
          <a:solidFill>
            <a:srgbClr val="0A1A34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38100" dir="16200000">
              <a:srgbClr val="000000">
                <a:alpha val="40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462915" y="3088958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42875" dist="38100" dir="16200000">
              <a:srgbClr val="2196F3">
                <a:alpha val="30000"/>
              </a:srgbClr>
            </a:outerShdw>
          </a:effectLst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" y="3140393"/>
            <a:ext cx="125730" cy="12573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60095" y="3088958"/>
            <a:ext cx="65436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开发者教育</a:t>
            </a:r>
            <a:endParaRPr lang="en-US" sz="765" dirty="0"/>
          </a:p>
        </p:txBody>
      </p:sp>
      <p:sp>
        <p:nvSpPr>
          <p:cNvPr id="56" name="Text 50"/>
          <p:cNvSpPr/>
          <p:nvPr/>
        </p:nvSpPr>
        <p:spPr>
          <a:xfrm>
            <a:off x="760095" y="3243263"/>
            <a:ext cx="62407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DEV EDUCATION</a:t>
            </a:r>
            <a:endParaRPr lang="en-US" sz="450" dirty="0"/>
          </a:p>
        </p:txBody>
      </p:sp>
      <p:sp>
        <p:nvSpPr>
          <p:cNvPr id="57" name="Text 51"/>
          <p:cNvSpPr/>
          <p:nvPr/>
        </p:nvSpPr>
        <p:spPr>
          <a:xfrm>
            <a:off x="462915" y="3386138"/>
            <a:ext cx="184343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开源基金会和大学课程推广 GPL 知识，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新一代开发者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对许可证意识的提升，为生态输送源源不断的活力。</a:t>
            </a:r>
            <a:endParaRPr lang="en-US" sz="540" dirty="0"/>
          </a:p>
        </p:txBody>
      </p:sp>
      <p:sp>
        <p:nvSpPr>
          <p:cNvPr id="58" name="Shape 52"/>
          <p:cNvSpPr/>
          <p:nvPr/>
        </p:nvSpPr>
        <p:spPr>
          <a:xfrm>
            <a:off x="462915" y="3687782"/>
            <a:ext cx="4457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462915" y="3687782"/>
            <a:ext cx="50292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Foundation</a:t>
            </a:r>
            <a:endParaRPr lang="en-US" sz="450" dirty="0"/>
          </a:p>
        </p:txBody>
      </p:sp>
      <p:sp>
        <p:nvSpPr>
          <p:cNvPr id="60" name="Shape 54"/>
          <p:cNvSpPr/>
          <p:nvPr/>
        </p:nvSpPr>
        <p:spPr>
          <a:xfrm>
            <a:off x="954405" y="3687782"/>
            <a:ext cx="4457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954405" y="3687782"/>
            <a:ext cx="50292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University</a:t>
            </a:r>
            <a:endParaRPr lang="en-US" sz="450" dirty="0"/>
          </a:p>
        </p:txBody>
      </p:sp>
      <p:sp>
        <p:nvSpPr>
          <p:cNvPr id="62" name="Shape 56"/>
          <p:cNvSpPr/>
          <p:nvPr/>
        </p:nvSpPr>
        <p:spPr>
          <a:xfrm>
            <a:off x="1445895" y="3687782"/>
            <a:ext cx="41148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1445895" y="3687782"/>
            <a:ext cx="46863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Awareness</a:t>
            </a:r>
            <a:endParaRPr lang="en-US" sz="450" dirty="0"/>
          </a:p>
        </p:txBody>
      </p:sp>
      <p:sp>
        <p:nvSpPr>
          <p:cNvPr id="64" name="Shape 58"/>
          <p:cNvSpPr/>
          <p:nvPr/>
        </p:nvSpPr>
        <p:spPr>
          <a:xfrm>
            <a:off x="6915150" y="2980373"/>
            <a:ext cx="1885950" cy="1028700"/>
          </a:xfrm>
          <a:prstGeom prst="roundRect">
            <a:avLst>
              <a:gd name="adj" fmla="val 7778"/>
            </a:avLst>
          </a:prstGeom>
          <a:solidFill>
            <a:srgbClr val="0A1A34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38100" dir="16200000">
              <a:srgbClr val="000000">
                <a:alpha val="40000"/>
              </a:srgbClr>
            </a:outerShdw>
          </a:effectLst>
        </p:spPr>
      </p:sp>
      <p:sp>
        <p:nvSpPr>
          <p:cNvPr id="65" name="Shape 59"/>
          <p:cNvSpPr/>
          <p:nvPr/>
        </p:nvSpPr>
        <p:spPr>
          <a:xfrm>
            <a:off x="7035165" y="3088958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42875" dist="38100" dir="16200000">
              <a:srgbClr val="2196F3">
                <a:alpha val="30000"/>
              </a:srgbClr>
            </a:outerShdw>
          </a:effectLst>
        </p:spPr>
      </p:sp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6600" y="3140393"/>
            <a:ext cx="125730" cy="125730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7332345" y="3088958"/>
            <a:ext cx="69723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全球社区网络</a:t>
            </a:r>
            <a:endParaRPr lang="en-US" sz="765" dirty="0"/>
          </a:p>
        </p:txBody>
      </p:sp>
      <p:sp>
        <p:nvSpPr>
          <p:cNvPr id="68" name="Text 61"/>
          <p:cNvSpPr/>
          <p:nvPr/>
        </p:nvSpPr>
        <p:spPr>
          <a:xfrm>
            <a:off x="7332345" y="3243263"/>
            <a:ext cx="6720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GLOBAL NETWORK</a:t>
            </a:r>
            <a:endParaRPr lang="en-US" sz="450" dirty="0"/>
          </a:p>
        </p:txBody>
      </p:sp>
      <p:sp>
        <p:nvSpPr>
          <p:cNvPr id="69" name="Text 62"/>
          <p:cNvSpPr/>
          <p:nvPr/>
        </p:nvSpPr>
        <p:spPr>
          <a:xfrm>
            <a:off x="7035165" y="3386138"/>
            <a:ext cx="1843430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项目的全球社区网络日益紧密，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中文社区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非洲社区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等新兴市场活跃度增强，协作边界不断拓展。</a:t>
            </a:r>
            <a:endParaRPr lang="en-US" sz="540" dirty="0"/>
          </a:p>
        </p:txBody>
      </p:sp>
      <p:sp>
        <p:nvSpPr>
          <p:cNvPr id="70" name="Shape 63"/>
          <p:cNvSpPr/>
          <p:nvPr/>
        </p:nvSpPr>
        <p:spPr>
          <a:xfrm>
            <a:off x="7035165" y="3687782"/>
            <a:ext cx="51435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7035165" y="3687782"/>
            <a:ext cx="576072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 Community</a:t>
            </a:r>
            <a:endParaRPr lang="en-US" sz="450" dirty="0"/>
          </a:p>
        </p:txBody>
      </p:sp>
      <p:sp>
        <p:nvSpPr>
          <p:cNvPr id="72" name="Shape 65"/>
          <p:cNvSpPr/>
          <p:nvPr/>
        </p:nvSpPr>
        <p:spPr>
          <a:xfrm>
            <a:off x="7595235" y="3687782"/>
            <a:ext cx="30861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7595235" y="3687782"/>
            <a:ext cx="36576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Africa</a:t>
            </a:r>
            <a:endParaRPr lang="en-US" sz="450" dirty="0"/>
          </a:p>
        </p:txBody>
      </p:sp>
      <p:sp>
        <p:nvSpPr>
          <p:cNvPr id="74" name="Shape 67"/>
          <p:cNvSpPr/>
          <p:nvPr/>
        </p:nvSpPr>
        <p:spPr>
          <a:xfrm>
            <a:off x="7949565" y="3687782"/>
            <a:ext cx="377190" cy="120015"/>
          </a:xfrm>
          <a:prstGeom prst="roundRect">
            <a:avLst>
              <a:gd name="adj" fmla="val 19048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7949565" y="3687782"/>
            <a:ext cx="43434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Emerging</a:t>
            </a:r>
            <a:endParaRPr lang="en-US" sz="450" dirty="0"/>
          </a:p>
        </p:txBody>
      </p:sp>
      <p:sp>
        <p:nvSpPr>
          <p:cNvPr id="76" name="Shape 69"/>
          <p:cNvSpPr/>
          <p:nvPr/>
        </p:nvSpPr>
        <p:spPr>
          <a:xfrm>
            <a:off x="342900" y="4089083"/>
            <a:ext cx="8458200" cy="522923"/>
          </a:xfrm>
          <a:prstGeom prst="roundRect">
            <a:avLst>
              <a:gd name="adj" fmla="val 15301"/>
            </a:avLst>
          </a:prstGeom>
          <a:solidFill>
            <a:srgbClr val="0A1A34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342900" y="4089083"/>
            <a:ext cx="844677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8" name="Text 71"/>
          <p:cNvSpPr/>
          <p:nvPr/>
        </p:nvSpPr>
        <p:spPr>
          <a:xfrm>
            <a:off x="474345" y="4200525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服务器操作系统市场份额</a:t>
            </a:r>
            <a:endParaRPr lang="en-US" sz="495" dirty="0"/>
          </a:p>
        </p:txBody>
      </p:sp>
      <p:sp>
        <p:nvSpPr>
          <p:cNvPr id="79" name="Text 72"/>
          <p:cNvSpPr/>
          <p:nvPr/>
        </p:nvSpPr>
        <p:spPr>
          <a:xfrm>
            <a:off x="4280535" y="4197668"/>
            <a:ext cx="3143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90%+</a:t>
            </a:r>
            <a:endParaRPr lang="en-US" sz="630" dirty="0"/>
          </a:p>
        </p:txBody>
      </p:sp>
      <p:sp>
        <p:nvSpPr>
          <p:cNvPr id="80" name="Shape 73"/>
          <p:cNvSpPr/>
          <p:nvPr/>
        </p:nvSpPr>
        <p:spPr>
          <a:xfrm>
            <a:off x="474345" y="4329113"/>
            <a:ext cx="4040505" cy="3429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81" name="Shape 74"/>
          <p:cNvSpPr/>
          <p:nvPr/>
        </p:nvSpPr>
        <p:spPr>
          <a:xfrm>
            <a:off x="474345" y="4329113"/>
            <a:ext cx="3717250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40000"/>
              </a:srgbClr>
            </a:outerShdw>
          </a:effectLst>
        </p:spPr>
      </p:sp>
      <p:sp>
        <p:nvSpPr>
          <p:cNvPr id="82" name="Shape 75"/>
          <p:cNvSpPr/>
          <p:nvPr/>
        </p:nvSpPr>
        <p:spPr>
          <a:xfrm>
            <a:off x="4077298" y="4329113"/>
            <a:ext cx="114300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FFFFF">
                  <a:alpha val="60000"/>
                </a:srgbClr>
              </a:gs>
            </a:gsLst>
            <a:lin ang="0" scaled="0"/>
          </a:gradFill>
          <a:ln/>
        </p:spPr>
      </p:sp>
      <p:sp>
        <p:nvSpPr>
          <p:cNvPr id="83" name="Text 76"/>
          <p:cNvSpPr/>
          <p:nvPr/>
        </p:nvSpPr>
        <p:spPr>
          <a:xfrm>
            <a:off x="474345" y="4409123"/>
            <a:ext cx="4525366" cy="94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全球超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90%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的服务器运行 Linux 内核，GPL 协议塑造了现代云计算的底层架构</a:t>
            </a:r>
            <a:endParaRPr lang="en-US" sz="495" dirty="0"/>
          </a:p>
        </p:txBody>
      </p:sp>
      <p:sp>
        <p:nvSpPr>
          <p:cNvPr id="84" name="Text 77"/>
          <p:cNvSpPr/>
          <p:nvPr/>
        </p:nvSpPr>
        <p:spPr>
          <a:xfrm>
            <a:off x="4629150" y="4200525"/>
            <a:ext cx="138257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MARIADB 企业替代 MYSQL 采用趋势</a:t>
            </a:r>
            <a:endParaRPr lang="en-US" sz="495" dirty="0"/>
          </a:p>
        </p:txBody>
      </p:sp>
      <p:sp>
        <p:nvSpPr>
          <p:cNvPr id="85" name="Text 78"/>
          <p:cNvSpPr/>
          <p:nvPr/>
        </p:nvSpPr>
        <p:spPr>
          <a:xfrm>
            <a:off x="8183880" y="4197668"/>
            <a:ext cx="5657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GROWING</a:t>
            </a:r>
            <a:endParaRPr lang="en-US" sz="630" dirty="0"/>
          </a:p>
        </p:txBody>
      </p:sp>
      <p:sp>
        <p:nvSpPr>
          <p:cNvPr id="86" name="Shape 79"/>
          <p:cNvSpPr/>
          <p:nvPr/>
        </p:nvSpPr>
        <p:spPr>
          <a:xfrm>
            <a:off x="4629150" y="4329113"/>
            <a:ext cx="4040505" cy="34290"/>
          </a:xfrm>
          <a:prstGeom prst="roundRect">
            <a:avLst>
              <a:gd name="adj" fmla="val 5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87" name="Shape 80"/>
          <p:cNvSpPr/>
          <p:nvPr/>
        </p:nvSpPr>
        <p:spPr>
          <a:xfrm>
            <a:off x="4629150" y="4329113"/>
            <a:ext cx="2747486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40000"/>
              </a:srgbClr>
            </a:outerShdw>
          </a:effectLst>
        </p:spPr>
      </p:sp>
      <p:sp>
        <p:nvSpPr>
          <p:cNvPr id="88" name="Shape 81"/>
          <p:cNvSpPr/>
          <p:nvPr/>
        </p:nvSpPr>
        <p:spPr>
          <a:xfrm>
            <a:off x="7262336" y="4329113"/>
            <a:ext cx="114300" cy="342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FFFFF">
                  <a:alpha val="60000"/>
                </a:srgbClr>
              </a:gs>
            </a:gsLst>
            <a:lin ang="0" scaled="0"/>
          </a:gradFill>
          <a:ln/>
        </p:spPr>
      </p:sp>
      <p:sp>
        <p:nvSpPr>
          <p:cNvPr id="89" name="Text 82"/>
          <p:cNvSpPr/>
          <p:nvPr/>
        </p:nvSpPr>
        <p:spPr>
          <a:xfrm>
            <a:off x="4629150" y="4409123"/>
            <a:ext cx="4525366" cy="94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8BA9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作为 MySQL 的替代方案，MariaDB 在企业中的采用持续扩大，</a:t>
            </a:r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增长显著</a:t>
            </a:r>
            <a:endParaRPr lang="en-US" sz="495" dirty="0"/>
          </a:p>
        </p:txBody>
      </p:sp>
      <p:sp>
        <p:nvSpPr>
          <p:cNvPr id="90" name="Text 83"/>
          <p:cNvSpPr/>
          <p:nvPr/>
        </p:nvSpPr>
        <p:spPr>
          <a:xfrm>
            <a:off x="342900" y="4732020"/>
            <a:ext cx="62407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BA9D6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ECOSYSTEM</a:t>
            </a:r>
            <a:endParaRPr lang="en-US" sz="450" dirty="0"/>
          </a:p>
        </p:txBody>
      </p:sp>
      <p:sp>
        <p:nvSpPr>
          <p:cNvPr id="91" name="Shape 84"/>
          <p:cNvSpPr/>
          <p:nvPr/>
        </p:nvSpPr>
        <p:spPr>
          <a:xfrm>
            <a:off x="991553" y="4766310"/>
            <a:ext cx="3273266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2" name="Text 85"/>
          <p:cNvSpPr/>
          <p:nvPr/>
        </p:nvSpPr>
        <p:spPr>
          <a:xfrm>
            <a:off x="4356259" y="4726305"/>
            <a:ext cx="5792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BA9D6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成长 · GROWTH</a:t>
            </a:r>
            <a:endParaRPr lang="en-US" sz="450" dirty="0"/>
          </a:p>
        </p:txBody>
      </p:sp>
      <p:sp>
        <p:nvSpPr>
          <p:cNvPr id="93" name="Shape 86"/>
          <p:cNvSpPr/>
          <p:nvPr/>
        </p:nvSpPr>
        <p:spPr>
          <a:xfrm>
            <a:off x="4964906" y="4766310"/>
            <a:ext cx="3273266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4" name="Text 87"/>
          <p:cNvSpPr/>
          <p:nvPr/>
        </p:nvSpPr>
        <p:spPr>
          <a:xfrm>
            <a:off x="8329613" y="4732020"/>
            <a:ext cx="52863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BA9D6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943850" y="742950"/>
            <a:ext cx="628650" cy="628650"/>
          </a:xfrm>
          <a:prstGeom prst="ellips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" y="3794760"/>
            <a:ext cx="320040" cy="320040"/>
          </a:xfrm>
          <a:prstGeom prst="ellipse">
            <a:avLst/>
          </a:prstGeom>
          <a:noFill/>
          <a:ln w="571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2400300"/>
            <a:ext cx="411480" cy="411480"/>
          </a:xfrm>
          <a:prstGeom prst="ellipse">
            <a:avLst/>
          </a:prstGeom>
          <a:noFill/>
          <a:ln w="5715">
            <a:solidFill>
              <a:srgbClr val="2196F3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571500"/>
            <a:ext cx="17145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6515100" y="4223385"/>
            <a:ext cx="1485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320040" y="1184434"/>
            <a:ext cx="2613630" cy="1459468"/>
          </a:xfrm>
          <a:prstGeom prst="roundRect">
            <a:avLst>
              <a:gd name="adj" fmla="val 4699"/>
            </a:avLst>
          </a:prstGeom>
          <a:solidFill>
            <a:srgbClr val="0F2035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4434"/>
            <a:ext cx="260220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2579340" y="228957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1" name="Text 9"/>
          <p:cNvSpPr/>
          <p:nvPr/>
        </p:nvSpPr>
        <p:spPr>
          <a:xfrm>
            <a:off x="2653635" y="1270159"/>
            <a:ext cx="411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2196F3">
                    <a:alpha val="1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8625" y="1864519"/>
            <a:ext cx="2396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428625" y="1293019"/>
            <a:ext cx="262890" cy="262890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490" y="1355884"/>
            <a:ext cx="13716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625" y="1624489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教育先行</a:t>
            </a:r>
            <a:endParaRPr lang="en-US" sz="810" dirty="0"/>
          </a:p>
        </p:txBody>
      </p:sp>
      <p:sp>
        <p:nvSpPr>
          <p:cNvPr id="16" name="Shape 13"/>
          <p:cNvSpPr/>
          <p:nvPr/>
        </p:nvSpPr>
        <p:spPr>
          <a:xfrm>
            <a:off x="885825" y="1653064"/>
            <a:ext cx="365760" cy="91440"/>
          </a:xfrm>
          <a:prstGeom prst="roundRect">
            <a:avLst>
              <a:gd name="adj" fmla="val 625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5825" y="1653064"/>
            <a:ext cx="414338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38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EDUCATE</a:t>
            </a:r>
            <a:endParaRPr lang="en-US" sz="383" dirty="0"/>
          </a:p>
        </p:txBody>
      </p:sp>
      <p:sp>
        <p:nvSpPr>
          <p:cNvPr id="18" name="Text 15"/>
          <p:cNvSpPr/>
          <p:nvPr/>
        </p:nvSpPr>
        <p:spPr>
          <a:xfrm>
            <a:off x="428625" y="1938814"/>
            <a:ext cx="2684035" cy="345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开源布道应以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教育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为核心，帮助企业和开发者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理解 GPL 的法律含义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，而非制造恐惧。让合规成为可理解、可复用的技能，让开源精神在知识传递中生根发芽，驱动行业认知从"规避风险"转向"主动拥抱"。</a:t>
            </a:r>
            <a:endParaRPr lang="en-US" sz="518" dirty="0"/>
          </a:p>
        </p:txBody>
      </p:sp>
      <p:sp>
        <p:nvSpPr>
          <p:cNvPr id="19" name="Shape 16"/>
          <p:cNvSpPr/>
          <p:nvPr/>
        </p:nvSpPr>
        <p:spPr>
          <a:xfrm>
            <a:off x="428625" y="2341007"/>
            <a:ext cx="2396460" cy="194310"/>
          </a:xfrm>
          <a:prstGeom prst="rect">
            <a:avLst/>
          </a:prstGeom>
          <a:noFill/>
          <a:ln/>
        </p:spPr>
      </p:sp>
      <p:sp>
        <p:nvSpPr>
          <p:cNvPr id="20" name="Shape 17"/>
          <p:cNvSpPr/>
          <p:nvPr/>
        </p:nvSpPr>
        <p:spPr>
          <a:xfrm>
            <a:off x="428625" y="2341007"/>
            <a:ext cx="239646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28625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#知识传递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822960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#法律解读</a:t>
            </a:r>
            <a:endParaRPr lang="en-US" sz="450" dirty="0"/>
          </a:p>
        </p:txBody>
      </p:sp>
      <p:sp>
        <p:nvSpPr>
          <p:cNvPr id="25" name="Shape 22"/>
          <p:cNvSpPr/>
          <p:nvPr/>
        </p:nvSpPr>
        <p:spPr>
          <a:xfrm>
            <a:off x="1217295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17295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#消除误解</a:t>
            </a:r>
            <a:endParaRPr lang="en-US" sz="450" dirty="0"/>
          </a:p>
        </p:txBody>
      </p:sp>
      <p:sp>
        <p:nvSpPr>
          <p:cNvPr id="27" name="Shape 24"/>
          <p:cNvSpPr/>
          <p:nvPr/>
        </p:nvSpPr>
        <p:spPr>
          <a:xfrm>
            <a:off x="3002250" y="1817013"/>
            <a:ext cx="194310" cy="194310"/>
          </a:xfrm>
          <a:prstGeom prst="ellipse">
            <a:avLst/>
          </a:prstGeom>
          <a:solidFill>
            <a:srgbClr val="0F2035"/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082260" y="1859875"/>
            <a:ext cx="14573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675" dirty="0"/>
          </a:p>
        </p:txBody>
      </p:sp>
      <p:sp>
        <p:nvSpPr>
          <p:cNvPr id="29" name="Shape 26"/>
          <p:cNvSpPr/>
          <p:nvPr/>
        </p:nvSpPr>
        <p:spPr>
          <a:xfrm>
            <a:off x="3265140" y="1184434"/>
            <a:ext cx="2613720" cy="1459468"/>
          </a:xfrm>
          <a:prstGeom prst="roundRect">
            <a:avLst>
              <a:gd name="adj" fmla="val 4699"/>
            </a:avLst>
          </a:prstGeom>
          <a:solidFill>
            <a:srgbClr val="0F2035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65140" y="1184434"/>
            <a:ext cx="2602291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Shape 28"/>
          <p:cNvSpPr/>
          <p:nvPr/>
        </p:nvSpPr>
        <p:spPr>
          <a:xfrm>
            <a:off x="5524531" y="228957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2" name="Text 29"/>
          <p:cNvSpPr/>
          <p:nvPr/>
        </p:nvSpPr>
        <p:spPr>
          <a:xfrm>
            <a:off x="5564535" y="1270159"/>
            <a:ext cx="411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2196F3">
                    <a:alpha val="1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3373725" y="1864519"/>
            <a:ext cx="239655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4" name="Shape 31"/>
          <p:cNvSpPr/>
          <p:nvPr/>
        </p:nvSpPr>
        <p:spPr>
          <a:xfrm>
            <a:off x="3373725" y="1293019"/>
            <a:ext cx="262890" cy="262890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6590" y="1355884"/>
            <a:ext cx="137160" cy="1371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373725" y="1624489"/>
            <a:ext cx="72009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合规最佳实践</a:t>
            </a:r>
            <a:endParaRPr lang="en-US" sz="810" dirty="0"/>
          </a:p>
        </p:txBody>
      </p:sp>
      <p:sp>
        <p:nvSpPr>
          <p:cNvPr id="37" name="Shape 33"/>
          <p:cNvSpPr/>
          <p:nvPr/>
        </p:nvSpPr>
        <p:spPr>
          <a:xfrm>
            <a:off x="4036665" y="1653064"/>
            <a:ext cx="342900" cy="91440"/>
          </a:xfrm>
          <a:prstGeom prst="roundRect">
            <a:avLst>
              <a:gd name="adj" fmla="val 625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036665" y="1653064"/>
            <a:ext cx="391478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38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COMPLY</a:t>
            </a:r>
            <a:endParaRPr lang="en-US" sz="383" dirty="0"/>
          </a:p>
        </p:txBody>
      </p:sp>
      <p:sp>
        <p:nvSpPr>
          <p:cNvPr id="39" name="Text 35"/>
          <p:cNvSpPr/>
          <p:nvPr/>
        </p:nvSpPr>
        <p:spPr>
          <a:xfrm>
            <a:off x="3373725" y="1938814"/>
            <a:ext cx="2684135" cy="345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建立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SBOM 物料清单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自动化许可证扫描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定期合规审计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三位一体的企业级合规体系，将开源风险管理从被动应对升级为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主动治理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，让每一次发布都有据可依、有章可循。</a:t>
            </a:r>
            <a:endParaRPr lang="en-US" sz="518" dirty="0"/>
          </a:p>
        </p:txBody>
      </p:sp>
      <p:sp>
        <p:nvSpPr>
          <p:cNvPr id="40" name="Shape 36"/>
          <p:cNvSpPr/>
          <p:nvPr/>
        </p:nvSpPr>
        <p:spPr>
          <a:xfrm>
            <a:off x="3373725" y="2341007"/>
            <a:ext cx="2396550" cy="194310"/>
          </a:xfrm>
          <a:prstGeom prst="rect">
            <a:avLst/>
          </a:prstGeom>
          <a:noFill/>
          <a:ln/>
        </p:spPr>
      </p:sp>
      <p:sp>
        <p:nvSpPr>
          <p:cNvPr id="41" name="Shape 37"/>
          <p:cNvSpPr/>
          <p:nvPr/>
        </p:nvSpPr>
        <p:spPr>
          <a:xfrm>
            <a:off x="3373725" y="2341007"/>
            <a:ext cx="23965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42" name="Shape 38"/>
          <p:cNvSpPr/>
          <p:nvPr/>
        </p:nvSpPr>
        <p:spPr>
          <a:xfrm>
            <a:off x="3373725" y="2403872"/>
            <a:ext cx="27432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373725" y="2403872"/>
            <a:ext cx="33147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#SBOM</a:t>
            </a:r>
            <a:endParaRPr lang="en-US" sz="450" dirty="0"/>
          </a:p>
        </p:txBody>
      </p:sp>
      <p:sp>
        <p:nvSpPr>
          <p:cNvPr id="44" name="Shape 40"/>
          <p:cNvSpPr/>
          <p:nvPr/>
        </p:nvSpPr>
        <p:spPr>
          <a:xfrm>
            <a:off x="3676620" y="2403872"/>
            <a:ext cx="42291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76620" y="2403872"/>
            <a:ext cx="48006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#自动化扫描</a:t>
            </a:r>
            <a:endParaRPr lang="en-US" sz="450" dirty="0"/>
          </a:p>
        </p:txBody>
      </p:sp>
      <p:sp>
        <p:nvSpPr>
          <p:cNvPr id="46" name="Shape 42"/>
          <p:cNvSpPr/>
          <p:nvPr/>
        </p:nvSpPr>
        <p:spPr>
          <a:xfrm>
            <a:off x="4128105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128105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#定期审计</a:t>
            </a:r>
            <a:endParaRPr lang="en-US" sz="450" dirty="0"/>
          </a:p>
        </p:txBody>
      </p:sp>
      <p:sp>
        <p:nvSpPr>
          <p:cNvPr id="48" name="Shape 44"/>
          <p:cNvSpPr/>
          <p:nvPr/>
        </p:nvSpPr>
        <p:spPr>
          <a:xfrm>
            <a:off x="5947440" y="1817013"/>
            <a:ext cx="194310" cy="194310"/>
          </a:xfrm>
          <a:prstGeom prst="ellipse">
            <a:avLst/>
          </a:prstGeom>
          <a:solidFill>
            <a:srgbClr val="0F2035"/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6027450" y="1859875"/>
            <a:ext cx="14573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675" dirty="0"/>
          </a:p>
        </p:txBody>
      </p:sp>
      <p:sp>
        <p:nvSpPr>
          <p:cNvPr id="50" name="Shape 46"/>
          <p:cNvSpPr/>
          <p:nvPr/>
        </p:nvSpPr>
        <p:spPr>
          <a:xfrm>
            <a:off x="6210330" y="1184434"/>
            <a:ext cx="2613630" cy="1459468"/>
          </a:xfrm>
          <a:prstGeom prst="roundRect">
            <a:avLst>
              <a:gd name="adj" fmla="val 4699"/>
            </a:avLst>
          </a:prstGeom>
          <a:solidFill>
            <a:srgbClr val="0F2035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210330" y="1184434"/>
            <a:ext cx="260220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2" name="Shape 48"/>
          <p:cNvSpPr/>
          <p:nvPr/>
        </p:nvSpPr>
        <p:spPr>
          <a:xfrm>
            <a:off x="8469629" y="228957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3" name="Text 49"/>
          <p:cNvSpPr/>
          <p:nvPr/>
        </p:nvSpPr>
        <p:spPr>
          <a:xfrm>
            <a:off x="8503920" y="1270159"/>
            <a:ext cx="41148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2196F3">
                    <a:alpha val="1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54" name="Shape 50"/>
          <p:cNvSpPr/>
          <p:nvPr/>
        </p:nvSpPr>
        <p:spPr>
          <a:xfrm>
            <a:off x="6318915" y="1864519"/>
            <a:ext cx="2396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5" name="Shape 51"/>
          <p:cNvSpPr/>
          <p:nvPr/>
        </p:nvSpPr>
        <p:spPr>
          <a:xfrm>
            <a:off x="6318915" y="1293019"/>
            <a:ext cx="262890" cy="262890"/>
          </a:xfrm>
          <a:prstGeom prst="roundRect">
            <a:avLst>
              <a:gd name="adj" fmla="val 21739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1780" y="1355884"/>
            <a:ext cx="137160" cy="137160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6318915" y="1624489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社区共建</a:t>
            </a:r>
            <a:endParaRPr lang="en-US" sz="810" dirty="0"/>
          </a:p>
        </p:txBody>
      </p:sp>
      <p:sp>
        <p:nvSpPr>
          <p:cNvPr id="58" name="Shape 53"/>
          <p:cNvSpPr/>
          <p:nvPr/>
        </p:nvSpPr>
        <p:spPr>
          <a:xfrm>
            <a:off x="6776115" y="1653064"/>
            <a:ext cx="480060" cy="91440"/>
          </a:xfrm>
          <a:prstGeom prst="roundRect">
            <a:avLst>
              <a:gd name="adj" fmla="val 625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776115" y="1653064"/>
            <a:ext cx="537667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383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</a:t>
            </a:r>
            <a:endParaRPr lang="en-US" sz="383" dirty="0"/>
          </a:p>
        </p:txBody>
      </p:sp>
      <p:sp>
        <p:nvSpPr>
          <p:cNvPr id="60" name="Text 55"/>
          <p:cNvSpPr/>
          <p:nvPr/>
        </p:nvSpPr>
        <p:spPr>
          <a:xfrm>
            <a:off x="6318915" y="1938814"/>
            <a:ext cx="2684035" cy="345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鼓励企业以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贡献代码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提交 Issue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参与社区治理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等多元方式回馈 GPL 社区，形成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良性循环</a:t>
            </a:r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。让企业从"消费者"转变为"共建者"，与开源生态共同成长、相互成就。</a:t>
            </a:r>
            <a:endParaRPr lang="en-US" sz="518" dirty="0"/>
          </a:p>
        </p:txBody>
      </p:sp>
      <p:sp>
        <p:nvSpPr>
          <p:cNvPr id="61" name="Shape 56"/>
          <p:cNvSpPr/>
          <p:nvPr/>
        </p:nvSpPr>
        <p:spPr>
          <a:xfrm>
            <a:off x="6318915" y="2341007"/>
            <a:ext cx="2396460" cy="194310"/>
          </a:xfrm>
          <a:prstGeom prst="rect">
            <a:avLst/>
          </a:prstGeom>
          <a:noFill/>
          <a:ln/>
        </p:spPr>
      </p:sp>
      <p:sp>
        <p:nvSpPr>
          <p:cNvPr id="62" name="Shape 57"/>
          <p:cNvSpPr/>
          <p:nvPr/>
        </p:nvSpPr>
        <p:spPr>
          <a:xfrm>
            <a:off x="6318915" y="2341007"/>
            <a:ext cx="239646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63" name="Shape 58"/>
          <p:cNvSpPr/>
          <p:nvPr/>
        </p:nvSpPr>
        <p:spPr>
          <a:xfrm>
            <a:off x="6318915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318915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#代码贡献</a:t>
            </a:r>
            <a:endParaRPr lang="en-US" sz="450" dirty="0"/>
          </a:p>
        </p:txBody>
      </p:sp>
      <p:sp>
        <p:nvSpPr>
          <p:cNvPr id="65" name="Shape 60"/>
          <p:cNvSpPr/>
          <p:nvPr/>
        </p:nvSpPr>
        <p:spPr>
          <a:xfrm>
            <a:off x="6713250" y="2403872"/>
            <a:ext cx="45720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6713250" y="2403872"/>
            <a:ext cx="51435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#Issue 反馈</a:t>
            </a:r>
            <a:endParaRPr lang="en-US" sz="450" dirty="0"/>
          </a:p>
        </p:txBody>
      </p:sp>
      <p:sp>
        <p:nvSpPr>
          <p:cNvPr id="67" name="Shape 62"/>
          <p:cNvSpPr/>
          <p:nvPr/>
        </p:nvSpPr>
        <p:spPr>
          <a:xfrm>
            <a:off x="7199025" y="2403872"/>
            <a:ext cx="365760" cy="131445"/>
          </a:xfrm>
          <a:prstGeom prst="roundRect">
            <a:avLst>
              <a:gd name="adj" fmla="val 17391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7199025" y="2403872"/>
            <a:ext cx="42291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#社区治理</a:t>
            </a:r>
            <a:endParaRPr lang="en-US" sz="450" dirty="0"/>
          </a:p>
        </p:txBody>
      </p:sp>
      <p:sp>
        <p:nvSpPr>
          <p:cNvPr id="69" name="Shape 64"/>
          <p:cNvSpPr/>
          <p:nvPr/>
        </p:nvSpPr>
        <p:spPr>
          <a:xfrm>
            <a:off x="320040" y="2723912"/>
            <a:ext cx="7566660" cy="575965"/>
          </a:xfrm>
          <a:prstGeom prst="roundRect">
            <a:avLst>
              <a:gd name="adj" fmla="val 119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320040" y="2723912"/>
            <a:ext cx="755523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71" name="Shape 66"/>
          <p:cNvSpPr/>
          <p:nvPr/>
        </p:nvSpPr>
        <p:spPr>
          <a:xfrm>
            <a:off x="440055" y="2863304"/>
            <a:ext cx="297180" cy="297180"/>
          </a:xfrm>
          <a:prstGeom prst="ellipse">
            <a:avLst/>
          </a:prstGeom>
          <a:gradFill rotWithShape="1">
            <a:gsLst>
              <a:gs pos="0">
                <a:srgbClr val="00BCD4">
                  <a:alpha val="22000"/>
                </a:srgbClr>
              </a:gs>
              <a:gs pos="100000">
                <a:srgbClr val="2196F3">
                  <a:alpha val="20000"/>
                </a:srgbClr>
              </a:gs>
            </a:gsLst>
            <a:lin ang="2700000" scaled="0"/>
          </a:gra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52400" dist="50800" dir="16200000">
              <a:srgbClr val="00BCD4">
                <a:alpha val="40000"/>
              </a:srgbClr>
            </a:outerShdw>
          </a:effectLst>
        </p:spPr>
      </p:sp>
      <p:pic>
        <p:nvPicPr>
          <p:cNvPr id="7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" y="2937599"/>
            <a:ext cx="148590" cy="148590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828675" y="2877681"/>
            <a:ext cx="45720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开放对话</a:t>
            </a:r>
            <a:endParaRPr lang="en-US" sz="720" dirty="0"/>
          </a:p>
        </p:txBody>
      </p:sp>
      <p:sp>
        <p:nvSpPr>
          <p:cNvPr id="74" name="Shape 68"/>
          <p:cNvSpPr/>
          <p:nvPr/>
        </p:nvSpPr>
        <p:spPr>
          <a:xfrm>
            <a:off x="1251585" y="2903399"/>
            <a:ext cx="634365" cy="8572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</p:spPr>
      </p:sp>
      <p:sp>
        <p:nvSpPr>
          <p:cNvPr id="75" name="Text 69"/>
          <p:cNvSpPr/>
          <p:nvPr/>
        </p:nvSpPr>
        <p:spPr>
          <a:xfrm>
            <a:off x="1251585" y="2903399"/>
            <a:ext cx="710489" cy="85725"/>
          </a:xfrm>
          <a:prstGeom prst="rect">
            <a:avLst/>
          </a:prstGeom>
          <a:noFill/>
          <a:ln/>
        </p:spPr>
        <p:txBody>
          <a:bodyPr wrap="none" lIns="11430" tIns="57150" rIns="57150" bIns="11430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THE LOOP</a:t>
            </a:r>
            <a:endParaRPr lang="en-US" sz="405" dirty="0"/>
          </a:p>
        </p:txBody>
      </p:sp>
      <p:sp>
        <p:nvSpPr>
          <p:cNvPr id="76" name="Text 70"/>
          <p:cNvSpPr/>
          <p:nvPr/>
        </p:nvSpPr>
        <p:spPr>
          <a:xfrm>
            <a:off x="828675" y="3037701"/>
            <a:ext cx="7770571" cy="108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推动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商业世界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之间的开放对话，寻找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法律框架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技术创新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的平衡点——让教育、合规、社区三方协同共振，构建可持续的开源生态闭环。</a:t>
            </a:r>
            <a:endParaRPr lang="en-US" sz="518" dirty="0"/>
          </a:p>
        </p:txBody>
      </p:sp>
      <p:sp>
        <p:nvSpPr>
          <p:cNvPr id="77" name="Shape 71"/>
          <p:cNvSpPr/>
          <p:nvPr/>
        </p:nvSpPr>
        <p:spPr>
          <a:xfrm>
            <a:off x="7966710" y="2723912"/>
            <a:ext cx="857250" cy="575965"/>
          </a:xfrm>
          <a:prstGeom prst="roundRect">
            <a:avLst>
              <a:gd name="adj" fmla="val 11907"/>
            </a:avLst>
          </a:prstGeom>
          <a:solidFill>
            <a:srgbClr val="0F2035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7966710" y="2723912"/>
            <a:ext cx="84582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9" name="Shape 73"/>
          <p:cNvSpPr/>
          <p:nvPr/>
        </p:nvSpPr>
        <p:spPr>
          <a:xfrm>
            <a:off x="8275320" y="2786777"/>
            <a:ext cx="240030" cy="24003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52400" dist="50800" dir="16200000">
              <a:srgbClr val="2196F3">
                <a:alpha val="40000"/>
              </a:srgbClr>
            </a:outerShdw>
          </a:effectLst>
        </p:spPr>
      </p:sp>
      <p:pic>
        <p:nvPicPr>
          <p:cNvPr id="8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2470" y="2843927"/>
            <a:ext cx="125730" cy="125730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8332470" y="3061097"/>
            <a:ext cx="188595" cy="17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95" b="1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</a:t>
            </a:r>
            <a:pPr algn="ctr" indent="0" marL="0">
              <a:lnSpc>
                <a:spcPct val="140000"/>
              </a:lnSpc>
              <a:buNone/>
            </a:pPr>
            <a:endParaRPr lang="en-US" sz="495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95" b="1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</a:t>
            </a:r>
            <a:endParaRPr lang="en-US" sz="495" dirty="0"/>
          </a:p>
        </p:txBody>
      </p:sp>
      <p:sp>
        <p:nvSpPr>
          <p:cNvPr id="82" name="Shape 75"/>
          <p:cNvSpPr/>
          <p:nvPr/>
        </p:nvSpPr>
        <p:spPr>
          <a:xfrm>
            <a:off x="3460433" y="240030"/>
            <a:ext cx="228600" cy="22860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83" name="Text 76"/>
          <p:cNvSpPr/>
          <p:nvPr/>
        </p:nvSpPr>
        <p:spPr>
          <a:xfrm>
            <a:off x="3529013" y="285750"/>
            <a:ext cx="1828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</a:t>
            </a:r>
            <a:endParaRPr lang="en-US" sz="720" dirty="0"/>
          </a:p>
        </p:txBody>
      </p:sp>
      <p:sp>
        <p:nvSpPr>
          <p:cNvPr id="84" name="Text 77"/>
          <p:cNvSpPr/>
          <p:nvPr/>
        </p:nvSpPr>
        <p:spPr>
          <a:xfrm>
            <a:off x="3791903" y="205740"/>
            <a:ext cx="1765935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20" b="1" spc="135" kern="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开源布道与实践</a:t>
            </a:r>
            <a:endParaRPr lang="en-US" sz="1620" dirty="0"/>
          </a:p>
        </p:txBody>
      </p:sp>
      <p:sp>
        <p:nvSpPr>
          <p:cNvPr id="85" name="Shape 78"/>
          <p:cNvSpPr/>
          <p:nvPr/>
        </p:nvSpPr>
        <p:spPr>
          <a:xfrm>
            <a:off x="5454968" y="240030"/>
            <a:ext cx="228600" cy="22860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71450" dist="50800" dir="16200000">
              <a:srgbClr val="2196F3">
                <a:alpha val="40000"/>
              </a:srgbClr>
            </a:outerShdw>
          </a:effectLst>
        </p:spPr>
      </p:sp>
      <p:sp>
        <p:nvSpPr>
          <p:cNvPr id="86" name="Text 79"/>
          <p:cNvSpPr/>
          <p:nvPr/>
        </p:nvSpPr>
        <p:spPr>
          <a:xfrm>
            <a:off x="5523548" y="285750"/>
            <a:ext cx="1828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</a:t>
            </a:r>
            <a:endParaRPr lang="en-US" sz="720" dirty="0"/>
          </a:p>
        </p:txBody>
      </p:sp>
      <p:sp>
        <p:nvSpPr>
          <p:cNvPr id="87" name="Shape 80"/>
          <p:cNvSpPr/>
          <p:nvPr/>
        </p:nvSpPr>
        <p:spPr>
          <a:xfrm>
            <a:off x="3263265" y="571500"/>
            <a:ext cx="194310" cy="148590"/>
          </a:xfrm>
          <a:prstGeom prst="roundRect">
            <a:avLst>
              <a:gd name="adj" fmla="val 53846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88" name="Shape 81"/>
          <p:cNvSpPr/>
          <p:nvPr/>
        </p:nvSpPr>
        <p:spPr>
          <a:xfrm>
            <a:off x="3537585" y="642938"/>
            <a:ext cx="251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9" name="Shape 82"/>
          <p:cNvSpPr/>
          <p:nvPr/>
        </p:nvSpPr>
        <p:spPr>
          <a:xfrm>
            <a:off x="3869055" y="571500"/>
            <a:ext cx="194310" cy="148590"/>
          </a:xfrm>
          <a:prstGeom prst="roundRect">
            <a:avLst>
              <a:gd name="adj" fmla="val 53846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90" name="Shape 83"/>
          <p:cNvSpPr/>
          <p:nvPr/>
        </p:nvSpPr>
        <p:spPr>
          <a:xfrm>
            <a:off x="4143375" y="642938"/>
            <a:ext cx="251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1" name="Shape 84"/>
          <p:cNvSpPr/>
          <p:nvPr/>
        </p:nvSpPr>
        <p:spPr>
          <a:xfrm>
            <a:off x="4474845" y="571500"/>
            <a:ext cx="194310" cy="148590"/>
          </a:xfrm>
          <a:prstGeom prst="roundRect">
            <a:avLst>
              <a:gd name="adj" fmla="val 53846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92" name="Shape 85"/>
          <p:cNvSpPr/>
          <p:nvPr/>
        </p:nvSpPr>
        <p:spPr>
          <a:xfrm>
            <a:off x="4749165" y="642938"/>
            <a:ext cx="251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3" name="Shape 86"/>
          <p:cNvSpPr/>
          <p:nvPr/>
        </p:nvSpPr>
        <p:spPr>
          <a:xfrm>
            <a:off x="5080635" y="571500"/>
            <a:ext cx="194310" cy="148590"/>
          </a:xfrm>
          <a:prstGeom prst="roundRect">
            <a:avLst>
              <a:gd name="adj" fmla="val 53846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40000"/>
              </a:srgbClr>
            </a:outerShdw>
          </a:effectLst>
        </p:spPr>
      </p:sp>
      <p:sp>
        <p:nvSpPr>
          <p:cNvPr id="94" name="Shape 87"/>
          <p:cNvSpPr/>
          <p:nvPr/>
        </p:nvSpPr>
        <p:spPr>
          <a:xfrm>
            <a:off x="5354955" y="642938"/>
            <a:ext cx="25146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5" name="Shape 88"/>
          <p:cNvSpPr/>
          <p:nvPr/>
        </p:nvSpPr>
        <p:spPr>
          <a:xfrm>
            <a:off x="5686425" y="571500"/>
            <a:ext cx="194310" cy="148590"/>
          </a:xfrm>
          <a:prstGeom prst="roundRect">
            <a:avLst>
              <a:gd name="adj" fmla="val 53846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96" name="Shape 89"/>
          <p:cNvSpPr/>
          <p:nvPr/>
        </p:nvSpPr>
        <p:spPr>
          <a:xfrm>
            <a:off x="857250" y="788670"/>
            <a:ext cx="7429500" cy="235744"/>
          </a:xfrm>
          <a:prstGeom prst="roundRect">
            <a:avLst>
              <a:gd name="adj" fmla="val 9697"/>
            </a:avLst>
          </a:prstGeom>
          <a:solidFill>
            <a:srgbClr val="2196F3">
              <a:alpha val="4000"/>
            </a:srgbClr>
          </a:solidFill>
          <a:ln/>
        </p:spPr>
      </p:sp>
      <p:sp>
        <p:nvSpPr>
          <p:cNvPr id="97" name="Shape 90"/>
          <p:cNvSpPr/>
          <p:nvPr/>
        </p:nvSpPr>
        <p:spPr>
          <a:xfrm>
            <a:off x="8286750" y="788670"/>
            <a:ext cx="0" cy="235744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857250" y="788670"/>
            <a:ext cx="0" cy="235744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1905953" y="857250"/>
            <a:ext cx="597194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开源布道的使命不只是推广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软件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，更在于构建一个理解、尊重并受益于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开源精神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的社区文化；实践层面的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合规能力建设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社区参与度</a:t>
            </a:r>
            <a:pPr algn="ctr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同样至关重要。</a:t>
            </a:r>
            <a:endParaRPr lang="en-US" sz="56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31421" y="767014"/>
            <a:ext cx="17343" cy="17343"/>
          </a:xfrm>
          <a:prstGeom prst="ellipse">
            <a:avLst/>
          </a:prstGeom>
          <a:solidFill>
            <a:srgbClr val="2196F3">
              <a:alpha val="62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401193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0" y="1028700"/>
            <a:ext cx="22860" cy="228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4371975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0" y="514350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462915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925830"/>
            <a:ext cx="22860" cy="228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3857625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195" y="1542713"/>
            <a:ext cx="11440" cy="11440"/>
          </a:xfrm>
          <a:prstGeom prst="ellipse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61722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3343275"/>
            <a:ext cx="22860" cy="228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7175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1800225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828925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571750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314575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0" y="4526280"/>
            <a:ext cx="17145" cy="1714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308610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13"/>
            <a:ext cx="22860" cy="22860"/>
          </a:xfrm>
          <a:prstGeom prst="ellipse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11480"/>
            <a:ext cx="11430" cy="1143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60370" y="417195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5726430" y="417195"/>
            <a:ext cx="4572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3531870" y="274320"/>
            <a:ext cx="234315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70" b="1" spc="27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燃烧之后是新生</a:t>
            </a:r>
            <a:endParaRPr lang="en-US" sz="2070" dirty="0"/>
          </a:p>
        </p:txBody>
      </p:sp>
      <p:sp>
        <p:nvSpPr>
          <p:cNvPr id="26" name="Text 24"/>
          <p:cNvSpPr/>
          <p:nvPr/>
        </p:nvSpPr>
        <p:spPr>
          <a:xfrm>
            <a:off x="3371850" y="668655"/>
            <a:ext cx="268833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90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GPL精神指引下的开源未来 —— 开源之书记录 · 2023年4月</a:t>
            </a:r>
            <a:endParaRPr lang="en-US" sz="585" dirty="0"/>
          </a:p>
        </p:txBody>
      </p:sp>
      <p:sp>
        <p:nvSpPr>
          <p:cNvPr id="27" name="Shape 25"/>
          <p:cNvSpPr/>
          <p:nvPr/>
        </p:nvSpPr>
        <p:spPr>
          <a:xfrm>
            <a:off x="3886200" y="525780"/>
            <a:ext cx="1371600" cy="1371600"/>
          </a:xfrm>
          <a:prstGeom prst="ellips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057650" y="697230"/>
            <a:ext cx="1028700" cy="1028700"/>
          </a:xfrm>
          <a:prstGeom prst="ellipse">
            <a:avLst/>
          </a:prstGeom>
          <a:noFill/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43453" y="65153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49140" y="1074420"/>
            <a:ext cx="45720" cy="45720"/>
          </a:xfrm>
          <a:prstGeom prst="ellipse">
            <a:avLst/>
          </a:prstGeom>
          <a:gradFill rotWithShape="1">
            <a:gsLst>
              <a:gs pos="0">
                <a:srgbClr val="00E676"/>
              </a:gs>
              <a:gs pos="100000">
                <a:srgbClr val="00BCD4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42875" dist="50800" dir="16200000">
              <a:srgbClr val="00E676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26230" y="1256861"/>
            <a:ext cx="125730" cy="69459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95250" dist="50800" dir="16200000">
              <a:srgbClr val="00E676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1188720"/>
            <a:ext cx="137160" cy="80010"/>
          </a:xfrm>
          <a:prstGeom prst="roundRect">
            <a:avLst>
              <a:gd name="adj" fmla="val 142857"/>
            </a:avLst>
          </a:prstGeom>
          <a:gradFill rotWithShape="1">
            <a:gsLst>
              <a:gs pos="0">
                <a:srgbClr val="00E676"/>
              </a:gs>
              <a:gs pos="100000">
                <a:srgbClr val="00BCD4"/>
              </a:gs>
            </a:gsLst>
            <a:lin ang="13500000" scaled="0"/>
          </a:gradFill>
          <a:ln/>
          <a:effectLst>
            <a:outerShdw sx="100000" sy="100000" kx="0" ky="0" algn="bl" rotWithShape="0" blurRad="95250" dist="50800" dir="16200000">
              <a:srgbClr val="00E676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60570" y="1095266"/>
            <a:ext cx="22860" cy="31835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E676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E676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43400" y="1268730"/>
            <a:ext cx="457200" cy="285750"/>
          </a:xfrm>
          <a:prstGeom prst="roundRect">
            <a:avLst>
              <a:gd name="adj" fmla="val 100000"/>
            </a:avLst>
          </a:prstGeom>
          <a:solidFill>
            <a:srgbClr val="FF6D00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FF6D00">
                <a:alpha val="6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71988" y="1325880"/>
            <a:ext cx="200025" cy="200025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30000">
                <a:srgbClr val="FFEB3B"/>
              </a:gs>
              <a:gs pos="60000">
                <a:srgbClr val="FF9800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6" name="Shape 34"/>
          <p:cNvSpPr/>
          <p:nvPr/>
        </p:nvSpPr>
        <p:spPr>
          <a:xfrm>
            <a:off x="4402305" y="1286711"/>
            <a:ext cx="19350" cy="19350"/>
          </a:xfrm>
          <a:prstGeom prst="ellipse">
            <a:avLst/>
          </a:prstGeom>
          <a:solidFill>
            <a:srgbClr val="FF9800">
              <a:alpha val="62000"/>
            </a:srgbClr>
          </a:solidFill>
          <a:ln/>
          <a:effectLst>
            <a:outerShdw sx="100000" sy="100000" kx="0" ky="0" algn="bl" rotWithShape="0" blurRad="57150" dist="50800" dir="16200000">
              <a:srgbClr val="FF6D00">
                <a:alpha val="1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14850" y="1388745"/>
            <a:ext cx="22860" cy="22860"/>
          </a:xfrm>
          <a:prstGeom prst="ellipse">
            <a:avLst/>
          </a:prstGeom>
          <a:solidFill>
            <a:srgbClr val="FF9800"/>
          </a:solidFill>
          <a:ln/>
          <a:effectLst>
            <a:outerShdw sx="100000" sy="100000" kx="0" ky="0" algn="bl" rotWithShape="0" blurRad="57150" dist="50800" dir="16200000">
              <a:srgbClr val="FF6D00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57700" y="1331595"/>
            <a:ext cx="22860" cy="22860"/>
          </a:xfrm>
          <a:prstGeom prst="ellipse">
            <a:avLst/>
          </a:prstGeom>
          <a:solidFill>
            <a:srgbClr val="FF9800"/>
          </a:solidFill>
          <a:ln/>
          <a:effectLst>
            <a:outerShdw sx="100000" sy="100000" kx="0" ky="0" algn="bl" rotWithShape="0" blurRad="57150" dist="50800" dir="16200000">
              <a:srgbClr val="FF6D00">
                <a:alpha val="10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2900" y="1697355"/>
            <a:ext cx="2743200" cy="875824"/>
          </a:xfrm>
          <a:prstGeom prst="roundRect">
            <a:avLst>
              <a:gd name="adj" fmla="val 7830"/>
            </a:avLst>
          </a:prstGeom>
          <a:solidFill>
            <a:srgbClr val="0F192D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" y="169735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1708785" y="1265158"/>
            <a:ext cx="2731770" cy="864394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800350" y="176022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196F3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474345" y="1834515"/>
            <a:ext cx="382905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4345" y="1834515"/>
            <a:ext cx="440055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DISPUTE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474345" y="2034540"/>
            <a:ext cx="6800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争议即活力</a:t>
            </a:r>
            <a:endParaRPr lang="en-US" sz="855" dirty="0"/>
          </a:p>
        </p:txBody>
      </p:sp>
      <p:sp>
        <p:nvSpPr>
          <p:cNvPr id="46" name="Text 44"/>
          <p:cNvSpPr/>
          <p:nvPr/>
        </p:nvSpPr>
        <p:spPr>
          <a:xfrm>
            <a:off x="474345" y="2234565"/>
            <a:ext cx="2713939" cy="200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的持续争议恰恰证明它仍然是开源生态中最具生命力的许可证，而非过时的法律文本。争论本身，即是它不可替代地位的明证。</a:t>
            </a:r>
            <a:endParaRPr lang="en-US" sz="518" dirty="0"/>
          </a:p>
        </p:txBody>
      </p:sp>
      <p:sp>
        <p:nvSpPr>
          <p:cNvPr id="47" name="Shape 45"/>
          <p:cNvSpPr/>
          <p:nvPr/>
        </p:nvSpPr>
        <p:spPr>
          <a:xfrm>
            <a:off x="3200400" y="1697355"/>
            <a:ext cx="2743200" cy="875824"/>
          </a:xfrm>
          <a:prstGeom prst="roundRect">
            <a:avLst>
              <a:gd name="adj" fmla="val 7830"/>
            </a:avLst>
          </a:prstGeom>
          <a:solidFill>
            <a:srgbClr val="0F192D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169735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4566285" y="1265158"/>
            <a:ext cx="2731770" cy="864394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629275" y="176022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196F3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51" name="Shape 49"/>
          <p:cNvSpPr/>
          <p:nvPr/>
        </p:nvSpPr>
        <p:spPr>
          <a:xfrm>
            <a:off x="3331845" y="1834515"/>
            <a:ext cx="342900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1845" y="1834515"/>
            <a:ext cx="40005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GROWTH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3331845" y="2034540"/>
            <a:ext cx="6800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成长不可逆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3331845" y="2234565"/>
            <a:ext cx="2713939" cy="200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无论合规冲突如何激烈，GPL 软件在全球基础设施中的渗透率将持续上升，开源已成不可逆转的技术潮流，无人能逆转时间之河。</a:t>
            </a:r>
            <a:endParaRPr lang="en-US" sz="518" dirty="0"/>
          </a:p>
        </p:txBody>
      </p:sp>
      <p:sp>
        <p:nvSpPr>
          <p:cNvPr id="55" name="Shape 53"/>
          <p:cNvSpPr/>
          <p:nvPr/>
        </p:nvSpPr>
        <p:spPr>
          <a:xfrm>
            <a:off x="6057900" y="1697355"/>
            <a:ext cx="2743200" cy="875824"/>
          </a:xfrm>
          <a:prstGeom prst="roundRect">
            <a:avLst>
              <a:gd name="adj" fmla="val 7830"/>
            </a:avLst>
          </a:prstGeom>
          <a:solidFill>
            <a:srgbClr val="0F192D">
              <a:alpha val="8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57900" y="1697355"/>
            <a:ext cx="273177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7423785" y="1265158"/>
            <a:ext cx="2731770" cy="864394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481060" y="176022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196F3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59" name="Shape 57"/>
          <p:cNvSpPr/>
          <p:nvPr/>
        </p:nvSpPr>
        <p:spPr>
          <a:xfrm>
            <a:off x="6189345" y="1834515"/>
            <a:ext cx="342900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9345" y="1834515"/>
            <a:ext cx="40005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</a:t>
            </a:r>
            <a:endParaRPr lang="en-US" sz="450" dirty="0"/>
          </a:p>
        </p:txBody>
      </p:sp>
      <p:sp>
        <p:nvSpPr>
          <p:cNvPr id="61" name="Text 59"/>
          <p:cNvSpPr/>
          <p:nvPr/>
        </p:nvSpPr>
        <p:spPr>
          <a:xfrm>
            <a:off x="6189345" y="2034540"/>
            <a:ext cx="5657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行动呼吁</a:t>
            </a:r>
            <a:endParaRPr lang="en-US" sz="855" dirty="0"/>
          </a:p>
        </p:txBody>
      </p:sp>
      <p:sp>
        <p:nvSpPr>
          <p:cNvPr id="62" name="Text 60"/>
          <p:cNvSpPr/>
          <p:nvPr/>
        </p:nvSpPr>
        <p:spPr>
          <a:xfrm>
            <a:off x="6189345" y="2234565"/>
            <a:ext cx="2745943" cy="200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让我们以开源之道为指引，在合规中前行、在贡献中成长、在布道中传递开源的火种。每一次 Commit，都是对未来的投票。</a:t>
            </a:r>
            <a:endParaRPr lang="en-US" sz="518" dirty="0"/>
          </a:p>
        </p:txBody>
      </p:sp>
      <p:sp>
        <p:nvSpPr>
          <p:cNvPr id="63" name="Shape 61"/>
          <p:cNvSpPr/>
          <p:nvPr/>
        </p:nvSpPr>
        <p:spPr>
          <a:xfrm>
            <a:off x="2900363" y="2661761"/>
            <a:ext cx="891540" cy="194310"/>
          </a:xfrm>
          <a:prstGeom prst="roundRect">
            <a:avLst>
              <a:gd name="adj" fmla="val 5882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08948" y="2736056"/>
            <a:ext cx="45720" cy="45720"/>
          </a:xfrm>
          <a:prstGeom prst="ellipse">
            <a:avLst/>
          </a:prstGeom>
          <a:solidFill>
            <a:srgbClr val="00BCD4">
              <a:alpha val="68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111818" y="2716054"/>
            <a:ext cx="2457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记录期</a:t>
            </a:r>
            <a:endParaRPr lang="en-US" sz="450" dirty="0"/>
          </a:p>
        </p:txBody>
      </p:sp>
      <p:sp>
        <p:nvSpPr>
          <p:cNvPr id="66" name="Text 64"/>
          <p:cNvSpPr/>
          <p:nvPr/>
        </p:nvSpPr>
        <p:spPr>
          <a:xfrm>
            <a:off x="3357563" y="2713196"/>
            <a:ext cx="4000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2023-04</a:t>
            </a:r>
            <a:endParaRPr lang="en-US" sz="585" dirty="0"/>
          </a:p>
        </p:txBody>
      </p:sp>
      <p:sp>
        <p:nvSpPr>
          <p:cNvPr id="67" name="Shape 65"/>
          <p:cNvSpPr/>
          <p:nvPr/>
        </p:nvSpPr>
        <p:spPr>
          <a:xfrm>
            <a:off x="3929063" y="2653189"/>
            <a:ext cx="1005840" cy="211455"/>
          </a:xfrm>
          <a:prstGeom prst="roundRect">
            <a:avLst>
              <a:gd name="adj" fmla="val 5405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37648" y="2736056"/>
            <a:ext cx="45720" cy="45720"/>
          </a:xfrm>
          <a:prstGeom prst="ellipse">
            <a:avLst/>
          </a:prstGeom>
          <a:solidFill>
            <a:srgbClr val="2196F3">
              <a:alpha val="68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140518" y="2716054"/>
            <a:ext cx="1828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角色</a:t>
            </a:r>
            <a:endParaRPr lang="en-US" sz="450" dirty="0"/>
          </a:p>
        </p:txBody>
      </p:sp>
      <p:sp>
        <p:nvSpPr>
          <p:cNvPr id="70" name="Text 68"/>
          <p:cNvSpPr/>
          <p:nvPr/>
        </p:nvSpPr>
        <p:spPr>
          <a:xfrm>
            <a:off x="4323398" y="2704624"/>
            <a:ext cx="57721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适兕</a:t>
            </a:r>
            <a:endParaRPr lang="en-US" sz="585" dirty="0"/>
          </a:p>
        </p:txBody>
      </p:sp>
      <p:sp>
        <p:nvSpPr>
          <p:cNvPr id="71" name="Shape 69"/>
          <p:cNvSpPr/>
          <p:nvPr/>
        </p:nvSpPr>
        <p:spPr>
          <a:xfrm>
            <a:off x="5072063" y="2653189"/>
            <a:ext cx="1171575" cy="211455"/>
          </a:xfrm>
          <a:prstGeom prst="roundRect">
            <a:avLst>
              <a:gd name="adj" fmla="val 5405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80648" y="2736056"/>
            <a:ext cx="45720" cy="45720"/>
          </a:xfrm>
          <a:prstGeom prst="ellipse">
            <a:avLst/>
          </a:prstGeom>
          <a:solidFill>
            <a:srgbClr val="00BCD4">
              <a:alpha val="68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283518" y="2716054"/>
            <a:ext cx="1828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定位</a:t>
            </a:r>
            <a:endParaRPr lang="en-US" sz="450" dirty="0"/>
          </a:p>
        </p:txBody>
      </p:sp>
      <p:sp>
        <p:nvSpPr>
          <p:cNvPr id="74" name="Text 72"/>
          <p:cNvSpPr/>
          <p:nvPr/>
        </p:nvSpPr>
        <p:spPr>
          <a:xfrm>
            <a:off x="5466398" y="2704624"/>
            <a:ext cx="7488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开源布道与阅读分享</a:t>
            </a:r>
            <a:endParaRPr lang="en-US" sz="585" dirty="0"/>
          </a:p>
        </p:txBody>
      </p:sp>
      <p:sp>
        <p:nvSpPr>
          <p:cNvPr id="75" name="Shape 73"/>
          <p:cNvSpPr/>
          <p:nvPr/>
        </p:nvSpPr>
        <p:spPr>
          <a:xfrm>
            <a:off x="4000500" y="2944654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6" name="Text 74"/>
          <p:cNvSpPr/>
          <p:nvPr/>
        </p:nvSpPr>
        <p:spPr>
          <a:xfrm>
            <a:off x="2251710" y="3030379"/>
            <a:ext cx="5197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495" spc="23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 的燃烧与成长是一枚硬币的两面：没有对自由的坚持就没有燃烧，没有燃烧的淬炼就没有真正的成长。开源之书的记录仍在继续，期待每一位读者的参与。</a:t>
            </a:r>
            <a:endParaRPr lang="en-US" sz="495" dirty="0"/>
          </a:p>
        </p:txBody>
      </p:sp>
      <p:sp>
        <p:nvSpPr>
          <p:cNvPr id="77" name="Text 75"/>
          <p:cNvSpPr/>
          <p:nvPr/>
        </p:nvSpPr>
        <p:spPr>
          <a:xfrm>
            <a:off x="3846195" y="3224064"/>
            <a:ext cx="162580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18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 · 2023 · APRIL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3954780" y="3378369"/>
            <a:ext cx="138257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35" kern="0" dirty="0">
                <a:solidFill>
                  <a:srgbClr val="B0BEC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RECORD · EVOLVE · IGNITE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2026-08-28T00:28:33Z</dcterms:created>
  <dcterms:modified xsi:type="dcterms:W3CDTF">2026-08-28T00:28:33Z</dcterms:modified>
</cp:coreProperties>
</file>