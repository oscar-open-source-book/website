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21.png"/><Relationship Id="rId22" Type="http://schemas.openxmlformats.org/officeDocument/2006/relationships/image" Target="../media/image-9-2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svg"/><Relationship Id="rId25" Type="http://schemas.openxmlformats.org/officeDocument/2006/relationships/image" Target="../media/image-9-25.png"/><Relationship Id="rId26" Type="http://schemas.openxmlformats.org/officeDocument/2006/relationships/image" Target="../media/image-9-26.svg"/><Relationship Id="rId27" Type="http://schemas.openxmlformats.org/officeDocument/2006/relationships/image" Target="../media/image-9-27.png"/><Relationship Id="rId28" Type="http://schemas.openxmlformats.org/officeDocument/2006/relationships/image" Target="../media/image-9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3F2FD"/>
              </a:gs>
              <a:gs pos="30000">
                <a:srgbClr val="BBDEFB"/>
              </a:gs>
              <a:gs pos="60000">
                <a:srgbClr val="64B5F6"/>
              </a:gs>
              <a:gs pos="100000">
                <a:srgbClr val="2196F3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CD4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07D8B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-457200"/>
            <a:ext cx="1714500" cy="1714500"/>
          </a:xfrm>
          <a:prstGeom prst="ellipse">
            <a:avLst/>
          </a:prstGeom>
          <a:noFill/>
          <a:ln w="1143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14500" y="4343400"/>
            <a:ext cx="1143000" cy="1143000"/>
          </a:xfrm>
          <a:prstGeom prst="ellipse">
            <a:avLst/>
          </a:prstGeom>
          <a:noFill/>
          <a:ln w="1143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-228600" y="3886200"/>
            <a:ext cx="571500" cy="571500"/>
          </a:xfrm>
          <a:prstGeom prst="rect">
            <a:avLst/>
          </a:prstGeom>
          <a:noFill/>
          <a:ln w="1143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228600"/>
            <a:ext cx="1600200" cy="4524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40000"/>
              </a:lnSpc>
              <a:buNone/>
            </a:pPr>
            <a:r>
              <a:rPr lang="en-US" sz="495" b="1" spc="90" kern="0" dirty="0">
                <a:solidFill>
                  <a:srgbClr val="FFFFFF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&lt;code&gt; &amp;nbsp;&amp;nbsp;{ } &lt;/&gt; /* * /</a:t>
            </a:r>
            <a:pPr algn="l" indent="0" marL="0">
              <a:lnSpc>
                <a:spcPct val="240000"/>
              </a:lnSpc>
              <a:buNone/>
            </a:pPr>
            <a:endParaRPr lang="en-US" sz="495" dirty="0"/>
          </a:p>
          <a:p>
            <a:pPr algn="l" indent="0" marL="0">
              <a:lnSpc>
                <a:spcPct val="240000"/>
              </a:lnSpc>
              <a:buNone/>
            </a:pPr>
            <a:r>
              <a:rPr lang="en-US" sz="495" b="1" spc="90" kern="0" dirty="0">
                <a:solidFill>
                  <a:srgbClr val="FFFFFF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import ]( ) =&gt; &amp;nbsp; #! //</a:t>
            </a:r>
            <a:pPr algn="l" indent="0" marL="0">
              <a:lnSpc>
                <a:spcPct val="240000"/>
              </a:lnSpc>
              <a:buNone/>
            </a:pPr>
            <a:endParaRPr lang="en-US" sz="495" dirty="0"/>
          </a:p>
          <a:p>
            <a:pPr algn="l" indent="0" marL="0">
              <a:lnSpc>
                <a:spcPct val="240000"/>
              </a:lnSpc>
              <a:buNone/>
            </a:pPr>
            <a:r>
              <a:rPr lang="en-US" sz="495" b="1" spc="90" kern="0" dirty="0">
                <a:solidFill>
                  <a:srgbClr val="FFFFFF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&lt;/&gt; {} [] () &amp;nbsp;&amp;nbsp;&amp;nbsp; @</a:t>
            </a:r>
            <a:endParaRPr lang="en-US" sz="49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300" y="457200"/>
            <a:ext cx="1828800" cy="18288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5100" y="1600200"/>
            <a:ext cx="1143000" cy="1143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72413" y="2628900"/>
            <a:ext cx="784098" cy="10694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00BCD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</a:t>
            </a:r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</a:t>
            </a:r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00BCD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pPr algn="l" indent="0" marL="0">
              <a:lnSpc>
                <a:spcPct val="180000"/>
              </a:lnSpc>
              <a:buNone/>
            </a:pPr>
            <a:endParaRPr lang="en-US" sz="585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00BCD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</a:t>
            </a:r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community;</a:t>
            </a:r>
            <a:pPr algn="l" indent="0" marL="0">
              <a:lnSpc>
                <a:spcPct val="180000"/>
              </a:lnSpc>
              <a:buNone/>
            </a:pPr>
            <a:endParaRPr lang="en-US" sz="585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00BCD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</a:t>
            </a:r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= [</a:t>
            </a:r>
            <a:pPr algn="l" indent="0" marL="0">
              <a:lnSpc>
                <a:spcPct val="180000"/>
              </a:lnSpc>
              <a:buNone/>
            </a:pPr>
            <a:endParaRPr lang="en-US" sz="585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'collaborate',</a:t>
            </a:r>
            <a:pPr algn="l" indent="0" marL="0">
              <a:lnSpc>
                <a:spcPct val="180000"/>
              </a:lnSpc>
              <a:buNone/>
            </a:pPr>
            <a:endParaRPr lang="en-US" sz="585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'share',</a:t>
            </a:r>
            <a:pPr algn="l" indent="0" marL="0">
              <a:lnSpc>
                <a:spcPct val="180000"/>
              </a:lnSpc>
              <a:buNone/>
            </a:pPr>
            <a:endParaRPr lang="en-US" sz="585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'innovate'</a:t>
            </a:r>
            <a:pPr algn="l" indent="0" marL="0">
              <a:lnSpc>
                <a:spcPct val="180000"/>
              </a:lnSpc>
              <a:buNone/>
            </a:pPr>
            <a:endParaRPr lang="en-US" sz="585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];</a:t>
            </a:r>
            <a:pPr algn="l" indent="0" marL="0">
              <a:lnSpc>
                <a:spcPct val="180000"/>
              </a:lnSpc>
              <a:buNone/>
            </a:pPr>
            <a:endParaRPr lang="en-US" sz="585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00BCD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&lt;/</a:t>
            </a:r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</a:t>
            </a:r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00BCD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</a:t>
            </a:r>
            <a:endParaRPr lang="en-US" sz="585" dirty="0"/>
          </a:p>
        </p:txBody>
      </p:sp>
      <p:sp>
        <p:nvSpPr>
          <p:cNvPr id="12" name="Shape 8"/>
          <p:cNvSpPr/>
          <p:nvPr/>
        </p:nvSpPr>
        <p:spPr>
          <a:xfrm>
            <a:off x="342900" y="494348"/>
            <a:ext cx="205740" cy="1143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3" name="Text 9"/>
          <p:cNvSpPr/>
          <p:nvPr/>
        </p:nvSpPr>
        <p:spPr>
          <a:xfrm>
            <a:off x="605790" y="494348"/>
            <a:ext cx="135697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3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SHI SI</a:t>
            </a:r>
            <a:endParaRPr lang="en-US" sz="630" dirty="0"/>
          </a:p>
        </p:txBody>
      </p:sp>
      <p:sp>
        <p:nvSpPr>
          <p:cNvPr id="14" name="Shape 10"/>
          <p:cNvSpPr/>
          <p:nvPr/>
        </p:nvSpPr>
        <p:spPr>
          <a:xfrm>
            <a:off x="342900" y="762953"/>
            <a:ext cx="342900" cy="17145"/>
          </a:xfrm>
          <a:prstGeom prst="roundRect">
            <a:avLst>
              <a:gd name="adj" fmla="val 66667"/>
            </a:avLst>
          </a:prstGeom>
          <a:solidFill>
            <a:srgbClr val="2196F3"/>
          </a:solidFill>
          <a:ln/>
        </p:spPr>
      </p:sp>
      <p:sp>
        <p:nvSpPr>
          <p:cNvPr id="15" name="Shape 11"/>
          <p:cNvSpPr/>
          <p:nvPr/>
        </p:nvSpPr>
        <p:spPr>
          <a:xfrm>
            <a:off x="754380" y="762953"/>
            <a:ext cx="114300" cy="17145"/>
          </a:xfrm>
          <a:prstGeom prst="roundRect">
            <a:avLst>
              <a:gd name="adj" fmla="val 66667"/>
            </a:avLst>
          </a:prstGeom>
          <a:solidFill>
            <a:srgbClr val="00BCD4"/>
          </a:solidFill>
          <a:ln/>
        </p:spPr>
      </p:sp>
      <p:sp>
        <p:nvSpPr>
          <p:cNvPr id="16" name="Shape 12"/>
          <p:cNvSpPr/>
          <p:nvPr/>
        </p:nvSpPr>
        <p:spPr>
          <a:xfrm>
            <a:off x="937260" y="762953"/>
            <a:ext cx="57150" cy="17145"/>
          </a:xfrm>
          <a:prstGeom prst="roundRect">
            <a:avLst>
              <a:gd name="adj" fmla="val 66667"/>
            </a:avLst>
          </a:prstGeom>
          <a:solidFill>
            <a:srgbClr val="607D8B"/>
          </a:solidFill>
          <a:ln/>
        </p:spPr>
      </p:sp>
      <p:sp>
        <p:nvSpPr>
          <p:cNvPr id="17" name="Text 13"/>
          <p:cNvSpPr/>
          <p:nvPr/>
        </p:nvSpPr>
        <p:spPr>
          <a:xfrm>
            <a:off x="1062990" y="728663"/>
            <a:ext cx="90891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REPORT</a:t>
            </a:r>
            <a:endParaRPr lang="en-US" sz="540" dirty="0"/>
          </a:p>
        </p:txBody>
      </p:sp>
      <p:sp>
        <p:nvSpPr>
          <p:cNvPr id="18" name="Text 14"/>
          <p:cNvSpPr/>
          <p:nvPr/>
        </p:nvSpPr>
        <p:spPr>
          <a:xfrm>
            <a:off x="342900" y="888683"/>
            <a:ext cx="2606040" cy="6057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960" b="1" spc="180" kern="0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</a:t>
            </a:r>
            <a:endParaRPr lang="en-US" sz="3960" dirty="0"/>
          </a:p>
        </p:txBody>
      </p:sp>
      <p:sp>
        <p:nvSpPr>
          <p:cNvPr id="19" name="Text 15"/>
          <p:cNvSpPr/>
          <p:nvPr/>
        </p:nvSpPr>
        <p:spPr>
          <a:xfrm>
            <a:off x="2491740" y="888683"/>
            <a:ext cx="854964" cy="6057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960" b="1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3960" dirty="0"/>
          </a:p>
        </p:txBody>
      </p:sp>
      <p:sp>
        <p:nvSpPr>
          <p:cNvPr id="20" name="Text 16"/>
          <p:cNvSpPr/>
          <p:nvPr/>
        </p:nvSpPr>
        <p:spPr>
          <a:xfrm>
            <a:off x="2748915" y="888683"/>
            <a:ext cx="1554480" cy="6057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960" b="1" spc="180" kern="0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适兕</a:t>
            </a:r>
            <a:endParaRPr lang="en-US" sz="3960" dirty="0"/>
          </a:p>
        </p:txBody>
      </p:sp>
      <p:sp>
        <p:nvSpPr>
          <p:cNvPr id="21" name="Shape 17"/>
          <p:cNvSpPr/>
          <p:nvPr/>
        </p:nvSpPr>
        <p:spPr>
          <a:xfrm>
            <a:off x="342900" y="1584752"/>
            <a:ext cx="2394585" cy="325755"/>
          </a:xfrm>
          <a:prstGeom prst="rect">
            <a:avLst/>
          </a:prstGeom>
          <a:noFill/>
          <a:ln/>
        </p:spPr>
      </p:sp>
      <p:sp>
        <p:nvSpPr>
          <p:cNvPr id="22" name="Shape 18"/>
          <p:cNvSpPr/>
          <p:nvPr/>
        </p:nvSpPr>
        <p:spPr>
          <a:xfrm>
            <a:off x="342900" y="1910507"/>
            <a:ext cx="2394585" cy="0"/>
          </a:xfrm>
          <a:prstGeom prst="line">
            <a:avLst/>
          </a:prstGeom>
          <a:noFill/>
          <a:ln w="1143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2900" y="1681907"/>
            <a:ext cx="2681935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70" spc="9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2020年终总结与2021新规则发布</a:t>
            </a:r>
            <a:endParaRPr lang="en-US" sz="1170" dirty="0"/>
          </a:p>
        </p:txBody>
      </p:sp>
      <p:sp>
        <p:nvSpPr>
          <p:cNvPr id="24" name="Shape 20"/>
          <p:cNvSpPr/>
          <p:nvPr/>
        </p:nvSpPr>
        <p:spPr>
          <a:xfrm>
            <a:off x="342900" y="2786688"/>
            <a:ext cx="2727930" cy="812066"/>
          </a:xfrm>
          <a:prstGeom prst="roundRect">
            <a:avLst>
              <a:gd name="adj" fmla="val 11260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304800" dist="76200" dir="16200000">
              <a:srgbClr val="2196F3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42900" y="2786688"/>
            <a:ext cx="0" cy="812066"/>
          </a:xfrm>
          <a:prstGeom prst="line">
            <a:avLst/>
          </a:prstGeom>
          <a:noFill/>
          <a:ln w="22860">
            <a:solidFill>
              <a:srgbClr val="2196F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14350" y="2906703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60" dirty="0"/>
          </a:p>
        </p:txBody>
      </p:sp>
      <p:sp>
        <p:nvSpPr>
          <p:cNvPr id="27" name="Text 23"/>
          <p:cNvSpPr/>
          <p:nvPr/>
        </p:nvSpPr>
        <p:spPr>
          <a:xfrm>
            <a:off x="514350" y="3152448"/>
            <a:ext cx="64579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记录与回顾</a:t>
            </a:r>
            <a:endParaRPr lang="en-US" sz="810" dirty="0"/>
          </a:p>
        </p:txBody>
      </p:sp>
      <p:sp>
        <p:nvSpPr>
          <p:cNvPr id="28" name="Text 24"/>
          <p:cNvSpPr/>
          <p:nvPr/>
        </p:nvSpPr>
        <p:spPr>
          <a:xfrm>
            <a:off x="514350" y="3352473"/>
            <a:ext cx="186903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系统梳理2020年开源社区的活跃成果与里程碑事件</a:t>
            </a:r>
            <a:endParaRPr lang="en-US" sz="585" dirty="0"/>
          </a:p>
        </p:txBody>
      </p:sp>
      <p:sp>
        <p:nvSpPr>
          <p:cNvPr id="29" name="Shape 25"/>
          <p:cNvSpPr/>
          <p:nvPr/>
        </p:nvSpPr>
        <p:spPr>
          <a:xfrm>
            <a:off x="3207990" y="2786688"/>
            <a:ext cx="2728020" cy="812066"/>
          </a:xfrm>
          <a:prstGeom prst="roundRect">
            <a:avLst>
              <a:gd name="adj" fmla="val 11260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304800" dist="76200" dir="16200000">
              <a:srgbClr val="2196F3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3207990" y="2786688"/>
            <a:ext cx="0" cy="812066"/>
          </a:xfrm>
          <a:prstGeom prst="line">
            <a:avLst/>
          </a:prstGeom>
          <a:noFill/>
          <a:ln w="22860">
            <a:solidFill>
              <a:srgbClr val="00BCD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379440" y="2906703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60" dirty="0"/>
          </a:p>
        </p:txBody>
      </p:sp>
      <p:sp>
        <p:nvSpPr>
          <p:cNvPr id="32" name="Text 28"/>
          <p:cNvSpPr/>
          <p:nvPr/>
        </p:nvSpPr>
        <p:spPr>
          <a:xfrm>
            <a:off x="3379440" y="3152448"/>
            <a:ext cx="64579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规则与展望</a:t>
            </a:r>
            <a:endParaRPr lang="en-US" sz="810" dirty="0"/>
          </a:p>
        </p:txBody>
      </p:sp>
      <p:sp>
        <p:nvSpPr>
          <p:cNvPr id="33" name="Text 29"/>
          <p:cNvSpPr/>
          <p:nvPr/>
        </p:nvSpPr>
        <p:spPr>
          <a:xfrm>
            <a:off x="3379440" y="3352473"/>
            <a:ext cx="176662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面向2021年提出开源贡献与协作的全新规范建议</a:t>
            </a:r>
            <a:endParaRPr lang="en-US" sz="585" dirty="0"/>
          </a:p>
        </p:txBody>
      </p:sp>
      <p:sp>
        <p:nvSpPr>
          <p:cNvPr id="34" name="Shape 30"/>
          <p:cNvSpPr/>
          <p:nvPr/>
        </p:nvSpPr>
        <p:spPr>
          <a:xfrm>
            <a:off x="6073170" y="2786688"/>
            <a:ext cx="2727930" cy="812066"/>
          </a:xfrm>
          <a:prstGeom prst="roundRect">
            <a:avLst>
              <a:gd name="adj" fmla="val 11260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304800" dist="76200" dir="16200000">
              <a:srgbClr val="2196F3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073170" y="2786688"/>
            <a:ext cx="0" cy="812066"/>
          </a:xfrm>
          <a:prstGeom prst="line">
            <a:avLst/>
          </a:prstGeom>
          <a:noFill/>
          <a:ln w="22860">
            <a:solidFill>
              <a:srgbClr val="607D8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244620" y="2906703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60" dirty="0"/>
          </a:p>
        </p:txBody>
      </p:sp>
      <p:sp>
        <p:nvSpPr>
          <p:cNvPr id="37" name="Text 33"/>
          <p:cNvSpPr/>
          <p:nvPr/>
        </p:nvSpPr>
        <p:spPr>
          <a:xfrm>
            <a:off x="6244620" y="3152448"/>
            <a:ext cx="53721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适兕出品</a:t>
            </a:r>
            <a:endParaRPr lang="en-US" sz="810" dirty="0"/>
          </a:p>
        </p:txBody>
      </p:sp>
      <p:sp>
        <p:nvSpPr>
          <p:cNvPr id="38" name="Text 34"/>
          <p:cNvSpPr/>
          <p:nvPr/>
        </p:nvSpPr>
        <p:spPr>
          <a:xfrm>
            <a:off x="6244620" y="3352473"/>
            <a:ext cx="199705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由开源之道适兕团队整理发布，持续倡导中文开源文化</a:t>
            </a:r>
            <a:endParaRPr lang="en-US" sz="585" dirty="0"/>
          </a:p>
        </p:txBody>
      </p:sp>
      <p:sp>
        <p:nvSpPr>
          <p:cNvPr id="39" name="Shape 35"/>
          <p:cNvSpPr/>
          <p:nvPr/>
        </p:nvSpPr>
        <p:spPr>
          <a:xfrm>
            <a:off x="342900" y="4417695"/>
            <a:ext cx="1122640" cy="240030"/>
          </a:xfrm>
          <a:prstGeom prst="roundRect">
            <a:avLst>
              <a:gd name="adj" fmla="val 19048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52400" dist="38100" dir="16200000">
              <a:srgbClr val="2196F3">
                <a:alpha val="30000"/>
              </a:srgbClr>
            </a:outerShdw>
          </a:effectLst>
        </p:spPr>
      </p:sp>
      <p:sp>
        <p:nvSpPr>
          <p:cNvPr id="40" name="Text 36"/>
          <p:cNvSpPr/>
          <p:nvPr/>
        </p:nvSpPr>
        <p:spPr>
          <a:xfrm>
            <a:off x="342900" y="4417695"/>
            <a:ext cx="1257357" cy="240030"/>
          </a:xfrm>
          <a:prstGeom prst="rect">
            <a:avLst/>
          </a:prstGeom>
          <a:noFill/>
          <a:ln/>
        </p:spPr>
        <p:txBody>
          <a:bodyPr wrap="none" lIns="45720" tIns="102870" rIns="102870" bIns="45720" rtlCol="0" anchor="ctr"/>
          <a:lstStyle/>
          <a:p>
            <a:pPr algn="l" indent="0" marL="0">
              <a:buNone/>
            </a:pPr>
            <a:r>
              <a:rPr lang="en-US" sz="99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 → 2021</a:t>
            </a:r>
            <a:endParaRPr lang="en-US" sz="990" dirty="0"/>
          </a:p>
        </p:txBody>
      </p:sp>
      <p:sp>
        <p:nvSpPr>
          <p:cNvPr id="41" name="Text 37"/>
          <p:cNvSpPr/>
          <p:nvPr/>
        </p:nvSpPr>
        <p:spPr>
          <a:xfrm>
            <a:off x="342900" y="4692015"/>
            <a:ext cx="125735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适兕 · 开源之道系列</a:t>
            </a:r>
            <a:endParaRPr lang="en-US" sz="585" dirty="0"/>
          </a:p>
        </p:txBody>
      </p:sp>
      <p:sp>
        <p:nvSpPr>
          <p:cNvPr id="42" name="Text 38"/>
          <p:cNvSpPr/>
          <p:nvPr/>
        </p:nvSpPr>
        <p:spPr>
          <a:xfrm>
            <a:off x="6763703" y="4684068"/>
            <a:ext cx="228188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630" spc="68" kern="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总结与前瞻，推动更多开发者加入开源协作的行列。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8FC"/>
              </a:gs>
              <a:gs pos="50000">
                <a:srgbClr val="E8F2FB"/>
              </a:gs>
              <a:gs pos="100000">
                <a:srgbClr val="F0FBFD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65760" y="285750"/>
            <a:ext cx="8412480" cy="18288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65760" y="468630"/>
            <a:ext cx="8412480" cy="0"/>
          </a:xfrm>
          <a:prstGeom prst="line">
            <a:avLst/>
          </a:prstGeom>
          <a:noFill/>
          <a:ln w="5715">
            <a:solidFill>
              <a:srgbClr val="E0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11468"/>
            <a:ext cx="45720" cy="4572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480060" y="285750"/>
            <a:ext cx="117134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01 · 章节过渡</a:t>
            </a:r>
            <a:endParaRPr lang="en-US" sz="540" dirty="0"/>
          </a:p>
        </p:txBody>
      </p:sp>
      <p:sp>
        <p:nvSpPr>
          <p:cNvPr id="7" name="Text 5"/>
          <p:cNvSpPr/>
          <p:nvPr/>
        </p:nvSpPr>
        <p:spPr>
          <a:xfrm>
            <a:off x="7566660" y="291465"/>
            <a:ext cx="135697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 · Annual Review / Page 02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365760" y="1063615"/>
            <a:ext cx="75529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</a:t>
            </a:r>
            <a:endParaRPr lang="en-US" sz="495" dirty="0"/>
          </a:p>
        </p:txBody>
      </p:sp>
      <p:sp>
        <p:nvSpPr>
          <p:cNvPr id="9" name="Shape 7"/>
          <p:cNvSpPr/>
          <p:nvPr/>
        </p:nvSpPr>
        <p:spPr>
          <a:xfrm>
            <a:off x="365760" y="1063615"/>
            <a:ext cx="160020" cy="1143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0" name="Text 8"/>
          <p:cNvSpPr/>
          <p:nvPr/>
        </p:nvSpPr>
        <p:spPr>
          <a:xfrm>
            <a:off x="400050" y="1257925"/>
            <a:ext cx="3017520" cy="11315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900" b="1" spc="-360" kern="0" dirty="0">
                <a:solidFill>
                  <a:srgbClr val="2196F3">
                    <a:alpha val="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900" dirty="0"/>
          </a:p>
        </p:txBody>
      </p:sp>
      <p:sp>
        <p:nvSpPr>
          <p:cNvPr id="11" name="Text 9"/>
          <p:cNvSpPr/>
          <p:nvPr/>
        </p:nvSpPr>
        <p:spPr>
          <a:xfrm>
            <a:off x="365760" y="1223635"/>
            <a:ext cx="3017520" cy="11315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900" b="1" spc="-36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900" dirty="0"/>
          </a:p>
        </p:txBody>
      </p:sp>
      <p:sp>
        <p:nvSpPr>
          <p:cNvPr id="12" name="Text 10"/>
          <p:cNvSpPr/>
          <p:nvPr/>
        </p:nvSpPr>
        <p:spPr>
          <a:xfrm>
            <a:off x="365760" y="2458075"/>
            <a:ext cx="1529791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10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</a:t>
            </a:r>
            <a:pPr algn="l" indent="0" marL="0">
              <a:buNone/>
            </a:pPr>
            <a:r>
              <a:rPr lang="en-US" sz="810" b="1" spc="9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REVIEW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365760" y="2746683"/>
            <a:ext cx="27432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4" name="Text 12"/>
          <p:cNvSpPr/>
          <p:nvPr/>
        </p:nvSpPr>
        <p:spPr>
          <a:xfrm>
            <a:off x="685800" y="2715250"/>
            <a:ext cx="112654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GROWTH</a:t>
            </a:r>
            <a:endParaRPr lang="en-US" sz="495" dirty="0"/>
          </a:p>
        </p:txBody>
      </p:sp>
      <p:sp>
        <p:nvSpPr>
          <p:cNvPr id="15" name="Text 13"/>
          <p:cNvSpPr/>
          <p:nvPr/>
        </p:nvSpPr>
        <p:spPr>
          <a:xfrm>
            <a:off x="2583180" y="674370"/>
            <a:ext cx="6938467" cy="289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80" b="1" spc="-22" kern="0" dirty="0">
                <a:solidFill>
                  <a:srgbClr val="263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2020年</a:t>
            </a:r>
            <a:pPr algn="l" indent="0" marL="0">
              <a:lnSpc>
                <a:spcPct val="115000"/>
              </a:lnSpc>
              <a:buNone/>
            </a:pPr>
            <a:r>
              <a:rPr lang="en-US" sz="1980" b="1" spc="-22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回顾</a:t>
            </a:r>
            <a:endParaRPr lang="en-US" sz="1980" dirty="0"/>
          </a:p>
        </p:txBody>
      </p:sp>
      <p:sp>
        <p:nvSpPr>
          <p:cNvPr id="16" name="Shape 14"/>
          <p:cNvSpPr/>
          <p:nvPr/>
        </p:nvSpPr>
        <p:spPr>
          <a:xfrm>
            <a:off x="3563303" y="788581"/>
            <a:ext cx="57150" cy="5715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7" name="Text 15"/>
          <p:cNvSpPr/>
          <p:nvPr/>
        </p:nvSpPr>
        <p:spPr>
          <a:xfrm>
            <a:off x="2583180" y="1020663"/>
            <a:ext cx="6938467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spc="45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全球与中文开源社区的活跃足迹</a:t>
            </a:r>
            <a:endParaRPr lang="en-US" sz="855" dirty="0"/>
          </a:p>
        </p:txBody>
      </p:sp>
      <p:sp>
        <p:nvSpPr>
          <p:cNvPr id="18" name="Shape 16"/>
          <p:cNvSpPr/>
          <p:nvPr/>
        </p:nvSpPr>
        <p:spPr>
          <a:xfrm>
            <a:off x="2583180" y="1254978"/>
            <a:ext cx="6195060" cy="182880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2583180" y="1437858"/>
            <a:ext cx="6195060" cy="0"/>
          </a:xfrm>
          <a:prstGeom prst="line">
            <a:avLst/>
          </a:prstGeom>
          <a:noFill/>
          <a:ln w="5715">
            <a:solidFill>
              <a:srgbClr val="E0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83180" y="1292126"/>
            <a:ext cx="32004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1" name="Text 19"/>
          <p:cNvSpPr/>
          <p:nvPr/>
        </p:nvSpPr>
        <p:spPr>
          <a:xfrm>
            <a:off x="2971800" y="1254978"/>
            <a:ext cx="254751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&amp; CHINESE OPEN SOURCE COMMUNITY</a:t>
            </a:r>
            <a:endParaRPr lang="en-US" sz="540" dirty="0"/>
          </a:p>
        </p:txBody>
      </p:sp>
      <p:sp>
        <p:nvSpPr>
          <p:cNvPr id="22" name="Text 20"/>
          <p:cNvSpPr/>
          <p:nvPr/>
        </p:nvSpPr>
        <p:spPr>
          <a:xfrm>
            <a:off x="2583180" y="1552158"/>
            <a:ext cx="5760720" cy="3064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53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2020年对开源社区而言是</a:t>
            </a:r>
            <a:pPr algn="l" indent="0" marL="0">
              <a:lnSpc>
                <a:spcPct val="185000"/>
              </a:lnSpc>
              <a:buNone/>
            </a:pPr>
            <a:r>
              <a:rPr lang="en-US" sz="653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充满挑战与机遇</a:t>
            </a:r>
            <a:pPr algn="l" indent="0" marL="0">
              <a:lnSpc>
                <a:spcPct val="185000"/>
              </a:lnSpc>
              <a:buNone/>
            </a:pPr>
            <a:r>
              <a:rPr lang="en-US" sz="653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的一年。受疫情影响，</a:t>
            </a:r>
            <a:pPr algn="l" indent="0" marL="0">
              <a:lnSpc>
                <a:spcPct val="185000"/>
              </a:lnSpc>
              <a:buNone/>
            </a:pPr>
            <a:r>
              <a:rPr lang="en-US" sz="65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远程协作</a:t>
            </a:r>
            <a:pPr algn="l" indent="0" marL="0">
              <a:lnSpc>
                <a:spcPct val="185000"/>
              </a:lnSpc>
              <a:buNone/>
            </a:pPr>
            <a:r>
              <a:rPr lang="en-US" sz="653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成为常态，但社区活跃度</a:t>
            </a:r>
            <a:pPr algn="l" indent="0" marL="0">
              <a:lnSpc>
                <a:spcPct val="185000"/>
              </a:lnSpc>
              <a:buNone/>
            </a:pPr>
            <a:r>
              <a:rPr lang="en-US" sz="653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不降反升</a:t>
            </a:r>
            <a:pPr algn="l" indent="0" marL="0">
              <a:lnSpc>
                <a:spcPct val="185000"/>
              </a:lnSpc>
              <a:buNone/>
            </a:pPr>
            <a:r>
              <a:rPr lang="en-US" sz="653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；全球范围内开源项目数量</a:t>
            </a:r>
            <a:pPr algn="l" indent="0" marL="0">
              <a:lnSpc>
                <a:spcPct val="185000"/>
              </a:lnSpc>
              <a:buNone/>
            </a:pPr>
            <a:r>
              <a:rPr lang="en-US" sz="65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创新高</a:t>
            </a:r>
            <a:pPr algn="l" indent="0" marL="0">
              <a:lnSpc>
                <a:spcPct val="185000"/>
              </a:lnSpc>
              <a:buNone/>
            </a:pPr>
            <a:r>
              <a:rPr lang="en-US" sz="653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，中文社区在全球开源版图中的份额</a:t>
            </a:r>
            <a:pPr algn="l" indent="0" marL="0">
              <a:lnSpc>
                <a:spcPct val="185000"/>
              </a:lnSpc>
              <a:buNone/>
            </a:pPr>
            <a:r>
              <a:rPr lang="en-US" sz="653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持续扩大</a:t>
            </a:r>
            <a:pPr algn="l" indent="0" marL="0">
              <a:lnSpc>
                <a:spcPct val="185000"/>
              </a:lnSpc>
              <a:buNone/>
            </a:pPr>
            <a:r>
              <a:rPr lang="en-US" sz="653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，企业级开源投入也在</a:t>
            </a:r>
            <a:pPr algn="l" indent="0" marL="0">
              <a:lnSpc>
                <a:spcPct val="185000"/>
              </a:lnSpc>
              <a:buNone/>
            </a:pPr>
            <a:r>
              <a:rPr lang="en-US" sz="65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加速</a:t>
            </a:r>
            <a:pPr algn="l" indent="0" marL="0">
              <a:lnSpc>
                <a:spcPct val="185000"/>
              </a:lnSpc>
              <a:buNone/>
            </a:pPr>
            <a:r>
              <a:rPr lang="en-US" sz="653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53" dirty="0"/>
          </a:p>
        </p:txBody>
      </p:sp>
      <p:sp>
        <p:nvSpPr>
          <p:cNvPr id="23" name="Shape 21"/>
          <p:cNvSpPr/>
          <p:nvPr/>
        </p:nvSpPr>
        <p:spPr>
          <a:xfrm>
            <a:off x="2583180" y="2007215"/>
            <a:ext cx="304038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5715">
            <a:solidFill>
              <a:srgbClr val="E0E8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83180" y="2007215"/>
            <a:ext cx="22860" cy="56007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5" name="Shape 23"/>
          <p:cNvSpPr/>
          <p:nvPr/>
        </p:nvSpPr>
        <p:spPr>
          <a:xfrm>
            <a:off x="2703195" y="2104370"/>
            <a:ext cx="251460" cy="251460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E3F2FD"/>
              </a:gs>
              <a:gs pos="100000">
                <a:srgbClr val="E0F7FA"/>
              </a:gs>
            </a:gsLst>
            <a:lin ang="2700000" scaled="0"/>
          </a:gradFill>
          <a:ln/>
        </p:spPr>
      </p:sp>
      <p:sp>
        <p:nvSpPr>
          <p:cNvPr id="26" name="Text 24"/>
          <p:cNvSpPr/>
          <p:nvPr/>
        </p:nvSpPr>
        <p:spPr>
          <a:xfrm>
            <a:off x="2771775" y="2170093"/>
            <a:ext cx="24688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3046095" y="2104370"/>
            <a:ext cx="40290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53" b="1" dirty="0">
                <a:solidFill>
                  <a:srgbClr val="263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社区规模</a:t>
            </a:r>
            <a:endParaRPr lang="en-US" sz="653" dirty="0"/>
          </a:p>
        </p:txBody>
      </p:sp>
      <p:sp>
        <p:nvSpPr>
          <p:cNvPr id="28" name="Shape 26"/>
          <p:cNvSpPr/>
          <p:nvPr/>
        </p:nvSpPr>
        <p:spPr>
          <a:xfrm>
            <a:off x="3411855" y="2118658"/>
            <a:ext cx="291465" cy="91440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/>
        </p:spPr>
      </p:sp>
      <p:sp>
        <p:nvSpPr>
          <p:cNvPr id="29" name="Text 27"/>
          <p:cNvSpPr/>
          <p:nvPr/>
        </p:nvSpPr>
        <p:spPr>
          <a:xfrm>
            <a:off x="3411855" y="2118658"/>
            <a:ext cx="348615" cy="9144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450" dirty="0"/>
          </a:p>
        </p:txBody>
      </p:sp>
      <p:sp>
        <p:nvSpPr>
          <p:cNvPr id="30" name="Text 28"/>
          <p:cNvSpPr/>
          <p:nvPr/>
        </p:nvSpPr>
        <p:spPr>
          <a:xfrm>
            <a:off x="3046095" y="2252960"/>
            <a:ext cx="2752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全球开源开发者数量持续增长，GitHub 用户突破千万大关，社区覆盖面空前扩大。</a:t>
            </a:r>
            <a:endParaRPr lang="en-US" sz="563" dirty="0"/>
          </a:p>
        </p:txBody>
      </p:sp>
      <p:sp>
        <p:nvSpPr>
          <p:cNvPr id="31" name="Shape 29"/>
          <p:cNvSpPr/>
          <p:nvPr/>
        </p:nvSpPr>
        <p:spPr>
          <a:xfrm>
            <a:off x="5737860" y="2007215"/>
            <a:ext cx="304038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5715">
            <a:solidFill>
              <a:srgbClr val="E0E8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37860" y="2007215"/>
            <a:ext cx="22860" cy="56007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3" name="Shape 31"/>
          <p:cNvSpPr/>
          <p:nvPr/>
        </p:nvSpPr>
        <p:spPr>
          <a:xfrm>
            <a:off x="5857875" y="2104370"/>
            <a:ext cx="251460" cy="251460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E3F2FD"/>
              </a:gs>
              <a:gs pos="100000">
                <a:srgbClr val="E0F7FA"/>
              </a:gs>
            </a:gsLst>
            <a:lin ang="2700000" scaled="0"/>
          </a:gradFill>
          <a:ln/>
        </p:spPr>
      </p:sp>
      <p:sp>
        <p:nvSpPr>
          <p:cNvPr id="34" name="Text 32"/>
          <p:cNvSpPr/>
          <p:nvPr/>
        </p:nvSpPr>
        <p:spPr>
          <a:xfrm>
            <a:off x="5917883" y="2170093"/>
            <a:ext cx="24688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10" dirty="0"/>
          </a:p>
        </p:txBody>
      </p:sp>
      <p:sp>
        <p:nvSpPr>
          <p:cNvPr id="35" name="Text 33"/>
          <p:cNvSpPr/>
          <p:nvPr/>
        </p:nvSpPr>
        <p:spPr>
          <a:xfrm>
            <a:off x="6200775" y="2104370"/>
            <a:ext cx="40290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53" b="1" dirty="0">
                <a:solidFill>
                  <a:srgbClr val="263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项目涌现</a:t>
            </a:r>
            <a:endParaRPr lang="en-US" sz="653" dirty="0"/>
          </a:p>
        </p:txBody>
      </p:sp>
      <p:sp>
        <p:nvSpPr>
          <p:cNvPr id="36" name="Shape 34"/>
          <p:cNvSpPr/>
          <p:nvPr/>
        </p:nvSpPr>
        <p:spPr>
          <a:xfrm>
            <a:off x="6566535" y="2118658"/>
            <a:ext cx="422910" cy="91440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/>
        </p:spPr>
      </p:sp>
      <p:sp>
        <p:nvSpPr>
          <p:cNvPr id="37" name="Text 35"/>
          <p:cNvSpPr/>
          <p:nvPr/>
        </p:nvSpPr>
        <p:spPr>
          <a:xfrm>
            <a:off x="6566535" y="2118658"/>
            <a:ext cx="480060" cy="9144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</a:t>
            </a:r>
            <a:endParaRPr lang="en-US" sz="450" dirty="0"/>
          </a:p>
        </p:txBody>
      </p:sp>
      <p:sp>
        <p:nvSpPr>
          <p:cNvPr id="38" name="Text 36"/>
          <p:cNvSpPr/>
          <p:nvPr/>
        </p:nvSpPr>
        <p:spPr>
          <a:xfrm>
            <a:off x="6200775" y="2252960"/>
            <a:ext cx="2752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新开源项目数量创历史新高，中文社区贡献比例明显提升，原创力量崭露头角。</a:t>
            </a:r>
            <a:endParaRPr lang="en-US" sz="563" dirty="0"/>
          </a:p>
        </p:txBody>
      </p:sp>
      <p:sp>
        <p:nvSpPr>
          <p:cNvPr id="39" name="Shape 37"/>
          <p:cNvSpPr/>
          <p:nvPr/>
        </p:nvSpPr>
        <p:spPr>
          <a:xfrm>
            <a:off x="2583180" y="2658725"/>
            <a:ext cx="304038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5715">
            <a:solidFill>
              <a:srgbClr val="E0E8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83180" y="2658725"/>
            <a:ext cx="22860" cy="56007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1" name="Shape 39"/>
          <p:cNvSpPr/>
          <p:nvPr/>
        </p:nvSpPr>
        <p:spPr>
          <a:xfrm>
            <a:off x="2703195" y="2755880"/>
            <a:ext cx="251460" cy="251460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E3F2FD"/>
              </a:gs>
              <a:gs pos="100000">
                <a:srgbClr val="E0F7FA"/>
              </a:gs>
            </a:gsLst>
            <a:lin ang="2700000" scaled="0"/>
          </a:gradFill>
          <a:ln/>
        </p:spPr>
      </p:sp>
      <p:sp>
        <p:nvSpPr>
          <p:cNvPr id="42" name="Text 40"/>
          <p:cNvSpPr/>
          <p:nvPr/>
        </p:nvSpPr>
        <p:spPr>
          <a:xfrm>
            <a:off x="2760345" y="2821603"/>
            <a:ext cx="24688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10" dirty="0"/>
          </a:p>
        </p:txBody>
      </p:sp>
      <p:sp>
        <p:nvSpPr>
          <p:cNvPr id="43" name="Text 41"/>
          <p:cNvSpPr/>
          <p:nvPr/>
        </p:nvSpPr>
        <p:spPr>
          <a:xfrm>
            <a:off x="3046095" y="2755880"/>
            <a:ext cx="40290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53" b="1" dirty="0">
                <a:solidFill>
                  <a:srgbClr val="263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疫情影响</a:t>
            </a:r>
            <a:endParaRPr lang="en-US" sz="653" dirty="0"/>
          </a:p>
        </p:txBody>
      </p:sp>
      <p:sp>
        <p:nvSpPr>
          <p:cNvPr id="44" name="Shape 42"/>
          <p:cNvSpPr/>
          <p:nvPr/>
        </p:nvSpPr>
        <p:spPr>
          <a:xfrm>
            <a:off x="3411855" y="2770168"/>
            <a:ext cx="331470" cy="91440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/>
        </p:spPr>
      </p:sp>
      <p:sp>
        <p:nvSpPr>
          <p:cNvPr id="45" name="Text 43"/>
          <p:cNvSpPr/>
          <p:nvPr/>
        </p:nvSpPr>
        <p:spPr>
          <a:xfrm>
            <a:off x="3411855" y="2770168"/>
            <a:ext cx="388620" cy="9144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450" dirty="0"/>
          </a:p>
        </p:txBody>
      </p:sp>
      <p:sp>
        <p:nvSpPr>
          <p:cNvPr id="46" name="Text 44"/>
          <p:cNvSpPr/>
          <p:nvPr/>
        </p:nvSpPr>
        <p:spPr>
          <a:xfrm>
            <a:off x="3046095" y="2904470"/>
            <a:ext cx="2752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远程协作成为常态，线上开源活动与 Meetup 数量大幅增加，协作边界被重新定义。</a:t>
            </a:r>
            <a:endParaRPr lang="en-US" sz="563" dirty="0"/>
          </a:p>
        </p:txBody>
      </p:sp>
      <p:sp>
        <p:nvSpPr>
          <p:cNvPr id="47" name="Shape 45"/>
          <p:cNvSpPr/>
          <p:nvPr/>
        </p:nvSpPr>
        <p:spPr>
          <a:xfrm>
            <a:off x="5737860" y="2658725"/>
            <a:ext cx="304038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5715">
            <a:solidFill>
              <a:srgbClr val="E0E8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37860" y="2658725"/>
            <a:ext cx="22860" cy="56007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9" name="Shape 47"/>
          <p:cNvSpPr/>
          <p:nvPr/>
        </p:nvSpPr>
        <p:spPr>
          <a:xfrm>
            <a:off x="5857875" y="2755880"/>
            <a:ext cx="251460" cy="251460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E3F2FD"/>
              </a:gs>
              <a:gs pos="100000">
                <a:srgbClr val="E0F7FA"/>
              </a:gs>
            </a:gsLst>
            <a:lin ang="2700000" scaled="0"/>
          </a:gradFill>
          <a:ln/>
        </p:spPr>
      </p:sp>
      <p:sp>
        <p:nvSpPr>
          <p:cNvPr id="50" name="Text 48"/>
          <p:cNvSpPr/>
          <p:nvPr/>
        </p:nvSpPr>
        <p:spPr>
          <a:xfrm>
            <a:off x="5915025" y="2821603"/>
            <a:ext cx="24688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10" dirty="0"/>
          </a:p>
        </p:txBody>
      </p:sp>
      <p:sp>
        <p:nvSpPr>
          <p:cNvPr id="51" name="Text 49"/>
          <p:cNvSpPr/>
          <p:nvPr/>
        </p:nvSpPr>
        <p:spPr>
          <a:xfrm>
            <a:off x="6200775" y="2755880"/>
            <a:ext cx="40290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53" b="1" dirty="0">
                <a:solidFill>
                  <a:srgbClr val="263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企业态度</a:t>
            </a:r>
            <a:endParaRPr lang="en-US" sz="653" dirty="0"/>
          </a:p>
        </p:txBody>
      </p:sp>
      <p:sp>
        <p:nvSpPr>
          <p:cNvPr id="52" name="Shape 50"/>
          <p:cNvSpPr/>
          <p:nvPr/>
        </p:nvSpPr>
        <p:spPr>
          <a:xfrm>
            <a:off x="6566535" y="2770168"/>
            <a:ext cx="480060" cy="91440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/>
        </p:spPr>
      </p:sp>
      <p:sp>
        <p:nvSpPr>
          <p:cNvPr id="53" name="Text 51"/>
          <p:cNvSpPr/>
          <p:nvPr/>
        </p:nvSpPr>
        <p:spPr>
          <a:xfrm>
            <a:off x="6566535" y="2770168"/>
            <a:ext cx="537667" cy="9144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450" dirty="0"/>
          </a:p>
        </p:txBody>
      </p:sp>
      <p:sp>
        <p:nvSpPr>
          <p:cNvPr id="54" name="Text 52"/>
          <p:cNvSpPr/>
          <p:nvPr/>
        </p:nvSpPr>
        <p:spPr>
          <a:xfrm>
            <a:off x="6200775" y="2904470"/>
            <a:ext cx="2752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更多企业将开源纳入核心战略，加大对外贡献力度，开源已成为技术竞争的关键赛道。</a:t>
            </a:r>
            <a:endParaRPr lang="en-US" sz="563" dirty="0"/>
          </a:p>
        </p:txBody>
      </p:sp>
      <p:sp>
        <p:nvSpPr>
          <p:cNvPr id="55" name="Shape 53"/>
          <p:cNvSpPr/>
          <p:nvPr/>
        </p:nvSpPr>
        <p:spPr>
          <a:xfrm>
            <a:off x="365760" y="4869180"/>
            <a:ext cx="3569018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E0E8EE"/>
              </a:gs>
              <a:gs pos="80000">
                <a:srgbClr val="E0E8EE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6" name="Shape 54"/>
          <p:cNvSpPr/>
          <p:nvPr/>
        </p:nvSpPr>
        <p:spPr>
          <a:xfrm>
            <a:off x="4049078" y="4854893"/>
            <a:ext cx="34290" cy="3429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57" name="Text 55"/>
          <p:cNvSpPr/>
          <p:nvPr/>
        </p:nvSpPr>
        <p:spPr>
          <a:xfrm>
            <a:off x="4151948" y="4817745"/>
            <a:ext cx="94091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展望未来 · 携手同行</a:t>
            </a:r>
            <a:endParaRPr lang="en-US" sz="585" dirty="0"/>
          </a:p>
        </p:txBody>
      </p:sp>
      <p:sp>
        <p:nvSpPr>
          <p:cNvPr id="58" name="Shape 56"/>
          <p:cNvSpPr/>
          <p:nvPr/>
        </p:nvSpPr>
        <p:spPr>
          <a:xfrm>
            <a:off x="5060633" y="4854893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59" name="Shape 57"/>
          <p:cNvSpPr/>
          <p:nvPr/>
        </p:nvSpPr>
        <p:spPr>
          <a:xfrm>
            <a:off x="5209223" y="4869180"/>
            <a:ext cx="3569018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E0E8EE"/>
              </a:gs>
              <a:gs pos="80000">
                <a:srgbClr val="E0E8EE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718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01600" dist="50800" dir="16200000">
              <a:srgbClr val="00BCD4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74320"/>
            <a:ext cx="199705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ANNUAL REVIEW · 2020</a:t>
            </a:r>
            <a:endParaRPr lang="en-US" sz="585" dirty="0"/>
          </a:p>
        </p:txBody>
      </p:sp>
      <p:sp>
        <p:nvSpPr>
          <p:cNvPr id="4" name="Text 2"/>
          <p:cNvSpPr/>
          <p:nvPr/>
        </p:nvSpPr>
        <p:spPr>
          <a:xfrm>
            <a:off x="365760" y="422910"/>
            <a:ext cx="6720840" cy="289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80" b="1" spc="45" kern="0" dirty="0">
                <a:solidFill>
                  <a:srgbClr val="1A2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 开源大事记</a:t>
            </a:r>
            <a:endParaRPr lang="en-US" sz="1980" dirty="0"/>
          </a:p>
        </p:txBody>
      </p:sp>
      <p:sp>
        <p:nvSpPr>
          <p:cNvPr id="5" name="Shape 3"/>
          <p:cNvSpPr/>
          <p:nvPr/>
        </p:nvSpPr>
        <p:spPr>
          <a:xfrm>
            <a:off x="365760" y="485775"/>
            <a:ext cx="34290" cy="2057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365760" y="792063"/>
            <a:ext cx="6720840" cy="295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4A60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 年开源世界发生了诸多标志性事件，从 GitHub 年度盛典到主流语言版本迭代，从云原生基础设施的成熟到新兴语言的崛起，中文社区也在这一年迈出了坚实的一步，鸿蒙等项目的开源发布标志着中国开源力量进入新阶段。</a:t>
            </a:r>
            <a:endParaRPr lang="en-US" sz="630" dirty="0"/>
          </a:p>
        </p:txBody>
      </p:sp>
      <p:sp>
        <p:nvSpPr>
          <p:cNvPr id="7" name="Text 5"/>
          <p:cNvSpPr/>
          <p:nvPr/>
        </p:nvSpPr>
        <p:spPr>
          <a:xfrm>
            <a:off x="8458200" y="285750"/>
            <a:ext cx="54864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43925" y="548640"/>
            <a:ext cx="29718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</a:t>
            </a:r>
            <a:endParaRPr lang="en-US" sz="495" dirty="0"/>
          </a:p>
        </p:txBody>
      </p:sp>
      <p:sp>
        <p:nvSpPr>
          <p:cNvPr id="9" name="Shape 7"/>
          <p:cNvSpPr/>
          <p:nvPr/>
        </p:nvSpPr>
        <p:spPr>
          <a:xfrm>
            <a:off x="365760" y="1236583"/>
            <a:ext cx="841248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4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0" name="Shape 8"/>
          <p:cNvSpPr/>
          <p:nvPr/>
        </p:nvSpPr>
        <p:spPr>
          <a:xfrm>
            <a:off x="365760" y="1368028"/>
            <a:ext cx="2944297" cy="1550551"/>
          </a:xfrm>
          <a:prstGeom prst="roundRect">
            <a:avLst>
              <a:gd name="adj" fmla="val 5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16200000">
              <a:srgbClr val="2196F3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368028"/>
            <a:ext cx="28575" cy="1550548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2" name="Shape 10"/>
          <p:cNvSpPr/>
          <p:nvPr/>
        </p:nvSpPr>
        <p:spPr>
          <a:xfrm>
            <a:off x="514350" y="1728430"/>
            <a:ext cx="251460" cy="251460"/>
          </a:xfrm>
          <a:prstGeom prst="roundRect">
            <a:avLst>
              <a:gd name="adj" fmla="val 27273"/>
            </a:avLst>
          </a:prstGeom>
          <a:solidFill>
            <a:srgbClr val="2196F3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14350" y="1728430"/>
            <a:ext cx="377190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990" dirty="0"/>
          </a:p>
        </p:txBody>
      </p:sp>
      <p:sp>
        <p:nvSpPr>
          <p:cNvPr id="14" name="Text 12"/>
          <p:cNvSpPr/>
          <p:nvPr/>
        </p:nvSpPr>
        <p:spPr>
          <a:xfrm>
            <a:off x="514350" y="2059900"/>
            <a:ext cx="296477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USERS</a:t>
            </a:r>
            <a:endParaRPr lang="en-US" sz="540" dirty="0"/>
          </a:p>
        </p:txBody>
      </p:sp>
      <p:sp>
        <p:nvSpPr>
          <p:cNvPr id="15" name="Text 13"/>
          <p:cNvSpPr/>
          <p:nvPr/>
        </p:nvSpPr>
        <p:spPr>
          <a:xfrm>
            <a:off x="514350" y="2179915"/>
            <a:ext cx="2964771" cy="213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30" b="1" spc="23" kern="0" dirty="0">
                <a:solidFill>
                  <a:srgbClr val="1A2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1000</a:t>
            </a:r>
            <a:pPr algn="l" indent="0" marL="0">
              <a:lnSpc>
                <a:spcPct val="110000"/>
              </a:lnSpc>
              <a:buNone/>
            </a:pPr>
            <a:r>
              <a:rPr lang="en-US" sz="81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万</a:t>
            </a:r>
            <a:pPr algn="l" indent="0" marL="0">
              <a:lnSpc>
                <a:spcPct val="110000"/>
              </a:lnSpc>
              <a:buNone/>
            </a:pPr>
            <a:r>
              <a:rPr lang="en-US" sz="108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514350" y="2450753"/>
            <a:ext cx="2964771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4A60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平台活跃度创纪录，全球开发者汇聚，代码协作规模再创新高。</a:t>
            </a:r>
            <a:endParaRPr lang="en-US" sz="585" dirty="0"/>
          </a:p>
        </p:txBody>
      </p:sp>
      <p:sp>
        <p:nvSpPr>
          <p:cNvPr id="17" name="Shape 15"/>
          <p:cNvSpPr/>
          <p:nvPr/>
        </p:nvSpPr>
        <p:spPr>
          <a:xfrm>
            <a:off x="2852857" y="2461379"/>
            <a:ext cx="628650" cy="628650"/>
          </a:xfrm>
          <a:prstGeom prst="ellipse">
            <a:avLst/>
          </a:prstGeom>
          <a:solidFill>
            <a:srgbClr val="2196F3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032879"/>
            <a:ext cx="2944297" cy="1550551"/>
          </a:xfrm>
          <a:prstGeom prst="roundRect">
            <a:avLst>
              <a:gd name="adj" fmla="val 5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16200000">
              <a:srgbClr val="2196F3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32879"/>
            <a:ext cx="28575" cy="1550548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0" name="Shape 18"/>
          <p:cNvSpPr/>
          <p:nvPr/>
        </p:nvSpPr>
        <p:spPr>
          <a:xfrm>
            <a:off x="514350" y="3393281"/>
            <a:ext cx="251460" cy="251460"/>
          </a:xfrm>
          <a:prstGeom prst="roundRect">
            <a:avLst>
              <a:gd name="adj" fmla="val 27273"/>
            </a:avLst>
          </a:prstGeom>
          <a:solidFill>
            <a:srgbClr val="00BCD4">
              <a:alpha val="1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14350" y="3393281"/>
            <a:ext cx="377190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990" dirty="0"/>
          </a:p>
        </p:txBody>
      </p:sp>
      <p:sp>
        <p:nvSpPr>
          <p:cNvPr id="22" name="Text 20"/>
          <p:cNvSpPr/>
          <p:nvPr/>
        </p:nvSpPr>
        <p:spPr>
          <a:xfrm>
            <a:off x="514350" y="3724751"/>
            <a:ext cx="296477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PROJECTS</a:t>
            </a:r>
            <a:endParaRPr lang="en-US" sz="540" dirty="0"/>
          </a:p>
        </p:txBody>
      </p:sp>
      <p:sp>
        <p:nvSpPr>
          <p:cNvPr id="23" name="Text 21"/>
          <p:cNvSpPr/>
          <p:nvPr/>
        </p:nvSpPr>
        <p:spPr>
          <a:xfrm>
            <a:off x="514350" y="3844766"/>
            <a:ext cx="2964771" cy="213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30" b="1" spc="23" kern="0" dirty="0">
                <a:solidFill>
                  <a:srgbClr val="1A2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年度</a:t>
            </a:r>
            <a:pPr algn="l" indent="0" marL="0">
              <a:lnSpc>
                <a:spcPct val="110000"/>
              </a:lnSpc>
              <a:buNone/>
            </a:pPr>
            <a:r>
              <a:rPr lang="en-US" sz="81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新高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514350" y="4115604"/>
            <a:ext cx="2964771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4A60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各平台合计新开源项目数量持续攀升，创新活力充分释放。</a:t>
            </a:r>
            <a:endParaRPr lang="en-US" sz="585" dirty="0"/>
          </a:p>
        </p:txBody>
      </p:sp>
      <p:sp>
        <p:nvSpPr>
          <p:cNvPr id="25" name="Shape 23"/>
          <p:cNvSpPr/>
          <p:nvPr/>
        </p:nvSpPr>
        <p:spPr>
          <a:xfrm>
            <a:off x="2852857" y="4126230"/>
            <a:ext cx="628650" cy="628650"/>
          </a:xfrm>
          <a:prstGeom prst="ellipse">
            <a:avLst/>
          </a:prstGeom>
          <a:solidFill>
            <a:srgbClr val="00BCD4">
              <a:alpha val="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92937" y="1368028"/>
            <a:ext cx="5468094" cy="3215402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16200000">
              <a:srgbClr val="2196F3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64387" y="1493758"/>
            <a:ext cx="5125194" cy="188595"/>
          </a:xfrm>
          <a:prstGeom prst="rect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3664387" y="1682353"/>
            <a:ext cx="5125194" cy="0"/>
          </a:xfrm>
          <a:prstGeom prst="line">
            <a:avLst/>
          </a:prstGeom>
          <a:noFill/>
          <a:ln w="5715">
            <a:solidFill>
              <a:srgbClr val="DCE7F2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664387" y="1493758"/>
            <a:ext cx="94731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1A2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年度里程碑时间轴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3664387" y="1528048"/>
            <a:ext cx="22860" cy="91440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/>
        </p:spPr>
      </p:sp>
      <p:sp>
        <p:nvSpPr>
          <p:cNvPr id="31" name="Text 29"/>
          <p:cNvSpPr/>
          <p:nvPr/>
        </p:nvSpPr>
        <p:spPr>
          <a:xfrm>
            <a:off x="7960906" y="1519476"/>
            <a:ext cx="92811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MILESTONES · 2020</a:t>
            </a:r>
            <a:endParaRPr lang="en-US" sz="540" dirty="0"/>
          </a:p>
        </p:txBody>
      </p:sp>
      <p:sp>
        <p:nvSpPr>
          <p:cNvPr id="32" name="Shape 30"/>
          <p:cNvSpPr/>
          <p:nvPr/>
        </p:nvSpPr>
        <p:spPr>
          <a:xfrm>
            <a:off x="3847267" y="1808083"/>
            <a:ext cx="11430" cy="197024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3" name="Shape 31"/>
          <p:cNvSpPr/>
          <p:nvPr/>
        </p:nvSpPr>
        <p:spPr>
          <a:xfrm>
            <a:off x="3755827" y="1728073"/>
            <a:ext cx="251460" cy="25146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755827" y="1728073"/>
            <a:ext cx="331470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30" dirty="0"/>
          </a:p>
        </p:txBody>
      </p:sp>
      <p:sp>
        <p:nvSpPr>
          <p:cNvPr id="35" name="Text 33"/>
          <p:cNvSpPr/>
          <p:nvPr/>
        </p:nvSpPr>
        <p:spPr>
          <a:xfrm>
            <a:off x="4064437" y="1728073"/>
            <a:ext cx="4744193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🏆</a:t>
            </a:r>
            <a:endParaRPr lang="en-US" sz="720" dirty="0"/>
          </a:p>
          <a:p>
            <a:pPr algn="l" indent="0" marL="0">
              <a:buNone/>
            </a:pPr>
            <a:r>
              <a:rPr lang="en-US" sz="720" b="1" dirty="0">
                <a:solidFill>
                  <a:srgbClr val="1A2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年度盛典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064437" y="1882378"/>
            <a:ext cx="2944368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4A60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年度开源项目评选揭晓，AI 与基础设施类项目表现亮眼，多个项目斩获 GitHub Stars 大奖。</a:t>
            </a:r>
            <a:endParaRPr lang="en-US" sz="563" dirty="0"/>
          </a:p>
        </p:txBody>
      </p:sp>
      <p:sp>
        <p:nvSpPr>
          <p:cNvPr id="37" name="Shape 35"/>
          <p:cNvSpPr/>
          <p:nvPr/>
        </p:nvSpPr>
        <p:spPr>
          <a:xfrm>
            <a:off x="8368903" y="1739503"/>
            <a:ext cx="420678" cy="137160"/>
          </a:xfrm>
          <a:prstGeom prst="roundRect">
            <a:avLst>
              <a:gd name="adj" fmla="val 83333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368903" y="1739503"/>
            <a:ext cx="483543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📌 年度盛典</a:t>
            </a:r>
            <a:endParaRPr lang="en-US" sz="495" dirty="0"/>
          </a:p>
        </p:txBody>
      </p:sp>
      <p:sp>
        <p:nvSpPr>
          <p:cNvPr id="39" name="Shape 37"/>
          <p:cNvSpPr/>
          <p:nvPr/>
        </p:nvSpPr>
        <p:spPr>
          <a:xfrm>
            <a:off x="3755827" y="2172414"/>
            <a:ext cx="251460" cy="25146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CD4">
                <a:alpha val="14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755827" y="2172414"/>
            <a:ext cx="331470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30" dirty="0"/>
          </a:p>
        </p:txBody>
      </p:sp>
      <p:sp>
        <p:nvSpPr>
          <p:cNvPr id="41" name="Text 39"/>
          <p:cNvSpPr/>
          <p:nvPr/>
        </p:nvSpPr>
        <p:spPr>
          <a:xfrm>
            <a:off x="4064437" y="2172414"/>
            <a:ext cx="4744193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🐹</a:t>
            </a:r>
            <a:endParaRPr lang="en-US" sz="720" dirty="0"/>
          </a:p>
          <a:p>
            <a:pPr algn="l" indent="0" marL="0">
              <a:buNone/>
            </a:pPr>
            <a:r>
              <a:rPr lang="en-US" sz="720" b="1" dirty="0">
                <a:solidFill>
                  <a:srgbClr val="1A2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Golang 1.16 发布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064437" y="2326719"/>
            <a:ext cx="2944368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4A60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语言新版本带来嵌入式文件系统与性能优化，工具链升级进一步降低工程门槛，生态持续繁荣。</a:t>
            </a:r>
            <a:endParaRPr lang="en-US" sz="563" dirty="0"/>
          </a:p>
        </p:txBody>
      </p:sp>
      <p:sp>
        <p:nvSpPr>
          <p:cNvPr id="43" name="Shape 41"/>
          <p:cNvSpPr/>
          <p:nvPr/>
        </p:nvSpPr>
        <p:spPr>
          <a:xfrm>
            <a:off x="8368903" y="2183844"/>
            <a:ext cx="420678" cy="137160"/>
          </a:xfrm>
          <a:prstGeom prst="roundRect">
            <a:avLst>
              <a:gd name="adj" fmla="val 83333"/>
            </a:avLst>
          </a:prstGeom>
          <a:solidFill>
            <a:srgbClr val="00BCD4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368903" y="2183844"/>
            <a:ext cx="483543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 语言版本</a:t>
            </a:r>
            <a:endParaRPr lang="en-US" sz="495" dirty="0"/>
          </a:p>
        </p:txBody>
      </p:sp>
      <p:sp>
        <p:nvSpPr>
          <p:cNvPr id="45" name="Shape 43"/>
          <p:cNvSpPr/>
          <p:nvPr/>
        </p:nvSpPr>
        <p:spPr>
          <a:xfrm>
            <a:off x="3755827" y="2616756"/>
            <a:ext cx="251460" cy="25146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755827" y="2616756"/>
            <a:ext cx="331470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30" dirty="0"/>
          </a:p>
        </p:txBody>
      </p:sp>
      <p:sp>
        <p:nvSpPr>
          <p:cNvPr id="47" name="Text 45"/>
          <p:cNvSpPr/>
          <p:nvPr/>
        </p:nvSpPr>
        <p:spPr>
          <a:xfrm>
            <a:off x="4064437" y="2616756"/>
            <a:ext cx="4786498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☸️</a:t>
            </a:r>
            <a:endParaRPr lang="en-US" sz="720" dirty="0"/>
          </a:p>
          <a:p>
            <a:pPr algn="l" indent="0" marL="0">
              <a:buNone/>
            </a:pPr>
            <a:r>
              <a:rPr lang="en-US" sz="720" b="1" dirty="0">
                <a:solidFill>
                  <a:srgbClr val="1A2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1.22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4064437" y="2748201"/>
            <a:ext cx="2944368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4A60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容器编排标准版本迭代，Server-Side Apply 稳定发布，声明式管理迈向工程化成熟阶段。</a:t>
            </a:r>
            <a:endParaRPr lang="en-US" sz="563" dirty="0"/>
          </a:p>
        </p:txBody>
      </p:sp>
      <p:sp>
        <p:nvSpPr>
          <p:cNvPr id="49" name="Shape 47"/>
          <p:cNvSpPr/>
          <p:nvPr/>
        </p:nvSpPr>
        <p:spPr>
          <a:xfrm>
            <a:off x="8406676" y="2628186"/>
            <a:ext cx="382905" cy="137160"/>
          </a:xfrm>
          <a:prstGeom prst="roundRect">
            <a:avLst>
              <a:gd name="adj" fmla="val 83333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406676" y="2628186"/>
            <a:ext cx="445770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☁️ 云原生</a:t>
            </a:r>
            <a:endParaRPr lang="en-US" sz="495" dirty="0"/>
          </a:p>
        </p:txBody>
      </p:sp>
      <p:sp>
        <p:nvSpPr>
          <p:cNvPr id="51" name="Shape 49"/>
          <p:cNvSpPr/>
          <p:nvPr/>
        </p:nvSpPr>
        <p:spPr>
          <a:xfrm>
            <a:off x="3755827" y="3038237"/>
            <a:ext cx="251460" cy="25146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CD4">
                <a:alpha val="14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755827" y="3038237"/>
            <a:ext cx="331470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30" dirty="0"/>
          </a:p>
        </p:txBody>
      </p:sp>
      <p:sp>
        <p:nvSpPr>
          <p:cNvPr id="53" name="Text 51"/>
          <p:cNvSpPr/>
          <p:nvPr/>
        </p:nvSpPr>
        <p:spPr>
          <a:xfrm>
            <a:off x="4064437" y="3038237"/>
            <a:ext cx="465708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🦀</a:t>
            </a:r>
            <a:endParaRPr lang="en-US" sz="720" dirty="0"/>
          </a:p>
          <a:p>
            <a:pPr algn="l" indent="0" marL="0">
              <a:buNone/>
            </a:pPr>
            <a:r>
              <a:rPr lang="en-US" sz="720" b="1" dirty="0">
                <a:solidFill>
                  <a:srgbClr val="1A2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 持续受关注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4064437" y="3192542"/>
            <a:ext cx="2944368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4A60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 语言连续多年获 Stack Overflow 开发者最喜爱编程语言殊荣，社区热情高涨、生态加速扩张。</a:t>
            </a:r>
            <a:endParaRPr lang="en-US" sz="563" dirty="0"/>
          </a:p>
        </p:txBody>
      </p:sp>
      <p:sp>
        <p:nvSpPr>
          <p:cNvPr id="55" name="Shape 53"/>
          <p:cNvSpPr/>
          <p:nvPr/>
        </p:nvSpPr>
        <p:spPr>
          <a:xfrm>
            <a:off x="8291126" y="3049667"/>
            <a:ext cx="498455" cy="137160"/>
          </a:xfrm>
          <a:prstGeom prst="roundRect">
            <a:avLst>
              <a:gd name="adj" fmla="val 83333"/>
            </a:avLst>
          </a:prstGeom>
          <a:solidFill>
            <a:srgbClr val="00BCD4">
              <a:alpha val="12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291126" y="3049667"/>
            <a:ext cx="561320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❤️ 开发者之选</a:t>
            </a:r>
            <a:endParaRPr lang="en-US" sz="495" dirty="0"/>
          </a:p>
        </p:txBody>
      </p:sp>
      <p:sp>
        <p:nvSpPr>
          <p:cNvPr id="57" name="Shape 55"/>
          <p:cNvSpPr/>
          <p:nvPr/>
        </p:nvSpPr>
        <p:spPr>
          <a:xfrm>
            <a:off x="3755827" y="3482578"/>
            <a:ext cx="251460" cy="25146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755827" y="3482578"/>
            <a:ext cx="331470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630" dirty="0"/>
          </a:p>
        </p:txBody>
      </p:sp>
      <p:sp>
        <p:nvSpPr>
          <p:cNvPr id="59" name="Text 57"/>
          <p:cNvSpPr/>
          <p:nvPr/>
        </p:nvSpPr>
        <p:spPr>
          <a:xfrm>
            <a:off x="4064437" y="3482578"/>
            <a:ext cx="470198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🌏</a:t>
            </a:r>
            <a:endParaRPr lang="en-US" sz="720" dirty="0"/>
          </a:p>
          <a:p>
            <a:pPr algn="l" indent="0" marL="0">
              <a:buNone/>
            </a:pPr>
            <a:r>
              <a:rPr lang="en-US" sz="720" b="1" dirty="0">
                <a:solidFill>
                  <a:srgbClr val="1A2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中文开源项目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4064437" y="3636883"/>
            <a:ext cx="2944368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4A60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Gitee 等平台推动中文项目数量激增，鸿蒙开源成为年度焦点，中国开源力量进入新阶段。</a:t>
            </a:r>
            <a:endParaRPr lang="en-US" sz="563" dirty="0"/>
          </a:p>
        </p:txBody>
      </p:sp>
      <p:sp>
        <p:nvSpPr>
          <p:cNvPr id="61" name="Shape 59"/>
          <p:cNvSpPr/>
          <p:nvPr/>
        </p:nvSpPr>
        <p:spPr>
          <a:xfrm>
            <a:off x="8331220" y="3494008"/>
            <a:ext cx="458361" cy="137160"/>
          </a:xfrm>
          <a:prstGeom prst="roundRect">
            <a:avLst>
              <a:gd name="adj" fmla="val 83333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8331220" y="3494008"/>
            <a:ext cx="521226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🇨🇳 中文社区</a:t>
            </a:r>
            <a:endParaRPr lang="en-US" sz="495" dirty="0"/>
          </a:p>
        </p:txBody>
      </p:sp>
      <p:sp>
        <p:nvSpPr>
          <p:cNvPr id="63" name="Shape 61"/>
          <p:cNvSpPr/>
          <p:nvPr/>
        </p:nvSpPr>
        <p:spPr>
          <a:xfrm>
            <a:off x="365760" y="4663440"/>
            <a:ext cx="8412480" cy="297180"/>
          </a:xfrm>
          <a:prstGeom prst="roundRect">
            <a:avLst>
              <a:gd name="adj" fmla="val 23077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6000"/>
                </a:srgbClr>
              </a:gs>
            </a:gsLst>
            <a:lin ang="0" scaled="0"/>
          </a:gradFill>
          <a:ln/>
        </p:spPr>
      </p:sp>
      <p:sp>
        <p:nvSpPr>
          <p:cNvPr id="64" name="Shape 62"/>
          <p:cNvSpPr/>
          <p:nvPr/>
        </p:nvSpPr>
        <p:spPr>
          <a:xfrm>
            <a:off x="365760" y="4663440"/>
            <a:ext cx="0" cy="297180"/>
          </a:xfrm>
          <a:prstGeom prst="line">
            <a:avLst/>
          </a:prstGeom>
          <a:noFill/>
          <a:ln w="22860">
            <a:solidFill>
              <a:srgbClr val="2196F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4350" y="4743450"/>
            <a:ext cx="190743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pPr algn="l" indent="0" marL="0">
              <a:buNone/>
            </a:pPr>
            <a:r>
              <a:rPr lang="en-US" sz="653" b="1" spc="23" kern="0" dirty="0">
                <a:solidFill>
                  <a:srgbClr val="1A2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开源世界的每一步，都在为下一年蓄力。</a:t>
            </a:r>
            <a:pPr algn="l" indent="0" marL="0">
              <a:buNone/>
            </a:pPr>
            <a:r>
              <a:rPr lang="en-US" sz="90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653" dirty="0"/>
          </a:p>
        </p:txBody>
      </p:sp>
      <p:sp>
        <p:nvSpPr>
          <p:cNvPr id="66" name="Shape 64"/>
          <p:cNvSpPr/>
          <p:nvPr/>
        </p:nvSpPr>
        <p:spPr>
          <a:xfrm>
            <a:off x="7326630" y="4789170"/>
            <a:ext cx="45720" cy="45720"/>
          </a:xfrm>
          <a:prstGeom prst="roundRect">
            <a:avLst>
              <a:gd name="adj" fmla="val 25000"/>
            </a:avLst>
          </a:prstGeom>
          <a:solidFill>
            <a:srgbClr val="2196F3"/>
          </a:solidFill>
          <a:ln/>
        </p:spPr>
      </p:sp>
      <p:sp>
        <p:nvSpPr>
          <p:cNvPr id="67" name="Text 65"/>
          <p:cNvSpPr/>
          <p:nvPr/>
        </p:nvSpPr>
        <p:spPr>
          <a:xfrm>
            <a:off x="7429500" y="4772025"/>
            <a:ext cx="136977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2020 ANNUAL</a:t>
            </a:r>
            <a:endParaRPr lang="en-US" sz="49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3F2FD"/>
              </a:gs>
              <a:gs pos="40000">
                <a:srgbClr val="F0F6FB"/>
              </a:gs>
              <a:gs pos="100000">
                <a:srgbClr val="E0F7FA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42900" y="285750"/>
            <a:ext cx="34290" cy="2400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480060" y="274320"/>
            <a:ext cx="1314450" cy="2628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440" b="1" spc="45" kern="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社区活跃画像</a:t>
            </a:r>
            <a:endParaRPr lang="en-US" sz="1440" dirty="0"/>
          </a:p>
        </p:txBody>
      </p:sp>
      <p:sp>
        <p:nvSpPr>
          <p:cNvPr id="5" name="Shape 3"/>
          <p:cNvSpPr/>
          <p:nvPr/>
        </p:nvSpPr>
        <p:spPr>
          <a:xfrm>
            <a:off x="7715250" y="305753"/>
            <a:ext cx="1085850" cy="200025"/>
          </a:xfrm>
          <a:prstGeom prst="roundRect">
            <a:avLst>
              <a:gd name="adj" fmla="val 5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16200000">
              <a:srgbClr val="2196F3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06690" y="382905"/>
            <a:ext cx="45720" cy="4572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7" name="Text 5"/>
          <p:cNvSpPr/>
          <p:nvPr/>
        </p:nvSpPr>
        <p:spPr>
          <a:xfrm>
            <a:off x="7909560" y="351473"/>
            <a:ext cx="89611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 年度开源生态全景</a:t>
            </a:r>
            <a:endParaRPr lang="en-US" sz="585" dirty="0"/>
          </a:p>
        </p:txBody>
      </p:sp>
      <p:sp>
        <p:nvSpPr>
          <p:cNvPr id="8" name="Shape 6"/>
          <p:cNvSpPr/>
          <p:nvPr/>
        </p:nvSpPr>
        <p:spPr>
          <a:xfrm>
            <a:off x="342900" y="697230"/>
            <a:ext cx="4166235" cy="1840230"/>
          </a:xfrm>
          <a:prstGeom prst="roundRect">
            <a:avLst>
              <a:gd name="adj" fmla="val 4969"/>
            </a:avLst>
          </a:prstGeom>
          <a:solidFill>
            <a:srgbClr val="FFFFFF"/>
          </a:solidFill>
          <a:ln w="5715">
            <a:solidFill>
              <a:srgbClr val="2196F3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76200" dir="16200000">
              <a:srgbClr val="2196F3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8615" y="702945"/>
            <a:ext cx="4154805" cy="2857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0" name="Shape 8"/>
          <p:cNvSpPr/>
          <p:nvPr/>
        </p:nvSpPr>
        <p:spPr>
          <a:xfrm>
            <a:off x="508635" y="885825"/>
            <a:ext cx="365760" cy="365760"/>
          </a:xfrm>
          <a:prstGeom prst="roundRect">
            <a:avLst>
              <a:gd name="adj" fmla="val 21875"/>
            </a:avLst>
          </a:prstGeom>
          <a:gradFill rotWithShape="1">
            <a:gsLst>
              <a:gs pos="0">
                <a:srgbClr val="E3F2FD"/>
              </a:gs>
              <a:gs pos="100000">
                <a:srgbClr val="BBDEFB"/>
              </a:gs>
            </a:gsLst>
            <a:lin ang="2700000" scaled="0"/>
          </a:gra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971550"/>
            <a:ext cx="194310" cy="19431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88695" y="885825"/>
            <a:ext cx="68580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贡献者增长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617345" y="905828"/>
            <a:ext cx="460058" cy="125730"/>
          </a:xfrm>
          <a:prstGeom prst="roundRect">
            <a:avLst>
              <a:gd name="adj" fmla="val 45455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617345" y="905828"/>
            <a:ext cx="522923" cy="125730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同比 +68%</a:t>
            </a:r>
            <a:endParaRPr lang="en-US" sz="495" dirty="0"/>
          </a:p>
        </p:txBody>
      </p:sp>
      <p:sp>
        <p:nvSpPr>
          <p:cNvPr id="15" name="Text 12"/>
          <p:cNvSpPr/>
          <p:nvPr/>
        </p:nvSpPr>
        <p:spPr>
          <a:xfrm>
            <a:off x="988695" y="1108710"/>
            <a:ext cx="3757270" cy="280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新增活跃贡献者数量同比大幅提升，新人入门门槛持续降低，开源生态正以更快的节奏吸引来自各行各业的开发力量加入。</a:t>
            </a:r>
            <a:endParaRPr lang="en-US" sz="630" dirty="0"/>
          </a:p>
        </p:txBody>
      </p:sp>
      <p:sp>
        <p:nvSpPr>
          <p:cNvPr id="16" name="Shape 13"/>
          <p:cNvSpPr/>
          <p:nvPr/>
        </p:nvSpPr>
        <p:spPr>
          <a:xfrm>
            <a:off x="508635" y="1468755"/>
            <a:ext cx="3834765" cy="222885"/>
          </a:xfrm>
          <a:prstGeom prst="rect">
            <a:avLst/>
          </a:prstGeom>
          <a:noFill/>
          <a:ln/>
        </p:spPr>
      </p:sp>
      <p:sp>
        <p:nvSpPr>
          <p:cNvPr id="17" name="Shape 14"/>
          <p:cNvSpPr/>
          <p:nvPr/>
        </p:nvSpPr>
        <p:spPr>
          <a:xfrm>
            <a:off x="508635" y="1468755"/>
            <a:ext cx="3834765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08635" y="1557338"/>
            <a:ext cx="43434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520K+</a:t>
            </a:r>
            <a:endParaRPr lang="en-US" sz="810" dirty="0"/>
          </a:p>
        </p:txBody>
      </p:sp>
      <p:sp>
        <p:nvSpPr>
          <p:cNvPr id="19" name="Text 16"/>
          <p:cNvSpPr/>
          <p:nvPr/>
        </p:nvSpPr>
        <p:spPr>
          <a:xfrm>
            <a:off x="868680" y="1574483"/>
            <a:ext cx="41148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新增贡献者</a:t>
            </a:r>
            <a:endParaRPr lang="en-US" sz="540" dirty="0"/>
          </a:p>
        </p:txBody>
      </p:sp>
      <p:sp>
        <p:nvSpPr>
          <p:cNvPr id="20" name="Shape 17"/>
          <p:cNvSpPr/>
          <p:nvPr/>
        </p:nvSpPr>
        <p:spPr>
          <a:xfrm>
            <a:off x="1314450" y="1565910"/>
            <a:ext cx="5715" cy="102870"/>
          </a:xfrm>
          <a:prstGeom prst="rect">
            <a:avLst/>
          </a:prstGeom>
          <a:solidFill>
            <a:srgbClr val="607D8B">
              <a:alpha val="2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1423035" y="1557338"/>
            <a:ext cx="39090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130+</a:t>
            </a:r>
            <a:endParaRPr lang="en-US" sz="810" dirty="0"/>
          </a:p>
        </p:txBody>
      </p:sp>
      <p:sp>
        <p:nvSpPr>
          <p:cNvPr id="22" name="Text 19"/>
          <p:cNvSpPr/>
          <p:nvPr/>
        </p:nvSpPr>
        <p:spPr>
          <a:xfrm>
            <a:off x="1703070" y="1574483"/>
            <a:ext cx="50292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覆盖国家/地区</a:t>
            </a:r>
            <a:endParaRPr lang="en-US" sz="540" dirty="0"/>
          </a:p>
        </p:txBody>
      </p:sp>
      <p:sp>
        <p:nvSpPr>
          <p:cNvPr id="23" name="Shape 20"/>
          <p:cNvSpPr/>
          <p:nvPr/>
        </p:nvSpPr>
        <p:spPr>
          <a:xfrm>
            <a:off x="2240280" y="1565910"/>
            <a:ext cx="5715" cy="102870"/>
          </a:xfrm>
          <a:prstGeom prst="rect">
            <a:avLst/>
          </a:prstGeom>
          <a:solidFill>
            <a:srgbClr val="607D8B">
              <a:alpha val="2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2348865" y="1543050"/>
            <a:ext cx="42291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门槛</a:t>
            </a:r>
            <a:endParaRPr lang="en-US" sz="810" dirty="0"/>
          </a:p>
        </p:txBody>
      </p:sp>
      <p:sp>
        <p:nvSpPr>
          <p:cNvPr id="25" name="Text 22"/>
          <p:cNvSpPr/>
          <p:nvPr/>
        </p:nvSpPr>
        <p:spPr>
          <a:xfrm>
            <a:off x="2697480" y="1583055"/>
            <a:ext cx="54864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新人友好度提升</a:t>
            </a:r>
            <a:endParaRPr lang="en-US" sz="540" dirty="0"/>
          </a:p>
        </p:txBody>
      </p:sp>
      <p:sp>
        <p:nvSpPr>
          <p:cNvPr id="26" name="Shape 23"/>
          <p:cNvSpPr/>
          <p:nvPr/>
        </p:nvSpPr>
        <p:spPr>
          <a:xfrm>
            <a:off x="4634865" y="697230"/>
            <a:ext cx="4166235" cy="1840230"/>
          </a:xfrm>
          <a:prstGeom prst="roundRect">
            <a:avLst>
              <a:gd name="adj" fmla="val 4969"/>
            </a:avLst>
          </a:prstGeom>
          <a:solidFill>
            <a:srgbClr val="FFFFFF"/>
          </a:solidFill>
          <a:ln w="5715">
            <a:solidFill>
              <a:srgbClr val="2196F3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76200" dir="16200000">
              <a:srgbClr val="2196F3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40580" y="702945"/>
            <a:ext cx="4154805" cy="2857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8" name="Shape 25"/>
          <p:cNvSpPr/>
          <p:nvPr/>
        </p:nvSpPr>
        <p:spPr>
          <a:xfrm>
            <a:off x="4800600" y="885825"/>
            <a:ext cx="365760" cy="365760"/>
          </a:xfrm>
          <a:prstGeom prst="roundRect">
            <a:avLst>
              <a:gd name="adj" fmla="val 21875"/>
            </a:avLst>
          </a:prstGeom>
          <a:gradFill rotWithShape="1">
            <a:gsLst>
              <a:gs pos="0">
                <a:srgbClr val="E0F7FA"/>
              </a:gs>
              <a:gs pos="100000">
                <a:srgbClr val="B2EBF2"/>
              </a:gs>
            </a:gsLst>
            <a:lin ang="2700000" scaled="0"/>
          </a:gra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6325" y="971550"/>
            <a:ext cx="194310" cy="19431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280660" y="885825"/>
            <a:ext cx="73152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与 Issue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955030" y="905828"/>
            <a:ext cx="377190" cy="125730"/>
          </a:xfrm>
          <a:prstGeom prst="roundRect">
            <a:avLst>
              <a:gd name="adj" fmla="val 45455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5955030" y="905828"/>
            <a:ext cx="440055" cy="125730"/>
          </a:xfrm>
          <a:prstGeom prst="rect">
            <a:avLst/>
          </a:prstGeom>
          <a:noFill/>
          <a:ln/>
        </p:spPr>
        <p:txBody>
          <a:bodyPr wrap="non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历史新高</a:t>
            </a:r>
            <a:endParaRPr lang="en-US" sz="495" dirty="0"/>
          </a:p>
        </p:txBody>
      </p:sp>
      <p:sp>
        <p:nvSpPr>
          <p:cNvPr id="33" name="Text 29"/>
          <p:cNvSpPr/>
          <p:nvPr/>
        </p:nvSpPr>
        <p:spPr>
          <a:xfrm>
            <a:off x="5280660" y="1108710"/>
            <a:ext cx="3757270" cy="280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 PR 提交量与 Issue 讨论量双双创新高，开发者之间的代码协作与问题反馈更加频繁，社区互动氛围空前活跃。</a:t>
            </a:r>
            <a:endParaRPr lang="en-US" sz="630" dirty="0"/>
          </a:p>
        </p:txBody>
      </p:sp>
      <p:sp>
        <p:nvSpPr>
          <p:cNvPr id="34" name="Shape 30"/>
          <p:cNvSpPr/>
          <p:nvPr/>
        </p:nvSpPr>
        <p:spPr>
          <a:xfrm>
            <a:off x="4800600" y="1468755"/>
            <a:ext cx="3834765" cy="194310"/>
          </a:xfrm>
          <a:prstGeom prst="rect">
            <a:avLst/>
          </a:prstGeom>
          <a:noFill/>
          <a:ln/>
        </p:spPr>
      </p:sp>
      <p:sp>
        <p:nvSpPr>
          <p:cNvPr id="35" name="Shape 31"/>
          <p:cNvSpPr/>
          <p:nvPr/>
        </p:nvSpPr>
        <p:spPr>
          <a:xfrm>
            <a:off x="4800600" y="1468755"/>
            <a:ext cx="3834765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dash"/>
          </a:ln>
        </p:spPr>
      </p:sp>
      <p:sp>
        <p:nvSpPr>
          <p:cNvPr id="36" name="Text 32"/>
          <p:cNvSpPr/>
          <p:nvPr/>
        </p:nvSpPr>
        <p:spPr>
          <a:xfrm>
            <a:off x="4800600" y="1543050"/>
            <a:ext cx="39090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3.2M</a:t>
            </a:r>
            <a:endParaRPr lang="en-US" sz="810" dirty="0"/>
          </a:p>
        </p:txBody>
      </p:sp>
      <p:sp>
        <p:nvSpPr>
          <p:cNvPr id="37" name="Text 33"/>
          <p:cNvSpPr/>
          <p:nvPr/>
        </p:nvSpPr>
        <p:spPr>
          <a:xfrm>
            <a:off x="5092065" y="1560195"/>
            <a:ext cx="38290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提交量</a:t>
            </a:r>
            <a:endParaRPr lang="en-US" sz="540" dirty="0"/>
          </a:p>
        </p:txBody>
      </p:sp>
      <p:sp>
        <p:nvSpPr>
          <p:cNvPr id="38" name="Shape 34"/>
          <p:cNvSpPr/>
          <p:nvPr/>
        </p:nvSpPr>
        <p:spPr>
          <a:xfrm>
            <a:off x="5509260" y="1551623"/>
            <a:ext cx="5715" cy="102870"/>
          </a:xfrm>
          <a:prstGeom prst="rect">
            <a:avLst/>
          </a:prstGeom>
          <a:solidFill>
            <a:srgbClr val="607D8B">
              <a:alpha val="20000"/>
            </a:srgbClr>
          </a:solidFill>
          <a:ln/>
        </p:spPr>
      </p:sp>
      <p:sp>
        <p:nvSpPr>
          <p:cNvPr id="39" name="Text 35"/>
          <p:cNvSpPr/>
          <p:nvPr/>
        </p:nvSpPr>
        <p:spPr>
          <a:xfrm>
            <a:off x="5617845" y="1543050"/>
            <a:ext cx="38862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11.5M</a:t>
            </a:r>
            <a:endParaRPr lang="en-US" sz="810" dirty="0"/>
          </a:p>
        </p:txBody>
      </p:sp>
      <p:sp>
        <p:nvSpPr>
          <p:cNvPr id="40" name="Text 36"/>
          <p:cNvSpPr/>
          <p:nvPr/>
        </p:nvSpPr>
        <p:spPr>
          <a:xfrm>
            <a:off x="5932170" y="1560195"/>
            <a:ext cx="45720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讨论量</a:t>
            </a:r>
            <a:endParaRPr lang="en-US" sz="540" dirty="0"/>
          </a:p>
        </p:txBody>
      </p:sp>
      <p:sp>
        <p:nvSpPr>
          <p:cNvPr id="41" name="Shape 37"/>
          <p:cNvSpPr/>
          <p:nvPr/>
        </p:nvSpPr>
        <p:spPr>
          <a:xfrm>
            <a:off x="6423660" y="1551623"/>
            <a:ext cx="5715" cy="102870"/>
          </a:xfrm>
          <a:prstGeom prst="rect">
            <a:avLst/>
          </a:prstGeom>
          <a:solidFill>
            <a:srgbClr val="607D8B">
              <a:alpha val="20000"/>
            </a:srgbClr>
          </a:solidFill>
          <a:ln/>
        </p:spPr>
      </p:sp>
      <p:sp>
        <p:nvSpPr>
          <p:cNvPr id="42" name="Text 38"/>
          <p:cNvSpPr/>
          <p:nvPr/>
        </p:nvSpPr>
        <p:spPr>
          <a:xfrm>
            <a:off x="6532245" y="1543050"/>
            <a:ext cx="45148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35%</a:t>
            </a:r>
            <a:endParaRPr lang="en-US" sz="810" dirty="0"/>
          </a:p>
        </p:txBody>
      </p:sp>
      <p:sp>
        <p:nvSpPr>
          <p:cNvPr id="43" name="Text 39"/>
          <p:cNvSpPr/>
          <p:nvPr/>
        </p:nvSpPr>
        <p:spPr>
          <a:xfrm>
            <a:off x="6909435" y="1560195"/>
            <a:ext cx="4800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日均互动增长</a:t>
            </a:r>
            <a:endParaRPr lang="en-US" sz="540" dirty="0"/>
          </a:p>
        </p:txBody>
      </p:sp>
      <p:sp>
        <p:nvSpPr>
          <p:cNvPr id="44" name="Shape 40"/>
          <p:cNvSpPr/>
          <p:nvPr/>
        </p:nvSpPr>
        <p:spPr>
          <a:xfrm>
            <a:off x="342900" y="2663190"/>
            <a:ext cx="4166235" cy="1840230"/>
          </a:xfrm>
          <a:prstGeom prst="roundRect">
            <a:avLst>
              <a:gd name="adj" fmla="val 4969"/>
            </a:avLst>
          </a:prstGeom>
          <a:solidFill>
            <a:srgbClr val="FFFFFF"/>
          </a:solidFill>
          <a:ln w="5715">
            <a:solidFill>
              <a:srgbClr val="2196F3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76200" dir="16200000">
              <a:srgbClr val="2196F3">
                <a:alpha val="10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348615" y="2668905"/>
            <a:ext cx="4154805" cy="2857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6" name="Shape 42"/>
          <p:cNvSpPr/>
          <p:nvPr/>
        </p:nvSpPr>
        <p:spPr>
          <a:xfrm>
            <a:off x="508635" y="2851785"/>
            <a:ext cx="365760" cy="365760"/>
          </a:xfrm>
          <a:prstGeom prst="roundRect">
            <a:avLst>
              <a:gd name="adj" fmla="val 21875"/>
            </a:avLst>
          </a:prstGeom>
          <a:gradFill rotWithShape="1">
            <a:gsLst>
              <a:gs pos="0">
                <a:srgbClr val="FCE4EC"/>
              </a:gs>
              <a:gs pos="100000">
                <a:srgbClr val="F8BBD0"/>
              </a:gs>
            </a:gsLst>
            <a:lin ang="2700000" scaled="0"/>
          </a:gradFill>
          <a:ln/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" y="2937510"/>
            <a:ext cx="194310" cy="194310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988695" y="2851785"/>
            <a:ext cx="68580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女性开发者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1617345" y="2871788"/>
            <a:ext cx="485775" cy="125730"/>
          </a:xfrm>
          <a:prstGeom prst="roundRect">
            <a:avLst>
              <a:gd name="adj" fmla="val 45455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50" name="Text 45"/>
          <p:cNvSpPr/>
          <p:nvPr/>
        </p:nvSpPr>
        <p:spPr>
          <a:xfrm>
            <a:off x="1617345" y="2871788"/>
            <a:ext cx="548640" cy="125730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+5.2 百分点</a:t>
            </a:r>
            <a:endParaRPr lang="en-US" sz="495" dirty="0"/>
          </a:p>
        </p:txBody>
      </p:sp>
      <p:sp>
        <p:nvSpPr>
          <p:cNvPr id="51" name="Text 46"/>
          <p:cNvSpPr/>
          <p:nvPr/>
        </p:nvSpPr>
        <p:spPr>
          <a:xfrm>
            <a:off x="988695" y="3074670"/>
            <a:ext cx="3757270" cy="280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女性开源贡献者比例有所提升，社区多样性倡议取得初步成效，越来越多的女性开发者在关键项目中担任维护者与技术领导者。</a:t>
            </a:r>
            <a:endParaRPr lang="en-US" sz="630" dirty="0"/>
          </a:p>
        </p:txBody>
      </p:sp>
      <p:sp>
        <p:nvSpPr>
          <p:cNvPr id="52" name="Shape 47"/>
          <p:cNvSpPr/>
          <p:nvPr/>
        </p:nvSpPr>
        <p:spPr>
          <a:xfrm>
            <a:off x="508635" y="3434715"/>
            <a:ext cx="3834765" cy="222885"/>
          </a:xfrm>
          <a:prstGeom prst="rect">
            <a:avLst/>
          </a:prstGeom>
          <a:noFill/>
          <a:ln/>
        </p:spPr>
      </p:sp>
      <p:sp>
        <p:nvSpPr>
          <p:cNvPr id="53" name="Shape 48"/>
          <p:cNvSpPr/>
          <p:nvPr/>
        </p:nvSpPr>
        <p:spPr>
          <a:xfrm>
            <a:off x="508635" y="3434715"/>
            <a:ext cx="3834765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dash"/>
          </a:ln>
        </p:spPr>
      </p:sp>
      <p:sp>
        <p:nvSpPr>
          <p:cNvPr id="54" name="Text 49"/>
          <p:cNvSpPr/>
          <p:nvPr/>
        </p:nvSpPr>
        <p:spPr>
          <a:xfrm>
            <a:off x="508635" y="3523298"/>
            <a:ext cx="41148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14.8%</a:t>
            </a:r>
            <a:endParaRPr lang="en-US" sz="810" dirty="0"/>
          </a:p>
        </p:txBody>
      </p:sp>
      <p:sp>
        <p:nvSpPr>
          <p:cNvPr id="55" name="Text 50"/>
          <p:cNvSpPr/>
          <p:nvPr/>
        </p:nvSpPr>
        <p:spPr>
          <a:xfrm>
            <a:off x="845820" y="3540443"/>
            <a:ext cx="54864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女性贡献者占比</a:t>
            </a:r>
            <a:endParaRPr lang="en-US" sz="540" dirty="0"/>
          </a:p>
        </p:txBody>
      </p:sp>
      <p:sp>
        <p:nvSpPr>
          <p:cNvPr id="56" name="Shape 51"/>
          <p:cNvSpPr/>
          <p:nvPr/>
        </p:nvSpPr>
        <p:spPr>
          <a:xfrm>
            <a:off x="1428750" y="3531870"/>
            <a:ext cx="5715" cy="102870"/>
          </a:xfrm>
          <a:prstGeom prst="rect">
            <a:avLst/>
          </a:prstGeom>
          <a:solidFill>
            <a:srgbClr val="607D8B">
              <a:alpha val="20000"/>
            </a:srgbClr>
          </a:solidFill>
          <a:ln/>
        </p:spPr>
      </p:sp>
      <p:sp>
        <p:nvSpPr>
          <p:cNvPr id="57" name="Text 52"/>
          <p:cNvSpPr/>
          <p:nvPr/>
        </p:nvSpPr>
        <p:spPr>
          <a:xfrm>
            <a:off x="1537335" y="3509010"/>
            <a:ext cx="38862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 倍</a:t>
            </a:r>
            <a:endParaRPr lang="en-US" sz="810" dirty="0"/>
          </a:p>
        </p:txBody>
      </p:sp>
      <p:sp>
        <p:nvSpPr>
          <p:cNvPr id="58" name="Text 53"/>
          <p:cNvSpPr/>
          <p:nvPr/>
        </p:nvSpPr>
        <p:spPr>
          <a:xfrm>
            <a:off x="1851660" y="3549015"/>
            <a:ext cx="41148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相比三年前</a:t>
            </a:r>
            <a:endParaRPr lang="en-US" sz="540" dirty="0"/>
          </a:p>
        </p:txBody>
      </p:sp>
      <p:sp>
        <p:nvSpPr>
          <p:cNvPr id="59" name="Shape 54"/>
          <p:cNvSpPr/>
          <p:nvPr/>
        </p:nvSpPr>
        <p:spPr>
          <a:xfrm>
            <a:off x="2297430" y="3531870"/>
            <a:ext cx="5715" cy="102870"/>
          </a:xfrm>
          <a:prstGeom prst="rect">
            <a:avLst/>
          </a:prstGeom>
          <a:solidFill>
            <a:srgbClr val="607D8B">
              <a:alpha val="20000"/>
            </a:srgbClr>
          </a:solidFill>
          <a:ln/>
        </p:spPr>
      </p:sp>
      <p:sp>
        <p:nvSpPr>
          <p:cNvPr id="60" name="Text 55"/>
          <p:cNvSpPr/>
          <p:nvPr/>
        </p:nvSpPr>
        <p:spPr>
          <a:xfrm>
            <a:off x="2406015" y="3509010"/>
            <a:ext cx="390906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项</a:t>
            </a:r>
            <a:endParaRPr lang="en-US" sz="810" dirty="0"/>
          </a:p>
        </p:txBody>
      </p:sp>
      <p:sp>
        <p:nvSpPr>
          <p:cNvPr id="61" name="Text 56"/>
          <p:cNvSpPr/>
          <p:nvPr/>
        </p:nvSpPr>
        <p:spPr>
          <a:xfrm>
            <a:off x="2668905" y="3549015"/>
            <a:ext cx="54864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多样性倡议项目</a:t>
            </a:r>
            <a:endParaRPr lang="en-US" sz="540" dirty="0"/>
          </a:p>
        </p:txBody>
      </p:sp>
      <p:sp>
        <p:nvSpPr>
          <p:cNvPr id="62" name="Shape 57"/>
          <p:cNvSpPr/>
          <p:nvPr/>
        </p:nvSpPr>
        <p:spPr>
          <a:xfrm>
            <a:off x="4634865" y="2663190"/>
            <a:ext cx="4166235" cy="1840230"/>
          </a:xfrm>
          <a:prstGeom prst="roundRect">
            <a:avLst>
              <a:gd name="adj" fmla="val 4969"/>
            </a:avLst>
          </a:prstGeom>
          <a:solidFill>
            <a:srgbClr val="FFFFFF"/>
          </a:solidFill>
          <a:ln w="5715">
            <a:solidFill>
              <a:srgbClr val="2196F3">
                <a:alpha val="8000"/>
              </a:srgbClr>
            </a:solidFill>
            <a:prstDash val="solid"/>
          </a:ln>
          <a:effectLst>
            <a:outerShdw sx="100000" sy="100000" kx="0" ky="0" algn="bl" rotWithShape="0" blurRad="228600" dist="76200" dir="16200000">
              <a:srgbClr val="2196F3">
                <a:alpha val="10000"/>
              </a:srgbClr>
            </a:outerShdw>
          </a:effectLst>
        </p:spPr>
      </p:sp>
      <p:sp>
        <p:nvSpPr>
          <p:cNvPr id="63" name="Shape 58"/>
          <p:cNvSpPr/>
          <p:nvPr/>
        </p:nvSpPr>
        <p:spPr>
          <a:xfrm>
            <a:off x="4640580" y="2668905"/>
            <a:ext cx="4154805" cy="2857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64" name="Shape 59"/>
          <p:cNvSpPr/>
          <p:nvPr/>
        </p:nvSpPr>
        <p:spPr>
          <a:xfrm>
            <a:off x="4800600" y="2851785"/>
            <a:ext cx="365760" cy="365760"/>
          </a:xfrm>
          <a:prstGeom prst="roundRect">
            <a:avLst>
              <a:gd name="adj" fmla="val 21875"/>
            </a:avLst>
          </a:prstGeom>
          <a:gradFill rotWithShape="1">
            <a:gsLst>
              <a:gs pos="0">
                <a:srgbClr val="E8F5E9"/>
              </a:gs>
              <a:gs pos="100000">
                <a:srgbClr val="C8E6C9"/>
              </a:gs>
            </a:gsLst>
            <a:lin ang="2700000" scaled="0"/>
          </a:gradFill>
          <a:ln/>
        </p:spPr>
      </p:sp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86325" y="2937510"/>
            <a:ext cx="194310" cy="194310"/>
          </a:xfrm>
          <a:prstGeom prst="rect">
            <a:avLst/>
          </a:prstGeom>
        </p:spPr>
      </p:pic>
      <p:sp>
        <p:nvSpPr>
          <p:cNvPr id="66" name="Text 60"/>
          <p:cNvSpPr/>
          <p:nvPr/>
        </p:nvSpPr>
        <p:spPr>
          <a:xfrm>
            <a:off x="5280660" y="2851785"/>
            <a:ext cx="57150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学生群体</a:t>
            </a:r>
            <a:endParaRPr lang="en-US" sz="900" dirty="0"/>
          </a:p>
        </p:txBody>
      </p:sp>
      <p:sp>
        <p:nvSpPr>
          <p:cNvPr id="67" name="Shape 61"/>
          <p:cNvSpPr/>
          <p:nvPr/>
        </p:nvSpPr>
        <p:spPr>
          <a:xfrm>
            <a:off x="5795010" y="2871788"/>
            <a:ext cx="442913" cy="125730"/>
          </a:xfrm>
          <a:prstGeom prst="roundRect">
            <a:avLst>
              <a:gd name="adj" fmla="val 45455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68" name="Text 62"/>
          <p:cNvSpPr/>
          <p:nvPr/>
        </p:nvSpPr>
        <p:spPr>
          <a:xfrm>
            <a:off x="5795010" y="2871788"/>
            <a:ext cx="505778" cy="125730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新生代力量</a:t>
            </a:r>
            <a:endParaRPr lang="en-US" sz="495" dirty="0"/>
          </a:p>
        </p:txBody>
      </p:sp>
      <p:sp>
        <p:nvSpPr>
          <p:cNvPr id="69" name="Text 63"/>
          <p:cNvSpPr/>
          <p:nvPr/>
        </p:nvSpPr>
        <p:spPr>
          <a:xfrm>
            <a:off x="5280660" y="3074670"/>
            <a:ext cx="3757270" cy="280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5A6B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高校开源社团蓬勃发展，学生贡献者成为社区新鲜血液，青年开发者以充沛的创造力与热情，为开源生态注入持续活力。</a:t>
            </a:r>
            <a:endParaRPr lang="en-US" sz="630" dirty="0"/>
          </a:p>
        </p:txBody>
      </p:sp>
      <p:sp>
        <p:nvSpPr>
          <p:cNvPr id="70" name="Shape 64"/>
          <p:cNvSpPr/>
          <p:nvPr/>
        </p:nvSpPr>
        <p:spPr>
          <a:xfrm>
            <a:off x="4800600" y="3434715"/>
            <a:ext cx="3834765" cy="222885"/>
          </a:xfrm>
          <a:prstGeom prst="rect">
            <a:avLst/>
          </a:prstGeom>
          <a:noFill/>
          <a:ln/>
        </p:spPr>
      </p:sp>
      <p:sp>
        <p:nvSpPr>
          <p:cNvPr id="71" name="Shape 65"/>
          <p:cNvSpPr/>
          <p:nvPr/>
        </p:nvSpPr>
        <p:spPr>
          <a:xfrm>
            <a:off x="4800600" y="3434715"/>
            <a:ext cx="3834765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dash"/>
          </a:ln>
        </p:spPr>
      </p:sp>
      <p:sp>
        <p:nvSpPr>
          <p:cNvPr id="72" name="Text 66"/>
          <p:cNvSpPr/>
          <p:nvPr/>
        </p:nvSpPr>
        <p:spPr>
          <a:xfrm>
            <a:off x="4800600" y="3509010"/>
            <a:ext cx="38862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8.7 万</a:t>
            </a:r>
            <a:endParaRPr lang="en-US" sz="810" dirty="0"/>
          </a:p>
        </p:txBody>
      </p:sp>
      <p:sp>
        <p:nvSpPr>
          <p:cNvPr id="73" name="Text 67"/>
          <p:cNvSpPr/>
          <p:nvPr/>
        </p:nvSpPr>
        <p:spPr>
          <a:xfrm>
            <a:off x="5114925" y="3549015"/>
            <a:ext cx="41148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学生贡献者</a:t>
            </a:r>
            <a:endParaRPr lang="en-US" sz="540" dirty="0"/>
          </a:p>
        </p:txBody>
      </p:sp>
      <p:sp>
        <p:nvSpPr>
          <p:cNvPr id="74" name="Shape 68"/>
          <p:cNvSpPr/>
          <p:nvPr/>
        </p:nvSpPr>
        <p:spPr>
          <a:xfrm>
            <a:off x="5560695" y="3531870"/>
            <a:ext cx="5715" cy="102870"/>
          </a:xfrm>
          <a:prstGeom prst="rect">
            <a:avLst/>
          </a:prstGeom>
          <a:solidFill>
            <a:srgbClr val="607D8B">
              <a:alpha val="20000"/>
            </a:srgbClr>
          </a:solidFill>
          <a:ln/>
        </p:spPr>
      </p:sp>
      <p:sp>
        <p:nvSpPr>
          <p:cNvPr id="75" name="Text 69"/>
          <p:cNvSpPr/>
          <p:nvPr/>
        </p:nvSpPr>
        <p:spPr>
          <a:xfrm>
            <a:off x="5669280" y="3523298"/>
            <a:ext cx="45720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1,400+</a:t>
            </a:r>
            <a:endParaRPr lang="en-US" sz="810" dirty="0"/>
          </a:p>
        </p:txBody>
      </p:sp>
      <p:sp>
        <p:nvSpPr>
          <p:cNvPr id="76" name="Text 70"/>
          <p:cNvSpPr/>
          <p:nvPr/>
        </p:nvSpPr>
        <p:spPr>
          <a:xfrm>
            <a:off x="6052185" y="3540443"/>
            <a:ext cx="4800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高校开源社团</a:t>
            </a:r>
            <a:endParaRPr lang="en-US" sz="540" dirty="0"/>
          </a:p>
        </p:txBody>
      </p:sp>
      <p:sp>
        <p:nvSpPr>
          <p:cNvPr id="77" name="Shape 71"/>
          <p:cNvSpPr/>
          <p:nvPr/>
        </p:nvSpPr>
        <p:spPr>
          <a:xfrm>
            <a:off x="6566535" y="3531870"/>
            <a:ext cx="5715" cy="102870"/>
          </a:xfrm>
          <a:prstGeom prst="rect">
            <a:avLst/>
          </a:prstGeom>
          <a:solidFill>
            <a:srgbClr val="607D8B">
              <a:alpha val="20000"/>
            </a:srgbClr>
          </a:solidFill>
          <a:ln/>
        </p:spPr>
      </p:sp>
      <p:sp>
        <p:nvSpPr>
          <p:cNvPr id="78" name="Text 72"/>
          <p:cNvSpPr/>
          <p:nvPr/>
        </p:nvSpPr>
        <p:spPr>
          <a:xfrm>
            <a:off x="6675120" y="3523298"/>
            <a:ext cx="45148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42%</a:t>
            </a:r>
            <a:endParaRPr lang="en-US" sz="810" dirty="0"/>
          </a:p>
        </p:txBody>
      </p:sp>
      <p:sp>
        <p:nvSpPr>
          <p:cNvPr id="79" name="Text 73"/>
          <p:cNvSpPr/>
          <p:nvPr/>
        </p:nvSpPr>
        <p:spPr>
          <a:xfrm>
            <a:off x="7052310" y="3540443"/>
            <a:ext cx="4800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年活跃增长率</a:t>
            </a:r>
            <a:endParaRPr lang="en-US" sz="540" dirty="0"/>
          </a:p>
        </p:txBody>
      </p:sp>
      <p:sp>
        <p:nvSpPr>
          <p:cNvPr id="80" name="Shape 74"/>
          <p:cNvSpPr/>
          <p:nvPr/>
        </p:nvSpPr>
        <p:spPr>
          <a:xfrm>
            <a:off x="342900" y="4617720"/>
            <a:ext cx="8458200" cy="297180"/>
          </a:xfrm>
          <a:prstGeom prst="roundRect">
            <a:avLst>
              <a:gd name="adj" fmla="val 2307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190500" dist="57150" dir="16200000">
              <a:srgbClr val="2196F3">
                <a:alpha val="25000"/>
              </a:srgbClr>
            </a:outerShdw>
          </a:effectLst>
        </p:spPr>
      </p:sp>
      <p:sp>
        <p:nvSpPr>
          <p:cNvPr id="81" name="Text 75"/>
          <p:cNvSpPr/>
          <p:nvPr/>
        </p:nvSpPr>
        <p:spPr>
          <a:xfrm>
            <a:off x="2210276" y="4709160"/>
            <a:ext cx="3200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多元</a:t>
            </a:r>
            <a:endParaRPr lang="en-US" sz="630" dirty="0"/>
          </a:p>
        </p:txBody>
      </p:sp>
      <p:sp>
        <p:nvSpPr>
          <p:cNvPr id="82" name="Shape 76"/>
          <p:cNvSpPr/>
          <p:nvPr/>
        </p:nvSpPr>
        <p:spPr>
          <a:xfrm>
            <a:off x="2210276" y="4749165"/>
            <a:ext cx="34290" cy="3429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3" name="Shape 77"/>
          <p:cNvSpPr/>
          <p:nvPr/>
        </p:nvSpPr>
        <p:spPr>
          <a:xfrm>
            <a:off x="2610326" y="4754880"/>
            <a:ext cx="22860" cy="2286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4" name="Text 78"/>
          <p:cNvSpPr/>
          <p:nvPr/>
        </p:nvSpPr>
        <p:spPr>
          <a:xfrm>
            <a:off x="2793206" y="4709160"/>
            <a:ext cx="324200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贡献者绝对数量与群体多样性同步进步 · 高校学生与女性开发者参与度显著提升</a:t>
            </a:r>
            <a:endParaRPr lang="en-US" sz="630" dirty="0"/>
          </a:p>
        </p:txBody>
      </p:sp>
      <p:sp>
        <p:nvSpPr>
          <p:cNvPr id="85" name="Shape 79"/>
          <p:cNvSpPr/>
          <p:nvPr/>
        </p:nvSpPr>
        <p:spPr>
          <a:xfrm>
            <a:off x="5847874" y="4754880"/>
            <a:ext cx="22860" cy="2286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6" name="Text 80"/>
          <p:cNvSpPr/>
          <p:nvPr/>
        </p:nvSpPr>
        <p:spPr>
          <a:xfrm>
            <a:off x="6030754" y="4709160"/>
            <a:ext cx="32004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活跃</a:t>
            </a:r>
            <a:endParaRPr lang="en-US" sz="630" dirty="0"/>
          </a:p>
        </p:txBody>
      </p:sp>
      <p:sp>
        <p:nvSpPr>
          <p:cNvPr id="87" name="Shape 81"/>
          <p:cNvSpPr/>
          <p:nvPr/>
        </p:nvSpPr>
        <p:spPr>
          <a:xfrm>
            <a:off x="6236494" y="4749165"/>
            <a:ext cx="34290" cy="3429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8" name="Shape 82"/>
          <p:cNvSpPr/>
          <p:nvPr/>
        </p:nvSpPr>
        <p:spPr>
          <a:xfrm>
            <a:off x="6430804" y="4754880"/>
            <a:ext cx="22860" cy="2286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9" name="Text 83"/>
          <p:cNvSpPr/>
          <p:nvPr/>
        </p:nvSpPr>
        <p:spPr>
          <a:xfrm>
            <a:off x="6613684" y="4709160"/>
            <a:ext cx="40005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可持续</a:t>
            </a:r>
            <a:endParaRPr lang="en-US" sz="630" dirty="0"/>
          </a:p>
        </p:txBody>
      </p:sp>
      <p:sp>
        <p:nvSpPr>
          <p:cNvPr id="90" name="Shape 84"/>
          <p:cNvSpPr/>
          <p:nvPr/>
        </p:nvSpPr>
        <p:spPr>
          <a:xfrm>
            <a:off x="6613684" y="4749165"/>
            <a:ext cx="34290" cy="3429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3F2FD"/>
              </a:gs>
              <a:gs pos="100000">
                <a:srgbClr val="B3E5FC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320040" y="240030"/>
            <a:ext cx="19586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2020 · SNAPSHOT</a:t>
            </a:r>
            <a:endParaRPr lang="en-US" sz="585" dirty="0"/>
          </a:p>
        </p:txBody>
      </p:sp>
      <p:sp>
        <p:nvSpPr>
          <p:cNvPr id="4" name="Text 2"/>
          <p:cNvSpPr/>
          <p:nvPr/>
        </p:nvSpPr>
        <p:spPr>
          <a:xfrm>
            <a:off x="320040" y="365760"/>
            <a:ext cx="1165860" cy="2800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spc="45" kern="0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关键数字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57300" y="365760"/>
            <a:ext cx="697230" cy="2800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691515"/>
            <a:ext cx="624078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从代码仓库规模到下载量，从中文生态占比到企业投入力度——每一个数字背后，都是无数开发者的汗水与热情，安全议题也正占据更重要的位置。</a:t>
            </a:r>
            <a:endParaRPr lang="en-US" sz="675" dirty="0"/>
          </a:p>
        </p:txBody>
      </p:sp>
      <p:sp>
        <p:nvSpPr>
          <p:cNvPr id="7" name="Shape 5"/>
          <p:cNvSpPr/>
          <p:nvPr/>
        </p:nvSpPr>
        <p:spPr>
          <a:xfrm>
            <a:off x="320040" y="928688"/>
            <a:ext cx="2773650" cy="845820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16200000">
              <a:srgbClr val="2196F3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28688"/>
            <a:ext cx="28575" cy="84582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9" name="Shape 7"/>
          <p:cNvSpPr/>
          <p:nvPr/>
        </p:nvSpPr>
        <p:spPr>
          <a:xfrm>
            <a:off x="2750790" y="1431608"/>
            <a:ext cx="514350" cy="514350"/>
          </a:xfrm>
          <a:prstGeom prst="ellipse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0" name="Text 8"/>
          <p:cNvSpPr/>
          <p:nvPr/>
        </p:nvSpPr>
        <p:spPr>
          <a:xfrm>
            <a:off x="445770" y="1099602"/>
            <a:ext cx="2824853" cy="2388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spc="-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1,000万+</a:t>
            </a:r>
            <a:endParaRPr lang="en-US" sz="1710" dirty="0"/>
          </a:p>
        </p:txBody>
      </p:sp>
      <p:sp>
        <p:nvSpPr>
          <p:cNvPr id="11" name="Text 9"/>
          <p:cNvSpPr/>
          <p:nvPr/>
        </p:nvSpPr>
        <p:spPr>
          <a:xfrm>
            <a:off x="445770" y="1361331"/>
            <a:ext cx="2824853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用户数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445770" y="1504206"/>
            <a:ext cx="2824853" cy="9938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全球开发者社区持续扩张，用户数同比稳步增长</a:t>
            </a:r>
            <a:endParaRPr lang="en-US" sz="540" dirty="0"/>
          </a:p>
        </p:txBody>
      </p:sp>
      <p:sp>
        <p:nvSpPr>
          <p:cNvPr id="13" name="Shape 11"/>
          <p:cNvSpPr/>
          <p:nvPr/>
        </p:nvSpPr>
        <p:spPr>
          <a:xfrm>
            <a:off x="3185130" y="928688"/>
            <a:ext cx="2773650" cy="845820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16200000">
              <a:srgbClr val="2196F3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5130" y="928688"/>
            <a:ext cx="28575" cy="84582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5" name="Shape 13"/>
          <p:cNvSpPr/>
          <p:nvPr/>
        </p:nvSpPr>
        <p:spPr>
          <a:xfrm>
            <a:off x="5615880" y="1431608"/>
            <a:ext cx="514350" cy="514350"/>
          </a:xfrm>
          <a:prstGeom prst="ellipse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6" name="Text 14"/>
          <p:cNvSpPr/>
          <p:nvPr/>
        </p:nvSpPr>
        <p:spPr>
          <a:xfrm>
            <a:off x="3310860" y="1099602"/>
            <a:ext cx="2824853" cy="2388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spc="-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千万级</a:t>
            </a:r>
            <a:endParaRPr lang="en-US" sz="1710" dirty="0"/>
          </a:p>
        </p:txBody>
      </p:sp>
      <p:sp>
        <p:nvSpPr>
          <p:cNvPr id="17" name="Text 15"/>
          <p:cNvSpPr/>
          <p:nvPr/>
        </p:nvSpPr>
        <p:spPr>
          <a:xfrm>
            <a:off x="3310860" y="1361331"/>
            <a:ext cx="2824853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全球贡献者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3310860" y="1504206"/>
            <a:ext cx="2824853" cy="9938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活跃开发者规模空前，人人皆可参与开源协作</a:t>
            </a:r>
            <a:endParaRPr lang="en-US" sz="540" dirty="0"/>
          </a:p>
        </p:txBody>
      </p:sp>
      <p:sp>
        <p:nvSpPr>
          <p:cNvPr id="19" name="Shape 17"/>
          <p:cNvSpPr/>
          <p:nvPr/>
        </p:nvSpPr>
        <p:spPr>
          <a:xfrm>
            <a:off x="6050220" y="928688"/>
            <a:ext cx="2773740" cy="845820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16200000">
              <a:srgbClr val="2196F3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50220" y="928688"/>
            <a:ext cx="28575" cy="84582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1" name="Shape 19"/>
          <p:cNvSpPr/>
          <p:nvPr/>
        </p:nvSpPr>
        <p:spPr>
          <a:xfrm>
            <a:off x="8481061" y="1431608"/>
            <a:ext cx="514350" cy="514350"/>
          </a:xfrm>
          <a:prstGeom prst="ellipse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2" name="Text 20"/>
          <p:cNvSpPr/>
          <p:nvPr/>
        </p:nvSpPr>
        <p:spPr>
          <a:xfrm>
            <a:off x="6175950" y="1099602"/>
            <a:ext cx="2824953" cy="2388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spc="-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两位数 %</a:t>
            </a:r>
            <a:endParaRPr lang="en-US" sz="1710" dirty="0"/>
          </a:p>
        </p:txBody>
      </p:sp>
      <p:sp>
        <p:nvSpPr>
          <p:cNvPr id="23" name="Text 21"/>
          <p:cNvSpPr/>
          <p:nvPr/>
        </p:nvSpPr>
        <p:spPr>
          <a:xfrm>
            <a:off x="6175950" y="1361331"/>
            <a:ext cx="2824953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中文项目增速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6175950" y="1504206"/>
            <a:ext cx="2824953" cy="9938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中文开源项目年同比增长显著，生态活力迸发</a:t>
            </a:r>
            <a:endParaRPr lang="en-US" sz="540" dirty="0"/>
          </a:p>
        </p:txBody>
      </p:sp>
      <p:sp>
        <p:nvSpPr>
          <p:cNvPr id="25" name="Shape 23"/>
          <p:cNvSpPr/>
          <p:nvPr/>
        </p:nvSpPr>
        <p:spPr>
          <a:xfrm>
            <a:off x="320040" y="1865948"/>
            <a:ext cx="2773650" cy="845820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16200000">
              <a:srgbClr val="2196F3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1865948"/>
            <a:ext cx="28575" cy="84582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7" name="Shape 25"/>
          <p:cNvSpPr/>
          <p:nvPr/>
        </p:nvSpPr>
        <p:spPr>
          <a:xfrm>
            <a:off x="2750790" y="2368868"/>
            <a:ext cx="514350" cy="514350"/>
          </a:xfrm>
          <a:prstGeom prst="ellipse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8" name="Text 26"/>
          <p:cNvSpPr/>
          <p:nvPr/>
        </p:nvSpPr>
        <p:spPr>
          <a:xfrm>
            <a:off x="445770" y="2036862"/>
            <a:ext cx="2824853" cy="2388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spc="-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显著 ↑</a:t>
            </a:r>
            <a:endParaRPr lang="en-US" sz="1710" dirty="0"/>
          </a:p>
        </p:txBody>
      </p:sp>
      <p:sp>
        <p:nvSpPr>
          <p:cNvPr id="29" name="Text 27"/>
          <p:cNvSpPr/>
          <p:nvPr/>
        </p:nvSpPr>
        <p:spPr>
          <a:xfrm>
            <a:off x="445770" y="2298591"/>
            <a:ext cx="2824853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企业开源预算</a:t>
            </a:r>
            <a:endParaRPr lang="en-US" sz="630" dirty="0"/>
          </a:p>
        </p:txBody>
      </p:sp>
      <p:sp>
        <p:nvSpPr>
          <p:cNvPr id="30" name="Text 28"/>
          <p:cNvSpPr/>
          <p:nvPr/>
        </p:nvSpPr>
        <p:spPr>
          <a:xfrm>
            <a:off x="445770" y="2441466"/>
            <a:ext cx="2824853" cy="9938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头部科技企业持续加大投入，赞助计划日趋完善</a:t>
            </a:r>
            <a:endParaRPr lang="en-US" sz="540" dirty="0"/>
          </a:p>
        </p:txBody>
      </p:sp>
      <p:sp>
        <p:nvSpPr>
          <p:cNvPr id="31" name="Shape 29"/>
          <p:cNvSpPr/>
          <p:nvPr/>
        </p:nvSpPr>
        <p:spPr>
          <a:xfrm>
            <a:off x="3185130" y="1865948"/>
            <a:ext cx="2773650" cy="845820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16200000">
              <a:srgbClr val="2196F3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85130" y="1865948"/>
            <a:ext cx="28575" cy="84582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3" name="Shape 31"/>
          <p:cNvSpPr/>
          <p:nvPr/>
        </p:nvSpPr>
        <p:spPr>
          <a:xfrm>
            <a:off x="5615880" y="2368868"/>
            <a:ext cx="514350" cy="514350"/>
          </a:xfrm>
          <a:prstGeom prst="ellipse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4" name="Text 32"/>
          <p:cNvSpPr/>
          <p:nvPr/>
        </p:nvSpPr>
        <p:spPr>
          <a:xfrm>
            <a:off x="3310860" y="2036862"/>
            <a:ext cx="2824853" cy="2388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spc="-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 3 增长</a:t>
            </a:r>
            <a:endParaRPr lang="en-US" sz="1710" dirty="0"/>
          </a:p>
        </p:txBody>
      </p:sp>
      <p:sp>
        <p:nvSpPr>
          <p:cNvPr id="35" name="Text 33"/>
          <p:cNvSpPr/>
          <p:nvPr/>
        </p:nvSpPr>
        <p:spPr>
          <a:xfrm>
            <a:off x="3310860" y="2298591"/>
            <a:ext cx="2824853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线上活动数</a:t>
            </a:r>
            <a:endParaRPr lang="en-US" sz="630" dirty="0"/>
          </a:p>
        </p:txBody>
      </p:sp>
      <p:sp>
        <p:nvSpPr>
          <p:cNvPr id="36" name="Text 34"/>
          <p:cNvSpPr/>
          <p:nvPr/>
        </p:nvSpPr>
        <p:spPr>
          <a:xfrm>
            <a:off x="3310860" y="2441466"/>
            <a:ext cx="2824853" cy="9938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疫情驱动远程活动爆发，社区连接从未如此紧密</a:t>
            </a:r>
            <a:endParaRPr lang="en-US" sz="540" dirty="0"/>
          </a:p>
        </p:txBody>
      </p:sp>
      <p:sp>
        <p:nvSpPr>
          <p:cNvPr id="37" name="Shape 35"/>
          <p:cNvSpPr/>
          <p:nvPr/>
        </p:nvSpPr>
        <p:spPr>
          <a:xfrm>
            <a:off x="6050220" y="1865948"/>
            <a:ext cx="2773740" cy="845820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38100" dir="16200000">
              <a:srgbClr val="2196F3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50220" y="1865948"/>
            <a:ext cx="28575" cy="84582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9" name="Shape 37"/>
          <p:cNvSpPr/>
          <p:nvPr/>
        </p:nvSpPr>
        <p:spPr>
          <a:xfrm>
            <a:off x="8481061" y="2368868"/>
            <a:ext cx="514350" cy="514350"/>
          </a:xfrm>
          <a:prstGeom prst="ellipse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0" name="Text 38"/>
          <p:cNvSpPr/>
          <p:nvPr/>
        </p:nvSpPr>
        <p:spPr>
          <a:xfrm>
            <a:off x="6175950" y="2036862"/>
            <a:ext cx="2824953" cy="2388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spc="-2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 ↑</a:t>
            </a:r>
            <a:endParaRPr lang="en-US" sz="1710" dirty="0"/>
          </a:p>
        </p:txBody>
      </p:sp>
      <p:sp>
        <p:nvSpPr>
          <p:cNvPr id="41" name="Text 39"/>
          <p:cNvSpPr/>
          <p:nvPr/>
        </p:nvSpPr>
        <p:spPr>
          <a:xfrm>
            <a:off x="6175950" y="2298591"/>
            <a:ext cx="2824953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供应链安全事件</a:t>
            </a:r>
            <a:endParaRPr lang="en-US" sz="630" dirty="0"/>
          </a:p>
        </p:txBody>
      </p:sp>
      <p:sp>
        <p:nvSpPr>
          <p:cNvPr id="42" name="Text 40"/>
          <p:cNvSpPr/>
          <p:nvPr/>
        </p:nvSpPr>
        <p:spPr>
          <a:xfrm>
            <a:off x="6175950" y="2441466"/>
            <a:ext cx="2824953" cy="9938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据 Sonatype 报告，安全事件上升，防护意识增强</a:t>
            </a:r>
            <a:endParaRPr lang="en-US" sz="540" dirty="0"/>
          </a:p>
        </p:txBody>
      </p:sp>
      <p:sp>
        <p:nvSpPr>
          <p:cNvPr id="43" name="Shape 41"/>
          <p:cNvSpPr/>
          <p:nvPr/>
        </p:nvSpPr>
        <p:spPr>
          <a:xfrm>
            <a:off x="320040" y="2854643"/>
            <a:ext cx="3729038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4" name="Text 42"/>
          <p:cNvSpPr/>
          <p:nvPr/>
        </p:nvSpPr>
        <p:spPr>
          <a:xfrm>
            <a:off x="4106228" y="2814638"/>
            <a:ext cx="104333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PILLARS OF 2020</a:t>
            </a:r>
            <a:endParaRPr lang="en-US" sz="540" dirty="0"/>
          </a:p>
        </p:txBody>
      </p:sp>
      <p:sp>
        <p:nvSpPr>
          <p:cNvPr id="45" name="Shape 43"/>
          <p:cNvSpPr/>
          <p:nvPr/>
        </p:nvSpPr>
        <p:spPr>
          <a:xfrm>
            <a:off x="5094923" y="2854643"/>
            <a:ext cx="3729038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6" name="Shape 44"/>
          <p:cNvSpPr/>
          <p:nvPr/>
        </p:nvSpPr>
        <p:spPr>
          <a:xfrm>
            <a:off x="320040" y="2980373"/>
            <a:ext cx="2781240" cy="400050"/>
          </a:xfrm>
          <a:prstGeom prst="roundRect">
            <a:avLst>
              <a:gd name="adj" fmla="val 17143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20040" y="2980373"/>
            <a:ext cx="0" cy="400050"/>
          </a:xfrm>
          <a:prstGeom prst="line">
            <a:avLst/>
          </a:prstGeom>
          <a:noFill/>
          <a:ln w="22860">
            <a:solidFill>
              <a:srgbClr val="00BC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5770" y="3060383"/>
            <a:ext cx="205740" cy="205740"/>
          </a:xfrm>
          <a:prstGeom prst="roundRect">
            <a:avLst>
              <a:gd name="adj" fmla="val 27778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49" name="Text 47"/>
          <p:cNvSpPr/>
          <p:nvPr/>
        </p:nvSpPr>
        <p:spPr>
          <a:xfrm>
            <a:off x="509885" y="3106103"/>
            <a:ext cx="16886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720090" y="3060383"/>
            <a:ext cx="40005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代码仓库</a:t>
            </a:r>
            <a:endParaRPr lang="en-US" sz="630" dirty="0"/>
          </a:p>
        </p:txBody>
      </p:sp>
      <p:sp>
        <p:nvSpPr>
          <p:cNvPr id="51" name="Shape 49"/>
          <p:cNvSpPr/>
          <p:nvPr/>
        </p:nvSpPr>
        <p:spPr>
          <a:xfrm>
            <a:off x="1074420" y="3077528"/>
            <a:ext cx="268605" cy="80010"/>
          </a:xfrm>
          <a:prstGeom prst="roundRect">
            <a:avLst>
              <a:gd name="adj" fmla="val 57143"/>
            </a:avLst>
          </a:prstGeom>
          <a:solidFill>
            <a:srgbClr val="00BCD4">
              <a:alpha val="1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74420" y="3077528"/>
            <a:ext cx="325755" cy="80010"/>
          </a:xfrm>
          <a:prstGeom prst="rect">
            <a:avLst/>
          </a:prstGeom>
          <a:noFill/>
          <a:ln/>
        </p:spPr>
        <p:txBody>
          <a:bodyPr wrap="none" lIns="5715" tIns="40005" rIns="40005" bIns="571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450" dirty="0"/>
          </a:p>
        </p:txBody>
      </p:sp>
      <p:sp>
        <p:nvSpPr>
          <p:cNvPr id="53" name="Text 51"/>
          <p:cNvSpPr/>
          <p:nvPr/>
        </p:nvSpPr>
        <p:spPr>
          <a:xfrm>
            <a:off x="720090" y="3203258"/>
            <a:ext cx="192024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全球公共代码仓库总量持续增长，开源基础设施日趋完善</a:t>
            </a:r>
            <a:endParaRPr lang="en-US" sz="540" dirty="0"/>
          </a:p>
        </p:txBody>
      </p:sp>
      <p:sp>
        <p:nvSpPr>
          <p:cNvPr id="54" name="Shape 52"/>
          <p:cNvSpPr/>
          <p:nvPr/>
        </p:nvSpPr>
        <p:spPr>
          <a:xfrm>
            <a:off x="3181290" y="2980373"/>
            <a:ext cx="2781330" cy="400050"/>
          </a:xfrm>
          <a:prstGeom prst="roundRect">
            <a:avLst>
              <a:gd name="adj" fmla="val 17143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181290" y="2980373"/>
            <a:ext cx="0" cy="400050"/>
          </a:xfrm>
          <a:prstGeom prst="line">
            <a:avLst/>
          </a:prstGeom>
          <a:noFill/>
          <a:ln w="22860">
            <a:solidFill>
              <a:srgbClr val="00BC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07020" y="3060383"/>
            <a:ext cx="205740" cy="205740"/>
          </a:xfrm>
          <a:prstGeom prst="roundRect">
            <a:avLst>
              <a:gd name="adj" fmla="val 27778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57" name="Text 55"/>
          <p:cNvSpPr/>
          <p:nvPr/>
        </p:nvSpPr>
        <p:spPr>
          <a:xfrm>
            <a:off x="3371136" y="3106103"/>
            <a:ext cx="16886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3581340" y="3060383"/>
            <a:ext cx="3200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下载量</a:t>
            </a:r>
            <a:endParaRPr lang="en-US" sz="630" dirty="0"/>
          </a:p>
        </p:txBody>
      </p:sp>
      <p:sp>
        <p:nvSpPr>
          <p:cNvPr id="59" name="Shape 57"/>
          <p:cNvSpPr/>
          <p:nvPr/>
        </p:nvSpPr>
        <p:spPr>
          <a:xfrm>
            <a:off x="3855660" y="3077528"/>
            <a:ext cx="325755" cy="80010"/>
          </a:xfrm>
          <a:prstGeom prst="roundRect">
            <a:avLst>
              <a:gd name="adj" fmla="val 57143"/>
            </a:avLst>
          </a:prstGeom>
          <a:solidFill>
            <a:srgbClr val="00BCD4">
              <a:alpha val="1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3855660" y="3077528"/>
            <a:ext cx="382905" cy="80010"/>
          </a:xfrm>
          <a:prstGeom prst="rect">
            <a:avLst/>
          </a:prstGeom>
          <a:noFill/>
          <a:ln/>
        </p:spPr>
        <p:txBody>
          <a:bodyPr wrap="none" lIns="5715" tIns="40005" rIns="40005" bIns="571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</a:t>
            </a:r>
            <a:endParaRPr lang="en-US" sz="450" dirty="0"/>
          </a:p>
        </p:txBody>
      </p:sp>
      <p:sp>
        <p:nvSpPr>
          <p:cNvPr id="61" name="Text 59"/>
          <p:cNvSpPr/>
          <p:nvPr/>
        </p:nvSpPr>
        <p:spPr>
          <a:xfrm>
            <a:off x="3581340" y="3203258"/>
            <a:ext cx="184343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各包管理器和容器仓库的下载量在 2020 年创下新纪录</a:t>
            </a:r>
            <a:endParaRPr lang="en-US" sz="540" dirty="0"/>
          </a:p>
        </p:txBody>
      </p:sp>
      <p:sp>
        <p:nvSpPr>
          <p:cNvPr id="62" name="Shape 60"/>
          <p:cNvSpPr/>
          <p:nvPr/>
        </p:nvSpPr>
        <p:spPr>
          <a:xfrm>
            <a:off x="6042630" y="2980373"/>
            <a:ext cx="2781240" cy="400050"/>
          </a:xfrm>
          <a:prstGeom prst="roundRect">
            <a:avLst>
              <a:gd name="adj" fmla="val 17143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042630" y="2980373"/>
            <a:ext cx="0" cy="400050"/>
          </a:xfrm>
          <a:prstGeom prst="line">
            <a:avLst/>
          </a:prstGeom>
          <a:noFill/>
          <a:ln w="22860">
            <a:solidFill>
              <a:srgbClr val="00BCD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168360" y="3060383"/>
            <a:ext cx="205740" cy="205740"/>
          </a:xfrm>
          <a:prstGeom prst="roundRect">
            <a:avLst>
              <a:gd name="adj" fmla="val 27778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65" name="Text 63"/>
          <p:cNvSpPr/>
          <p:nvPr/>
        </p:nvSpPr>
        <p:spPr>
          <a:xfrm>
            <a:off x="6232475" y="3106103"/>
            <a:ext cx="16886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6442680" y="3060383"/>
            <a:ext cx="40005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中文生态</a:t>
            </a:r>
            <a:endParaRPr lang="en-US" sz="630" dirty="0"/>
          </a:p>
        </p:txBody>
      </p:sp>
      <p:sp>
        <p:nvSpPr>
          <p:cNvPr id="67" name="Shape 65"/>
          <p:cNvSpPr/>
          <p:nvPr/>
        </p:nvSpPr>
        <p:spPr>
          <a:xfrm>
            <a:off x="6797010" y="3077528"/>
            <a:ext cx="165735" cy="80010"/>
          </a:xfrm>
          <a:prstGeom prst="roundRect">
            <a:avLst>
              <a:gd name="adj" fmla="val 57143"/>
            </a:avLst>
          </a:prstGeom>
          <a:solidFill>
            <a:srgbClr val="00BCD4">
              <a:alpha val="1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6797010" y="3077528"/>
            <a:ext cx="222885" cy="80010"/>
          </a:xfrm>
          <a:prstGeom prst="rect">
            <a:avLst/>
          </a:prstGeom>
          <a:noFill/>
          <a:ln/>
        </p:spPr>
        <p:txBody>
          <a:bodyPr wrap="none" lIns="5715" tIns="40005" rIns="40005" bIns="571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</a:t>
            </a:r>
            <a:endParaRPr lang="en-US" sz="450" dirty="0"/>
          </a:p>
        </p:txBody>
      </p:sp>
      <p:sp>
        <p:nvSpPr>
          <p:cNvPr id="69" name="Text 67"/>
          <p:cNvSpPr/>
          <p:nvPr/>
        </p:nvSpPr>
        <p:spPr>
          <a:xfrm>
            <a:off x="6442680" y="3203258"/>
            <a:ext cx="174741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中文开源项目占比稳步提升，Gitee 等平台贡献显著</a:t>
            </a:r>
            <a:endParaRPr lang="en-US" sz="540" dirty="0"/>
          </a:p>
        </p:txBody>
      </p:sp>
      <p:sp>
        <p:nvSpPr>
          <p:cNvPr id="70" name="Shape 68"/>
          <p:cNvSpPr/>
          <p:nvPr/>
        </p:nvSpPr>
        <p:spPr>
          <a:xfrm>
            <a:off x="320040" y="3460433"/>
            <a:ext cx="2781240" cy="400050"/>
          </a:xfrm>
          <a:prstGeom prst="roundRect">
            <a:avLst>
              <a:gd name="adj" fmla="val 17143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20040" y="3460433"/>
            <a:ext cx="0" cy="400050"/>
          </a:xfrm>
          <a:prstGeom prst="line">
            <a:avLst/>
          </a:prstGeom>
          <a:noFill/>
          <a:ln w="22860">
            <a:solidFill>
              <a:srgbClr val="00BCD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45770" y="3540443"/>
            <a:ext cx="205740" cy="205740"/>
          </a:xfrm>
          <a:prstGeom prst="roundRect">
            <a:avLst>
              <a:gd name="adj" fmla="val 27778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73" name="Text 71"/>
          <p:cNvSpPr/>
          <p:nvPr/>
        </p:nvSpPr>
        <p:spPr>
          <a:xfrm>
            <a:off x="509885" y="3586163"/>
            <a:ext cx="16886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720090" y="3540443"/>
            <a:ext cx="40005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远程协作</a:t>
            </a:r>
            <a:endParaRPr lang="en-US" sz="630" dirty="0"/>
          </a:p>
        </p:txBody>
      </p:sp>
      <p:sp>
        <p:nvSpPr>
          <p:cNvPr id="75" name="Shape 73"/>
          <p:cNvSpPr/>
          <p:nvPr/>
        </p:nvSpPr>
        <p:spPr>
          <a:xfrm>
            <a:off x="1074420" y="3557588"/>
            <a:ext cx="325755" cy="80010"/>
          </a:xfrm>
          <a:prstGeom prst="roundRect">
            <a:avLst>
              <a:gd name="adj" fmla="val 57143"/>
            </a:avLst>
          </a:prstGeom>
          <a:solidFill>
            <a:srgbClr val="00BCD4">
              <a:alpha val="1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74420" y="3557588"/>
            <a:ext cx="382905" cy="80010"/>
          </a:xfrm>
          <a:prstGeom prst="rect">
            <a:avLst/>
          </a:prstGeom>
          <a:noFill/>
          <a:ln/>
        </p:spPr>
        <p:txBody>
          <a:bodyPr wrap="none" lIns="5715" tIns="40005" rIns="40005" bIns="571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</a:t>
            </a:r>
            <a:endParaRPr lang="en-US" sz="450" dirty="0"/>
          </a:p>
        </p:txBody>
      </p:sp>
      <p:sp>
        <p:nvSpPr>
          <p:cNvPr id="77" name="Text 75"/>
          <p:cNvSpPr/>
          <p:nvPr/>
        </p:nvSpPr>
        <p:spPr>
          <a:xfrm>
            <a:off x="720090" y="3683318"/>
            <a:ext cx="20034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线上 Meetup 与远程代码评审成为标配，协作效率显著提升</a:t>
            </a:r>
            <a:endParaRPr lang="en-US" sz="540" dirty="0"/>
          </a:p>
        </p:txBody>
      </p:sp>
      <p:sp>
        <p:nvSpPr>
          <p:cNvPr id="78" name="Shape 76"/>
          <p:cNvSpPr/>
          <p:nvPr/>
        </p:nvSpPr>
        <p:spPr>
          <a:xfrm>
            <a:off x="3181290" y="3460433"/>
            <a:ext cx="2781330" cy="400050"/>
          </a:xfrm>
          <a:prstGeom prst="roundRect">
            <a:avLst>
              <a:gd name="adj" fmla="val 17143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3181290" y="3460433"/>
            <a:ext cx="0" cy="400050"/>
          </a:xfrm>
          <a:prstGeom prst="line">
            <a:avLst/>
          </a:prstGeom>
          <a:noFill/>
          <a:ln w="22860">
            <a:solidFill>
              <a:srgbClr val="00BCD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307020" y="3540443"/>
            <a:ext cx="205740" cy="205740"/>
          </a:xfrm>
          <a:prstGeom prst="roundRect">
            <a:avLst>
              <a:gd name="adj" fmla="val 27778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81" name="Text 79"/>
          <p:cNvSpPr/>
          <p:nvPr/>
        </p:nvSpPr>
        <p:spPr>
          <a:xfrm>
            <a:off x="3371136" y="3586163"/>
            <a:ext cx="16886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⑤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3581340" y="3540443"/>
            <a:ext cx="40005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企业投入</a:t>
            </a:r>
            <a:endParaRPr lang="en-US" sz="630" dirty="0"/>
          </a:p>
        </p:txBody>
      </p:sp>
      <p:sp>
        <p:nvSpPr>
          <p:cNvPr id="83" name="Shape 81"/>
          <p:cNvSpPr/>
          <p:nvPr/>
        </p:nvSpPr>
        <p:spPr>
          <a:xfrm>
            <a:off x="3935670" y="3557588"/>
            <a:ext cx="177165" cy="80010"/>
          </a:xfrm>
          <a:prstGeom prst="roundRect">
            <a:avLst>
              <a:gd name="adj" fmla="val 57143"/>
            </a:avLst>
          </a:prstGeom>
          <a:solidFill>
            <a:srgbClr val="00BCD4">
              <a:alpha val="10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3935670" y="3557588"/>
            <a:ext cx="234315" cy="80010"/>
          </a:xfrm>
          <a:prstGeom prst="rect">
            <a:avLst/>
          </a:prstGeom>
          <a:noFill/>
          <a:ln/>
        </p:spPr>
        <p:txBody>
          <a:bodyPr wrap="none" lIns="5715" tIns="40005" rIns="40005" bIns="571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BIZ</a:t>
            </a:r>
            <a:endParaRPr lang="en-US" sz="450" dirty="0"/>
          </a:p>
        </p:txBody>
      </p:sp>
      <p:sp>
        <p:nvSpPr>
          <p:cNvPr id="85" name="Text 83"/>
          <p:cNvSpPr/>
          <p:nvPr/>
        </p:nvSpPr>
        <p:spPr>
          <a:xfrm>
            <a:off x="3581340" y="3683318"/>
            <a:ext cx="19970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头部科技企业的开源投入预算普遍增长，赞助计划更加完善</a:t>
            </a:r>
            <a:endParaRPr lang="en-US" sz="540" dirty="0"/>
          </a:p>
        </p:txBody>
      </p:sp>
      <p:sp>
        <p:nvSpPr>
          <p:cNvPr id="86" name="Shape 84"/>
          <p:cNvSpPr/>
          <p:nvPr/>
        </p:nvSpPr>
        <p:spPr>
          <a:xfrm>
            <a:off x="6042630" y="3460433"/>
            <a:ext cx="2781240" cy="400050"/>
          </a:xfrm>
          <a:prstGeom prst="roundRect">
            <a:avLst>
              <a:gd name="adj" fmla="val 17143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6042630" y="3460433"/>
            <a:ext cx="0" cy="400050"/>
          </a:xfrm>
          <a:prstGeom prst="line">
            <a:avLst/>
          </a:prstGeom>
          <a:noFill/>
          <a:ln w="22860">
            <a:solidFill>
              <a:srgbClr val="00BCD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168360" y="3540443"/>
            <a:ext cx="205740" cy="205740"/>
          </a:xfrm>
          <a:prstGeom prst="roundRect">
            <a:avLst>
              <a:gd name="adj" fmla="val 27778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89" name="Text 87"/>
          <p:cNvSpPr/>
          <p:nvPr/>
        </p:nvSpPr>
        <p:spPr>
          <a:xfrm>
            <a:off x="6232475" y="3586163"/>
            <a:ext cx="16886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⑥</a:t>
            </a:r>
            <a:endParaRPr lang="en-US" sz="720" dirty="0"/>
          </a:p>
        </p:txBody>
      </p:sp>
      <p:sp>
        <p:nvSpPr>
          <p:cNvPr id="90" name="Text 88"/>
          <p:cNvSpPr/>
          <p:nvPr/>
        </p:nvSpPr>
        <p:spPr>
          <a:xfrm>
            <a:off x="6442680" y="3540443"/>
            <a:ext cx="40005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安全事件</a:t>
            </a:r>
            <a:endParaRPr lang="en-US" sz="630" dirty="0"/>
          </a:p>
        </p:txBody>
      </p:sp>
      <p:sp>
        <p:nvSpPr>
          <p:cNvPr id="91" name="Shape 89"/>
          <p:cNvSpPr/>
          <p:nvPr/>
        </p:nvSpPr>
        <p:spPr>
          <a:xfrm>
            <a:off x="6797010" y="3557588"/>
            <a:ext cx="194310" cy="80010"/>
          </a:xfrm>
          <a:prstGeom prst="roundRect">
            <a:avLst>
              <a:gd name="adj" fmla="val 57143"/>
            </a:avLst>
          </a:prstGeom>
          <a:solidFill>
            <a:srgbClr val="00BCD4">
              <a:alpha val="10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6797010" y="3557588"/>
            <a:ext cx="251460" cy="80010"/>
          </a:xfrm>
          <a:prstGeom prst="rect">
            <a:avLst/>
          </a:prstGeom>
          <a:noFill/>
          <a:ln/>
        </p:spPr>
        <p:txBody>
          <a:bodyPr wrap="none" lIns="5715" tIns="40005" rIns="40005" bIns="571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</a:t>
            </a:r>
            <a:endParaRPr lang="en-US" sz="450" dirty="0"/>
          </a:p>
        </p:txBody>
      </p:sp>
      <p:sp>
        <p:nvSpPr>
          <p:cNvPr id="93" name="Text 91"/>
          <p:cNvSpPr/>
          <p:nvPr/>
        </p:nvSpPr>
        <p:spPr>
          <a:xfrm>
            <a:off x="6442680" y="3683318"/>
            <a:ext cx="19970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供应链安全受到重视，相关规范和工具在 2020 年加速落地</a:t>
            </a:r>
            <a:endParaRPr lang="en-US" sz="5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8FB"/>
              </a:gs>
              <a:gs pos="100000">
                <a:srgbClr val="EAF2FA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4572000" y="-1748790"/>
            <a:ext cx="7680960" cy="4320540"/>
          </a:xfrm>
          <a:prstGeom prst="ellipse">
            <a:avLst/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-3566160" y="2417445"/>
            <a:ext cx="8229600" cy="4629150"/>
          </a:xfrm>
          <a:prstGeom prst="ellipse">
            <a:avLst/>
          </a:prstGeom>
          <a:gradFill rotWithShape="1">
            <a:gsLst>
              <a:gs pos="0">
                <a:srgbClr val="2196F3">
                  <a:alpha val="64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-685800" y="-685800"/>
            <a:ext cx="1943100" cy="1943100"/>
          </a:xfrm>
          <a:prstGeom prst="ellipse">
            <a:avLst/>
          </a:prstGeom>
          <a:solidFill>
            <a:srgbClr val="2196F3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00900" y="3657600"/>
            <a:ext cx="2400300" cy="2400300"/>
          </a:xfrm>
          <a:prstGeom prst="ellipse">
            <a:avLst/>
          </a:prstGeom>
          <a:solidFill>
            <a:srgbClr val="00BCD4">
              <a:alpha val="7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491490"/>
            <a:ext cx="294436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spc="18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</a:t>
            </a:r>
            <a:endParaRPr lang="en-US" sz="810" dirty="0"/>
          </a:p>
        </p:txBody>
      </p:sp>
      <p:sp>
        <p:nvSpPr>
          <p:cNvPr id="8" name="Shape 6"/>
          <p:cNvSpPr/>
          <p:nvPr/>
        </p:nvSpPr>
        <p:spPr>
          <a:xfrm>
            <a:off x="754380" y="2045970"/>
            <a:ext cx="194310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411480" y="2074545"/>
            <a:ext cx="294436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27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 · 规 · 则</a:t>
            </a:r>
            <a:endParaRPr lang="en-US" sz="585" dirty="0"/>
          </a:p>
        </p:txBody>
      </p:sp>
      <p:sp>
        <p:nvSpPr>
          <p:cNvPr id="10" name="Shape 8"/>
          <p:cNvSpPr/>
          <p:nvPr/>
        </p:nvSpPr>
        <p:spPr>
          <a:xfrm>
            <a:off x="3406140" y="668655"/>
            <a:ext cx="571500" cy="571500"/>
          </a:xfrm>
          <a:prstGeom prst="ellipse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2700000" scaled="0"/>
          </a:gradFill>
          <a:ln/>
          <a:effectLst>
            <a:outerShdw sx="100000" sy="100000" kx="0" ky="0" algn="bl" rotWithShape="0" blurRad="304800" dist="114300" dir="16200000">
              <a:srgbClr val="00BCD4">
                <a:alpha val="3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4730" y="817245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114800" y="685264"/>
            <a:ext cx="240670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 · NEW RULES</a:t>
            </a:r>
            <a:endParaRPr lang="en-US" sz="585" dirty="0"/>
          </a:p>
        </p:txBody>
      </p:sp>
      <p:sp>
        <p:nvSpPr>
          <p:cNvPr id="13" name="Text 10"/>
          <p:cNvSpPr/>
          <p:nvPr/>
        </p:nvSpPr>
        <p:spPr>
          <a:xfrm>
            <a:off x="4114800" y="833854"/>
            <a:ext cx="2503170" cy="389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90" b="1" spc="-45" kern="0" dirty="0">
                <a:solidFill>
                  <a:srgbClr val="1A23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</a:t>
            </a:r>
            <a:pPr algn="l" indent="0" marL="0">
              <a:lnSpc>
                <a:spcPct val="110000"/>
              </a:lnSpc>
              <a:buNone/>
            </a:pPr>
            <a:r>
              <a:rPr lang="en-US" sz="2790" b="1" spc="-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l" indent="0" marL="0">
              <a:lnSpc>
                <a:spcPct val="110000"/>
              </a:lnSpc>
              <a:buNone/>
            </a:pPr>
            <a:r>
              <a:rPr lang="en-US" sz="2790" b="1" spc="-45" kern="0" dirty="0">
                <a:solidFill>
                  <a:srgbClr val="1A23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新规则</a:t>
            </a:r>
            <a:endParaRPr lang="en-US" sz="2790" dirty="0"/>
          </a:p>
        </p:txBody>
      </p:sp>
      <p:sp>
        <p:nvSpPr>
          <p:cNvPr id="14" name="Text 11"/>
          <p:cNvSpPr/>
          <p:nvPr/>
        </p:nvSpPr>
        <p:spPr>
          <a:xfrm>
            <a:off x="3406140" y="1457325"/>
            <a:ext cx="5965546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面向新一年的开源协作规范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406140" y="1851660"/>
            <a:ext cx="205740" cy="11430"/>
          </a:xfrm>
          <a:prstGeom prst="roundRect">
            <a:avLst>
              <a:gd name="adj" fmla="val 100000"/>
            </a:avLst>
          </a:prstGeom>
          <a:solidFill>
            <a:srgbClr val="2196F3"/>
          </a:solidFill>
          <a:ln/>
        </p:spPr>
      </p:sp>
      <p:sp>
        <p:nvSpPr>
          <p:cNvPr id="16" name="Text 13"/>
          <p:cNvSpPr/>
          <p:nvPr/>
        </p:nvSpPr>
        <p:spPr>
          <a:xfrm>
            <a:off x="3691890" y="1800225"/>
            <a:ext cx="1152144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适兕团队 · 开源协作年度框架</a:t>
            </a:r>
            <a:endParaRPr lang="en-US" sz="630" dirty="0"/>
          </a:p>
        </p:txBody>
      </p:sp>
      <p:sp>
        <p:nvSpPr>
          <p:cNvPr id="17" name="Shape 14"/>
          <p:cNvSpPr/>
          <p:nvPr/>
        </p:nvSpPr>
        <p:spPr>
          <a:xfrm>
            <a:off x="411480" y="2420303"/>
            <a:ext cx="4051935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8" name="Shape 15"/>
          <p:cNvSpPr/>
          <p:nvPr/>
        </p:nvSpPr>
        <p:spPr>
          <a:xfrm>
            <a:off x="4554855" y="2406015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9" name="Shape 16"/>
          <p:cNvSpPr/>
          <p:nvPr/>
        </p:nvSpPr>
        <p:spPr>
          <a:xfrm>
            <a:off x="4680585" y="2420303"/>
            <a:ext cx="4051935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0" name="Text 17"/>
          <p:cNvSpPr/>
          <p:nvPr/>
        </p:nvSpPr>
        <p:spPr>
          <a:xfrm>
            <a:off x="411480" y="2583180"/>
            <a:ext cx="931956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18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 · 大 · 维 · 度</a:t>
            </a:r>
            <a:endParaRPr lang="en-US" sz="540" dirty="0"/>
          </a:p>
        </p:txBody>
      </p:sp>
      <p:sp>
        <p:nvSpPr>
          <p:cNvPr id="21" name="Shape 18"/>
          <p:cNvSpPr/>
          <p:nvPr/>
        </p:nvSpPr>
        <p:spPr>
          <a:xfrm>
            <a:off x="411480" y="2806065"/>
            <a:ext cx="1985963" cy="1268016"/>
          </a:xfrm>
          <a:prstGeom prst="roundRect">
            <a:avLst>
              <a:gd name="adj" fmla="val 7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16200000">
              <a:srgbClr val="2196F3">
                <a:alpha val="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1480" y="2806065"/>
            <a:ext cx="1985963" cy="0"/>
          </a:xfrm>
          <a:prstGeom prst="line">
            <a:avLst/>
          </a:prstGeom>
          <a:noFill/>
          <a:ln w="1714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" y="2806065"/>
            <a:ext cx="1985963" cy="17145"/>
          </a:xfrm>
          <a:prstGeom prst="roundRect">
            <a:avLst>
              <a:gd name="adj" fmla="val 533333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4" name="Text 21"/>
          <p:cNvSpPr/>
          <p:nvPr/>
        </p:nvSpPr>
        <p:spPr>
          <a:xfrm>
            <a:off x="537210" y="2960370"/>
            <a:ext cx="194264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贡献规范</a:t>
            </a:r>
            <a:endParaRPr lang="en-US" sz="540" dirty="0"/>
          </a:p>
        </p:txBody>
      </p:sp>
      <p:sp>
        <p:nvSpPr>
          <p:cNvPr id="25" name="Shape 22"/>
          <p:cNvSpPr/>
          <p:nvPr/>
        </p:nvSpPr>
        <p:spPr>
          <a:xfrm>
            <a:off x="537210" y="3126105"/>
            <a:ext cx="274320" cy="27432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790" y="3194685"/>
            <a:ext cx="137160" cy="1371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37210" y="3469005"/>
            <a:ext cx="1942643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dirty="0">
                <a:solidFill>
                  <a:srgbClr val="1A23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贡献规范</a:t>
            </a:r>
            <a:endParaRPr lang="en-US" sz="855" dirty="0"/>
          </a:p>
        </p:txBody>
      </p:sp>
      <p:sp>
        <p:nvSpPr>
          <p:cNvPr id="28" name="Text 24"/>
          <p:cNvSpPr/>
          <p:nvPr/>
        </p:nvSpPr>
        <p:spPr>
          <a:xfrm>
            <a:off x="537210" y="3691890"/>
            <a:ext cx="1942643" cy="245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明确 PR 提交、代码评审与 Issue 管理的最佳实践标准。</a:t>
            </a:r>
            <a:endParaRPr lang="en-US" sz="585" dirty="0"/>
          </a:p>
        </p:txBody>
      </p:sp>
      <p:sp>
        <p:nvSpPr>
          <p:cNvPr id="29" name="Shape 25"/>
          <p:cNvSpPr/>
          <p:nvPr/>
        </p:nvSpPr>
        <p:spPr>
          <a:xfrm>
            <a:off x="2523173" y="2806065"/>
            <a:ext cx="1985963" cy="1268016"/>
          </a:xfrm>
          <a:prstGeom prst="roundRect">
            <a:avLst>
              <a:gd name="adj" fmla="val 7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16200000">
              <a:srgbClr val="2196F3">
                <a:alpha val="6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2523173" y="2806065"/>
            <a:ext cx="1985963" cy="0"/>
          </a:xfrm>
          <a:prstGeom prst="line">
            <a:avLst/>
          </a:prstGeom>
          <a:noFill/>
          <a:ln w="1714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523173" y="2806065"/>
            <a:ext cx="1985963" cy="17145"/>
          </a:xfrm>
          <a:prstGeom prst="roundRect">
            <a:avLst>
              <a:gd name="adj" fmla="val 533333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2" name="Text 28"/>
          <p:cNvSpPr/>
          <p:nvPr/>
        </p:nvSpPr>
        <p:spPr>
          <a:xfrm>
            <a:off x="2648903" y="2960370"/>
            <a:ext cx="194264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协作原则</a:t>
            </a:r>
            <a:endParaRPr lang="en-US" sz="540" dirty="0"/>
          </a:p>
        </p:txBody>
      </p:sp>
      <p:sp>
        <p:nvSpPr>
          <p:cNvPr id="33" name="Shape 29"/>
          <p:cNvSpPr/>
          <p:nvPr/>
        </p:nvSpPr>
        <p:spPr>
          <a:xfrm>
            <a:off x="2648903" y="3126105"/>
            <a:ext cx="274320" cy="27432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7483" y="3194685"/>
            <a:ext cx="137160" cy="13716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648903" y="3469005"/>
            <a:ext cx="1942643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dirty="0">
                <a:solidFill>
                  <a:srgbClr val="1A23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协作原则</a:t>
            </a:r>
            <a:endParaRPr lang="en-US" sz="855" dirty="0"/>
          </a:p>
        </p:txBody>
      </p:sp>
      <p:sp>
        <p:nvSpPr>
          <p:cNvPr id="36" name="Text 31"/>
          <p:cNvSpPr/>
          <p:nvPr/>
        </p:nvSpPr>
        <p:spPr>
          <a:xfrm>
            <a:off x="2648903" y="3691890"/>
            <a:ext cx="1942643" cy="1225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倡导包容、透明、尊重多元的社区协作文化。</a:t>
            </a:r>
            <a:endParaRPr lang="en-US" sz="585" dirty="0"/>
          </a:p>
        </p:txBody>
      </p:sp>
      <p:sp>
        <p:nvSpPr>
          <p:cNvPr id="37" name="Shape 32"/>
          <p:cNvSpPr/>
          <p:nvPr/>
        </p:nvSpPr>
        <p:spPr>
          <a:xfrm>
            <a:off x="4634865" y="2806065"/>
            <a:ext cx="1985963" cy="1268016"/>
          </a:xfrm>
          <a:prstGeom prst="roundRect">
            <a:avLst>
              <a:gd name="adj" fmla="val 7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16200000">
              <a:srgbClr val="2196F3">
                <a:alpha val="6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4634865" y="2806065"/>
            <a:ext cx="1985963" cy="0"/>
          </a:xfrm>
          <a:prstGeom prst="line">
            <a:avLst/>
          </a:prstGeom>
          <a:noFill/>
          <a:ln w="1714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634865" y="2806065"/>
            <a:ext cx="1985963" cy="17145"/>
          </a:xfrm>
          <a:prstGeom prst="roundRect">
            <a:avLst>
              <a:gd name="adj" fmla="val 533333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0" name="Text 35"/>
          <p:cNvSpPr/>
          <p:nvPr/>
        </p:nvSpPr>
        <p:spPr>
          <a:xfrm>
            <a:off x="4760595" y="2960370"/>
            <a:ext cx="194264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工具选型</a:t>
            </a:r>
            <a:endParaRPr lang="en-US" sz="540" dirty="0"/>
          </a:p>
        </p:txBody>
      </p:sp>
      <p:sp>
        <p:nvSpPr>
          <p:cNvPr id="41" name="Shape 36"/>
          <p:cNvSpPr/>
          <p:nvPr/>
        </p:nvSpPr>
        <p:spPr>
          <a:xfrm>
            <a:off x="4760595" y="3126105"/>
            <a:ext cx="274320" cy="27432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9175" y="3194685"/>
            <a:ext cx="137160" cy="13716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4760595" y="3469005"/>
            <a:ext cx="1942643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dirty="0">
                <a:solidFill>
                  <a:srgbClr val="1A23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工具选型</a:t>
            </a:r>
            <a:endParaRPr lang="en-US" sz="855" dirty="0"/>
          </a:p>
        </p:txBody>
      </p:sp>
      <p:sp>
        <p:nvSpPr>
          <p:cNvPr id="44" name="Text 38"/>
          <p:cNvSpPr/>
          <p:nvPr/>
        </p:nvSpPr>
        <p:spPr>
          <a:xfrm>
            <a:off x="4760595" y="3691890"/>
            <a:ext cx="1942643" cy="1225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推荐适合中文开发者的开源工具链与平台组合。</a:t>
            </a:r>
            <a:endParaRPr lang="en-US" sz="585" dirty="0"/>
          </a:p>
        </p:txBody>
      </p:sp>
      <p:sp>
        <p:nvSpPr>
          <p:cNvPr id="45" name="Shape 39"/>
          <p:cNvSpPr/>
          <p:nvPr/>
        </p:nvSpPr>
        <p:spPr>
          <a:xfrm>
            <a:off x="6746558" y="2806065"/>
            <a:ext cx="1985963" cy="1268016"/>
          </a:xfrm>
          <a:prstGeom prst="roundRect">
            <a:avLst>
              <a:gd name="adj" fmla="val 7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16200000">
              <a:srgbClr val="2196F3">
                <a:alpha val="6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6746558" y="2806065"/>
            <a:ext cx="1985963" cy="0"/>
          </a:xfrm>
          <a:prstGeom prst="line">
            <a:avLst/>
          </a:prstGeom>
          <a:noFill/>
          <a:ln w="1714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6746558" y="2806065"/>
            <a:ext cx="1985963" cy="17145"/>
          </a:xfrm>
          <a:prstGeom prst="roundRect">
            <a:avLst>
              <a:gd name="adj" fmla="val 533333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8" name="Text 42"/>
          <p:cNvSpPr/>
          <p:nvPr/>
        </p:nvSpPr>
        <p:spPr>
          <a:xfrm>
            <a:off x="6872288" y="2960370"/>
            <a:ext cx="194264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安全合规</a:t>
            </a:r>
            <a:endParaRPr lang="en-US" sz="540" dirty="0"/>
          </a:p>
        </p:txBody>
      </p:sp>
      <p:sp>
        <p:nvSpPr>
          <p:cNvPr id="49" name="Shape 43"/>
          <p:cNvSpPr/>
          <p:nvPr/>
        </p:nvSpPr>
        <p:spPr>
          <a:xfrm>
            <a:off x="6872288" y="3126105"/>
            <a:ext cx="274320" cy="27432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/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40868" y="3194685"/>
            <a:ext cx="137160" cy="13716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6872288" y="3469005"/>
            <a:ext cx="1942643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dirty="0">
                <a:solidFill>
                  <a:srgbClr val="1A23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安全合规</a:t>
            </a:r>
            <a:endParaRPr lang="en-US" sz="855" dirty="0"/>
          </a:p>
        </p:txBody>
      </p:sp>
      <p:sp>
        <p:nvSpPr>
          <p:cNvPr id="52" name="Text 45"/>
          <p:cNvSpPr/>
          <p:nvPr/>
        </p:nvSpPr>
        <p:spPr>
          <a:xfrm>
            <a:off x="6872288" y="3691890"/>
            <a:ext cx="1942643" cy="1225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强化供应链安全意识，建立依赖管理新标准。</a:t>
            </a:r>
            <a:endParaRPr lang="en-US" sz="585" dirty="0"/>
          </a:p>
        </p:txBody>
      </p:sp>
      <p:sp>
        <p:nvSpPr>
          <p:cNvPr id="53" name="Shape 46"/>
          <p:cNvSpPr/>
          <p:nvPr/>
        </p:nvSpPr>
        <p:spPr>
          <a:xfrm>
            <a:off x="411480" y="4276963"/>
            <a:ext cx="137160" cy="1143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4" name="Text 47"/>
          <p:cNvSpPr/>
          <p:nvPr/>
        </p:nvSpPr>
        <p:spPr>
          <a:xfrm>
            <a:off x="605790" y="4239816"/>
            <a:ext cx="165780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SHI-SI OPEN SOURCE TEAM · 2021</a:t>
            </a:r>
            <a:endParaRPr lang="en-US" sz="540" dirty="0"/>
          </a:p>
        </p:txBody>
      </p:sp>
      <p:sp>
        <p:nvSpPr>
          <p:cNvPr id="55" name="Text 48"/>
          <p:cNvSpPr/>
          <p:nvPr/>
        </p:nvSpPr>
        <p:spPr>
          <a:xfrm>
            <a:off x="7475220" y="4245531"/>
            <a:ext cx="22860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</a:t>
            </a:r>
            <a:endParaRPr lang="en-US" sz="540" dirty="0"/>
          </a:p>
        </p:txBody>
      </p:sp>
      <p:sp>
        <p:nvSpPr>
          <p:cNvPr id="56" name="Text 49"/>
          <p:cNvSpPr/>
          <p:nvPr/>
        </p:nvSpPr>
        <p:spPr>
          <a:xfrm>
            <a:off x="7703820" y="4245531"/>
            <a:ext cx="11658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540" dirty="0"/>
          </a:p>
        </p:txBody>
      </p:sp>
      <p:sp>
        <p:nvSpPr>
          <p:cNvPr id="57" name="Text 50"/>
          <p:cNvSpPr/>
          <p:nvPr/>
        </p:nvSpPr>
        <p:spPr>
          <a:xfrm>
            <a:off x="7829550" y="4245531"/>
            <a:ext cx="22860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</a:t>
            </a:r>
            <a:endParaRPr lang="en-US" sz="540" dirty="0"/>
          </a:p>
        </p:txBody>
      </p:sp>
      <p:sp>
        <p:nvSpPr>
          <p:cNvPr id="58" name="Text 51"/>
          <p:cNvSpPr/>
          <p:nvPr/>
        </p:nvSpPr>
        <p:spPr>
          <a:xfrm>
            <a:off x="8058150" y="4245531"/>
            <a:ext cx="11658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540" dirty="0"/>
          </a:p>
        </p:txBody>
      </p:sp>
      <p:sp>
        <p:nvSpPr>
          <p:cNvPr id="59" name="Text 52"/>
          <p:cNvSpPr/>
          <p:nvPr/>
        </p:nvSpPr>
        <p:spPr>
          <a:xfrm>
            <a:off x="8183880" y="4245531"/>
            <a:ext cx="22860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工具</a:t>
            </a:r>
            <a:endParaRPr lang="en-US" sz="540" dirty="0"/>
          </a:p>
        </p:txBody>
      </p:sp>
      <p:sp>
        <p:nvSpPr>
          <p:cNvPr id="60" name="Text 53"/>
          <p:cNvSpPr/>
          <p:nvPr/>
        </p:nvSpPr>
        <p:spPr>
          <a:xfrm>
            <a:off x="8412480" y="4245531"/>
            <a:ext cx="11658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540" dirty="0"/>
          </a:p>
        </p:txBody>
      </p:sp>
      <p:sp>
        <p:nvSpPr>
          <p:cNvPr id="61" name="Text 54"/>
          <p:cNvSpPr/>
          <p:nvPr/>
        </p:nvSpPr>
        <p:spPr>
          <a:xfrm>
            <a:off x="8538210" y="4245531"/>
            <a:ext cx="22860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</a:t>
            </a:r>
            <a:endParaRPr lang="en-US" sz="5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3957637"/>
            <a:ext cx="12801600" cy="72009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6972300" y="2057400"/>
            <a:ext cx="12801600" cy="7200900"/>
          </a:xfrm>
          <a:prstGeom prst="ellipse">
            <a:avLst/>
          </a:prstGeom>
          <a:gradFill rotWithShape="1">
            <a:gsLst>
              <a:gs pos="0">
                <a:srgbClr val="00BCD4">
                  <a:alpha val="6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342900" y="288608"/>
            <a:ext cx="1280160" cy="142875"/>
          </a:xfrm>
          <a:prstGeom prst="roundRect">
            <a:avLst>
              <a:gd name="adj" fmla="val 80000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10000"/>
                </a:srgbClr>
              </a:gs>
            </a:gsLst>
            <a:lin ang="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342900" y="288608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2196F3">
                <a:alpha val="6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317183"/>
            <a:ext cx="116494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STANDARDS</a:t>
            </a:r>
            <a:endParaRPr lang="en-US" sz="540" dirty="0"/>
          </a:p>
        </p:txBody>
      </p:sp>
      <p:sp>
        <p:nvSpPr>
          <p:cNvPr id="7" name="Text 5"/>
          <p:cNvSpPr/>
          <p:nvPr/>
        </p:nvSpPr>
        <p:spPr>
          <a:xfrm>
            <a:off x="342900" y="500063"/>
            <a:ext cx="9473184" cy="2800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贡献新规范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342900" y="837248"/>
            <a:ext cx="8961120" cy="138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608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贡献新规范从四个具体维度入手 ——</a:t>
            </a:r>
            <a:pPr algn="l" indent="0" marL="0">
              <a:lnSpc>
                <a:spcPct val="180000"/>
              </a:lnSpc>
              <a:buNone/>
            </a:pPr>
            <a:r>
              <a:rPr lang="en-US" sz="608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PR模板化</a:t>
            </a:r>
            <a:pPr algn="l" indent="0" marL="0">
              <a:lnSpc>
                <a:spcPct val="180000"/>
              </a:lnSpc>
              <a:buNone/>
            </a:pPr>
            <a:r>
              <a:rPr lang="en-US" sz="608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让每次贡献都信息完整，</a:t>
            </a:r>
            <a:pPr algn="l" indent="0" marL="0">
              <a:lnSpc>
                <a:spcPct val="180000"/>
              </a:lnSpc>
              <a:buNone/>
            </a:pPr>
            <a:r>
              <a:rPr lang="en-US" sz="608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Issue分级</a:t>
            </a:r>
            <a:pPr algn="l" indent="0" marL="0">
              <a:lnSpc>
                <a:spcPct val="180000"/>
              </a:lnSpc>
              <a:buNone/>
            </a:pPr>
            <a:r>
              <a:rPr lang="en-US" sz="608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让问题管理井井有条，</a:t>
            </a:r>
            <a:pPr algn="l" indent="0" marL="0">
              <a:lnSpc>
                <a:spcPct val="180000"/>
              </a:lnSpc>
              <a:buNone/>
            </a:pPr>
            <a:r>
              <a:rPr lang="en-US" sz="608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CODEOWNERS</a:t>
            </a:r>
            <a:pPr algn="l" indent="0" marL="0">
              <a:lnSpc>
                <a:spcPct val="180000"/>
              </a:lnSpc>
              <a:buNone/>
            </a:pPr>
            <a:r>
              <a:rPr lang="en-US" sz="608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让代码所有权清晰可追溯，</a:t>
            </a:r>
            <a:pPr algn="l" indent="0" marL="0">
              <a:lnSpc>
                <a:spcPct val="180000"/>
              </a:lnSpc>
              <a:buNone/>
            </a:pPr>
            <a:r>
              <a:rPr lang="en-US" sz="608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CI自动化</a:t>
            </a:r>
            <a:pPr algn="l" indent="0" marL="0">
              <a:lnSpc>
                <a:spcPct val="180000"/>
              </a:lnSpc>
              <a:buNone/>
            </a:pPr>
            <a:r>
              <a:rPr lang="en-US" sz="608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则保障了代码质量的底线。这些规范看似琐碎，却是高效协作的基石。</a:t>
            </a:r>
            <a:endParaRPr lang="en-US" sz="608" dirty="0"/>
          </a:p>
        </p:txBody>
      </p:sp>
      <p:sp>
        <p:nvSpPr>
          <p:cNvPr id="9" name="Shape 7"/>
          <p:cNvSpPr/>
          <p:nvPr/>
        </p:nvSpPr>
        <p:spPr>
          <a:xfrm>
            <a:off x="342900" y="1101834"/>
            <a:ext cx="4025503" cy="602933"/>
          </a:xfrm>
          <a:prstGeom prst="roundRect">
            <a:avLst>
              <a:gd name="adj" fmla="val 13270"/>
            </a:avLst>
          </a:prstGeom>
          <a:solidFill>
            <a:srgbClr val="FFFFFF"/>
          </a:solidFill>
          <a:ln w="5715">
            <a:solidFill>
              <a:srgbClr val="E3ED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" y="1101834"/>
            <a:ext cx="22860" cy="591503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1" name="Shape 9"/>
          <p:cNvSpPr/>
          <p:nvPr/>
        </p:nvSpPr>
        <p:spPr>
          <a:xfrm>
            <a:off x="474345" y="1198989"/>
            <a:ext cx="240030" cy="240030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12" name="Text 10"/>
          <p:cNvSpPr/>
          <p:nvPr/>
        </p:nvSpPr>
        <p:spPr>
          <a:xfrm>
            <a:off x="474345" y="1198989"/>
            <a:ext cx="337185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65" dirty="0"/>
          </a:p>
        </p:txBody>
      </p:sp>
      <p:sp>
        <p:nvSpPr>
          <p:cNvPr id="13" name="Text 11"/>
          <p:cNvSpPr/>
          <p:nvPr/>
        </p:nvSpPr>
        <p:spPr>
          <a:xfrm>
            <a:off x="805815" y="1198989"/>
            <a:ext cx="386848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模板化</a:t>
            </a:r>
            <a:pPr algn="l" indent="0" marL="0">
              <a:buNone/>
            </a:pPr>
            <a:r>
              <a:rPr lang="en-US" sz="473" b="1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 REQUEST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268730" y="1213277"/>
            <a:ext cx="588645" cy="108585"/>
          </a:xfrm>
          <a:prstGeom prst="roundRect">
            <a:avLst>
              <a:gd name="adj" fmla="val 26316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8730" y="1213277"/>
            <a:ext cx="659282" cy="10858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 REQUEST</a:t>
            </a:r>
            <a:endParaRPr lang="en-US" sz="473" dirty="0"/>
          </a:p>
        </p:txBody>
      </p:sp>
      <p:sp>
        <p:nvSpPr>
          <p:cNvPr id="16" name="Text 14"/>
          <p:cNvSpPr/>
          <p:nvPr/>
        </p:nvSpPr>
        <p:spPr>
          <a:xfrm>
            <a:off x="805815" y="1364724"/>
            <a:ext cx="3868484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所有项目应提供标准化 PR 模板，包含变更说明、测试验证与影响范围，让每次代码合并都信息完整、有据可查。</a:t>
            </a:r>
            <a:endParaRPr lang="en-US" sz="563" dirty="0"/>
          </a:p>
        </p:txBody>
      </p:sp>
      <p:sp>
        <p:nvSpPr>
          <p:cNvPr id="17" name="Shape 15"/>
          <p:cNvSpPr/>
          <p:nvPr/>
        </p:nvSpPr>
        <p:spPr>
          <a:xfrm>
            <a:off x="342900" y="1784777"/>
            <a:ext cx="4025503" cy="481489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 w="5715">
            <a:solidFill>
              <a:srgbClr val="E3ED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" y="1784777"/>
            <a:ext cx="22860" cy="470059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9" name="Shape 17"/>
          <p:cNvSpPr/>
          <p:nvPr/>
        </p:nvSpPr>
        <p:spPr>
          <a:xfrm>
            <a:off x="474345" y="1881932"/>
            <a:ext cx="240030" cy="240030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20" name="Text 18"/>
          <p:cNvSpPr/>
          <p:nvPr/>
        </p:nvSpPr>
        <p:spPr>
          <a:xfrm>
            <a:off x="474345" y="1881932"/>
            <a:ext cx="337185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65" dirty="0"/>
          </a:p>
        </p:txBody>
      </p:sp>
      <p:sp>
        <p:nvSpPr>
          <p:cNvPr id="21" name="Text 19"/>
          <p:cNvSpPr/>
          <p:nvPr/>
        </p:nvSpPr>
        <p:spPr>
          <a:xfrm>
            <a:off x="805815" y="1881932"/>
            <a:ext cx="386848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分级</a:t>
            </a:r>
            <a:pPr algn="l" indent="0" marL="0">
              <a:buNone/>
            </a:pPr>
            <a:r>
              <a:rPr lang="en-US" sz="473" b="1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TRIAGE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1303020" y="1896219"/>
            <a:ext cx="548640" cy="108585"/>
          </a:xfrm>
          <a:prstGeom prst="roundRect">
            <a:avLst>
              <a:gd name="adj" fmla="val 26316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03020" y="1896219"/>
            <a:ext cx="614477" cy="10858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TRIAGE</a:t>
            </a:r>
            <a:endParaRPr lang="en-US" sz="473" dirty="0"/>
          </a:p>
        </p:txBody>
      </p:sp>
      <p:sp>
        <p:nvSpPr>
          <p:cNvPr id="24" name="Text 22"/>
          <p:cNvSpPr/>
          <p:nvPr/>
        </p:nvSpPr>
        <p:spPr>
          <a:xfrm>
            <a:off x="805815" y="2047667"/>
            <a:ext cx="3868484" cy="1214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建立 Bug、Feature、Question 等分类标签体系，按优先级排序管理，提升 Issue 流转与团队协作效率。</a:t>
            </a:r>
            <a:endParaRPr lang="en-US" sz="563" dirty="0"/>
          </a:p>
        </p:txBody>
      </p:sp>
      <p:sp>
        <p:nvSpPr>
          <p:cNvPr id="25" name="Shape 23"/>
          <p:cNvSpPr/>
          <p:nvPr/>
        </p:nvSpPr>
        <p:spPr>
          <a:xfrm>
            <a:off x="342900" y="2346275"/>
            <a:ext cx="4025503" cy="458629"/>
          </a:xfrm>
          <a:prstGeom prst="roundRect">
            <a:avLst>
              <a:gd name="adj" fmla="val 17445"/>
            </a:avLst>
          </a:prstGeom>
          <a:solidFill>
            <a:srgbClr val="FFFFFF"/>
          </a:solidFill>
          <a:ln w="5715">
            <a:solidFill>
              <a:srgbClr val="E3ED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" y="2346275"/>
            <a:ext cx="22860" cy="447199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7" name="Shape 25"/>
          <p:cNvSpPr/>
          <p:nvPr/>
        </p:nvSpPr>
        <p:spPr>
          <a:xfrm>
            <a:off x="474345" y="2443430"/>
            <a:ext cx="240030" cy="240030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28" name="Text 26"/>
          <p:cNvSpPr/>
          <p:nvPr/>
        </p:nvSpPr>
        <p:spPr>
          <a:xfrm>
            <a:off x="474345" y="2443430"/>
            <a:ext cx="337185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65" dirty="0"/>
          </a:p>
        </p:txBody>
      </p:sp>
      <p:sp>
        <p:nvSpPr>
          <p:cNvPr id="29" name="Text 27"/>
          <p:cNvSpPr/>
          <p:nvPr/>
        </p:nvSpPr>
        <p:spPr>
          <a:xfrm>
            <a:off x="805815" y="2443430"/>
            <a:ext cx="3868484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CODEOWNERS</a:t>
            </a:r>
            <a:pPr algn="l" indent="0" marL="0">
              <a:buNone/>
            </a:pPr>
            <a:r>
              <a:rPr lang="en-US" sz="473" b="1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OWNERSHIP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1525905" y="2446288"/>
            <a:ext cx="702945" cy="108585"/>
          </a:xfrm>
          <a:prstGeom prst="roundRect">
            <a:avLst>
              <a:gd name="adj" fmla="val 26316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25905" y="2446288"/>
            <a:ext cx="787298" cy="10858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OWNERSHIP</a:t>
            </a:r>
            <a:endParaRPr lang="en-US" sz="473" dirty="0"/>
          </a:p>
        </p:txBody>
      </p:sp>
      <p:sp>
        <p:nvSpPr>
          <p:cNvPr id="32" name="Text 30"/>
          <p:cNvSpPr/>
          <p:nvPr/>
        </p:nvSpPr>
        <p:spPr>
          <a:xfrm>
            <a:off x="805815" y="2586305"/>
            <a:ext cx="3868484" cy="1214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关键模块设置 CODEOWNERS 文件，明确代码所有权与评审责任人，让每一处变更都有归属、有追溯。</a:t>
            </a:r>
            <a:endParaRPr lang="en-US" sz="563" dirty="0"/>
          </a:p>
        </p:txBody>
      </p:sp>
      <p:sp>
        <p:nvSpPr>
          <p:cNvPr id="33" name="Shape 31"/>
          <p:cNvSpPr/>
          <p:nvPr/>
        </p:nvSpPr>
        <p:spPr>
          <a:xfrm>
            <a:off x="342900" y="2884914"/>
            <a:ext cx="4025503" cy="481489"/>
          </a:xfrm>
          <a:prstGeom prst="roundRect">
            <a:avLst>
              <a:gd name="adj" fmla="val 16617"/>
            </a:avLst>
          </a:prstGeom>
          <a:solidFill>
            <a:srgbClr val="FFFFFF"/>
          </a:solidFill>
          <a:ln w="5715">
            <a:solidFill>
              <a:srgbClr val="E3ED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900" y="2884914"/>
            <a:ext cx="22860" cy="470059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5" name="Shape 33"/>
          <p:cNvSpPr/>
          <p:nvPr/>
        </p:nvSpPr>
        <p:spPr>
          <a:xfrm>
            <a:off x="474345" y="2982069"/>
            <a:ext cx="240030" cy="240030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36" name="Text 34"/>
          <p:cNvSpPr/>
          <p:nvPr/>
        </p:nvSpPr>
        <p:spPr>
          <a:xfrm>
            <a:off x="474345" y="2982069"/>
            <a:ext cx="337185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65" dirty="0"/>
          </a:p>
        </p:txBody>
      </p:sp>
      <p:sp>
        <p:nvSpPr>
          <p:cNvPr id="37" name="Text 35"/>
          <p:cNvSpPr/>
          <p:nvPr/>
        </p:nvSpPr>
        <p:spPr>
          <a:xfrm>
            <a:off x="805815" y="2982069"/>
            <a:ext cx="386848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自动化</a:t>
            </a:r>
            <a:pPr algn="l" indent="0" marL="0">
              <a:buNone/>
            </a:pPr>
            <a:r>
              <a:rPr lang="en-US" sz="473" b="1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INTEGRATION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1245870" y="2996357"/>
            <a:ext cx="1005840" cy="108585"/>
          </a:xfrm>
          <a:prstGeom prst="roundRect">
            <a:avLst>
              <a:gd name="adj" fmla="val 26316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45870" y="2996357"/>
            <a:ext cx="1126541" cy="10858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73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INTEGRATION</a:t>
            </a:r>
            <a:endParaRPr lang="en-US" sz="473" dirty="0"/>
          </a:p>
        </p:txBody>
      </p:sp>
      <p:sp>
        <p:nvSpPr>
          <p:cNvPr id="40" name="Text 38"/>
          <p:cNvSpPr/>
          <p:nvPr/>
        </p:nvSpPr>
        <p:spPr>
          <a:xfrm>
            <a:off x="805815" y="3147804"/>
            <a:ext cx="3868484" cy="1214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每次提交自动运行测试与代码检查，实时反馈构建结果，确保代码质量基线不被逾越。</a:t>
            </a:r>
            <a:endParaRPr lang="en-US" sz="563" dirty="0"/>
          </a:p>
        </p:txBody>
      </p:sp>
      <p:sp>
        <p:nvSpPr>
          <p:cNvPr id="41" name="Text 39"/>
          <p:cNvSpPr/>
          <p:nvPr/>
        </p:nvSpPr>
        <p:spPr>
          <a:xfrm>
            <a:off x="4597003" y="1101834"/>
            <a:ext cx="1113739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 Request 评审流程示意</a:t>
            </a:r>
            <a:endParaRPr lang="en-US" sz="585" dirty="0"/>
          </a:p>
        </p:txBody>
      </p:sp>
      <p:sp>
        <p:nvSpPr>
          <p:cNvPr id="42" name="Shape 40"/>
          <p:cNvSpPr/>
          <p:nvPr/>
        </p:nvSpPr>
        <p:spPr>
          <a:xfrm>
            <a:off x="4597003" y="1101834"/>
            <a:ext cx="45720" cy="4572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43" name="Text 41"/>
          <p:cNvSpPr/>
          <p:nvPr/>
        </p:nvSpPr>
        <p:spPr>
          <a:xfrm>
            <a:off x="7898130" y="1110407"/>
            <a:ext cx="428625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主分支同步</a:t>
            </a:r>
            <a:endParaRPr lang="en-US" sz="495" dirty="0"/>
          </a:p>
        </p:txBody>
      </p:sp>
      <p:sp>
        <p:nvSpPr>
          <p:cNvPr id="44" name="Shape 42"/>
          <p:cNvSpPr/>
          <p:nvPr/>
        </p:nvSpPr>
        <p:spPr>
          <a:xfrm>
            <a:off x="7898130" y="1141839"/>
            <a:ext cx="28575" cy="28575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5" name="Text 43"/>
          <p:cNvSpPr/>
          <p:nvPr/>
        </p:nvSpPr>
        <p:spPr>
          <a:xfrm>
            <a:off x="8343900" y="1110407"/>
            <a:ext cx="49720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个检查项通过</a:t>
            </a:r>
            <a:endParaRPr lang="en-US" sz="495" dirty="0"/>
          </a:p>
        </p:txBody>
      </p:sp>
      <p:sp>
        <p:nvSpPr>
          <p:cNvPr id="46" name="Shape 44"/>
          <p:cNvSpPr/>
          <p:nvPr/>
        </p:nvSpPr>
        <p:spPr>
          <a:xfrm>
            <a:off x="4574143" y="1278999"/>
            <a:ext cx="4226957" cy="2761952"/>
          </a:xfrm>
          <a:prstGeom prst="roundRect">
            <a:avLst>
              <a:gd name="adj" fmla="val 2897"/>
            </a:avLst>
          </a:prstGeom>
          <a:solidFill>
            <a:srgbClr val="FFFFFF"/>
          </a:solidFill>
          <a:ln w="5715">
            <a:solidFill>
              <a:srgbClr val="E3EDF5"/>
            </a:solidFill>
            <a:prstDash val="solid"/>
          </a:ln>
          <a:effectLst>
            <a:outerShdw sx="100000" sy="100000" kx="0" ky="0" algn="bl" rotWithShape="0" blurRad="190500" dist="38100" dir="16200000">
              <a:srgbClr val="2196F3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9858" y="1284714"/>
            <a:ext cx="4215527" cy="257175"/>
          </a:xfrm>
          <a:prstGeom prst="rect">
            <a:avLst/>
          </a:prstGeom>
          <a:solidFill>
            <a:srgbClr val="FAFBFD"/>
          </a:solidFill>
          <a:ln/>
        </p:spPr>
      </p:sp>
      <p:sp>
        <p:nvSpPr>
          <p:cNvPr id="48" name="Shape 46"/>
          <p:cNvSpPr/>
          <p:nvPr/>
        </p:nvSpPr>
        <p:spPr>
          <a:xfrm>
            <a:off x="4579858" y="1541889"/>
            <a:ext cx="4215527" cy="0"/>
          </a:xfrm>
          <a:prstGeom prst="line">
            <a:avLst/>
          </a:prstGeom>
          <a:noFill/>
          <a:ln w="5715">
            <a:solidFill>
              <a:srgbClr val="E3ED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71298" y="1341864"/>
            <a:ext cx="1054418" cy="137160"/>
          </a:xfrm>
          <a:prstGeom prst="roundRect">
            <a:avLst>
              <a:gd name="adj" fmla="val 25000"/>
            </a:avLst>
          </a:prstGeom>
          <a:solidFill>
            <a:srgbClr val="E8F2FF"/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71298" y="1341864"/>
            <a:ext cx="11809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⬡</a:t>
            </a:r>
            <a:endParaRPr lang="en-US" sz="518" dirty="0"/>
          </a:p>
          <a:p>
            <a:pPr algn="l" indent="0" marL="0">
              <a:buNone/>
            </a:pPr>
            <a:r>
              <a:rPr lang="en-US" sz="518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← feature/ci-refactor</a:t>
            </a:r>
            <a:endParaRPr lang="en-US" sz="518" dirty="0"/>
          </a:p>
        </p:txBody>
      </p:sp>
      <p:sp>
        <p:nvSpPr>
          <p:cNvPr id="51" name="Text 49"/>
          <p:cNvSpPr/>
          <p:nvPr/>
        </p:nvSpPr>
        <p:spPr>
          <a:xfrm>
            <a:off x="5782866" y="1370439"/>
            <a:ext cx="640080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8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 Request</a:t>
            </a:r>
            <a:pPr algn="l" indent="0" marL="0">
              <a:buNone/>
            </a:pPr>
            <a:r>
              <a:rPr lang="en-US" sz="518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#247</a:t>
            </a:r>
            <a:endParaRPr lang="en-US" sz="518" dirty="0"/>
          </a:p>
        </p:txBody>
      </p:sp>
      <p:sp>
        <p:nvSpPr>
          <p:cNvPr id="52" name="Shape 50"/>
          <p:cNvSpPr/>
          <p:nvPr/>
        </p:nvSpPr>
        <p:spPr>
          <a:xfrm>
            <a:off x="7138035" y="1347579"/>
            <a:ext cx="742950" cy="125730"/>
          </a:xfrm>
          <a:prstGeom prst="roundRect">
            <a:avLst>
              <a:gd name="adj" fmla="val 27273"/>
            </a:avLst>
          </a:prstGeom>
          <a:solidFill>
            <a:srgbClr val="2ECC71">
              <a:alpha val="12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138035" y="1347579"/>
            <a:ext cx="832104" cy="125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b="1" dirty="0">
                <a:solidFill>
                  <a:srgbClr val="1E8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checks passed</a:t>
            </a:r>
            <a:endParaRPr lang="en-US" sz="495" dirty="0"/>
          </a:p>
        </p:txBody>
      </p:sp>
      <p:sp>
        <p:nvSpPr>
          <p:cNvPr id="54" name="Shape 52"/>
          <p:cNvSpPr/>
          <p:nvPr/>
        </p:nvSpPr>
        <p:spPr>
          <a:xfrm>
            <a:off x="7195185" y="1390442"/>
            <a:ext cx="40005" cy="40005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55" name="Shape 53"/>
          <p:cNvSpPr/>
          <p:nvPr/>
        </p:nvSpPr>
        <p:spPr>
          <a:xfrm>
            <a:off x="7938135" y="1344722"/>
            <a:ext cx="765810" cy="131445"/>
          </a:xfrm>
          <a:prstGeom prst="roundRect">
            <a:avLst>
              <a:gd name="adj" fmla="val 26087"/>
            </a:avLst>
          </a:prstGeom>
          <a:solidFill>
            <a:srgbClr val="2196F3"/>
          </a:solidFill>
          <a:ln/>
        </p:spPr>
      </p:sp>
      <p:sp>
        <p:nvSpPr>
          <p:cNvPr id="56" name="Text 54"/>
          <p:cNvSpPr/>
          <p:nvPr/>
        </p:nvSpPr>
        <p:spPr>
          <a:xfrm>
            <a:off x="7938135" y="1344722"/>
            <a:ext cx="857707" cy="131445"/>
          </a:xfrm>
          <a:prstGeom prst="rect">
            <a:avLst/>
          </a:prstGeom>
          <a:noFill/>
          <a:ln/>
        </p:spPr>
        <p:txBody>
          <a:bodyPr wrap="square" lIns="28575" tIns="68580" rIns="68580" bIns="28575" rtlCol="0" anchor="ctr"/>
          <a:lstStyle/>
          <a:p>
            <a:pPr algn="ctr" indent="0" marL="0">
              <a:buNone/>
            </a:pPr>
            <a:r>
              <a:rPr lang="en-US" sz="49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 Request Review</a:t>
            </a:r>
            <a:endParaRPr lang="en-US" sz="495" dirty="0"/>
          </a:p>
        </p:txBody>
      </p:sp>
      <p:sp>
        <p:nvSpPr>
          <p:cNvPr id="57" name="Shape 55"/>
          <p:cNvSpPr/>
          <p:nvPr/>
        </p:nvSpPr>
        <p:spPr>
          <a:xfrm>
            <a:off x="4671298" y="1621899"/>
            <a:ext cx="4032647" cy="165735"/>
          </a:xfrm>
          <a:prstGeom prst="rect">
            <a:avLst/>
          </a:prstGeom>
          <a:noFill/>
          <a:ln/>
        </p:spPr>
      </p:sp>
      <p:sp>
        <p:nvSpPr>
          <p:cNvPr id="58" name="Shape 56"/>
          <p:cNvSpPr/>
          <p:nvPr/>
        </p:nvSpPr>
        <p:spPr>
          <a:xfrm>
            <a:off x="4671298" y="1787634"/>
            <a:ext cx="4032647" cy="0"/>
          </a:xfrm>
          <a:prstGeom prst="line">
            <a:avLst/>
          </a:prstGeom>
          <a:noFill/>
          <a:ln w="5715">
            <a:solidFill>
              <a:srgbClr val="E3EDF5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4671298" y="1621899"/>
            <a:ext cx="1154430" cy="114300"/>
          </a:xfrm>
          <a:prstGeom prst="roundRect">
            <a:avLst>
              <a:gd name="adj" fmla="val 25000"/>
            </a:avLst>
          </a:prstGeom>
          <a:solidFill>
            <a:srgbClr val="F0F4F8"/>
          </a:solidFill>
          <a:ln/>
        </p:spPr>
      </p:sp>
      <p:sp>
        <p:nvSpPr>
          <p:cNvPr id="60" name="Text 58"/>
          <p:cNvSpPr/>
          <p:nvPr/>
        </p:nvSpPr>
        <p:spPr>
          <a:xfrm>
            <a:off x="4671298" y="1621899"/>
            <a:ext cx="1292962" cy="114300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.github/pull_request_template.md</a:t>
            </a:r>
            <a:endParaRPr lang="en-US" sz="495" dirty="0"/>
          </a:p>
        </p:txBody>
      </p:sp>
      <p:sp>
        <p:nvSpPr>
          <p:cNvPr id="61" name="Text 59"/>
          <p:cNvSpPr/>
          <p:nvPr/>
        </p:nvSpPr>
        <p:spPr>
          <a:xfrm>
            <a:off x="5871448" y="1636187"/>
            <a:ext cx="908914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73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</a:t>
            </a:r>
            <a:pPr algn="l" indent="0" marL="0">
              <a:buNone/>
            </a:pPr>
            <a:r>
              <a:rPr lang="en-US" sz="473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−3 · 由 ci-bot 自动合并</a:t>
            </a:r>
            <a:endParaRPr lang="en-US" sz="473" dirty="0"/>
          </a:p>
        </p:txBody>
      </p:sp>
      <p:sp>
        <p:nvSpPr>
          <p:cNvPr id="62" name="Shape 60"/>
          <p:cNvSpPr/>
          <p:nvPr/>
        </p:nvSpPr>
        <p:spPr>
          <a:xfrm>
            <a:off x="4671298" y="1844784"/>
            <a:ext cx="4032647" cy="1381244"/>
          </a:xfrm>
          <a:prstGeom prst="roundRect">
            <a:avLst>
              <a:gd name="adj" fmla="val 2483"/>
            </a:avLst>
          </a:prstGeom>
          <a:noFill/>
          <a:ln/>
        </p:spPr>
      </p:sp>
      <p:sp>
        <p:nvSpPr>
          <p:cNvPr id="63" name="Shape 61"/>
          <p:cNvSpPr/>
          <p:nvPr/>
        </p:nvSpPr>
        <p:spPr>
          <a:xfrm>
            <a:off x="4671298" y="1844784"/>
            <a:ext cx="4032647" cy="115104"/>
          </a:xfrm>
          <a:prstGeom prst="rect">
            <a:avLst/>
          </a:prstGeom>
          <a:solidFill>
            <a:srgbClr val="FAFBFD"/>
          </a:solidFill>
          <a:ln/>
        </p:spPr>
      </p:sp>
      <p:sp>
        <p:nvSpPr>
          <p:cNvPr id="64" name="Text 62"/>
          <p:cNvSpPr/>
          <p:nvPr/>
        </p:nvSpPr>
        <p:spPr>
          <a:xfrm>
            <a:off x="4728448" y="1850499"/>
            <a:ext cx="19145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428" dirty="0"/>
          </a:p>
        </p:txBody>
      </p:sp>
      <p:sp>
        <p:nvSpPr>
          <p:cNvPr id="65" name="Text 63"/>
          <p:cNvSpPr/>
          <p:nvPr/>
        </p:nvSpPr>
        <p:spPr>
          <a:xfrm>
            <a:off x="5059918" y="1850499"/>
            <a:ext cx="4017302" cy="101977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73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变更说明</a:t>
            </a:r>
            <a:endParaRPr lang="en-US" sz="473" dirty="0"/>
          </a:p>
        </p:txBody>
      </p:sp>
      <p:sp>
        <p:nvSpPr>
          <p:cNvPr id="66" name="Shape 64"/>
          <p:cNvSpPr/>
          <p:nvPr/>
        </p:nvSpPr>
        <p:spPr>
          <a:xfrm>
            <a:off x="4671298" y="1959888"/>
            <a:ext cx="4032647" cy="115104"/>
          </a:xfrm>
          <a:prstGeom prst="rect">
            <a:avLst/>
          </a:prstGeom>
          <a:solidFill>
            <a:srgbClr val="2ECC71">
              <a:alpha val="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671298" y="1959888"/>
            <a:ext cx="0" cy="115104"/>
          </a:xfrm>
          <a:prstGeom prst="line">
            <a:avLst/>
          </a:prstGeom>
          <a:noFill/>
          <a:ln w="17145">
            <a:solidFill>
              <a:srgbClr val="2ECC7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45593" y="1965603"/>
            <a:ext cx="19145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428" dirty="0"/>
          </a:p>
        </p:txBody>
      </p:sp>
      <p:sp>
        <p:nvSpPr>
          <p:cNvPr id="69" name="Text 67"/>
          <p:cNvSpPr/>
          <p:nvPr/>
        </p:nvSpPr>
        <p:spPr>
          <a:xfrm>
            <a:off x="4939903" y="1965603"/>
            <a:ext cx="13430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28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428" dirty="0"/>
          </a:p>
        </p:txBody>
      </p:sp>
      <p:sp>
        <p:nvSpPr>
          <p:cNvPr id="70" name="Text 68"/>
          <p:cNvSpPr/>
          <p:nvPr/>
        </p:nvSpPr>
        <p:spPr>
          <a:xfrm>
            <a:off x="5077063" y="1965603"/>
            <a:ext cx="3998100" cy="101977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73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变更说明</a:t>
            </a:r>
            <a:endParaRPr lang="en-US" sz="473" dirty="0"/>
          </a:p>
        </p:txBody>
      </p:sp>
      <p:sp>
        <p:nvSpPr>
          <p:cNvPr id="71" name="Shape 69"/>
          <p:cNvSpPr/>
          <p:nvPr/>
        </p:nvSpPr>
        <p:spPr>
          <a:xfrm>
            <a:off x="4671298" y="2074991"/>
            <a:ext cx="4032647" cy="115104"/>
          </a:xfrm>
          <a:prstGeom prst="rect">
            <a:avLst/>
          </a:prstGeom>
          <a:solidFill>
            <a:srgbClr val="2ECC71">
              <a:alpha val="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4671298" y="2074991"/>
            <a:ext cx="0" cy="115104"/>
          </a:xfrm>
          <a:prstGeom prst="line">
            <a:avLst/>
          </a:prstGeom>
          <a:noFill/>
          <a:ln w="17145">
            <a:solidFill>
              <a:srgbClr val="2ECC7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45593" y="2080706"/>
            <a:ext cx="19145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428" dirty="0"/>
          </a:p>
        </p:txBody>
      </p:sp>
      <p:sp>
        <p:nvSpPr>
          <p:cNvPr id="74" name="Text 72"/>
          <p:cNvSpPr/>
          <p:nvPr/>
        </p:nvSpPr>
        <p:spPr>
          <a:xfrm>
            <a:off x="4939903" y="2080706"/>
            <a:ext cx="13430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28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428" dirty="0"/>
          </a:p>
        </p:txBody>
      </p:sp>
      <p:sp>
        <p:nvSpPr>
          <p:cNvPr id="75" name="Text 73"/>
          <p:cNvSpPr/>
          <p:nvPr/>
        </p:nvSpPr>
        <p:spPr>
          <a:xfrm>
            <a:off x="5077063" y="2080706"/>
            <a:ext cx="3998100" cy="101977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73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请简要描述本次提交做了什么：</a:t>
            </a:r>
            <a:endParaRPr lang="en-US" sz="473" dirty="0"/>
          </a:p>
        </p:txBody>
      </p:sp>
      <p:sp>
        <p:nvSpPr>
          <p:cNvPr id="76" name="Shape 74"/>
          <p:cNvSpPr/>
          <p:nvPr/>
        </p:nvSpPr>
        <p:spPr>
          <a:xfrm>
            <a:off x="4671298" y="2190095"/>
            <a:ext cx="4032647" cy="115104"/>
          </a:xfrm>
          <a:prstGeom prst="rect">
            <a:avLst/>
          </a:prstGeom>
          <a:solidFill>
            <a:srgbClr val="2ECC71">
              <a:alpha val="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4671298" y="2190095"/>
            <a:ext cx="0" cy="115104"/>
          </a:xfrm>
          <a:prstGeom prst="line">
            <a:avLst/>
          </a:prstGeom>
          <a:noFill/>
          <a:ln w="17145">
            <a:solidFill>
              <a:srgbClr val="2ECC7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45593" y="2195810"/>
            <a:ext cx="19145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428" dirty="0"/>
          </a:p>
        </p:txBody>
      </p:sp>
      <p:sp>
        <p:nvSpPr>
          <p:cNvPr id="79" name="Text 77"/>
          <p:cNvSpPr/>
          <p:nvPr/>
        </p:nvSpPr>
        <p:spPr>
          <a:xfrm>
            <a:off x="4939903" y="2195810"/>
            <a:ext cx="13430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28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428" dirty="0"/>
          </a:p>
        </p:txBody>
      </p:sp>
      <p:sp>
        <p:nvSpPr>
          <p:cNvPr id="80" name="Text 78"/>
          <p:cNvSpPr/>
          <p:nvPr/>
        </p:nvSpPr>
        <p:spPr>
          <a:xfrm>
            <a:off x="5077063" y="2195810"/>
            <a:ext cx="3998100" cy="101977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73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修复了 xxx 问题</a:t>
            </a:r>
            <a:endParaRPr lang="en-US" sz="473" dirty="0"/>
          </a:p>
        </p:txBody>
      </p:sp>
      <p:sp>
        <p:nvSpPr>
          <p:cNvPr id="81" name="Shape 79"/>
          <p:cNvSpPr/>
          <p:nvPr/>
        </p:nvSpPr>
        <p:spPr>
          <a:xfrm>
            <a:off x="4671298" y="2305199"/>
            <a:ext cx="4032647" cy="115104"/>
          </a:xfrm>
          <a:prstGeom prst="rect">
            <a:avLst/>
          </a:prstGeom>
          <a:solidFill>
            <a:srgbClr val="2ECC71">
              <a:alpha val="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4671298" y="2305199"/>
            <a:ext cx="0" cy="115104"/>
          </a:xfrm>
          <a:prstGeom prst="line">
            <a:avLst/>
          </a:prstGeom>
          <a:noFill/>
          <a:ln w="17145">
            <a:solidFill>
              <a:srgbClr val="2ECC7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45593" y="2310914"/>
            <a:ext cx="19145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</a:t>
            </a:r>
            <a:endParaRPr lang="en-US" sz="428" dirty="0"/>
          </a:p>
        </p:txBody>
      </p:sp>
      <p:sp>
        <p:nvSpPr>
          <p:cNvPr id="84" name="Text 82"/>
          <p:cNvSpPr/>
          <p:nvPr/>
        </p:nvSpPr>
        <p:spPr>
          <a:xfrm>
            <a:off x="4939903" y="2310914"/>
            <a:ext cx="13430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28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428" dirty="0"/>
          </a:p>
        </p:txBody>
      </p:sp>
      <p:sp>
        <p:nvSpPr>
          <p:cNvPr id="85" name="Text 83"/>
          <p:cNvSpPr/>
          <p:nvPr/>
        </p:nvSpPr>
        <p:spPr>
          <a:xfrm>
            <a:off x="5077063" y="2310914"/>
            <a:ext cx="3998100" cy="101977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73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新增了 xxx 功能</a:t>
            </a:r>
            <a:endParaRPr lang="en-US" sz="473" dirty="0"/>
          </a:p>
        </p:txBody>
      </p:sp>
      <p:sp>
        <p:nvSpPr>
          <p:cNvPr id="86" name="Shape 84"/>
          <p:cNvSpPr/>
          <p:nvPr/>
        </p:nvSpPr>
        <p:spPr>
          <a:xfrm>
            <a:off x="4671298" y="2420303"/>
            <a:ext cx="4032647" cy="115104"/>
          </a:xfrm>
          <a:prstGeom prst="rect">
            <a:avLst/>
          </a:prstGeom>
          <a:solidFill>
            <a:srgbClr val="FAFBFD"/>
          </a:solidFill>
          <a:ln/>
        </p:spPr>
      </p:sp>
      <p:sp>
        <p:nvSpPr>
          <p:cNvPr id="87" name="Text 85"/>
          <p:cNvSpPr/>
          <p:nvPr/>
        </p:nvSpPr>
        <p:spPr>
          <a:xfrm>
            <a:off x="4728448" y="2426018"/>
            <a:ext cx="19145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</a:t>
            </a:r>
            <a:endParaRPr lang="en-US" sz="428" dirty="0"/>
          </a:p>
        </p:txBody>
      </p:sp>
      <p:sp>
        <p:nvSpPr>
          <p:cNvPr id="88" name="Shape 86"/>
          <p:cNvSpPr/>
          <p:nvPr/>
        </p:nvSpPr>
        <p:spPr>
          <a:xfrm>
            <a:off x="4671298" y="2535406"/>
            <a:ext cx="4032647" cy="115104"/>
          </a:xfrm>
          <a:prstGeom prst="rect">
            <a:avLst/>
          </a:prstGeom>
          <a:solidFill>
            <a:srgbClr val="2ECC71">
              <a:alpha val="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4671298" y="2535406"/>
            <a:ext cx="0" cy="115104"/>
          </a:xfrm>
          <a:prstGeom prst="line">
            <a:avLst/>
          </a:prstGeom>
          <a:noFill/>
          <a:ln w="17145">
            <a:solidFill>
              <a:srgbClr val="2ECC7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45593" y="2541121"/>
            <a:ext cx="19145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428" dirty="0"/>
          </a:p>
        </p:txBody>
      </p:sp>
      <p:sp>
        <p:nvSpPr>
          <p:cNvPr id="91" name="Text 89"/>
          <p:cNvSpPr/>
          <p:nvPr/>
        </p:nvSpPr>
        <p:spPr>
          <a:xfrm>
            <a:off x="4939903" y="2541121"/>
            <a:ext cx="13430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28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428" dirty="0"/>
          </a:p>
        </p:txBody>
      </p:sp>
      <p:sp>
        <p:nvSpPr>
          <p:cNvPr id="92" name="Text 90"/>
          <p:cNvSpPr/>
          <p:nvPr/>
        </p:nvSpPr>
        <p:spPr>
          <a:xfrm>
            <a:off x="5077063" y="2541121"/>
            <a:ext cx="3998100" cy="101977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73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测试验证</a:t>
            </a:r>
            <a:endParaRPr lang="en-US" sz="473" dirty="0"/>
          </a:p>
        </p:txBody>
      </p:sp>
      <p:sp>
        <p:nvSpPr>
          <p:cNvPr id="93" name="Shape 91"/>
          <p:cNvSpPr/>
          <p:nvPr/>
        </p:nvSpPr>
        <p:spPr>
          <a:xfrm>
            <a:off x="4671298" y="2650510"/>
            <a:ext cx="4032647" cy="115104"/>
          </a:xfrm>
          <a:prstGeom prst="rect">
            <a:avLst/>
          </a:prstGeom>
          <a:solidFill>
            <a:srgbClr val="2ECC71">
              <a:alpha val="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4671298" y="2650510"/>
            <a:ext cx="0" cy="115104"/>
          </a:xfrm>
          <a:prstGeom prst="line">
            <a:avLst/>
          </a:prstGeom>
          <a:noFill/>
          <a:ln w="17145">
            <a:solidFill>
              <a:srgbClr val="2ECC7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45593" y="2656225"/>
            <a:ext cx="19145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</a:t>
            </a:r>
            <a:endParaRPr lang="en-US" sz="428" dirty="0"/>
          </a:p>
        </p:txBody>
      </p:sp>
      <p:sp>
        <p:nvSpPr>
          <p:cNvPr id="96" name="Text 94"/>
          <p:cNvSpPr/>
          <p:nvPr/>
        </p:nvSpPr>
        <p:spPr>
          <a:xfrm>
            <a:off x="4939903" y="2656225"/>
            <a:ext cx="13430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28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428" dirty="0"/>
          </a:p>
        </p:txBody>
      </p:sp>
      <p:sp>
        <p:nvSpPr>
          <p:cNvPr id="97" name="Text 95"/>
          <p:cNvSpPr/>
          <p:nvPr/>
        </p:nvSpPr>
        <p:spPr>
          <a:xfrm>
            <a:off x="5077063" y="2656225"/>
            <a:ext cx="3998100" cy="101977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73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 ] 单元测试通过</a:t>
            </a:r>
            <a:endParaRPr lang="en-US" sz="473" dirty="0"/>
          </a:p>
        </p:txBody>
      </p:sp>
      <p:sp>
        <p:nvSpPr>
          <p:cNvPr id="98" name="Shape 96"/>
          <p:cNvSpPr/>
          <p:nvPr/>
        </p:nvSpPr>
        <p:spPr>
          <a:xfrm>
            <a:off x="4671298" y="2765614"/>
            <a:ext cx="4032647" cy="115104"/>
          </a:xfrm>
          <a:prstGeom prst="rect">
            <a:avLst/>
          </a:prstGeom>
          <a:solidFill>
            <a:srgbClr val="2ECC71">
              <a:alpha val="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4671298" y="2765614"/>
            <a:ext cx="0" cy="115104"/>
          </a:xfrm>
          <a:prstGeom prst="line">
            <a:avLst/>
          </a:prstGeom>
          <a:noFill/>
          <a:ln w="17145">
            <a:solidFill>
              <a:srgbClr val="2ECC71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745593" y="2771329"/>
            <a:ext cx="19145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428" dirty="0"/>
          </a:p>
        </p:txBody>
      </p:sp>
      <p:sp>
        <p:nvSpPr>
          <p:cNvPr id="101" name="Text 99"/>
          <p:cNvSpPr/>
          <p:nvPr/>
        </p:nvSpPr>
        <p:spPr>
          <a:xfrm>
            <a:off x="4939903" y="2771329"/>
            <a:ext cx="13430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28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428" dirty="0"/>
          </a:p>
        </p:txBody>
      </p:sp>
      <p:sp>
        <p:nvSpPr>
          <p:cNvPr id="102" name="Text 100"/>
          <p:cNvSpPr/>
          <p:nvPr/>
        </p:nvSpPr>
        <p:spPr>
          <a:xfrm>
            <a:off x="5077063" y="2771329"/>
            <a:ext cx="3998100" cy="101977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73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 ] 集成测试通过</a:t>
            </a:r>
            <a:endParaRPr lang="en-US" sz="473" dirty="0"/>
          </a:p>
        </p:txBody>
      </p:sp>
      <p:sp>
        <p:nvSpPr>
          <p:cNvPr id="103" name="Shape 101"/>
          <p:cNvSpPr/>
          <p:nvPr/>
        </p:nvSpPr>
        <p:spPr>
          <a:xfrm>
            <a:off x="4671298" y="2880717"/>
            <a:ext cx="4032647" cy="115104"/>
          </a:xfrm>
          <a:prstGeom prst="rect">
            <a:avLst/>
          </a:prstGeom>
          <a:solidFill>
            <a:srgbClr val="FAFBFD"/>
          </a:solidFill>
          <a:ln/>
        </p:spPr>
      </p:sp>
      <p:sp>
        <p:nvSpPr>
          <p:cNvPr id="104" name="Text 102"/>
          <p:cNvSpPr/>
          <p:nvPr/>
        </p:nvSpPr>
        <p:spPr>
          <a:xfrm>
            <a:off x="4728448" y="2886432"/>
            <a:ext cx="19145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endParaRPr lang="en-US" sz="428" dirty="0"/>
          </a:p>
        </p:txBody>
      </p:sp>
      <p:sp>
        <p:nvSpPr>
          <p:cNvPr id="105" name="Shape 103"/>
          <p:cNvSpPr/>
          <p:nvPr/>
        </p:nvSpPr>
        <p:spPr>
          <a:xfrm>
            <a:off x="4671298" y="2995821"/>
            <a:ext cx="4032647" cy="115104"/>
          </a:xfrm>
          <a:prstGeom prst="rect">
            <a:avLst/>
          </a:prstGeom>
          <a:solidFill>
            <a:srgbClr val="F44336">
              <a:alpha val="7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4671298" y="2995821"/>
            <a:ext cx="0" cy="115104"/>
          </a:xfrm>
          <a:prstGeom prst="line">
            <a:avLst/>
          </a:prstGeom>
          <a:noFill/>
          <a:ln w="17145">
            <a:solidFill>
              <a:srgbClr val="F4433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745593" y="3001536"/>
            <a:ext cx="19145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428" dirty="0"/>
          </a:p>
        </p:txBody>
      </p:sp>
      <p:sp>
        <p:nvSpPr>
          <p:cNvPr id="108" name="Text 106"/>
          <p:cNvSpPr/>
          <p:nvPr/>
        </p:nvSpPr>
        <p:spPr>
          <a:xfrm>
            <a:off x="4939903" y="3001536"/>
            <a:ext cx="13430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28" b="1" dirty="0">
                <a:solidFill>
                  <a:srgbClr val="F443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428" dirty="0"/>
          </a:p>
        </p:txBody>
      </p:sp>
      <p:sp>
        <p:nvSpPr>
          <p:cNvPr id="109" name="Text 107"/>
          <p:cNvSpPr/>
          <p:nvPr/>
        </p:nvSpPr>
        <p:spPr>
          <a:xfrm>
            <a:off x="5077063" y="3001536"/>
            <a:ext cx="3998100" cy="101977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73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请填写变更说明</a:t>
            </a:r>
            <a:endParaRPr lang="en-US" sz="473" dirty="0"/>
          </a:p>
        </p:txBody>
      </p:sp>
      <p:sp>
        <p:nvSpPr>
          <p:cNvPr id="110" name="Shape 108"/>
          <p:cNvSpPr/>
          <p:nvPr/>
        </p:nvSpPr>
        <p:spPr>
          <a:xfrm>
            <a:off x="4671298" y="3110925"/>
            <a:ext cx="4032647" cy="115104"/>
          </a:xfrm>
          <a:prstGeom prst="rect">
            <a:avLst/>
          </a:prstGeom>
          <a:solidFill>
            <a:srgbClr val="2ECC71">
              <a:alpha val="8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4671298" y="3110925"/>
            <a:ext cx="0" cy="115104"/>
          </a:xfrm>
          <a:prstGeom prst="line">
            <a:avLst/>
          </a:prstGeom>
          <a:noFill/>
          <a:ln w="17145">
            <a:solidFill>
              <a:srgbClr val="2ECC71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745593" y="3116640"/>
            <a:ext cx="19145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428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</a:t>
            </a:r>
            <a:endParaRPr lang="en-US" sz="428" dirty="0"/>
          </a:p>
        </p:txBody>
      </p:sp>
      <p:sp>
        <p:nvSpPr>
          <p:cNvPr id="113" name="Text 111"/>
          <p:cNvSpPr/>
          <p:nvPr/>
        </p:nvSpPr>
        <p:spPr>
          <a:xfrm>
            <a:off x="4939903" y="3116640"/>
            <a:ext cx="134303" cy="103674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28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428" dirty="0"/>
          </a:p>
        </p:txBody>
      </p:sp>
      <p:sp>
        <p:nvSpPr>
          <p:cNvPr id="114" name="Text 112"/>
          <p:cNvSpPr/>
          <p:nvPr/>
        </p:nvSpPr>
        <p:spPr>
          <a:xfrm>
            <a:off x="5077063" y="3116640"/>
            <a:ext cx="3998100" cy="101977"/>
          </a:xfrm>
          <a:prstGeom prst="rect">
            <a:avLst/>
          </a:prstGeom>
          <a:noFill/>
          <a:ln/>
        </p:spPr>
        <p:txBody>
          <a:bodyPr wrap="none" lIns="0" tIns="45720" rIns="4572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73" dirty="0">
                <a:solidFill>
                  <a:srgbClr val="1A2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影响范围</a:t>
            </a:r>
            <a:endParaRPr lang="en-US" sz="473" dirty="0"/>
          </a:p>
        </p:txBody>
      </p:sp>
      <p:sp>
        <p:nvSpPr>
          <p:cNvPr id="115" name="Shape 113"/>
          <p:cNvSpPr/>
          <p:nvPr/>
        </p:nvSpPr>
        <p:spPr>
          <a:xfrm>
            <a:off x="4671298" y="3283178"/>
            <a:ext cx="4032647" cy="460593"/>
          </a:xfrm>
          <a:prstGeom prst="roundRect">
            <a:avLst>
              <a:gd name="adj" fmla="val 9926"/>
            </a:avLst>
          </a:prstGeom>
          <a:gradFill rotWithShape="1">
            <a:gsLst>
              <a:gs pos="0">
                <a:srgbClr val="2196F3">
                  <a:alpha val="5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745593" y="3346043"/>
            <a:ext cx="160020" cy="16002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117" name="Text 115"/>
          <p:cNvSpPr/>
          <p:nvPr/>
        </p:nvSpPr>
        <p:spPr>
          <a:xfrm>
            <a:off x="4745593" y="3346043"/>
            <a:ext cx="222885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ZL</a:t>
            </a:r>
            <a:endParaRPr lang="en-US" sz="495" dirty="0"/>
          </a:p>
        </p:txBody>
      </p:sp>
      <p:sp>
        <p:nvSpPr>
          <p:cNvPr id="118" name="Text 116"/>
          <p:cNvSpPr/>
          <p:nvPr/>
        </p:nvSpPr>
        <p:spPr>
          <a:xfrm>
            <a:off x="4962763" y="3346043"/>
            <a:ext cx="4106913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zhanglei</a:t>
            </a:r>
            <a:pPr algn="l" indent="0" marL="0">
              <a:buNone/>
            </a:pPr>
            <a:r>
              <a:rPr lang="en-US" sz="495" b="1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2 小时前</a:t>
            </a:r>
            <a:endParaRPr lang="en-US" sz="495" dirty="0"/>
          </a:p>
        </p:txBody>
      </p:sp>
      <p:sp>
        <p:nvSpPr>
          <p:cNvPr id="119" name="Text 117"/>
          <p:cNvSpPr/>
          <p:nvPr/>
        </p:nvSpPr>
        <p:spPr>
          <a:xfrm>
            <a:off x="4962763" y="3448913"/>
            <a:ext cx="4106913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模板结构很清晰，建议补充回滚方案字段，方便紧急情况快速恢复。</a:t>
            </a:r>
            <a:endParaRPr lang="en-US" sz="495" dirty="0"/>
          </a:p>
        </p:txBody>
      </p:sp>
      <p:sp>
        <p:nvSpPr>
          <p:cNvPr id="120" name="Shape 118"/>
          <p:cNvSpPr/>
          <p:nvPr/>
        </p:nvSpPr>
        <p:spPr>
          <a:xfrm>
            <a:off x="4962763" y="3578036"/>
            <a:ext cx="240030" cy="102870"/>
          </a:xfrm>
          <a:prstGeom prst="roundRect">
            <a:avLst>
              <a:gd name="adj" fmla="val 22222"/>
            </a:avLst>
          </a:prstGeom>
          <a:solidFill>
            <a:srgbClr val="2196F3">
              <a:alpha val="12000"/>
            </a:srgbClr>
          </a:solidFill>
          <a:ln/>
        </p:spPr>
      </p:sp>
      <p:sp>
        <p:nvSpPr>
          <p:cNvPr id="121" name="Text 119"/>
          <p:cNvSpPr/>
          <p:nvPr/>
        </p:nvSpPr>
        <p:spPr>
          <a:xfrm>
            <a:off x="4962763" y="3578036"/>
            <a:ext cx="294323" cy="10287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28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🏷 模板</a:t>
            </a:r>
            <a:endParaRPr lang="en-US" sz="428" dirty="0"/>
          </a:p>
        </p:txBody>
      </p:sp>
      <p:sp>
        <p:nvSpPr>
          <p:cNvPr id="122" name="Shape 120"/>
          <p:cNvSpPr/>
          <p:nvPr/>
        </p:nvSpPr>
        <p:spPr>
          <a:xfrm>
            <a:off x="5231368" y="3578036"/>
            <a:ext cx="238333" cy="102870"/>
          </a:xfrm>
          <a:prstGeom prst="roundRect">
            <a:avLst>
              <a:gd name="adj" fmla="val 22222"/>
            </a:avLst>
          </a:prstGeom>
          <a:solidFill>
            <a:srgbClr val="00BCD4">
              <a:alpha val="12000"/>
            </a:srgbClr>
          </a:solidFill>
          <a:ln/>
        </p:spPr>
      </p:sp>
      <p:sp>
        <p:nvSpPr>
          <p:cNvPr id="123" name="Text 121"/>
          <p:cNvSpPr/>
          <p:nvPr/>
        </p:nvSpPr>
        <p:spPr>
          <a:xfrm>
            <a:off x="5231368" y="3578036"/>
            <a:ext cx="292626" cy="10287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buNone/>
            </a:pPr>
            <a:r>
              <a:rPr lang="en-US" sz="428" dirty="0">
                <a:solidFill>
                  <a:srgbClr val="0083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💬 建议</a:t>
            </a:r>
            <a:endParaRPr lang="en-US" sz="428" dirty="0"/>
          </a:p>
        </p:txBody>
      </p:sp>
      <p:sp>
        <p:nvSpPr>
          <p:cNvPr id="124" name="Shape 122"/>
          <p:cNvSpPr/>
          <p:nvPr/>
        </p:nvSpPr>
        <p:spPr>
          <a:xfrm>
            <a:off x="4579858" y="3823781"/>
            <a:ext cx="4215527" cy="211455"/>
          </a:xfrm>
          <a:prstGeom prst="rect">
            <a:avLst/>
          </a:prstGeom>
          <a:solidFill>
            <a:srgbClr val="F7FAF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4579858" y="3823781"/>
            <a:ext cx="4215527" cy="0"/>
          </a:xfrm>
          <a:prstGeom prst="line">
            <a:avLst/>
          </a:prstGeom>
          <a:noFill/>
          <a:ln w="5715">
            <a:solidFill>
              <a:srgbClr val="E3EDF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659868" y="3886646"/>
            <a:ext cx="91440" cy="914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27" name="Text 125"/>
          <p:cNvSpPr/>
          <p:nvPr/>
        </p:nvSpPr>
        <p:spPr>
          <a:xfrm>
            <a:off x="4659868" y="3886646"/>
            <a:ext cx="14859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450" dirty="0"/>
          </a:p>
        </p:txBody>
      </p:sp>
      <p:sp>
        <p:nvSpPr>
          <p:cNvPr id="128" name="Text 126"/>
          <p:cNvSpPr/>
          <p:nvPr/>
        </p:nvSpPr>
        <p:spPr>
          <a:xfrm>
            <a:off x="4797028" y="3886646"/>
            <a:ext cx="451485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b="1" dirty="0">
                <a:solidFill>
                  <a:srgbClr val="1A2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构建 ·</a:t>
            </a:r>
            <a:pPr algn="l" indent="0" marL="0">
              <a:buNone/>
            </a:pPr>
            <a:r>
              <a:rPr lang="en-US" sz="495" b="1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</a:t>
            </a:r>
            <a:endParaRPr lang="en-US" sz="495" dirty="0"/>
          </a:p>
        </p:txBody>
      </p:sp>
      <p:sp>
        <p:nvSpPr>
          <p:cNvPr id="129" name="Shape 127"/>
          <p:cNvSpPr/>
          <p:nvPr/>
        </p:nvSpPr>
        <p:spPr>
          <a:xfrm>
            <a:off x="5277088" y="3920936"/>
            <a:ext cx="3078242" cy="22860"/>
          </a:xfrm>
          <a:prstGeom prst="roundRect">
            <a:avLst>
              <a:gd name="adj" fmla="val 50000"/>
            </a:avLst>
          </a:prstGeom>
          <a:solidFill>
            <a:srgbClr val="E8EDF2"/>
          </a:solidFill>
          <a:ln/>
        </p:spPr>
      </p:sp>
      <p:sp>
        <p:nvSpPr>
          <p:cNvPr id="130" name="Shape 128"/>
          <p:cNvSpPr/>
          <p:nvPr/>
        </p:nvSpPr>
        <p:spPr>
          <a:xfrm>
            <a:off x="5277088" y="3920936"/>
            <a:ext cx="3078242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31" name="Text 129"/>
          <p:cNvSpPr/>
          <p:nvPr/>
        </p:nvSpPr>
        <p:spPr>
          <a:xfrm>
            <a:off x="8446770" y="3889504"/>
            <a:ext cx="32575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分 24 秒</a:t>
            </a:r>
            <a:endParaRPr lang="en-US" sz="450" dirty="0"/>
          </a:p>
        </p:txBody>
      </p:sp>
      <p:sp>
        <p:nvSpPr>
          <p:cNvPr id="132" name="Shape 130"/>
          <p:cNvSpPr/>
          <p:nvPr/>
        </p:nvSpPr>
        <p:spPr>
          <a:xfrm>
            <a:off x="4597003" y="4109531"/>
            <a:ext cx="477828" cy="148590"/>
          </a:xfrm>
          <a:prstGeom prst="roundRect">
            <a:avLst>
              <a:gd name="adj" fmla="val 23077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597003" y="4109531"/>
            <a:ext cx="540693" cy="148590"/>
          </a:xfrm>
          <a:prstGeom prst="rect">
            <a:avLst/>
          </a:prstGeom>
          <a:noFill/>
          <a:ln/>
        </p:spPr>
        <p:txBody>
          <a:bodyPr wrap="square" lIns="22860" tIns="62865" rIns="62865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PR 模板</a:t>
            </a:r>
            <a:endParaRPr lang="en-US" sz="495" dirty="0"/>
          </a:p>
        </p:txBody>
      </p:sp>
      <p:sp>
        <p:nvSpPr>
          <p:cNvPr id="134" name="Shape 132"/>
          <p:cNvSpPr/>
          <p:nvPr/>
        </p:nvSpPr>
        <p:spPr>
          <a:xfrm>
            <a:off x="4597003" y="4109531"/>
            <a:ext cx="34290" cy="3429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35" name="Shape 133"/>
          <p:cNvSpPr/>
          <p:nvPr/>
        </p:nvSpPr>
        <p:spPr>
          <a:xfrm>
            <a:off x="5120551" y="4109531"/>
            <a:ext cx="560070" cy="148590"/>
          </a:xfrm>
          <a:prstGeom prst="roundRect">
            <a:avLst>
              <a:gd name="adj" fmla="val 23077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120551" y="4109531"/>
            <a:ext cx="627278" cy="148590"/>
          </a:xfrm>
          <a:prstGeom prst="rect">
            <a:avLst/>
          </a:prstGeom>
          <a:noFill/>
          <a:ln/>
        </p:spPr>
        <p:txBody>
          <a:bodyPr wrap="square" lIns="22860" tIns="62865" rIns="62865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83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🏷 Issue 分级</a:t>
            </a:r>
            <a:endParaRPr lang="en-US" sz="495" dirty="0"/>
          </a:p>
        </p:txBody>
      </p:sp>
      <p:sp>
        <p:nvSpPr>
          <p:cNvPr id="137" name="Shape 135"/>
          <p:cNvSpPr/>
          <p:nvPr/>
        </p:nvSpPr>
        <p:spPr>
          <a:xfrm>
            <a:off x="5120551" y="4109531"/>
            <a:ext cx="34290" cy="34290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138" name="Shape 136"/>
          <p:cNvSpPr/>
          <p:nvPr/>
        </p:nvSpPr>
        <p:spPr>
          <a:xfrm>
            <a:off x="5726341" y="4109531"/>
            <a:ext cx="706428" cy="14859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5715">
            <a:solidFill>
              <a:srgbClr val="E3EDF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726341" y="4109531"/>
            <a:ext cx="791199" cy="148590"/>
          </a:xfrm>
          <a:prstGeom prst="rect">
            <a:avLst/>
          </a:prstGeom>
          <a:noFill/>
          <a:ln/>
        </p:spPr>
        <p:txBody>
          <a:bodyPr wrap="square" lIns="22860" tIns="62865" rIns="62865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CODEOWNERS</a:t>
            </a:r>
            <a:endParaRPr lang="en-US" sz="495" dirty="0"/>
          </a:p>
        </p:txBody>
      </p:sp>
      <p:sp>
        <p:nvSpPr>
          <p:cNvPr id="140" name="Shape 138"/>
          <p:cNvSpPr/>
          <p:nvPr/>
        </p:nvSpPr>
        <p:spPr>
          <a:xfrm>
            <a:off x="5726341" y="4109531"/>
            <a:ext cx="34290" cy="34290"/>
          </a:xfrm>
          <a:prstGeom prst="ellipse">
            <a:avLst/>
          </a:prstGeom>
          <a:solidFill>
            <a:srgbClr val="607D8B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478488" y="4109531"/>
            <a:ext cx="529977" cy="14859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5715">
            <a:solidFill>
              <a:srgbClr val="E3EDF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478488" y="4109531"/>
            <a:ext cx="593574" cy="148590"/>
          </a:xfrm>
          <a:prstGeom prst="rect">
            <a:avLst/>
          </a:prstGeom>
          <a:noFill/>
          <a:ln/>
        </p:spPr>
        <p:txBody>
          <a:bodyPr wrap="square" lIns="22860" tIns="62865" rIns="62865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CI 自动化</a:t>
            </a:r>
            <a:endParaRPr lang="en-US" sz="495" dirty="0"/>
          </a:p>
        </p:txBody>
      </p:sp>
      <p:sp>
        <p:nvSpPr>
          <p:cNvPr id="143" name="Shape 141"/>
          <p:cNvSpPr/>
          <p:nvPr/>
        </p:nvSpPr>
        <p:spPr>
          <a:xfrm>
            <a:off x="6478488" y="4109531"/>
            <a:ext cx="34290" cy="34290"/>
          </a:xfrm>
          <a:prstGeom prst="ellipse">
            <a:avLst/>
          </a:prstGeom>
          <a:solidFill>
            <a:srgbClr val="607D8B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054185" y="4109531"/>
            <a:ext cx="727055" cy="14859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5715">
            <a:solidFill>
              <a:srgbClr val="E3EDF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054185" y="4109531"/>
            <a:ext cx="814302" cy="148590"/>
          </a:xfrm>
          <a:prstGeom prst="rect">
            <a:avLst/>
          </a:prstGeom>
          <a:noFill/>
          <a:ln/>
        </p:spPr>
        <p:txBody>
          <a:bodyPr wrap="square" lIns="22860" tIns="62865" rIns="62865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Checks Passed</a:t>
            </a:r>
            <a:endParaRPr lang="en-US" sz="495" dirty="0"/>
          </a:p>
        </p:txBody>
      </p:sp>
      <p:sp>
        <p:nvSpPr>
          <p:cNvPr id="146" name="Shape 144"/>
          <p:cNvSpPr/>
          <p:nvPr/>
        </p:nvSpPr>
        <p:spPr>
          <a:xfrm>
            <a:off x="7054185" y="4109531"/>
            <a:ext cx="34290" cy="34290"/>
          </a:xfrm>
          <a:prstGeom prst="ellipse">
            <a:avLst/>
          </a:prstGeom>
          <a:solidFill>
            <a:srgbClr val="607D8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0" y="-914400"/>
            <a:ext cx="2971800" cy="2971800"/>
          </a:xfrm>
          <a:prstGeom prst="ellipse">
            <a:avLst/>
          </a:prstGeom>
          <a:solidFill>
            <a:srgbClr val="2196F3">
              <a:alpha val="12000"/>
            </a:srgbClr>
          </a:solidFill>
          <a:ln/>
          <a:effectLst>
            <a:outerShdw sx="100000" sy="100000" kx="0" ky="0" algn="bl" rotWithShape="0" blurRad="457200" dist="50800" dir="16200000">
              <a:srgbClr val="2196F3">
                <a:alpha val="6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972300" y="3314700"/>
            <a:ext cx="2743200" cy="2743200"/>
          </a:xfrm>
          <a:prstGeom prst="ellipse">
            <a:avLst/>
          </a:prstGeom>
          <a:solidFill>
            <a:srgbClr val="00BCD4">
              <a:alpha val="12000"/>
            </a:srgbClr>
          </a:solidFill>
          <a:ln/>
          <a:effectLst>
            <a:outerShdw sx="100000" sy="100000" kx="0" ky="0" algn="bl" rotWithShape="0" blurRad="457200" dist="50800" dir="16200000">
              <a:srgbClr val="00BCD4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86300" y="2057400"/>
            <a:ext cx="1714500" cy="1714500"/>
          </a:xfrm>
          <a:prstGeom prst="ellipse">
            <a:avLst/>
          </a:prstGeom>
          <a:solidFill>
            <a:srgbClr val="2196F3">
              <a:alpha val="6000"/>
            </a:srgbClr>
          </a:solidFill>
          <a:ln/>
          <a:effectLst>
            <a:outerShdw sx="100000" sy="100000" kx="0" ky="0" algn="bl" rotWithShape="0" blurRad="457200" dist="50800" dir="16200000">
              <a:srgbClr val="2196F3">
                <a:alpha val="6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274320"/>
            <a:ext cx="9319565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980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协作新原则</a:t>
            </a:r>
            <a:endParaRPr lang="en-US" sz="1980" dirty="0"/>
          </a:p>
        </p:txBody>
      </p:sp>
      <p:sp>
        <p:nvSpPr>
          <p:cNvPr id="6" name="Shape 4"/>
          <p:cNvSpPr/>
          <p:nvPr/>
        </p:nvSpPr>
        <p:spPr>
          <a:xfrm>
            <a:off x="411480" y="274320"/>
            <a:ext cx="365760" cy="22860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</p:spPr>
      </p:sp>
      <p:sp>
        <p:nvSpPr>
          <p:cNvPr id="7" name="Text 5"/>
          <p:cNvSpPr/>
          <p:nvPr/>
        </p:nvSpPr>
        <p:spPr>
          <a:xfrm>
            <a:off x="2057400" y="800100"/>
            <a:ext cx="5632704" cy="1462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2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好的开源社区不仅需要好的代码，更需要好的文化。以下四条软性原则，共同守护社区长久的生命力。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411480" y="1152108"/>
            <a:ext cx="4091940" cy="1609933"/>
          </a:xfrm>
          <a:prstGeom prst="roundRect">
            <a:avLst>
              <a:gd name="adj" fmla="val 6390"/>
            </a:avLst>
          </a:prstGeom>
          <a:solidFill>
            <a:srgbClr val="FFFFFF"/>
          </a:solidFill>
          <a:ln w="5715">
            <a:solidFill>
              <a:srgbClr val="E8F0F8"/>
            </a:solidFill>
            <a:prstDash val="solid"/>
          </a:ln>
          <a:effectLst>
            <a:outerShdw sx="100000" sy="100000" kx="0" ky="0" algn="bl" rotWithShape="0" blurRad="190500" dist="38100" dir="16200000">
              <a:srgbClr val="2196F3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152108"/>
            <a:ext cx="28575" cy="1598503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0" name="Shape 8"/>
          <p:cNvSpPr/>
          <p:nvPr/>
        </p:nvSpPr>
        <p:spPr>
          <a:xfrm>
            <a:off x="600075" y="1317843"/>
            <a:ext cx="411480" cy="41148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E3F2FD"/>
              </a:gs>
              <a:gs pos="100000">
                <a:srgbClr val="E0F7FA"/>
              </a:gs>
            </a:gsLst>
            <a:lin ang="2700000" scaled="0"/>
          </a:gradFill>
          <a:ln w="5715">
            <a:solidFill>
              <a:srgbClr val="CCE8F5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2945" y="1420713"/>
            <a:ext cx="205740" cy="2057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8715" y="1317843"/>
            <a:ext cx="354604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 01</a:t>
            </a:r>
            <a:endParaRPr lang="en-US" sz="540" dirty="0"/>
          </a:p>
        </p:txBody>
      </p:sp>
      <p:sp>
        <p:nvSpPr>
          <p:cNvPr id="13" name="Text 10"/>
          <p:cNvSpPr/>
          <p:nvPr/>
        </p:nvSpPr>
        <p:spPr>
          <a:xfrm>
            <a:off x="1148715" y="1460718"/>
            <a:ext cx="3546043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spc="23" kern="0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包容与尊重</a:t>
            </a:r>
            <a:endParaRPr lang="en-US" sz="990" dirty="0"/>
          </a:p>
        </p:txBody>
      </p:sp>
      <p:sp>
        <p:nvSpPr>
          <p:cNvPr id="14" name="Text 11"/>
          <p:cNvSpPr/>
          <p:nvPr/>
        </p:nvSpPr>
        <p:spPr>
          <a:xfrm>
            <a:off x="1148715" y="1689318"/>
            <a:ext cx="3546043" cy="1408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4A5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无论经验深浅，每位贡献者都应得到平等对待和及时回应，让每个声音都被听见。</a:t>
            </a:r>
            <a:endParaRPr lang="en-US" sz="653" dirty="0"/>
          </a:p>
        </p:txBody>
      </p:sp>
      <p:sp>
        <p:nvSpPr>
          <p:cNvPr id="15" name="Shape 12"/>
          <p:cNvSpPr/>
          <p:nvPr/>
        </p:nvSpPr>
        <p:spPr>
          <a:xfrm>
            <a:off x="4640580" y="1152108"/>
            <a:ext cx="4091940" cy="1609933"/>
          </a:xfrm>
          <a:prstGeom prst="roundRect">
            <a:avLst>
              <a:gd name="adj" fmla="val 6390"/>
            </a:avLst>
          </a:prstGeom>
          <a:solidFill>
            <a:srgbClr val="FFFFFF"/>
          </a:solidFill>
          <a:ln w="5715">
            <a:solidFill>
              <a:srgbClr val="E8F0F8"/>
            </a:solidFill>
            <a:prstDash val="solid"/>
          </a:ln>
          <a:effectLst>
            <a:outerShdw sx="100000" sy="100000" kx="0" ky="0" algn="bl" rotWithShape="0" blurRad="190500" dist="38100" dir="16200000">
              <a:srgbClr val="2196F3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40580" y="1152108"/>
            <a:ext cx="28575" cy="1598503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7" name="Shape 14"/>
          <p:cNvSpPr/>
          <p:nvPr/>
        </p:nvSpPr>
        <p:spPr>
          <a:xfrm>
            <a:off x="4829175" y="1317843"/>
            <a:ext cx="411480" cy="41148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E3F2FD"/>
              </a:gs>
              <a:gs pos="100000">
                <a:srgbClr val="E0F7FA"/>
              </a:gs>
            </a:gsLst>
            <a:lin ang="2700000" scaled="0"/>
          </a:gradFill>
          <a:ln w="5715">
            <a:solidFill>
              <a:srgbClr val="CCE8F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2045" y="1420713"/>
            <a:ext cx="205740" cy="2057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77815" y="1317843"/>
            <a:ext cx="354604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 02</a:t>
            </a:r>
            <a:endParaRPr lang="en-US" sz="540" dirty="0"/>
          </a:p>
        </p:txBody>
      </p:sp>
      <p:sp>
        <p:nvSpPr>
          <p:cNvPr id="20" name="Text 16"/>
          <p:cNvSpPr/>
          <p:nvPr/>
        </p:nvSpPr>
        <p:spPr>
          <a:xfrm>
            <a:off x="5377815" y="1460718"/>
            <a:ext cx="3546043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spc="23" kern="0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透明决策</a:t>
            </a:r>
            <a:endParaRPr lang="en-US" sz="990" dirty="0"/>
          </a:p>
        </p:txBody>
      </p:sp>
      <p:sp>
        <p:nvSpPr>
          <p:cNvPr id="21" name="Text 17"/>
          <p:cNvSpPr/>
          <p:nvPr/>
        </p:nvSpPr>
        <p:spPr>
          <a:xfrm>
            <a:off x="5377815" y="1689318"/>
            <a:ext cx="3546043" cy="1408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4A5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重大方向变更需通过公开讨论达成共识，让每个人都能了解决策逻辑，避免暗箱操作。</a:t>
            </a:r>
            <a:endParaRPr lang="en-US" sz="653" dirty="0"/>
          </a:p>
        </p:txBody>
      </p:sp>
      <p:sp>
        <p:nvSpPr>
          <p:cNvPr id="22" name="Shape 18"/>
          <p:cNvSpPr/>
          <p:nvPr/>
        </p:nvSpPr>
        <p:spPr>
          <a:xfrm>
            <a:off x="411480" y="2899202"/>
            <a:ext cx="4091940" cy="1609933"/>
          </a:xfrm>
          <a:prstGeom prst="roundRect">
            <a:avLst>
              <a:gd name="adj" fmla="val 6390"/>
            </a:avLst>
          </a:prstGeom>
          <a:solidFill>
            <a:srgbClr val="FFFFFF"/>
          </a:solidFill>
          <a:ln w="5715">
            <a:solidFill>
              <a:srgbClr val="E8F0F8"/>
            </a:solidFill>
            <a:prstDash val="solid"/>
          </a:ln>
          <a:effectLst>
            <a:outerShdw sx="100000" sy="100000" kx="0" ky="0" algn="bl" rotWithShape="0" blurRad="190500" dist="38100" dir="16200000">
              <a:srgbClr val="2196F3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11480" y="2899202"/>
            <a:ext cx="28575" cy="1598503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4" name="Shape 20"/>
          <p:cNvSpPr/>
          <p:nvPr/>
        </p:nvSpPr>
        <p:spPr>
          <a:xfrm>
            <a:off x="600075" y="3064937"/>
            <a:ext cx="411480" cy="41148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E3F2FD"/>
              </a:gs>
              <a:gs pos="100000">
                <a:srgbClr val="E0F7FA"/>
              </a:gs>
            </a:gsLst>
            <a:lin ang="2700000" scaled="0"/>
          </a:gradFill>
          <a:ln w="5715">
            <a:solidFill>
              <a:srgbClr val="CCE8F5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945" y="3167807"/>
            <a:ext cx="205740" cy="2057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48715" y="3064937"/>
            <a:ext cx="354604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 03</a:t>
            </a:r>
            <a:endParaRPr lang="en-US" sz="540" dirty="0"/>
          </a:p>
        </p:txBody>
      </p:sp>
      <p:sp>
        <p:nvSpPr>
          <p:cNvPr id="27" name="Text 22"/>
          <p:cNvSpPr/>
          <p:nvPr/>
        </p:nvSpPr>
        <p:spPr>
          <a:xfrm>
            <a:off x="1148715" y="3207812"/>
            <a:ext cx="3546043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spc="23" kern="0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文档先行</a:t>
            </a:r>
            <a:endParaRPr lang="en-US" sz="990" dirty="0"/>
          </a:p>
        </p:txBody>
      </p:sp>
      <p:sp>
        <p:nvSpPr>
          <p:cNvPr id="28" name="Text 23"/>
          <p:cNvSpPr/>
          <p:nvPr/>
        </p:nvSpPr>
        <p:spPr>
          <a:xfrm>
            <a:off x="1148715" y="3436412"/>
            <a:ext cx="3546043" cy="14082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4A5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新项目启动前先完善 README 与贡献指南，让新人一看就懂，大幅降低入门门槛。</a:t>
            </a:r>
            <a:endParaRPr lang="en-US" sz="653" dirty="0"/>
          </a:p>
        </p:txBody>
      </p:sp>
      <p:sp>
        <p:nvSpPr>
          <p:cNvPr id="29" name="Shape 24"/>
          <p:cNvSpPr/>
          <p:nvPr/>
        </p:nvSpPr>
        <p:spPr>
          <a:xfrm>
            <a:off x="4640580" y="2899202"/>
            <a:ext cx="4091940" cy="1609933"/>
          </a:xfrm>
          <a:prstGeom prst="roundRect">
            <a:avLst>
              <a:gd name="adj" fmla="val 6390"/>
            </a:avLst>
          </a:prstGeom>
          <a:solidFill>
            <a:srgbClr val="FFFFFF"/>
          </a:solidFill>
          <a:ln w="5715">
            <a:solidFill>
              <a:srgbClr val="E8F0F8"/>
            </a:solidFill>
            <a:prstDash val="solid"/>
          </a:ln>
          <a:effectLst>
            <a:outerShdw sx="100000" sy="100000" kx="0" ky="0" algn="bl" rotWithShape="0" blurRad="190500" dist="38100" dir="16200000">
              <a:srgbClr val="2196F3">
                <a:alpha val="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640580" y="2899202"/>
            <a:ext cx="28575" cy="1598503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1" name="Shape 26"/>
          <p:cNvSpPr/>
          <p:nvPr/>
        </p:nvSpPr>
        <p:spPr>
          <a:xfrm>
            <a:off x="4829175" y="3064937"/>
            <a:ext cx="411480" cy="41148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E3F2FD"/>
              </a:gs>
              <a:gs pos="100000">
                <a:srgbClr val="E0F7FA"/>
              </a:gs>
            </a:gsLst>
            <a:lin ang="2700000" scaled="0"/>
          </a:gradFill>
          <a:ln w="5715">
            <a:solidFill>
              <a:srgbClr val="CCE8F5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2045" y="3167807"/>
            <a:ext cx="205740" cy="2057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77815" y="3064937"/>
            <a:ext cx="354604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 04</a:t>
            </a:r>
            <a:endParaRPr lang="en-US" sz="540" dirty="0"/>
          </a:p>
        </p:txBody>
      </p:sp>
      <p:sp>
        <p:nvSpPr>
          <p:cNvPr id="34" name="Text 28"/>
          <p:cNvSpPr/>
          <p:nvPr/>
        </p:nvSpPr>
        <p:spPr>
          <a:xfrm>
            <a:off x="5377815" y="3207812"/>
            <a:ext cx="3546043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spc="23" kern="0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及时反馈</a:t>
            </a:r>
            <a:endParaRPr lang="en-US" sz="990" dirty="0"/>
          </a:p>
        </p:txBody>
      </p:sp>
      <p:sp>
        <p:nvSpPr>
          <p:cNvPr id="35" name="Text 29"/>
          <p:cNvSpPr/>
          <p:nvPr/>
        </p:nvSpPr>
        <p:spPr>
          <a:xfrm>
            <a:off x="5377815" y="3436412"/>
            <a:ext cx="3546043" cy="2816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4A5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所有 Issue 与 PR 应在约定时限内得到回应，让贡献者感受到重视，持续维护社区参与热情。</a:t>
            </a:r>
            <a:endParaRPr lang="en-US" sz="653" dirty="0"/>
          </a:p>
        </p:txBody>
      </p:sp>
      <p:sp>
        <p:nvSpPr>
          <p:cNvPr id="36" name="Shape 30"/>
          <p:cNvSpPr/>
          <p:nvPr/>
        </p:nvSpPr>
        <p:spPr>
          <a:xfrm>
            <a:off x="411480" y="4634865"/>
            <a:ext cx="8321040" cy="280035"/>
          </a:xfrm>
          <a:prstGeom prst="roundRect">
            <a:avLst>
              <a:gd name="adj" fmla="val 20408"/>
            </a:avLst>
          </a:prstGeom>
          <a:gradFill rotWithShape="1">
            <a:gsLst>
              <a:gs pos="0">
                <a:srgbClr val="2196F3">
                  <a:alpha val="5000"/>
                </a:srgbClr>
              </a:gs>
              <a:gs pos="100000">
                <a:srgbClr val="00BCD4">
                  <a:alpha val="5000"/>
                </a:srgbClr>
              </a:gs>
            </a:gsLst>
            <a:lin ang="0" scaled="0"/>
          </a:gradFill>
          <a:ln/>
        </p:spPr>
      </p:sp>
      <p:sp>
        <p:nvSpPr>
          <p:cNvPr id="37" name="Text 31"/>
          <p:cNvSpPr/>
          <p:nvPr/>
        </p:nvSpPr>
        <p:spPr>
          <a:xfrm>
            <a:off x="2697480" y="4726305"/>
            <a:ext cx="4198925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75" spc="45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四条原则互为支撑，共同守护开源社区的</a:t>
            </a:r>
            <a:pPr algn="ctr" indent="0" marL="0">
              <a:buNone/>
            </a:pPr>
            <a:r>
              <a:rPr lang="en-US" sz="675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长久生命力</a:t>
            </a:r>
            <a:pPr algn="ctr" indent="0" marL="0">
              <a:buNone/>
            </a:pPr>
            <a:r>
              <a:rPr lang="en-US" sz="675" spc="45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——让协作更有温度，让贡献更有回响。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8FB"/>
              </a:gs>
              <a:gs pos="50000">
                <a:srgbClr val="E8F4FD"/>
              </a:gs>
              <a:gs pos="100000">
                <a:srgbClr val="F0F9FB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614363"/>
            <a:ext cx="8001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7543800" y="614363"/>
            <a:ext cx="80010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3526155" y="288608"/>
            <a:ext cx="274320" cy="27432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89020" y="351473"/>
            <a:ext cx="148590" cy="1485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14775" y="251460"/>
            <a:ext cx="1554480" cy="3486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890" b="1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工具与安全</a:t>
            </a:r>
            <a:endParaRPr lang="en-US" sz="1890" dirty="0"/>
          </a:p>
        </p:txBody>
      </p:sp>
      <p:sp>
        <p:nvSpPr>
          <p:cNvPr id="8" name="Shape 5"/>
          <p:cNvSpPr/>
          <p:nvPr/>
        </p:nvSpPr>
        <p:spPr>
          <a:xfrm>
            <a:off x="5343525" y="288608"/>
            <a:ext cx="274320" cy="27432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6390" y="351473"/>
            <a:ext cx="148590" cy="1485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71625" y="668655"/>
            <a:ext cx="672084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67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中文友好的工具链</a:t>
            </a:r>
            <a:pPr algn="ctr" indent="0" marL="0">
              <a:lnSpc>
                <a:spcPct val="180000"/>
              </a:lnSpc>
              <a:buNone/>
            </a:pPr>
            <a:r>
              <a:rPr lang="en-US" sz="675" dirty="0">
                <a:solidFill>
                  <a:srgbClr val="4A60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让本土开发者参与门槛更低，</a:t>
            </a:r>
            <a:pPr algn="ctr" indent="0" marL="0">
              <a:lnSpc>
                <a:spcPct val="180000"/>
              </a:lnSpc>
              <a:buNone/>
            </a:pPr>
            <a:r>
              <a:rPr lang="en-US" sz="67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依赖管理与 SBOM</a:t>
            </a:r>
            <a:pPr algn="ctr" indent="0" marL="0">
              <a:lnSpc>
                <a:spcPct val="180000"/>
              </a:lnSpc>
              <a:buNone/>
            </a:pPr>
            <a:r>
              <a:rPr lang="en-US" sz="675" dirty="0">
                <a:solidFill>
                  <a:srgbClr val="4A60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的推行让供应链安全从口号变为实践，</a:t>
            </a:r>
            <a:pPr algn="ctr" indent="0" marL="0">
              <a:lnSpc>
                <a:spcPct val="180000"/>
              </a:lnSpc>
              <a:buNone/>
            </a:pPr>
            <a:r>
              <a:rPr lang="en-US" sz="67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安全响应流程</a:t>
            </a:r>
            <a:pPr algn="ctr" indent="0" marL="0">
              <a:lnSpc>
                <a:spcPct val="180000"/>
              </a:lnSpc>
              <a:buNone/>
            </a:pPr>
            <a:r>
              <a:rPr lang="en-US" sz="675" dirty="0">
                <a:solidFill>
                  <a:srgbClr val="4A60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的标准化确保漏洞发现后能快速处理 —— 工具与安全，双轮并进。</a:t>
            </a:r>
            <a:endParaRPr lang="en-US" sz="675" dirty="0"/>
          </a:p>
        </p:txBody>
      </p:sp>
      <p:sp>
        <p:nvSpPr>
          <p:cNvPr id="11" name="Shape 7"/>
          <p:cNvSpPr/>
          <p:nvPr/>
        </p:nvSpPr>
        <p:spPr>
          <a:xfrm>
            <a:off x="342900" y="1208723"/>
            <a:ext cx="45720" cy="4572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2" name="Text 8"/>
          <p:cNvSpPr/>
          <p:nvPr/>
        </p:nvSpPr>
        <p:spPr>
          <a:xfrm>
            <a:off x="445770" y="1177290"/>
            <a:ext cx="44005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135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工具主题</a:t>
            </a:r>
            <a:endParaRPr lang="en-US" sz="585" dirty="0"/>
          </a:p>
        </p:txBody>
      </p:sp>
      <p:sp>
        <p:nvSpPr>
          <p:cNvPr id="13" name="Shape 9"/>
          <p:cNvSpPr/>
          <p:nvPr/>
        </p:nvSpPr>
        <p:spPr>
          <a:xfrm>
            <a:off x="868680" y="1228725"/>
            <a:ext cx="3208615" cy="5715"/>
          </a:xfrm>
          <a:prstGeom prst="rect">
            <a:avLst/>
          </a:prstGeom>
          <a:solidFill>
            <a:srgbClr val="E1ECF3"/>
          </a:solidFill>
          <a:ln/>
        </p:spPr>
      </p:sp>
      <p:sp>
        <p:nvSpPr>
          <p:cNvPr id="14" name="Shape 10"/>
          <p:cNvSpPr/>
          <p:nvPr/>
        </p:nvSpPr>
        <p:spPr>
          <a:xfrm>
            <a:off x="4134445" y="1160145"/>
            <a:ext cx="634365" cy="142875"/>
          </a:xfrm>
          <a:prstGeom prst="roundRect">
            <a:avLst>
              <a:gd name="adj" fmla="val 80000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134445" y="1160145"/>
            <a:ext cx="710489" cy="142875"/>
          </a:xfrm>
          <a:prstGeom prst="rect">
            <a:avLst/>
          </a:prstGeom>
          <a:noFill/>
          <a:ln/>
        </p:spPr>
        <p:txBody>
          <a:bodyPr wrap="square" lIns="22860" tIns="68580" rIns="68580" bIns="2286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· 降门槛</a:t>
            </a:r>
            <a:endParaRPr lang="en-US" sz="540" dirty="0"/>
          </a:p>
        </p:txBody>
      </p:sp>
      <p:sp>
        <p:nvSpPr>
          <p:cNvPr id="16" name="Shape 12"/>
          <p:cNvSpPr/>
          <p:nvPr/>
        </p:nvSpPr>
        <p:spPr>
          <a:xfrm>
            <a:off x="342900" y="1394460"/>
            <a:ext cx="2172950" cy="1514475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5715">
            <a:solidFill>
              <a:srgbClr val="E1ECF3"/>
            </a:solidFill>
            <a:prstDash val="solid"/>
          </a:ln>
          <a:effectLst>
            <a:outerShdw sx="100000" sy="100000" kx="0" ky="0" algn="bl" rotWithShape="0" blurRad="190500" dist="38100" dir="16200000">
              <a:srgbClr val="2196F3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42900" y="1394460"/>
            <a:ext cx="22860" cy="15030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8" name="Text 14"/>
          <p:cNvSpPr/>
          <p:nvPr/>
        </p:nvSpPr>
        <p:spPr>
          <a:xfrm>
            <a:off x="2184380" y="1468755"/>
            <a:ext cx="493776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2196F3">
                    <a:alpha val="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20" dirty="0"/>
          </a:p>
        </p:txBody>
      </p:sp>
      <p:sp>
        <p:nvSpPr>
          <p:cNvPr id="19" name="Shape 15"/>
          <p:cNvSpPr/>
          <p:nvPr/>
        </p:nvSpPr>
        <p:spPr>
          <a:xfrm>
            <a:off x="462915" y="1503045"/>
            <a:ext cx="22860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12000"/>
                </a:srgbClr>
              </a:gs>
            </a:gsLst>
            <a:lin ang="2700000" scaled="0"/>
          </a:gra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350" y="1554480"/>
            <a:ext cx="125730" cy="1257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2915" y="1788795"/>
            <a:ext cx="216487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中文友好工具</a:t>
            </a:r>
            <a:endParaRPr lang="en-US" sz="675" dirty="0"/>
          </a:p>
        </p:txBody>
      </p:sp>
      <p:sp>
        <p:nvSpPr>
          <p:cNvPr id="22" name="Text 17"/>
          <p:cNvSpPr/>
          <p:nvPr/>
        </p:nvSpPr>
        <p:spPr>
          <a:xfrm>
            <a:off x="462915" y="1931670"/>
            <a:ext cx="2164871" cy="210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4A60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推荐支持中文界面的项目管理与代码托管平台，降低语言障碍，让中文开发者零成本上手。</a:t>
            </a:r>
            <a:endParaRPr lang="en-US" sz="518" dirty="0"/>
          </a:p>
        </p:txBody>
      </p:sp>
      <p:sp>
        <p:nvSpPr>
          <p:cNvPr id="23" name="Shape 18"/>
          <p:cNvSpPr/>
          <p:nvPr/>
        </p:nvSpPr>
        <p:spPr>
          <a:xfrm>
            <a:off x="462915" y="2680335"/>
            <a:ext cx="33147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7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462915" y="2680335"/>
            <a:ext cx="388620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中文界面</a:t>
            </a:r>
            <a:endParaRPr lang="en-US" sz="450" dirty="0"/>
          </a:p>
        </p:txBody>
      </p:sp>
      <p:sp>
        <p:nvSpPr>
          <p:cNvPr id="25" name="Shape 20"/>
          <p:cNvSpPr/>
          <p:nvPr/>
        </p:nvSpPr>
        <p:spPr>
          <a:xfrm>
            <a:off x="828675" y="2680335"/>
            <a:ext cx="27432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7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828675" y="2680335"/>
            <a:ext cx="331470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低门槛</a:t>
            </a:r>
            <a:endParaRPr lang="en-US" sz="450" dirty="0"/>
          </a:p>
        </p:txBody>
      </p:sp>
      <p:sp>
        <p:nvSpPr>
          <p:cNvPr id="27" name="Shape 22"/>
          <p:cNvSpPr/>
          <p:nvPr/>
        </p:nvSpPr>
        <p:spPr>
          <a:xfrm>
            <a:off x="1137285" y="2680335"/>
            <a:ext cx="33147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7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1137285" y="2680335"/>
            <a:ext cx="388620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代码托管</a:t>
            </a:r>
            <a:endParaRPr lang="en-US" sz="450" dirty="0"/>
          </a:p>
        </p:txBody>
      </p:sp>
      <p:sp>
        <p:nvSpPr>
          <p:cNvPr id="29" name="Shape 24"/>
          <p:cNvSpPr/>
          <p:nvPr/>
        </p:nvSpPr>
        <p:spPr>
          <a:xfrm>
            <a:off x="2595860" y="1394460"/>
            <a:ext cx="2172950" cy="1514475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5715">
            <a:solidFill>
              <a:srgbClr val="E1ECF3"/>
            </a:solidFill>
            <a:prstDash val="solid"/>
          </a:ln>
          <a:effectLst>
            <a:outerShdw sx="100000" sy="100000" kx="0" ky="0" algn="bl" rotWithShape="0" blurRad="190500" dist="38100" dir="16200000">
              <a:srgbClr val="2196F3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2595860" y="1394460"/>
            <a:ext cx="22860" cy="15030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1" name="Text 26"/>
          <p:cNvSpPr/>
          <p:nvPr/>
        </p:nvSpPr>
        <p:spPr>
          <a:xfrm>
            <a:off x="4397335" y="1468755"/>
            <a:ext cx="493776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2196F3">
                    <a:alpha val="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20" dirty="0"/>
          </a:p>
        </p:txBody>
      </p:sp>
      <p:sp>
        <p:nvSpPr>
          <p:cNvPr id="32" name="Shape 27"/>
          <p:cNvSpPr/>
          <p:nvPr/>
        </p:nvSpPr>
        <p:spPr>
          <a:xfrm>
            <a:off x="2715875" y="1503045"/>
            <a:ext cx="22860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12000"/>
                </a:srgbClr>
              </a:gs>
            </a:gsLst>
            <a:lin ang="2700000" scaled="0"/>
          </a:gra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67310" y="1554480"/>
            <a:ext cx="125730" cy="12573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2715875" y="1788795"/>
            <a:ext cx="216487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依赖管理</a:t>
            </a:r>
            <a:endParaRPr lang="en-US" sz="675" dirty="0"/>
          </a:p>
        </p:txBody>
      </p:sp>
      <p:sp>
        <p:nvSpPr>
          <p:cNvPr id="35" name="Text 29"/>
          <p:cNvSpPr/>
          <p:nvPr/>
        </p:nvSpPr>
        <p:spPr>
          <a:xfrm>
            <a:off x="2715875" y="1931670"/>
            <a:ext cx="2164871" cy="210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4A60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 lockfile 锁定依赖版本，定期扫描已知漏洞，建立自动化升级机制，从源头守住安全。</a:t>
            </a:r>
            <a:endParaRPr lang="en-US" sz="518" dirty="0"/>
          </a:p>
        </p:txBody>
      </p:sp>
      <p:sp>
        <p:nvSpPr>
          <p:cNvPr id="36" name="Shape 30"/>
          <p:cNvSpPr/>
          <p:nvPr/>
        </p:nvSpPr>
        <p:spPr>
          <a:xfrm>
            <a:off x="2715875" y="2680335"/>
            <a:ext cx="33147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700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2715875" y="2680335"/>
            <a:ext cx="388620" cy="12001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Lockfile</a:t>
            </a:r>
            <a:endParaRPr lang="en-US" sz="450" dirty="0"/>
          </a:p>
        </p:txBody>
      </p:sp>
      <p:sp>
        <p:nvSpPr>
          <p:cNvPr id="38" name="Shape 32"/>
          <p:cNvSpPr/>
          <p:nvPr/>
        </p:nvSpPr>
        <p:spPr>
          <a:xfrm>
            <a:off x="3081635" y="2680335"/>
            <a:ext cx="33147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700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3081635" y="2680335"/>
            <a:ext cx="388620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漏洞扫描</a:t>
            </a:r>
            <a:endParaRPr lang="en-US" sz="450" dirty="0"/>
          </a:p>
        </p:txBody>
      </p:sp>
      <p:sp>
        <p:nvSpPr>
          <p:cNvPr id="40" name="Shape 34"/>
          <p:cNvSpPr/>
          <p:nvPr/>
        </p:nvSpPr>
        <p:spPr>
          <a:xfrm>
            <a:off x="3447395" y="2680335"/>
            <a:ext cx="33147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700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3447395" y="2680335"/>
            <a:ext cx="388620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自动升级</a:t>
            </a:r>
            <a:endParaRPr lang="en-US" sz="450" dirty="0"/>
          </a:p>
        </p:txBody>
      </p:sp>
      <p:sp>
        <p:nvSpPr>
          <p:cNvPr id="42" name="Shape 36"/>
          <p:cNvSpPr/>
          <p:nvPr/>
        </p:nvSpPr>
        <p:spPr>
          <a:xfrm>
            <a:off x="342900" y="2988945"/>
            <a:ext cx="2172950" cy="1514475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5715">
            <a:solidFill>
              <a:srgbClr val="E1ECF3"/>
            </a:solidFill>
            <a:prstDash val="solid"/>
          </a:ln>
          <a:effectLst>
            <a:outerShdw sx="100000" sy="100000" kx="0" ky="0" algn="bl" rotWithShape="0" blurRad="190500" dist="38100" dir="16200000">
              <a:srgbClr val="2196F3">
                <a:alpha val="8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342900" y="2988945"/>
            <a:ext cx="22860" cy="15030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4" name="Text 38"/>
          <p:cNvSpPr/>
          <p:nvPr/>
        </p:nvSpPr>
        <p:spPr>
          <a:xfrm>
            <a:off x="2138660" y="3063240"/>
            <a:ext cx="493776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2196F3">
                    <a:alpha val="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20" dirty="0"/>
          </a:p>
        </p:txBody>
      </p:sp>
      <p:sp>
        <p:nvSpPr>
          <p:cNvPr id="45" name="Shape 39"/>
          <p:cNvSpPr/>
          <p:nvPr/>
        </p:nvSpPr>
        <p:spPr>
          <a:xfrm>
            <a:off x="462915" y="3097530"/>
            <a:ext cx="22860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12000"/>
                </a:srgbClr>
              </a:gs>
            </a:gsLst>
            <a:lin ang="2700000" scaled="0"/>
          </a:gradFill>
          <a:ln/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4350" y="3148965"/>
            <a:ext cx="125730" cy="12573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462915" y="3383280"/>
            <a:ext cx="216487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SBOM 推行</a:t>
            </a:r>
            <a:endParaRPr lang="en-US" sz="675" dirty="0"/>
          </a:p>
        </p:txBody>
      </p:sp>
      <p:sp>
        <p:nvSpPr>
          <p:cNvPr id="48" name="Text 41"/>
          <p:cNvSpPr/>
          <p:nvPr/>
        </p:nvSpPr>
        <p:spPr>
          <a:xfrm>
            <a:off x="462915" y="3526155"/>
            <a:ext cx="2164871" cy="210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4A60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推行软件物料清单，提升供应链透明度与可追溯性，让每个组件来源清晰可见。</a:t>
            </a:r>
            <a:endParaRPr lang="en-US" sz="518" dirty="0"/>
          </a:p>
        </p:txBody>
      </p:sp>
      <p:sp>
        <p:nvSpPr>
          <p:cNvPr id="49" name="Shape 42"/>
          <p:cNvSpPr/>
          <p:nvPr/>
        </p:nvSpPr>
        <p:spPr>
          <a:xfrm>
            <a:off x="462915" y="4274820"/>
            <a:ext cx="33147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7000"/>
            </a:srgbClr>
          </a:solidFill>
          <a:ln/>
        </p:spPr>
      </p:sp>
      <p:sp>
        <p:nvSpPr>
          <p:cNvPr id="50" name="Text 43"/>
          <p:cNvSpPr/>
          <p:nvPr/>
        </p:nvSpPr>
        <p:spPr>
          <a:xfrm>
            <a:off x="462915" y="4274820"/>
            <a:ext cx="388620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物料清单</a:t>
            </a:r>
            <a:endParaRPr lang="en-US" sz="450" dirty="0"/>
          </a:p>
        </p:txBody>
      </p:sp>
      <p:sp>
        <p:nvSpPr>
          <p:cNvPr id="51" name="Shape 44"/>
          <p:cNvSpPr/>
          <p:nvPr/>
        </p:nvSpPr>
        <p:spPr>
          <a:xfrm>
            <a:off x="828675" y="4274820"/>
            <a:ext cx="27432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7000"/>
            </a:srgbClr>
          </a:solidFill>
          <a:ln/>
        </p:spPr>
      </p:sp>
      <p:sp>
        <p:nvSpPr>
          <p:cNvPr id="52" name="Text 45"/>
          <p:cNvSpPr/>
          <p:nvPr/>
        </p:nvSpPr>
        <p:spPr>
          <a:xfrm>
            <a:off x="828675" y="4274820"/>
            <a:ext cx="331470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可追溯</a:t>
            </a:r>
            <a:endParaRPr lang="en-US" sz="450" dirty="0"/>
          </a:p>
        </p:txBody>
      </p:sp>
      <p:sp>
        <p:nvSpPr>
          <p:cNvPr id="53" name="Shape 46"/>
          <p:cNvSpPr/>
          <p:nvPr/>
        </p:nvSpPr>
        <p:spPr>
          <a:xfrm>
            <a:off x="1137285" y="4274820"/>
            <a:ext cx="38862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7000"/>
            </a:srgbClr>
          </a:solidFill>
          <a:ln/>
        </p:spPr>
      </p:sp>
      <p:sp>
        <p:nvSpPr>
          <p:cNvPr id="54" name="Text 47"/>
          <p:cNvSpPr/>
          <p:nvPr/>
        </p:nvSpPr>
        <p:spPr>
          <a:xfrm>
            <a:off x="1137285" y="4274820"/>
            <a:ext cx="445770" cy="12001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透明供应链</a:t>
            </a:r>
            <a:endParaRPr lang="en-US" sz="450" dirty="0"/>
          </a:p>
        </p:txBody>
      </p:sp>
      <p:sp>
        <p:nvSpPr>
          <p:cNvPr id="55" name="Shape 48"/>
          <p:cNvSpPr/>
          <p:nvPr/>
        </p:nvSpPr>
        <p:spPr>
          <a:xfrm>
            <a:off x="2595860" y="2988945"/>
            <a:ext cx="2172950" cy="1514475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5715">
            <a:solidFill>
              <a:srgbClr val="E1ECF3"/>
            </a:solidFill>
            <a:prstDash val="solid"/>
          </a:ln>
          <a:effectLst>
            <a:outerShdw sx="100000" sy="100000" kx="0" ky="0" algn="bl" rotWithShape="0" blurRad="190500" dist="38100" dir="16200000">
              <a:srgbClr val="2196F3">
                <a:alpha val="8000"/>
              </a:srgbClr>
            </a:outerShdw>
          </a:effectLst>
        </p:spPr>
      </p:sp>
      <p:sp>
        <p:nvSpPr>
          <p:cNvPr id="56" name="Shape 49"/>
          <p:cNvSpPr/>
          <p:nvPr/>
        </p:nvSpPr>
        <p:spPr>
          <a:xfrm>
            <a:off x="2595860" y="2988945"/>
            <a:ext cx="22860" cy="15030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57" name="Text 50"/>
          <p:cNvSpPr/>
          <p:nvPr/>
        </p:nvSpPr>
        <p:spPr>
          <a:xfrm>
            <a:off x="4385905" y="3063240"/>
            <a:ext cx="493776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2196F3">
                    <a:alpha val="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20" dirty="0"/>
          </a:p>
        </p:txBody>
      </p:sp>
      <p:sp>
        <p:nvSpPr>
          <p:cNvPr id="58" name="Shape 51"/>
          <p:cNvSpPr/>
          <p:nvPr/>
        </p:nvSpPr>
        <p:spPr>
          <a:xfrm>
            <a:off x="2715875" y="3097530"/>
            <a:ext cx="22860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12000"/>
                </a:srgbClr>
              </a:gs>
            </a:gsLst>
            <a:lin ang="2700000" scaled="0"/>
          </a:gra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67310" y="3148965"/>
            <a:ext cx="125730" cy="125730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2715875" y="3383280"/>
            <a:ext cx="216487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安全响应</a:t>
            </a:r>
            <a:endParaRPr lang="en-US" sz="675" dirty="0"/>
          </a:p>
        </p:txBody>
      </p:sp>
      <p:sp>
        <p:nvSpPr>
          <p:cNvPr id="61" name="Text 53"/>
          <p:cNvSpPr/>
          <p:nvPr/>
        </p:nvSpPr>
        <p:spPr>
          <a:xfrm>
            <a:off x="2715875" y="3526155"/>
            <a:ext cx="2164871" cy="210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18" dirty="0">
                <a:solidFill>
                  <a:srgbClr val="4A60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建立安全漏洞报告与响应流程，设置 SECURITY.md 标准文件，确保漏洞发现后快速处置。</a:t>
            </a:r>
            <a:endParaRPr lang="en-US" sz="518" dirty="0"/>
          </a:p>
        </p:txBody>
      </p:sp>
      <p:sp>
        <p:nvSpPr>
          <p:cNvPr id="62" name="Shape 54"/>
          <p:cNvSpPr/>
          <p:nvPr/>
        </p:nvSpPr>
        <p:spPr>
          <a:xfrm>
            <a:off x="2715875" y="4274820"/>
            <a:ext cx="49149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7000"/>
            </a:srgbClr>
          </a:solidFill>
          <a:ln/>
        </p:spPr>
      </p:sp>
      <p:sp>
        <p:nvSpPr>
          <p:cNvPr id="63" name="Text 55"/>
          <p:cNvSpPr/>
          <p:nvPr/>
        </p:nvSpPr>
        <p:spPr>
          <a:xfrm>
            <a:off x="2715875" y="4274820"/>
            <a:ext cx="550469" cy="12001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SECURITY.md</a:t>
            </a:r>
            <a:endParaRPr lang="en-US" sz="450" dirty="0"/>
          </a:p>
        </p:txBody>
      </p:sp>
      <p:sp>
        <p:nvSpPr>
          <p:cNvPr id="64" name="Shape 56"/>
          <p:cNvSpPr/>
          <p:nvPr/>
        </p:nvSpPr>
        <p:spPr>
          <a:xfrm>
            <a:off x="3241655" y="4274820"/>
            <a:ext cx="33147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7000"/>
            </a:srgbClr>
          </a:solidFill>
          <a:ln/>
        </p:spPr>
      </p:sp>
      <p:sp>
        <p:nvSpPr>
          <p:cNvPr id="65" name="Text 57"/>
          <p:cNvSpPr/>
          <p:nvPr/>
        </p:nvSpPr>
        <p:spPr>
          <a:xfrm>
            <a:off x="3241655" y="4274820"/>
            <a:ext cx="388620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快速响应</a:t>
            </a:r>
            <a:endParaRPr lang="en-US" sz="450" dirty="0"/>
          </a:p>
        </p:txBody>
      </p:sp>
      <p:sp>
        <p:nvSpPr>
          <p:cNvPr id="66" name="Shape 58"/>
          <p:cNvSpPr/>
          <p:nvPr/>
        </p:nvSpPr>
        <p:spPr>
          <a:xfrm>
            <a:off x="3607415" y="4274820"/>
            <a:ext cx="331470" cy="120015"/>
          </a:xfrm>
          <a:prstGeom prst="roundRect">
            <a:avLst>
              <a:gd name="adj" fmla="val 19048"/>
            </a:avLst>
          </a:prstGeom>
          <a:solidFill>
            <a:srgbClr val="2196F3">
              <a:alpha val="7000"/>
            </a:srgbClr>
          </a:solidFill>
          <a:ln/>
        </p:spPr>
      </p:sp>
      <p:sp>
        <p:nvSpPr>
          <p:cNvPr id="67" name="Text 59"/>
          <p:cNvSpPr/>
          <p:nvPr/>
        </p:nvSpPr>
        <p:spPr>
          <a:xfrm>
            <a:off x="3607415" y="4274820"/>
            <a:ext cx="388620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流程规范</a:t>
            </a:r>
            <a:endParaRPr lang="en-US" sz="450" dirty="0"/>
          </a:p>
        </p:txBody>
      </p:sp>
      <p:sp>
        <p:nvSpPr>
          <p:cNvPr id="68" name="Shape 60"/>
          <p:cNvSpPr/>
          <p:nvPr/>
        </p:nvSpPr>
        <p:spPr>
          <a:xfrm>
            <a:off x="4951690" y="1160145"/>
            <a:ext cx="3849410" cy="3343275"/>
          </a:xfrm>
          <a:prstGeom prst="roundRect">
            <a:avLst>
              <a:gd name="adj" fmla="val 2735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0BCD4">
                  <a:alpha val="6000"/>
                </a:srgbClr>
              </a:gs>
            </a:gsLst>
            <a:lin ang="4200000" scaled="0"/>
          </a:gradFill>
          <a:ln w="5715">
            <a:solidFill>
              <a:srgbClr val="E1ECF3"/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8332467" y="931545"/>
            <a:ext cx="685800" cy="685800"/>
          </a:xfrm>
          <a:prstGeom prst="ellipse">
            <a:avLst/>
          </a:prstGeom>
          <a:solidFill>
            <a:srgbClr val="2196F3">
              <a:alpha val="6000"/>
            </a:srgbClr>
          </a:solidFill>
          <a:ln/>
        </p:spPr>
      </p:sp>
      <p:sp>
        <p:nvSpPr>
          <p:cNvPr id="70" name="Shape 62"/>
          <p:cNvSpPr/>
          <p:nvPr/>
        </p:nvSpPr>
        <p:spPr>
          <a:xfrm>
            <a:off x="4780240" y="4206240"/>
            <a:ext cx="571500" cy="571500"/>
          </a:xfrm>
          <a:prstGeom prst="ellipse">
            <a:avLst/>
          </a:prstGeom>
          <a:solidFill>
            <a:srgbClr val="00BCD4">
              <a:alpha val="6000"/>
            </a:srgbClr>
          </a:solidFill>
          <a:ln/>
        </p:spPr>
      </p:sp>
      <p:sp>
        <p:nvSpPr>
          <p:cNvPr id="71" name="Text 63"/>
          <p:cNvSpPr/>
          <p:nvPr/>
        </p:nvSpPr>
        <p:spPr>
          <a:xfrm>
            <a:off x="6222028" y="1303020"/>
            <a:ext cx="146578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b="1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· 安全主题</a:t>
            </a:r>
            <a:endParaRPr lang="en-US" sz="495" dirty="0"/>
          </a:p>
        </p:txBody>
      </p:sp>
      <p:sp>
        <p:nvSpPr>
          <p:cNvPr id="72" name="Text 64"/>
          <p:cNvSpPr/>
          <p:nvPr/>
        </p:nvSpPr>
        <p:spPr>
          <a:xfrm>
            <a:off x="6222028" y="1428750"/>
            <a:ext cx="1465783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构筑纵深安全防线</a:t>
            </a:r>
            <a:endParaRPr lang="en-US" sz="900" dirty="0"/>
          </a:p>
        </p:txBody>
      </p:sp>
      <p:sp>
        <p:nvSpPr>
          <p:cNvPr id="73" name="Text 65"/>
          <p:cNvSpPr/>
          <p:nvPr/>
        </p:nvSpPr>
        <p:spPr>
          <a:xfrm>
            <a:off x="6222028" y="1617345"/>
            <a:ext cx="146578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Through Standardized Practice</a:t>
            </a:r>
            <a:endParaRPr lang="en-US" sz="540" dirty="0"/>
          </a:p>
        </p:txBody>
      </p:sp>
      <p:pic>
        <p:nvPicPr>
          <p:cNvPr id="7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13455" y="2157413"/>
            <a:ext cx="228600" cy="262890"/>
          </a:xfrm>
          <a:prstGeom prst="rect">
            <a:avLst/>
          </a:prstGeom>
        </p:spPr>
      </p:pic>
      <p:sp>
        <p:nvSpPr>
          <p:cNvPr id="75" name="Text 66"/>
          <p:cNvSpPr/>
          <p:nvPr/>
        </p:nvSpPr>
        <p:spPr>
          <a:xfrm>
            <a:off x="6224885" y="2440305"/>
            <a:ext cx="25717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代码安全</a:t>
            </a:r>
            <a:endParaRPr lang="en-US" sz="405" dirty="0"/>
          </a:p>
        </p:txBody>
      </p:sp>
      <p:pic>
        <p:nvPicPr>
          <p:cNvPr id="7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36365" y="2005965"/>
            <a:ext cx="480060" cy="548640"/>
          </a:xfrm>
          <a:prstGeom prst="rect">
            <a:avLst/>
          </a:prstGeom>
        </p:spPr>
      </p:pic>
      <p:sp>
        <p:nvSpPr>
          <p:cNvPr id="77" name="Text 67"/>
          <p:cNvSpPr/>
          <p:nvPr/>
        </p:nvSpPr>
        <p:spPr>
          <a:xfrm>
            <a:off x="6719233" y="2611755"/>
            <a:ext cx="37719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全方位防护</a:t>
            </a:r>
            <a:endParaRPr lang="en-US" sz="495" dirty="0"/>
          </a:p>
        </p:txBody>
      </p:sp>
      <p:pic>
        <p:nvPicPr>
          <p:cNvPr id="7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10735" y="2157413"/>
            <a:ext cx="228600" cy="262890"/>
          </a:xfrm>
          <a:prstGeom prst="rect">
            <a:avLst/>
          </a:prstGeom>
        </p:spPr>
      </p:pic>
      <p:sp>
        <p:nvSpPr>
          <p:cNvPr id="79" name="Text 68"/>
          <p:cNvSpPr/>
          <p:nvPr/>
        </p:nvSpPr>
        <p:spPr>
          <a:xfrm>
            <a:off x="7322165" y="2440305"/>
            <a:ext cx="25717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数据安全</a:t>
            </a:r>
            <a:endParaRPr lang="en-US" sz="405" dirty="0"/>
          </a:p>
        </p:txBody>
      </p:sp>
      <p:sp>
        <p:nvSpPr>
          <p:cNvPr id="80" name="Shape 69"/>
          <p:cNvSpPr/>
          <p:nvPr/>
        </p:nvSpPr>
        <p:spPr>
          <a:xfrm>
            <a:off x="5105995" y="2960370"/>
            <a:ext cx="1134517" cy="394335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5715">
            <a:solidFill>
              <a:srgbClr val="E1ECF3"/>
            </a:solidFill>
            <a:prstDash val="solid"/>
          </a:ln>
        </p:spPr>
      </p:sp>
      <p:sp>
        <p:nvSpPr>
          <p:cNvPr id="81" name="Text 70"/>
          <p:cNvSpPr/>
          <p:nvPr/>
        </p:nvSpPr>
        <p:spPr>
          <a:xfrm>
            <a:off x="5168860" y="3034665"/>
            <a:ext cx="1134517" cy="125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pPr algn="ctr" indent="0" marL="0">
              <a:lnSpc>
                <a:spcPct val="100000"/>
              </a:lnSpc>
              <a:buNone/>
            </a:pPr>
            <a:r>
              <a:rPr lang="en-US" sz="49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</a:t>
            </a:r>
            <a:endParaRPr lang="en-US" sz="990" dirty="0"/>
          </a:p>
        </p:txBody>
      </p:sp>
      <p:sp>
        <p:nvSpPr>
          <p:cNvPr id="82" name="Text 71"/>
          <p:cNvSpPr/>
          <p:nvPr/>
        </p:nvSpPr>
        <p:spPr>
          <a:xfrm>
            <a:off x="5168860" y="3194685"/>
            <a:ext cx="112984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漏洞响应时限</a:t>
            </a:r>
            <a:endParaRPr lang="en-US" sz="450" dirty="0"/>
          </a:p>
        </p:txBody>
      </p:sp>
      <p:sp>
        <p:nvSpPr>
          <p:cNvPr id="83" name="Shape 72"/>
          <p:cNvSpPr/>
          <p:nvPr/>
        </p:nvSpPr>
        <p:spPr>
          <a:xfrm>
            <a:off x="6309092" y="2960370"/>
            <a:ext cx="1134606" cy="394335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5715">
            <a:solidFill>
              <a:srgbClr val="E1ECF3"/>
            </a:solidFill>
            <a:prstDash val="solid"/>
          </a:ln>
        </p:spPr>
      </p:sp>
      <p:sp>
        <p:nvSpPr>
          <p:cNvPr id="84" name="Text 73"/>
          <p:cNvSpPr/>
          <p:nvPr/>
        </p:nvSpPr>
        <p:spPr>
          <a:xfrm>
            <a:off x="6371957" y="3034665"/>
            <a:ext cx="1134606" cy="125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pPr algn="ctr" indent="0" marL="0">
              <a:lnSpc>
                <a:spcPct val="100000"/>
              </a:lnSpc>
              <a:buNone/>
            </a:pPr>
            <a:r>
              <a:rPr lang="en-US" sz="49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990" dirty="0"/>
          </a:p>
        </p:txBody>
      </p:sp>
      <p:sp>
        <p:nvSpPr>
          <p:cNvPr id="85" name="Text 74"/>
          <p:cNvSpPr/>
          <p:nvPr/>
        </p:nvSpPr>
        <p:spPr>
          <a:xfrm>
            <a:off x="6371957" y="3194685"/>
            <a:ext cx="112994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SBOM 覆盖率</a:t>
            </a:r>
            <a:endParaRPr lang="en-US" sz="450" dirty="0"/>
          </a:p>
        </p:txBody>
      </p:sp>
      <p:sp>
        <p:nvSpPr>
          <p:cNvPr id="86" name="Shape 75"/>
          <p:cNvSpPr/>
          <p:nvPr/>
        </p:nvSpPr>
        <p:spPr>
          <a:xfrm>
            <a:off x="7512278" y="2960370"/>
            <a:ext cx="1134517" cy="394335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5715">
            <a:solidFill>
              <a:srgbClr val="E1ECF3"/>
            </a:solidFill>
            <a:prstDash val="solid"/>
          </a:ln>
        </p:spPr>
      </p:sp>
      <p:sp>
        <p:nvSpPr>
          <p:cNvPr id="87" name="Text 76"/>
          <p:cNvSpPr/>
          <p:nvPr/>
        </p:nvSpPr>
        <p:spPr>
          <a:xfrm>
            <a:off x="7575143" y="3034665"/>
            <a:ext cx="1134517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∞</a:t>
            </a:r>
            <a:endParaRPr lang="en-US" sz="990" dirty="0"/>
          </a:p>
        </p:txBody>
      </p:sp>
      <p:sp>
        <p:nvSpPr>
          <p:cNvPr id="88" name="Text 77"/>
          <p:cNvSpPr/>
          <p:nvPr/>
        </p:nvSpPr>
        <p:spPr>
          <a:xfrm>
            <a:off x="7575143" y="3194685"/>
            <a:ext cx="112984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持续防护</a:t>
            </a:r>
            <a:endParaRPr lang="en-US" sz="450" dirty="0"/>
          </a:p>
        </p:txBody>
      </p:sp>
      <p:sp>
        <p:nvSpPr>
          <p:cNvPr id="89" name="Shape 78"/>
          <p:cNvSpPr/>
          <p:nvPr/>
        </p:nvSpPr>
        <p:spPr>
          <a:xfrm>
            <a:off x="5105995" y="3589020"/>
            <a:ext cx="3540800" cy="217170"/>
          </a:xfrm>
          <a:prstGeom prst="roundRect">
            <a:avLst>
              <a:gd name="adj" fmla="val 21053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0" name="Shape 79"/>
          <p:cNvSpPr/>
          <p:nvPr/>
        </p:nvSpPr>
        <p:spPr>
          <a:xfrm>
            <a:off x="5105995" y="3589020"/>
            <a:ext cx="0" cy="217170"/>
          </a:xfrm>
          <a:prstGeom prst="line">
            <a:avLst/>
          </a:prstGeom>
          <a:noFill/>
          <a:ln w="17145">
            <a:solidFill>
              <a:srgbClr val="00BCD4"/>
            </a:solidFill>
            <a:prstDash val="solid"/>
          </a:ln>
        </p:spPr>
      </p:sp>
      <p:sp>
        <p:nvSpPr>
          <p:cNvPr id="91" name="Shape 80"/>
          <p:cNvSpPr/>
          <p:nvPr/>
        </p:nvSpPr>
        <p:spPr>
          <a:xfrm>
            <a:off x="5191720" y="3634740"/>
            <a:ext cx="125730" cy="12573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pic>
        <p:nvPicPr>
          <p:cNvPr id="9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20295" y="3663315"/>
            <a:ext cx="68580" cy="68580"/>
          </a:xfrm>
          <a:prstGeom prst="rect">
            <a:avLst/>
          </a:prstGeom>
        </p:spPr>
      </p:pic>
      <p:sp>
        <p:nvSpPr>
          <p:cNvPr id="93" name="Text 81"/>
          <p:cNvSpPr/>
          <p:nvPr/>
        </p:nvSpPr>
        <p:spPr>
          <a:xfrm>
            <a:off x="5374600" y="3649028"/>
            <a:ext cx="106253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安全审计自动化 · 每日定时扫描</a:t>
            </a:r>
            <a:endParaRPr lang="en-US" sz="540" dirty="0"/>
          </a:p>
        </p:txBody>
      </p:sp>
      <p:sp>
        <p:nvSpPr>
          <p:cNvPr id="94" name="Shape 82"/>
          <p:cNvSpPr/>
          <p:nvPr/>
        </p:nvSpPr>
        <p:spPr>
          <a:xfrm>
            <a:off x="5105995" y="3846195"/>
            <a:ext cx="3540800" cy="217170"/>
          </a:xfrm>
          <a:prstGeom prst="roundRect">
            <a:avLst>
              <a:gd name="adj" fmla="val 21053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5" name="Shape 83"/>
          <p:cNvSpPr/>
          <p:nvPr/>
        </p:nvSpPr>
        <p:spPr>
          <a:xfrm>
            <a:off x="5105995" y="3846195"/>
            <a:ext cx="0" cy="217170"/>
          </a:xfrm>
          <a:prstGeom prst="line">
            <a:avLst/>
          </a:prstGeom>
          <a:noFill/>
          <a:ln w="17145">
            <a:solidFill>
              <a:srgbClr val="00BCD4"/>
            </a:solidFill>
            <a:prstDash val="solid"/>
          </a:ln>
        </p:spPr>
      </p:sp>
      <p:sp>
        <p:nvSpPr>
          <p:cNvPr id="96" name="Shape 84"/>
          <p:cNvSpPr/>
          <p:nvPr/>
        </p:nvSpPr>
        <p:spPr>
          <a:xfrm>
            <a:off x="5191720" y="3891915"/>
            <a:ext cx="125730" cy="12573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pic>
        <p:nvPicPr>
          <p:cNvPr id="9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220295" y="3920490"/>
            <a:ext cx="68580" cy="68580"/>
          </a:xfrm>
          <a:prstGeom prst="rect">
            <a:avLst/>
          </a:prstGeom>
        </p:spPr>
      </p:pic>
      <p:sp>
        <p:nvSpPr>
          <p:cNvPr id="98" name="Text 85"/>
          <p:cNvSpPr/>
          <p:nvPr/>
        </p:nvSpPr>
        <p:spPr>
          <a:xfrm>
            <a:off x="5374600" y="3906203"/>
            <a:ext cx="90891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零信任架构 · 最小权限原则</a:t>
            </a:r>
            <a:endParaRPr lang="en-US" sz="540" dirty="0"/>
          </a:p>
        </p:txBody>
      </p:sp>
      <p:sp>
        <p:nvSpPr>
          <p:cNvPr id="99" name="Shape 86"/>
          <p:cNvSpPr/>
          <p:nvPr/>
        </p:nvSpPr>
        <p:spPr>
          <a:xfrm>
            <a:off x="5105995" y="4103370"/>
            <a:ext cx="3540800" cy="217170"/>
          </a:xfrm>
          <a:prstGeom prst="roundRect">
            <a:avLst>
              <a:gd name="adj" fmla="val 21053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00" name="Shape 87"/>
          <p:cNvSpPr/>
          <p:nvPr/>
        </p:nvSpPr>
        <p:spPr>
          <a:xfrm>
            <a:off x="5105995" y="4103370"/>
            <a:ext cx="0" cy="217170"/>
          </a:xfrm>
          <a:prstGeom prst="line">
            <a:avLst/>
          </a:prstGeom>
          <a:noFill/>
          <a:ln w="17145">
            <a:solidFill>
              <a:srgbClr val="00BCD4"/>
            </a:solidFill>
            <a:prstDash val="solid"/>
          </a:ln>
        </p:spPr>
      </p:sp>
      <p:sp>
        <p:nvSpPr>
          <p:cNvPr id="101" name="Shape 88"/>
          <p:cNvSpPr/>
          <p:nvPr/>
        </p:nvSpPr>
        <p:spPr>
          <a:xfrm>
            <a:off x="5191720" y="4149090"/>
            <a:ext cx="125730" cy="12573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pic>
        <p:nvPicPr>
          <p:cNvPr id="10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220295" y="4177665"/>
            <a:ext cx="68580" cy="68580"/>
          </a:xfrm>
          <a:prstGeom prst="rect">
            <a:avLst/>
          </a:prstGeom>
        </p:spPr>
      </p:pic>
      <p:sp>
        <p:nvSpPr>
          <p:cNvPr id="103" name="Text 89"/>
          <p:cNvSpPr/>
          <p:nvPr/>
        </p:nvSpPr>
        <p:spPr>
          <a:xfrm>
            <a:off x="5374600" y="4163378"/>
            <a:ext cx="98572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威胁情报联动 · 实时告警处置</a:t>
            </a:r>
            <a:endParaRPr lang="en-US" sz="540" dirty="0"/>
          </a:p>
        </p:txBody>
      </p:sp>
      <p:sp>
        <p:nvSpPr>
          <p:cNvPr id="104" name="Shape 90"/>
          <p:cNvSpPr/>
          <p:nvPr/>
        </p:nvSpPr>
        <p:spPr>
          <a:xfrm>
            <a:off x="342900" y="4594860"/>
            <a:ext cx="8458200" cy="297180"/>
          </a:xfrm>
          <a:prstGeom prst="roundRect">
            <a:avLst>
              <a:gd name="adj" fmla="val 2307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pic>
        <p:nvPicPr>
          <p:cNvPr id="10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77503" y="4680585"/>
            <a:ext cx="125730" cy="125730"/>
          </a:xfrm>
          <a:prstGeom prst="rect">
            <a:avLst/>
          </a:prstGeom>
        </p:spPr>
      </p:pic>
      <p:sp>
        <p:nvSpPr>
          <p:cNvPr id="106" name="Text 91"/>
          <p:cNvSpPr/>
          <p:nvPr/>
        </p:nvSpPr>
        <p:spPr>
          <a:xfrm>
            <a:off x="3094673" y="4674870"/>
            <a:ext cx="330921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工具</a:t>
            </a:r>
            <a:pPr algn="l" indent="0" marL="0">
              <a:buNone/>
            </a:pPr>
            <a:r>
              <a:rPr lang="en-US" sz="720" b="1" spc="90" kern="0" dirty="0">
                <a:solidFill>
                  <a:srgbClr val="FFF9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降门槛</a:t>
            </a:r>
            <a:pPr algn="l" indent="0" marL="0">
              <a:buNone/>
            </a:pPr>
            <a:r>
              <a:rPr lang="en-US" sz="72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安全</a:t>
            </a:r>
            <a:pPr algn="l" indent="0" marL="0">
              <a:buNone/>
            </a:pPr>
            <a:r>
              <a:rPr lang="en-US" sz="720" b="1" spc="90" kern="0" dirty="0">
                <a:solidFill>
                  <a:srgbClr val="FFF9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筑防线</a:t>
            </a:r>
            <a:pPr algn="l" indent="0" marL="0">
              <a:buNone/>
            </a:pPr>
            <a:r>
              <a:rPr lang="en-US" sz="72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 双轮驱动，共建可信赖的开源生态</a:t>
            </a:r>
            <a:endParaRPr lang="en-US" sz="720" dirty="0"/>
          </a:p>
        </p:txBody>
      </p:sp>
      <p:pic>
        <p:nvPicPr>
          <p:cNvPr id="10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140768" y="4680585"/>
            <a:ext cx="125730" cy="125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3F2FD"/>
              </a:gs>
              <a:gs pos="30000">
                <a:srgbClr val="FFFFFF"/>
              </a:gs>
              <a:gs pos="70000">
                <a:srgbClr val="E0F7FA"/>
              </a:gs>
              <a:gs pos="100000">
                <a:srgbClr val="E3F2FD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228600" y="400050"/>
            <a:ext cx="137160" cy="137160"/>
          </a:xfrm>
          <a:prstGeom prst="ellipse">
            <a:avLst/>
          </a:prstGeom>
          <a:noFill/>
          <a:ln w="11430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0050" y="742950"/>
            <a:ext cx="57150" cy="57150"/>
          </a:xfrm>
          <a:prstGeom prst="ellipse">
            <a:avLst/>
          </a:prstGeom>
          <a:solidFill>
            <a:srgbClr val="00BCD4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8755380" y="1143000"/>
            <a:ext cx="102870" cy="102870"/>
          </a:xfrm>
          <a:prstGeom prst="rect">
            <a:avLst/>
          </a:prstGeom>
          <a:noFill/>
          <a:ln w="11430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1450" y="3749040"/>
            <a:ext cx="80010" cy="80010"/>
          </a:xfrm>
          <a:prstGeom prst="roundRect">
            <a:avLst>
              <a:gd name="adj" fmla="val 21429"/>
            </a:avLst>
          </a:prstGeom>
          <a:solidFill>
            <a:srgbClr val="2196F3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01100" y="4000500"/>
            <a:ext cx="114300" cy="114300"/>
          </a:xfrm>
          <a:prstGeom prst="ellipse">
            <a:avLst/>
          </a:prstGeom>
          <a:noFill/>
          <a:ln w="1143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81060" y="514350"/>
            <a:ext cx="34290" cy="34290"/>
          </a:xfrm>
          <a:prstGeom prst="ellipse">
            <a:avLst/>
          </a:prstGeom>
          <a:solidFill>
            <a:srgbClr val="2196F3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966210" y="305753"/>
            <a:ext cx="457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10" name="Shape 8"/>
          <p:cNvSpPr/>
          <p:nvPr/>
        </p:nvSpPr>
        <p:spPr>
          <a:xfrm rot="2700000">
            <a:off x="4491990" y="285750"/>
            <a:ext cx="45720" cy="45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4606290" y="285750"/>
            <a:ext cx="4572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720590" y="305753"/>
            <a:ext cx="45720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3" name="Text 11"/>
          <p:cNvSpPr/>
          <p:nvPr/>
        </p:nvSpPr>
        <p:spPr>
          <a:xfrm>
            <a:off x="3637598" y="434340"/>
            <a:ext cx="209306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7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KEEP GOING</a:t>
            </a:r>
            <a:endParaRPr lang="en-US" sz="585" dirty="0"/>
          </a:p>
        </p:txBody>
      </p:sp>
      <p:sp>
        <p:nvSpPr>
          <p:cNvPr id="14" name="Text 12"/>
          <p:cNvSpPr/>
          <p:nvPr/>
        </p:nvSpPr>
        <p:spPr>
          <a:xfrm>
            <a:off x="2886075" y="582930"/>
            <a:ext cx="3776472" cy="5143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90" b="1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开源不止 · 持续前行</a:t>
            </a:r>
            <a:endParaRPr lang="en-US" sz="2790" dirty="0"/>
          </a:p>
        </p:txBody>
      </p:sp>
      <p:sp>
        <p:nvSpPr>
          <p:cNvPr id="15" name="Text 13"/>
          <p:cNvSpPr/>
          <p:nvPr/>
        </p:nvSpPr>
        <p:spPr>
          <a:xfrm>
            <a:off x="3494723" y="1177290"/>
            <a:ext cx="2413102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spc="90" kern="0" dirty="0">
                <a:solidFill>
                  <a:srgbClr val="455A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期待与你一同书写 2021 的开源新篇章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29100" y="1377315"/>
            <a:ext cx="68580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7" name="Shape 15"/>
          <p:cNvSpPr/>
          <p:nvPr/>
        </p:nvSpPr>
        <p:spPr>
          <a:xfrm>
            <a:off x="571500" y="1543050"/>
            <a:ext cx="2575500" cy="1185863"/>
          </a:xfrm>
          <a:prstGeom prst="roundRect">
            <a:avLst>
              <a:gd name="adj" fmla="val 6747"/>
            </a:avLst>
          </a:prstGeom>
          <a:solidFill>
            <a:srgbClr val="FFFFFF"/>
          </a:solidFill>
          <a:ln w="5715">
            <a:solidFill>
              <a:srgbClr val="2196F3">
                <a:alpha val="8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2196F3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" y="1543050"/>
            <a:ext cx="2564069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9" name="Shape 17"/>
          <p:cNvSpPr/>
          <p:nvPr/>
        </p:nvSpPr>
        <p:spPr>
          <a:xfrm>
            <a:off x="714375" y="1685925"/>
            <a:ext cx="240030" cy="240030"/>
          </a:xfrm>
          <a:prstGeom prst="roundRect">
            <a:avLst>
              <a:gd name="adj" fmla="val 23810"/>
            </a:avLst>
          </a:prstGeom>
          <a:gradFill rotWithShape="1">
            <a:gsLst>
              <a:gs pos="0">
                <a:srgbClr val="2196F3"/>
              </a:gs>
              <a:gs pos="100000">
                <a:srgbClr val="42A5F5"/>
              </a:gs>
            </a:gsLst>
            <a:lin ang="2700000" scaled="0"/>
          </a:gradFill>
          <a:ln/>
        </p:spPr>
      </p:sp>
      <p:sp>
        <p:nvSpPr>
          <p:cNvPr id="20" name="Text 18"/>
          <p:cNvSpPr/>
          <p:nvPr/>
        </p:nvSpPr>
        <p:spPr>
          <a:xfrm>
            <a:off x="714375" y="1685925"/>
            <a:ext cx="34290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714375" y="2017395"/>
            <a:ext cx="4114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总结回顾</a:t>
            </a:r>
            <a:endParaRPr lang="en-US" sz="540" dirty="0"/>
          </a:p>
        </p:txBody>
      </p:sp>
      <p:sp>
        <p:nvSpPr>
          <p:cNvPr id="22" name="Text 20"/>
          <p:cNvSpPr/>
          <p:nvPr/>
        </p:nvSpPr>
        <p:spPr>
          <a:xfrm>
            <a:off x="714375" y="2160270"/>
            <a:ext cx="61150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韧性与活力</a:t>
            </a:r>
            <a:endParaRPr lang="en-US" sz="765" dirty="0"/>
          </a:p>
        </p:txBody>
      </p:sp>
      <p:sp>
        <p:nvSpPr>
          <p:cNvPr id="23" name="Text 21"/>
          <p:cNvSpPr/>
          <p:nvPr/>
        </p:nvSpPr>
        <p:spPr>
          <a:xfrm>
            <a:off x="714375" y="2354580"/>
            <a:ext cx="2560320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455A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 年开源社区在疫情考验中展现出强大韧性与活力，分布式协作的优势前所未有地被验证。</a:t>
            </a:r>
            <a:endParaRPr lang="en-US" sz="585" dirty="0"/>
          </a:p>
        </p:txBody>
      </p:sp>
      <p:sp>
        <p:nvSpPr>
          <p:cNvPr id="24" name="Shape 22"/>
          <p:cNvSpPr/>
          <p:nvPr/>
        </p:nvSpPr>
        <p:spPr>
          <a:xfrm>
            <a:off x="3284160" y="1543050"/>
            <a:ext cx="2575590" cy="1185863"/>
          </a:xfrm>
          <a:prstGeom prst="roundRect">
            <a:avLst>
              <a:gd name="adj" fmla="val 6747"/>
            </a:avLst>
          </a:prstGeom>
          <a:solidFill>
            <a:srgbClr val="FFFFFF"/>
          </a:solidFill>
          <a:ln w="5715">
            <a:solidFill>
              <a:srgbClr val="2196F3">
                <a:alpha val="8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2196F3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84160" y="1543050"/>
            <a:ext cx="2564160" cy="1714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26" name="Shape 24"/>
          <p:cNvSpPr/>
          <p:nvPr/>
        </p:nvSpPr>
        <p:spPr>
          <a:xfrm>
            <a:off x="3427035" y="1685925"/>
            <a:ext cx="240030" cy="240030"/>
          </a:xfrm>
          <a:prstGeom prst="roundRect">
            <a:avLst>
              <a:gd name="adj" fmla="val 23810"/>
            </a:avLst>
          </a:prstGeom>
          <a:gradFill rotWithShape="1">
            <a:gsLst>
              <a:gs pos="0">
                <a:srgbClr val="00BCD4"/>
              </a:gs>
              <a:gs pos="100000">
                <a:srgbClr val="4DD0E1"/>
              </a:gs>
            </a:gsLst>
            <a:lin ang="2700000" scaled="0"/>
          </a:gradFill>
          <a:ln/>
        </p:spPr>
      </p:sp>
      <p:sp>
        <p:nvSpPr>
          <p:cNvPr id="27" name="Text 25"/>
          <p:cNvSpPr/>
          <p:nvPr/>
        </p:nvSpPr>
        <p:spPr>
          <a:xfrm>
            <a:off x="3427035" y="1685925"/>
            <a:ext cx="34290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endParaRPr lang="en-US" sz="810" dirty="0"/>
          </a:p>
        </p:txBody>
      </p:sp>
      <p:sp>
        <p:nvSpPr>
          <p:cNvPr id="28" name="Text 26"/>
          <p:cNvSpPr/>
          <p:nvPr/>
        </p:nvSpPr>
        <p:spPr>
          <a:xfrm>
            <a:off x="3427035" y="2017395"/>
            <a:ext cx="4114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规则落地</a:t>
            </a:r>
            <a:endParaRPr lang="en-US" sz="540" dirty="0"/>
          </a:p>
        </p:txBody>
      </p:sp>
      <p:sp>
        <p:nvSpPr>
          <p:cNvPr id="29" name="Text 27"/>
          <p:cNvSpPr/>
          <p:nvPr/>
        </p:nvSpPr>
        <p:spPr>
          <a:xfrm>
            <a:off x="3427035" y="2160270"/>
            <a:ext cx="71437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践行改变生态</a:t>
            </a:r>
            <a:endParaRPr lang="en-US" sz="765" dirty="0"/>
          </a:p>
        </p:txBody>
      </p:sp>
      <p:sp>
        <p:nvSpPr>
          <p:cNvPr id="30" name="Text 28"/>
          <p:cNvSpPr/>
          <p:nvPr/>
        </p:nvSpPr>
        <p:spPr>
          <a:xfrm>
            <a:off x="3427035" y="2354580"/>
            <a:ext cx="2496312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455A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新规则需要每位参与者的践行，才能真正改变社区生态，让开放协作的精神落到实处。</a:t>
            </a:r>
            <a:endParaRPr lang="en-US" sz="585" dirty="0"/>
          </a:p>
        </p:txBody>
      </p:sp>
      <p:sp>
        <p:nvSpPr>
          <p:cNvPr id="31" name="Shape 29"/>
          <p:cNvSpPr/>
          <p:nvPr/>
        </p:nvSpPr>
        <p:spPr>
          <a:xfrm>
            <a:off x="5996910" y="1543050"/>
            <a:ext cx="2575590" cy="1185863"/>
          </a:xfrm>
          <a:prstGeom prst="roundRect">
            <a:avLst>
              <a:gd name="adj" fmla="val 6747"/>
            </a:avLst>
          </a:prstGeom>
          <a:solidFill>
            <a:srgbClr val="FFFFFF"/>
          </a:solidFill>
          <a:ln w="5715">
            <a:solidFill>
              <a:srgbClr val="2196F3">
                <a:alpha val="8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2196F3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96910" y="1543050"/>
            <a:ext cx="256416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3" name="Shape 31"/>
          <p:cNvSpPr/>
          <p:nvPr/>
        </p:nvSpPr>
        <p:spPr>
          <a:xfrm>
            <a:off x="6139785" y="1685925"/>
            <a:ext cx="240030" cy="240030"/>
          </a:xfrm>
          <a:prstGeom prst="roundRect">
            <a:avLst>
              <a:gd name="adj" fmla="val 2381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34" name="Text 32"/>
          <p:cNvSpPr/>
          <p:nvPr/>
        </p:nvSpPr>
        <p:spPr>
          <a:xfrm>
            <a:off x="6139785" y="1685925"/>
            <a:ext cx="34290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endParaRPr lang="en-US" sz="810" dirty="0"/>
          </a:p>
        </p:txBody>
      </p:sp>
      <p:sp>
        <p:nvSpPr>
          <p:cNvPr id="35" name="Text 33"/>
          <p:cNvSpPr/>
          <p:nvPr/>
        </p:nvSpPr>
        <p:spPr>
          <a:xfrm>
            <a:off x="6139785" y="2017395"/>
            <a:ext cx="4114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加入行动</a:t>
            </a:r>
            <a:endParaRPr lang="en-US" sz="540" dirty="0"/>
          </a:p>
        </p:txBody>
      </p:sp>
      <p:sp>
        <p:nvSpPr>
          <p:cNvPr id="36" name="Text 34"/>
          <p:cNvSpPr/>
          <p:nvPr/>
        </p:nvSpPr>
        <p:spPr>
          <a:xfrm>
            <a:off x="6139785" y="2160270"/>
            <a:ext cx="81724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1A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每一步都是贡献</a:t>
            </a:r>
            <a:endParaRPr lang="en-US" sz="765" dirty="0"/>
          </a:p>
        </p:txBody>
      </p:sp>
      <p:sp>
        <p:nvSpPr>
          <p:cNvPr id="37" name="Text 35"/>
          <p:cNvSpPr/>
          <p:nvPr/>
        </p:nvSpPr>
        <p:spPr>
          <a:xfrm>
            <a:off x="6139785" y="2354580"/>
            <a:ext cx="2496312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455A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从阅读开源之道到参与开源项目，每一步都是贡献的开始，欢迎每一个愿意出发的人。</a:t>
            </a:r>
            <a:endParaRPr lang="en-US" sz="585" dirty="0"/>
          </a:p>
        </p:txBody>
      </p:sp>
      <p:sp>
        <p:nvSpPr>
          <p:cNvPr id="38" name="Text 36"/>
          <p:cNvSpPr/>
          <p:nvPr/>
        </p:nvSpPr>
        <p:spPr>
          <a:xfrm>
            <a:off x="1085850" y="3003233"/>
            <a:ext cx="7808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455A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开源之道的每一次</a:t>
            </a:r>
            <a:pPr algn="ctr" indent="0" marL="0">
              <a:lnSpc>
                <a:spcPct val="200000"/>
              </a:lnSpc>
              <a:buNone/>
            </a:pPr>
            <a:r>
              <a:rPr lang="en-US" sz="63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总结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455A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，都是为了更好地</a:t>
            </a:r>
            <a:pPr algn="ctr" indent="0" marL="0">
              <a:lnSpc>
                <a:spcPct val="200000"/>
              </a:lnSpc>
              <a:buNone/>
            </a:pPr>
            <a:r>
              <a:rPr lang="en-US" sz="63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出发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455A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。2020 年的经验教训已经沉淀为</a:t>
            </a:r>
            <a:pPr algn="ctr" indent="0" marL="0">
              <a:lnSpc>
                <a:spcPct val="200000"/>
              </a:lnSpc>
              <a:buNone/>
            </a:pPr>
            <a:r>
              <a:rPr lang="en-US" sz="63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新规则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455A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，而 2021 年的开源故事需要你我来共同书写。无论你是资深贡献者还是刚刚入门的新手，都欢迎你加入这场</a:t>
            </a:r>
            <a:pPr algn="ctr" indent="0" marL="0">
              <a:lnSpc>
                <a:spcPct val="200000"/>
              </a:lnSpc>
              <a:buNone/>
            </a:pPr>
            <a:r>
              <a:rPr lang="en-US" sz="63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持续前行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23" kern="0" dirty="0">
                <a:solidFill>
                  <a:srgbClr val="455A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的开源之旅。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3469005" y="4329113"/>
            <a:ext cx="10287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0" name="Shape 38"/>
          <p:cNvSpPr/>
          <p:nvPr/>
        </p:nvSpPr>
        <p:spPr>
          <a:xfrm>
            <a:off x="4554855" y="4314825"/>
            <a:ext cx="34290" cy="3429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41" name="Shape 39"/>
          <p:cNvSpPr/>
          <p:nvPr/>
        </p:nvSpPr>
        <p:spPr>
          <a:xfrm>
            <a:off x="4646295" y="4329113"/>
            <a:ext cx="10287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2" name="Text 40"/>
          <p:cNvSpPr/>
          <p:nvPr/>
        </p:nvSpPr>
        <p:spPr>
          <a:xfrm>
            <a:off x="4274820" y="4446270"/>
            <a:ext cx="68580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18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 源 之 道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3889058" y="4600575"/>
            <a:ext cx="152979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oschina.net / opensource-guide</a:t>
            </a:r>
            <a:endParaRPr lang="en-US" sz="540" dirty="0"/>
          </a:p>
        </p:txBody>
      </p:sp>
      <p:sp>
        <p:nvSpPr>
          <p:cNvPr id="44" name="Text 42"/>
          <p:cNvSpPr/>
          <p:nvPr/>
        </p:nvSpPr>
        <p:spPr>
          <a:xfrm>
            <a:off x="3551873" y="4766310"/>
            <a:ext cx="54292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 年度报告</a:t>
            </a:r>
            <a:endParaRPr lang="en-US" sz="495" dirty="0"/>
          </a:p>
        </p:txBody>
      </p:sp>
      <p:sp>
        <p:nvSpPr>
          <p:cNvPr id="45" name="Shape 43"/>
          <p:cNvSpPr/>
          <p:nvPr/>
        </p:nvSpPr>
        <p:spPr>
          <a:xfrm>
            <a:off x="4146233" y="4800600"/>
            <a:ext cx="22860" cy="22860"/>
          </a:xfrm>
          <a:prstGeom prst="ellipse">
            <a:avLst/>
          </a:prstGeom>
          <a:solidFill>
            <a:srgbClr val="607D8B">
              <a:alpha val="4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283393" y="4766310"/>
            <a:ext cx="61447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致谢每一位贡献者</a:t>
            </a:r>
            <a:endParaRPr lang="en-US" sz="495" dirty="0"/>
          </a:p>
        </p:txBody>
      </p:sp>
      <p:sp>
        <p:nvSpPr>
          <p:cNvPr id="47" name="Shape 45"/>
          <p:cNvSpPr/>
          <p:nvPr/>
        </p:nvSpPr>
        <p:spPr>
          <a:xfrm>
            <a:off x="4946333" y="4800600"/>
            <a:ext cx="22860" cy="22860"/>
          </a:xfrm>
          <a:prstGeom prst="ellipse">
            <a:avLst/>
          </a:prstGeom>
          <a:solidFill>
            <a:srgbClr val="607D8B">
              <a:alpha val="4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083493" y="4766310"/>
            <a:ext cx="57150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 · 未完待续</a:t>
            </a:r>
            <a:endParaRPr lang="en-US" sz="49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2026-08-27T15:44:39Z</dcterms:created>
  <dcterms:modified xsi:type="dcterms:W3CDTF">2026-08-27T15:44:39Z</dcterms:modified>
</cp:coreProperties>
</file>