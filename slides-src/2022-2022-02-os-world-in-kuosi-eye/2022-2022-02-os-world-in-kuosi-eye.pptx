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lee/developing/oscar-open-source-book/website/slides-src/2022-2022-02-os-world-in-kuosi-eye/images/page_001_hero.png">    </p:cNvPr>
          <p:cNvPicPr>
            <a:picLocks noChangeAspect="1"/>
          </p:cNvPicPr>
          <p:nvPr/>
        </p:nvPicPr>
        <p:blipFill>
          <a:blip r:embed="rId2"/>
          <a:srcRect l="388" r="388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20611">
                  <a:alpha val="55000"/>
                </a:srgbClr>
              </a:gs>
              <a:gs pos="35000">
                <a:srgbClr val="020611">
                  <a:alpha val="45000"/>
                </a:srgbClr>
              </a:gs>
              <a:gs pos="75000">
                <a:srgbClr val="020611">
                  <a:alpha val="75000"/>
                </a:srgbClr>
              </a:gs>
              <a:gs pos="100000">
                <a:srgbClr val="020611">
                  <a:alpha val="92000"/>
                </a:srgbClr>
              </a:gs>
            </a:gsLst>
            <a:lin ang="540000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96F3">
              <a:alpha val="1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14300" y="114300"/>
            <a:ext cx="125730" cy="12573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00BCD4">
                <a:alpha val="6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14300" y="114300"/>
            <a:ext cx="12573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4300" y="114300"/>
            <a:ext cx="0" cy="12573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03970" y="114300"/>
            <a:ext cx="125730" cy="12573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00BCD4">
                <a:alpha val="6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903970" y="114300"/>
            <a:ext cx="12573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029700" y="114300"/>
            <a:ext cx="0" cy="12573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4300" y="4903470"/>
            <a:ext cx="125730" cy="12573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00BCD4">
                <a:alpha val="6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14300" y="5029200"/>
            <a:ext cx="12573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4300" y="4903470"/>
            <a:ext cx="0" cy="12573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903970" y="4903470"/>
            <a:ext cx="125730" cy="12573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00BCD4">
                <a:alpha val="6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029700" y="4903470"/>
            <a:ext cx="0" cy="12573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03970" y="5029200"/>
            <a:ext cx="12573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1480" y="308610"/>
            <a:ext cx="8321040" cy="257175"/>
          </a:xfrm>
          <a:prstGeom prst="rect">
            <a:avLst/>
          </a:prstGeom>
          <a:noFill/>
          <a:ln/>
        </p:spPr>
      </p:sp>
      <p:sp>
        <p:nvSpPr>
          <p:cNvPr id="18" name="Shape 15"/>
          <p:cNvSpPr/>
          <p:nvPr/>
        </p:nvSpPr>
        <p:spPr>
          <a:xfrm>
            <a:off x="411480" y="565785"/>
            <a:ext cx="8321040" cy="0"/>
          </a:xfrm>
          <a:prstGeom prst="line">
            <a:avLst/>
          </a:prstGeom>
          <a:noFill/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4340" y="394335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60070" y="342900"/>
            <a:ext cx="1268730" cy="148590"/>
          </a:xfrm>
          <a:prstGeom prst="roundRect">
            <a:avLst>
              <a:gd name="adj" fmla="val 7692"/>
            </a:avLst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2935" y="365760"/>
            <a:ext cx="1280160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OPEN·SOURCE·OBSERVER</a:t>
            </a:r>
            <a:endParaRPr lang="en-US" sz="585" dirty="0"/>
          </a:p>
        </p:txBody>
      </p:sp>
      <p:sp>
        <p:nvSpPr>
          <p:cNvPr id="22" name="Text 19"/>
          <p:cNvSpPr/>
          <p:nvPr/>
        </p:nvSpPr>
        <p:spPr>
          <a:xfrm>
            <a:off x="1908810" y="365760"/>
            <a:ext cx="1280160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MAINTAINED BY SHI·SI</a:t>
            </a:r>
            <a:endParaRPr lang="en-US" sz="585" dirty="0"/>
          </a:p>
        </p:txBody>
      </p:sp>
      <p:sp>
        <p:nvSpPr>
          <p:cNvPr id="23" name="Text 20"/>
          <p:cNvSpPr/>
          <p:nvPr/>
        </p:nvSpPr>
        <p:spPr>
          <a:xfrm>
            <a:off x="7372350" y="371475"/>
            <a:ext cx="1497787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8FB8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EST. 2022 · MONTHLY DIGEST</a:t>
            </a:r>
            <a:endParaRPr lang="en-US" sz="540" dirty="0"/>
          </a:p>
        </p:txBody>
      </p:sp>
      <p:sp>
        <p:nvSpPr>
          <p:cNvPr id="24" name="Shape 21"/>
          <p:cNvSpPr/>
          <p:nvPr/>
        </p:nvSpPr>
        <p:spPr>
          <a:xfrm>
            <a:off x="-617220" y="1256677"/>
            <a:ext cx="19431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5" name="Shape 22"/>
          <p:cNvSpPr/>
          <p:nvPr/>
        </p:nvSpPr>
        <p:spPr>
          <a:xfrm>
            <a:off x="7818120" y="1256677"/>
            <a:ext cx="19431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6" name="Text 23"/>
          <p:cNvSpPr/>
          <p:nvPr/>
        </p:nvSpPr>
        <p:spPr>
          <a:xfrm>
            <a:off x="3337560" y="737235"/>
            <a:ext cx="2765146" cy="108585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00BCD4">
                <a:alpha val="70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30" spc="36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 SOURCE / FEBRUARY 2022</a:t>
            </a:r>
            <a:endParaRPr lang="en-US" sz="630" dirty="0"/>
          </a:p>
        </p:txBody>
      </p:sp>
      <p:sp>
        <p:nvSpPr>
          <p:cNvPr id="27" name="Text 24"/>
          <p:cNvSpPr/>
          <p:nvPr/>
        </p:nvSpPr>
        <p:spPr>
          <a:xfrm>
            <a:off x="2034540" y="845820"/>
            <a:ext cx="5683910" cy="725805"/>
          </a:xfrm>
          <a:prstGeom prst="rect">
            <a:avLst/>
          </a:prstGeom>
          <a:noFill/>
          <a:ln/>
          <a:effectLst>
            <a:outerShdw sx="100000" sy="100000" kx="0" ky="0" algn="bl" rotWithShape="0" blurRad="45720" dist="50800" dir="5400000">
              <a:srgbClr val="2196F3">
                <a:alpha val="95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320" b="1" spc="90" kern="0" dirty="0">
                <a:solidFill>
                  <a:srgbClr val="CFE8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2022年2月开源世界</a:t>
            </a:r>
            <a:endParaRPr lang="en-US" sz="4320" dirty="0"/>
          </a:p>
        </p:txBody>
      </p:sp>
      <p:sp>
        <p:nvSpPr>
          <p:cNvPr id="28" name="Text 25"/>
          <p:cNvSpPr/>
          <p:nvPr/>
        </p:nvSpPr>
        <p:spPr>
          <a:xfrm>
            <a:off x="3268980" y="1633329"/>
            <a:ext cx="2918765" cy="148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90" spc="270" kern="0" dirty="0">
                <a:solidFill>
                  <a:srgbClr val="8FB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开源之道·适兕</a:t>
            </a:r>
            <a:pPr algn="ctr" indent="0" marL="0">
              <a:buNone/>
            </a:pPr>
            <a:r>
              <a:rPr lang="en-US" sz="990" spc="27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月度观察与阅读分享</a:t>
            </a:r>
            <a:endParaRPr lang="en-US" sz="990" dirty="0"/>
          </a:p>
        </p:txBody>
      </p:sp>
      <p:sp>
        <p:nvSpPr>
          <p:cNvPr id="29" name="Shape 26"/>
          <p:cNvSpPr/>
          <p:nvPr/>
        </p:nvSpPr>
        <p:spPr>
          <a:xfrm>
            <a:off x="411480" y="1924794"/>
            <a:ext cx="2689800" cy="2487186"/>
          </a:xfrm>
          <a:prstGeom prst="roundRect">
            <a:avLst>
              <a:gd name="adj" fmla="val 1379"/>
            </a:avLst>
          </a:prstGeom>
          <a:solidFill>
            <a:srgbClr val="0A1A3A">
              <a:alpha val="55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11480" y="1924794"/>
            <a:ext cx="17145" cy="247575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10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54355" y="2070527"/>
            <a:ext cx="171450" cy="125730"/>
          </a:xfrm>
          <a:prstGeom prst="roundRect">
            <a:avLst>
              <a:gd name="adj" fmla="val 9091"/>
            </a:avLst>
          </a:prstGeom>
          <a:noFill/>
          <a:ln w="571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50800" dir="16200000">
              <a:srgbClr val="00BCD4">
                <a:alpha val="4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00075" y="2087672"/>
            <a:ext cx="16459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540" dirty="0"/>
          </a:p>
        </p:txBody>
      </p:sp>
      <p:sp>
        <p:nvSpPr>
          <p:cNvPr id="33" name="Text 30"/>
          <p:cNvSpPr/>
          <p:nvPr/>
        </p:nvSpPr>
        <p:spPr>
          <a:xfrm>
            <a:off x="782955" y="2067669"/>
            <a:ext cx="565785" cy="142875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50800" dir="5400000">
              <a:srgbClr val="2196F3">
                <a:alpha val="7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45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观察视角</a:t>
            </a:r>
            <a:endParaRPr lang="en-US" sz="855" dirty="0"/>
          </a:p>
        </p:txBody>
      </p:sp>
      <p:sp>
        <p:nvSpPr>
          <p:cNvPr id="34" name="Text 31"/>
          <p:cNvSpPr/>
          <p:nvPr/>
        </p:nvSpPr>
        <p:spPr>
          <a:xfrm>
            <a:off x="554355" y="2296269"/>
            <a:ext cx="2688336" cy="226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8FB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以开源之道编辑部视角，回顾 2022 年 2 月开源领域的关键事件与行业风向，梳理脉络、还原语境。</a:t>
            </a:r>
            <a:endParaRPr lang="en-US" sz="608" dirty="0"/>
          </a:p>
        </p:txBody>
      </p:sp>
      <p:sp>
        <p:nvSpPr>
          <p:cNvPr id="35" name="Shape 32"/>
          <p:cNvSpPr/>
          <p:nvPr/>
        </p:nvSpPr>
        <p:spPr>
          <a:xfrm>
            <a:off x="554355" y="2617738"/>
            <a:ext cx="594360" cy="114300"/>
          </a:xfrm>
          <a:prstGeom prst="roundRect">
            <a:avLst>
              <a:gd name="adj" fmla="val 10000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00075" y="2617738"/>
            <a:ext cx="502920" cy="114300"/>
          </a:xfrm>
          <a:prstGeom prst="roundRect">
            <a:avLst>
              <a:gd name="adj" fmla="val 10000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00075" y="2617738"/>
            <a:ext cx="563270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EDITORIAL</a:t>
            </a:r>
            <a:endParaRPr lang="en-US" sz="473" dirty="0"/>
          </a:p>
        </p:txBody>
      </p:sp>
      <p:sp>
        <p:nvSpPr>
          <p:cNvPr id="38" name="Shape 35"/>
          <p:cNvSpPr/>
          <p:nvPr/>
        </p:nvSpPr>
        <p:spPr>
          <a:xfrm>
            <a:off x="1183005" y="2617738"/>
            <a:ext cx="457200" cy="114300"/>
          </a:xfrm>
          <a:prstGeom prst="roundRect">
            <a:avLst>
              <a:gd name="adj" fmla="val 10000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228725" y="2617738"/>
            <a:ext cx="365760" cy="114300"/>
          </a:xfrm>
          <a:prstGeom prst="roundRect">
            <a:avLst>
              <a:gd name="adj" fmla="val 10000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228725" y="2617738"/>
            <a:ext cx="425768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EVENTS</a:t>
            </a:r>
            <a:endParaRPr lang="en-US" sz="473" dirty="0"/>
          </a:p>
        </p:txBody>
      </p:sp>
      <p:sp>
        <p:nvSpPr>
          <p:cNvPr id="41" name="Shape 38"/>
          <p:cNvSpPr/>
          <p:nvPr/>
        </p:nvSpPr>
        <p:spPr>
          <a:xfrm>
            <a:off x="1674495" y="2617738"/>
            <a:ext cx="502920" cy="114300"/>
          </a:xfrm>
          <a:prstGeom prst="roundRect">
            <a:avLst>
              <a:gd name="adj" fmla="val 10000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720215" y="2617738"/>
            <a:ext cx="411480" cy="114300"/>
          </a:xfrm>
          <a:prstGeom prst="roundRect">
            <a:avLst>
              <a:gd name="adj" fmla="val 10000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720215" y="2617738"/>
            <a:ext cx="471488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2022·02</a:t>
            </a:r>
            <a:endParaRPr lang="en-US" sz="473" dirty="0"/>
          </a:p>
        </p:txBody>
      </p:sp>
      <p:sp>
        <p:nvSpPr>
          <p:cNvPr id="44" name="Shape 41"/>
          <p:cNvSpPr/>
          <p:nvPr/>
        </p:nvSpPr>
        <p:spPr>
          <a:xfrm>
            <a:off x="3227010" y="1924794"/>
            <a:ext cx="2689890" cy="2487186"/>
          </a:xfrm>
          <a:prstGeom prst="roundRect">
            <a:avLst>
              <a:gd name="adj" fmla="val 1379"/>
            </a:avLst>
          </a:prstGeom>
          <a:solidFill>
            <a:srgbClr val="0A1A3A">
              <a:alpha val="55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227010" y="1924794"/>
            <a:ext cx="17145" cy="247575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10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3369885" y="2070527"/>
            <a:ext cx="171450" cy="125730"/>
          </a:xfrm>
          <a:prstGeom prst="roundRect">
            <a:avLst>
              <a:gd name="adj" fmla="val 9091"/>
            </a:avLst>
          </a:prstGeom>
          <a:noFill/>
          <a:ln w="571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50800" dir="16200000">
              <a:srgbClr val="00BCD4">
                <a:alpha val="40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3415605" y="2087672"/>
            <a:ext cx="16459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540" dirty="0"/>
          </a:p>
        </p:txBody>
      </p:sp>
      <p:sp>
        <p:nvSpPr>
          <p:cNvPr id="48" name="Text 45"/>
          <p:cNvSpPr/>
          <p:nvPr/>
        </p:nvSpPr>
        <p:spPr>
          <a:xfrm>
            <a:off x="3598485" y="2067669"/>
            <a:ext cx="565785" cy="142875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50800" dir="5400000">
              <a:srgbClr val="2196F3">
                <a:alpha val="7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45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内容范围</a:t>
            </a:r>
            <a:endParaRPr lang="en-US" sz="855" dirty="0"/>
          </a:p>
        </p:txBody>
      </p:sp>
      <p:sp>
        <p:nvSpPr>
          <p:cNvPr id="49" name="Text 46"/>
          <p:cNvSpPr/>
          <p:nvPr/>
        </p:nvSpPr>
        <p:spPr>
          <a:xfrm>
            <a:off x="3369885" y="2296269"/>
            <a:ext cx="2662733" cy="226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8FB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覆盖编程语言发布、云原生进展、许可证争议与供应链安全四大主线，构建本期全景地图。</a:t>
            </a:r>
            <a:endParaRPr lang="en-US" sz="608" dirty="0"/>
          </a:p>
        </p:txBody>
      </p:sp>
      <p:sp>
        <p:nvSpPr>
          <p:cNvPr id="50" name="Shape 47"/>
          <p:cNvSpPr/>
          <p:nvPr/>
        </p:nvSpPr>
        <p:spPr>
          <a:xfrm>
            <a:off x="3369885" y="2617738"/>
            <a:ext cx="365760" cy="114300"/>
          </a:xfrm>
          <a:prstGeom prst="roundRect">
            <a:avLst>
              <a:gd name="adj" fmla="val 10000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415605" y="2617738"/>
            <a:ext cx="274320" cy="114300"/>
          </a:xfrm>
          <a:prstGeom prst="roundRect">
            <a:avLst>
              <a:gd name="adj" fmla="val 10000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415605" y="2617738"/>
            <a:ext cx="334328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LANG</a:t>
            </a:r>
            <a:endParaRPr lang="en-US" sz="473" dirty="0"/>
          </a:p>
        </p:txBody>
      </p:sp>
      <p:sp>
        <p:nvSpPr>
          <p:cNvPr id="53" name="Shape 50"/>
          <p:cNvSpPr/>
          <p:nvPr/>
        </p:nvSpPr>
        <p:spPr>
          <a:xfrm>
            <a:off x="3769935" y="2617738"/>
            <a:ext cx="731520" cy="114300"/>
          </a:xfrm>
          <a:prstGeom prst="roundRect">
            <a:avLst>
              <a:gd name="adj" fmla="val 10000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815655" y="2617738"/>
            <a:ext cx="640080" cy="114300"/>
          </a:xfrm>
          <a:prstGeom prst="roundRect">
            <a:avLst>
              <a:gd name="adj" fmla="val 10000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815655" y="2617738"/>
            <a:ext cx="716890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CLOUD-NATIVE</a:t>
            </a:r>
            <a:endParaRPr lang="en-US" sz="473" dirty="0"/>
          </a:p>
        </p:txBody>
      </p:sp>
      <p:sp>
        <p:nvSpPr>
          <p:cNvPr id="56" name="Shape 53"/>
          <p:cNvSpPr/>
          <p:nvPr/>
        </p:nvSpPr>
        <p:spPr>
          <a:xfrm>
            <a:off x="4535745" y="2617738"/>
            <a:ext cx="502920" cy="114300"/>
          </a:xfrm>
          <a:prstGeom prst="roundRect">
            <a:avLst>
              <a:gd name="adj" fmla="val 10000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581465" y="2617738"/>
            <a:ext cx="411480" cy="114300"/>
          </a:xfrm>
          <a:prstGeom prst="roundRect">
            <a:avLst>
              <a:gd name="adj" fmla="val 10000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581465" y="2617738"/>
            <a:ext cx="471488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LICENSE</a:t>
            </a:r>
            <a:endParaRPr lang="en-US" sz="473" dirty="0"/>
          </a:p>
        </p:txBody>
      </p:sp>
      <p:sp>
        <p:nvSpPr>
          <p:cNvPr id="59" name="Shape 56"/>
          <p:cNvSpPr/>
          <p:nvPr/>
        </p:nvSpPr>
        <p:spPr>
          <a:xfrm>
            <a:off x="5072955" y="2617738"/>
            <a:ext cx="548640" cy="114300"/>
          </a:xfrm>
          <a:prstGeom prst="roundRect">
            <a:avLst>
              <a:gd name="adj" fmla="val 10000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118675" y="2617738"/>
            <a:ext cx="457200" cy="114300"/>
          </a:xfrm>
          <a:prstGeom prst="roundRect">
            <a:avLst>
              <a:gd name="adj" fmla="val 10000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118675" y="2617738"/>
            <a:ext cx="517208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SECURITY</a:t>
            </a:r>
            <a:endParaRPr lang="en-US" sz="473" dirty="0"/>
          </a:p>
        </p:txBody>
      </p:sp>
      <p:sp>
        <p:nvSpPr>
          <p:cNvPr id="62" name="Shape 59"/>
          <p:cNvSpPr/>
          <p:nvPr/>
        </p:nvSpPr>
        <p:spPr>
          <a:xfrm>
            <a:off x="6042630" y="1924794"/>
            <a:ext cx="2689800" cy="2487186"/>
          </a:xfrm>
          <a:prstGeom prst="roundRect">
            <a:avLst>
              <a:gd name="adj" fmla="val 1379"/>
            </a:avLst>
          </a:prstGeom>
          <a:solidFill>
            <a:srgbClr val="0A1A3A">
              <a:alpha val="55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6042630" y="1924794"/>
            <a:ext cx="17145" cy="247575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100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6185505" y="2070527"/>
            <a:ext cx="171450" cy="125730"/>
          </a:xfrm>
          <a:prstGeom prst="roundRect">
            <a:avLst>
              <a:gd name="adj" fmla="val 9091"/>
            </a:avLst>
          </a:prstGeom>
          <a:noFill/>
          <a:ln w="571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50800" dir="16200000">
              <a:srgbClr val="00BCD4">
                <a:alpha val="40000"/>
              </a:srgbClr>
            </a:outerShdw>
          </a:effectLst>
        </p:spPr>
      </p:sp>
      <p:sp>
        <p:nvSpPr>
          <p:cNvPr id="65" name="Text 62"/>
          <p:cNvSpPr/>
          <p:nvPr/>
        </p:nvSpPr>
        <p:spPr>
          <a:xfrm>
            <a:off x="6231225" y="2087672"/>
            <a:ext cx="16459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540" dirty="0"/>
          </a:p>
        </p:txBody>
      </p:sp>
      <p:sp>
        <p:nvSpPr>
          <p:cNvPr id="66" name="Text 63"/>
          <p:cNvSpPr/>
          <p:nvPr/>
        </p:nvSpPr>
        <p:spPr>
          <a:xfrm>
            <a:off x="6414105" y="2067669"/>
            <a:ext cx="565785" cy="142875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50800" dir="5400000">
              <a:srgbClr val="2196F3">
                <a:alpha val="7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45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阅读推荐</a:t>
            </a:r>
            <a:endParaRPr lang="en-US" sz="855" dirty="0"/>
          </a:p>
        </p:txBody>
      </p:sp>
      <p:sp>
        <p:nvSpPr>
          <p:cNvPr id="67" name="Text 64"/>
          <p:cNvSpPr/>
          <p:nvPr/>
        </p:nvSpPr>
        <p:spPr>
          <a:xfrm>
            <a:off x="6185505" y="2296269"/>
            <a:ext cx="2662733" cy="226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8FB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精选当月开源社区深度文章与值得关注的技术报告，为读者提供高质量的阅读入口。</a:t>
            </a:r>
            <a:endParaRPr lang="en-US" sz="608" dirty="0"/>
          </a:p>
        </p:txBody>
      </p:sp>
      <p:sp>
        <p:nvSpPr>
          <p:cNvPr id="68" name="Shape 65"/>
          <p:cNvSpPr/>
          <p:nvPr/>
        </p:nvSpPr>
        <p:spPr>
          <a:xfrm>
            <a:off x="6185505" y="2617738"/>
            <a:ext cx="548640" cy="114300"/>
          </a:xfrm>
          <a:prstGeom prst="roundRect">
            <a:avLst>
              <a:gd name="adj" fmla="val 10000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6231225" y="2617738"/>
            <a:ext cx="457200" cy="114300"/>
          </a:xfrm>
          <a:prstGeom prst="roundRect">
            <a:avLst>
              <a:gd name="adj" fmla="val 10000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231225" y="2617738"/>
            <a:ext cx="517208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ARTICLES</a:t>
            </a:r>
            <a:endParaRPr lang="en-US" sz="473" dirty="0"/>
          </a:p>
        </p:txBody>
      </p:sp>
      <p:sp>
        <p:nvSpPr>
          <p:cNvPr id="71" name="Shape 68"/>
          <p:cNvSpPr/>
          <p:nvPr/>
        </p:nvSpPr>
        <p:spPr>
          <a:xfrm>
            <a:off x="6768435" y="2617738"/>
            <a:ext cx="502920" cy="114300"/>
          </a:xfrm>
          <a:prstGeom prst="roundRect">
            <a:avLst>
              <a:gd name="adj" fmla="val 10000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814155" y="2617738"/>
            <a:ext cx="411480" cy="114300"/>
          </a:xfrm>
          <a:prstGeom prst="roundRect">
            <a:avLst>
              <a:gd name="adj" fmla="val 10000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814155" y="2617738"/>
            <a:ext cx="471488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REPORTS</a:t>
            </a:r>
            <a:endParaRPr lang="en-US" sz="473" dirty="0"/>
          </a:p>
        </p:txBody>
      </p:sp>
      <p:sp>
        <p:nvSpPr>
          <p:cNvPr id="74" name="Shape 71"/>
          <p:cNvSpPr/>
          <p:nvPr/>
        </p:nvSpPr>
        <p:spPr>
          <a:xfrm>
            <a:off x="7305645" y="2617738"/>
            <a:ext cx="594360" cy="114300"/>
          </a:xfrm>
          <a:prstGeom prst="roundRect">
            <a:avLst>
              <a:gd name="adj" fmla="val 10000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7351365" y="2617738"/>
            <a:ext cx="502920" cy="114300"/>
          </a:xfrm>
          <a:prstGeom prst="roundRect">
            <a:avLst>
              <a:gd name="adj" fmla="val 10000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7351365" y="2617738"/>
            <a:ext cx="563270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COMMUNITY</a:t>
            </a:r>
            <a:endParaRPr lang="en-US" sz="473" dirty="0"/>
          </a:p>
        </p:txBody>
      </p:sp>
      <p:sp>
        <p:nvSpPr>
          <p:cNvPr id="77" name="Shape 74"/>
          <p:cNvSpPr/>
          <p:nvPr/>
        </p:nvSpPr>
        <p:spPr>
          <a:xfrm>
            <a:off x="411480" y="4514850"/>
            <a:ext cx="8321040" cy="377190"/>
          </a:xfrm>
          <a:prstGeom prst="rect">
            <a:avLst/>
          </a:prstGeom>
          <a:noFill/>
          <a:ln/>
        </p:spPr>
      </p:sp>
      <p:sp>
        <p:nvSpPr>
          <p:cNvPr id="78" name="Shape 75"/>
          <p:cNvSpPr/>
          <p:nvPr/>
        </p:nvSpPr>
        <p:spPr>
          <a:xfrm>
            <a:off x="411480" y="4514850"/>
            <a:ext cx="8321040" cy="0"/>
          </a:xfrm>
          <a:prstGeom prst="line">
            <a:avLst/>
          </a:prstGeom>
          <a:noFill/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411480" y="4787741"/>
            <a:ext cx="361645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8" dirty="0">
                <a:solidFill>
                  <a:srgbClr val="8FB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本期由</a:t>
            </a:r>
            <a:pPr algn="l" indent="0" marL="0">
              <a:lnSpc>
                <a:spcPct val="150000"/>
              </a:lnSpc>
              <a:buNone/>
            </a:pPr>
            <a:r>
              <a:rPr lang="en-US" sz="608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适兕</a:t>
            </a:r>
            <a:pPr algn="l" indent="0" marL="0">
              <a:lnSpc>
                <a:spcPct val="150000"/>
              </a:lnSpc>
              <a:buNone/>
            </a:pPr>
            <a:r>
              <a:rPr lang="en-US" sz="608" dirty="0">
                <a:solidFill>
                  <a:srgbClr val="8FB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主笔，聚焦</a:t>
            </a:r>
            <a:pPr algn="l" indent="0" marL="0">
              <a:lnSpc>
                <a:spcPct val="150000"/>
              </a:lnSpc>
              <a:buNone/>
            </a:pPr>
            <a:r>
              <a:rPr lang="en-US" sz="608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月开源技术发布</a:t>
            </a:r>
            <a:pPr algn="l" indent="0" marL="0">
              <a:lnSpc>
                <a:spcPct val="150000"/>
              </a:lnSpc>
              <a:buNone/>
            </a:pPr>
            <a:r>
              <a:rPr lang="en-US" sz="608" dirty="0">
                <a:solidFill>
                  <a:srgbClr val="8FB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</a:t>
            </a:r>
            <a:pPr algn="l" indent="0" marL="0">
              <a:lnSpc>
                <a:spcPct val="150000"/>
              </a:lnSpc>
              <a:buNone/>
            </a:pPr>
            <a:r>
              <a:rPr lang="en-US" sz="608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社区动态</a:t>
            </a:r>
            <a:pPr algn="l" indent="0" marL="0">
              <a:lnSpc>
                <a:spcPct val="150000"/>
              </a:lnSpc>
              <a:buNone/>
            </a:pPr>
            <a:r>
              <a:rPr lang="en-US" sz="608" dirty="0">
                <a:solidFill>
                  <a:srgbClr val="8FB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，带你纵览这个月开源世界的脉搏与回响。</a:t>
            </a:r>
            <a:endParaRPr lang="en-US" sz="608" dirty="0"/>
          </a:p>
        </p:txBody>
      </p:sp>
      <p:sp>
        <p:nvSpPr>
          <p:cNvPr id="80" name="Text 77"/>
          <p:cNvSpPr/>
          <p:nvPr/>
        </p:nvSpPr>
        <p:spPr>
          <a:xfrm>
            <a:off x="7703820" y="4600575"/>
            <a:ext cx="1154430" cy="165735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2196F3">
                <a:alpha val="6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90" kern="0" dirty="0">
                <a:solidFill>
                  <a:srgbClr val="E6F2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VOL. 2022·02</a:t>
            </a:r>
            <a:endParaRPr lang="en-US" sz="990" dirty="0"/>
          </a:p>
        </p:txBody>
      </p:sp>
      <p:sp>
        <p:nvSpPr>
          <p:cNvPr id="81" name="Text 78"/>
          <p:cNvSpPr/>
          <p:nvPr/>
        </p:nvSpPr>
        <p:spPr>
          <a:xfrm>
            <a:off x="7418070" y="4800600"/>
            <a:ext cx="147218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 / 02 · OPEN SOURCE</a:t>
            </a:r>
            <a:endParaRPr lang="en-US" sz="5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60D1E"/>
              </a:gs>
              <a:gs pos="45000">
                <a:srgbClr val="0B1730"/>
              </a:gs>
              <a:gs pos="100000">
                <a:srgbClr val="0A1A38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5486400" y="1943100"/>
            <a:ext cx="2057400" cy="2057400"/>
          </a:xfrm>
          <a:prstGeom prst="ellipse">
            <a:avLst/>
          </a:prstGeom>
          <a:gradFill rotWithShape="1">
            <a:gsLst>
              <a:gs pos="0">
                <a:srgbClr val="2196F3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2743200" y="322898"/>
            <a:ext cx="274320" cy="571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3097530" y="308610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11830" y="274320"/>
            <a:ext cx="3046781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spc="27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CHAPTER · 02 / OPEN SOURCE MONITOR</a:t>
            </a:r>
            <a:endParaRPr lang="en-US" sz="585" dirty="0"/>
          </a:p>
        </p:txBody>
      </p:sp>
      <p:sp>
        <p:nvSpPr>
          <p:cNvPr id="8" name="Shape 6"/>
          <p:cNvSpPr/>
          <p:nvPr/>
        </p:nvSpPr>
        <p:spPr>
          <a:xfrm>
            <a:off x="6012180" y="308610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26480" y="322898"/>
            <a:ext cx="274320" cy="571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0" name="Text 8"/>
          <p:cNvSpPr/>
          <p:nvPr/>
        </p:nvSpPr>
        <p:spPr>
          <a:xfrm>
            <a:off x="3360420" y="480060"/>
            <a:ext cx="292608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2196F3">
                <a:alpha val="15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960" b="1" spc="810" kern="0" dirty="0">
                <a:solidFill>
                  <a:srgbClr val="E1F5F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月度速览</a:t>
            </a:r>
            <a:endParaRPr lang="en-US" sz="3960" dirty="0"/>
          </a:p>
        </p:txBody>
      </p:sp>
      <p:sp>
        <p:nvSpPr>
          <p:cNvPr id="11" name="Text 9"/>
          <p:cNvSpPr/>
          <p:nvPr/>
        </p:nvSpPr>
        <p:spPr>
          <a:xfrm>
            <a:off x="2788920" y="1062990"/>
            <a:ext cx="3994099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spc="63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February 2022 Highlights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94760" y="1345883"/>
            <a:ext cx="6858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2196F3"/>
              </a:gs>
            </a:gsLst>
            <a:lin ang="0" scaled="0"/>
          </a:gradFill>
          <a:ln/>
        </p:spPr>
      </p:sp>
      <p:sp>
        <p:nvSpPr>
          <p:cNvPr id="13" name="Shape 11"/>
          <p:cNvSpPr/>
          <p:nvPr/>
        </p:nvSpPr>
        <p:spPr>
          <a:xfrm rot="2700000">
            <a:off x="4549140" y="1325880"/>
            <a:ext cx="45720" cy="45720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95250" dist="50800" dir="16200000">
              <a:srgbClr val="2196F3">
                <a:alpha val="6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345883"/>
            <a:ext cx="68580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5" name="Text 13"/>
          <p:cNvSpPr/>
          <p:nvPr/>
        </p:nvSpPr>
        <p:spPr>
          <a:xfrm>
            <a:off x="1028700" y="1474470"/>
            <a:ext cx="7936992" cy="3171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85000"/>
              </a:lnSpc>
              <a:buNone/>
            </a:pPr>
            <a:r>
              <a:rPr lang="en-US" sz="675" b="1" spc="23" kern="0" dirty="0">
                <a:solidFill>
                  <a:srgbClr val="EAF2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 年 2 月是开源世界的一个活跃月份</a:t>
            </a:r>
            <a:pPr algn="ctr" indent="0" marL="0">
              <a:lnSpc>
                <a:spcPct val="185000"/>
              </a:lnSpc>
              <a:buNone/>
            </a:pPr>
            <a:r>
              <a:rPr lang="en-US" sz="675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——从编程语言的新能力到云原生基础设施的成熟，从 AI 治理的前瞻讨论到供应链安全的深度反思，本章节将以</a:t>
            </a:r>
            <a:pPr algn="ctr" indent="0" marL="0">
              <a:lnSpc>
                <a:spcPct val="185000"/>
              </a:lnSpc>
              <a:buNone/>
            </a:pPr>
            <a:r>
              <a:rPr lang="en-US" sz="675" b="1" spc="23" kern="0" dirty="0">
                <a:solidFill>
                  <a:srgbClr val="EAF2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五个核心事件</a:t>
            </a:r>
            <a:pPr algn="ctr" indent="0" marL="0">
              <a:lnSpc>
                <a:spcPct val="185000"/>
              </a:lnSpc>
              <a:buNone/>
            </a:pPr>
            <a:r>
              <a:rPr lang="en-US" sz="675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勾勒当月全景。</a:t>
            </a:r>
            <a:endParaRPr lang="en-US" sz="675" dirty="0"/>
          </a:p>
        </p:txBody>
      </p:sp>
      <p:sp>
        <p:nvSpPr>
          <p:cNvPr id="16" name="Shape 14"/>
          <p:cNvSpPr/>
          <p:nvPr/>
        </p:nvSpPr>
        <p:spPr>
          <a:xfrm>
            <a:off x="342900" y="2054543"/>
            <a:ext cx="8458200" cy="5715"/>
          </a:xfrm>
          <a:prstGeom prst="rect">
            <a:avLst/>
          </a:prstGeom>
          <a:gradFill rotWithShape="1">
            <a:gsLst>
              <a:gs pos="4000">
                <a:srgbClr val="000000">
                  <a:alpha val="0"/>
                </a:srgbClr>
              </a:gs>
              <a:gs pos="12000">
                <a:srgbClr val="2196F3"/>
              </a:gs>
              <a:gs pos="88000">
                <a:srgbClr val="2196F3"/>
              </a:gs>
              <a:gs pos="96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7" name="Shape 15"/>
          <p:cNvSpPr/>
          <p:nvPr/>
        </p:nvSpPr>
        <p:spPr>
          <a:xfrm>
            <a:off x="342900" y="1974533"/>
            <a:ext cx="1609308" cy="1600200"/>
          </a:xfrm>
          <a:prstGeom prst="roundRect">
            <a:avLst>
              <a:gd name="adj" fmla="val 2143"/>
            </a:avLst>
          </a:prstGeom>
          <a:gradFill rotWithShape="1">
            <a:gsLst>
              <a:gs pos="0">
                <a:srgbClr val="111C38">
                  <a:alpha val="85000"/>
                </a:srgbClr>
              </a:gs>
              <a:gs pos="100000">
                <a:srgbClr val="0B1730">
                  <a:alpha val="85000"/>
                </a:srgbClr>
              </a:gs>
            </a:gsLst>
            <a:lin ang="5400000" scaled="0"/>
          </a:gra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8615" y="1980248"/>
            <a:ext cx="1597878" cy="28575"/>
          </a:xfrm>
          <a:prstGeom prst="roundRect">
            <a:avLst>
              <a:gd name="adj" fmla="val 120000"/>
            </a:avLst>
          </a:prstGeom>
          <a:gradFill rotWithShape="1">
            <a:gsLst>
              <a:gs pos="0">
                <a:srgbClr val="0D47A1"/>
              </a:gs>
              <a:gs pos="100000">
                <a:srgbClr val="1565C0"/>
              </a:gs>
            </a:gsLst>
            <a:lin ang="0" scaled="0"/>
          </a:gradFill>
          <a:ln/>
        </p:spPr>
      </p:sp>
      <p:sp>
        <p:nvSpPr>
          <p:cNvPr id="19" name="Text 17"/>
          <p:cNvSpPr/>
          <p:nvPr/>
        </p:nvSpPr>
        <p:spPr>
          <a:xfrm>
            <a:off x="1569303" y="2025968"/>
            <a:ext cx="37719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B0BEC5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 / 05</a:t>
            </a:r>
            <a:endParaRPr lang="en-US" sz="450" dirty="0"/>
          </a:p>
        </p:txBody>
      </p:sp>
      <p:sp>
        <p:nvSpPr>
          <p:cNvPr id="20" name="Text 18"/>
          <p:cNvSpPr/>
          <p:nvPr/>
        </p:nvSpPr>
        <p:spPr>
          <a:xfrm>
            <a:off x="451485" y="2163128"/>
            <a:ext cx="155919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LANG · MILESTONE</a:t>
            </a:r>
            <a:endParaRPr lang="en-US" sz="450" dirty="0"/>
          </a:p>
        </p:txBody>
      </p:sp>
      <p:sp>
        <p:nvSpPr>
          <p:cNvPr id="21" name="Text 19"/>
          <p:cNvSpPr/>
          <p:nvPr/>
        </p:nvSpPr>
        <p:spPr>
          <a:xfrm>
            <a:off x="451485" y="2306003"/>
            <a:ext cx="1559195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65" b="1" spc="45" kern="0" dirty="0">
                <a:solidFill>
                  <a:srgbClr val="EAF2F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Go 1.18</a:t>
            </a:r>
            <a:pPr algn="l" indent="0" marL="0">
              <a:lnSpc>
                <a:spcPct val="145000"/>
              </a:lnSpc>
              <a:buNone/>
            </a:pPr>
            <a:endParaRPr lang="en-US" sz="765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765" b="1" spc="45" kern="0" dirty="0">
                <a:solidFill>
                  <a:srgbClr val="EAF2F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正式发布</a:t>
            </a:r>
            <a:endParaRPr lang="en-US" sz="765" dirty="0"/>
          </a:p>
        </p:txBody>
      </p:sp>
      <p:sp>
        <p:nvSpPr>
          <p:cNvPr id="22" name="Shape 20"/>
          <p:cNvSpPr/>
          <p:nvPr/>
        </p:nvSpPr>
        <p:spPr>
          <a:xfrm>
            <a:off x="451485" y="2660333"/>
            <a:ext cx="160020" cy="11430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5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1485" y="2740343"/>
            <a:ext cx="1559195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spc="14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语言史上里程碑版本，首次引入</a:t>
            </a:r>
            <a:pPr algn="l" indent="0" marL="0">
              <a:lnSpc>
                <a:spcPct val="170000"/>
              </a:lnSpc>
              <a:buNone/>
            </a:pPr>
            <a:r>
              <a:rPr lang="en-US" sz="563" spc="14" kern="0" dirty="0">
                <a:solidFill>
                  <a:srgbClr val="EAF2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泛型支持</a:t>
            </a:r>
            <a:pPr algn="l" indent="0" marL="0">
              <a:lnSpc>
                <a:spcPct val="170000"/>
              </a:lnSpc>
              <a:buNone/>
            </a:pPr>
            <a:r>
              <a:rPr lang="en-US" sz="563" spc="14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，生态工具链全面升级。</a:t>
            </a:r>
            <a:endParaRPr lang="en-US" sz="563" dirty="0"/>
          </a:p>
        </p:txBody>
      </p:sp>
      <p:sp>
        <p:nvSpPr>
          <p:cNvPr id="24" name="Shape 22"/>
          <p:cNvSpPr/>
          <p:nvPr/>
        </p:nvSpPr>
        <p:spPr>
          <a:xfrm>
            <a:off x="451485" y="3088958"/>
            <a:ext cx="22860" cy="2286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25" name="Text 23"/>
          <p:cNvSpPr/>
          <p:nvPr/>
        </p:nvSpPr>
        <p:spPr>
          <a:xfrm>
            <a:off x="520065" y="3063240"/>
            <a:ext cx="896112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2022.02.24 · Release</a:t>
            </a:r>
            <a:endParaRPr lang="en-US" sz="450" dirty="0"/>
          </a:p>
        </p:txBody>
      </p:sp>
      <p:sp>
        <p:nvSpPr>
          <p:cNvPr id="26" name="Shape 24"/>
          <p:cNvSpPr/>
          <p:nvPr/>
        </p:nvSpPr>
        <p:spPr>
          <a:xfrm>
            <a:off x="2055078" y="1974533"/>
            <a:ext cx="1609308" cy="1600200"/>
          </a:xfrm>
          <a:prstGeom prst="roundRect">
            <a:avLst>
              <a:gd name="adj" fmla="val 2143"/>
            </a:avLst>
          </a:prstGeom>
          <a:gradFill rotWithShape="1">
            <a:gsLst>
              <a:gs pos="0">
                <a:srgbClr val="111C38">
                  <a:alpha val="85000"/>
                </a:srgbClr>
              </a:gs>
              <a:gs pos="100000">
                <a:srgbClr val="0B1730">
                  <a:alpha val="85000"/>
                </a:srgbClr>
              </a:gs>
            </a:gsLst>
            <a:lin ang="5400000" scaled="0"/>
          </a:gra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60793" y="1980248"/>
            <a:ext cx="1597878" cy="28575"/>
          </a:xfrm>
          <a:prstGeom prst="roundRect">
            <a:avLst>
              <a:gd name="adj" fmla="val 120000"/>
            </a:avLst>
          </a:prstGeom>
          <a:gradFill rotWithShape="1">
            <a:gsLst>
              <a:gs pos="0">
                <a:srgbClr val="1565C0"/>
              </a:gs>
              <a:gs pos="100000">
                <a:srgbClr val="1976D2"/>
              </a:gs>
            </a:gsLst>
            <a:lin ang="0" scaled="0"/>
          </a:gradFill>
          <a:ln/>
        </p:spPr>
      </p:sp>
      <p:sp>
        <p:nvSpPr>
          <p:cNvPr id="28" name="Text 26"/>
          <p:cNvSpPr/>
          <p:nvPr/>
        </p:nvSpPr>
        <p:spPr>
          <a:xfrm>
            <a:off x="3281482" y="2025968"/>
            <a:ext cx="37719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B0BEC5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 / 05</a:t>
            </a:r>
            <a:endParaRPr lang="en-US" sz="450" dirty="0"/>
          </a:p>
        </p:txBody>
      </p:sp>
      <p:sp>
        <p:nvSpPr>
          <p:cNvPr id="29" name="Text 27"/>
          <p:cNvSpPr/>
          <p:nvPr/>
        </p:nvSpPr>
        <p:spPr>
          <a:xfrm>
            <a:off x="2163663" y="2163128"/>
            <a:ext cx="155919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CNCF · CORE</a:t>
            </a:r>
            <a:endParaRPr lang="en-US" sz="450" dirty="0"/>
          </a:p>
        </p:txBody>
      </p:sp>
      <p:sp>
        <p:nvSpPr>
          <p:cNvPr id="30" name="Text 28"/>
          <p:cNvSpPr/>
          <p:nvPr/>
        </p:nvSpPr>
        <p:spPr>
          <a:xfrm>
            <a:off x="2163663" y="2306003"/>
            <a:ext cx="1559195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65" b="1" spc="45" kern="0" dirty="0">
                <a:solidFill>
                  <a:srgbClr val="EAF2F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Kubernetes</a:t>
            </a:r>
            <a:pPr algn="l" indent="0" marL="0">
              <a:lnSpc>
                <a:spcPct val="145000"/>
              </a:lnSpc>
              <a:buNone/>
            </a:pPr>
            <a:endParaRPr lang="en-US" sz="765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765" b="1" spc="45" kern="0" dirty="0">
                <a:solidFill>
                  <a:srgbClr val="EAF2F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1.24</a:t>
            </a:r>
            <a:endParaRPr lang="en-US" sz="765" dirty="0"/>
          </a:p>
        </p:txBody>
      </p:sp>
      <p:sp>
        <p:nvSpPr>
          <p:cNvPr id="31" name="Shape 29"/>
          <p:cNvSpPr/>
          <p:nvPr/>
        </p:nvSpPr>
        <p:spPr>
          <a:xfrm>
            <a:off x="2163663" y="2660333"/>
            <a:ext cx="160020" cy="11430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5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163663" y="2740343"/>
            <a:ext cx="1559195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spc="14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云原生基础设施迎来</a:t>
            </a:r>
            <a:pPr algn="l" indent="0" marL="0">
              <a:lnSpc>
                <a:spcPct val="170000"/>
              </a:lnSpc>
              <a:buNone/>
            </a:pPr>
            <a:r>
              <a:rPr lang="en-US" sz="563" spc="14" kern="0" dirty="0">
                <a:solidFill>
                  <a:srgbClr val="EAF2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重要迭代</a:t>
            </a:r>
            <a:pPr algn="l" indent="0" marL="0">
              <a:lnSpc>
                <a:spcPct val="170000"/>
              </a:lnSpc>
              <a:buNone/>
            </a:pPr>
            <a:r>
              <a:rPr lang="en-US" sz="563" spc="14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，多项 GA 特性落地，SIG 贡献持续增长。</a:t>
            </a:r>
            <a:endParaRPr lang="en-US" sz="563" dirty="0"/>
          </a:p>
        </p:txBody>
      </p:sp>
      <p:sp>
        <p:nvSpPr>
          <p:cNvPr id="33" name="Shape 31"/>
          <p:cNvSpPr/>
          <p:nvPr/>
        </p:nvSpPr>
        <p:spPr>
          <a:xfrm>
            <a:off x="2163663" y="3088958"/>
            <a:ext cx="22860" cy="2286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34" name="Text 32"/>
          <p:cNvSpPr/>
          <p:nvPr/>
        </p:nvSpPr>
        <p:spPr>
          <a:xfrm>
            <a:off x="2232243" y="3063240"/>
            <a:ext cx="896112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2022.02.08 · Release</a:t>
            </a:r>
            <a:endParaRPr lang="en-US" sz="450" dirty="0"/>
          </a:p>
        </p:txBody>
      </p:sp>
      <p:sp>
        <p:nvSpPr>
          <p:cNvPr id="35" name="Shape 33"/>
          <p:cNvSpPr/>
          <p:nvPr/>
        </p:nvSpPr>
        <p:spPr>
          <a:xfrm>
            <a:off x="3767257" y="1974533"/>
            <a:ext cx="1609398" cy="1600200"/>
          </a:xfrm>
          <a:prstGeom prst="roundRect">
            <a:avLst>
              <a:gd name="adj" fmla="val 2143"/>
            </a:avLst>
          </a:prstGeom>
          <a:gradFill rotWithShape="1">
            <a:gsLst>
              <a:gs pos="0">
                <a:srgbClr val="111C38">
                  <a:alpha val="85000"/>
                </a:srgbClr>
              </a:gs>
              <a:gs pos="100000">
                <a:srgbClr val="0B1730">
                  <a:alpha val="85000"/>
                </a:srgbClr>
              </a:gs>
            </a:gsLst>
            <a:lin ang="5400000" scaled="0"/>
          </a:gra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72972" y="1980248"/>
            <a:ext cx="1597968" cy="28575"/>
          </a:xfrm>
          <a:prstGeom prst="roundRect">
            <a:avLst>
              <a:gd name="adj" fmla="val 120000"/>
            </a:avLst>
          </a:prstGeom>
          <a:gradFill rotWithShape="1">
            <a:gsLst>
              <a:gs pos="0">
                <a:srgbClr val="1976D2"/>
              </a:gs>
              <a:gs pos="100000">
                <a:srgbClr val="1E88E5"/>
              </a:gs>
            </a:gsLst>
            <a:lin ang="0" scaled="0"/>
          </a:gradFill>
          <a:ln/>
        </p:spPr>
      </p:sp>
      <p:sp>
        <p:nvSpPr>
          <p:cNvPr id="37" name="Text 35"/>
          <p:cNvSpPr/>
          <p:nvPr/>
        </p:nvSpPr>
        <p:spPr>
          <a:xfrm>
            <a:off x="4993749" y="2025968"/>
            <a:ext cx="37719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B0BEC5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 / 05</a:t>
            </a:r>
            <a:endParaRPr lang="en-US" sz="450" dirty="0"/>
          </a:p>
        </p:txBody>
      </p:sp>
      <p:sp>
        <p:nvSpPr>
          <p:cNvPr id="38" name="Text 36"/>
          <p:cNvSpPr/>
          <p:nvPr/>
        </p:nvSpPr>
        <p:spPr>
          <a:xfrm>
            <a:off x="3875842" y="2163128"/>
            <a:ext cx="155929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AI × OSS</a:t>
            </a:r>
            <a:endParaRPr lang="en-US" sz="450" dirty="0"/>
          </a:p>
        </p:txBody>
      </p:sp>
      <p:sp>
        <p:nvSpPr>
          <p:cNvPr id="39" name="Text 37"/>
          <p:cNvSpPr/>
          <p:nvPr/>
        </p:nvSpPr>
        <p:spPr>
          <a:xfrm>
            <a:off x="3875842" y="2306003"/>
            <a:ext cx="1559295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65" b="1" spc="45" kern="0" dirty="0">
                <a:solidFill>
                  <a:srgbClr val="EAF2F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AI 与开源</a:t>
            </a:r>
            <a:pPr algn="l" indent="0" marL="0">
              <a:lnSpc>
                <a:spcPct val="145000"/>
              </a:lnSpc>
              <a:buNone/>
            </a:pPr>
            <a:endParaRPr lang="en-US" sz="765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765" b="1" spc="45" kern="0" dirty="0">
                <a:solidFill>
                  <a:srgbClr val="EAF2F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交汇</a:t>
            </a:r>
            <a:endParaRPr lang="en-US" sz="765" dirty="0"/>
          </a:p>
        </p:txBody>
      </p:sp>
      <p:sp>
        <p:nvSpPr>
          <p:cNvPr id="40" name="Shape 38"/>
          <p:cNvSpPr/>
          <p:nvPr/>
        </p:nvSpPr>
        <p:spPr>
          <a:xfrm>
            <a:off x="3875842" y="2660333"/>
            <a:ext cx="160020" cy="11430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5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875842" y="2740343"/>
            <a:ext cx="1559295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spc="14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大模型热潮前夕，社区关于</a:t>
            </a:r>
            <a:pPr algn="l" indent="0" marL="0">
              <a:lnSpc>
                <a:spcPct val="170000"/>
              </a:lnSpc>
              <a:buNone/>
            </a:pPr>
            <a:r>
              <a:rPr lang="en-US" sz="563" spc="14" kern="0" dirty="0">
                <a:solidFill>
                  <a:srgbClr val="EAF2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 AI 治理</a:t>
            </a:r>
            <a:pPr algn="l" indent="0" marL="0">
              <a:lnSpc>
                <a:spcPct val="170000"/>
              </a:lnSpc>
              <a:buNone/>
            </a:pPr>
            <a:r>
              <a:rPr lang="en-US" sz="563" spc="14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与数据集许可的讨论日益活跃。</a:t>
            </a:r>
            <a:endParaRPr lang="en-US" sz="563" dirty="0"/>
          </a:p>
        </p:txBody>
      </p:sp>
      <p:sp>
        <p:nvSpPr>
          <p:cNvPr id="42" name="Shape 40"/>
          <p:cNvSpPr/>
          <p:nvPr/>
        </p:nvSpPr>
        <p:spPr>
          <a:xfrm>
            <a:off x="3875842" y="3088958"/>
            <a:ext cx="22860" cy="2286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43" name="Text 41"/>
          <p:cNvSpPr/>
          <p:nvPr/>
        </p:nvSpPr>
        <p:spPr>
          <a:xfrm>
            <a:off x="3944422" y="3063240"/>
            <a:ext cx="85130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2022.02 · Discourse</a:t>
            </a:r>
            <a:endParaRPr lang="en-US" sz="450" dirty="0"/>
          </a:p>
        </p:txBody>
      </p:sp>
      <p:sp>
        <p:nvSpPr>
          <p:cNvPr id="44" name="Shape 42"/>
          <p:cNvSpPr/>
          <p:nvPr/>
        </p:nvSpPr>
        <p:spPr>
          <a:xfrm>
            <a:off x="5479524" y="1974533"/>
            <a:ext cx="1609308" cy="1600200"/>
          </a:xfrm>
          <a:prstGeom prst="roundRect">
            <a:avLst>
              <a:gd name="adj" fmla="val 2143"/>
            </a:avLst>
          </a:prstGeom>
          <a:gradFill rotWithShape="1">
            <a:gsLst>
              <a:gs pos="0">
                <a:srgbClr val="111C38">
                  <a:alpha val="85000"/>
                </a:srgbClr>
              </a:gs>
              <a:gs pos="100000">
                <a:srgbClr val="0B1730">
                  <a:alpha val="85000"/>
                </a:srgbClr>
              </a:gs>
            </a:gsLst>
            <a:lin ang="5400000" scaled="0"/>
          </a:gra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5239" y="1980248"/>
            <a:ext cx="1597878" cy="28575"/>
          </a:xfrm>
          <a:prstGeom prst="roundRect">
            <a:avLst>
              <a:gd name="adj" fmla="val 120000"/>
            </a:avLst>
          </a:prstGeom>
          <a:gradFill rotWithShape="1">
            <a:gsLst>
              <a:gs pos="0">
                <a:srgbClr val="1E88E5"/>
              </a:gs>
              <a:gs pos="100000">
                <a:srgbClr val="42A5F5"/>
              </a:gs>
            </a:gsLst>
            <a:lin ang="0" scaled="0"/>
          </a:gradFill>
          <a:ln/>
        </p:spPr>
      </p:sp>
      <p:sp>
        <p:nvSpPr>
          <p:cNvPr id="46" name="Text 44"/>
          <p:cNvSpPr/>
          <p:nvPr/>
        </p:nvSpPr>
        <p:spPr>
          <a:xfrm>
            <a:off x="6705927" y="2025968"/>
            <a:ext cx="37719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B0BEC5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 / 05</a:t>
            </a:r>
            <a:endParaRPr lang="en-US" sz="450" dirty="0"/>
          </a:p>
        </p:txBody>
      </p:sp>
      <p:sp>
        <p:nvSpPr>
          <p:cNvPr id="47" name="Text 45"/>
          <p:cNvSpPr/>
          <p:nvPr/>
        </p:nvSpPr>
        <p:spPr>
          <a:xfrm>
            <a:off x="5588109" y="2163128"/>
            <a:ext cx="155919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KERNEL · UPSTREAM</a:t>
            </a:r>
            <a:endParaRPr lang="en-US" sz="450" dirty="0"/>
          </a:p>
        </p:txBody>
      </p:sp>
      <p:sp>
        <p:nvSpPr>
          <p:cNvPr id="48" name="Text 46"/>
          <p:cNvSpPr/>
          <p:nvPr/>
        </p:nvSpPr>
        <p:spPr>
          <a:xfrm>
            <a:off x="5588109" y="2306003"/>
            <a:ext cx="1559195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65" b="1" spc="45" kern="0" dirty="0">
                <a:solidFill>
                  <a:srgbClr val="EAF2F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Linux</a:t>
            </a:r>
            <a:pPr algn="l" indent="0" marL="0">
              <a:lnSpc>
                <a:spcPct val="145000"/>
              </a:lnSpc>
              <a:buNone/>
            </a:pPr>
            <a:endParaRPr lang="en-US" sz="765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765" b="1" spc="45" kern="0" dirty="0">
                <a:solidFill>
                  <a:srgbClr val="EAF2F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5.17</a:t>
            </a:r>
            <a:endParaRPr lang="en-US" sz="765" dirty="0"/>
          </a:p>
        </p:txBody>
      </p:sp>
      <p:sp>
        <p:nvSpPr>
          <p:cNvPr id="49" name="Shape 47"/>
          <p:cNvSpPr/>
          <p:nvPr/>
        </p:nvSpPr>
        <p:spPr>
          <a:xfrm>
            <a:off x="5588109" y="2660333"/>
            <a:ext cx="160020" cy="11430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5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588109" y="2740343"/>
            <a:ext cx="1559195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spc="14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内核版本发布，</a:t>
            </a:r>
            <a:pPr algn="l" indent="0" marL="0">
              <a:lnSpc>
                <a:spcPct val="170000"/>
              </a:lnSpc>
              <a:buNone/>
            </a:pPr>
            <a:r>
              <a:rPr lang="en-US" sz="563" spc="14" kern="0" dirty="0">
                <a:solidFill>
                  <a:srgbClr val="EAF2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文件系统、网络和性能优化</a:t>
            </a:r>
            <a:pPr algn="l" indent="0" marL="0">
              <a:lnSpc>
                <a:spcPct val="170000"/>
              </a:lnSpc>
              <a:buNone/>
            </a:pPr>
            <a:r>
              <a:rPr lang="en-US" sz="563" spc="14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持续推进。</a:t>
            </a:r>
            <a:endParaRPr lang="en-US" sz="563" dirty="0"/>
          </a:p>
        </p:txBody>
      </p:sp>
      <p:sp>
        <p:nvSpPr>
          <p:cNvPr id="51" name="Shape 49"/>
          <p:cNvSpPr/>
          <p:nvPr/>
        </p:nvSpPr>
        <p:spPr>
          <a:xfrm>
            <a:off x="5588109" y="3088958"/>
            <a:ext cx="22860" cy="2286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52" name="Text 50"/>
          <p:cNvSpPr/>
          <p:nvPr/>
        </p:nvSpPr>
        <p:spPr>
          <a:xfrm>
            <a:off x="5656689" y="3063240"/>
            <a:ext cx="896112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2022.02.09 · Release</a:t>
            </a:r>
            <a:endParaRPr lang="en-US" sz="450" dirty="0"/>
          </a:p>
        </p:txBody>
      </p:sp>
      <p:sp>
        <p:nvSpPr>
          <p:cNvPr id="53" name="Shape 51"/>
          <p:cNvSpPr/>
          <p:nvPr/>
        </p:nvSpPr>
        <p:spPr>
          <a:xfrm>
            <a:off x="7191702" y="1974533"/>
            <a:ext cx="1609398" cy="1600200"/>
          </a:xfrm>
          <a:prstGeom prst="roundRect">
            <a:avLst>
              <a:gd name="adj" fmla="val 2143"/>
            </a:avLst>
          </a:prstGeom>
          <a:gradFill rotWithShape="1">
            <a:gsLst>
              <a:gs pos="0">
                <a:srgbClr val="111C38">
                  <a:alpha val="85000"/>
                </a:srgbClr>
              </a:gs>
              <a:gs pos="100000">
                <a:srgbClr val="0B1730">
                  <a:alpha val="85000"/>
                </a:srgbClr>
              </a:gs>
            </a:gsLst>
            <a:lin ang="5400000" scaled="0"/>
          </a:gra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197417" y="1980248"/>
            <a:ext cx="1597968" cy="28575"/>
          </a:xfrm>
          <a:prstGeom prst="roundRect">
            <a:avLst>
              <a:gd name="adj" fmla="val 120000"/>
            </a:avLst>
          </a:prstGeom>
          <a:gradFill rotWithShape="1">
            <a:gsLst>
              <a:gs pos="0">
                <a:srgbClr val="42A5F5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55" name="Text 53"/>
          <p:cNvSpPr/>
          <p:nvPr/>
        </p:nvSpPr>
        <p:spPr>
          <a:xfrm>
            <a:off x="8418195" y="2025968"/>
            <a:ext cx="37719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B0BEC5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05 / 05</a:t>
            </a:r>
            <a:endParaRPr lang="en-US" sz="450" dirty="0"/>
          </a:p>
        </p:txBody>
      </p:sp>
      <p:sp>
        <p:nvSpPr>
          <p:cNvPr id="56" name="Text 54"/>
          <p:cNvSpPr/>
          <p:nvPr/>
        </p:nvSpPr>
        <p:spPr>
          <a:xfrm>
            <a:off x="7300287" y="2163128"/>
            <a:ext cx="155929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SEC · SUPPLY CHAIN</a:t>
            </a:r>
            <a:endParaRPr lang="en-US" sz="450" dirty="0"/>
          </a:p>
        </p:txBody>
      </p:sp>
      <p:sp>
        <p:nvSpPr>
          <p:cNvPr id="57" name="Text 55"/>
          <p:cNvSpPr/>
          <p:nvPr/>
        </p:nvSpPr>
        <p:spPr>
          <a:xfrm>
            <a:off x="7300287" y="2306003"/>
            <a:ext cx="1559295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65" b="1" spc="45" kern="0" dirty="0">
                <a:solidFill>
                  <a:srgbClr val="EAF2F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供应链安全</a:t>
            </a:r>
            <a:pPr algn="l" indent="0" marL="0">
              <a:lnSpc>
                <a:spcPct val="145000"/>
              </a:lnSpc>
              <a:buNone/>
            </a:pPr>
            <a:endParaRPr lang="en-US" sz="765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765" b="1" spc="45" kern="0" dirty="0">
                <a:solidFill>
                  <a:srgbClr val="EAF2F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再升温</a:t>
            </a:r>
            <a:endParaRPr lang="en-US" sz="765" dirty="0"/>
          </a:p>
        </p:txBody>
      </p:sp>
      <p:sp>
        <p:nvSpPr>
          <p:cNvPr id="58" name="Shape 56"/>
          <p:cNvSpPr/>
          <p:nvPr/>
        </p:nvSpPr>
        <p:spPr>
          <a:xfrm>
            <a:off x="7300287" y="2660333"/>
            <a:ext cx="160020" cy="11430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5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7300287" y="2740343"/>
            <a:ext cx="1559295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spc="14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Log4j 余波未散，更多社区关注</a:t>
            </a:r>
            <a:pPr algn="l" indent="0" marL="0">
              <a:lnSpc>
                <a:spcPct val="170000"/>
              </a:lnSpc>
              <a:buNone/>
            </a:pPr>
            <a:r>
              <a:rPr lang="en-US" sz="563" spc="14" kern="0" dirty="0">
                <a:solidFill>
                  <a:srgbClr val="EAF2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开源软件供应链安全治理</a:t>
            </a:r>
            <a:pPr algn="l" indent="0" marL="0">
              <a:lnSpc>
                <a:spcPct val="170000"/>
              </a:lnSpc>
              <a:buNone/>
            </a:pPr>
            <a:r>
              <a:rPr lang="en-US" sz="563" spc="14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563" dirty="0"/>
          </a:p>
        </p:txBody>
      </p:sp>
      <p:sp>
        <p:nvSpPr>
          <p:cNvPr id="60" name="Shape 58"/>
          <p:cNvSpPr/>
          <p:nvPr/>
        </p:nvSpPr>
        <p:spPr>
          <a:xfrm>
            <a:off x="7300287" y="3088958"/>
            <a:ext cx="22860" cy="2286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61" name="Text 59"/>
          <p:cNvSpPr/>
          <p:nvPr/>
        </p:nvSpPr>
        <p:spPr>
          <a:xfrm>
            <a:off x="7368867" y="3063240"/>
            <a:ext cx="672084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2022.02 · Focus</a:t>
            </a:r>
            <a:endParaRPr lang="en-US" sz="450" dirty="0"/>
          </a:p>
        </p:txBody>
      </p:sp>
      <p:sp>
        <p:nvSpPr>
          <p:cNvPr id="62" name="Shape 60"/>
          <p:cNvSpPr/>
          <p:nvPr/>
        </p:nvSpPr>
        <p:spPr>
          <a:xfrm>
            <a:off x="342900" y="3886825"/>
            <a:ext cx="305181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2196F3"/>
              </a:gs>
            </a:gsLst>
            <a:lin ang="0" scaled="0"/>
          </a:gradFill>
          <a:ln/>
        </p:spPr>
      </p:sp>
      <p:sp>
        <p:nvSpPr>
          <p:cNvPr id="63" name="Text 61"/>
          <p:cNvSpPr/>
          <p:nvPr/>
        </p:nvSpPr>
        <p:spPr>
          <a:xfrm>
            <a:off x="3474720" y="3843963"/>
            <a:ext cx="2457907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2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KEY RELEASE TIMELINE · 02 / 2022</a:t>
            </a:r>
            <a:endParaRPr lang="en-US" sz="540" dirty="0"/>
          </a:p>
        </p:txBody>
      </p:sp>
      <p:sp>
        <p:nvSpPr>
          <p:cNvPr id="64" name="Shape 62"/>
          <p:cNvSpPr/>
          <p:nvPr/>
        </p:nvSpPr>
        <p:spPr>
          <a:xfrm>
            <a:off x="5749290" y="3886825"/>
            <a:ext cx="305181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5" name="Shape 63"/>
          <p:cNvSpPr/>
          <p:nvPr/>
        </p:nvSpPr>
        <p:spPr>
          <a:xfrm>
            <a:off x="850374" y="4118283"/>
            <a:ext cx="7443273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6000">
                <a:srgbClr val="2196F3"/>
              </a:gs>
              <a:gs pos="94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6" name="Shape 64"/>
          <p:cNvSpPr/>
          <p:nvPr/>
        </p:nvSpPr>
        <p:spPr>
          <a:xfrm>
            <a:off x="342900" y="4061133"/>
            <a:ext cx="114300" cy="114300"/>
          </a:xfrm>
          <a:prstGeom prst="ellipse">
            <a:avLst/>
          </a:prstGeom>
          <a:solidFill>
            <a:srgbClr val="0B1730"/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114300" dist="50800" dir="16200000">
              <a:srgbClr val="2196F3">
                <a:alpha val="5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71475" y="4089708"/>
            <a:ext cx="34290" cy="3429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68" name="Text 66"/>
          <p:cNvSpPr/>
          <p:nvPr/>
        </p:nvSpPr>
        <p:spPr>
          <a:xfrm>
            <a:off x="342900" y="4221153"/>
            <a:ext cx="98298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90" kern="0" dirty="0">
                <a:solidFill>
                  <a:srgbClr val="EAF2F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2022-02-24</a:t>
            </a:r>
            <a:endParaRPr lang="en-US" sz="990" dirty="0"/>
          </a:p>
        </p:txBody>
      </p:sp>
      <p:sp>
        <p:nvSpPr>
          <p:cNvPr id="69" name="Text 67"/>
          <p:cNvSpPr/>
          <p:nvPr/>
        </p:nvSpPr>
        <p:spPr>
          <a:xfrm>
            <a:off x="342900" y="4409748"/>
            <a:ext cx="46863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GO 1.18</a:t>
            </a:r>
            <a:endParaRPr lang="en-US" sz="540" dirty="0"/>
          </a:p>
        </p:txBody>
      </p:sp>
      <p:sp>
        <p:nvSpPr>
          <p:cNvPr id="70" name="Text 68"/>
          <p:cNvSpPr/>
          <p:nvPr/>
        </p:nvSpPr>
        <p:spPr>
          <a:xfrm>
            <a:off x="342900" y="4535478"/>
            <a:ext cx="2092462" cy="10510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18" spc="14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语言首个支持泛型的正式版本，标志语言进入 2.0 时代前夜。</a:t>
            </a:r>
            <a:endParaRPr lang="en-US" sz="518" dirty="0"/>
          </a:p>
        </p:txBody>
      </p:sp>
      <p:sp>
        <p:nvSpPr>
          <p:cNvPr id="71" name="Shape 69"/>
          <p:cNvSpPr/>
          <p:nvPr/>
        </p:nvSpPr>
        <p:spPr>
          <a:xfrm>
            <a:off x="2480310" y="4061133"/>
            <a:ext cx="114300" cy="114300"/>
          </a:xfrm>
          <a:prstGeom prst="ellipse">
            <a:avLst/>
          </a:prstGeom>
          <a:solidFill>
            <a:srgbClr val="0B1730"/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114300" dist="50800" dir="16200000">
              <a:srgbClr val="2196F3">
                <a:alpha val="5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2508885" y="4089708"/>
            <a:ext cx="34290" cy="3429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73" name="Text 71"/>
          <p:cNvSpPr/>
          <p:nvPr/>
        </p:nvSpPr>
        <p:spPr>
          <a:xfrm>
            <a:off x="2480310" y="4221153"/>
            <a:ext cx="98298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90" kern="0" dirty="0">
                <a:solidFill>
                  <a:srgbClr val="EAF2F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2022-02-08</a:t>
            </a:r>
            <a:endParaRPr lang="en-US" sz="990" dirty="0"/>
          </a:p>
        </p:txBody>
      </p:sp>
      <p:sp>
        <p:nvSpPr>
          <p:cNvPr id="74" name="Text 72"/>
          <p:cNvSpPr/>
          <p:nvPr/>
        </p:nvSpPr>
        <p:spPr>
          <a:xfrm>
            <a:off x="2480310" y="4409748"/>
            <a:ext cx="96012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KUBERNETES 1.24</a:t>
            </a:r>
            <a:endParaRPr lang="en-US" sz="540" dirty="0"/>
          </a:p>
        </p:txBody>
      </p:sp>
      <p:sp>
        <p:nvSpPr>
          <p:cNvPr id="75" name="Text 73"/>
          <p:cNvSpPr/>
          <p:nvPr/>
        </p:nvSpPr>
        <p:spPr>
          <a:xfrm>
            <a:off x="2480310" y="4535478"/>
            <a:ext cx="1684110" cy="10510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18" spc="14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CNCF 毕业项目年度重要发布，SIG 生态持续繁荣。</a:t>
            </a:r>
            <a:endParaRPr lang="en-US" sz="518" dirty="0"/>
          </a:p>
        </p:txBody>
      </p:sp>
      <p:sp>
        <p:nvSpPr>
          <p:cNvPr id="76" name="Shape 74"/>
          <p:cNvSpPr/>
          <p:nvPr/>
        </p:nvSpPr>
        <p:spPr>
          <a:xfrm>
            <a:off x="4617720" y="4061133"/>
            <a:ext cx="114300" cy="114300"/>
          </a:xfrm>
          <a:prstGeom prst="ellipse">
            <a:avLst/>
          </a:prstGeom>
          <a:solidFill>
            <a:srgbClr val="0B1730"/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114300" dist="50800" dir="16200000">
              <a:srgbClr val="2196F3">
                <a:alpha val="5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4646295" y="4089708"/>
            <a:ext cx="34290" cy="3429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78" name="Text 76"/>
          <p:cNvSpPr/>
          <p:nvPr/>
        </p:nvSpPr>
        <p:spPr>
          <a:xfrm>
            <a:off x="4617720" y="4221153"/>
            <a:ext cx="98298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90" kern="0" dirty="0">
                <a:solidFill>
                  <a:srgbClr val="EAF2F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2022-02-09</a:t>
            </a:r>
            <a:endParaRPr lang="en-US" sz="990" dirty="0"/>
          </a:p>
        </p:txBody>
      </p:sp>
      <p:sp>
        <p:nvSpPr>
          <p:cNvPr id="79" name="Text 77"/>
          <p:cNvSpPr/>
          <p:nvPr/>
        </p:nvSpPr>
        <p:spPr>
          <a:xfrm>
            <a:off x="4617720" y="4409748"/>
            <a:ext cx="64008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LINUX 5.17</a:t>
            </a:r>
            <a:endParaRPr lang="en-US" sz="540" dirty="0"/>
          </a:p>
        </p:txBody>
      </p:sp>
      <p:sp>
        <p:nvSpPr>
          <p:cNvPr id="80" name="Text 78"/>
          <p:cNvSpPr/>
          <p:nvPr/>
        </p:nvSpPr>
        <p:spPr>
          <a:xfrm>
            <a:off x="4617720" y="4535478"/>
            <a:ext cx="1842830" cy="10510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18" spc="14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Linus Torvalds 发布的内核版本，系统级能力稳步演进。</a:t>
            </a:r>
            <a:endParaRPr lang="en-US" sz="518" dirty="0"/>
          </a:p>
        </p:txBody>
      </p:sp>
      <p:sp>
        <p:nvSpPr>
          <p:cNvPr id="81" name="Shape 79"/>
          <p:cNvSpPr/>
          <p:nvPr/>
        </p:nvSpPr>
        <p:spPr>
          <a:xfrm>
            <a:off x="6755130" y="4061133"/>
            <a:ext cx="114300" cy="114300"/>
          </a:xfrm>
          <a:prstGeom prst="ellipse">
            <a:avLst/>
          </a:prstGeom>
          <a:solidFill>
            <a:srgbClr val="0B1730"/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114300" dist="50800" dir="16200000">
              <a:srgbClr val="2196F3">
                <a:alpha val="5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783705" y="4089708"/>
            <a:ext cx="34290" cy="3429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83" name="Text 81"/>
          <p:cNvSpPr/>
          <p:nvPr/>
        </p:nvSpPr>
        <p:spPr>
          <a:xfrm>
            <a:off x="6755130" y="4221153"/>
            <a:ext cx="98298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90" kern="0" dirty="0">
                <a:solidFill>
                  <a:srgbClr val="EAF2F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2022-02-24</a:t>
            </a:r>
            <a:endParaRPr lang="en-US" sz="990" dirty="0"/>
          </a:p>
        </p:txBody>
      </p:sp>
      <p:sp>
        <p:nvSpPr>
          <p:cNvPr id="84" name="Text 82"/>
          <p:cNvSpPr/>
          <p:nvPr/>
        </p:nvSpPr>
        <p:spPr>
          <a:xfrm>
            <a:off x="6755130" y="4409748"/>
            <a:ext cx="58293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RUST 1.58</a:t>
            </a:r>
            <a:endParaRPr lang="en-US" sz="540" dirty="0"/>
          </a:p>
        </p:txBody>
      </p:sp>
      <p:sp>
        <p:nvSpPr>
          <p:cNvPr id="85" name="Text 83"/>
          <p:cNvSpPr/>
          <p:nvPr/>
        </p:nvSpPr>
        <p:spPr>
          <a:xfrm>
            <a:off x="6755130" y="4535478"/>
            <a:ext cx="2204476" cy="10510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18" spc="14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新增闭包类型、match ergonomics 改进，语言人体工学更进一步。</a:t>
            </a:r>
            <a:endParaRPr lang="en-US" sz="518" dirty="0"/>
          </a:p>
        </p:txBody>
      </p:sp>
      <p:sp>
        <p:nvSpPr>
          <p:cNvPr id="86" name="Shape 84"/>
          <p:cNvSpPr/>
          <p:nvPr/>
        </p:nvSpPr>
        <p:spPr>
          <a:xfrm>
            <a:off x="342900" y="4754880"/>
            <a:ext cx="8458200" cy="137160"/>
          </a:xfrm>
          <a:prstGeom prst="rect">
            <a:avLst/>
          </a:prstGeom>
          <a:noFill/>
          <a:ln/>
        </p:spPr>
      </p:sp>
      <p:sp>
        <p:nvSpPr>
          <p:cNvPr id="87" name="Shape 85"/>
          <p:cNvSpPr/>
          <p:nvPr/>
        </p:nvSpPr>
        <p:spPr>
          <a:xfrm>
            <a:off x="342900" y="4754880"/>
            <a:ext cx="8458200" cy="0"/>
          </a:xfrm>
          <a:prstGeom prst="line">
            <a:avLst/>
          </a:prstGeom>
          <a:noFill/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42900" y="4817745"/>
            <a:ext cx="1555394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SOURCE MONTHLY MONITOR</a:t>
            </a:r>
            <a:endParaRPr lang="en-US" sz="450" dirty="0"/>
          </a:p>
        </p:txBody>
      </p:sp>
      <p:sp>
        <p:nvSpPr>
          <p:cNvPr id="89" name="Text 87"/>
          <p:cNvSpPr/>
          <p:nvPr/>
        </p:nvSpPr>
        <p:spPr>
          <a:xfrm>
            <a:off x="3929063" y="4817745"/>
            <a:ext cx="1670609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CHAPTER 02 / FIVE CORE EVENTS</a:t>
            </a:r>
            <a:endParaRPr lang="en-US" sz="450" dirty="0"/>
          </a:p>
        </p:txBody>
      </p:sp>
      <p:sp>
        <p:nvSpPr>
          <p:cNvPr id="90" name="Text 88"/>
          <p:cNvSpPr/>
          <p:nvPr/>
        </p:nvSpPr>
        <p:spPr>
          <a:xfrm>
            <a:off x="7618095" y="4817745"/>
            <a:ext cx="132496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2022.02.01 — 2022.02.28</a:t>
            </a:r>
            <a:endParaRPr lang="en-US" sz="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114800" y="-257175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2743200" y="205740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00BCD4">
                  <a:alpha val="64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320040" y="240030"/>
            <a:ext cx="8503920" cy="642938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320040" y="882968"/>
            <a:ext cx="8503920" cy="0"/>
          </a:xfrm>
          <a:prstGeom prst="line">
            <a:avLst/>
          </a:prstGeom>
          <a:noFill/>
          <a:ln w="5715">
            <a:solidFill>
              <a:srgbClr val="1E2A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84321"/>
            <a:ext cx="434340" cy="434340"/>
          </a:xfrm>
          <a:prstGeom prst="roundRect">
            <a:avLst>
              <a:gd name="adj" fmla="val 18421"/>
            </a:avLst>
          </a:prstGeom>
          <a:gradFill rotWithShape="1">
            <a:gsLst>
              <a:gs pos="0">
                <a:srgbClr val="00ADD8"/>
              </a:gs>
              <a:gs pos="60000">
                <a:srgbClr val="00BCD4"/>
              </a:gs>
              <a:gs pos="100000">
                <a:srgbClr val="2196F3"/>
              </a:gs>
            </a:gsLst>
            <a:lin ang="2700000" scaled="0"/>
          </a:gradFill>
          <a:ln/>
          <a:effectLst>
            <a:outerShdw sx="100000" sy="100000" kx="0" ky="0" algn="bl" rotWithShape="0" blurRad="228600" dist="50800" dir="16200000">
              <a:srgbClr val="00BCD4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284321"/>
            <a:ext cx="617220" cy="4343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0A0F1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Go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880110" y="307717"/>
            <a:ext cx="2368296" cy="238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10" b="1" spc="-22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Go 1.18</a:t>
            </a:r>
            <a:pPr algn="l" indent="0" marL="0">
              <a:lnSpc>
                <a:spcPct val="110000"/>
              </a:lnSpc>
              <a:buNone/>
            </a:pPr>
            <a:r>
              <a:rPr lang="en-US" sz="1710" b="1" spc="-22" kern="0" dirty="0">
                <a:solidFill>
                  <a:srgbClr val="E8ECF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泛型时代</a:t>
            </a:r>
            <a:endParaRPr lang="en-US" sz="1710" dirty="0"/>
          </a:p>
        </p:txBody>
      </p:sp>
      <p:sp>
        <p:nvSpPr>
          <p:cNvPr id="10" name="Text 8"/>
          <p:cNvSpPr/>
          <p:nvPr/>
        </p:nvSpPr>
        <p:spPr>
          <a:xfrm>
            <a:off x="880110" y="592306"/>
            <a:ext cx="2368296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GENERICS · WORKSPACES · MATCH DEFAULT</a:t>
            </a:r>
            <a:endParaRPr lang="en-US" sz="585" dirty="0"/>
          </a:p>
        </p:txBody>
      </p:sp>
      <p:sp>
        <p:nvSpPr>
          <p:cNvPr id="11" name="Shape 9"/>
          <p:cNvSpPr/>
          <p:nvPr/>
        </p:nvSpPr>
        <p:spPr>
          <a:xfrm>
            <a:off x="5286375" y="240030"/>
            <a:ext cx="1143000" cy="522923"/>
          </a:xfrm>
          <a:prstGeom prst="roundRect">
            <a:avLst>
              <a:gd name="adj" fmla="val 10929"/>
            </a:avLst>
          </a:prstGeom>
          <a:solidFill>
            <a:srgbClr val="111929"/>
          </a:solidFill>
          <a:ln w="17145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06390" y="314325"/>
            <a:ext cx="106299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GA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5406390" y="497205"/>
            <a:ext cx="102412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泛型支持状态</a:t>
            </a:r>
            <a:endParaRPr lang="en-US" sz="495" dirty="0"/>
          </a:p>
        </p:txBody>
      </p:sp>
      <p:sp>
        <p:nvSpPr>
          <p:cNvPr id="14" name="Text 12"/>
          <p:cNvSpPr/>
          <p:nvPr/>
        </p:nvSpPr>
        <p:spPr>
          <a:xfrm>
            <a:off x="5406390" y="611505"/>
            <a:ext cx="1024128" cy="7715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450" dirty="0">
                <a:solidFill>
                  <a:srgbClr val="889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编译时类型推断，运行时无额外开销</a:t>
            </a:r>
            <a:endParaRPr lang="en-US" sz="450" dirty="0"/>
          </a:p>
        </p:txBody>
      </p:sp>
      <p:sp>
        <p:nvSpPr>
          <p:cNvPr id="15" name="Shape 13"/>
          <p:cNvSpPr/>
          <p:nvPr/>
        </p:nvSpPr>
        <p:spPr>
          <a:xfrm>
            <a:off x="6520815" y="240030"/>
            <a:ext cx="1017270" cy="522923"/>
          </a:xfrm>
          <a:prstGeom prst="roundRect">
            <a:avLst>
              <a:gd name="adj" fmla="val 10929"/>
            </a:avLst>
          </a:prstGeom>
          <a:solidFill>
            <a:srgbClr val="111929"/>
          </a:solidFill>
          <a:ln w="17145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0830" y="314325"/>
            <a:ext cx="937260" cy="148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0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~8</a:t>
            </a:r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年</a:t>
            </a:r>
            <a:endParaRPr lang="en-US" sz="1170" dirty="0"/>
          </a:p>
        </p:txBody>
      </p:sp>
      <p:sp>
        <p:nvSpPr>
          <p:cNvPr id="17" name="Text 15"/>
          <p:cNvSpPr/>
          <p:nvPr/>
        </p:nvSpPr>
        <p:spPr>
          <a:xfrm>
            <a:off x="6640830" y="497205"/>
            <a:ext cx="88331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开发时长</a:t>
            </a:r>
            <a:endParaRPr lang="en-US" sz="495" dirty="0"/>
          </a:p>
        </p:txBody>
      </p:sp>
      <p:sp>
        <p:nvSpPr>
          <p:cNvPr id="18" name="Text 16"/>
          <p:cNvSpPr/>
          <p:nvPr/>
        </p:nvSpPr>
        <p:spPr>
          <a:xfrm>
            <a:off x="6640830" y="611505"/>
            <a:ext cx="883310" cy="7715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450" dirty="0">
                <a:solidFill>
                  <a:srgbClr val="889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从泛型提案讨论到正式落地</a:t>
            </a:r>
            <a:endParaRPr lang="en-US" sz="450" dirty="0"/>
          </a:p>
        </p:txBody>
      </p:sp>
      <p:sp>
        <p:nvSpPr>
          <p:cNvPr id="19" name="Shape 17"/>
          <p:cNvSpPr/>
          <p:nvPr/>
        </p:nvSpPr>
        <p:spPr>
          <a:xfrm>
            <a:off x="7629525" y="240030"/>
            <a:ext cx="1194435" cy="522923"/>
          </a:xfrm>
          <a:prstGeom prst="roundRect">
            <a:avLst>
              <a:gd name="adj" fmla="val 10929"/>
            </a:avLst>
          </a:prstGeom>
          <a:solidFill>
            <a:srgbClr val="111929"/>
          </a:solidFill>
          <a:ln w="17145">
            <a:solidFill>
              <a:srgbClr val="42A5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49540" y="314325"/>
            <a:ext cx="1114425" cy="148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0" b="1" dirty="0">
                <a:solidFill>
                  <a:srgbClr val="42A5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</a:t>
            </a:r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42A5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项</a:t>
            </a:r>
            <a:endParaRPr lang="en-US" sz="1170" dirty="0"/>
          </a:p>
        </p:txBody>
      </p:sp>
      <p:sp>
        <p:nvSpPr>
          <p:cNvPr id="21" name="Text 19"/>
          <p:cNvSpPr/>
          <p:nvPr/>
        </p:nvSpPr>
        <p:spPr>
          <a:xfrm>
            <a:off x="7749540" y="497205"/>
            <a:ext cx="108173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新增语言特性</a:t>
            </a:r>
            <a:endParaRPr lang="en-US" sz="495" dirty="0"/>
          </a:p>
        </p:txBody>
      </p:sp>
      <p:sp>
        <p:nvSpPr>
          <p:cNvPr id="22" name="Text 20"/>
          <p:cNvSpPr/>
          <p:nvPr/>
        </p:nvSpPr>
        <p:spPr>
          <a:xfrm>
            <a:off x="7749540" y="611505"/>
            <a:ext cx="1081735" cy="7715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450" dirty="0">
                <a:solidFill>
                  <a:srgbClr val="889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泛型 · Workspaces · Match 默认赋值</a:t>
            </a:r>
            <a:endParaRPr lang="en-US" sz="450" dirty="0"/>
          </a:p>
        </p:txBody>
      </p:sp>
      <p:sp>
        <p:nvSpPr>
          <p:cNvPr id="23" name="Shape 21"/>
          <p:cNvSpPr/>
          <p:nvPr/>
        </p:nvSpPr>
        <p:spPr>
          <a:xfrm>
            <a:off x="320040" y="1008698"/>
            <a:ext cx="3086100" cy="3260408"/>
          </a:xfrm>
          <a:prstGeom prst="roundRect">
            <a:avLst>
              <a:gd name="adj" fmla="val 2222"/>
            </a:avLst>
          </a:prstGeom>
          <a:solidFill>
            <a:srgbClr val="111929"/>
          </a:solidFill>
          <a:ln w="5715">
            <a:solidFill>
              <a:srgbClr val="1E2A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1088708"/>
            <a:ext cx="22860" cy="3088958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2915" y="1163003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5785" y="1140143"/>
            <a:ext cx="115214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CHAPTER · 2022.02</a:t>
            </a:r>
            <a:endParaRPr lang="en-US" sz="540" dirty="0"/>
          </a:p>
        </p:txBody>
      </p:sp>
      <p:sp>
        <p:nvSpPr>
          <p:cNvPr id="27" name="Text 25"/>
          <p:cNvSpPr/>
          <p:nvPr/>
        </p:nvSpPr>
        <p:spPr>
          <a:xfrm>
            <a:off x="2423160" y="1143000"/>
            <a:ext cx="94091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8896A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Release: Feb 24, 2022</a:t>
            </a:r>
            <a:endParaRPr lang="en-US" sz="495" dirty="0"/>
          </a:p>
        </p:txBody>
      </p:sp>
      <p:sp>
        <p:nvSpPr>
          <p:cNvPr id="28" name="Text 26"/>
          <p:cNvSpPr/>
          <p:nvPr/>
        </p:nvSpPr>
        <p:spPr>
          <a:xfrm>
            <a:off x="462915" y="1311593"/>
            <a:ext cx="3136392" cy="13599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65" dirty="0">
                <a:solidFill>
                  <a:srgbClr val="E8ECF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Go 1.18 是 2022 年 2 月最受瞩目的开源发布之一</a:t>
            </a:r>
            <a:endParaRPr lang="en-US" sz="765" dirty="0"/>
          </a:p>
        </p:txBody>
      </p:sp>
      <p:sp>
        <p:nvSpPr>
          <p:cNvPr id="29" name="Text 27"/>
          <p:cNvSpPr/>
          <p:nvPr/>
        </p:nvSpPr>
        <p:spPr>
          <a:xfrm>
            <a:off x="462915" y="1527602"/>
            <a:ext cx="3136392" cy="72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泛型</a:t>
            </a:r>
            <a:pPr algn="l" indent="0" marL="0">
              <a:lnSpc>
                <a:spcPct val="170000"/>
              </a:lnSpc>
              <a:buNone/>
            </a:pPr>
            <a:r>
              <a:rPr lang="en-US" sz="563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补齐了 Go 语言最后一块被社区长期诟病的短板</a:t>
            </a:r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——集合库、算法库、序列化框架等通用代码终于可以用统一接口表达，不必再重复编写多套具体类型版本。</a:t>
            </a:r>
            <a:pPr algn="l" indent="0" marL="0">
              <a:lnSpc>
                <a:spcPct val="170000"/>
              </a:lnSpc>
              <a:buNone/>
            </a:pPr>
            <a:endParaRPr lang="en-US" sz="563" dirty="0"/>
          </a:p>
          <a:p>
            <a:pPr algn="l" indent="0" marL="0">
              <a:lnSpc>
                <a:spcPct val="170000"/>
              </a:lnSpc>
              <a:buNone/>
            </a:pPr>
            <a:endParaRPr lang="en-US" sz="563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56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Workspaces 等新机制显著改善了开发者日常体验</a:t>
            </a:r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，让大型多模块仓库的本地联调从"手工 replace 地狱"回归简洁。同时引入</a:t>
            </a:r>
            <a:pPr algn="l" indent="0" marL="0">
              <a:lnSpc>
                <a:spcPct val="170000"/>
              </a:lnSpc>
              <a:buNone/>
            </a:pPr>
            <a:r>
              <a:rPr lang="en-US" sz="563" b="1" dirty="0">
                <a:solidFill>
                  <a:srgbClr val="E8EC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默认赋值</a:t>
            </a:r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，补齐了控制流中一个长期缺失的小但高频的语言糖。</a:t>
            </a:r>
            <a:endParaRPr lang="en-US" sz="563" dirty="0"/>
          </a:p>
        </p:txBody>
      </p:sp>
      <p:sp>
        <p:nvSpPr>
          <p:cNvPr id="30" name="Text 28"/>
          <p:cNvSpPr/>
          <p:nvPr/>
        </p:nvSpPr>
        <p:spPr>
          <a:xfrm>
            <a:off x="462915" y="2336274"/>
            <a:ext cx="3136392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8896A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 generics_in_action.go</a:t>
            </a:r>
            <a:endParaRPr lang="en-US" sz="450" dirty="0"/>
          </a:p>
        </p:txBody>
      </p:sp>
      <p:sp>
        <p:nvSpPr>
          <p:cNvPr id="31" name="Shape 29"/>
          <p:cNvSpPr/>
          <p:nvPr/>
        </p:nvSpPr>
        <p:spPr>
          <a:xfrm>
            <a:off x="462915" y="2433429"/>
            <a:ext cx="2800350" cy="483721"/>
          </a:xfrm>
          <a:prstGeom prst="roundRect">
            <a:avLst>
              <a:gd name="adj" fmla="val 9452"/>
            </a:avLst>
          </a:prstGeom>
          <a:solidFill>
            <a:srgbClr val="080D19"/>
          </a:solidFill>
          <a:ln w="5715">
            <a:solidFill>
              <a:srgbClr val="1E2A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2915" y="2433429"/>
            <a:ext cx="3136392" cy="483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C792E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func 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82AA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Filter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&lt;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 any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&gt;(slice []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 pred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C792E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func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(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)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C792E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bool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) []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{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C792E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var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result []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 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C792E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for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_, v :=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C792E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range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slice {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C792E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if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pred(v) { result =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C792E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append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(result, v) } }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C792E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return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result }</a:t>
            </a:r>
            <a:pPr algn="l" indent="0" marL="0">
              <a:lnSpc>
                <a:spcPct val="170000"/>
              </a:lnSpc>
              <a:buNone/>
            </a:pPr>
            <a:r>
              <a:rPr lang="en-US" sz="518" i="1" dirty="0">
                <a:solidFill>
                  <a:srgbClr val="546E7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编译期展开 · 零运行时开销 </a:t>
            </a:r>
            <a:endParaRPr lang="en-US" sz="518" dirty="0"/>
          </a:p>
        </p:txBody>
      </p:sp>
      <p:sp>
        <p:nvSpPr>
          <p:cNvPr id="33" name="Shape 31"/>
          <p:cNvSpPr/>
          <p:nvPr/>
        </p:nvSpPr>
        <p:spPr>
          <a:xfrm>
            <a:off x="3543300" y="1008698"/>
            <a:ext cx="2600325" cy="1590199"/>
          </a:xfrm>
          <a:prstGeom prst="roundRect">
            <a:avLst>
              <a:gd name="adj" fmla="val 4313"/>
            </a:avLst>
          </a:prstGeom>
          <a:solidFill>
            <a:srgbClr val="111929"/>
          </a:solidFill>
          <a:ln w="5715">
            <a:solidFill>
              <a:srgbClr val="1E2A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43300" y="1008698"/>
            <a:ext cx="258889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35" name="Shape 33"/>
          <p:cNvSpPr/>
          <p:nvPr/>
        </p:nvSpPr>
        <p:spPr>
          <a:xfrm>
            <a:off x="3651885" y="1105853"/>
            <a:ext cx="194310" cy="194310"/>
          </a:xfrm>
          <a:prstGeom prst="roundRect">
            <a:avLst>
              <a:gd name="adj" fmla="val 23529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1885" y="1105853"/>
            <a:ext cx="274320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</a:t>
            </a:r>
            <a:endParaRPr lang="en-US" sz="630" dirty="0"/>
          </a:p>
        </p:txBody>
      </p:sp>
      <p:sp>
        <p:nvSpPr>
          <p:cNvPr id="37" name="Text 35"/>
          <p:cNvSpPr/>
          <p:nvPr/>
        </p:nvSpPr>
        <p:spPr>
          <a:xfrm>
            <a:off x="3903345" y="1105853"/>
            <a:ext cx="576072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8896A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 / FEATURE</a:t>
            </a:r>
            <a:endParaRPr lang="en-US" sz="450" dirty="0"/>
          </a:p>
        </p:txBody>
      </p:sp>
      <p:sp>
        <p:nvSpPr>
          <p:cNvPr id="38" name="Text 36"/>
          <p:cNvSpPr/>
          <p:nvPr/>
        </p:nvSpPr>
        <p:spPr>
          <a:xfrm>
            <a:off x="3903345" y="1180148"/>
            <a:ext cx="59721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53" dirty="0">
                <a:solidFill>
                  <a:srgbClr val="E8ECF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泛型正式落地</a:t>
            </a:r>
            <a:endParaRPr lang="en-US" sz="653" dirty="0"/>
          </a:p>
        </p:txBody>
      </p:sp>
      <p:sp>
        <p:nvSpPr>
          <p:cNvPr id="39" name="Text 37"/>
          <p:cNvSpPr/>
          <p:nvPr/>
        </p:nvSpPr>
        <p:spPr>
          <a:xfrm>
            <a:off x="3651885" y="1345883"/>
            <a:ext cx="2669134" cy="10510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经过八年讨论，Go 语言终于获得泛型支持，集合库、算法库编写效率大幅提升。</a:t>
            </a:r>
            <a:endParaRPr lang="en-US" sz="518" dirty="0"/>
          </a:p>
        </p:txBody>
      </p:sp>
      <p:sp>
        <p:nvSpPr>
          <p:cNvPr id="40" name="Shape 38"/>
          <p:cNvSpPr/>
          <p:nvPr/>
        </p:nvSpPr>
        <p:spPr>
          <a:xfrm>
            <a:off x="3651885" y="1508135"/>
            <a:ext cx="342900" cy="120015"/>
          </a:xfrm>
          <a:prstGeom prst="roundRect">
            <a:avLst>
              <a:gd name="adj" fmla="val 19048"/>
            </a:avLst>
          </a:prstGeom>
          <a:solidFill>
            <a:srgbClr val="2196F3">
              <a:alpha val="10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1885" y="1508135"/>
            <a:ext cx="397193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28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&lt;T any&gt;</a:t>
            </a:r>
            <a:endParaRPr lang="en-US" sz="428" dirty="0"/>
          </a:p>
        </p:txBody>
      </p:sp>
      <p:sp>
        <p:nvSpPr>
          <p:cNvPr id="42" name="Shape 40"/>
          <p:cNvSpPr/>
          <p:nvPr/>
        </p:nvSpPr>
        <p:spPr>
          <a:xfrm>
            <a:off x="4029075" y="1508135"/>
            <a:ext cx="617220" cy="120015"/>
          </a:xfrm>
          <a:prstGeom prst="roundRect">
            <a:avLst>
              <a:gd name="adj" fmla="val 19048"/>
            </a:avLst>
          </a:prstGeom>
          <a:solidFill>
            <a:srgbClr val="2196F3">
              <a:alpha val="10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29075" y="1508135"/>
            <a:ext cx="691286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28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type parameters</a:t>
            </a:r>
            <a:endParaRPr lang="en-US" sz="428" dirty="0"/>
          </a:p>
        </p:txBody>
      </p:sp>
      <p:sp>
        <p:nvSpPr>
          <p:cNvPr id="44" name="Shape 42"/>
          <p:cNvSpPr/>
          <p:nvPr/>
        </p:nvSpPr>
        <p:spPr>
          <a:xfrm>
            <a:off x="4680585" y="1508135"/>
            <a:ext cx="411480" cy="120015"/>
          </a:xfrm>
          <a:prstGeom prst="roundRect">
            <a:avLst>
              <a:gd name="adj" fmla="val 19048"/>
            </a:avLst>
          </a:prstGeom>
          <a:solidFill>
            <a:srgbClr val="2196F3">
              <a:alpha val="10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80585" y="1508135"/>
            <a:ext cx="465773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28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inference</a:t>
            </a:r>
            <a:endParaRPr lang="en-US" sz="428" dirty="0"/>
          </a:p>
        </p:txBody>
      </p:sp>
      <p:sp>
        <p:nvSpPr>
          <p:cNvPr id="46" name="Shape 44"/>
          <p:cNvSpPr/>
          <p:nvPr/>
        </p:nvSpPr>
        <p:spPr>
          <a:xfrm>
            <a:off x="6223635" y="1008698"/>
            <a:ext cx="2600325" cy="1590199"/>
          </a:xfrm>
          <a:prstGeom prst="roundRect">
            <a:avLst>
              <a:gd name="adj" fmla="val 4313"/>
            </a:avLst>
          </a:prstGeom>
          <a:solidFill>
            <a:srgbClr val="111929"/>
          </a:solidFill>
          <a:ln w="5715">
            <a:solidFill>
              <a:srgbClr val="1E2A4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23635" y="1008698"/>
            <a:ext cx="2588895" cy="1143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26C6DA"/>
              </a:gs>
            </a:gsLst>
            <a:lin ang="0" scaled="0"/>
          </a:gradFill>
          <a:ln/>
        </p:spPr>
      </p:sp>
      <p:sp>
        <p:nvSpPr>
          <p:cNvPr id="48" name="Shape 46"/>
          <p:cNvSpPr/>
          <p:nvPr/>
        </p:nvSpPr>
        <p:spPr>
          <a:xfrm>
            <a:off x="6332220" y="1105853"/>
            <a:ext cx="194310" cy="194310"/>
          </a:xfrm>
          <a:prstGeom prst="roundRect">
            <a:avLst>
              <a:gd name="adj" fmla="val 23529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32220" y="1105853"/>
            <a:ext cx="274320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⚡</a:t>
            </a:r>
            <a:endParaRPr lang="en-US" sz="630" dirty="0"/>
          </a:p>
        </p:txBody>
      </p:sp>
      <p:sp>
        <p:nvSpPr>
          <p:cNvPr id="50" name="Text 48"/>
          <p:cNvSpPr/>
          <p:nvPr/>
        </p:nvSpPr>
        <p:spPr>
          <a:xfrm>
            <a:off x="6583680" y="1105853"/>
            <a:ext cx="755294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8896A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 / TOOLCHAIN</a:t>
            </a:r>
            <a:endParaRPr lang="en-US" sz="450" dirty="0"/>
          </a:p>
        </p:txBody>
      </p:sp>
      <p:sp>
        <p:nvSpPr>
          <p:cNvPr id="51" name="Text 49"/>
          <p:cNvSpPr/>
          <p:nvPr/>
        </p:nvSpPr>
        <p:spPr>
          <a:xfrm>
            <a:off x="6583680" y="1180148"/>
            <a:ext cx="75723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53" dirty="0">
                <a:solidFill>
                  <a:srgbClr val="E8ECF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Toolchain 升级</a:t>
            </a:r>
            <a:endParaRPr lang="en-US" sz="653" dirty="0"/>
          </a:p>
        </p:txBody>
      </p:sp>
      <p:sp>
        <p:nvSpPr>
          <p:cNvPr id="52" name="Text 50"/>
          <p:cNvSpPr/>
          <p:nvPr/>
        </p:nvSpPr>
        <p:spPr>
          <a:xfrm>
            <a:off x="6332220" y="1345883"/>
            <a:ext cx="2669134" cy="10510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编译器支持泛型展开，运行时性能开销几乎为零，与手写具体类型版本持平。</a:t>
            </a:r>
            <a:endParaRPr lang="en-US" sz="518" dirty="0"/>
          </a:p>
        </p:txBody>
      </p:sp>
      <p:sp>
        <p:nvSpPr>
          <p:cNvPr id="53" name="Shape 51"/>
          <p:cNvSpPr/>
          <p:nvPr/>
        </p:nvSpPr>
        <p:spPr>
          <a:xfrm>
            <a:off x="6332220" y="1508135"/>
            <a:ext cx="651510" cy="120015"/>
          </a:xfrm>
          <a:prstGeom prst="roundRect">
            <a:avLst>
              <a:gd name="adj" fmla="val 19048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32220" y="1508135"/>
            <a:ext cx="729691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28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monomorphization</a:t>
            </a:r>
            <a:endParaRPr lang="en-US" sz="428" dirty="0"/>
          </a:p>
        </p:txBody>
      </p:sp>
      <p:sp>
        <p:nvSpPr>
          <p:cNvPr id="55" name="Shape 53"/>
          <p:cNvSpPr/>
          <p:nvPr/>
        </p:nvSpPr>
        <p:spPr>
          <a:xfrm>
            <a:off x="7018020" y="1508135"/>
            <a:ext cx="548640" cy="120015"/>
          </a:xfrm>
          <a:prstGeom prst="roundRect">
            <a:avLst>
              <a:gd name="adj" fmla="val 19048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18020" y="1508135"/>
            <a:ext cx="614477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28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zero-overhead</a:t>
            </a:r>
            <a:endParaRPr lang="en-US" sz="428" dirty="0"/>
          </a:p>
        </p:txBody>
      </p:sp>
      <p:sp>
        <p:nvSpPr>
          <p:cNvPr id="57" name="Shape 55"/>
          <p:cNvSpPr/>
          <p:nvPr/>
        </p:nvSpPr>
        <p:spPr>
          <a:xfrm>
            <a:off x="3543300" y="2678906"/>
            <a:ext cx="2600325" cy="1590199"/>
          </a:xfrm>
          <a:prstGeom prst="roundRect">
            <a:avLst>
              <a:gd name="adj" fmla="val 4313"/>
            </a:avLst>
          </a:prstGeom>
          <a:solidFill>
            <a:srgbClr val="111929"/>
          </a:solidFill>
          <a:ln w="5715">
            <a:solidFill>
              <a:srgbClr val="1E2A4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543300" y="2678906"/>
            <a:ext cx="2588895" cy="11430"/>
          </a:xfrm>
          <a:prstGeom prst="rect">
            <a:avLst/>
          </a:prstGeom>
          <a:gradFill rotWithShape="1">
            <a:gsLst>
              <a:gs pos="0">
                <a:srgbClr val="42A5F5"/>
              </a:gs>
              <a:gs pos="100000">
                <a:srgbClr val="2196F3"/>
              </a:gs>
            </a:gsLst>
            <a:lin ang="0" scaled="0"/>
          </a:gradFill>
          <a:ln/>
        </p:spPr>
      </p:sp>
      <p:sp>
        <p:nvSpPr>
          <p:cNvPr id="59" name="Shape 57"/>
          <p:cNvSpPr/>
          <p:nvPr/>
        </p:nvSpPr>
        <p:spPr>
          <a:xfrm>
            <a:off x="3651885" y="2776061"/>
            <a:ext cx="194310" cy="194310"/>
          </a:xfrm>
          <a:prstGeom prst="roundRect">
            <a:avLst>
              <a:gd name="adj" fmla="val 23529"/>
            </a:avLst>
          </a:prstGeom>
          <a:solidFill>
            <a:srgbClr val="42A5F5">
              <a:alpha val="12000"/>
            </a:srgbClr>
          </a:solidFill>
          <a:ln w="5715">
            <a:solidFill>
              <a:srgbClr val="42A5F5">
                <a:alpha val="3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1885" y="2776061"/>
            <a:ext cx="274320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42A5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</a:t>
            </a:r>
            <a:endParaRPr lang="en-US" sz="630" dirty="0"/>
          </a:p>
        </p:txBody>
      </p:sp>
      <p:sp>
        <p:nvSpPr>
          <p:cNvPr id="61" name="Text 59"/>
          <p:cNvSpPr/>
          <p:nvPr/>
        </p:nvSpPr>
        <p:spPr>
          <a:xfrm>
            <a:off x="3903345" y="2776061"/>
            <a:ext cx="812902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8896A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 / WORKSPACE</a:t>
            </a:r>
            <a:endParaRPr lang="en-US" sz="450" dirty="0"/>
          </a:p>
        </p:txBody>
      </p:sp>
      <p:sp>
        <p:nvSpPr>
          <p:cNvPr id="62" name="Text 60"/>
          <p:cNvSpPr/>
          <p:nvPr/>
        </p:nvSpPr>
        <p:spPr>
          <a:xfrm>
            <a:off x="3903345" y="2850356"/>
            <a:ext cx="812902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53" dirty="0">
                <a:solidFill>
                  <a:srgbClr val="E8ECF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Workspaces 模式</a:t>
            </a:r>
            <a:endParaRPr lang="en-US" sz="653" dirty="0"/>
          </a:p>
        </p:txBody>
      </p:sp>
      <p:sp>
        <p:nvSpPr>
          <p:cNvPr id="63" name="Text 61"/>
          <p:cNvSpPr/>
          <p:nvPr/>
        </p:nvSpPr>
        <p:spPr>
          <a:xfrm>
            <a:off x="3651885" y="3016091"/>
            <a:ext cx="2669134" cy="10510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新增 Go Workspaces 机制，简化多模块开发体验，替代此前笨重的 replace 做法。</a:t>
            </a:r>
            <a:endParaRPr lang="en-US" sz="518" dirty="0"/>
          </a:p>
        </p:txBody>
      </p:sp>
      <p:sp>
        <p:nvSpPr>
          <p:cNvPr id="64" name="Shape 62"/>
          <p:cNvSpPr/>
          <p:nvPr/>
        </p:nvSpPr>
        <p:spPr>
          <a:xfrm>
            <a:off x="3651885" y="3178344"/>
            <a:ext cx="342900" cy="120015"/>
          </a:xfrm>
          <a:prstGeom prst="roundRect">
            <a:avLst>
              <a:gd name="adj" fmla="val 19048"/>
            </a:avLst>
          </a:prstGeom>
          <a:solidFill>
            <a:srgbClr val="42A5F5">
              <a:alpha val="10000"/>
            </a:srgbClr>
          </a:solidFill>
          <a:ln w="5715">
            <a:solidFill>
              <a:srgbClr val="42A5F5">
                <a:alpha val="2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1885" y="3178344"/>
            <a:ext cx="397193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28" dirty="0">
                <a:solidFill>
                  <a:srgbClr val="42A5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go work</a:t>
            </a:r>
            <a:endParaRPr lang="en-US" sz="428" dirty="0"/>
          </a:p>
        </p:txBody>
      </p:sp>
      <p:sp>
        <p:nvSpPr>
          <p:cNvPr id="66" name="Shape 64"/>
          <p:cNvSpPr/>
          <p:nvPr/>
        </p:nvSpPr>
        <p:spPr>
          <a:xfrm>
            <a:off x="4029075" y="3178344"/>
            <a:ext cx="514350" cy="120015"/>
          </a:xfrm>
          <a:prstGeom prst="roundRect">
            <a:avLst>
              <a:gd name="adj" fmla="val 19048"/>
            </a:avLst>
          </a:prstGeom>
          <a:solidFill>
            <a:srgbClr val="42A5F5">
              <a:alpha val="10000"/>
            </a:srgbClr>
          </a:solidFill>
          <a:ln w="5715">
            <a:solidFill>
              <a:srgbClr val="42A5F5">
                <a:alpha val="2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29075" y="3178344"/>
            <a:ext cx="576072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28" dirty="0">
                <a:solidFill>
                  <a:srgbClr val="42A5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multi-module</a:t>
            </a:r>
            <a:endParaRPr lang="en-US" sz="428" dirty="0"/>
          </a:p>
        </p:txBody>
      </p:sp>
      <p:sp>
        <p:nvSpPr>
          <p:cNvPr id="68" name="Shape 66"/>
          <p:cNvSpPr/>
          <p:nvPr/>
        </p:nvSpPr>
        <p:spPr>
          <a:xfrm>
            <a:off x="4577715" y="3178344"/>
            <a:ext cx="445770" cy="120015"/>
          </a:xfrm>
          <a:prstGeom prst="roundRect">
            <a:avLst>
              <a:gd name="adj" fmla="val 19048"/>
            </a:avLst>
          </a:prstGeom>
          <a:solidFill>
            <a:srgbClr val="42A5F5">
              <a:alpha val="10000"/>
            </a:srgbClr>
          </a:solidFill>
          <a:ln w="5715">
            <a:solidFill>
              <a:srgbClr val="42A5F5">
                <a:alpha val="2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7715" y="3178344"/>
            <a:ext cx="500063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28" dirty="0">
                <a:solidFill>
                  <a:srgbClr val="42A5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 replace</a:t>
            </a:r>
            <a:endParaRPr lang="en-US" sz="428" dirty="0"/>
          </a:p>
        </p:txBody>
      </p:sp>
      <p:sp>
        <p:nvSpPr>
          <p:cNvPr id="70" name="Shape 68"/>
          <p:cNvSpPr/>
          <p:nvPr/>
        </p:nvSpPr>
        <p:spPr>
          <a:xfrm>
            <a:off x="6223635" y="2678906"/>
            <a:ext cx="2600325" cy="1590199"/>
          </a:xfrm>
          <a:prstGeom prst="roundRect">
            <a:avLst>
              <a:gd name="adj" fmla="val 4313"/>
            </a:avLst>
          </a:prstGeom>
          <a:solidFill>
            <a:srgbClr val="111929"/>
          </a:solidFill>
          <a:ln w="5715">
            <a:solidFill>
              <a:srgbClr val="1E2A4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23635" y="2678906"/>
            <a:ext cx="2588895" cy="11430"/>
          </a:xfrm>
          <a:prstGeom prst="rect">
            <a:avLst/>
          </a:prstGeom>
          <a:gradFill rotWithShape="1">
            <a:gsLst>
              <a:gs pos="0">
                <a:srgbClr val="26C6DA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72" name="Shape 70"/>
          <p:cNvSpPr/>
          <p:nvPr/>
        </p:nvSpPr>
        <p:spPr>
          <a:xfrm>
            <a:off x="6332220" y="2776061"/>
            <a:ext cx="194310" cy="194310"/>
          </a:xfrm>
          <a:prstGeom prst="roundRect">
            <a:avLst>
              <a:gd name="adj" fmla="val 23529"/>
            </a:avLst>
          </a:prstGeom>
          <a:solidFill>
            <a:srgbClr val="26C6DA">
              <a:alpha val="12000"/>
            </a:srgbClr>
          </a:solidFill>
          <a:ln w="5715">
            <a:solidFill>
              <a:srgbClr val="26C6DA">
                <a:alpha val="3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32220" y="2776061"/>
            <a:ext cx="274320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26C6D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★</a:t>
            </a:r>
            <a:endParaRPr lang="en-US" sz="630" dirty="0"/>
          </a:p>
        </p:txBody>
      </p:sp>
      <p:sp>
        <p:nvSpPr>
          <p:cNvPr id="74" name="Text 72"/>
          <p:cNvSpPr/>
          <p:nvPr/>
        </p:nvSpPr>
        <p:spPr>
          <a:xfrm>
            <a:off x="6583680" y="2776061"/>
            <a:ext cx="816102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8896A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 / STANDARD LIB</a:t>
            </a:r>
            <a:endParaRPr lang="en-US" sz="450" dirty="0"/>
          </a:p>
        </p:txBody>
      </p:sp>
      <p:sp>
        <p:nvSpPr>
          <p:cNvPr id="75" name="Text 73"/>
          <p:cNvSpPr/>
          <p:nvPr/>
        </p:nvSpPr>
        <p:spPr>
          <a:xfrm>
            <a:off x="6583680" y="2850356"/>
            <a:ext cx="816102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53" dirty="0">
                <a:solidFill>
                  <a:srgbClr val="E8ECF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标准库新特性</a:t>
            </a:r>
            <a:endParaRPr lang="en-US" sz="653" dirty="0"/>
          </a:p>
        </p:txBody>
      </p:sp>
      <p:sp>
        <p:nvSpPr>
          <p:cNvPr id="76" name="Text 74"/>
          <p:cNvSpPr/>
          <p:nvPr/>
        </p:nvSpPr>
        <p:spPr>
          <a:xfrm>
            <a:off x="6332220" y="3016091"/>
            <a:ext cx="2669134" cy="10510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time、net/http 等标准库获得改进，支持更优雅的错误处理和中间件编程。</a:t>
            </a:r>
            <a:endParaRPr lang="en-US" sz="518" dirty="0"/>
          </a:p>
        </p:txBody>
      </p:sp>
      <p:sp>
        <p:nvSpPr>
          <p:cNvPr id="77" name="Shape 75"/>
          <p:cNvSpPr/>
          <p:nvPr/>
        </p:nvSpPr>
        <p:spPr>
          <a:xfrm>
            <a:off x="6332220" y="3178344"/>
            <a:ext cx="240030" cy="120015"/>
          </a:xfrm>
          <a:prstGeom prst="roundRect">
            <a:avLst>
              <a:gd name="adj" fmla="val 19048"/>
            </a:avLst>
          </a:prstGeom>
          <a:solidFill>
            <a:srgbClr val="26C6DA">
              <a:alpha val="10000"/>
            </a:srgbClr>
          </a:solidFill>
          <a:ln w="5715">
            <a:solidFill>
              <a:srgbClr val="26C6DA">
                <a:alpha val="20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332220" y="3178344"/>
            <a:ext cx="294323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28" dirty="0">
                <a:solidFill>
                  <a:srgbClr val="26C6D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time</a:t>
            </a:r>
            <a:endParaRPr lang="en-US" sz="428" dirty="0"/>
          </a:p>
        </p:txBody>
      </p:sp>
      <p:sp>
        <p:nvSpPr>
          <p:cNvPr id="79" name="Shape 77"/>
          <p:cNvSpPr/>
          <p:nvPr/>
        </p:nvSpPr>
        <p:spPr>
          <a:xfrm>
            <a:off x="6606540" y="3178344"/>
            <a:ext cx="377190" cy="120015"/>
          </a:xfrm>
          <a:prstGeom prst="roundRect">
            <a:avLst>
              <a:gd name="adj" fmla="val 19048"/>
            </a:avLst>
          </a:prstGeom>
          <a:solidFill>
            <a:srgbClr val="26C6DA">
              <a:alpha val="10000"/>
            </a:srgbClr>
          </a:solidFill>
          <a:ln w="5715">
            <a:solidFill>
              <a:srgbClr val="26C6DA">
                <a:alpha val="20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606540" y="3178344"/>
            <a:ext cx="431483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28" dirty="0">
                <a:solidFill>
                  <a:srgbClr val="26C6D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net/http</a:t>
            </a:r>
            <a:endParaRPr lang="en-US" sz="428" dirty="0"/>
          </a:p>
        </p:txBody>
      </p:sp>
      <p:sp>
        <p:nvSpPr>
          <p:cNvPr id="81" name="Shape 79"/>
          <p:cNvSpPr/>
          <p:nvPr/>
        </p:nvSpPr>
        <p:spPr>
          <a:xfrm>
            <a:off x="7018020" y="3178344"/>
            <a:ext cx="445770" cy="120015"/>
          </a:xfrm>
          <a:prstGeom prst="roundRect">
            <a:avLst>
              <a:gd name="adj" fmla="val 19048"/>
            </a:avLst>
          </a:prstGeom>
          <a:solidFill>
            <a:srgbClr val="26C6DA">
              <a:alpha val="10000"/>
            </a:srgbClr>
          </a:solidFill>
          <a:ln w="5715">
            <a:solidFill>
              <a:srgbClr val="26C6DA">
                <a:alpha val="20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018020" y="3178344"/>
            <a:ext cx="500063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28" dirty="0">
                <a:solidFill>
                  <a:srgbClr val="26C6D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middleware</a:t>
            </a:r>
            <a:endParaRPr lang="en-US" sz="428" dirty="0"/>
          </a:p>
        </p:txBody>
      </p:sp>
      <p:sp>
        <p:nvSpPr>
          <p:cNvPr id="83" name="Shape 81"/>
          <p:cNvSpPr/>
          <p:nvPr/>
        </p:nvSpPr>
        <p:spPr>
          <a:xfrm>
            <a:off x="320040" y="4394835"/>
            <a:ext cx="8503920" cy="542925"/>
          </a:xfrm>
          <a:prstGeom prst="roundRect">
            <a:avLst>
              <a:gd name="adj" fmla="val 10526"/>
            </a:avLst>
          </a:prstGeom>
          <a:solidFill>
            <a:srgbClr val="111929"/>
          </a:solidFill>
          <a:ln w="5715">
            <a:solidFill>
              <a:srgbClr val="1E2A4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62915" y="4480560"/>
            <a:ext cx="120975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Go VERSION ROADMAP</a:t>
            </a:r>
            <a:endParaRPr lang="en-US" sz="495" dirty="0"/>
          </a:p>
        </p:txBody>
      </p:sp>
      <p:sp>
        <p:nvSpPr>
          <p:cNvPr id="85" name="Text 83"/>
          <p:cNvSpPr/>
          <p:nvPr/>
        </p:nvSpPr>
        <p:spPr>
          <a:xfrm>
            <a:off x="7800975" y="4486275"/>
            <a:ext cx="985723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8896A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2009 ──────────── 2024</a:t>
            </a:r>
            <a:endParaRPr lang="en-US" sz="450" dirty="0"/>
          </a:p>
        </p:txBody>
      </p:sp>
      <p:sp>
        <p:nvSpPr>
          <p:cNvPr id="86" name="Shape 84"/>
          <p:cNvSpPr/>
          <p:nvPr/>
        </p:nvSpPr>
        <p:spPr>
          <a:xfrm>
            <a:off x="791617" y="4737735"/>
            <a:ext cx="7560766" cy="1143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>
                  <a:alpha val="15000"/>
                </a:srgbClr>
              </a:gs>
              <a:gs pos="6000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87" name="Shape 85"/>
          <p:cNvSpPr/>
          <p:nvPr/>
        </p:nvSpPr>
        <p:spPr>
          <a:xfrm>
            <a:off x="921633" y="4703445"/>
            <a:ext cx="68580" cy="68580"/>
          </a:xfrm>
          <a:prstGeom prst="ellipse">
            <a:avLst/>
          </a:prstGeom>
          <a:solidFill>
            <a:srgbClr val="0A0F1E"/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101600" dist="50800" dir="16200000">
              <a:srgbClr val="2196F3">
                <a:alpha val="10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835908" y="4806315"/>
            <a:ext cx="30003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Go 1.0</a:t>
            </a:r>
            <a:endParaRPr lang="en-US" sz="473" dirty="0"/>
          </a:p>
        </p:txBody>
      </p:sp>
      <p:sp>
        <p:nvSpPr>
          <p:cNvPr id="89" name="Text 87"/>
          <p:cNvSpPr/>
          <p:nvPr/>
        </p:nvSpPr>
        <p:spPr>
          <a:xfrm>
            <a:off x="898773" y="4903470"/>
            <a:ext cx="18459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83" dirty="0">
                <a:solidFill>
                  <a:srgbClr val="8896A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2009</a:t>
            </a:r>
            <a:endParaRPr lang="en-US" sz="383" dirty="0"/>
          </a:p>
        </p:txBody>
      </p:sp>
      <p:sp>
        <p:nvSpPr>
          <p:cNvPr id="90" name="Shape 88"/>
          <p:cNvSpPr/>
          <p:nvPr/>
        </p:nvSpPr>
        <p:spPr>
          <a:xfrm>
            <a:off x="1907828" y="4703445"/>
            <a:ext cx="68580" cy="68580"/>
          </a:xfrm>
          <a:prstGeom prst="ellipse">
            <a:avLst/>
          </a:prstGeom>
          <a:solidFill>
            <a:srgbClr val="0A0F1E"/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101600" dist="50800" dir="16200000">
              <a:srgbClr val="2196F3">
                <a:alpha val="10000"/>
              </a:srgbClr>
            </a:outerShdw>
          </a:effectLst>
        </p:spPr>
      </p:sp>
      <p:sp>
        <p:nvSpPr>
          <p:cNvPr id="91" name="Text 89"/>
          <p:cNvSpPr/>
          <p:nvPr/>
        </p:nvSpPr>
        <p:spPr>
          <a:xfrm>
            <a:off x="1822103" y="4806315"/>
            <a:ext cx="30003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Go 1.5</a:t>
            </a:r>
            <a:endParaRPr lang="en-US" sz="473" dirty="0"/>
          </a:p>
        </p:txBody>
      </p:sp>
      <p:sp>
        <p:nvSpPr>
          <p:cNvPr id="92" name="Text 90"/>
          <p:cNvSpPr/>
          <p:nvPr/>
        </p:nvSpPr>
        <p:spPr>
          <a:xfrm>
            <a:off x="1682085" y="4897755"/>
            <a:ext cx="582473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83" dirty="0">
                <a:solidFill>
                  <a:srgbClr val="8896A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2015 · 移除 GC 暂停</a:t>
            </a:r>
            <a:endParaRPr lang="en-US" sz="383" dirty="0"/>
          </a:p>
        </p:txBody>
      </p:sp>
      <p:sp>
        <p:nvSpPr>
          <p:cNvPr id="93" name="Shape 91"/>
          <p:cNvSpPr/>
          <p:nvPr/>
        </p:nvSpPr>
        <p:spPr>
          <a:xfrm>
            <a:off x="3058418" y="4703445"/>
            <a:ext cx="68580" cy="68580"/>
          </a:xfrm>
          <a:prstGeom prst="ellipse">
            <a:avLst/>
          </a:prstGeom>
          <a:solidFill>
            <a:srgbClr val="0A0F1E"/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101600" dist="50800" dir="16200000">
              <a:srgbClr val="2196F3">
                <a:alpha val="10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2972693" y="4806315"/>
            <a:ext cx="30003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Go 1.8</a:t>
            </a:r>
            <a:endParaRPr lang="en-US" sz="473" dirty="0"/>
          </a:p>
        </p:txBody>
      </p:sp>
      <p:sp>
        <p:nvSpPr>
          <p:cNvPr id="95" name="Text 93"/>
          <p:cNvSpPr/>
          <p:nvPr/>
        </p:nvSpPr>
        <p:spPr>
          <a:xfrm>
            <a:off x="2838390" y="4897755"/>
            <a:ext cx="569671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83" dirty="0">
                <a:solidFill>
                  <a:srgbClr val="8896A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2017 · 提案讨论启动</a:t>
            </a:r>
            <a:endParaRPr lang="en-US" sz="383" dirty="0"/>
          </a:p>
        </p:txBody>
      </p:sp>
      <p:sp>
        <p:nvSpPr>
          <p:cNvPr id="96" name="Shape 94"/>
          <p:cNvSpPr/>
          <p:nvPr/>
        </p:nvSpPr>
        <p:spPr>
          <a:xfrm>
            <a:off x="4373314" y="4703445"/>
            <a:ext cx="68580" cy="68580"/>
          </a:xfrm>
          <a:prstGeom prst="ellipse">
            <a:avLst/>
          </a:prstGeom>
          <a:solidFill>
            <a:srgbClr val="0A0F1E"/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101600" dist="50800" dir="16200000">
              <a:srgbClr val="2196F3">
                <a:alpha val="10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4267587" y="4806315"/>
            <a:ext cx="34004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Go 1.11</a:t>
            </a:r>
            <a:endParaRPr lang="en-US" sz="473" dirty="0"/>
          </a:p>
        </p:txBody>
      </p:sp>
      <p:sp>
        <p:nvSpPr>
          <p:cNvPr id="98" name="Text 96"/>
          <p:cNvSpPr/>
          <p:nvPr/>
        </p:nvSpPr>
        <p:spPr>
          <a:xfrm>
            <a:off x="4207579" y="4903470"/>
            <a:ext cx="448628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83" dirty="0">
                <a:solidFill>
                  <a:srgbClr val="8896A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2018 · Modules</a:t>
            </a:r>
            <a:endParaRPr lang="en-US" sz="383" dirty="0"/>
          </a:p>
        </p:txBody>
      </p:sp>
      <p:sp>
        <p:nvSpPr>
          <p:cNvPr id="99" name="Shape 97"/>
          <p:cNvSpPr/>
          <p:nvPr/>
        </p:nvSpPr>
        <p:spPr>
          <a:xfrm>
            <a:off x="5523815" y="4703445"/>
            <a:ext cx="68580" cy="68580"/>
          </a:xfrm>
          <a:prstGeom prst="ellipse">
            <a:avLst/>
          </a:prstGeom>
          <a:solidFill>
            <a:srgbClr val="0A0F1E"/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101600" dist="50800" dir="16200000">
              <a:srgbClr val="2196F3">
                <a:alpha val="10000"/>
              </a:srgbClr>
            </a:outerShdw>
          </a:effectLst>
        </p:spPr>
      </p:sp>
      <p:sp>
        <p:nvSpPr>
          <p:cNvPr id="100" name="Text 98"/>
          <p:cNvSpPr/>
          <p:nvPr/>
        </p:nvSpPr>
        <p:spPr>
          <a:xfrm>
            <a:off x="5418088" y="4806315"/>
            <a:ext cx="34004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Go 1.16</a:t>
            </a:r>
            <a:endParaRPr lang="en-US" sz="473" dirty="0"/>
          </a:p>
        </p:txBody>
      </p:sp>
      <p:sp>
        <p:nvSpPr>
          <p:cNvPr id="101" name="Text 99"/>
          <p:cNvSpPr/>
          <p:nvPr/>
        </p:nvSpPr>
        <p:spPr>
          <a:xfrm>
            <a:off x="5240923" y="4897755"/>
            <a:ext cx="710489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83" dirty="0">
                <a:solidFill>
                  <a:srgbClr val="8896A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2021 · embed / 自动管理</a:t>
            </a:r>
            <a:endParaRPr lang="en-US" sz="383" dirty="0"/>
          </a:p>
        </p:txBody>
      </p:sp>
      <p:sp>
        <p:nvSpPr>
          <p:cNvPr id="102" name="Shape 100"/>
          <p:cNvSpPr/>
          <p:nvPr/>
        </p:nvSpPr>
        <p:spPr>
          <a:xfrm>
            <a:off x="6674406" y="4703445"/>
            <a:ext cx="68580" cy="68580"/>
          </a:xfrm>
          <a:prstGeom prst="ellipse">
            <a:avLst/>
          </a:prstGeom>
          <a:solidFill>
            <a:srgbClr val="00BCD4"/>
          </a:solidFill>
          <a:ln w="1143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50800" dir="16200000">
              <a:srgbClr val="00BCD4">
                <a:alpha val="20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6520101" y="4806315"/>
            <a:ext cx="43719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Go 1.18 ★</a:t>
            </a:r>
            <a:endParaRPr lang="en-US" sz="473" dirty="0"/>
          </a:p>
        </p:txBody>
      </p:sp>
      <p:sp>
        <p:nvSpPr>
          <p:cNvPr id="104" name="Text 102"/>
          <p:cNvSpPr/>
          <p:nvPr/>
        </p:nvSpPr>
        <p:spPr>
          <a:xfrm>
            <a:off x="6462951" y="4903470"/>
            <a:ext cx="550469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83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2022.02 · 泛型时代</a:t>
            </a:r>
            <a:endParaRPr lang="en-US" sz="383" dirty="0"/>
          </a:p>
        </p:txBody>
      </p:sp>
      <p:sp>
        <p:nvSpPr>
          <p:cNvPr id="105" name="Shape 103"/>
          <p:cNvSpPr/>
          <p:nvPr/>
        </p:nvSpPr>
        <p:spPr>
          <a:xfrm>
            <a:off x="7660600" y="4703445"/>
            <a:ext cx="68580" cy="68580"/>
          </a:xfrm>
          <a:prstGeom prst="ellipse">
            <a:avLst/>
          </a:prstGeom>
          <a:solidFill>
            <a:srgbClr val="0A0F1E"/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101600" dist="50800" dir="16200000">
              <a:srgbClr val="2196F3">
                <a:alpha val="10000"/>
              </a:srgbClr>
            </a:outerShdw>
          </a:effectLst>
        </p:spPr>
      </p:sp>
      <p:sp>
        <p:nvSpPr>
          <p:cNvPr id="106" name="Text 104"/>
          <p:cNvSpPr/>
          <p:nvPr/>
        </p:nvSpPr>
        <p:spPr>
          <a:xfrm>
            <a:off x="7534870" y="4806315"/>
            <a:ext cx="38004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Go 1.22+</a:t>
            </a:r>
            <a:endParaRPr lang="en-US" sz="473" dirty="0"/>
          </a:p>
        </p:txBody>
      </p:sp>
      <p:sp>
        <p:nvSpPr>
          <p:cNvPr id="107" name="Text 105"/>
          <p:cNvSpPr/>
          <p:nvPr/>
        </p:nvSpPr>
        <p:spPr>
          <a:xfrm>
            <a:off x="7492008" y="4897755"/>
            <a:ext cx="454457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83" dirty="0">
                <a:solidFill>
                  <a:srgbClr val="8896A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2024 · 持续演进</a:t>
            </a:r>
            <a:endParaRPr lang="en-US" sz="38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2286000"/>
          </a:xfrm>
          <a:prstGeom prst="ellipse">
            <a:avLst/>
          </a:prstGeom>
          <a:gradFill rotWithShape="1">
            <a:gsLst>
              <a:gs pos="0">
                <a:srgbClr val="00BCD4">
                  <a:alpha val="1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6286500" y="2286000"/>
            <a:ext cx="2857500" cy="2857500"/>
          </a:xfrm>
          <a:prstGeom prst="ellipse">
            <a:avLst/>
          </a:prstGeom>
          <a:gradFill rotWithShape="1">
            <a:gsLst>
              <a:gs pos="0">
                <a:srgbClr val="2196F3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2320290" y="291465"/>
            <a:ext cx="777240" cy="171450"/>
          </a:xfrm>
          <a:prstGeom prst="roundRect">
            <a:avLst>
              <a:gd name="adj" fmla="val 13333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20290" y="291465"/>
            <a:ext cx="870509" cy="171450"/>
          </a:xfrm>
          <a:prstGeom prst="rect">
            <a:avLst/>
          </a:prstGeom>
          <a:noFill/>
          <a:ln/>
        </p:spPr>
        <p:txBody>
          <a:bodyPr wrap="square" lIns="28575" tIns="68580" rIns="68580" bIns="28575" rtlCol="0" anchor="ctr"/>
          <a:lstStyle/>
          <a:p>
            <a:pPr algn="ctr" indent="0" marL="0">
              <a:buNone/>
            </a:pPr>
            <a:r>
              <a:rPr lang="en-US" sz="585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RELEASE</a:t>
            </a:r>
            <a:endParaRPr lang="en-US" sz="585" dirty="0"/>
          </a:p>
        </p:txBody>
      </p:sp>
      <p:sp>
        <p:nvSpPr>
          <p:cNvPr id="7" name="Text 5"/>
          <p:cNvSpPr/>
          <p:nvPr/>
        </p:nvSpPr>
        <p:spPr>
          <a:xfrm>
            <a:off x="3223260" y="205740"/>
            <a:ext cx="2880360" cy="34290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2196F3">
                <a:alpha val="30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70" b="1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Kubernetes 1.24</a:t>
            </a:r>
            <a:endParaRPr lang="en-US" sz="2070" dirty="0"/>
          </a:p>
        </p:txBody>
      </p:sp>
      <p:sp>
        <p:nvSpPr>
          <p:cNvPr id="8" name="Shape 6"/>
          <p:cNvSpPr/>
          <p:nvPr/>
        </p:nvSpPr>
        <p:spPr>
          <a:xfrm>
            <a:off x="5920740" y="291465"/>
            <a:ext cx="902970" cy="171450"/>
          </a:xfrm>
          <a:prstGeom prst="roundRect">
            <a:avLst>
              <a:gd name="adj" fmla="val 13333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20740" y="291465"/>
            <a:ext cx="1011326" cy="171450"/>
          </a:xfrm>
          <a:prstGeom prst="rect">
            <a:avLst/>
          </a:prstGeom>
          <a:noFill/>
          <a:ln/>
        </p:spPr>
        <p:txBody>
          <a:bodyPr wrap="square" lIns="28575" tIns="68580" rIns="68580" bIns="28575" rtlCol="0" anchor="ctr"/>
          <a:lstStyle/>
          <a:p>
            <a:pPr algn="ctr" indent="0" marL="0">
              <a:buNone/>
            </a:pPr>
            <a:r>
              <a:rPr lang="en-US" sz="585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CORE CHANGES</a:t>
            </a:r>
            <a:endParaRPr lang="en-US" sz="585" dirty="0"/>
          </a:p>
        </p:txBody>
      </p:sp>
      <p:sp>
        <p:nvSpPr>
          <p:cNvPr id="10" name="Text 8"/>
          <p:cNvSpPr/>
          <p:nvPr/>
        </p:nvSpPr>
        <p:spPr>
          <a:xfrm>
            <a:off x="1660208" y="605790"/>
            <a:ext cx="6522415" cy="135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63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Kubernetes 1.24</a:t>
            </a:r>
            <a:pPr algn="ctr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延续了工程成熟度提升路线，</a:t>
            </a:r>
            <a:pPr algn="ctr" indent="0" marL="0">
              <a:lnSpc>
                <a:spcPct val="170000"/>
              </a:lnSpc>
              <a:buNone/>
            </a:pPr>
            <a:r>
              <a:rPr lang="en-US" sz="63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移除技术债、增强 Windows 支持、优化调度器</a:t>
            </a:r>
            <a:pPr algn="ctr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 对于运营生产级集群的团队而言，这是一次值得重点关注的升级。</a:t>
            </a:r>
            <a:endParaRPr lang="en-US" sz="630" dirty="0"/>
          </a:p>
        </p:txBody>
      </p:sp>
      <p:sp>
        <p:nvSpPr>
          <p:cNvPr id="11" name="Shape 9"/>
          <p:cNvSpPr/>
          <p:nvPr/>
        </p:nvSpPr>
        <p:spPr>
          <a:xfrm>
            <a:off x="342900" y="1751022"/>
            <a:ext cx="3017520" cy="691515"/>
          </a:xfrm>
          <a:prstGeom prst="roundRect">
            <a:avLst>
              <a:gd name="adj" fmla="val 8264"/>
            </a:avLst>
          </a:prstGeom>
          <a:solidFill>
            <a:srgbClr val="0C1930">
              <a:alpha val="72000"/>
            </a:srgbClr>
          </a:solidFill>
          <a:ln w="5715">
            <a:solidFill>
              <a:srgbClr val="2196F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50800" dir="16200000">
              <a:srgbClr val="2196F3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" y="1751022"/>
            <a:ext cx="17145" cy="68008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6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63240" y="1579572"/>
            <a:ext cx="457200" cy="457200"/>
          </a:xfrm>
          <a:prstGeom prst="ellipse">
            <a:avLst/>
          </a:prstGeom>
          <a:gradFill rotWithShape="1">
            <a:gsLst>
              <a:gs pos="0">
                <a:srgbClr val="00BCD4">
                  <a:alpha val="1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4" name="Shape 12"/>
          <p:cNvSpPr/>
          <p:nvPr/>
        </p:nvSpPr>
        <p:spPr>
          <a:xfrm>
            <a:off x="451485" y="1848177"/>
            <a:ext cx="240030" cy="240030"/>
          </a:xfrm>
          <a:prstGeom prst="roundRect">
            <a:avLst>
              <a:gd name="adj" fmla="val 19048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114300" dist="50800" dir="16200000">
              <a:srgbClr val="2196F3">
                <a:alpha val="18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8635" y="1905327"/>
            <a:ext cx="125730" cy="12573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71525" y="1871037"/>
            <a:ext cx="57721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FEATURE 01</a:t>
            </a:r>
            <a:endParaRPr lang="en-US" sz="495" dirty="0"/>
          </a:p>
        </p:txBody>
      </p:sp>
      <p:sp>
        <p:nvSpPr>
          <p:cNvPr id="17" name="Text 14"/>
          <p:cNvSpPr/>
          <p:nvPr/>
        </p:nvSpPr>
        <p:spPr>
          <a:xfrm>
            <a:off x="771525" y="1962477"/>
            <a:ext cx="2777947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23" kern="0" dirty="0">
                <a:solidFill>
                  <a:srgbClr val="E8EEF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InTree 插件迁移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771525" y="2116782"/>
            <a:ext cx="277794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CSI 和 CNI InTree 存储网络插件正式移除，加速生态向独立 Operator 模式演进，解耦核心组件。</a:t>
            </a:r>
            <a:endParaRPr lang="en-US" sz="563" dirty="0"/>
          </a:p>
        </p:txBody>
      </p:sp>
      <p:sp>
        <p:nvSpPr>
          <p:cNvPr id="19" name="Shape 16"/>
          <p:cNvSpPr/>
          <p:nvPr/>
        </p:nvSpPr>
        <p:spPr>
          <a:xfrm>
            <a:off x="342900" y="2533977"/>
            <a:ext cx="3017520" cy="691515"/>
          </a:xfrm>
          <a:prstGeom prst="roundRect">
            <a:avLst>
              <a:gd name="adj" fmla="val 8264"/>
            </a:avLst>
          </a:prstGeom>
          <a:solidFill>
            <a:srgbClr val="0C1930">
              <a:alpha val="72000"/>
            </a:srgbClr>
          </a:solidFill>
          <a:ln w="5715">
            <a:solidFill>
              <a:srgbClr val="2196F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50800" dir="16200000">
              <a:srgbClr val="2196F3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42900" y="2533977"/>
            <a:ext cx="17145" cy="68008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6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063240" y="2362527"/>
            <a:ext cx="457200" cy="457200"/>
          </a:xfrm>
          <a:prstGeom prst="ellipse">
            <a:avLst/>
          </a:prstGeom>
          <a:gradFill rotWithShape="1">
            <a:gsLst>
              <a:gs pos="0">
                <a:srgbClr val="00BCD4">
                  <a:alpha val="1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2" name="Shape 19"/>
          <p:cNvSpPr/>
          <p:nvPr/>
        </p:nvSpPr>
        <p:spPr>
          <a:xfrm>
            <a:off x="451485" y="2631132"/>
            <a:ext cx="240030" cy="240030"/>
          </a:xfrm>
          <a:prstGeom prst="roundRect">
            <a:avLst>
              <a:gd name="adj" fmla="val 19048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114300" dist="50800" dir="16200000">
              <a:srgbClr val="2196F3">
                <a:alpha val="18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635" y="2688282"/>
            <a:ext cx="125730" cy="12573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71525" y="2653992"/>
            <a:ext cx="57721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FEATURE 02</a:t>
            </a:r>
            <a:endParaRPr lang="en-US" sz="495" dirty="0"/>
          </a:p>
        </p:txBody>
      </p:sp>
      <p:sp>
        <p:nvSpPr>
          <p:cNvPr id="25" name="Text 21"/>
          <p:cNvSpPr/>
          <p:nvPr/>
        </p:nvSpPr>
        <p:spPr>
          <a:xfrm>
            <a:off x="771525" y="2745432"/>
            <a:ext cx="2777947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23" kern="0" dirty="0">
                <a:solidFill>
                  <a:srgbClr val="E8EEF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Windows 容器支持</a:t>
            </a:r>
            <a:endParaRPr lang="en-US" sz="675" dirty="0"/>
          </a:p>
        </p:txBody>
      </p:sp>
      <p:sp>
        <p:nvSpPr>
          <p:cNvPr id="26" name="Text 22"/>
          <p:cNvSpPr/>
          <p:nvPr/>
        </p:nvSpPr>
        <p:spPr>
          <a:xfrm>
            <a:off x="771525" y="2899737"/>
            <a:ext cx="277794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 节点增强，容器运行时和网络插件获得更多原生支持，生产部署路径更清晰。</a:t>
            </a:r>
            <a:endParaRPr lang="en-US" sz="563" dirty="0"/>
          </a:p>
        </p:txBody>
      </p:sp>
      <p:sp>
        <p:nvSpPr>
          <p:cNvPr id="27" name="Shape 23"/>
          <p:cNvSpPr/>
          <p:nvPr/>
        </p:nvSpPr>
        <p:spPr>
          <a:xfrm>
            <a:off x="3543300" y="1481346"/>
            <a:ext cx="2057400" cy="2057400"/>
          </a:xfrm>
          <a:prstGeom prst="ellipse">
            <a:avLst/>
          </a:prstGeom>
          <a:gradFill rotWithShape="1">
            <a:gsLst>
              <a:gs pos="0">
                <a:srgbClr val="2196F3">
                  <a:alpha val="22000"/>
                </a:srgbClr>
              </a:gs>
              <a:gs pos="40000">
                <a:srgbClr val="00BCD4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8" name="Shape 24"/>
          <p:cNvSpPr/>
          <p:nvPr/>
        </p:nvSpPr>
        <p:spPr>
          <a:xfrm>
            <a:off x="3829050" y="1767096"/>
            <a:ext cx="1485900" cy="1485900"/>
          </a:xfrm>
          <a:prstGeom prst="ellipse">
            <a:avLst/>
          </a:prstGeom>
          <a:noFill/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285750" dist="50800" dir="16200000">
              <a:srgbClr val="2196F3">
                <a:alpha val="2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3971925" y="1909971"/>
            <a:ext cx="1200150" cy="1200150"/>
          </a:xfrm>
          <a:prstGeom prst="ellipse">
            <a:avLst/>
          </a:prstGeom>
          <a:noFill/>
          <a:ln w="5715">
            <a:solidFill>
              <a:srgbClr val="00BCD4">
                <a:alpha val="30000"/>
              </a:srgbClr>
            </a:solidFill>
            <a:prstDash val="dash"/>
          </a:ln>
        </p:spPr>
      </p:sp>
      <p:sp>
        <p:nvSpPr>
          <p:cNvPr id="30" name="Shape 26"/>
          <p:cNvSpPr/>
          <p:nvPr/>
        </p:nvSpPr>
        <p:spPr>
          <a:xfrm>
            <a:off x="3486150" y="2510046"/>
            <a:ext cx="65151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1" name="Shape 27"/>
          <p:cNvSpPr/>
          <p:nvPr/>
        </p:nvSpPr>
        <p:spPr>
          <a:xfrm>
            <a:off x="5006340" y="2510046"/>
            <a:ext cx="65151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14800" y="1942475"/>
            <a:ext cx="914400" cy="91440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229100" y="2948315"/>
            <a:ext cx="76809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v1.24 · HELM</a:t>
            </a:r>
            <a:endParaRPr lang="en-US" sz="495" dirty="0"/>
          </a:p>
        </p:txBody>
      </p:sp>
      <p:sp>
        <p:nvSpPr>
          <p:cNvPr id="34" name="Shape 29"/>
          <p:cNvSpPr/>
          <p:nvPr/>
        </p:nvSpPr>
        <p:spPr>
          <a:xfrm>
            <a:off x="5783580" y="1753880"/>
            <a:ext cx="3017520" cy="691515"/>
          </a:xfrm>
          <a:prstGeom prst="roundRect">
            <a:avLst>
              <a:gd name="adj" fmla="val 8264"/>
            </a:avLst>
          </a:prstGeom>
          <a:solidFill>
            <a:srgbClr val="0C1930">
              <a:alpha val="72000"/>
            </a:srgbClr>
          </a:solidFill>
          <a:ln w="5715">
            <a:solidFill>
              <a:srgbClr val="2196F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50800" dir="16200000">
              <a:srgbClr val="2196F3">
                <a:alpha val="6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5783580" y="1753880"/>
            <a:ext cx="17145" cy="68008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6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8503920" y="1582430"/>
            <a:ext cx="457200" cy="457200"/>
          </a:xfrm>
          <a:prstGeom prst="ellipse">
            <a:avLst/>
          </a:prstGeom>
          <a:gradFill rotWithShape="1">
            <a:gsLst>
              <a:gs pos="0">
                <a:srgbClr val="00BCD4">
                  <a:alpha val="1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7" name="Shape 32"/>
          <p:cNvSpPr/>
          <p:nvPr/>
        </p:nvSpPr>
        <p:spPr>
          <a:xfrm>
            <a:off x="5892165" y="1851035"/>
            <a:ext cx="240030" cy="240030"/>
          </a:xfrm>
          <a:prstGeom prst="roundRect">
            <a:avLst>
              <a:gd name="adj" fmla="val 19048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114300" dist="50800" dir="16200000">
              <a:srgbClr val="2196F3">
                <a:alpha val="18000"/>
              </a:srgbClr>
            </a:outerShdw>
          </a:effectLst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9315" y="1908185"/>
            <a:ext cx="125730" cy="12573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212205" y="1873895"/>
            <a:ext cx="57721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FEATURE 03</a:t>
            </a:r>
            <a:endParaRPr lang="en-US" sz="495" dirty="0"/>
          </a:p>
        </p:txBody>
      </p:sp>
      <p:sp>
        <p:nvSpPr>
          <p:cNvPr id="40" name="Text 34"/>
          <p:cNvSpPr/>
          <p:nvPr/>
        </p:nvSpPr>
        <p:spPr>
          <a:xfrm>
            <a:off x="6212205" y="1965335"/>
            <a:ext cx="2777947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23" kern="0" dirty="0">
                <a:solidFill>
                  <a:srgbClr val="E8EEF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调度器改进</a:t>
            </a:r>
            <a:endParaRPr lang="en-US" sz="675" dirty="0"/>
          </a:p>
        </p:txBody>
      </p:sp>
      <p:sp>
        <p:nvSpPr>
          <p:cNvPr id="41" name="Text 35"/>
          <p:cNvSpPr/>
          <p:nvPr/>
        </p:nvSpPr>
        <p:spPr>
          <a:xfrm>
            <a:off x="6212205" y="2119640"/>
            <a:ext cx="277794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调度器框架增强，支持更灵活的调度策略与插件扩展机制，复杂场景编排更可控。</a:t>
            </a:r>
            <a:endParaRPr lang="en-US" sz="563" dirty="0"/>
          </a:p>
        </p:txBody>
      </p:sp>
      <p:sp>
        <p:nvSpPr>
          <p:cNvPr id="42" name="Shape 36"/>
          <p:cNvSpPr/>
          <p:nvPr/>
        </p:nvSpPr>
        <p:spPr>
          <a:xfrm>
            <a:off x="5783580" y="2536835"/>
            <a:ext cx="3017520" cy="685800"/>
          </a:xfrm>
          <a:prstGeom prst="roundRect">
            <a:avLst>
              <a:gd name="adj" fmla="val 8333"/>
            </a:avLst>
          </a:prstGeom>
          <a:solidFill>
            <a:srgbClr val="0C1930">
              <a:alpha val="72000"/>
            </a:srgbClr>
          </a:solidFill>
          <a:ln w="5715">
            <a:solidFill>
              <a:srgbClr val="2196F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50800" dir="16200000">
              <a:srgbClr val="2196F3">
                <a:alpha val="6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5783580" y="2536835"/>
            <a:ext cx="17145" cy="67437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60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8503920" y="2365385"/>
            <a:ext cx="457200" cy="457200"/>
          </a:xfrm>
          <a:prstGeom prst="ellipse">
            <a:avLst/>
          </a:prstGeom>
          <a:gradFill rotWithShape="1">
            <a:gsLst>
              <a:gs pos="0">
                <a:srgbClr val="00BCD4">
                  <a:alpha val="1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5" name="Shape 39"/>
          <p:cNvSpPr/>
          <p:nvPr/>
        </p:nvSpPr>
        <p:spPr>
          <a:xfrm>
            <a:off x="5892165" y="2633990"/>
            <a:ext cx="240030" cy="240030"/>
          </a:xfrm>
          <a:prstGeom prst="roundRect">
            <a:avLst>
              <a:gd name="adj" fmla="val 19048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114300" dist="50800" dir="16200000">
              <a:srgbClr val="2196F3">
                <a:alpha val="18000"/>
              </a:srgbClr>
            </a:outerShdw>
          </a:effectLst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49315" y="2691140"/>
            <a:ext cx="125730" cy="125730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6212205" y="2656850"/>
            <a:ext cx="57721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FEATURE 04</a:t>
            </a:r>
            <a:endParaRPr lang="en-US" sz="495" dirty="0"/>
          </a:p>
        </p:txBody>
      </p:sp>
      <p:sp>
        <p:nvSpPr>
          <p:cNvPr id="48" name="Text 41"/>
          <p:cNvSpPr/>
          <p:nvPr/>
        </p:nvSpPr>
        <p:spPr>
          <a:xfrm>
            <a:off x="6212205" y="2748290"/>
            <a:ext cx="2777947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23" kern="0" dirty="0">
                <a:solidFill>
                  <a:srgbClr val="E8EEF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Security Context</a:t>
            </a:r>
            <a:endParaRPr lang="en-US" sz="675" dirty="0"/>
          </a:p>
        </p:txBody>
      </p:sp>
      <p:sp>
        <p:nvSpPr>
          <p:cNvPr id="49" name="Text 42"/>
          <p:cNvSpPr/>
          <p:nvPr/>
        </p:nvSpPr>
        <p:spPr>
          <a:xfrm>
            <a:off x="6212205" y="2896880"/>
            <a:ext cx="277794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 安全策略逐步走向成熟，Seccomp 默认 Profile 进入 Beta，容器安全基线进一步夯实。</a:t>
            </a:r>
            <a:endParaRPr lang="en-US" sz="563" dirty="0"/>
          </a:p>
        </p:txBody>
      </p:sp>
      <p:sp>
        <p:nvSpPr>
          <p:cNvPr id="50" name="Shape 43"/>
          <p:cNvSpPr/>
          <p:nvPr/>
        </p:nvSpPr>
        <p:spPr>
          <a:xfrm>
            <a:off x="342900" y="4211955"/>
            <a:ext cx="2750790" cy="640080"/>
          </a:xfrm>
          <a:prstGeom prst="roundRect">
            <a:avLst>
              <a:gd name="adj" fmla="val 7143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0BCD4">
                  <a:alpha val="6000"/>
                </a:srgbClr>
              </a:gs>
            </a:gsLst>
            <a:lin ang="27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342900" y="4211955"/>
            <a:ext cx="17145" cy="62865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5400000" scaled="0"/>
          </a:gradFill>
          <a:ln/>
        </p:spPr>
      </p:sp>
      <p:sp>
        <p:nvSpPr>
          <p:cNvPr id="52" name="Text 45"/>
          <p:cNvSpPr/>
          <p:nvPr/>
        </p:nvSpPr>
        <p:spPr>
          <a:xfrm>
            <a:off x="462915" y="4400550"/>
            <a:ext cx="685800" cy="262890"/>
          </a:xfrm>
          <a:prstGeom prst="rect">
            <a:avLst/>
          </a:prstGeom>
          <a:noFill/>
          <a:ln/>
          <a:effectLst>
            <a:outerShdw sx="100000" sy="100000" kx="0" ky="0" algn="bl" rotWithShape="0" blurRad="91440" dist="50800" dir="5400000">
              <a:srgbClr val="00BCD4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多项</a:t>
            </a:r>
            <a:endParaRPr lang="en-US" sz="1440" dirty="0"/>
          </a:p>
        </p:txBody>
      </p:sp>
      <p:sp>
        <p:nvSpPr>
          <p:cNvPr id="53" name="Shape 46"/>
          <p:cNvSpPr/>
          <p:nvPr/>
        </p:nvSpPr>
        <p:spPr>
          <a:xfrm>
            <a:off x="1068705" y="4411980"/>
            <a:ext cx="5715" cy="2400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4" name="Text 47"/>
          <p:cNvSpPr/>
          <p:nvPr/>
        </p:nvSpPr>
        <p:spPr>
          <a:xfrm>
            <a:off x="1177290" y="4429125"/>
            <a:ext cx="175381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GA 特性</a:t>
            </a:r>
            <a:endParaRPr lang="en-US" sz="450" dirty="0"/>
          </a:p>
        </p:txBody>
      </p:sp>
      <p:sp>
        <p:nvSpPr>
          <p:cNvPr id="55" name="Text 48"/>
          <p:cNvSpPr/>
          <p:nvPr/>
        </p:nvSpPr>
        <p:spPr>
          <a:xfrm>
            <a:off x="1177290" y="4531995"/>
            <a:ext cx="1753819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含 Windows 节点、调度器扩展等核心能力正式稳定</a:t>
            </a:r>
            <a:endParaRPr lang="en-US" sz="540" dirty="0"/>
          </a:p>
        </p:txBody>
      </p:sp>
      <p:sp>
        <p:nvSpPr>
          <p:cNvPr id="56" name="Shape 49"/>
          <p:cNvSpPr/>
          <p:nvPr/>
        </p:nvSpPr>
        <p:spPr>
          <a:xfrm>
            <a:off x="3196560" y="4211955"/>
            <a:ext cx="2750790" cy="640080"/>
          </a:xfrm>
          <a:prstGeom prst="roundRect">
            <a:avLst>
              <a:gd name="adj" fmla="val 7143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0BCD4">
                  <a:alpha val="6000"/>
                </a:srgbClr>
              </a:gs>
            </a:gsLst>
            <a:lin ang="27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3196560" y="4211955"/>
            <a:ext cx="17145" cy="62865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5400000" scaled="0"/>
          </a:gradFill>
          <a:ln/>
        </p:spPr>
      </p:sp>
      <p:sp>
        <p:nvSpPr>
          <p:cNvPr id="58" name="Text 51"/>
          <p:cNvSpPr/>
          <p:nvPr/>
        </p:nvSpPr>
        <p:spPr>
          <a:xfrm>
            <a:off x="3316575" y="4409123"/>
            <a:ext cx="685800" cy="245745"/>
          </a:xfrm>
          <a:prstGeom prst="rect">
            <a:avLst/>
          </a:prstGeom>
          <a:noFill/>
          <a:ln/>
          <a:effectLst>
            <a:outerShdw sx="100000" sy="100000" kx="0" ky="0" algn="bl" rotWithShape="0" blurRad="91440" dist="50800" dir="5400000">
              <a:srgbClr val="00BCD4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50+</a:t>
            </a:r>
            <a:endParaRPr lang="en-US" sz="1440" dirty="0"/>
          </a:p>
        </p:txBody>
      </p:sp>
      <p:sp>
        <p:nvSpPr>
          <p:cNvPr id="59" name="Shape 52"/>
          <p:cNvSpPr/>
          <p:nvPr/>
        </p:nvSpPr>
        <p:spPr>
          <a:xfrm>
            <a:off x="3922365" y="4411980"/>
            <a:ext cx="5715" cy="2400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60" name="Text 53"/>
          <p:cNvSpPr/>
          <p:nvPr/>
        </p:nvSpPr>
        <p:spPr>
          <a:xfrm>
            <a:off x="4030950" y="4429125"/>
            <a:ext cx="165140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移除特性</a:t>
            </a:r>
            <a:endParaRPr lang="en-US" sz="450" dirty="0"/>
          </a:p>
        </p:txBody>
      </p:sp>
      <p:sp>
        <p:nvSpPr>
          <p:cNvPr id="61" name="Text 54"/>
          <p:cNvSpPr/>
          <p:nvPr/>
        </p:nvSpPr>
        <p:spPr>
          <a:xfrm>
            <a:off x="4030950" y="4531995"/>
            <a:ext cx="1651406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废弃 API 与 InTree 插件被移除，技术债大幅削减</a:t>
            </a:r>
            <a:endParaRPr lang="en-US" sz="540" dirty="0"/>
          </a:p>
        </p:txBody>
      </p:sp>
      <p:sp>
        <p:nvSpPr>
          <p:cNvPr id="62" name="Shape 55"/>
          <p:cNvSpPr/>
          <p:nvPr/>
        </p:nvSpPr>
        <p:spPr>
          <a:xfrm>
            <a:off x="6050220" y="4211955"/>
            <a:ext cx="2750880" cy="640080"/>
          </a:xfrm>
          <a:prstGeom prst="roundRect">
            <a:avLst>
              <a:gd name="adj" fmla="val 7143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0BCD4">
                  <a:alpha val="6000"/>
                </a:srgbClr>
              </a:gs>
            </a:gsLst>
            <a:lin ang="27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6050220" y="4211955"/>
            <a:ext cx="17145" cy="62865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5400000" scaled="0"/>
          </a:gradFill>
          <a:ln/>
        </p:spPr>
      </p:sp>
      <p:sp>
        <p:nvSpPr>
          <p:cNvPr id="64" name="Text 57"/>
          <p:cNvSpPr/>
          <p:nvPr/>
        </p:nvSpPr>
        <p:spPr>
          <a:xfrm>
            <a:off x="6170235" y="4286250"/>
            <a:ext cx="1189702" cy="491490"/>
          </a:xfrm>
          <a:prstGeom prst="rect">
            <a:avLst/>
          </a:prstGeom>
          <a:noFill/>
          <a:ln/>
          <a:effectLst>
            <a:outerShdw sx="100000" sy="100000" kx="0" ky="0" algn="bl" rotWithShape="0" blurRad="91440" dist="50800" dir="5400000">
              <a:srgbClr val="00BCD4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2022-02-08</a:t>
            </a:r>
            <a:endParaRPr lang="en-US" sz="1440" dirty="0"/>
          </a:p>
        </p:txBody>
      </p:sp>
      <p:sp>
        <p:nvSpPr>
          <p:cNvPr id="65" name="Shape 58"/>
          <p:cNvSpPr/>
          <p:nvPr/>
        </p:nvSpPr>
        <p:spPr>
          <a:xfrm>
            <a:off x="7279928" y="4411980"/>
            <a:ext cx="5269" cy="2400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66" name="Text 59"/>
          <p:cNvSpPr/>
          <p:nvPr/>
        </p:nvSpPr>
        <p:spPr>
          <a:xfrm>
            <a:off x="7388066" y="4377690"/>
            <a:ext cx="144818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发布日期</a:t>
            </a:r>
            <a:endParaRPr lang="en-US" sz="450" dirty="0"/>
          </a:p>
        </p:txBody>
      </p:sp>
      <p:sp>
        <p:nvSpPr>
          <p:cNvPr id="67" name="Text 60"/>
          <p:cNvSpPr/>
          <p:nvPr/>
        </p:nvSpPr>
        <p:spPr>
          <a:xfrm>
            <a:off x="7388066" y="4480560"/>
            <a:ext cx="1448181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约 17,000+ 提交合并，社区协作成果集中落地</a:t>
            </a:r>
            <a:endParaRPr lang="en-US" sz="540" dirty="0"/>
          </a:p>
        </p:txBody>
      </p:sp>
      <p:sp>
        <p:nvSpPr>
          <p:cNvPr id="68" name="Text 61"/>
          <p:cNvSpPr/>
          <p:nvPr/>
        </p:nvSpPr>
        <p:spPr>
          <a:xfrm>
            <a:off x="342900" y="4909185"/>
            <a:ext cx="56327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B0BEC5">
                    <a:alpha val="5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K8S · v1.24</a:t>
            </a:r>
            <a:endParaRPr lang="en-US" sz="450" dirty="0"/>
          </a:p>
        </p:txBody>
      </p:sp>
      <p:sp>
        <p:nvSpPr>
          <p:cNvPr id="69" name="Shape 62"/>
          <p:cNvSpPr/>
          <p:nvPr/>
        </p:nvSpPr>
        <p:spPr>
          <a:xfrm>
            <a:off x="937260" y="4943475"/>
            <a:ext cx="267462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0" name="Text 63"/>
          <p:cNvSpPr/>
          <p:nvPr/>
        </p:nvSpPr>
        <p:spPr>
          <a:xfrm>
            <a:off x="3703320" y="4909185"/>
            <a:ext cx="1792224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B0BEC5">
                    <a:alpha val="5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STABILITY · MATURITY · FUTURE-READY</a:t>
            </a:r>
            <a:endParaRPr lang="en-US" sz="450" dirty="0"/>
          </a:p>
        </p:txBody>
      </p:sp>
      <p:sp>
        <p:nvSpPr>
          <p:cNvPr id="71" name="Shape 64"/>
          <p:cNvSpPr/>
          <p:nvPr/>
        </p:nvSpPr>
        <p:spPr>
          <a:xfrm>
            <a:off x="5394960" y="4943475"/>
            <a:ext cx="267462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2" name="Text 65"/>
          <p:cNvSpPr/>
          <p:nvPr/>
        </p:nvSpPr>
        <p:spPr>
          <a:xfrm>
            <a:off x="8161020" y="4909185"/>
            <a:ext cx="71689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B0BEC5">
                    <a:alpha val="5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 · RELEASE</a:t>
            </a:r>
            <a:endParaRPr lang="en-US" sz="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360045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4114800" y="2828925"/>
            <a:ext cx="10058400" cy="5657850"/>
          </a:xfrm>
          <a:prstGeom prst="ellipse">
            <a:avLst/>
          </a:prstGeom>
          <a:gradFill rotWithShape="1">
            <a:gsLst>
              <a:gs pos="0">
                <a:srgbClr val="00BCD4">
                  <a:alpha val="80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262890"/>
            <a:ext cx="1685925" cy="331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spc="45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AI</a:t>
            </a:r>
            <a:pPr algn="l" indent="0" marL="0">
              <a:buNone/>
            </a:pPr>
            <a:r>
              <a:rPr lang="en-US" sz="1800" b="1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与</a:t>
            </a:r>
            <a:pPr algn="l" indent="0" marL="0">
              <a:buNone/>
            </a:pPr>
            <a:r>
              <a:rPr lang="en-US" sz="1800" b="1" spc="45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开源治理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52360" y="491490"/>
            <a:ext cx="1536192" cy="102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85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CONTENT PAGE /</a:t>
            </a:r>
            <a:pPr algn="r" indent="0" marL="0">
              <a:buNone/>
            </a:pPr>
            <a:r>
              <a:rPr lang="en-US" sz="585" b="1" spc="90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05</a:t>
            </a:r>
            <a:pPr algn="r" indent="0" marL="0">
              <a:buNone/>
            </a:pPr>
            <a:r>
              <a:rPr lang="en-US" sz="585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· 2022</a:t>
            </a:r>
            <a:endParaRPr lang="en-US" sz="585" dirty="0"/>
          </a:p>
        </p:txBody>
      </p:sp>
      <p:sp>
        <p:nvSpPr>
          <p:cNvPr id="7" name="Shape 4"/>
          <p:cNvSpPr/>
          <p:nvPr/>
        </p:nvSpPr>
        <p:spPr>
          <a:xfrm>
            <a:off x="320040" y="640080"/>
            <a:ext cx="850392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8" name="Shape 5"/>
          <p:cNvSpPr/>
          <p:nvPr/>
        </p:nvSpPr>
        <p:spPr>
          <a:xfrm>
            <a:off x="320040" y="731520"/>
            <a:ext cx="6743700" cy="350222"/>
          </a:xfrm>
          <a:prstGeom prst="rect">
            <a:avLst/>
          </a:prstGeom>
          <a:solidFill>
            <a:srgbClr val="00BCD4">
              <a:alpha val="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20040" y="731520"/>
            <a:ext cx="0" cy="350222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731520"/>
            <a:ext cx="7552944" cy="350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5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尽管ChatGPT尚在未来几个月才震撼登场，但</a:t>
            </a:r>
            <a:pPr algn="l" indent="0" marL="0">
              <a:lnSpc>
                <a:spcPct val="170000"/>
              </a:lnSpc>
              <a:buNone/>
            </a:pPr>
            <a:r>
              <a:rPr lang="en-US" sz="65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2022年2月</a:t>
            </a:r>
            <a:pPr algn="l" indent="0" marL="0">
              <a:lnSpc>
                <a:spcPct val="170000"/>
              </a:lnSpc>
              <a:buNone/>
            </a:pPr>
            <a:r>
              <a:rPr lang="en-US" sz="65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的开源社区已经在为即将到来的AI变革争论治理框架。</a:t>
            </a:r>
            <a:pPr algn="l" indent="0" marL="0">
              <a:lnSpc>
                <a:spcPct val="170000"/>
              </a:lnSpc>
              <a:buNone/>
            </a:pPr>
            <a:r>
              <a:rPr lang="en-US" sz="65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数据集许可证</a:t>
            </a:r>
            <a:pPr algn="l" indent="0" marL="0">
              <a:lnSpc>
                <a:spcPct val="170000"/>
              </a:lnSpc>
              <a:buNone/>
            </a:pPr>
            <a:r>
              <a:rPr lang="en-US" sz="65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70000"/>
              </a:lnSpc>
              <a:buNone/>
            </a:pPr>
            <a:r>
              <a:rPr lang="en-US" sz="65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模型权重分发</a:t>
            </a:r>
            <a:pPr algn="l" indent="0" marL="0">
              <a:lnSpc>
                <a:spcPct val="170000"/>
              </a:lnSpc>
              <a:buNone/>
            </a:pPr>
            <a:r>
              <a:rPr lang="en-US" sz="65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和</a:t>
            </a:r>
            <a:pPr algn="l" indent="0" marL="0">
              <a:lnSpc>
                <a:spcPct val="170000"/>
              </a:lnSpc>
              <a:buNone/>
            </a:pPr>
            <a:r>
              <a:rPr lang="en-US" sz="65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训练数据伦理</a:t>
            </a:r>
            <a:pPr algn="l" indent="0" marL="0">
              <a:lnSpc>
                <a:spcPct val="170000"/>
              </a:lnSpc>
              <a:buNone/>
            </a:pPr>
            <a:r>
              <a:rPr lang="en-US" sz="65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，都成为开发者必须面对的新议题。</a:t>
            </a:r>
            <a:endParaRPr lang="en-US" sz="653" dirty="0"/>
          </a:p>
        </p:txBody>
      </p:sp>
      <p:sp>
        <p:nvSpPr>
          <p:cNvPr id="11" name="Shape 8"/>
          <p:cNvSpPr/>
          <p:nvPr/>
        </p:nvSpPr>
        <p:spPr>
          <a:xfrm>
            <a:off x="320040" y="1173182"/>
            <a:ext cx="4183380" cy="406569"/>
          </a:xfrm>
          <a:prstGeom prst="rect">
            <a:avLst/>
          </a:prstGeom>
          <a:solidFill>
            <a:srgbClr val="0F1626"/>
          </a:solidFill>
          <a:ln w="17145">
            <a:solidFill>
              <a:srgbClr val="219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94760" y="1173182"/>
            <a:ext cx="685800" cy="395139"/>
          </a:xfrm>
          <a:prstGeom prst="rect">
            <a:avLst/>
          </a:prstGeom>
          <a:solidFill>
            <a:srgbClr val="2196F3">
              <a:alpha val="1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28625" y="1241762"/>
            <a:ext cx="182880" cy="125730"/>
          </a:xfrm>
          <a:prstGeom prst="roundRect">
            <a:avLst>
              <a:gd name="adj" fmla="val 13636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8625" y="1241762"/>
            <a:ext cx="251460" cy="12573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540" dirty="0"/>
          </a:p>
        </p:txBody>
      </p:sp>
      <p:sp>
        <p:nvSpPr>
          <p:cNvPr id="15" name="Text 12"/>
          <p:cNvSpPr/>
          <p:nvPr/>
        </p:nvSpPr>
        <p:spPr>
          <a:xfrm>
            <a:off x="662940" y="1241762"/>
            <a:ext cx="774383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98" b="1" spc="23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开源AI治理讨论</a:t>
            </a:r>
            <a:endParaRPr lang="en-US" sz="698" dirty="0"/>
          </a:p>
        </p:txBody>
      </p:sp>
      <p:sp>
        <p:nvSpPr>
          <p:cNvPr id="16" name="Text 13"/>
          <p:cNvSpPr/>
          <p:nvPr/>
        </p:nvSpPr>
        <p:spPr>
          <a:xfrm>
            <a:off x="428625" y="1396067"/>
            <a:ext cx="4461358" cy="11510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社区就大模型训练数据来源、许可证传染性展开密集讨论，CC BY-SA争议升温。</a:t>
            </a:r>
            <a:endParaRPr lang="en-US" sz="585" dirty="0"/>
          </a:p>
        </p:txBody>
      </p:sp>
      <p:sp>
        <p:nvSpPr>
          <p:cNvPr id="17" name="Shape 14"/>
          <p:cNvSpPr/>
          <p:nvPr/>
        </p:nvSpPr>
        <p:spPr>
          <a:xfrm>
            <a:off x="320040" y="1642616"/>
            <a:ext cx="4183380" cy="406569"/>
          </a:xfrm>
          <a:prstGeom prst="rect">
            <a:avLst/>
          </a:prstGeom>
          <a:solidFill>
            <a:srgbClr val="0F1626"/>
          </a:solidFill>
          <a:ln w="17145">
            <a:solidFill>
              <a:srgbClr val="00BC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94760" y="1642616"/>
            <a:ext cx="685800" cy="395139"/>
          </a:xfrm>
          <a:prstGeom prst="rect">
            <a:avLst/>
          </a:prstGeom>
          <a:solidFill>
            <a:srgbClr val="2196F3">
              <a:alpha val="1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428625" y="1711196"/>
            <a:ext cx="182880" cy="125730"/>
          </a:xfrm>
          <a:prstGeom prst="roundRect">
            <a:avLst>
              <a:gd name="adj" fmla="val 13636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8625" y="1711196"/>
            <a:ext cx="251460" cy="12573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540" dirty="0"/>
          </a:p>
        </p:txBody>
      </p:sp>
      <p:sp>
        <p:nvSpPr>
          <p:cNvPr id="21" name="Text 18"/>
          <p:cNvSpPr/>
          <p:nvPr/>
        </p:nvSpPr>
        <p:spPr>
          <a:xfrm>
            <a:off x="662940" y="1711196"/>
            <a:ext cx="654368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98" b="1" spc="23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数据集许可证</a:t>
            </a:r>
            <a:endParaRPr lang="en-US" sz="698" dirty="0"/>
          </a:p>
        </p:txBody>
      </p:sp>
      <p:sp>
        <p:nvSpPr>
          <p:cNvPr id="22" name="Text 19"/>
          <p:cNvSpPr/>
          <p:nvPr/>
        </p:nvSpPr>
        <p:spPr>
          <a:xfrm>
            <a:off x="428625" y="1865501"/>
            <a:ext cx="4461358" cy="11510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部分主流开源数据集明确排除训练用途，引发社区关于代码开源 vs 数据开源的反思。</a:t>
            </a:r>
            <a:endParaRPr lang="en-US" sz="585" dirty="0"/>
          </a:p>
        </p:txBody>
      </p:sp>
      <p:sp>
        <p:nvSpPr>
          <p:cNvPr id="23" name="Shape 20"/>
          <p:cNvSpPr/>
          <p:nvPr/>
        </p:nvSpPr>
        <p:spPr>
          <a:xfrm>
            <a:off x="320040" y="2112050"/>
            <a:ext cx="4183380" cy="406569"/>
          </a:xfrm>
          <a:prstGeom prst="rect">
            <a:avLst/>
          </a:prstGeom>
          <a:solidFill>
            <a:srgbClr val="0F1626"/>
          </a:solidFill>
          <a:ln w="17145">
            <a:solidFill>
              <a:srgbClr val="2196F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794760" y="2112050"/>
            <a:ext cx="685800" cy="395139"/>
          </a:xfrm>
          <a:prstGeom prst="rect">
            <a:avLst/>
          </a:prstGeom>
          <a:solidFill>
            <a:srgbClr val="2196F3">
              <a:alpha val="1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428625" y="2180630"/>
            <a:ext cx="182880" cy="125730"/>
          </a:xfrm>
          <a:prstGeom prst="roundRect">
            <a:avLst>
              <a:gd name="adj" fmla="val 13636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8625" y="2180630"/>
            <a:ext cx="251460" cy="12573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540" dirty="0"/>
          </a:p>
        </p:txBody>
      </p:sp>
      <p:sp>
        <p:nvSpPr>
          <p:cNvPr id="27" name="Text 24"/>
          <p:cNvSpPr/>
          <p:nvPr/>
        </p:nvSpPr>
        <p:spPr>
          <a:xfrm>
            <a:off x="662940" y="2180630"/>
            <a:ext cx="1017727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98" b="1" spc="23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Hugging Face动态</a:t>
            </a:r>
            <a:endParaRPr lang="en-US" sz="698" dirty="0"/>
          </a:p>
        </p:txBody>
      </p:sp>
      <p:sp>
        <p:nvSpPr>
          <p:cNvPr id="28" name="Text 25"/>
          <p:cNvSpPr/>
          <p:nvPr/>
        </p:nvSpPr>
        <p:spPr>
          <a:xfrm>
            <a:off x="428625" y="2334935"/>
            <a:ext cx="4461358" cy="11510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Hub持续增长，开源预训练模型数量激增，社区贡献模式面临挑战。</a:t>
            </a:r>
            <a:endParaRPr lang="en-US" sz="585" dirty="0"/>
          </a:p>
        </p:txBody>
      </p:sp>
      <p:sp>
        <p:nvSpPr>
          <p:cNvPr id="29" name="Shape 26"/>
          <p:cNvSpPr/>
          <p:nvPr/>
        </p:nvSpPr>
        <p:spPr>
          <a:xfrm>
            <a:off x="320040" y="2581483"/>
            <a:ext cx="4183380" cy="406569"/>
          </a:xfrm>
          <a:prstGeom prst="rect">
            <a:avLst/>
          </a:prstGeom>
          <a:solidFill>
            <a:srgbClr val="0F1626"/>
          </a:solidFill>
          <a:ln w="17145">
            <a:solidFill>
              <a:srgbClr val="00BCD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794760" y="2581483"/>
            <a:ext cx="685800" cy="395139"/>
          </a:xfrm>
          <a:prstGeom prst="rect">
            <a:avLst/>
          </a:prstGeom>
          <a:solidFill>
            <a:srgbClr val="2196F3">
              <a:alpha val="1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428625" y="2650063"/>
            <a:ext cx="182880" cy="125730"/>
          </a:xfrm>
          <a:prstGeom prst="roundRect">
            <a:avLst>
              <a:gd name="adj" fmla="val 13636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8625" y="2650063"/>
            <a:ext cx="251460" cy="12573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</a:t>
            </a:r>
            <a:endParaRPr lang="en-US" sz="540" dirty="0"/>
          </a:p>
        </p:txBody>
      </p:sp>
      <p:sp>
        <p:nvSpPr>
          <p:cNvPr id="33" name="Text 30"/>
          <p:cNvSpPr/>
          <p:nvPr/>
        </p:nvSpPr>
        <p:spPr>
          <a:xfrm>
            <a:off x="662940" y="2650063"/>
            <a:ext cx="560070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98" b="1" spc="23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伦理与合规</a:t>
            </a:r>
            <a:endParaRPr lang="en-US" sz="698" dirty="0"/>
          </a:p>
        </p:txBody>
      </p:sp>
      <p:sp>
        <p:nvSpPr>
          <p:cNvPr id="34" name="Text 31"/>
          <p:cNvSpPr/>
          <p:nvPr/>
        </p:nvSpPr>
        <p:spPr>
          <a:xfrm>
            <a:off x="428625" y="2804368"/>
            <a:ext cx="4461358" cy="11510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Digital Markets Act草案涉及开源相关内容，开发者社区开始关注合规走向。</a:t>
            </a:r>
            <a:endParaRPr lang="en-US" sz="585" dirty="0"/>
          </a:p>
        </p:txBody>
      </p:sp>
      <p:sp>
        <p:nvSpPr>
          <p:cNvPr id="35" name="Shape 32"/>
          <p:cNvSpPr/>
          <p:nvPr/>
        </p:nvSpPr>
        <p:spPr>
          <a:xfrm>
            <a:off x="4640580" y="1173182"/>
            <a:ext cx="2051685" cy="649456"/>
          </a:xfrm>
          <a:prstGeom prst="rect">
            <a:avLst/>
          </a:prstGeom>
          <a:gradFill rotWithShape="1">
            <a:gsLst>
              <a:gs pos="0">
                <a:srgbClr val="2196F3">
                  <a:alpha val="18000"/>
                </a:srgbClr>
              </a:gs>
              <a:gs pos="100000">
                <a:srgbClr val="00BCD4">
                  <a:alpha val="6000"/>
                </a:srgbClr>
              </a:gs>
            </a:gsLst>
            <a:lin ang="2700000" scaled="0"/>
          </a:gra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37735" y="1258907"/>
            <a:ext cx="2080260" cy="213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3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30</a:t>
            </a:r>
            <a:pPr algn="l" indent="0" marL="0">
              <a:lnSpc>
                <a:spcPct val="110000"/>
              </a:lnSpc>
              <a:buNone/>
            </a:pPr>
            <a:r>
              <a:rPr lang="en-US" sz="810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万+</a:t>
            </a:r>
            <a:endParaRPr lang="en-US" sz="1530" dirty="0"/>
          </a:p>
        </p:txBody>
      </p:sp>
      <p:sp>
        <p:nvSpPr>
          <p:cNvPr id="37" name="Text 34"/>
          <p:cNvSpPr/>
          <p:nvPr/>
        </p:nvSpPr>
        <p:spPr>
          <a:xfrm>
            <a:off x="4737735" y="1495455"/>
            <a:ext cx="208026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63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HUGGING FACE 模型数</a:t>
            </a:r>
            <a:endParaRPr lang="en-US" sz="563" dirty="0"/>
          </a:p>
        </p:txBody>
      </p:sp>
      <p:sp>
        <p:nvSpPr>
          <p:cNvPr id="38" name="Text 35"/>
          <p:cNvSpPr/>
          <p:nvPr/>
        </p:nvSpPr>
        <p:spPr>
          <a:xfrm>
            <a:off x="4737735" y="1638330"/>
            <a:ext cx="2080260" cy="985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2022年初开源模型仓库总量</a:t>
            </a:r>
            <a:endParaRPr lang="en-US" sz="518" dirty="0"/>
          </a:p>
        </p:txBody>
      </p:sp>
      <p:sp>
        <p:nvSpPr>
          <p:cNvPr id="39" name="Text 36"/>
          <p:cNvSpPr/>
          <p:nvPr/>
        </p:nvSpPr>
        <p:spPr>
          <a:xfrm>
            <a:off x="6366510" y="1474024"/>
            <a:ext cx="768096" cy="4229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2520" b="1" dirty="0">
                <a:solidFill>
                  <a:srgbClr val="2196F3">
                    <a:alpha val="8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2520" dirty="0"/>
          </a:p>
        </p:txBody>
      </p:sp>
      <p:sp>
        <p:nvSpPr>
          <p:cNvPr id="40" name="Shape 37"/>
          <p:cNvSpPr/>
          <p:nvPr/>
        </p:nvSpPr>
        <p:spPr>
          <a:xfrm>
            <a:off x="6772275" y="1173182"/>
            <a:ext cx="2051685" cy="649456"/>
          </a:xfrm>
          <a:prstGeom prst="rect">
            <a:avLst/>
          </a:prstGeom>
          <a:gradFill rotWithShape="1">
            <a:gsLst>
              <a:gs pos="0">
                <a:srgbClr val="00BCD4">
                  <a:alpha val="18000"/>
                </a:srgbClr>
              </a:gs>
              <a:gs pos="100000">
                <a:srgbClr val="2196F3">
                  <a:alpha val="6000"/>
                </a:srgbClr>
              </a:gs>
            </a:gsLst>
            <a:lin ang="2700000" scaled="0"/>
          </a:gra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69430" y="1258907"/>
            <a:ext cx="2080260" cy="213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3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</a:t>
            </a:r>
            <a:pPr algn="l" indent="0" marL="0">
              <a:lnSpc>
                <a:spcPct val="110000"/>
              </a:lnSpc>
              <a:buNone/>
            </a:pPr>
            <a:r>
              <a:rPr lang="en-US" sz="81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个</a:t>
            </a:r>
            <a:endParaRPr lang="en-US" sz="1530" dirty="0"/>
          </a:p>
        </p:txBody>
      </p:sp>
      <p:sp>
        <p:nvSpPr>
          <p:cNvPr id="42" name="Text 39"/>
          <p:cNvSpPr/>
          <p:nvPr/>
        </p:nvSpPr>
        <p:spPr>
          <a:xfrm>
            <a:off x="6869430" y="1495455"/>
            <a:ext cx="208026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63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讨论主题</a:t>
            </a:r>
            <a:endParaRPr lang="en-US" sz="563" dirty="0"/>
          </a:p>
        </p:txBody>
      </p:sp>
      <p:sp>
        <p:nvSpPr>
          <p:cNvPr id="43" name="Text 40"/>
          <p:cNvSpPr/>
          <p:nvPr/>
        </p:nvSpPr>
        <p:spPr>
          <a:xfrm>
            <a:off x="6869430" y="1638330"/>
            <a:ext cx="2080260" cy="985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许可证 · 数据 · 伦理 · 合规</a:t>
            </a:r>
            <a:endParaRPr lang="en-US" sz="518" dirty="0"/>
          </a:p>
        </p:txBody>
      </p:sp>
      <p:sp>
        <p:nvSpPr>
          <p:cNvPr id="44" name="Text 41"/>
          <p:cNvSpPr/>
          <p:nvPr/>
        </p:nvSpPr>
        <p:spPr>
          <a:xfrm>
            <a:off x="8498205" y="1474024"/>
            <a:ext cx="768096" cy="4229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2520" b="1" dirty="0">
                <a:solidFill>
                  <a:srgbClr val="00BCD4">
                    <a:alpha val="8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</a:t>
            </a:r>
            <a:endParaRPr lang="en-US" sz="2520" dirty="0"/>
          </a:p>
        </p:txBody>
      </p:sp>
      <p:sp>
        <p:nvSpPr>
          <p:cNvPr id="45" name="Shape 42"/>
          <p:cNvSpPr/>
          <p:nvPr/>
        </p:nvSpPr>
        <p:spPr>
          <a:xfrm>
            <a:off x="4640580" y="1914079"/>
            <a:ext cx="4183380" cy="3000821"/>
          </a:xfrm>
          <a:prstGeom prst="rect">
            <a:avLst/>
          </a:prstGeom>
          <a:solidFill>
            <a:srgbClr val="0F1626"/>
          </a:solidFill>
          <a:ln w="5715">
            <a:solidFill>
              <a:srgbClr val="1A2740"/>
            </a:solidFill>
            <a:prstDash val="solid"/>
          </a:ln>
        </p:spPr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6295" y="1919794"/>
            <a:ext cx="4171950" cy="2989391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4749165" y="2019806"/>
            <a:ext cx="1113739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45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讨论关键词 / KEYWORDS</a:t>
            </a:r>
            <a:endParaRPr lang="en-US" sz="630" dirty="0"/>
          </a:p>
        </p:txBody>
      </p:sp>
      <p:sp>
        <p:nvSpPr>
          <p:cNvPr id="48" name="Shape 44"/>
          <p:cNvSpPr/>
          <p:nvPr/>
        </p:nvSpPr>
        <p:spPr>
          <a:xfrm>
            <a:off x="8052435" y="2011234"/>
            <a:ext cx="662940" cy="131445"/>
          </a:xfrm>
          <a:prstGeom prst="rect">
            <a:avLst/>
          </a:prstGeom>
          <a:solidFill>
            <a:srgbClr val="B0BEC5">
              <a:alpha val="8000"/>
            </a:srgbClr>
          </a:solidFill>
          <a:ln w="5715">
            <a:solidFill>
              <a:srgbClr val="1A2740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8052435" y="2011234"/>
            <a:ext cx="742493" cy="13144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NEURAL · NODES</a:t>
            </a:r>
            <a:endParaRPr lang="en-US" sz="495" dirty="0"/>
          </a:p>
        </p:txBody>
      </p:sp>
      <p:sp>
        <p:nvSpPr>
          <p:cNvPr id="50" name="Shape 46"/>
          <p:cNvSpPr/>
          <p:nvPr/>
        </p:nvSpPr>
        <p:spPr>
          <a:xfrm>
            <a:off x="4749165" y="2199829"/>
            <a:ext cx="532299" cy="177165"/>
          </a:xfrm>
          <a:prstGeom prst="roundRect">
            <a:avLst>
              <a:gd name="adj" fmla="val 6452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55000"/>
              </a:srgbClr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4749165" y="2199829"/>
            <a:ext cx="600879" cy="177165"/>
          </a:xfrm>
          <a:prstGeom prst="rect">
            <a:avLst/>
          </a:prstGeom>
          <a:noFill/>
          <a:ln/>
        </p:spPr>
        <p:txBody>
          <a:bodyPr wrap="none" lIns="34290" tIns="40005" rIns="40005" bIns="34290" rtlCol="0" anchor="ctr"/>
          <a:lstStyle/>
          <a:p>
            <a:pPr algn="ctr" indent="0" marL="0">
              <a:buNone/>
            </a:pPr>
            <a:r>
              <a:rPr lang="en-US" sz="540" spc="14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大模型</a:t>
            </a:r>
            <a:endParaRPr lang="en-US" sz="540" dirty="0"/>
          </a:p>
        </p:txBody>
      </p:sp>
      <p:sp>
        <p:nvSpPr>
          <p:cNvPr id="52" name="Shape 48"/>
          <p:cNvSpPr/>
          <p:nvPr/>
        </p:nvSpPr>
        <p:spPr>
          <a:xfrm>
            <a:off x="5321469" y="2199829"/>
            <a:ext cx="532299" cy="177165"/>
          </a:xfrm>
          <a:prstGeom prst="roundRect">
            <a:avLst>
              <a:gd name="adj" fmla="val 6452"/>
            </a:avLst>
          </a:prstGeom>
          <a:solidFill>
            <a:srgbClr val="0F1626">
              <a:alpha val="60000"/>
            </a:srgbClr>
          </a:solidFill>
          <a:ln w="5715">
            <a:solidFill>
              <a:srgbClr val="1A2740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321469" y="2199829"/>
            <a:ext cx="600879" cy="177165"/>
          </a:xfrm>
          <a:prstGeom prst="rect">
            <a:avLst/>
          </a:prstGeom>
          <a:noFill/>
          <a:ln/>
        </p:spPr>
        <p:txBody>
          <a:bodyPr wrap="none" lIns="34290" tIns="40005" rIns="40005" bIns="34290" rtlCol="0" anchor="ctr"/>
          <a:lstStyle/>
          <a:p>
            <a:pPr algn="ctr" indent="0" marL="0">
              <a:buNone/>
            </a:pPr>
            <a:r>
              <a:rPr lang="en-US" sz="540" spc="14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训练数据</a:t>
            </a:r>
            <a:endParaRPr lang="en-US" sz="540" dirty="0"/>
          </a:p>
        </p:txBody>
      </p:sp>
      <p:sp>
        <p:nvSpPr>
          <p:cNvPr id="54" name="Shape 50"/>
          <p:cNvSpPr/>
          <p:nvPr/>
        </p:nvSpPr>
        <p:spPr>
          <a:xfrm>
            <a:off x="5893772" y="2199829"/>
            <a:ext cx="532299" cy="177165"/>
          </a:xfrm>
          <a:prstGeom prst="roundRect">
            <a:avLst>
              <a:gd name="adj" fmla="val 6452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5500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5893772" y="2199829"/>
            <a:ext cx="600879" cy="177165"/>
          </a:xfrm>
          <a:prstGeom prst="rect">
            <a:avLst/>
          </a:prstGeom>
          <a:noFill/>
          <a:ln/>
        </p:spPr>
        <p:txBody>
          <a:bodyPr wrap="none" lIns="34290" tIns="40005" rIns="40005" bIns="34290" rtlCol="0" anchor="ctr"/>
          <a:lstStyle/>
          <a:p>
            <a:pPr algn="ctr" indent="0" marL="0">
              <a:buNone/>
            </a:pPr>
            <a:r>
              <a:rPr lang="en-US" sz="540" spc="14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许可证</a:t>
            </a:r>
            <a:endParaRPr lang="en-US" sz="540" dirty="0"/>
          </a:p>
        </p:txBody>
      </p:sp>
      <p:sp>
        <p:nvSpPr>
          <p:cNvPr id="56" name="Shape 52"/>
          <p:cNvSpPr/>
          <p:nvPr/>
        </p:nvSpPr>
        <p:spPr>
          <a:xfrm>
            <a:off x="6466076" y="2199829"/>
            <a:ext cx="532299" cy="177165"/>
          </a:xfrm>
          <a:prstGeom prst="roundRect">
            <a:avLst>
              <a:gd name="adj" fmla="val 6452"/>
            </a:avLst>
          </a:prstGeom>
          <a:solidFill>
            <a:srgbClr val="0F1626">
              <a:alpha val="60000"/>
            </a:srgbClr>
          </a:solidFill>
          <a:ln w="5715">
            <a:solidFill>
              <a:srgbClr val="1A2740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6466076" y="2199829"/>
            <a:ext cx="600879" cy="177165"/>
          </a:xfrm>
          <a:prstGeom prst="rect">
            <a:avLst/>
          </a:prstGeom>
          <a:noFill/>
          <a:ln/>
        </p:spPr>
        <p:txBody>
          <a:bodyPr wrap="none" lIns="34290" tIns="40005" rIns="40005" bIns="34290" rtlCol="0" anchor="ctr"/>
          <a:lstStyle/>
          <a:p>
            <a:pPr algn="ctr" indent="0" marL="0">
              <a:buNone/>
            </a:pPr>
            <a:r>
              <a:rPr lang="en-US" sz="540" spc="14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</a:t>
            </a:r>
            <a:endParaRPr lang="en-US" sz="540" dirty="0"/>
          </a:p>
        </p:txBody>
      </p:sp>
      <p:sp>
        <p:nvSpPr>
          <p:cNvPr id="58" name="Shape 54"/>
          <p:cNvSpPr/>
          <p:nvPr/>
        </p:nvSpPr>
        <p:spPr>
          <a:xfrm>
            <a:off x="7038380" y="2199829"/>
            <a:ext cx="532299" cy="177165"/>
          </a:xfrm>
          <a:prstGeom prst="roundRect">
            <a:avLst>
              <a:gd name="adj" fmla="val 6452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55000"/>
              </a:srgbClr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7038380" y="2199829"/>
            <a:ext cx="600879" cy="177165"/>
          </a:xfrm>
          <a:prstGeom prst="rect">
            <a:avLst/>
          </a:prstGeom>
          <a:noFill/>
          <a:ln/>
        </p:spPr>
        <p:txBody>
          <a:bodyPr wrap="none" lIns="34290" tIns="40005" rIns="40005" bIns="34290" rtlCol="0" anchor="ctr"/>
          <a:lstStyle/>
          <a:p>
            <a:pPr algn="ctr" indent="0" marL="0">
              <a:buNone/>
            </a:pPr>
            <a:r>
              <a:rPr lang="en-US" sz="540" spc="14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AI治理</a:t>
            </a:r>
            <a:endParaRPr lang="en-US" sz="540" dirty="0"/>
          </a:p>
        </p:txBody>
      </p:sp>
      <p:sp>
        <p:nvSpPr>
          <p:cNvPr id="60" name="Shape 56"/>
          <p:cNvSpPr/>
          <p:nvPr/>
        </p:nvSpPr>
        <p:spPr>
          <a:xfrm>
            <a:off x="7610683" y="2199829"/>
            <a:ext cx="532299" cy="177165"/>
          </a:xfrm>
          <a:prstGeom prst="roundRect">
            <a:avLst>
              <a:gd name="adj" fmla="val 6452"/>
            </a:avLst>
          </a:prstGeom>
          <a:solidFill>
            <a:srgbClr val="0F1626">
              <a:alpha val="60000"/>
            </a:srgbClr>
          </a:solidFill>
          <a:ln w="5715">
            <a:solidFill>
              <a:srgbClr val="1A2740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7610683" y="2199829"/>
            <a:ext cx="600879" cy="177165"/>
          </a:xfrm>
          <a:prstGeom prst="rect">
            <a:avLst/>
          </a:prstGeom>
          <a:noFill/>
          <a:ln/>
        </p:spPr>
        <p:txBody>
          <a:bodyPr wrap="none" lIns="34290" tIns="40005" rIns="40005" bIns="34290" rtlCol="0" anchor="ctr"/>
          <a:lstStyle/>
          <a:p>
            <a:pPr algn="ctr" indent="0" marL="0">
              <a:buNone/>
            </a:pPr>
            <a:r>
              <a:rPr lang="en-US" sz="540" spc="14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伦理</a:t>
            </a:r>
            <a:endParaRPr lang="en-US" sz="540" dirty="0"/>
          </a:p>
        </p:txBody>
      </p:sp>
      <p:sp>
        <p:nvSpPr>
          <p:cNvPr id="62" name="Shape 58"/>
          <p:cNvSpPr/>
          <p:nvPr/>
        </p:nvSpPr>
        <p:spPr>
          <a:xfrm>
            <a:off x="8182987" y="2199829"/>
            <a:ext cx="532388" cy="177165"/>
          </a:xfrm>
          <a:prstGeom prst="roundRect">
            <a:avLst>
              <a:gd name="adj" fmla="val 6452"/>
            </a:avLst>
          </a:prstGeom>
          <a:solidFill>
            <a:srgbClr val="0F1626">
              <a:alpha val="60000"/>
            </a:srgbClr>
          </a:solidFill>
          <a:ln w="5715">
            <a:solidFill>
              <a:srgbClr val="1A2740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8182987" y="2199829"/>
            <a:ext cx="600968" cy="177165"/>
          </a:xfrm>
          <a:prstGeom prst="rect">
            <a:avLst/>
          </a:prstGeom>
          <a:noFill/>
          <a:ln/>
        </p:spPr>
        <p:txBody>
          <a:bodyPr wrap="none" lIns="34290" tIns="40005" rIns="40005" bIns="34290" rtlCol="0" anchor="ctr"/>
          <a:lstStyle/>
          <a:p>
            <a:pPr algn="ctr" indent="0" marL="0">
              <a:buNone/>
            </a:pPr>
            <a:r>
              <a:rPr lang="en-US" sz="540" spc="14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合规</a:t>
            </a:r>
            <a:endParaRPr lang="en-US" sz="540" dirty="0"/>
          </a:p>
        </p:txBody>
      </p:sp>
      <p:sp>
        <p:nvSpPr>
          <p:cNvPr id="64" name="Shape 60"/>
          <p:cNvSpPr/>
          <p:nvPr/>
        </p:nvSpPr>
        <p:spPr>
          <a:xfrm>
            <a:off x="4749165" y="2416999"/>
            <a:ext cx="532299" cy="177165"/>
          </a:xfrm>
          <a:prstGeom prst="roundRect">
            <a:avLst>
              <a:gd name="adj" fmla="val 6452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55000"/>
              </a:srgbClr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4749165" y="2416999"/>
            <a:ext cx="600879" cy="177165"/>
          </a:xfrm>
          <a:prstGeom prst="rect">
            <a:avLst/>
          </a:prstGeom>
          <a:noFill/>
          <a:ln/>
        </p:spPr>
        <p:txBody>
          <a:bodyPr wrap="none" lIns="34290" tIns="40005" rIns="40005" bIns="34290" rtlCol="0" anchor="ctr"/>
          <a:lstStyle/>
          <a:p>
            <a:pPr algn="ctr" indent="0" marL="0">
              <a:buNone/>
            </a:pPr>
            <a:r>
              <a:rPr lang="en-US" sz="540" spc="14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CC BY-SA</a:t>
            </a:r>
            <a:endParaRPr lang="en-US" sz="540" dirty="0"/>
          </a:p>
        </p:txBody>
      </p:sp>
      <p:sp>
        <p:nvSpPr>
          <p:cNvPr id="66" name="Shape 62"/>
          <p:cNvSpPr/>
          <p:nvPr/>
        </p:nvSpPr>
        <p:spPr>
          <a:xfrm>
            <a:off x="5321469" y="2416999"/>
            <a:ext cx="532299" cy="177165"/>
          </a:xfrm>
          <a:prstGeom prst="roundRect">
            <a:avLst>
              <a:gd name="adj" fmla="val 6452"/>
            </a:avLst>
          </a:prstGeom>
          <a:solidFill>
            <a:srgbClr val="0F1626">
              <a:alpha val="60000"/>
            </a:srgbClr>
          </a:solidFill>
          <a:ln w="5715">
            <a:solidFill>
              <a:srgbClr val="1A2740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5321469" y="2416999"/>
            <a:ext cx="600879" cy="177165"/>
          </a:xfrm>
          <a:prstGeom prst="rect">
            <a:avLst/>
          </a:prstGeom>
          <a:noFill/>
          <a:ln/>
        </p:spPr>
        <p:txBody>
          <a:bodyPr wrap="none" lIns="34290" tIns="40005" rIns="40005" bIns="34290" rtlCol="0" anchor="ctr"/>
          <a:lstStyle/>
          <a:p>
            <a:pPr algn="ctr" indent="0" marL="0">
              <a:buNone/>
            </a:pPr>
            <a:r>
              <a:rPr lang="en-US" sz="540" spc="14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传染性</a:t>
            </a:r>
            <a:endParaRPr lang="en-US" sz="540" dirty="0"/>
          </a:p>
        </p:txBody>
      </p:sp>
      <p:sp>
        <p:nvSpPr>
          <p:cNvPr id="68" name="Shape 64"/>
          <p:cNvSpPr/>
          <p:nvPr/>
        </p:nvSpPr>
        <p:spPr>
          <a:xfrm>
            <a:off x="5893772" y="2416999"/>
            <a:ext cx="532299" cy="177165"/>
          </a:xfrm>
          <a:prstGeom prst="roundRect">
            <a:avLst>
              <a:gd name="adj" fmla="val 6452"/>
            </a:avLst>
          </a:prstGeom>
          <a:solidFill>
            <a:srgbClr val="0F1626">
              <a:alpha val="60000"/>
            </a:srgbClr>
          </a:solidFill>
          <a:ln w="5715">
            <a:solidFill>
              <a:srgbClr val="1A2740"/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5893772" y="2416999"/>
            <a:ext cx="600879" cy="177165"/>
          </a:xfrm>
          <a:prstGeom prst="rect">
            <a:avLst/>
          </a:prstGeom>
          <a:noFill/>
          <a:ln/>
        </p:spPr>
        <p:txBody>
          <a:bodyPr wrap="none" lIns="34290" tIns="40005" rIns="40005" bIns="34290" rtlCol="0" anchor="ctr"/>
          <a:lstStyle/>
          <a:p>
            <a:pPr algn="ctr" indent="0" marL="0">
              <a:buNone/>
            </a:pPr>
            <a:r>
              <a:rPr lang="en-US" sz="540" spc="14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权重分发</a:t>
            </a:r>
            <a:endParaRPr lang="en-US" sz="540" dirty="0"/>
          </a:p>
        </p:txBody>
      </p:sp>
      <p:sp>
        <p:nvSpPr>
          <p:cNvPr id="70" name="Shape 66"/>
          <p:cNvSpPr/>
          <p:nvPr/>
        </p:nvSpPr>
        <p:spPr>
          <a:xfrm>
            <a:off x="6466076" y="2416999"/>
            <a:ext cx="532299" cy="177165"/>
          </a:xfrm>
          <a:prstGeom prst="roundRect">
            <a:avLst>
              <a:gd name="adj" fmla="val 6452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55000"/>
              </a:srgbClr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6466076" y="2416999"/>
            <a:ext cx="600879" cy="177165"/>
          </a:xfrm>
          <a:prstGeom prst="rect">
            <a:avLst/>
          </a:prstGeom>
          <a:noFill/>
          <a:ln/>
        </p:spPr>
        <p:txBody>
          <a:bodyPr wrap="none" lIns="34290" tIns="40005" rIns="40005" bIns="34290" rtlCol="0" anchor="ctr"/>
          <a:lstStyle/>
          <a:p>
            <a:pPr algn="ctr" indent="0" marL="0">
              <a:buNone/>
            </a:pPr>
            <a:r>
              <a:rPr lang="en-US" sz="540" spc="14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Model Hub</a:t>
            </a:r>
            <a:endParaRPr lang="en-US" sz="540" dirty="0"/>
          </a:p>
        </p:txBody>
      </p:sp>
      <p:sp>
        <p:nvSpPr>
          <p:cNvPr id="72" name="Shape 68"/>
          <p:cNvSpPr/>
          <p:nvPr/>
        </p:nvSpPr>
        <p:spPr>
          <a:xfrm>
            <a:off x="7038380" y="2416999"/>
            <a:ext cx="532299" cy="177165"/>
          </a:xfrm>
          <a:prstGeom prst="roundRect">
            <a:avLst>
              <a:gd name="adj" fmla="val 6452"/>
            </a:avLst>
          </a:prstGeom>
          <a:solidFill>
            <a:srgbClr val="0F1626">
              <a:alpha val="60000"/>
            </a:srgbClr>
          </a:solidFill>
          <a:ln w="5715">
            <a:solidFill>
              <a:srgbClr val="1A2740"/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7038380" y="2416999"/>
            <a:ext cx="600879" cy="177165"/>
          </a:xfrm>
          <a:prstGeom prst="rect">
            <a:avLst/>
          </a:prstGeom>
          <a:noFill/>
          <a:ln/>
        </p:spPr>
        <p:txBody>
          <a:bodyPr wrap="none" lIns="34290" tIns="40005" rIns="40005" bIns="34290" rtlCol="0" anchor="ctr"/>
          <a:lstStyle/>
          <a:p>
            <a:pPr algn="ctr" indent="0" marL="0">
              <a:buNone/>
            </a:pPr>
            <a:r>
              <a:rPr lang="en-US" sz="540" spc="14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预训练</a:t>
            </a:r>
            <a:endParaRPr lang="en-US" sz="540" dirty="0"/>
          </a:p>
        </p:txBody>
      </p:sp>
      <p:sp>
        <p:nvSpPr>
          <p:cNvPr id="74" name="Shape 70"/>
          <p:cNvSpPr/>
          <p:nvPr/>
        </p:nvSpPr>
        <p:spPr>
          <a:xfrm>
            <a:off x="7610683" y="2416999"/>
            <a:ext cx="532299" cy="177165"/>
          </a:xfrm>
          <a:prstGeom prst="roundRect">
            <a:avLst>
              <a:gd name="adj" fmla="val 6452"/>
            </a:avLst>
          </a:prstGeom>
          <a:solidFill>
            <a:srgbClr val="0F1626">
              <a:alpha val="60000"/>
            </a:srgbClr>
          </a:solidFill>
          <a:ln w="5715">
            <a:solidFill>
              <a:srgbClr val="1A2740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7610683" y="2416999"/>
            <a:ext cx="600879" cy="177165"/>
          </a:xfrm>
          <a:prstGeom prst="rect">
            <a:avLst/>
          </a:prstGeom>
          <a:noFill/>
          <a:ln/>
        </p:spPr>
        <p:txBody>
          <a:bodyPr wrap="none" lIns="34290" tIns="40005" rIns="40005" bIns="34290" rtlCol="0" anchor="ctr"/>
          <a:lstStyle/>
          <a:p>
            <a:pPr algn="ctr" indent="0" marL="0">
              <a:buNone/>
            </a:pPr>
            <a:r>
              <a:rPr lang="en-US" sz="540" spc="14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社区</a:t>
            </a:r>
            <a:endParaRPr lang="en-US" sz="540" dirty="0"/>
          </a:p>
        </p:txBody>
      </p:sp>
      <p:sp>
        <p:nvSpPr>
          <p:cNvPr id="76" name="Shape 72"/>
          <p:cNvSpPr/>
          <p:nvPr/>
        </p:nvSpPr>
        <p:spPr>
          <a:xfrm>
            <a:off x="8182987" y="2416999"/>
            <a:ext cx="532388" cy="177165"/>
          </a:xfrm>
          <a:prstGeom prst="roundRect">
            <a:avLst>
              <a:gd name="adj" fmla="val 6452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55000"/>
              </a:srgbClr>
            </a:solidFill>
            <a:prstDash val="solid"/>
          </a:ln>
        </p:spPr>
      </p:sp>
      <p:sp>
        <p:nvSpPr>
          <p:cNvPr id="77" name="Text 73"/>
          <p:cNvSpPr/>
          <p:nvPr/>
        </p:nvSpPr>
        <p:spPr>
          <a:xfrm>
            <a:off x="8182987" y="2416999"/>
            <a:ext cx="600968" cy="177165"/>
          </a:xfrm>
          <a:prstGeom prst="rect">
            <a:avLst/>
          </a:prstGeom>
          <a:noFill/>
          <a:ln/>
        </p:spPr>
        <p:txBody>
          <a:bodyPr wrap="none" lIns="34290" tIns="40005" rIns="40005" bIns="34290" rtlCol="0" anchor="ctr"/>
          <a:lstStyle/>
          <a:p>
            <a:pPr algn="ctr" indent="0" marL="0">
              <a:buNone/>
            </a:pPr>
            <a:r>
              <a:rPr lang="en-US" sz="540" spc="14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数据集</a:t>
            </a:r>
            <a:endParaRPr lang="en-US" sz="540" dirty="0"/>
          </a:p>
        </p:txBody>
      </p:sp>
      <p:sp>
        <p:nvSpPr>
          <p:cNvPr id="78" name="Shape 74"/>
          <p:cNvSpPr/>
          <p:nvPr/>
        </p:nvSpPr>
        <p:spPr>
          <a:xfrm>
            <a:off x="4749165" y="2634169"/>
            <a:ext cx="532299" cy="177165"/>
          </a:xfrm>
          <a:prstGeom prst="roundRect">
            <a:avLst>
              <a:gd name="adj" fmla="val 6452"/>
            </a:avLst>
          </a:prstGeom>
          <a:solidFill>
            <a:srgbClr val="0F1626">
              <a:alpha val="60000"/>
            </a:srgbClr>
          </a:solidFill>
          <a:ln w="5715">
            <a:solidFill>
              <a:srgbClr val="1A2740"/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4749165" y="2634169"/>
            <a:ext cx="600879" cy="177165"/>
          </a:xfrm>
          <a:prstGeom prst="rect">
            <a:avLst/>
          </a:prstGeom>
          <a:noFill/>
          <a:ln/>
        </p:spPr>
        <p:txBody>
          <a:bodyPr wrap="none" lIns="34290" tIns="40005" rIns="40005" bIns="34290" rtlCol="0" anchor="ctr"/>
          <a:lstStyle/>
          <a:p>
            <a:pPr algn="ctr" indent="0" marL="0">
              <a:buNone/>
            </a:pPr>
            <a:r>
              <a:rPr lang="en-US" sz="540" spc="14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DM Act</a:t>
            </a:r>
            <a:endParaRPr lang="en-US" sz="540" dirty="0"/>
          </a:p>
        </p:txBody>
      </p:sp>
      <p:sp>
        <p:nvSpPr>
          <p:cNvPr id="80" name="Shape 76"/>
          <p:cNvSpPr/>
          <p:nvPr/>
        </p:nvSpPr>
        <p:spPr>
          <a:xfrm>
            <a:off x="5321469" y="2634169"/>
            <a:ext cx="532299" cy="177165"/>
          </a:xfrm>
          <a:prstGeom prst="roundRect">
            <a:avLst>
              <a:gd name="adj" fmla="val 6452"/>
            </a:avLst>
          </a:prstGeom>
          <a:solidFill>
            <a:srgbClr val="0F1626">
              <a:alpha val="60000"/>
            </a:srgbClr>
          </a:solidFill>
          <a:ln w="5715">
            <a:solidFill>
              <a:srgbClr val="1A2740"/>
            </a:solidFill>
            <a:prstDash val="solid"/>
          </a:ln>
        </p:spPr>
      </p:sp>
      <p:sp>
        <p:nvSpPr>
          <p:cNvPr id="81" name="Text 77"/>
          <p:cNvSpPr/>
          <p:nvPr/>
        </p:nvSpPr>
        <p:spPr>
          <a:xfrm>
            <a:off x="5321469" y="2634169"/>
            <a:ext cx="600879" cy="177165"/>
          </a:xfrm>
          <a:prstGeom prst="rect">
            <a:avLst/>
          </a:prstGeom>
          <a:noFill/>
          <a:ln/>
        </p:spPr>
        <p:txBody>
          <a:bodyPr wrap="none" lIns="34290" tIns="40005" rIns="40005" bIns="34290" rtlCol="0" anchor="ctr"/>
          <a:lstStyle/>
          <a:p>
            <a:pPr algn="ctr" indent="0" marL="0">
              <a:buNone/>
            </a:pPr>
            <a:r>
              <a:rPr lang="en-US" sz="540" spc="14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模型卡</a:t>
            </a:r>
            <a:endParaRPr lang="en-US" sz="540" dirty="0"/>
          </a:p>
        </p:txBody>
      </p:sp>
      <p:sp>
        <p:nvSpPr>
          <p:cNvPr id="82" name="Shape 78"/>
          <p:cNvSpPr/>
          <p:nvPr/>
        </p:nvSpPr>
        <p:spPr>
          <a:xfrm>
            <a:off x="5893772" y="2634169"/>
            <a:ext cx="532299" cy="177165"/>
          </a:xfrm>
          <a:prstGeom prst="roundRect">
            <a:avLst>
              <a:gd name="adj" fmla="val 6452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55000"/>
              </a:srgbClr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5893772" y="2634169"/>
            <a:ext cx="600879" cy="177165"/>
          </a:xfrm>
          <a:prstGeom prst="rect">
            <a:avLst/>
          </a:prstGeom>
          <a:noFill/>
          <a:ln/>
        </p:spPr>
        <p:txBody>
          <a:bodyPr wrap="none" lIns="34290" tIns="40005" rIns="40005" bIns="34290" rtlCol="0" anchor="ctr"/>
          <a:lstStyle/>
          <a:p>
            <a:pPr algn="ctr" indent="0" marL="0">
              <a:buNone/>
            </a:pPr>
            <a:r>
              <a:rPr lang="en-US" sz="540" spc="14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透明度</a:t>
            </a:r>
            <a:endParaRPr lang="en-US" sz="540" dirty="0"/>
          </a:p>
        </p:txBody>
      </p:sp>
      <p:sp>
        <p:nvSpPr>
          <p:cNvPr id="84" name="Shape 80"/>
          <p:cNvSpPr/>
          <p:nvPr/>
        </p:nvSpPr>
        <p:spPr>
          <a:xfrm>
            <a:off x="6466076" y="2634169"/>
            <a:ext cx="532299" cy="177165"/>
          </a:xfrm>
          <a:prstGeom prst="roundRect">
            <a:avLst>
              <a:gd name="adj" fmla="val 6452"/>
            </a:avLst>
          </a:prstGeom>
          <a:solidFill>
            <a:srgbClr val="0F1626">
              <a:alpha val="60000"/>
            </a:srgbClr>
          </a:solidFill>
          <a:ln w="5715">
            <a:solidFill>
              <a:srgbClr val="1A2740"/>
            </a:solidFill>
            <a:prstDash val="solid"/>
          </a:ln>
        </p:spPr>
      </p:sp>
      <p:sp>
        <p:nvSpPr>
          <p:cNvPr id="85" name="Text 81"/>
          <p:cNvSpPr/>
          <p:nvPr/>
        </p:nvSpPr>
        <p:spPr>
          <a:xfrm>
            <a:off x="6466076" y="2634169"/>
            <a:ext cx="600879" cy="177165"/>
          </a:xfrm>
          <a:prstGeom prst="rect">
            <a:avLst/>
          </a:prstGeom>
          <a:noFill/>
          <a:ln/>
        </p:spPr>
        <p:txBody>
          <a:bodyPr wrap="none" lIns="34290" tIns="40005" rIns="40005" bIns="34290" rtlCol="0" anchor="ctr"/>
          <a:lstStyle/>
          <a:p>
            <a:pPr algn="ctr" indent="0" marL="0">
              <a:buNone/>
            </a:pPr>
            <a:r>
              <a:rPr lang="en-US" sz="540" spc="14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贡献模式</a:t>
            </a:r>
            <a:endParaRPr lang="en-US" sz="540" dirty="0"/>
          </a:p>
        </p:txBody>
      </p:sp>
      <p:sp>
        <p:nvSpPr>
          <p:cNvPr id="86" name="Shape 82"/>
          <p:cNvSpPr/>
          <p:nvPr/>
        </p:nvSpPr>
        <p:spPr>
          <a:xfrm>
            <a:off x="7038380" y="2634169"/>
            <a:ext cx="532299" cy="177165"/>
          </a:xfrm>
          <a:prstGeom prst="roundRect">
            <a:avLst>
              <a:gd name="adj" fmla="val 6452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55000"/>
              </a:srgbClr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7038380" y="2634169"/>
            <a:ext cx="600879" cy="177165"/>
          </a:xfrm>
          <a:prstGeom prst="rect">
            <a:avLst/>
          </a:prstGeom>
          <a:noFill/>
          <a:ln/>
        </p:spPr>
        <p:txBody>
          <a:bodyPr wrap="none" lIns="34290" tIns="40005" rIns="40005" bIns="34290" rtlCol="0" anchor="ctr"/>
          <a:lstStyle/>
          <a:p>
            <a:pPr algn="ctr" indent="0" marL="0">
              <a:buNone/>
            </a:pPr>
            <a:r>
              <a:rPr lang="en-US" sz="540" spc="14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Copyleft</a:t>
            </a:r>
            <a:endParaRPr lang="en-US" sz="540" dirty="0"/>
          </a:p>
        </p:txBody>
      </p:sp>
      <p:sp>
        <p:nvSpPr>
          <p:cNvPr id="88" name="Shape 84"/>
          <p:cNvSpPr/>
          <p:nvPr/>
        </p:nvSpPr>
        <p:spPr>
          <a:xfrm>
            <a:off x="7610683" y="2634169"/>
            <a:ext cx="532299" cy="177165"/>
          </a:xfrm>
          <a:prstGeom prst="roundRect">
            <a:avLst>
              <a:gd name="adj" fmla="val 6452"/>
            </a:avLst>
          </a:prstGeom>
          <a:solidFill>
            <a:srgbClr val="0F1626">
              <a:alpha val="60000"/>
            </a:srgbClr>
          </a:solidFill>
          <a:ln w="5715">
            <a:solidFill>
              <a:srgbClr val="1A2740"/>
            </a:solidFill>
            <a:prstDash val="solid"/>
          </a:ln>
        </p:spPr>
      </p:sp>
      <p:sp>
        <p:nvSpPr>
          <p:cNvPr id="89" name="Text 85"/>
          <p:cNvSpPr/>
          <p:nvPr/>
        </p:nvSpPr>
        <p:spPr>
          <a:xfrm>
            <a:off x="7610683" y="2634169"/>
            <a:ext cx="600879" cy="177165"/>
          </a:xfrm>
          <a:prstGeom prst="rect">
            <a:avLst/>
          </a:prstGeom>
          <a:noFill/>
          <a:ln/>
        </p:spPr>
        <p:txBody>
          <a:bodyPr wrap="none" lIns="34290" tIns="40005" rIns="40005" bIns="34290" rtlCol="0" anchor="ctr"/>
          <a:lstStyle/>
          <a:p>
            <a:pPr algn="ctr" indent="0" marL="0">
              <a:buNone/>
            </a:pPr>
            <a:r>
              <a:rPr lang="en-US" sz="540" spc="14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Apache</a:t>
            </a:r>
            <a:endParaRPr lang="en-US" sz="540" dirty="0"/>
          </a:p>
        </p:txBody>
      </p:sp>
      <p:sp>
        <p:nvSpPr>
          <p:cNvPr id="90" name="Shape 86"/>
          <p:cNvSpPr/>
          <p:nvPr/>
        </p:nvSpPr>
        <p:spPr>
          <a:xfrm>
            <a:off x="8182987" y="2634169"/>
            <a:ext cx="532388" cy="177165"/>
          </a:xfrm>
          <a:prstGeom prst="roundRect">
            <a:avLst>
              <a:gd name="adj" fmla="val 6452"/>
            </a:avLst>
          </a:prstGeom>
          <a:solidFill>
            <a:srgbClr val="0F1626">
              <a:alpha val="60000"/>
            </a:srgbClr>
          </a:solidFill>
          <a:ln w="5715">
            <a:solidFill>
              <a:srgbClr val="1A2740"/>
            </a:solidFill>
            <a:prstDash val="solid"/>
          </a:ln>
        </p:spPr>
      </p:sp>
      <p:sp>
        <p:nvSpPr>
          <p:cNvPr id="91" name="Text 87"/>
          <p:cNvSpPr/>
          <p:nvPr/>
        </p:nvSpPr>
        <p:spPr>
          <a:xfrm>
            <a:off x="8182987" y="2634169"/>
            <a:ext cx="600968" cy="177165"/>
          </a:xfrm>
          <a:prstGeom prst="rect">
            <a:avLst/>
          </a:prstGeom>
          <a:noFill/>
          <a:ln/>
        </p:spPr>
        <p:txBody>
          <a:bodyPr wrap="none" lIns="34290" tIns="40005" rIns="40005" bIns="34290" rtlCol="0" anchor="ctr"/>
          <a:lstStyle/>
          <a:p>
            <a:pPr algn="ctr" indent="0" marL="0">
              <a:buNone/>
            </a:pPr>
            <a:r>
              <a:rPr lang="en-US" sz="540" spc="14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MIT</a:t>
            </a:r>
            <a:endParaRPr lang="en-US" sz="540" dirty="0"/>
          </a:p>
        </p:txBody>
      </p:sp>
      <p:sp>
        <p:nvSpPr>
          <p:cNvPr id="92" name="Shape 88"/>
          <p:cNvSpPr/>
          <p:nvPr/>
        </p:nvSpPr>
        <p:spPr>
          <a:xfrm>
            <a:off x="4749165" y="2851339"/>
            <a:ext cx="532299" cy="177165"/>
          </a:xfrm>
          <a:prstGeom prst="roundRect">
            <a:avLst>
              <a:gd name="adj" fmla="val 6452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55000"/>
              </a:srgbClr>
            </a:solidFill>
            <a:prstDash val="solid"/>
          </a:ln>
        </p:spPr>
      </p:sp>
      <p:sp>
        <p:nvSpPr>
          <p:cNvPr id="93" name="Text 89"/>
          <p:cNvSpPr/>
          <p:nvPr/>
        </p:nvSpPr>
        <p:spPr>
          <a:xfrm>
            <a:off x="4749165" y="2851339"/>
            <a:ext cx="600879" cy="177165"/>
          </a:xfrm>
          <a:prstGeom prst="rect">
            <a:avLst/>
          </a:prstGeom>
          <a:noFill/>
          <a:ln/>
        </p:spPr>
        <p:txBody>
          <a:bodyPr wrap="none" lIns="34290" tIns="40005" rIns="40005" bIns="34290" rtlCol="0" anchor="ctr"/>
          <a:lstStyle/>
          <a:p>
            <a:pPr algn="ctr" indent="0" marL="0">
              <a:buNone/>
            </a:pPr>
            <a:r>
              <a:rPr lang="en-US" sz="540" spc="14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LLM</a:t>
            </a:r>
            <a:endParaRPr lang="en-US" sz="540" dirty="0"/>
          </a:p>
        </p:txBody>
      </p:sp>
      <p:sp>
        <p:nvSpPr>
          <p:cNvPr id="94" name="Shape 90"/>
          <p:cNvSpPr/>
          <p:nvPr/>
        </p:nvSpPr>
        <p:spPr>
          <a:xfrm>
            <a:off x="5321469" y="2851339"/>
            <a:ext cx="532299" cy="177165"/>
          </a:xfrm>
          <a:prstGeom prst="roundRect">
            <a:avLst>
              <a:gd name="adj" fmla="val 6452"/>
            </a:avLst>
          </a:prstGeom>
          <a:solidFill>
            <a:srgbClr val="0F1626">
              <a:alpha val="60000"/>
            </a:srgbClr>
          </a:solidFill>
          <a:ln w="5715">
            <a:solidFill>
              <a:srgbClr val="1A2740"/>
            </a:solidFill>
            <a:prstDash val="solid"/>
          </a:ln>
        </p:spPr>
      </p:sp>
      <p:sp>
        <p:nvSpPr>
          <p:cNvPr id="95" name="Text 91"/>
          <p:cNvSpPr/>
          <p:nvPr/>
        </p:nvSpPr>
        <p:spPr>
          <a:xfrm>
            <a:off x="5321469" y="2851339"/>
            <a:ext cx="600879" cy="177165"/>
          </a:xfrm>
          <a:prstGeom prst="rect">
            <a:avLst/>
          </a:prstGeom>
          <a:noFill/>
          <a:ln/>
        </p:spPr>
        <p:txBody>
          <a:bodyPr wrap="none" lIns="34290" tIns="40005" rIns="40005" bIns="34290" rtlCol="0" anchor="ctr"/>
          <a:lstStyle/>
          <a:p>
            <a:pPr algn="ctr" indent="0" marL="0">
              <a:buNone/>
            </a:pPr>
            <a:r>
              <a:rPr lang="en-US" sz="540" spc="14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数据标注</a:t>
            </a:r>
            <a:endParaRPr lang="en-US" sz="5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A1120"/>
              </a:gs>
              <a:gs pos="50000">
                <a:srgbClr val="0B1630"/>
              </a:gs>
              <a:gs pos="100000">
                <a:srgbClr val="0A1120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2286000" y="-257175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-5029200" y="1800225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00BCD4">
                  <a:alpha val="64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18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18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114300" y="102870"/>
            <a:ext cx="1024128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B0BEC5">
                    <a:alpha val="3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CH.02 / ECOSYSTEM</a:t>
            </a:r>
            <a:endParaRPr lang="en-US" sz="450" dirty="0"/>
          </a:p>
        </p:txBody>
      </p:sp>
      <p:sp>
        <p:nvSpPr>
          <p:cNvPr id="7" name="Text 5"/>
          <p:cNvSpPr/>
          <p:nvPr/>
        </p:nvSpPr>
        <p:spPr>
          <a:xfrm>
            <a:off x="8069580" y="102870"/>
            <a:ext cx="1075334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B0BEC5">
                    <a:alpha val="3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2022.02 · OBSERVATION</a:t>
            </a:r>
            <a:endParaRPr lang="en-US" sz="450" dirty="0"/>
          </a:p>
        </p:txBody>
      </p:sp>
      <p:sp>
        <p:nvSpPr>
          <p:cNvPr id="8" name="Shape 6"/>
          <p:cNvSpPr/>
          <p:nvPr/>
        </p:nvSpPr>
        <p:spPr>
          <a:xfrm>
            <a:off x="314325" y="285750"/>
            <a:ext cx="971550" cy="205740"/>
          </a:xfrm>
          <a:prstGeom prst="roundRect">
            <a:avLst>
              <a:gd name="adj" fmla="val 11111"/>
            </a:avLst>
          </a:prstGeom>
          <a:solidFill>
            <a:srgbClr val="2196F3">
              <a:alpha val="10000"/>
            </a:srgbClr>
          </a:solidFill>
          <a:ln w="17145">
            <a:solidFill>
              <a:srgbClr val="2196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0050" y="365760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337185"/>
            <a:ext cx="768096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CHAPTER · 02</a:t>
            </a:r>
            <a:endParaRPr lang="en-US" sz="585" dirty="0"/>
          </a:p>
        </p:txBody>
      </p:sp>
      <p:sp>
        <p:nvSpPr>
          <p:cNvPr id="11" name="Text 9"/>
          <p:cNvSpPr/>
          <p:nvPr/>
        </p:nvSpPr>
        <p:spPr>
          <a:xfrm>
            <a:off x="314325" y="640080"/>
            <a:ext cx="4069080" cy="552033"/>
          </a:xfrm>
          <a:prstGeom prst="rect">
            <a:avLst/>
          </a:prstGeom>
          <a:noFill/>
          <a:ln/>
          <a:effectLst>
            <a:outerShdw sx="100000" sy="100000" kx="0" ky="0" algn="bl" rotWithShape="0" blurRad="342900" dist="50800" dir="5400000">
              <a:srgbClr val="2196F3">
                <a:alpha val="2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140" b="1" spc="270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生态观察</a:t>
            </a:r>
            <a:endParaRPr lang="en-US" sz="4140" dirty="0"/>
          </a:p>
        </p:txBody>
      </p:sp>
      <p:sp>
        <p:nvSpPr>
          <p:cNvPr id="12" name="Text 10"/>
          <p:cNvSpPr/>
          <p:nvPr/>
        </p:nvSpPr>
        <p:spPr>
          <a:xfrm>
            <a:off x="314325" y="1272123"/>
            <a:ext cx="3968496" cy="148590"/>
          </a:xfrm>
          <a:prstGeom prst="rect">
            <a:avLst/>
          </a:prstGeom>
          <a:noFill/>
          <a:ln/>
        </p:spPr>
        <p:txBody>
          <a:bodyPr wrap="none" lIns="0" tIns="1143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ECOSYSTEM OBSERVATION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4325" y="1580733"/>
            <a:ext cx="457200" cy="17145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4" name="Shape 12"/>
          <p:cNvSpPr/>
          <p:nvPr/>
        </p:nvSpPr>
        <p:spPr>
          <a:xfrm>
            <a:off x="314325" y="1735038"/>
            <a:ext cx="3200400" cy="475774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314325" y="1735038"/>
            <a:ext cx="0" cy="475774"/>
          </a:xfrm>
          <a:prstGeom prst="line">
            <a:avLst/>
          </a:prstGeom>
          <a:noFill/>
          <a:ln w="11430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4325" y="1735038"/>
            <a:ext cx="3584448" cy="475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67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进入</a:t>
            </a:r>
            <a:pPr algn="l" indent="0" marL="0">
              <a:lnSpc>
                <a:spcPct val="185000"/>
              </a:lnSpc>
              <a:buNone/>
            </a:pPr>
            <a:r>
              <a:rPr lang="en-US" sz="675" b="1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第二章</a:t>
            </a:r>
            <a:pPr algn="l" indent="0" marL="0">
              <a:lnSpc>
                <a:spcPct val="185000"/>
              </a:lnSpc>
              <a:buNone/>
            </a:pPr>
            <a:r>
              <a:rPr lang="en-US" sz="67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，我们从许可证争议、供应链安全、社区可持续性等角度，深入审视 2022 年 2 月开源生态背后的结构性变化。这些议题看似独立，实则共同指向一个问题——</a:t>
            </a:r>
            <a:pPr algn="l" indent="0" marL="0">
              <a:lnSpc>
                <a:spcPct val="185000"/>
              </a:lnSpc>
              <a:buNone/>
            </a:pPr>
            <a:r>
              <a:rPr lang="en-US" sz="675" b="1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开源如何在一个更加商业化的时代，保持其开放精神。 </a:t>
            </a:r>
            <a:endParaRPr lang="en-US" sz="675" dirty="0"/>
          </a:p>
        </p:txBody>
      </p:sp>
      <p:sp>
        <p:nvSpPr>
          <p:cNvPr id="17" name="Shape 15"/>
          <p:cNvSpPr/>
          <p:nvPr/>
        </p:nvSpPr>
        <p:spPr>
          <a:xfrm>
            <a:off x="577215" y="1757898"/>
            <a:ext cx="257175" cy="120015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577215" y="1877913"/>
            <a:ext cx="257175" cy="0"/>
          </a:xfrm>
          <a:prstGeom prst="line">
            <a:avLst/>
          </a:prstGeom>
          <a:noFill/>
          <a:ln w="5715">
            <a:solidFill>
              <a:srgbClr val="00BCD4">
                <a:alpha val="60000"/>
              </a:srgbClr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77215" y="1757898"/>
            <a:ext cx="342900" cy="120015"/>
          </a:xfrm>
          <a:prstGeom prst="rect">
            <a:avLst/>
          </a:prstGeom>
          <a:noFill/>
          <a:ln/>
        </p:spPr>
        <p:txBody>
          <a:bodyPr wrap="none" lIns="0" tIns="0" rIns="0" bIns="5715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675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第二章</a:t>
            </a:r>
            <a:endParaRPr lang="en-US" sz="675" dirty="0"/>
          </a:p>
        </p:txBody>
      </p:sp>
      <p:sp>
        <p:nvSpPr>
          <p:cNvPr id="20" name="Shape 18"/>
          <p:cNvSpPr/>
          <p:nvPr/>
        </p:nvSpPr>
        <p:spPr>
          <a:xfrm>
            <a:off x="748665" y="2075081"/>
            <a:ext cx="2057400" cy="120015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748665" y="2195096"/>
            <a:ext cx="2057400" cy="0"/>
          </a:xfrm>
          <a:prstGeom prst="line">
            <a:avLst/>
          </a:prstGeom>
          <a:noFill/>
          <a:ln w="5715">
            <a:solidFill>
              <a:srgbClr val="00BCD4">
                <a:alpha val="60000"/>
              </a:srgbClr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48665" y="2075081"/>
            <a:ext cx="2304288" cy="120015"/>
          </a:xfrm>
          <a:prstGeom prst="rect">
            <a:avLst/>
          </a:prstGeom>
          <a:noFill/>
          <a:ln/>
        </p:spPr>
        <p:txBody>
          <a:bodyPr wrap="none" lIns="0" tIns="0" rIns="0" bIns="5715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675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开源如何在一个更加商业化的时代，保持其开放精神。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314325" y="4800600"/>
            <a:ext cx="92171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§ 02 · L / S / C</a:t>
            </a:r>
            <a:endParaRPr lang="en-US" sz="495" dirty="0"/>
          </a:p>
        </p:txBody>
      </p:sp>
      <p:sp>
        <p:nvSpPr>
          <p:cNvPr id="24" name="Shape 22"/>
          <p:cNvSpPr/>
          <p:nvPr/>
        </p:nvSpPr>
        <p:spPr>
          <a:xfrm>
            <a:off x="1217295" y="4840605"/>
            <a:ext cx="1017270" cy="5715"/>
          </a:xfrm>
          <a:prstGeom prst="rect">
            <a:avLst/>
          </a:prstGeom>
          <a:gradFill rotWithShape="1">
            <a:gsLst>
              <a:gs pos="0">
                <a:srgbClr val="2196F3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5" name="Text 23"/>
          <p:cNvSpPr/>
          <p:nvPr/>
        </p:nvSpPr>
        <p:spPr>
          <a:xfrm>
            <a:off x="2314575" y="4800600"/>
            <a:ext cx="172821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LICENSE · SECURITY · COMMUNITY</a:t>
            </a:r>
            <a:endParaRPr lang="en-US" sz="495" dirty="0"/>
          </a:p>
        </p:txBody>
      </p:sp>
      <p:sp>
        <p:nvSpPr>
          <p:cNvPr id="26" name="Shape 24"/>
          <p:cNvSpPr/>
          <p:nvPr/>
        </p:nvSpPr>
        <p:spPr>
          <a:xfrm>
            <a:off x="4086225" y="285750"/>
            <a:ext cx="4743450" cy="668655"/>
          </a:xfrm>
          <a:prstGeom prst="roundRect">
            <a:avLst>
              <a:gd name="adj" fmla="val 6838"/>
            </a:avLst>
          </a:prstGeom>
          <a:gradFill rotWithShape="1">
            <a:gsLst>
              <a:gs pos="0">
                <a:srgbClr val="111C33"/>
              </a:gs>
              <a:gs pos="100000">
                <a:srgbClr val="0D1B34"/>
              </a:gs>
            </a:gsLst>
            <a:lin ang="2700000" scaled="0"/>
          </a:gradFill>
          <a:ln w="5715">
            <a:solidFill>
              <a:srgbClr val="1E32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86225" y="285750"/>
            <a:ext cx="17145" cy="65722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28" name="Shape 26"/>
          <p:cNvSpPr/>
          <p:nvPr/>
        </p:nvSpPr>
        <p:spPr>
          <a:xfrm>
            <a:off x="4206240" y="401479"/>
            <a:ext cx="320040" cy="320040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2196F3">
                  <a:alpha val="18000"/>
                </a:srgbClr>
              </a:gs>
              <a:gs pos="100000">
                <a:srgbClr val="00BCD4">
                  <a:alpha val="10000"/>
                </a:srgbClr>
              </a:gs>
            </a:gsLst>
            <a:lin ang="2700000" scaled="0"/>
          </a:gra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401479"/>
            <a:ext cx="422910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810" dirty="0"/>
          </a:p>
        </p:txBody>
      </p:sp>
      <p:sp>
        <p:nvSpPr>
          <p:cNvPr id="30" name="Text 28"/>
          <p:cNvSpPr/>
          <p:nvPr/>
        </p:nvSpPr>
        <p:spPr>
          <a:xfrm>
            <a:off x="4629150" y="423267"/>
            <a:ext cx="3430829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45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BSL 许可证争议</a:t>
            </a:r>
            <a:endParaRPr lang="en-US" sz="765" dirty="0"/>
          </a:p>
        </p:txBody>
      </p:sp>
      <p:sp>
        <p:nvSpPr>
          <p:cNvPr id="31" name="Text 29"/>
          <p:cNvSpPr/>
          <p:nvPr/>
        </p:nvSpPr>
        <p:spPr>
          <a:xfrm>
            <a:off x="4629150" y="589002"/>
            <a:ext cx="3430829" cy="1107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 与 Elastic 先后采用 BSL 商业源码许可，引发对"开源"定义的重新讨论。</a:t>
            </a:r>
            <a:endParaRPr lang="en-US" sz="563" dirty="0"/>
          </a:p>
        </p:txBody>
      </p:sp>
      <p:sp>
        <p:nvSpPr>
          <p:cNvPr id="32" name="Text 30"/>
          <p:cNvSpPr/>
          <p:nvPr/>
        </p:nvSpPr>
        <p:spPr>
          <a:xfrm>
            <a:off x="8423910" y="441484"/>
            <a:ext cx="36004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 项目</a:t>
            </a:r>
            <a:endParaRPr lang="en-US" sz="585" dirty="0"/>
          </a:p>
        </p:txBody>
      </p:sp>
      <p:sp>
        <p:nvSpPr>
          <p:cNvPr id="33" name="Shape 31"/>
          <p:cNvSpPr/>
          <p:nvPr/>
        </p:nvSpPr>
        <p:spPr>
          <a:xfrm>
            <a:off x="8315325" y="572929"/>
            <a:ext cx="394335" cy="108585"/>
          </a:xfrm>
          <a:prstGeom prst="roundRect">
            <a:avLst>
              <a:gd name="adj" fmla="val 15789"/>
            </a:avLst>
          </a:prstGeom>
          <a:noFill/>
          <a:ln w="5715">
            <a:solidFill>
              <a:srgbClr val="1E32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15325" y="572929"/>
            <a:ext cx="454343" cy="10858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LICENSE</a:t>
            </a:r>
            <a:endParaRPr lang="en-US" sz="473" dirty="0"/>
          </a:p>
        </p:txBody>
      </p:sp>
      <p:sp>
        <p:nvSpPr>
          <p:cNvPr id="35" name="Shape 33"/>
          <p:cNvSpPr/>
          <p:nvPr/>
        </p:nvSpPr>
        <p:spPr>
          <a:xfrm>
            <a:off x="4206240" y="804386"/>
            <a:ext cx="4503420" cy="45720"/>
          </a:xfrm>
          <a:prstGeom prst="roundRect">
            <a:avLst>
              <a:gd name="adj" fmla="val 50000"/>
            </a:avLst>
          </a:prstGeom>
          <a:solidFill>
            <a:srgbClr val="2196F3">
              <a:alpha val="10000"/>
            </a:srgbClr>
          </a:soli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06240" y="804386"/>
            <a:ext cx="3503741" cy="34290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95250" dist="50800" dir="16200000">
              <a:srgbClr val="2196F3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086225" y="1022985"/>
            <a:ext cx="4743450" cy="668655"/>
          </a:xfrm>
          <a:prstGeom prst="roundRect">
            <a:avLst>
              <a:gd name="adj" fmla="val 6838"/>
            </a:avLst>
          </a:prstGeom>
          <a:gradFill rotWithShape="1">
            <a:gsLst>
              <a:gs pos="0">
                <a:srgbClr val="111C33"/>
              </a:gs>
              <a:gs pos="100000">
                <a:srgbClr val="0D1B34"/>
              </a:gs>
            </a:gsLst>
            <a:lin ang="2700000" scaled="0"/>
          </a:gradFill>
          <a:ln w="5715">
            <a:solidFill>
              <a:srgbClr val="1E32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86225" y="1022985"/>
            <a:ext cx="17145" cy="65722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39" name="Shape 37"/>
          <p:cNvSpPr/>
          <p:nvPr/>
        </p:nvSpPr>
        <p:spPr>
          <a:xfrm>
            <a:off x="4206240" y="1138714"/>
            <a:ext cx="320040" cy="320040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2196F3">
                  <a:alpha val="18000"/>
                </a:srgbClr>
              </a:gs>
              <a:gs pos="100000">
                <a:srgbClr val="00BCD4">
                  <a:alpha val="10000"/>
                </a:srgbClr>
              </a:gs>
            </a:gsLst>
            <a:lin ang="2700000" scaled="0"/>
          </a:gra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0" y="1138714"/>
            <a:ext cx="422910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810" dirty="0"/>
          </a:p>
        </p:txBody>
      </p:sp>
      <p:sp>
        <p:nvSpPr>
          <p:cNvPr id="41" name="Text 39"/>
          <p:cNvSpPr/>
          <p:nvPr/>
        </p:nvSpPr>
        <p:spPr>
          <a:xfrm>
            <a:off x="4629150" y="1160502"/>
            <a:ext cx="3430829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45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供应链安全</a:t>
            </a:r>
            <a:endParaRPr lang="en-US" sz="765" dirty="0"/>
          </a:p>
        </p:txBody>
      </p:sp>
      <p:sp>
        <p:nvSpPr>
          <p:cNvPr id="42" name="Text 40"/>
          <p:cNvSpPr/>
          <p:nvPr/>
        </p:nvSpPr>
        <p:spPr>
          <a:xfrm>
            <a:off x="4629150" y="1326237"/>
            <a:ext cx="3430829" cy="1107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npm 事件余波、GHSA 漏洞库持续扩容，OpenSSF 推动其成为行业第一议题。</a:t>
            </a:r>
            <a:endParaRPr lang="en-US" sz="563" dirty="0"/>
          </a:p>
        </p:txBody>
      </p:sp>
      <p:sp>
        <p:nvSpPr>
          <p:cNvPr id="43" name="Text 41"/>
          <p:cNvSpPr/>
          <p:nvPr/>
        </p:nvSpPr>
        <p:spPr>
          <a:xfrm>
            <a:off x="8423910" y="1181576"/>
            <a:ext cx="36004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4000+</a:t>
            </a:r>
            <a:endParaRPr lang="en-US" sz="585" dirty="0"/>
          </a:p>
        </p:txBody>
      </p:sp>
      <p:sp>
        <p:nvSpPr>
          <p:cNvPr id="44" name="Shape 42"/>
          <p:cNvSpPr/>
          <p:nvPr/>
        </p:nvSpPr>
        <p:spPr>
          <a:xfrm>
            <a:off x="8258175" y="1307306"/>
            <a:ext cx="451485" cy="108585"/>
          </a:xfrm>
          <a:prstGeom prst="roundRect">
            <a:avLst>
              <a:gd name="adj" fmla="val 15789"/>
            </a:avLst>
          </a:prstGeom>
          <a:noFill/>
          <a:ln w="5715">
            <a:solidFill>
              <a:srgbClr val="1E32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58175" y="1307306"/>
            <a:ext cx="511493" cy="10858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</a:t>
            </a:r>
            <a:endParaRPr lang="en-US" sz="473" dirty="0"/>
          </a:p>
        </p:txBody>
      </p:sp>
      <p:sp>
        <p:nvSpPr>
          <p:cNvPr id="46" name="Shape 44"/>
          <p:cNvSpPr/>
          <p:nvPr/>
        </p:nvSpPr>
        <p:spPr>
          <a:xfrm>
            <a:off x="4206240" y="1541621"/>
            <a:ext cx="4503420" cy="45720"/>
          </a:xfrm>
          <a:prstGeom prst="roundRect">
            <a:avLst>
              <a:gd name="adj" fmla="val 50000"/>
            </a:avLst>
          </a:prstGeom>
          <a:solidFill>
            <a:srgbClr val="2196F3">
              <a:alpha val="10000"/>
            </a:srgbClr>
          </a:soli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06240" y="1541621"/>
            <a:ext cx="3952905" cy="34290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95250" dist="50800" dir="16200000">
              <a:srgbClr val="2196F3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086225" y="1760220"/>
            <a:ext cx="4743450" cy="668655"/>
          </a:xfrm>
          <a:prstGeom prst="roundRect">
            <a:avLst>
              <a:gd name="adj" fmla="val 6838"/>
            </a:avLst>
          </a:prstGeom>
          <a:gradFill rotWithShape="1">
            <a:gsLst>
              <a:gs pos="0">
                <a:srgbClr val="111C33"/>
              </a:gs>
              <a:gs pos="100000">
                <a:srgbClr val="0D1B34"/>
              </a:gs>
            </a:gsLst>
            <a:lin ang="2700000" scaled="0"/>
          </a:gradFill>
          <a:ln w="5715">
            <a:solidFill>
              <a:srgbClr val="1E32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086225" y="1760220"/>
            <a:ext cx="17145" cy="65722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50" name="Shape 48"/>
          <p:cNvSpPr/>
          <p:nvPr/>
        </p:nvSpPr>
        <p:spPr>
          <a:xfrm>
            <a:off x="4206240" y="1875949"/>
            <a:ext cx="320040" cy="320040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2196F3">
                  <a:alpha val="18000"/>
                </a:srgbClr>
              </a:gs>
              <a:gs pos="100000">
                <a:srgbClr val="00BCD4">
                  <a:alpha val="10000"/>
                </a:srgbClr>
              </a:gs>
            </a:gsLst>
            <a:lin ang="2700000" scaled="0"/>
          </a:gra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06240" y="1875949"/>
            <a:ext cx="422910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810" dirty="0"/>
          </a:p>
        </p:txBody>
      </p:sp>
      <p:sp>
        <p:nvSpPr>
          <p:cNvPr id="52" name="Text 50"/>
          <p:cNvSpPr/>
          <p:nvPr/>
        </p:nvSpPr>
        <p:spPr>
          <a:xfrm>
            <a:off x="4629150" y="1897737"/>
            <a:ext cx="3430829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45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开源可持续</a:t>
            </a:r>
            <a:endParaRPr lang="en-US" sz="765" dirty="0"/>
          </a:p>
        </p:txBody>
      </p:sp>
      <p:sp>
        <p:nvSpPr>
          <p:cNvPr id="53" name="Text 51"/>
          <p:cNvSpPr/>
          <p:nvPr/>
        </p:nvSpPr>
        <p:spPr>
          <a:xfrm>
            <a:off x="4629150" y="2063472"/>
            <a:ext cx="3430829" cy="1107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个人维护者倦怠、基金会托举、赞助模式与企业反哺，共同支撑社区长久运转。</a:t>
            </a:r>
            <a:endParaRPr lang="en-US" sz="563" dirty="0"/>
          </a:p>
        </p:txBody>
      </p:sp>
      <p:sp>
        <p:nvSpPr>
          <p:cNvPr id="54" name="Text 52"/>
          <p:cNvSpPr/>
          <p:nvPr/>
        </p:nvSpPr>
        <p:spPr>
          <a:xfrm>
            <a:off x="8309610" y="1918811"/>
            <a:ext cx="47434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SUSTAIN</a:t>
            </a:r>
            <a:endParaRPr lang="en-US" sz="585" dirty="0"/>
          </a:p>
        </p:txBody>
      </p:sp>
      <p:sp>
        <p:nvSpPr>
          <p:cNvPr id="55" name="Shape 53"/>
          <p:cNvSpPr/>
          <p:nvPr/>
        </p:nvSpPr>
        <p:spPr>
          <a:xfrm>
            <a:off x="8172450" y="2044541"/>
            <a:ext cx="537210" cy="108585"/>
          </a:xfrm>
          <a:prstGeom prst="roundRect">
            <a:avLst>
              <a:gd name="adj" fmla="val 15789"/>
            </a:avLst>
          </a:prstGeom>
          <a:noFill/>
          <a:ln w="5715">
            <a:solidFill>
              <a:srgbClr val="1E32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72450" y="2044541"/>
            <a:ext cx="601675" cy="10858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</a:t>
            </a:r>
            <a:endParaRPr lang="en-US" sz="473" dirty="0"/>
          </a:p>
        </p:txBody>
      </p:sp>
      <p:sp>
        <p:nvSpPr>
          <p:cNvPr id="57" name="Shape 55"/>
          <p:cNvSpPr/>
          <p:nvPr/>
        </p:nvSpPr>
        <p:spPr>
          <a:xfrm>
            <a:off x="4206240" y="2278856"/>
            <a:ext cx="4503420" cy="45720"/>
          </a:xfrm>
          <a:prstGeom prst="roundRect">
            <a:avLst>
              <a:gd name="adj" fmla="val 50000"/>
            </a:avLst>
          </a:prstGeom>
          <a:solidFill>
            <a:srgbClr val="2196F3">
              <a:alpha val="10000"/>
            </a:srgbClr>
          </a:soli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06240" y="2278856"/>
            <a:ext cx="2919742" cy="34290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95250" dist="50800" dir="16200000">
              <a:srgbClr val="2196F3">
                <a:alpha val="3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086225" y="2497455"/>
            <a:ext cx="4743450" cy="668655"/>
          </a:xfrm>
          <a:prstGeom prst="roundRect">
            <a:avLst>
              <a:gd name="adj" fmla="val 6838"/>
            </a:avLst>
          </a:prstGeom>
          <a:gradFill rotWithShape="1">
            <a:gsLst>
              <a:gs pos="0">
                <a:srgbClr val="111C33"/>
              </a:gs>
              <a:gs pos="100000">
                <a:srgbClr val="0D1B34"/>
              </a:gs>
            </a:gsLst>
            <a:lin ang="2700000" scaled="0"/>
          </a:gradFill>
          <a:ln w="5715">
            <a:solidFill>
              <a:srgbClr val="1E325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86225" y="2497455"/>
            <a:ext cx="17145" cy="65722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61" name="Shape 59"/>
          <p:cNvSpPr/>
          <p:nvPr/>
        </p:nvSpPr>
        <p:spPr>
          <a:xfrm>
            <a:off x="4206240" y="2613184"/>
            <a:ext cx="320040" cy="320040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2196F3">
                  <a:alpha val="18000"/>
                </a:srgbClr>
              </a:gs>
              <a:gs pos="100000">
                <a:srgbClr val="00BCD4">
                  <a:alpha val="10000"/>
                </a:srgbClr>
              </a:gs>
            </a:gsLst>
            <a:lin ang="2700000" scaled="0"/>
          </a:gra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06240" y="2613184"/>
            <a:ext cx="422910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</a:t>
            </a:r>
            <a:endParaRPr lang="en-US" sz="810" dirty="0"/>
          </a:p>
        </p:txBody>
      </p:sp>
      <p:sp>
        <p:nvSpPr>
          <p:cNvPr id="63" name="Text 61"/>
          <p:cNvSpPr/>
          <p:nvPr/>
        </p:nvSpPr>
        <p:spPr>
          <a:xfrm>
            <a:off x="4629150" y="2634972"/>
            <a:ext cx="3430829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45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中国开源崛起</a:t>
            </a:r>
            <a:endParaRPr lang="en-US" sz="765" dirty="0"/>
          </a:p>
        </p:txBody>
      </p:sp>
      <p:sp>
        <p:nvSpPr>
          <p:cNvPr id="64" name="Text 62"/>
          <p:cNvSpPr/>
          <p:nvPr/>
        </p:nvSpPr>
        <p:spPr>
          <a:xfrm>
            <a:off x="4629150" y="2800707"/>
            <a:ext cx="3430829" cy="1107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CNCF 年度调查揭示中国贡献者占比持续攀升，国产开源项目活跃度显著提高。</a:t>
            </a:r>
            <a:endParaRPr lang="en-US" sz="563" dirty="0"/>
          </a:p>
        </p:txBody>
      </p:sp>
      <p:sp>
        <p:nvSpPr>
          <p:cNvPr id="65" name="Text 63"/>
          <p:cNvSpPr/>
          <p:nvPr/>
        </p:nvSpPr>
        <p:spPr>
          <a:xfrm>
            <a:off x="8482132" y="2656046"/>
            <a:ext cx="301823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↑ CN</a:t>
            </a:r>
            <a:endParaRPr lang="en-US" sz="585" dirty="0"/>
          </a:p>
        </p:txBody>
      </p:sp>
      <p:sp>
        <p:nvSpPr>
          <p:cNvPr id="66" name="Shape 64"/>
          <p:cNvSpPr/>
          <p:nvPr/>
        </p:nvSpPr>
        <p:spPr>
          <a:xfrm>
            <a:off x="8178165" y="2781776"/>
            <a:ext cx="531495" cy="108585"/>
          </a:xfrm>
          <a:prstGeom prst="roundRect">
            <a:avLst>
              <a:gd name="adj" fmla="val 15789"/>
            </a:avLst>
          </a:prstGeom>
          <a:noFill/>
          <a:ln w="5715">
            <a:solidFill>
              <a:srgbClr val="1E325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178165" y="2781776"/>
            <a:ext cx="595274" cy="10858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CNCF · 2022</a:t>
            </a:r>
            <a:endParaRPr lang="en-US" sz="473" dirty="0"/>
          </a:p>
        </p:txBody>
      </p:sp>
      <p:sp>
        <p:nvSpPr>
          <p:cNvPr id="68" name="Shape 66"/>
          <p:cNvSpPr/>
          <p:nvPr/>
        </p:nvSpPr>
        <p:spPr>
          <a:xfrm>
            <a:off x="4206240" y="3016091"/>
            <a:ext cx="4503420" cy="45720"/>
          </a:xfrm>
          <a:prstGeom prst="roundRect">
            <a:avLst>
              <a:gd name="adj" fmla="val 50000"/>
            </a:avLst>
          </a:prstGeom>
          <a:solidFill>
            <a:srgbClr val="2196F3">
              <a:alpha val="10000"/>
            </a:srgbClr>
          </a:soli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206240" y="3016091"/>
            <a:ext cx="3683409" cy="34290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95250" dist="50800" dir="16200000">
              <a:srgbClr val="2196F3">
                <a:alpha val="3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086225" y="3234690"/>
            <a:ext cx="4743450" cy="668655"/>
          </a:xfrm>
          <a:prstGeom prst="roundRect">
            <a:avLst>
              <a:gd name="adj" fmla="val 6838"/>
            </a:avLst>
          </a:prstGeom>
          <a:gradFill rotWithShape="1">
            <a:gsLst>
              <a:gs pos="0">
                <a:srgbClr val="111C33"/>
              </a:gs>
              <a:gs pos="100000">
                <a:srgbClr val="0D1B34"/>
              </a:gs>
            </a:gsLst>
            <a:lin ang="2700000" scaled="0"/>
          </a:gradFill>
          <a:ln w="5715">
            <a:solidFill>
              <a:srgbClr val="1E325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086225" y="3234690"/>
            <a:ext cx="17145" cy="65722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72" name="Shape 70"/>
          <p:cNvSpPr/>
          <p:nvPr/>
        </p:nvSpPr>
        <p:spPr>
          <a:xfrm>
            <a:off x="4206240" y="3367207"/>
            <a:ext cx="320040" cy="320040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2196F3">
                  <a:alpha val="18000"/>
                </a:srgbClr>
              </a:gs>
              <a:gs pos="100000">
                <a:srgbClr val="00BCD4">
                  <a:alpha val="10000"/>
                </a:srgbClr>
              </a:gs>
            </a:gsLst>
            <a:lin ang="2700000" scaled="0"/>
          </a:gra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06240" y="3367207"/>
            <a:ext cx="422910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05</a:t>
            </a:r>
            <a:endParaRPr lang="en-US" sz="810" dirty="0"/>
          </a:p>
        </p:txBody>
      </p:sp>
      <p:sp>
        <p:nvSpPr>
          <p:cNvPr id="74" name="Text 72"/>
          <p:cNvSpPr/>
          <p:nvPr/>
        </p:nvSpPr>
        <p:spPr>
          <a:xfrm>
            <a:off x="4629150" y="3333631"/>
            <a:ext cx="3430829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45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阅读书单</a:t>
            </a:r>
            <a:endParaRPr lang="en-US" sz="765" dirty="0"/>
          </a:p>
        </p:txBody>
      </p:sp>
      <p:sp>
        <p:nvSpPr>
          <p:cNvPr id="75" name="Text 73"/>
          <p:cNvSpPr/>
          <p:nvPr/>
        </p:nvSpPr>
        <p:spPr>
          <a:xfrm>
            <a:off x="4629150" y="3499366"/>
            <a:ext cx="3430829" cy="22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本月精选：《Rust 程序设计语言》《Open Source in Practice》——理论、工程、社区三重视角。</a:t>
            </a:r>
            <a:endParaRPr lang="en-US" sz="563" dirty="0"/>
          </a:p>
        </p:txBody>
      </p:sp>
      <p:sp>
        <p:nvSpPr>
          <p:cNvPr id="76" name="Text 74"/>
          <p:cNvSpPr/>
          <p:nvPr/>
        </p:nvSpPr>
        <p:spPr>
          <a:xfrm>
            <a:off x="8509635" y="3407212"/>
            <a:ext cx="27432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 本</a:t>
            </a:r>
            <a:endParaRPr lang="en-US" sz="585" dirty="0"/>
          </a:p>
        </p:txBody>
      </p:sp>
      <p:sp>
        <p:nvSpPr>
          <p:cNvPr id="77" name="Shape 75"/>
          <p:cNvSpPr/>
          <p:nvPr/>
        </p:nvSpPr>
        <p:spPr>
          <a:xfrm>
            <a:off x="8298180" y="3538657"/>
            <a:ext cx="411480" cy="108585"/>
          </a:xfrm>
          <a:prstGeom prst="roundRect">
            <a:avLst>
              <a:gd name="adj" fmla="val 15789"/>
            </a:avLst>
          </a:prstGeom>
          <a:noFill/>
          <a:ln w="5715">
            <a:solidFill>
              <a:srgbClr val="1E325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298180" y="3538657"/>
            <a:ext cx="471488" cy="10858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</a:t>
            </a:r>
            <a:endParaRPr lang="en-US" sz="473" dirty="0"/>
          </a:p>
        </p:txBody>
      </p:sp>
      <p:sp>
        <p:nvSpPr>
          <p:cNvPr id="79" name="Shape 77"/>
          <p:cNvSpPr/>
          <p:nvPr/>
        </p:nvSpPr>
        <p:spPr>
          <a:xfrm>
            <a:off x="4206240" y="3770114"/>
            <a:ext cx="4503420" cy="45720"/>
          </a:xfrm>
          <a:prstGeom prst="roundRect">
            <a:avLst>
              <a:gd name="adj" fmla="val 50000"/>
            </a:avLst>
          </a:prstGeom>
          <a:solidFill>
            <a:srgbClr val="2196F3">
              <a:alpha val="10000"/>
            </a:srgbClr>
          </a:soli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206240" y="3770114"/>
            <a:ext cx="2335829" cy="34290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95250" dist="50800" dir="16200000">
              <a:srgbClr val="2196F3">
                <a:alpha val="35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4086225" y="4029075"/>
            <a:ext cx="1527780" cy="857250"/>
          </a:xfrm>
          <a:prstGeom prst="roundRect">
            <a:avLst>
              <a:gd name="adj" fmla="val 5333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4000"/>
                </a:srgbClr>
              </a:gs>
            </a:gsLst>
            <a:lin ang="2700000" scaled="0"/>
          </a:gradFill>
          <a:ln w="5715">
            <a:solidFill>
              <a:srgbClr val="1E325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316825" y="3857625"/>
            <a:ext cx="457200" cy="457200"/>
          </a:xfrm>
          <a:prstGeom prst="ellipse">
            <a:avLst/>
          </a:prstGeom>
          <a:gradFill rotWithShape="1">
            <a:gsLst>
              <a:gs pos="0">
                <a:srgbClr val="2196F3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83" name="Text 81"/>
          <p:cNvSpPr/>
          <p:nvPr/>
        </p:nvSpPr>
        <p:spPr>
          <a:xfrm>
            <a:off x="4194810" y="4187845"/>
            <a:ext cx="1493490" cy="2010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40" b="1" spc="45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</a:t>
            </a:r>
            <a:pPr algn="l" indent="0" marL="0">
              <a:lnSpc>
                <a:spcPct val="110000"/>
              </a:lnSpc>
              <a:buNone/>
            </a:pPr>
            <a:r>
              <a:rPr lang="en-US" sz="720" b="1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个</a:t>
            </a:r>
            <a:endParaRPr lang="en-US" sz="1440" dirty="0"/>
          </a:p>
        </p:txBody>
      </p:sp>
      <p:sp>
        <p:nvSpPr>
          <p:cNvPr id="84" name="Text 82"/>
          <p:cNvSpPr/>
          <p:nvPr/>
        </p:nvSpPr>
        <p:spPr>
          <a:xfrm>
            <a:off x="4194810" y="4423231"/>
            <a:ext cx="1467883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63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采用 BSL 的项目</a:t>
            </a:r>
            <a:endParaRPr lang="en-US" sz="563" dirty="0"/>
          </a:p>
        </p:txBody>
      </p:sp>
      <p:sp>
        <p:nvSpPr>
          <p:cNvPr id="85" name="Text 83"/>
          <p:cNvSpPr/>
          <p:nvPr/>
        </p:nvSpPr>
        <p:spPr>
          <a:xfrm>
            <a:off x="4194810" y="4548961"/>
            <a:ext cx="1467883" cy="985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 · Elasticsearch</a:t>
            </a:r>
            <a:endParaRPr lang="en-US" sz="518" dirty="0"/>
          </a:p>
        </p:txBody>
      </p:sp>
      <p:sp>
        <p:nvSpPr>
          <p:cNvPr id="86" name="Shape 84"/>
          <p:cNvSpPr/>
          <p:nvPr/>
        </p:nvSpPr>
        <p:spPr>
          <a:xfrm>
            <a:off x="4194810" y="4704695"/>
            <a:ext cx="1310610" cy="22860"/>
          </a:xfrm>
          <a:prstGeom prst="roundRect">
            <a:avLst>
              <a:gd name="adj" fmla="val 50000"/>
            </a:avLst>
          </a:prstGeom>
          <a:solidFill>
            <a:srgbClr val="2196F3">
              <a:alpha val="12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4194810" y="4704695"/>
            <a:ext cx="786350" cy="228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88" name="Shape 86"/>
          <p:cNvSpPr/>
          <p:nvPr/>
        </p:nvSpPr>
        <p:spPr>
          <a:xfrm>
            <a:off x="5694015" y="4029075"/>
            <a:ext cx="1527780" cy="857250"/>
          </a:xfrm>
          <a:prstGeom prst="roundRect">
            <a:avLst>
              <a:gd name="adj" fmla="val 5333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4000"/>
                </a:srgbClr>
              </a:gs>
            </a:gsLst>
            <a:lin ang="2700000" scaled="0"/>
          </a:gradFill>
          <a:ln w="5715">
            <a:solidFill>
              <a:srgbClr val="1E325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924615" y="3857625"/>
            <a:ext cx="457200" cy="457200"/>
          </a:xfrm>
          <a:prstGeom prst="ellipse">
            <a:avLst/>
          </a:prstGeom>
          <a:gradFill rotWithShape="1">
            <a:gsLst>
              <a:gs pos="0">
                <a:srgbClr val="2196F3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90" name="Text 88"/>
          <p:cNvSpPr/>
          <p:nvPr/>
        </p:nvSpPr>
        <p:spPr>
          <a:xfrm>
            <a:off x="5802600" y="4187845"/>
            <a:ext cx="1493490" cy="2010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40" b="1" spc="45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4000</a:t>
            </a:r>
            <a:pPr algn="l" indent="0" marL="0">
              <a:lnSpc>
                <a:spcPct val="110000"/>
              </a:lnSpc>
              <a:buNone/>
            </a:pPr>
            <a:r>
              <a:rPr lang="en-US" sz="720" b="1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+</a:t>
            </a:r>
            <a:endParaRPr lang="en-US" sz="1440" dirty="0"/>
          </a:p>
        </p:txBody>
      </p:sp>
      <p:sp>
        <p:nvSpPr>
          <p:cNvPr id="91" name="Text 89"/>
          <p:cNvSpPr/>
          <p:nvPr/>
        </p:nvSpPr>
        <p:spPr>
          <a:xfrm>
            <a:off x="5802600" y="4423231"/>
            <a:ext cx="1467883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63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GHSA 已收录漏洞</a:t>
            </a:r>
            <a:endParaRPr lang="en-US" sz="563" dirty="0"/>
          </a:p>
        </p:txBody>
      </p:sp>
      <p:sp>
        <p:nvSpPr>
          <p:cNvPr id="92" name="Text 90"/>
          <p:cNvSpPr/>
          <p:nvPr/>
        </p:nvSpPr>
        <p:spPr>
          <a:xfrm>
            <a:off x="5802600" y="4548961"/>
            <a:ext cx="1467883" cy="985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安全公告库累计数量</a:t>
            </a:r>
            <a:endParaRPr lang="en-US" sz="518" dirty="0"/>
          </a:p>
        </p:txBody>
      </p:sp>
      <p:sp>
        <p:nvSpPr>
          <p:cNvPr id="93" name="Shape 91"/>
          <p:cNvSpPr/>
          <p:nvPr/>
        </p:nvSpPr>
        <p:spPr>
          <a:xfrm>
            <a:off x="5802600" y="4704695"/>
            <a:ext cx="1310610" cy="22860"/>
          </a:xfrm>
          <a:prstGeom prst="roundRect">
            <a:avLst>
              <a:gd name="adj" fmla="val 50000"/>
            </a:avLst>
          </a:prstGeom>
          <a:solidFill>
            <a:srgbClr val="2196F3">
              <a:alpha val="12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5802600" y="4704695"/>
            <a:ext cx="1205688" cy="228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95" name="Shape 93"/>
          <p:cNvSpPr/>
          <p:nvPr/>
        </p:nvSpPr>
        <p:spPr>
          <a:xfrm>
            <a:off x="7301805" y="4029075"/>
            <a:ext cx="1527870" cy="857250"/>
          </a:xfrm>
          <a:prstGeom prst="roundRect">
            <a:avLst>
              <a:gd name="adj" fmla="val 5333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4000"/>
                </a:srgbClr>
              </a:gs>
            </a:gsLst>
            <a:lin ang="2700000" scaled="0"/>
          </a:gradFill>
          <a:ln w="5715">
            <a:solidFill>
              <a:srgbClr val="1E325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532496" y="3857625"/>
            <a:ext cx="457200" cy="457200"/>
          </a:xfrm>
          <a:prstGeom prst="ellipse">
            <a:avLst/>
          </a:prstGeom>
          <a:gradFill rotWithShape="1">
            <a:gsLst>
              <a:gs pos="0">
                <a:srgbClr val="2196F3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97" name="Text 95"/>
          <p:cNvSpPr/>
          <p:nvPr/>
        </p:nvSpPr>
        <p:spPr>
          <a:xfrm>
            <a:off x="7410390" y="4187845"/>
            <a:ext cx="1493580" cy="2010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40" b="1" spc="45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200</a:t>
            </a:r>
            <a:pPr algn="l" indent="0" marL="0">
              <a:lnSpc>
                <a:spcPct val="110000"/>
              </a:lnSpc>
              <a:buNone/>
            </a:pPr>
            <a:r>
              <a:rPr lang="en-US" sz="720" b="1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+</a:t>
            </a:r>
            <a:endParaRPr lang="en-US" sz="1440" dirty="0"/>
          </a:p>
        </p:txBody>
      </p:sp>
      <p:sp>
        <p:nvSpPr>
          <p:cNvPr id="98" name="Text 96"/>
          <p:cNvSpPr/>
          <p:nvPr/>
        </p:nvSpPr>
        <p:spPr>
          <a:xfrm>
            <a:off x="7410390" y="4423231"/>
            <a:ext cx="1467983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63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OpenSSF 成员</a:t>
            </a:r>
            <a:endParaRPr lang="en-US" sz="563" dirty="0"/>
          </a:p>
        </p:txBody>
      </p:sp>
      <p:sp>
        <p:nvSpPr>
          <p:cNvPr id="99" name="Text 97"/>
          <p:cNvSpPr/>
          <p:nvPr/>
        </p:nvSpPr>
        <p:spPr>
          <a:xfrm>
            <a:off x="7410390" y="4548961"/>
            <a:ext cx="1467983" cy="985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供应链安全联盟企业成员数</a:t>
            </a:r>
            <a:endParaRPr lang="en-US" sz="518" dirty="0"/>
          </a:p>
        </p:txBody>
      </p:sp>
      <p:sp>
        <p:nvSpPr>
          <p:cNvPr id="100" name="Shape 98"/>
          <p:cNvSpPr/>
          <p:nvPr/>
        </p:nvSpPr>
        <p:spPr>
          <a:xfrm>
            <a:off x="7410390" y="4704695"/>
            <a:ext cx="1310700" cy="22860"/>
          </a:xfrm>
          <a:prstGeom prst="roundRect">
            <a:avLst>
              <a:gd name="adj" fmla="val 50000"/>
            </a:avLst>
          </a:prstGeom>
          <a:solidFill>
            <a:srgbClr val="2196F3">
              <a:alpha val="12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7410390" y="4704695"/>
            <a:ext cx="982980" cy="228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A1628"/>
              </a:gs>
              <a:gs pos="50000">
                <a:srgbClr val="0D1F35"/>
              </a:gs>
              <a:gs pos="100000">
                <a:srgbClr val="081428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2743200" y="-2057400"/>
            <a:ext cx="9144000" cy="5143500"/>
          </a:xfrm>
          <a:prstGeom prst="ellipse">
            <a:avLst/>
          </a:prstGeom>
          <a:gradFill rotWithShape="1">
            <a:gsLst>
              <a:gs pos="0">
                <a:srgbClr val="2196F3">
                  <a:alpha val="96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3657600" y="2314575"/>
            <a:ext cx="8229600" cy="4629150"/>
          </a:xfrm>
          <a:prstGeom prst="ellipse">
            <a:avLst/>
          </a:prstGeom>
          <a:gradFill rotWithShape="1">
            <a:gsLst>
              <a:gs pos="0">
                <a:srgbClr val="00BCD4">
                  <a:alpha val="64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274320" y="205740"/>
            <a:ext cx="137160" cy="1143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Text 4"/>
          <p:cNvSpPr/>
          <p:nvPr/>
        </p:nvSpPr>
        <p:spPr>
          <a:xfrm>
            <a:off x="468630" y="205740"/>
            <a:ext cx="1312164" cy="1096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PAGE 07 / 开源许可证专题</a:t>
            </a:r>
            <a:endParaRPr lang="en-US" sz="540" dirty="0"/>
          </a:p>
        </p:txBody>
      </p:sp>
      <p:sp>
        <p:nvSpPr>
          <p:cNvPr id="7" name="Text 5"/>
          <p:cNvSpPr/>
          <p:nvPr/>
        </p:nvSpPr>
        <p:spPr>
          <a:xfrm>
            <a:off x="274320" y="361117"/>
            <a:ext cx="9127541" cy="238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10" b="1" spc="45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BSL与</a:t>
            </a:r>
            <a:pPr algn="l" indent="0" marL="0">
              <a:lnSpc>
                <a:spcPct val="110000"/>
              </a:lnSpc>
              <a:buNone/>
            </a:pPr>
            <a:r>
              <a:rPr lang="en-US" sz="1710" b="1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开源定义</a:t>
            </a:r>
            <a:endParaRPr lang="en-US" sz="1710" dirty="0"/>
          </a:p>
        </p:txBody>
      </p:sp>
      <p:sp>
        <p:nvSpPr>
          <p:cNvPr id="8" name="Shape 6"/>
          <p:cNvSpPr/>
          <p:nvPr/>
        </p:nvSpPr>
        <p:spPr>
          <a:xfrm>
            <a:off x="274320" y="668566"/>
            <a:ext cx="6858000" cy="130016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274320" y="668566"/>
            <a:ext cx="0" cy="130016"/>
          </a:xfrm>
          <a:prstGeom prst="line">
            <a:avLst/>
          </a:prstGeom>
          <a:noFill/>
          <a:ln w="17145">
            <a:solidFill>
              <a:srgbClr val="2196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668566"/>
            <a:ext cx="7680960" cy="130016"/>
          </a:xfrm>
          <a:prstGeom prst="rect">
            <a:avLst/>
          </a:prstGeom>
          <a:noFill/>
          <a:ln/>
        </p:spPr>
        <p:txBody>
          <a:bodyPr wrap="none" lIns="0" tIns="80010" rIns="0" bIns="0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BSL许可证的流行是2022年开源领域最具争议的结构性变化之一。它试图在商业可持续与开放共享之间寻找平衡，但社区对其是否仍算"开源"的意见严重分化，短期内难以达成共识。</a:t>
            </a:r>
            <a:endParaRPr lang="en-US" sz="585" dirty="0"/>
          </a:p>
        </p:txBody>
      </p:sp>
      <p:sp>
        <p:nvSpPr>
          <p:cNvPr id="11" name="Text 9"/>
          <p:cNvSpPr/>
          <p:nvPr/>
        </p:nvSpPr>
        <p:spPr>
          <a:xfrm>
            <a:off x="8538210" y="205740"/>
            <a:ext cx="658368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2196F3">
                    <a:alpha val="15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07</a:t>
            </a:r>
            <a:endParaRPr lang="en-US" sz="2160" dirty="0"/>
          </a:p>
        </p:txBody>
      </p:sp>
      <p:sp>
        <p:nvSpPr>
          <p:cNvPr id="12" name="Shape 10"/>
          <p:cNvSpPr/>
          <p:nvPr/>
        </p:nvSpPr>
        <p:spPr>
          <a:xfrm>
            <a:off x="274320" y="926544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890022"/>
            <a:ext cx="1248156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合规视角 · BSL许可证全景</a:t>
            </a:r>
            <a:endParaRPr lang="en-US" sz="585" dirty="0"/>
          </a:p>
        </p:txBody>
      </p:sp>
      <p:sp>
        <p:nvSpPr>
          <p:cNvPr id="14" name="Shape 12"/>
          <p:cNvSpPr/>
          <p:nvPr/>
        </p:nvSpPr>
        <p:spPr>
          <a:xfrm>
            <a:off x="274320" y="1077456"/>
            <a:ext cx="4240530" cy="594003"/>
          </a:xfrm>
          <a:prstGeom prst="roundRect">
            <a:avLst>
              <a:gd name="adj" fmla="val 7697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2196F3">
                  <a:alpha val="4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077456"/>
            <a:ext cx="17145" cy="582576"/>
          </a:xfrm>
          <a:prstGeom prst="roundRect">
            <a:avLst>
              <a:gd name="adj" fmla="val 266667"/>
            </a:avLst>
          </a:prstGeom>
          <a:solidFill>
            <a:srgbClr val="2196F3"/>
          </a:solidFill>
          <a:ln/>
        </p:spPr>
      </p:sp>
      <p:sp>
        <p:nvSpPr>
          <p:cNvPr id="16" name="Shape 14"/>
          <p:cNvSpPr/>
          <p:nvPr/>
        </p:nvSpPr>
        <p:spPr>
          <a:xfrm>
            <a:off x="371475" y="1163181"/>
            <a:ext cx="160020" cy="160020"/>
          </a:xfrm>
          <a:prstGeom prst="roundRect">
            <a:avLst>
              <a:gd name="adj" fmla="val 21429"/>
            </a:avLst>
          </a:prstGeom>
          <a:solidFill>
            <a:srgbClr val="2196F3">
              <a:alpha val="20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475" y="1163181"/>
            <a:ext cx="222885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495" dirty="0"/>
          </a:p>
        </p:txBody>
      </p:sp>
      <p:sp>
        <p:nvSpPr>
          <p:cNvPr id="18" name="Text 16"/>
          <p:cNvSpPr/>
          <p:nvPr/>
        </p:nvSpPr>
        <p:spPr>
          <a:xfrm>
            <a:off x="588645" y="1183719"/>
            <a:ext cx="480060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什么是 BSL</a:t>
            </a:r>
            <a:endParaRPr lang="en-US" sz="585" dirty="0"/>
          </a:p>
        </p:txBody>
      </p:sp>
      <p:sp>
        <p:nvSpPr>
          <p:cNvPr id="19" name="Shape 17"/>
          <p:cNvSpPr/>
          <p:nvPr/>
        </p:nvSpPr>
        <p:spPr>
          <a:xfrm>
            <a:off x="3886200" y="1184880"/>
            <a:ext cx="531495" cy="116532"/>
          </a:xfrm>
          <a:prstGeom prst="roundRect">
            <a:avLst>
              <a:gd name="adj" fmla="val 49042"/>
            </a:avLst>
          </a:prstGeom>
          <a:solidFill>
            <a:srgbClr val="2196F3">
              <a:alpha val="20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1184880"/>
            <a:ext cx="595274" cy="116532"/>
          </a:xfrm>
          <a:prstGeom prst="rect">
            <a:avLst/>
          </a:prstGeom>
          <a:noFill/>
          <a:ln/>
        </p:spPr>
        <p:txBody>
          <a:bodyPr wrap="square" lIns="11430" tIns="45720" rIns="45720" bIns="1143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05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BUSINESS SOURCE</a:t>
            </a:r>
            <a:endParaRPr lang="en-US" sz="405" dirty="0"/>
          </a:p>
        </p:txBody>
      </p:sp>
      <p:sp>
        <p:nvSpPr>
          <p:cNvPr id="21" name="Text 19"/>
          <p:cNvSpPr/>
          <p:nvPr/>
        </p:nvSpPr>
        <p:spPr>
          <a:xfrm>
            <a:off x="371475" y="1368921"/>
            <a:ext cx="4531766" cy="216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Source License 是一种</a:t>
            </a:r>
            <a:pPr algn="l" indent="0" marL="0">
              <a:lnSpc>
                <a:spcPct val="165000"/>
              </a:lnSpc>
              <a:buNone/>
            </a:pPr>
            <a:r>
              <a:rPr lang="en-US" sz="51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延迟开源许可证</a:t>
            </a:r>
            <a:pPr algn="l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，设定</a:t>
            </a:r>
            <a:pPr algn="l" indent="0" marL="0">
              <a:lnSpc>
                <a:spcPct val="165000"/>
              </a:lnSpc>
              <a:buNone/>
            </a:pPr>
            <a:r>
              <a:rPr lang="en-US" sz="473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变更日期</a:t>
            </a:r>
            <a:pPr algn="l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后自动转为 Apache-2.0。在约束期内限制商业使用，期满后自动转为完全开源许可。</a:t>
            </a:r>
            <a:endParaRPr lang="en-US" sz="518" dirty="0"/>
          </a:p>
        </p:txBody>
      </p:sp>
      <p:sp>
        <p:nvSpPr>
          <p:cNvPr id="22" name="Shape 20"/>
          <p:cNvSpPr/>
          <p:nvPr/>
        </p:nvSpPr>
        <p:spPr>
          <a:xfrm>
            <a:off x="2000250" y="1374636"/>
            <a:ext cx="297180" cy="91440"/>
          </a:xfrm>
          <a:prstGeom prst="roundRect">
            <a:avLst>
              <a:gd name="adj" fmla="val 18750"/>
            </a:avLst>
          </a:prstGeom>
          <a:solidFill>
            <a:srgbClr val="000000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000250" y="1374636"/>
            <a:ext cx="357188" cy="91440"/>
          </a:xfrm>
          <a:prstGeom prst="rect">
            <a:avLst/>
          </a:prstGeom>
          <a:noFill/>
          <a:ln/>
        </p:spPr>
        <p:txBody>
          <a:bodyPr wrap="none" lIns="5715" tIns="34290" rIns="34290" bIns="5715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473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变更日期</a:t>
            </a:r>
            <a:endParaRPr lang="en-US" sz="473" dirty="0"/>
          </a:p>
        </p:txBody>
      </p:sp>
      <p:sp>
        <p:nvSpPr>
          <p:cNvPr id="24" name="Shape 22"/>
          <p:cNvSpPr/>
          <p:nvPr/>
        </p:nvSpPr>
        <p:spPr>
          <a:xfrm>
            <a:off x="274320" y="1740039"/>
            <a:ext cx="4240530" cy="879931"/>
          </a:xfrm>
          <a:prstGeom prst="roundRect">
            <a:avLst>
              <a:gd name="adj" fmla="val 5196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2196F3">
                  <a:alpha val="4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1740039"/>
            <a:ext cx="17145" cy="868503"/>
          </a:xfrm>
          <a:prstGeom prst="roundRect">
            <a:avLst>
              <a:gd name="adj" fmla="val 266667"/>
            </a:avLst>
          </a:prstGeom>
          <a:solidFill>
            <a:srgbClr val="2196F3"/>
          </a:solidFill>
          <a:ln/>
        </p:spPr>
      </p:sp>
      <p:sp>
        <p:nvSpPr>
          <p:cNvPr id="26" name="Shape 24"/>
          <p:cNvSpPr/>
          <p:nvPr/>
        </p:nvSpPr>
        <p:spPr>
          <a:xfrm>
            <a:off x="371475" y="1825764"/>
            <a:ext cx="160020" cy="160020"/>
          </a:xfrm>
          <a:prstGeom prst="roundRect">
            <a:avLst>
              <a:gd name="adj" fmla="val 21429"/>
            </a:avLst>
          </a:prstGeom>
          <a:solidFill>
            <a:srgbClr val="2196F3">
              <a:alpha val="20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1475" y="1825764"/>
            <a:ext cx="222885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495" dirty="0"/>
          </a:p>
        </p:txBody>
      </p:sp>
      <p:sp>
        <p:nvSpPr>
          <p:cNvPr id="28" name="Text 26"/>
          <p:cNvSpPr/>
          <p:nvPr/>
        </p:nvSpPr>
        <p:spPr>
          <a:xfrm>
            <a:off x="588645" y="1846302"/>
            <a:ext cx="588645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MongoDB 先例</a:t>
            </a:r>
            <a:endParaRPr lang="en-US" sz="585" dirty="0"/>
          </a:p>
        </p:txBody>
      </p:sp>
      <p:sp>
        <p:nvSpPr>
          <p:cNvPr id="29" name="Shape 27"/>
          <p:cNvSpPr/>
          <p:nvPr/>
        </p:nvSpPr>
        <p:spPr>
          <a:xfrm>
            <a:off x="3998178" y="1847463"/>
            <a:ext cx="419517" cy="116532"/>
          </a:xfrm>
          <a:prstGeom prst="roundRect">
            <a:avLst>
              <a:gd name="adj" fmla="val 49042"/>
            </a:avLst>
          </a:prstGeom>
          <a:solidFill>
            <a:srgbClr val="00BCD4">
              <a:alpha val="20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98178" y="1847463"/>
            <a:ext cx="470952" cy="116532"/>
          </a:xfrm>
          <a:prstGeom prst="rect">
            <a:avLst/>
          </a:prstGeom>
          <a:noFill/>
          <a:ln/>
        </p:spPr>
        <p:txBody>
          <a:bodyPr wrap="square" lIns="11430" tIns="45720" rIns="45720" bIns="1143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05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2018 → 2022</a:t>
            </a:r>
            <a:endParaRPr lang="en-US" sz="405" dirty="0"/>
          </a:p>
        </p:txBody>
      </p:sp>
      <p:sp>
        <p:nvSpPr>
          <p:cNvPr id="31" name="Text 29"/>
          <p:cNvSpPr/>
          <p:nvPr/>
        </p:nvSpPr>
        <p:spPr>
          <a:xfrm>
            <a:off x="371475" y="2031504"/>
            <a:ext cx="4531766" cy="10840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2018 年 MongoDB 率先采用 SSPL，2022 年又转向 BSL，许可策略持续调整引发社区广泛关注与讨论。</a:t>
            </a:r>
            <a:endParaRPr lang="en-US" sz="518" dirty="0"/>
          </a:p>
        </p:txBody>
      </p:sp>
      <p:sp>
        <p:nvSpPr>
          <p:cNvPr id="32" name="Shape 30"/>
          <p:cNvSpPr/>
          <p:nvPr/>
        </p:nvSpPr>
        <p:spPr>
          <a:xfrm>
            <a:off x="371475" y="2174200"/>
            <a:ext cx="4046220" cy="360045"/>
          </a:xfrm>
          <a:prstGeom prst="roundRect">
            <a:avLst>
              <a:gd name="adj" fmla="val 6349"/>
            </a:avLst>
          </a:prstGeom>
          <a:solidFill>
            <a:srgbClr val="081020"/>
          </a:solidFill>
          <a:ln w="5715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1475" y="2174200"/>
            <a:ext cx="4531766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B0BEC5">
                    <a:alpha val="4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</a:t>
            </a:r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B0BEC5">
                    <a:alpha val="5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MongoDB 许可演进</a:t>
            </a:r>
            <a:pPr algn="l" indent="0" marL="0">
              <a:lnSpc>
                <a:spcPct val="150000"/>
              </a:lnSpc>
              <a:buNone/>
            </a:pPr>
            <a:endParaRPr lang="en-US" sz="4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B0BEC5">
                    <a:alpha val="4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</a:t>
            </a:r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CE93D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2007</a:t>
            </a:r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AGPL</a:t>
            </a:r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FFCA2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→ </a:t>
            </a:r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CE93D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2018</a:t>
            </a:r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SSPL</a:t>
            </a:r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FFCA2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→ </a:t>
            </a:r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CE93D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</a:t>
            </a:r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BSL</a:t>
            </a:r>
            <a:pPr algn="l" indent="0" marL="0">
              <a:lnSpc>
                <a:spcPct val="150000"/>
              </a:lnSpc>
              <a:buNone/>
            </a:pPr>
            <a:endParaRPr lang="en-US" sz="4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B0BEC5">
                    <a:alpha val="4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</a:t>
            </a:r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66BB6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状态:</a:t>
            </a:r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策略持续调整中</a:t>
            </a:r>
            <a:endParaRPr lang="en-US" sz="450" dirty="0"/>
          </a:p>
        </p:txBody>
      </p:sp>
      <p:sp>
        <p:nvSpPr>
          <p:cNvPr id="34" name="Shape 32"/>
          <p:cNvSpPr/>
          <p:nvPr/>
        </p:nvSpPr>
        <p:spPr>
          <a:xfrm>
            <a:off x="274320" y="2688550"/>
            <a:ext cx="4240530" cy="485596"/>
          </a:xfrm>
          <a:prstGeom prst="roundRect">
            <a:avLst>
              <a:gd name="adj" fmla="val 9415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2196F3">
                  <a:alpha val="4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2688550"/>
            <a:ext cx="17145" cy="474167"/>
          </a:xfrm>
          <a:prstGeom prst="roundRect">
            <a:avLst>
              <a:gd name="adj" fmla="val 266667"/>
            </a:avLst>
          </a:prstGeom>
          <a:solidFill>
            <a:srgbClr val="2196F3"/>
          </a:solidFill>
          <a:ln/>
        </p:spPr>
      </p:sp>
      <p:sp>
        <p:nvSpPr>
          <p:cNvPr id="36" name="Shape 34"/>
          <p:cNvSpPr/>
          <p:nvPr/>
        </p:nvSpPr>
        <p:spPr>
          <a:xfrm>
            <a:off x="371475" y="2774275"/>
            <a:ext cx="160020" cy="160020"/>
          </a:xfrm>
          <a:prstGeom prst="roundRect">
            <a:avLst>
              <a:gd name="adj" fmla="val 21429"/>
            </a:avLst>
          </a:prstGeom>
          <a:solidFill>
            <a:srgbClr val="2196F3">
              <a:alpha val="20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1475" y="2774275"/>
            <a:ext cx="222885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495" dirty="0"/>
          </a:p>
        </p:txBody>
      </p:sp>
      <p:sp>
        <p:nvSpPr>
          <p:cNvPr id="38" name="Text 36"/>
          <p:cNvSpPr/>
          <p:nvPr/>
        </p:nvSpPr>
        <p:spPr>
          <a:xfrm>
            <a:off x="588645" y="2794814"/>
            <a:ext cx="588645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Elastic 跟进</a:t>
            </a:r>
            <a:endParaRPr lang="en-US" sz="585" dirty="0"/>
          </a:p>
        </p:txBody>
      </p:sp>
      <p:sp>
        <p:nvSpPr>
          <p:cNvPr id="39" name="Shape 37"/>
          <p:cNvSpPr/>
          <p:nvPr/>
        </p:nvSpPr>
        <p:spPr>
          <a:xfrm>
            <a:off x="4057650" y="2795974"/>
            <a:ext cx="360045" cy="116532"/>
          </a:xfrm>
          <a:prstGeom prst="roundRect">
            <a:avLst>
              <a:gd name="adj" fmla="val 49042"/>
            </a:avLst>
          </a:prstGeom>
          <a:solidFill>
            <a:srgbClr val="FFCA28">
              <a:alpha val="20000"/>
            </a:srgbClr>
          </a:solidFill>
          <a:ln w="5715">
            <a:solidFill>
              <a:srgbClr val="FFCA28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57650" y="2795974"/>
            <a:ext cx="411480" cy="116532"/>
          </a:xfrm>
          <a:prstGeom prst="rect">
            <a:avLst/>
          </a:prstGeom>
          <a:noFill/>
          <a:ln/>
        </p:spPr>
        <p:txBody>
          <a:bodyPr wrap="square" lIns="11430" tIns="45720" rIns="45720" bIns="1143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05" dirty="0">
                <a:solidFill>
                  <a:srgbClr val="FFCA2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FORK RISK</a:t>
            </a:r>
            <a:endParaRPr lang="en-US" sz="405" dirty="0"/>
          </a:p>
        </p:txBody>
      </p:sp>
      <p:sp>
        <p:nvSpPr>
          <p:cNvPr id="41" name="Text 39"/>
          <p:cNvSpPr/>
          <p:nvPr/>
        </p:nvSpPr>
        <p:spPr>
          <a:xfrm>
            <a:off x="371475" y="2980015"/>
            <a:ext cx="4531766" cy="10840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Elasticsearch 和 Kibana 全面切换至 BSL，社区 fork 项目 Elasticsearch-OS 加速发展，形成上游与分叉并行格局。</a:t>
            </a:r>
            <a:endParaRPr lang="en-US" sz="518" dirty="0"/>
          </a:p>
        </p:txBody>
      </p:sp>
      <p:sp>
        <p:nvSpPr>
          <p:cNvPr id="42" name="Shape 40"/>
          <p:cNvSpPr/>
          <p:nvPr/>
        </p:nvSpPr>
        <p:spPr>
          <a:xfrm>
            <a:off x="274320" y="3242727"/>
            <a:ext cx="4240530" cy="485596"/>
          </a:xfrm>
          <a:prstGeom prst="roundRect">
            <a:avLst>
              <a:gd name="adj" fmla="val 9415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2196F3">
                  <a:alpha val="4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3242727"/>
            <a:ext cx="17145" cy="474167"/>
          </a:xfrm>
          <a:prstGeom prst="roundRect">
            <a:avLst>
              <a:gd name="adj" fmla="val 266667"/>
            </a:avLst>
          </a:prstGeom>
          <a:solidFill>
            <a:srgbClr val="2196F3"/>
          </a:solidFill>
          <a:ln/>
        </p:spPr>
      </p:sp>
      <p:sp>
        <p:nvSpPr>
          <p:cNvPr id="44" name="Shape 42"/>
          <p:cNvSpPr/>
          <p:nvPr/>
        </p:nvSpPr>
        <p:spPr>
          <a:xfrm>
            <a:off x="371475" y="3328452"/>
            <a:ext cx="160020" cy="160020"/>
          </a:xfrm>
          <a:prstGeom prst="roundRect">
            <a:avLst>
              <a:gd name="adj" fmla="val 21429"/>
            </a:avLst>
          </a:prstGeom>
          <a:solidFill>
            <a:srgbClr val="2196F3">
              <a:alpha val="20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1475" y="3328452"/>
            <a:ext cx="222885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</a:t>
            </a:r>
            <a:endParaRPr lang="en-US" sz="495" dirty="0"/>
          </a:p>
        </p:txBody>
      </p:sp>
      <p:sp>
        <p:nvSpPr>
          <p:cNvPr id="46" name="Text 44"/>
          <p:cNvSpPr/>
          <p:nvPr/>
        </p:nvSpPr>
        <p:spPr>
          <a:xfrm>
            <a:off x="588645" y="3348990"/>
            <a:ext cx="520065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社区分裂风险</a:t>
            </a:r>
            <a:endParaRPr lang="en-US" sz="585" dirty="0"/>
          </a:p>
        </p:txBody>
      </p:sp>
      <p:sp>
        <p:nvSpPr>
          <p:cNvPr id="47" name="Shape 45"/>
          <p:cNvSpPr/>
          <p:nvPr/>
        </p:nvSpPr>
        <p:spPr>
          <a:xfrm>
            <a:off x="4029075" y="3350151"/>
            <a:ext cx="388620" cy="116532"/>
          </a:xfrm>
          <a:prstGeom prst="roundRect">
            <a:avLst>
              <a:gd name="adj" fmla="val 49042"/>
            </a:avLst>
          </a:prstGeom>
          <a:solidFill>
            <a:srgbClr val="F44336">
              <a:alpha val="20000"/>
            </a:srgbClr>
          </a:solidFill>
          <a:ln w="5715">
            <a:solidFill>
              <a:srgbClr val="F44336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29075" y="3350151"/>
            <a:ext cx="440055" cy="116532"/>
          </a:xfrm>
          <a:prstGeom prst="rect">
            <a:avLst/>
          </a:prstGeom>
          <a:noFill/>
          <a:ln/>
        </p:spPr>
        <p:txBody>
          <a:bodyPr wrap="square" lIns="11430" tIns="45720" rIns="45720" bIns="1143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05" dirty="0">
                <a:solidFill>
                  <a:srgbClr val="F443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HIGH ALERT</a:t>
            </a:r>
            <a:endParaRPr lang="en-US" sz="405" dirty="0"/>
          </a:p>
        </p:txBody>
      </p:sp>
      <p:sp>
        <p:nvSpPr>
          <p:cNvPr id="49" name="Text 47"/>
          <p:cNvSpPr/>
          <p:nvPr/>
        </p:nvSpPr>
        <p:spPr>
          <a:xfrm>
            <a:off x="371475" y="3534192"/>
            <a:ext cx="4531766" cy="10840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核心社区对"非开源许可"的容忍度降低，可能出现更多上游与分叉之间的竞争，生态碎片化加剧。</a:t>
            </a:r>
            <a:endParaRPr lang="en-US" sz="518" dirty="0"/>
          </a:p>
        </p:txBody>
      </p:sp>
      <p:sp>
        <p:nvSpPr>
          <p:cNvPr id="50" name="Shape 48"/>
          <p:cNvSpPr/>
          <p:nvPr/>
        </p:nvSpPr>
        <p:spPr>
          <a:xfrm>
            <a:off x="4629150" y="926544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720590" y="890022"/>
            <a:ext cx="1152144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分裂视角 · 社区分叉图谱</a:t>
            </a:r>
            <a:endParaRPr lang="en-US" sz="585" dirty="0"/>
          </a:p>
        </p:txBody>
      </p:sp>
      <p:sp>
        <p:nvSpPr>
          <p:cNvPr id="52" name="Shape 50"/>
          <p:cNvSpPr/>
          <p:nvPr/>
        </p:nvSpPr>
        <p:spPr>
          <a:xfrm>
            <a:off x="4629150" y="1077456"/>
            <a:ext cx="4240530" cy="1576983"/>
          </a:xfrm>
          <a:prstGeom prst="roundRect">
            <a:avLst>
              <a:gd name="adj" fmla="val 2899"/>
            </a:avLst>
          </a:prstGeom>
          <a:gradFill rotWithShape="1">
            <a:gsLst>
              <a:gs pos="0">
                <a:srgbClr val="F44336">
                  <a:alpha val="8000"/>
                </a:srgbClr>
              </a:gs>
              <a:gs pos="100000">
                <a:srgbClr val="2196F3">
                  <a:alpha val="6000"/>
                </a:srgbClr>
              </a:gs>
            </a:gsLst>
            <a:lin ang="2700000" scaled="0"/>
          </a:gradFill>
          <a:ln w="5715">
            <a:solidFill>
              <a:srgbClr val="B0BEC5">
                <a:alpha val="1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26305" y="1163181"/>
            <a:ext cx="4531766" cy="1096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b="1" dirty="0">
                <a:solidFill>
                  <a:srgbClr val="F443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●</a:t>
            </a:r>
            <a:endParaRPr lang="en-US" sz="54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社区分叉树状图</a:t>
            </a:r>
            <a:pPr algn="l" indent="0" marL="0">
              <a:lnSpc>
                <a:spcPct val="160000"/>
              </a:lnSpc>
              <a:buNone/>
            </a:pPr>
            <a:r>
              <a:rPr lang="en-US" sz="45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合规 vs 分裂 张力可视化</a:t>
            </a:r>
            <a:endParaRPr lang="en-US" sz="540" dirty="0"/>
          </a:p>
        </p:txBody>
      </p:sp>
      <p:sp>
        <p:nvSpPr>
          <p:cNvPr id="54" name="Shape 52"/>
          <p:cNvSpPr/>
          <p:nvPr/>
        </p:nvSpPr>
        <p:spPr>
          <a:xfrm>
            <a:off x="6440805" y="1329988"/>
            <a:ext cx="617220" cy="178237"/>
          </a:xfrm>
          <a:prstGeom prst="roundRect">
            <a:avLst>
              <a:gd name="adj" fmla="val 51302"/>
            </a:avLst>
          </a:prstGeom>
          <a:gradFill rotWithShape="1">
            <a:gsLst>
              <a:gs pos="0">
                <a:srgbClr val="2196F3"/>
              </a:gs>
              <a:gs pos="100000">
                <a:srgbClr val="1565C0"/>
              </a:gs>
            </a:gsLst>
            <a:lin ang="2700000" scaled="0"/>
          </a:gradFill>
          <a:ln/>
          <a:effectLst>
            <a:outerShdw sx="100000" sy="100000" kx="0" ky="0" algn="bl" rotWithShape="0" blurRad="114300" dist="19050" dir="16200000">
              <a:srgbClr val="2196F3">
                <a:alpha val="3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440805" y="1329988"/>
            <a:ext cx="691286" cy="178237"/>
          </a:xfrm>
          <a:prstGeom prst="rect">
            <a:avLst/>
          </a:prstGeom>
          <a:noFill/>
          <a:ln/>
        </p:spPr>
        <p:txBody>
          <a:bodyPr wrap="square" lIns="34290" tIns="91440" rIns="91440" bIns="3429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BSL 上游项目</a:t>
            </a:r>
            <a:endParaRPr lang="en-US" sz="540" dirty="0"/>
          </a:p>
        </p:txBody>
      </p:sp>
      <p:sp>
        <p:nvSpPr>
          <p:cNvPr id="56" name="Shape 54"/>
          <p:cNvSpPr/>
          <p:nvPr/>
        </p:nvSpPr>
        <p:spPr>
          <a:xfrm>
            <a:off x="6743700" y="1542514"/>
            <a:ext cx="11430" cy="68580"/>
          </a:xfrm>
          <a:prstGeom prst="rect">
            <a:avLst/>
          </a:prstGeom>
          <a:solidFill>
            <a:srgbClr val="B0BEC5">
              <a:alpha val="5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5737860" y="1611094"/>
            <a:ext cx="2023110" cy="5715"/>
          </a:xfrm>
          <a:prstGeom prst="rect">
            <a:avLst/>
          </a:prstGeom>
          <a:solidFill>
            <a:srgbClr val="B0BEC5">
              <a:alpha val="4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4726305" y="1645384"/>
            <a:ext cx="1994535" cy="269677"/>
          </a:xfrm>
          <a:prstGeom prst="roundRect">
            <a:avLst>
              <a:gd name="adj" fmla="val 12715"/>
            </a:avLst>
          </a:prstGeom>
          <a:solidFill>
            <a:srgbClr val="2196F3">
              <a:alpha val="15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26305" y="1645384"/>
            <a:ext cx="2233879" cy="2696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40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官方维护</a:t>
            </a:r>
            <a:endParaRPr lang="en-US" sz="473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473" dirty="0">
                <a:solidFill>
                  <a:srgbClr val="90CAF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Elasticsearch-BSL</a:t>
            </a:r>
            <a:endParaRPr lang="en-US" sz="473" dirty="0"/>
          </a:p>
        </p:txBody>
      </p:sp>
      <p:sp>
        <p:nvSpPr>
          <p:cNvPr id="60" name="Shape 58"/>
          <p:cNvSpPr/>
          <p:nvPr/>
        </p:nvSpPr>
        <p:spPr>
          <a:xfrm>
            <a:off x="6777990" y="1645384"/>
            <a:ext cx="1994535" cy="269677"/>
          </a:xfrm>
          <a:prstGeom prst="roundRect">
            <a:avLst>
              <a:gd name="adj" fmla="val 12715"/>
            </a:avLst>
          </a:prstGeom>
          <a:solidFill>
            <a:srgbClr val="F44336">
              <a:alpha val="15000"/>
            </a:srgbClr>
          </a:solidFill>
          <a:ln w="5715">
            <a:solidFill>
              <a:srgbClr val="F44336">
                <a:alpha val="4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77990" y="1645384"/>
            <a:ext cx="2233879" cy="2696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40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社区 Fork</a:t>
            </a:r>
            <a:endParaRPr lang="en-US" sz="473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473" dirty="0">
                <a:solidFill>
                  <a:srgbClr val="FF8A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Elasticsearch-OS</a:t>
            </a:r>
            <a:endParaRPr lang="en-US" sz="473" dirty="0"/>
          </a:p>
        </p:txBody>
      </p:sp>
      <p:sp>
        <p:nvSpPr>
          <p:cNvPr id="62" name="Shape 60"/>
          <p:cNvSpPr/>
          <p:nvPr/>
        </p:nvSpPr>
        <p:spPr>
          <a:xfrm>
            <a:off x="4726305" y="1972211"/>
            <a:ext cx="1994535" cy="269677"/>
          </a:xfrm>
          <a:prstGeom prst="roundRect">
            <a:avLst>
              <a:gd name="adj" fmla="val 12715"/>
            </a:avLst>
          </a:prstGeom>
          <a:solidFill>
            <a:srgbClr val="00BCD4">
              <a:alpha val="15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26305" y="1972211"/>
            <a:ext cx="2233879" cy="2696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40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官方维护</a:t>
            </a:r>
            <a:endParaRPr lang="en-US" sz="473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473" dirty="0">
                <a:solidFill>
                  <a:srgbClr val="80DEE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MongoDB-BSL</a:t>
            </a:r>
            <a:endParaRPr lang="en-US" sz="473" dirty="0"/>
          </a:p>
        </p:txBody>
      </p:sp>
      <p:sp>
        <p:nvSpPr>
          <p:cNvPr id="64" name="Shape 62"/>
          <p:cNvSpPr/>
          <p:nvPr/>
        </p:nvSpPr>
        <p:spPr>
          <a:xfrm>
            <a:off x="6777990" y="1972211"/>
            <a:ext cx="1994535" cy="269677"/>
          </a:xfrm>
          <a:prstGeom prst="roundRect">
            <a:avLst>
              <a:gd name="adj" fmla="val 12715"/>
            </a:avLst>
          </a:prstGeom>
          <a:solidFill>
            <a:srgbClr val="66BB6A">
              <a:alpha val="12000"/>
            </a:srgbClr>
          </a:solidFill>
          <a:ln w="5715">
            <a:solidFill>
              <a:srgbClr val="66BB6A">
                <a:alpha val="35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77990" y="1972211"/>
            <a:ext cx="2233879" cy="2696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40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社区 Fork</a:t>
            </a:r>
            <a:endParaRPr lang="en-US" sz="473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473" dirty="0">
                <a:solidFill>
                  <a:srgbClr val="A5D6A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Percona / Searchbox</a:t>
            </a:r>
            <a:endParaRPr lang="en-US" sz="473" dirty="0"/>
          </a:p>
        </p:txBody>
      </p:sp>
      <p:sp>
        <p:nvSpPr>
          <p:cNvPr id="66" name="Shape 64"/>
          <p:cNvSpPr/>
          <p:nvPr/>
        </p:nvSpPr>
        <p:spPr>
          <a:xfrm>
            <a:off x="4726305" y="2299037"/>
            <a:ext cx="1994535" cy="269677"/>
          </a:xfrm>
          <a:prstGeom prst="roundRect">
            <a:avLst>
              <a:gd name="adj" fmla="val 12715"/>
            </a:avLst>
          </a:prstGeom>
          <a:solidFill>
            <a:srgbClr val="FF7043">
              <a:alpha val="12000"/>
            </a:srgbClr>
          </a:solidFill>
          <a:ln w="5715">
            <a:solidFill>
              <a:srgbClr val="FF7043">
                <a:alpha val="35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26305" y="2299037"/>
            <a:ext cx="2233879" cy="2696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40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社区 Fork</a:t>
            </a:r>
            <a:endParaRPr lang="en-US" sz="473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473" dirty="0">
                <a:solidFill>
                  <a:srgbClr val="FFAB9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OpenSearch</a:t>
            </a:r>
            <a:endParaRPr lang="en-US" sz="473" dirty="0"/>
          </a:p>
        </p:txBody>
      </p:sp>
      <p:sp>
        <p:nvSpPr>
          <p:cNvPr id="68" name="Shape 66"/>
          <p:cNvSpPr/>
          <p:nvPr/>
        </p:nvSpPr>
        <p:spPr>
          <a:xfrm>
            <a:off x="6777990" y="2299037"/>
            <a:ext cx="1994535" cy="269677"/>
          </a:xfrm>
          <a:prstGeom prst="roundRect">
            <a:avLst>
              <a:gd name="adj" fmla="val 12715"/>
            </a:avLst>
          </a:prstGeom>
          <a:solidFill>
            <a:srgbClr val="FFCA28">
              <a:alpha val="10000"/>
            </a:srgbClr>
          </a:solidFill>
          <a:ln w="5715">
            <a:solidFill>
              <a:srgbClr val="FFCA28">
                <a:alpha val="3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77990" y="2299037"/>
            <a:ext cx="2233879" cy="2696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40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衍生项目</a:t>
            </a:r>
            <a:endParaRPr lang="en-US" sz="473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473" dirty="0">
                <a:solidFill>
                  <a:srgbClr val="FFE08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兼容替代方案</a:t>
            </a:r>
            <a:endParaRPr lang="en-US" sz="473" dirty="0"/>
          </a:p>
        </p:txBody>
      </p:sp>
      <p:sp>
        <p:nvSpPr>
          <p:cNvPr id="70" name="Shape 68"/>
          <p:cNvSpPr/>
          <p:nvPr/>
        </p:nvSpPr>
        <p:spPr>
          <a:xfrm>
            <a:off x="4629150" y="2723019"/>
            <a:ext cx="1375350" cy="566857"/>
          </a:xfrm>
          <a:prstGeom prst="roundRect">
            <a:avLst>
              <a:gd name="adj" fmla="val 8066"/>
            </a:avLst>
          </a:prstGeom>
          <a:solidFill>
            <a:srgbClr val="111E33"/>
          </a:solidFill>
          <a:ln w="5715">
            <a:solidFill>
              <a:srgbClr val="B0BEC5">
                <a:alpha val="1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629150" y="2723019"/>
            <a:ext cx="1363919" cy="17145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72" name="Text 70"/>
          <p:cNvSpPr/>
          <p:nvPr/>
        </p:nvSpPr>
        <p:spPr>
          <a:xfrm>
            <a:off x="4703445" y="2808744"/>
            <a:ext cx="137397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450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BSL转为Apache日期</a:t>
            </a:r>
            <a:endParaRPr lang="en-US" sz="450" dirty="0"/>
          </a:p>
        </p:txBody>
      </p:sp>
      <p:sp>
        <p:nvSpPr>
          <p:cNvPr id="73" name="Text 71"/>
          <p:cNvSpPr/>
          <p:nvPr/>
        </p:nvSpPr>
        <p:spPr>
          <a:xfrm>
            <a:off x="4703445" y="2945904"/>
            <a:ext cx="1373972" cy="1382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9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变更日期</a:t>
            </a:r>
            <a:endParaRPr lang="en-US" sz="990" dirty="0"/>
          </a:p>
        </p:txBody>
      </p:sp>
      <p:sp>
        <p:nvSpPr>
          <p:cNvPr id="74" name="Text 72"/>
          <p:cNvSpPr/>
          <p:nvPr/>
        </p:nvSpPr>
        <p:spPr>
          <a:xfrm>
            <a:off x="4703445" y="3118425"/>
            <a:ext cx="137397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由许可证持有方设定，通常为 1-4 年</a:t>
            </a:r>
            <a:endParaRPr lang="en-US" sz="450" dirty="0"/>
          </a:p>
        </p:txBody>
      </p:sp>
      <p:sp>
        <p:nvSpPr>
          <p:cNvPr id="75" name="Shape 73"/>
          <p:cNvSpPr/>
          <p:nvPr/>
        </p:nvSpPr>
        <p:spPr>
          <a:xfrm>
            <a:off x="6061650" y="2723019"/>
            <a:ext cx="1375440" cy="566857"/>
          </a:xfrm>
          <a:prstGeom prst="roundRect">
            <a:avLst>
              <a:gd name="adj" fmla="val 8066"/>
            </a:avLst>
          </a:prstGeom>
          <a:solidFill>
            <a:srgbClr val="111E33"/>
          </a:solidFill>
          <a:ln w="5715">
            <a:solidFill>
              <a:srgbClr val="B0BEC5">
                <a:alpha val="1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61650" y="2723019"/>
            <a:ext cx="1364010" cy="17145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77" name="Text 75"/>
          <p:cNvSpPr/>
          <p:nvPr/>
        </p:nvSpPr>
        <p:spPr>
          <a:xfrm>
            <a:off x="6135945" y="2808744"/>
            <a:ext cx="137407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450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社区 Fork 数量</a:t>
            </a:r>
            <a:endParaRPr lang="en-US" sz="450" dirty="0"/>
          </a:p>
        </p:txBody>
      </p:sp>
      <p:sp>
        <p:nvSpPr>
          <p:cNvPr id="78" name="Text 76"/>
          <p:cNvSpPr/>
          <p:nvPr/>
        </p:nvSpPr>
        <p:spPr>
          <a:xfrm>
            <a:off x="6135945" y="2945904"/>
            <a:ext cx="1374072" cy="1382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90" b="1" dirty="0">
                <a:solidFill>
                  <a:srgbClr val="F443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10+</a:t>
            </a:r>
            <a:endParaRPr lang="en-US" sz="990" dirty="0"/>
          </a:p>
        </p:txBody>
      </p:sp>
      <p:sp>
        <p:nvSpPr>
          <p:cNvPr id="79" name="Text 77"/>
          <p:cNvSpPr/>
          <p:nvPr/>
        </p:nvSpPr>
        <p:spPr>
          <a:xfrm>
            <a:off x="6135945" y="3118425"/>
            <a:ext cx="137407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受 BSL 影响的显著社区分叉项目</a:t>
            </a:r>
            <a:endParaRPr lang="en-US" sz="450" dirty="0"/>
          </a:p>
        </p:txBody>
      </p:sp>
      <p:sp>
        <p:nvSpPr>
          <p:cNvPr id="80" name="Shape 78"/>
          <p:cNvSpPr/>
          <p:nvPr/>
        </p:nvSpPr>
        <p:spPr>
          <a:xfrm>
            <a:off x="7494240" y="2723019"/>
            <a:ext cx="1375440" cy="566857"/>
          </a:xfrm>
          <a:prstGeom prst="roundRect">
            <a:avLst>
              <a:gd name="adj" fmla="val 8066"/>
            </a:avLst>
          </a:prstGeom>
          <a:solidFill>
            <a:srgbClr val="111E33"/>
          </a:solidFill>
          <a:ln w="5715">
            <a:solidFill>
              <a:srgbClr val="B0BEC5">
                <a:alpha val="15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494240" y="2723019"/>
            <a:ext cx="1364010" cy="17145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82" name="Text 80"/>
          <p:cNvSpPr/>
          <p:nvPr/>
        </p:nvSpPr>
        <p:spPr>
          <a:xfrm>
            <a:off x="7568535" y="2808744"/>
            <a:ext cx="137407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450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OSI 批准状态</a:t>
            </a:r>
            <a:endParaRPr lang="en-US" sz="450" dirty="0"/>
          </a:p>
        </p:txBody>
      </p:sp>
      <p:sp>
        <p:nvSpPr>
          <p:cNvPr id="83" name="Text 81"/>
          <p:cNvSpPr/>
          <p:nvPr/>
        </p:nvSpPr>
        <p:spPr>
          <a:xfrm>
            <a:off x="7568535" y="2945904"/>
            <a:ext cx="1374072" cy="1382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90" b="1" dirty="0">
                <a:solidFill>
                  <a:srgbClr val="FFCA2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未批准</a:t>
            </a:r>
            <a:endParaRPr lang="en-US" sz="990" dirty="0"/>
          </a:p>
        </p:txBody>
      </p:sp>
      <p:sp>
        <p:nvSpPr>
          <p:cNvPr id="84" name="Text 82"/>
          <p:cNvSpPr/>
          <p:nvPr/>
        </p:nvSpPr>
        <p:spPr>
          <a:xfrm>
            <a:off x="7568535" y="3118425"/>
            <a:ext cx="137407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BSL 不属于 OSI 认证开源许可证</a:t>
            </a:r>
            <a:endParaRPr lang="en-US" sz="450" dirty="0"/>
          </a:p>
        </p:txBody>
      </p:sp>
      <p:sp>
        <p:nvSpPr>
          <p:cNvPr id="85" name="Shape 83"/>
          <p:cNvSpPr/>
          <p:nvPr/>
        </p:nvSpPr>
        <p:spPr>
          <a:xfrm>
            <a:off x="4629150" y="3369885"/>
            <a:ext cx="4240530" cy="217170"/>
          </a:xfrm>
          <a:prstGeom prst="roundRect">
            <a:avLst>
              <a:gd name="adj" fmla="val 15789"/>
            </a:avLst>
          </a:prstGeom>
          <a:solidFill>
            <a:srgbClr val="111E33"/>
          </a:solidFill>
          <a:ln w="5715">
            <a:solidFill>
              <a:srgbClr val="B0BEC5">
                <a:alpha val="10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714875" y="3432750"/>
            <a:ext cx="24003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5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合规 ←</a:t>
            </a:r>
            <a:endParaRPr lang="en-US" sz="450" dirty="0"/>
          </a:p>
        </p:txBody>
      </p:sp>
      <p:sp>
        <p:nvSpPr>
          <p:cNvPr id="87" name="Shape 85"/>
          <p:cNvSpPr/>
          <p:nvPr/>
        </p:nvSpPr>
        <p:spPr>
          <a:xfrm>
            <a:off x="4966335" y="3455610"/>
            <a:ext cx="3586698" cy="457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44336"/>
              </a:gs>
              <a:gs pos="40000">
                <a:srgbClr val="FF7043"/>
              </a:gs>
              <a:gs pos="60000">
                <a:srgbClr val="FFCA28"/>
              </a:gs>
              <a:gs pos="100000">
                <a:srgbClr val="2196F3"/>
              </a:gs>
            </a:gsLst>
            <a:lin ang="0" scaled="0"/>
          </a:gradFill>
          <a:ln/>
        </p:spPr>
      </p:sp>
      <p:sp>
        <p:nvSpPr>
          <p:cNvPr id="88" name="Shape 86"/>
          <p:cNvSpPr/>
          <p:nvPr/>
        </p:nvSpPr>
        <p:spPr>
          <a:xfrm>
            <a:off x="6329273" y="3438465"/>
            <a:ext cx="80010" cy="8001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FF7043"/>
            </a:solidFill>
            <a:prstDash val="solid"/>
          </a:ln>
          <a:effectLst>
            <a:outerShdw sx="100000" sy="100000" kx="0" ky="0" algn="bl" rotWithShape="0" blurRad="76200" dist="50800" dir="16200000">
              <a:srgbClr val="FF7043">
                <a:alpha val="50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8621613" y="3437305"/>
            <a:ext cx="213777" cy="8224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0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分裂 →</a:t>
            </a:r>
            <a:endParaRPr lang="en-US" sz="405" dirty="0"/>
          </a:p>
        </p:txBody>
      </p:sp>
      <p:sp>
        <p:nvSpPr>
          <p:cNvPr id="90" name="Shape 88"/>
          <p:cNvSpPr/>
          <p:nvPr/>
        </p:nvSpPr>
        <p:spPr>
          <a:xfrm>
            <a:off x="274320" y="4897755"/>
            <a:ext cx="8595360" cy="142875"/>
          </a:xfrm>
          <a:prstGeom prst="rect">
            <a:avLst/>
          </a:prstGeom>
          <a:noFill/>
          <a:ln/>
        </p:spPr>
      </p:sp>
      <p:sp>
        <p:nvSpPr>
          <p:cNvPr id="91" name="Shape 89"/>
          <p:cNvSpPr/>
          <p:nvPr/>
        </p:nvSpPr>
        <p:spPr>
          <a:xfrm>
            <a:off x="274320" y="4897755"/>
            <a:ext cx="8595360" cy="0"/>
          </a:xfrm>
          <a:prstGeom prst="line">
            <a:avLst/>
          </a:prstGeom>
          <a:noFill/>
          <a:ln w="5715">
            <a:solidFill>
              <a:srgbClr val="B0BEC5">
                <a:alpha val="1000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74320" y="4949190"/>
            <a:ext cx="1113739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50" spc="45" kern="0" dirty="0">
                <a:solidFill>
                  <a:srgbClr val="B0BEC5">
                    <a:alpha val="4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开源许可证专题 · BSL与开源定义</a:t>
            </a:r>
            <a:endParaRPr lang="en-US" sz="450" dirty="0"/>
          </a:p>
        </p:txBody>
      </p:sp>
      <p:sp>
        <p:nvSpPr>
          <p:cNvPr id="93" name="Text 91"/>
          <p:cNvSpPr/>
          <p:nvPr/>
        </p:nvSpPr>
        <p:spPr>
          <a:xfrm>
            <a:off x="4600575" y="4949190"/>
            <a:ext cx="73609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50" spc="45" kern="0" dirty="0">
                <a:solidFill>
                  <a:srgbClr val="B0BEC5">
                    <a:alpha val="4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2024 · 行业观察报告</a:t>
            </a:r>
            <a:endParaRPr lang="en-US" sz="450" dirty="0"/>
          </a:p>
        </p:txBody>
      </p:sp>
      <p:sp>
        <p:nvSpPr>
          <p:cNvPr id="94" name="Text 92"/>
          <p:cNvSpPr/>
          <p:nvPr/>
        </p:nvSpPr>
        <p:spPr>
          <a:xfrm>
            <a:off x="8589645" y="4949190"/>
            <a:ext cx="33718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50" spc="45" kern="0" dirty="0">
                <a:solidFill>
                  <a:srgbClr val="B0BEC5">
                    <a:alpha val="4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07 / 15</a:t>
            </a:r>
            <a:endParaRPr lang="en-US" sz="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-2314575"/>
            <a:ext cx="10058400" cy="565785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96F3">
              <a:alpha val="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-342900"/>
            <a:ext cx="1257300" cy="1257300"/>
          </a:xfrm>
          <a:prstGeom prst="ellipse">
            <a:avLst/>
          </a:prstGeom>
          <a:noFill/>
          <a:ln w="5715">
            <a:solidFill>
              <a:srgbClr val="2196F3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14350" y="4057650"/>
            <a:ext cx="1600200" cy="1600200"/>
          </a:xfrm>
          <a:prstGeom prst="ellipse">
            <a:avLst/>
          </a:prstGeom>
          <a:noFill/>
          <a:ln w="5715">
            <a:solidFill>
              <a:srgbClr val="00BCD4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43250" y="628650"/>
            <a:ext cx="2857500" cy="2857500"/>
          </a:xfrm>
          <a:prstGeom prst="ellipse">
            <a:avLst/>
          </a:prstGeom>
          <a:noFill/>
          <a:ln w="5715">
            <a:solidFill>
              <a:srgbClr val="2196F3">
                <a:alpha val="4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" y="257175"/>
            <a:ext cx="246430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8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SUPPLY CHAIN SECURITY INITIATIVE</a:t>
            </a:r>
            <a:endParaRPr lang="en-US" sz="495" dirty="0"/>
          </a:p>
        </p:txBody>
      </p:sp>
      <p:sp>
        <p:nvSpPr>
          <p:cNvPr id="8" name="Text 6"/>
          <p:cNvSpPr/>
          <p:nvPr/>
        </p:nvSpPr>
        <p:spPr>
          <a:xfrm>
            <a:off x="342900" y="388620"/>
            <a:ext cx="2464308" cy="27655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80" b="1" spc="90" kern="0" dirty="0">
                <a:solidFill>
                  <a:srgbClr val="E8ED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供应链安全行动</a:t>
            </a:r>
            <a:endParaRPr lang="en-US" sz="1980" dirty="0"/>
          </a:p>
        </p:txBody>
      </p:sp>
      <p:sp>
        <p:nvSpPr>
          <p:cNvPr id="9" name="Text 7"/>
          <p:cNvSpPr/>
          <p:nvPr/>
        </p:nvSpPr>
        <p:spPr>
          <a:xfrm>
            <a:off x="7818120" y="325755"/>
            <a:ext cx="1100938" cy="1131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80000"/>
              </a:lnSpc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SECTOR · 开源生态治理</a:t>
            </a:r>
            <a:endParaRPr lang="en-US" sz="495" dirty="0"/>
          </a:p>
        </p:txBody>
      </p:sp>
      <p:sp>
        <p:nvSpPr>
          <p:cNvPr id="10" name="Shape 8"/>
          <p:cNvSpPr/>
          <p:nvPr/>
        </p:nvSpPr>
        <p:spPr>
          <a:xfrm>
            <a:off x="7909560" y="372011"/>
            <a:ext cx="34290" cy="3429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1" name="Text 9"/>
          <p:cNvSpPr/>
          <p:nvPr/>
        </p:nvSpPr>
        <p:spPr>
          <a:xfrm>
            <a:off x="7818120" y="438894"/>
            <a:ext cx="1100938" cy="1131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80000"/>
              </a:lnSpc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TIMELINE · 2022 · 02</a:t>
            </a:r>
            <a:endParaRPr lang="en-US" sz="495" dirty="0"/>
          </a:p>
        </p:txBody>
      </p:sp>
      <p:sp>
        <p:nvSpPr>
          <p:cNvPr id="12" name="Shape 10"/>
          <p:cNvSpPr/>
          <p:nvPr/>
        </p:nvSpPr>
        <p:spPr>
          <a:xfrm>
            <a:off x="7818120" y="485150"/>
            <a:ext cx="34290" cy="3429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3" name="Text 11"/>
          <p:cNvSpPr/>
          <p:nvPr/>
        </p:nvSpPr>
        <p:spPr>
          <a:xfrm>
            <a:off x="7818120" y="552033"/>
            <a:ext cx="1100938" cy="1131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80000"/>
              </a:lnSpc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STATUS · 加速推进中</a:t>
            </a:r>
            <a:endParaRPr lang="en-US" sz="495" dirty="0"/>
          </a:p>
        </p:txBody>
      </p:sp>
      <p:sp>
        <p:nvSpPr>
          <p:cNvPr id="14" name="Shape 12"/>
          <p:cNvSpPr/>
          <p:nvPr/>
        </p:nvSpPr>
        <p:spPr>
          <a:xfrm>
            <a:off x="7978140" y="598289"/>
            <a:ext cx="34290" cy="3429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5" name="Shape 13"/>
          <p:cNvSpPr/>
          <p:nvPr/>
        </p:nvSpPr>
        <p:spPr>
          <a:xfrm>
            <a:off x="342900" y="722322"/>
            <a:ext cx="8458200" cy="295037"/>
          </a:xfrm>
          <a:prstGeom prst="rect">
            <a:avLst/>
          </a:prstGeom>
          <a:solidFill>
            <a:srgbClr val="2196F3">
              <a:alpha val="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42900" y="722322"/>
            <a:ext cx="0" cy="295037"/>
          </a:xfrm>
          <a:prstGeom prst="line">
            <a:avLst/>
          </a:prstGeom>
          <a:noFill/>
          <a:ln w="17145">
            <a:solidFill>
              <a:srgbClr val="2196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61070" y="716607"/>
            <a:ext cx="228600" cy="1714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8" name="Text 16"/>
          <p:cNvSpPr/>
          <p:nvPr/>
        </p:nvSpPr>
        <p:spPr>
          <a:xfrm>
            <a:off x="485775" y="819477"/>
            <a:ext cx="642000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Log4j 事件彻底改变了行业对开源依赖管理的态度。2022 年 2 月，从工具链到标准化框架，从个人开发者到大型企业，整个生态系统都在加速构建更可靠的供应链安全体系。</a:t>
            </a:r>
            <a:endParaRPr lang="en-US" sz="608" dirty="0"/>
          </a:p>
        </p:txBody>
      </p:sp>
      <p:sp>
        <p:nvSpPr>
          <p:cNvPr id="19" name="Shape 17"/>
          <p:cNvSpPr/>
          <p:nvPr/>
        </p:nvSpPr>
        <p:spPr>
          <a:xfrm>
            <a:off x="342900" y="1143089"/>
            <a:ext cx="4183380" cy="1620113"/>
          </a:xfrm>
          <a:prstGeom prst="roundRect">
            <a:avLst>
              <a:gd name="adj" fmla="val 2117"/>
            </a:avLst>
          </a:prstGeom>
          <a:solidFill>
            <a:srgbClr val="112035"/>
          </a:soli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" y="1143089"/>
            <a:ext cx="417195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21" name="Shape 19"/>
          <p:cNvSpPr/>
          <p:nvPr/>
        </p:nvSpPr>
        <p:spPr>
          <a:xfrm>
            <a:off x="4171950" y="2408870"/>
            <a:ext cx="342900" cy="342900"/>
          </a:xfrm>
          <a:prstGeom prst="rect">
            <a:avLst/>
          </a:prstGeom>
          <a:solidFill>
            <a:srgbClr val="2196F3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82905" y="1183094"/>
            <a:ext cx="80010" cy="8001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382905" y="1183094"/>
            <a:ext cx="80010" cy="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2905" y="1183094"/>
            <a:ext cx="0" cy="8001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06265" y="1183094"/>
            <a:ext cx="80010" cy="8001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4406265" y="1183094"/>
            <a:ext cx="80010" cy="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6275" y="1183094"/>
            <a:ext cx="0" cy="8001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2905" y="2643188"/>
            <a:ext cx="80010" cy="8001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382905" y="2723198"/>
            <a:ext cx="80010" cy="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2905" y="2643188"/>
            <a:ext cx="0" cy="8001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06265" y="2643188"/>
            <a:ext cx="80010" cy="8001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4486275" y="2643188"/>
            <a:ext cx="0" cy="8001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06265" y="2723198"/>
            <a:ext cx="80010" cy="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4345" y="1268819"/>
            <a:ext cx="177165" cy="108585"/>
          </a:xfrm>
          <a:prstGeom prst="roundRect">
            <a:avLst>
              <a:gd name="adj" fmla="val 15789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4345" y="1268819"/>
            <a:ext cx="234315" cy="108585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Q1</a:t>
            </a:r>
            <a:endParaRPr lang="en-US" sz="450" dirty="0"/>
          </a:p>
        </p:txBody>
      </p:sp>
      <p:sp>
        <p:nvSpPr>
          <p:cNvPr id="36" name="Text 34"/>
          <p:cNvSpPr/>
          <p:nvPr/>
        </p:nvSpPr>
        <p:spPr>
          <a:xfrm>
            <a:off x="708660" y="1251674"/>
            <a:ext cx="857250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23" kern="0" dirty="0">
                <a:solidFill>
                  <a:srgbClr val="E8ED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Log4j 余波持续</a:t>
            </a:r>
            <a:endParaRPr lang="en-US" sz="765" dirty="0"/>
          </a:p>
        </p:txBody>
      </p:sp>
      <p:sp>
        <p:nvSpPr>
          <p:cNvPr id="37" name="Text 35"/>
          <p:cNvSpPr/>
          <p:nvPr/>
        </p:nvSpPr>
        <p:spPr>
          <a:xfrm>
            <a:off x="474345" y="1468844"/>
            <a:ext cx="4250131" cy="207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 2021 年底 Log4j 漏洞爆发以来，社区投入大量资源进行依赖审计与漏洞修复，影响波及数千个下游项目与生产环境。</a:t>
            </a:r>
            <a:endParaRPr lang="en-US" sz="563" dirty="0"/>
          </a:p>
        </p:txBody>
      </p:sp>
      <p:sp>
        <p:nvSpPr>
          <p:cNvPr id="38" name="Shape 36"/>
          <p:cNvSpPr/>
          <p:nvPr/>
        </p:nvSpPr>
        <p:spPr>
          <a:xfrm>
            <a:off x="474345" y="2411730"/>
            <a:ext cx="3920490" cy="242888"/>
          </a:xfrm>
          <a:prstGeom prst="rect">
            <a:avLst/>
          </a:prstGeom>
          <a:noFill/>
          <a:ln/>
        </p:spPr>
      </p:sp>
      <p:sp>
        <p:nvSpPr>
          <p:cNvPr id="39" name="Shape 37"/>
          <p:cNvSpPr/>
          <p:nvPr/>
        </p:nvSpPr>
        <p:spPr>
          <a:xfrm>
            <a:off x="474345" y="2411730"/>
            <a:ext cx="3920490" cy="0"/>
          </a:xfrm>
          <a:prstGeom prst="line">
            <a:avLst/>
          </a:prstGeom>
          <a:noFill/>
          <a:ln w="5715">
            <a:solidFill>
              <a:srgbClr val="B0BEC5">
                <a:alpha val="18000"/>
              </a:srgbClr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74345" y="2484596"/>
            <a:ext cx="160020" cy="160020"/>
          </a:xfrm>
          <a:prstGeom prst="roundRect">
            <a:avLst>
              <a:gd name="adj" fmla="val 14286"/>
            </a:avLst>
          </a:prstGeom>
          <a:noFill/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4345" y="2484596"/>
            <a:ext cx="228600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!!</a:t>
            </a:r>
            <a:endParaRPr lang="en-US" sz="540" dirty="0"/>
          </a:p>
        </p:txBody>
      </p:sp>
      <p:sp>
        <p:nvSpPr>
          <p:cNvPr id="42" name="Text 40"/>
          <p:cNvSpPr/>
          <p:nvPr/>
        </p:nvSpPr>
        <p:spPr>
          <a:xfrm>
            <a:off x="702945" y="2478881"/>
            <a:ext cx="794385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2021</a:t>
            </a:r>
            <a:pPr algn="l" indent="0" marL="0">
              <a:lnSpc>
                <a:spcPct val="100000"/>
              </a:lnSpc>
              <a:buNone/>
            </a:pPr>
            <a:r>
              <a:rPr lang="en-US" sz="585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年·底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394460" y="2474595"/>
            <a:ext cx="592074" cy="1800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漏洞爆发时间线</a:t>
            </a:r>
            <a:pPr algn="l" indent="0" marL="0">
              <a:lnSpc>
                <a:spcPct val="150000"/>
              </a:lnSpc>
              <a:buNone/>
            </a:pPr>
            <a:endParaRPr lang="en-US" sz="47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473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CVSS 10.0 严重级</a:t>
            </a:r>
            <a:endParaRPr lang="en-US" sz="473" dirty="0"/>
          </a:p>
        </p:txBody>
      </p:sp>
      <p:sp>
        <p:nvSpPr>
          <p:cNvPr id="44" name="Shape 42"/>
          <p:cNvSpPr/>
          <p:nvPr/>
        </p:nvSpPr>
        <p:spPr>
          <a:xfrm>
            <a:off x="3766185" y="2553176"/>
            <a:ext cx="628650" cy="22860"/>
          </a:xfrm>
          <a:prstGeom prst="roundRect">
            <a:avLst>
              <a:gd name="adj" fmla="val 50000"/>
            </a:avLst>
          </a:prstGeom>
          <a:solidFill>
            <a:srgbClr val="2196F3">
              <a:alpha val="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3766185" y="2553176"/>
            <a:ext cx="578287" cy="228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6" name="Shape 44"/>
          <p:cNvSpPr/>
          <p:nvPr/>
        </p:nvSpPr>
        <p:spPr>
          <a:xfrm>
            <a:off x="4617720" y="1143089"/>
            <a:ext cx="4183380" cy="1620113"/>
          </a:xfrm>
          <a:prstGeom prst="roundRect">
            <a:avLst>
              <a:gd name="adj" fmla="val 2117"/>
            </a:avLst>
          </a:prstGeom>
          <a:solidFill>
            <a:srgbClr val="112035"/>
          </a:soli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17720" y="1143089"/>
            <a:ext cx="417195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8" name="Shape 46"/>
          <p:cNvSpPr/>
          <p:nvPr/>
        </p:nvSpPr>
        <p:spPr>
          <a:xfrm>
            <a:off x="8446770" y="2408870"/>
            <a:ext cx="342900" cy="342900"/>
          </a:xfrm>
          <a:prstGeom prst="rect">
            <a:avLst/>
          </a:prstGeom>
          <a:solidFill>
            <a:srgbClr val="2196F3">
              <a:alpha val="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657725" y="1183094"/>
            <a:ext cx="80010" cy="80010"/>
          </a:xfrm>
          <a:prstGeom prst="rect">
            <a:avLst/>
          </a:prstGeom>
          <a:noFill/>
          <a:ln/>
        </p:spPr>
      </p:sp>
      <p:sp>
        <p:nvSpPr>
          <p:cNvPr id="50" name="Shape 48"/>
          <p:cNvSpPr/>
          <p:nvPr/>
        </p:nvSpPr>
        <p:spPr>
          <a:xfrm>
            <a:off x="4657725" y="1183094"/>
            <a:ext cx="80010" cy="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57725" y="1183094"/>
            <a:ext cx="0" cy="8001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681085" y="1183094"/>
            <a:ext cx="80010" cy="80010"/>
          </a:xfrm>
          <a:prstGeom prst="rect">
            <a:avLst/>
          </a:prstGeom>
          <a:noFill/>
          <a:ln/>
        </p:spPr>
      </p:sp>
      <p:sp>
        <p:nvSpPr>
          <p:cNvPr id="53" name="Shape 51"/>
          <p:cNvSpPr/>
          <p:nvPr/>
        </p:nvSpPr>
        <p:spPr>
          <a:xfrm>
            <a:off x="8681085" y="1183094"/>
            <a:ext cx="80010" cy="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61095" y="1183094"/>
            <a:ext cx="0" cy="8001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57725" y="2643188"/>
            <a:ext cx="80010" cy="80010"/>
          </a:xfrm>
          <a:prstGeom prst="rect">
            <a:avLst/>
          </a:prstGeom>
          <a:noFill/>
          <a:ln/>
        </p:spPr>
      </p:sp>
      <p:sp>
        <p:nvSpPr>
          <p:cNvPr id="56" name="Shape 54"/>
          <p:cNvSpPr/>
          <p:nvPr/>
        </p:nvSpPr>
        <p:spPr>
          <a:xfrm>
            <a:off x="4657725" y="2723198"/>
            <a:ext cx="80010" cy="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57725" y="2643188"/>
            <a:ext cx="0" cy="8001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681085" y="2643188"/>
            <a:ext cx="80010" cy="80010"/>
          </a:xfrm>
          <a:prstGeom prst="rect">
            <a:avLst/>
          </a:prstGeom>
          <a:noFill/>
          <a:ln/>
        </p:spPr>
      </p:sp>
      <p:sp>
        <p:nvSpPr>
          <p:cNvPr id="59" name="Shape 57"/>
          <p:cNvSpPr/>
          <p:nvPr/>
        </p:nvSpPr>
        <p:spPr>
          <a:xfrm>
            <a:off x="8761095" y="2643188"/>
            <a:ext cx="0" cy="8001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681085" y="2723198"/>
            <a:ext cx="80010" cy="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49165" y="1268819"/>
            <a:ext cx="177165" cy="108585"/>
          </a:xfrm>
          <a:prstGeom prst="roundRect">
            <a:avLst>
              <a:gd name="adj" fmla="val 15789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49165" y="1268819"/>
            <a:ext cx="234315" cy="108585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Q2</a:t>
            </a:r>
            <a:endParaRPr lang="en-US" sz="450" dirty="0"/>
          </a:p>
        </p:txBody>
      </p:sp>
      <p:sp>
        <p:nvSpPr>
          <p:cNvPr id="63" name="Text 61"/>
          <p:cNvSpPr/>
          <p:nvPr/>
        </p:nvSpPr>
        <p:spPr>
          <a:xfrm>
            <a:off x="4983480" y="1251674"/>
            <a:ext cx="797243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23" kern="0" dirty="0">
                <a:solidFill>
                  <a:srgbClr val="E8ED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SLSA 框架推进</a:t>
            </a:r>
            <a:endParaRPr lang="en-US" sz="765" dirty="0"/>
          </a:p>
        </p:txBody>
      </p:sp>
      <p:sp>
        <p:nvSpPr>
          <p:cNvPr id="64" name="Text 62"/>
          <p:cNvSpPr/>
          <p:nvPr/>
        </p:nvSpPr>
        <p:spPr>
          <a:xfrm>
            <a:off x="4749165" y="1468844"/>
            <a:ext cx="4320540" cy="207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Supply-chain Levels for Software Artifacts 框架获更多企业采用，分级验证成为趋势，从基础构建到完全自动化供应链验证逐步落地。</a:t>
            </a:r>
            <a:endParaRPr lang="en-US" sz="563" dirty="0"/>
          </a:p>
        </p:txBody>
      </p:sp>
      <p:sp>
        <p:nvSpPr>
          <p:cNvPr id="65" name="Shape 63"/>
          <p:cNvSpPr/>
          <p:nvPr/>
        </p:nvSpPr>
        <p:spPr>
          <a:xfrm>
            <a:off x="4749165" y="2411730"/>
            <a:ext cx="3920490" cy="242888"/>
          </a:xfrm>
          <a:prstGeom prst="rect">
            <a:avLst/>
          </a:prstGeom>
          <a:noFill/>
          <a:ln/>
        </p:spPr>
      </p:sp>
      <p:sp>
        <p:nvSpPr>
          <p:cNvPr id="66" name="Shape 64"/>
          <p:cNvSpPr/>
          <p:nvPr/>
        </p:nvSpPr>
        <p:spPr>
          <a:xfrm>
            <a:off x="4749165" y="2411730"/>
            <a:ext cx="3920490" cy="0"/>
          </a:xfrm>
          <a:prstGeom prst="line">
            <a:avLst/>
          </a:prstGeom>
          <a:noFill/>
          <a:ln w="5715">
            <a:solidFill>
              <a:srgbClr val="B0BEC5">
                <a:alpha val="18000"/>
              </a:srgbClr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4749165" y="2484596"/>
            <a:ext cx="160020" cy="160020"/>
          </a:xfrm>
          <a:prstGeom prst="roundRect">
            <a:avLst>
              <a:gd name="adj" fmla="val 14286"/>
            </a:avLst>
          </a:prstGeom>
          <a:noFill/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49165" y="2484596"/>
            <a:ext cx="228600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L4</a:t>
            </a:r>
            <a:endParaRPr lang="en-US" sz="540" dirty="0"/>
          </a:p>
        </p:txBody>
      </p:sp>
      <p:sp>
        <p:nvSpPr>
          <p:cNvPr id="69" name="Text 67"/>
          <p:cNvSpPr/>
          <p:nvPr/>
        </p:nvSpPr>
        <p:spPr>
          <a:xfrm>
            <a:off x="4977765" y="2478881"/>
            <a:ext cx="5715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1-4</a:t>
            </a:r>
            <a:pPr algn="l" indent="0" marL="0">
              <a:lnSpc>
                <a:spcPct val="100000"/>
              </a:lnSpc>
              <a:buNone/>
            </a:pPr>
            <a:r>
              <a:rPr lang="en-US" sz="585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级</a:t>
            </a:r>
            <a:endParaRPr lang="en-US" sz="1350" dirty="0"/>
          </a:p>
        </p:txBody>
      </p:sp>
      <p:sp>
        <p:nvSpPr>
          <p:cNvPr id="70" name="Text 68"/>
          <p:cNvSpPr/>
          <p:nvPr/>
        </p:nvSpPr>
        <p:spPr>
          <a:xfrm>
            <a:off x="5446395" y="2474595"/>
            <a:ext cx="709289" cy="1800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分级验证体系</a:t>
            </a:r>
            <a:pPr algn="l" indent="0" marL="0">
              <a:lnSpc>
                <a:spcPct val="150000"/>
              </a:lnSpc>
              <a:buNone/>
            </a:pPr>
            <a:endParaRPr lang="en-US" sz="47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473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基础构建 → 完全自动化</a:t>
            </a:r>
            <a:endParaRPr lang="en-US" sz="473" dirty="0"/>
          </a:p>
        </p:txBody>
      </p:sp>
      <p:sp>
        <p:nvSpPr>
          <p:cNvPr id="71" name="Shape 69"/>
          <p:cNvSpPr/>
          <p:nvPr/>
        </p:nvSpPr>
        <p:spPr>
          <a:xfrm>
            <a:off x="8041005" y="2553176"/>
            <a:ext cx="628650" cy="22860"/>
          </a:xfrm>
          <a:prstGeom prst="roundRect">
            <a:avLst>
              <a:gd name="adj" fmla="val 50000"/>
            </a:avLst>
          </a:prstGeom>
          <a:solidFill>
            <a:srgbClr val="2196F3">
              <a:alpha val="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041005" y="2553176"/>
            <a:ext cx="490329" cy="228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73" name="Shape 71"/>
          <p:cNvSpPr/>
          <p:nvPr/>
        </p:nvSpPr>
        <p:spPr>
          <a:xfrm>
            <a:off x="342900" y="2854643"/>
            <a:ext cx="4183380" cy="1620203"/>
          </a:xfrm>
          <a:prstGeom prst="roundRect">
            <a:avLst>
              <a:gd name="adj" fmla="val 2116"/>
            </a:avLst>
          </a:prstGeom>
          <a:solidFill>
            <a:srgbClr val="112035"/>
          </a:soli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42900" y="2854643"/>
            <a:ext cx="417195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75" name="Shape 73"/>
          <p:cNvSpPr/>
          <p:nvPr/>
        </p:nvSpPr>
        <p:spPr>
          <a:xfrm>
            <a:off x="4171950" y="4120515"/>
            <a:ext cx="342900" cy="342900"/>
          </a:xfrm>
          <a:prstGeom prst="rect">
            <a:avLst/>
          </a:prstGeom>
          <a:solidFill>
            <a:srgbClr val="2196F3">
              <a:alpha val="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382905" y="2894648"/>
            <a:ext cx="80010" cy="80010"/>
          </a:xfrm>
          <a:prstGeom prst="rect">
            <a:avLst/>
          </a:prstGeom>
          <a:noFill/>
          <a:ln/>
        </p:spPr>
      </p:sp>
      <p:sp>
        <p:nvSpPr>
          <p:cNvPr id="77" name="Shape 75"/>
          <p:cNvSpPr/>
          <p:nvPr/>
        </p:nvSpPr>
        <p:spPr>
          <a:xfrm>
            <a:off x="382905" y="2894648"/>
            <a:ext cx="80010" cy="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82905" y="2894648"/>
            <a:ext cx="0" cy="8001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406265" y="2894648"/>
            <a:ext cx="80010" cy="80010"/>
          </a:xfrm>
          <a:prstGeom prst="rect">
            <a:avLst/>
          </a:prstGeom>
          <a:noFill/>
          <a:ln/>
        </p:spPr>
      </p:sp>
      <p:sp>
        <p:nvSpPr>
          <p:cNvPr id="80" name="Shape 78"/>
          <p:cNvSpPr/>
          <p:nvPr/>
        </p:nvSpPr>
        <p:spPr>
          <a:xfrm>
            <a:off x="4406265" y="2894648"/>
            <a:ext cx="80010" cy="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486275" y="2894648"/>
            <a:ext cx="0" cy="8001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82905" y="4354830"/>
            <a:ext cx="80010" cy="80010"/>
          </a:xfrm>
          <a:prstGeom prst="rect">
            <a:avLst/>
          </a:prstGeom>
          <a:noFill/>
          <a:ln/>
        </p:spPr>
      </p:sp>
      <p:sp>
        <p:nvSpPr>
          <p:cNvPr id="83" name="Shape 81"/>
          <p:cNvSpPr/>
          <p:nvPr/>
        </p:nvSpPr>
        <p:spPr>
          <a:xfrm>
            <a:off x="382905" y="4434840"/>
            <a:ext cx="80010" cy="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82905" y="4354830"/>
            <a:ext cx="0" cy="8001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406265" y="4354830"/>
            <a:ext cx="80010" cy="80010"/>
          </a:xfrm>
          <a:prstGeom prst="rect">
            <a:avLst/>
          </a:prstGeom>
          <a:noFill/>
          <a:ln/>
        </p:spPr>
      </p:sp>
      <p:sp>
        <p:nvSpPr>
          <p:cNvPr id="86" name="Shape 84"/>
          <p:cNvSpPr/>
          <p:nvPr/>
        </p:nvSpPr>
        <p:spPr>
          <a:xfrm>
            <a:off x="4486275" y="4354830"/>
            <a:ext cx="0" cy="8001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406265" y="4434840"/>
            <a:ext cx="80010" cy="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74345" y="2974658"/>
            <a:ext cx="177165" cy="108585"/>
          </a:xfrm>
          <a:prstGeom prst="roundRect">
            <a:avLst>
              <a:gd name="adj" fmla="val 15789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4345" y="2974658"/>
            <a:ext cx="234315" cy="108585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Q3</a:t>
            </a:r>
            <a:endParaRPr lang="en-US" sz="450" dirty="0"/>
          </a:p>
        </p:txBody>
      </p:sp>
      <p:sp>
        <p:nvSpPr>
          <p:cNvPr id="90" name="Text 88"/>
          <p:cNvSpPr/>
          <p:nvPr/>
        </p:nvSpPr>
        <p:spPr>
          <a:xfrm>
            <a:off x="708660" y="2963228"/>
            <a:ext cx="1142543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23" kern="0" dirty="0">
                <a:solidFill>
                  <a:srgbClr val="E8ED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GitHub Dependabot</a:t>
            </a:r>
            <a:endParaRPr lang="en-US" sz="765" dirty="0"/>
          </a:p>
        </p:txBody>
      </p:sp>
      <p:sp>
        <p:nvSpPr>
          <p:cNvPr id="91" name="Text 89"/>
          <p:cNvSpPr/>
          <p:nvPr/>
        </p:nvSpPr>
        <p:spPr>
          <a:xfrm>
            <a:off x="474345" y="3168968"/>
            <a:ext cx="4243730" cy="207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Dependabot 安全更新功能覆盖更多语言，自动 PR 修复流程日趋完善，涵盖 Go、Python、JS、Rust 等主流开发生态。</a:t>
            </a:r>
            <a:endParaRPr lang="en-US" sz="563" dirty="0"/>
          </a:p>
        </p:txBody>
      </p:sp>
      <p:sp>
        <p:nvSpPr>
          <p:cNvPr id="92" name="Shape 90"/>
          <p:cNvSpPr/>
          <p:nvPr/>
        </p:nvSpPr>
        <p:spPr>
          <a:xfrm>
            <a:off x="474345" y="4123373"/>
            <a:ext cx="3920490" cy="242888"/>
          </a:xfrm>
          <a:prstGeom prst="rect">
            <a:avLst/>
          </a:prstGeom>
          <a:noFill/>
          <a:ln/>
        </p:spPr>
      </p:sp>
      <p:sp>
        <p:nvSpPr>
          <p:cNvPr id="93" name="Shape 91"/>
          <p:cNvSpPr/>
          <p:nvPr/>
        </p:nvSpPr>
        <p:spPr>
          <a:xfrm>
            <a:off x="474345" y="4123373"/>
            <a:ext cx="3920490" cy="0"/>
          </a:xfrm>
          <a:prstGeom prst="line">
            <a:avLst/>
          </a:prstGeom>
          <a:noFill/>
          <a:ln w="5715">
            <a:solidFill>
              <a:srgbClr val="B0BEC5">
                <a:alpha val="18000"/>
              </a:srgbClr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>
            <a:off x="474345" y="4196239"/>
            <a:ext cx="160020" cy="160020"/>
          </a:xfrm>
          <a:prstGeom prst="roundRect">
            <a:avLst>
              <a:gd name="adj" fmla="val 14286"/>
            </a:avLst>
          </a:prstGeom>
          <a:noFill/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74345" y="4196239"/>
            <a:ext cx="228600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</a:t>
            </a:r>
            <a:endParaRPr lang="en-US" sz="540" dirty="0"/>
          </a:p>
        </p:txBody>
      </p:sp>
      <p:sp>
        <p:nvSpPr>
          <p:cNvPr id="96" name="Text 94"/>
          <p:cNvSpPr/>
          <p:nvPr/>
        </p:nvSpPr>
        <p:spPr>
          <a:xfrm>
            <a:off x="702945" y="4190524"/>
            <a:ext cx="46863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13</a:t>
            </a:r>
            <a:pPr algn="l" indent="0" marL="0">
              <a:lnSpc>
                <a:spcPct val="100000"/>
              </a:lnSpc>
              <a:buNone/>
            </a:pPr>
            <a:r>
              <a:rPr lang="en-US" sz="585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种</a:t>
            </a:r>
            <a:endParaRPr lang="en-US" sz="1350" dirty="0"/>
          </a:p>
        </p:txBody>
      </p:sp>
      <p:sp>
        <p:nvSpPr>
          <p:cNvPr id="97" name="Text 95"/>
          <p:cNvSpPr/>
          <p:nvPr/>
        </p:nvSpPr>
        <p:spPr>
          <a:xfrm>
            <a:off x="1068705" y="4186238"/>
            <a:ext cx="867308" cy="1800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覆盖语言数量</a:t>
            </a:r>
            <a:pPr algn="l" indent="0" marL="0">
              <a:lnSpc>
                <a:spcPct val="150000"/>
              </a:lnSpc>
              <a:buNone/>
            </a:pPr>
            <a:endParaRPr lang="en-US" sz="47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473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· Python · JS · Rust 等</a:t>
            </a:r>
            <a:endParaRPr lang="en-US" sz="473" dirty="0"/>
          </a:p>
        </p:txBody>
      </p:sp>
      <p:sp>
        <p:nvSpPr>
          <p:cNvPr id="98" name="Shape 96"/>
          <p:cNvSpPr/>
          <p:nvPr/>
        </p:nvSpPr>
        <p:spPr>
          <a:xfrm>
            <a:off x="3766185" y="4264819"/>
            <a:ext cx="628650" cy="22860"/>
          </a:xfrm>
          <a:prstGeom prst="roundRect">
            <a:avLst>
              <a:gd name="adj" fmla="val 50000"/>
            </a:avLst>
          </a:prstGeom>
          <a:solidFill>
            <a:srgbClr val="2196F3">
              <a:alpha val="8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3766185" y="4264819"/>
            <a:ext cx="408623" cy="228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00" name="Shape 98"/>
          <p:cNvSpPr/>
          <p:nvPr/>
        </p:nvSpPr>
        <p:spPr>
          <a:xfrm>
            <a:off x="4617720" y="2854643"/>
            <a:ext cx="4183380" cy="1620203"/>
          </a:xfrm>
          <a:prstGeom prst="roundRect">
            <a:avLst>
              <a:gd name="adj" fmla="val 2116"/>
            </a:avLst>
          </a:prstGeom>
          <a:solidFill>
            <a:srgbClr val="112035"/>
          </a:soli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617720" y="2854643"/>
            <a:ext cx="417195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02" name="Shape 100"/>
          <p:cNvSpPr/>
          <p:nvPr/>
        </p:nvSpPr>
        <p:spPr>
          <a:xfrm>
            <a:off x="8446770" y="4120515"/>
            <a:ext cx="342900" cy="342900"/>
          </a:xfrm>
          <a:prstGeom prst="rect">
            <a:avLst/>
          </a:prstGeom>
          <a:solidFill>
            <a:srgbClr val="2196F3">
              <a:alpha val="8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4657725" y="2894648"/>
            <a:ext cx="80010" cy="80010"/>
          </a:xfrm>
          <a:prstGeom prst="rect">
            <a:avLst/>
          </a:prstGeom>
          <a:noFill/>
          <a:ln/>
        </p:spPr>
      </p:sp>
      <p:sp>
        <p:nvSpPr>
          <p:cNvPr id="104" name="Shape 102"/>
          <p:cNvSpPr/>
          <p:nvPr/>
        </p:nvSpPr>
        <p:spPr>
          <a:xfrm>
            <a:off x="4657725" y="2894648"/>
            <a:ext cx="80010" cy="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657725" y="2894648"/>
            <a:ext cx="0" cy="8001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681085" y="2894648"/>
            <a:ext cx="80010" cy="80010"/>
          </a:xfrm>
          <a:prstGeom prst="rect">
            <a:avLst/>
          </a:prstGeom>
          <a:noFill/>
          <a:ln/>
        </p:spPr>
      </p:sp>
      <p:sp>
        <p:nvSpPr>
          <p:cNvPr id="107" name="Shape 105"/>
          <p:cNvSpPr/>
          <p:nvPr/>
        </p:nvSpPr>
        <p:spPr>
          <a:xfrm>
            <a:off x="8681085" y="2894648"/>
            <a:ext cx="80010" cy="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761095" y="2894648"/>
            <a:ext cx="0" cy="8001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657725" y="4354830"/>
            <a:ext cx="80010" cy="80010"/>
          </a:xfrm>
          <a:prstGeom prst="rect">
            <a:avLst/>
          </a:prstGeom>
          <a:noFill/>
          <a:ln/>
        </p:spPr>
      </p:sp>
      <p:sp>
        <p:nvSpPr>
          <p:cNvPr id="110" name="Shape 108"/>
          <p:cNvSpPr/>
          <p:nvPr/>
        </p:nvSpPr>
        <p:spPr>
          <a:xfrm>
            <a:off x="4657725" y="4434840"/>
            <a:ext cx="80010" cy="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657725" y="4354830"/>
            <a:ext cx="0" cy="8001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681085" y="4354830"/>
            <a:ext cx="80010" cy="80010"/>
          </a:xfrm>
          <a:prstGeom prst="rect">
            <a:avLst/>
          </a:prstGeom>
          <a:noFill/>
          <a:ln/>
        </p:spPr>
      </p:sp>
      <p:sp>
        <p:nvSpPr>
          <p:cNvPr id="113" name="Shape 111"/>
          <p:cNvSpPr/>
          <p:nvPr/>
        </p:nvSpPr>
        <p:spPr>
          <a:xfrm>
            <a:off x="8761095" y="4354830"/>
            <a:ext cx="0" cy="8001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681085" y="4434840"/>
            <a:ext cx="80010" cy="0"/>
          </a:xfrm>
          <a:prstGeom prst="line">
            <a:avLst/>
          </a:prstGeom>
          <a:noFill/>
          <a:ln w="5715">
            <a:solidFill>
              <a:srgbClr val="E8EDF3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749165" y="2980373"/>
            <a:ext cx="177165" cy="108585"/>
          </a:xfrm>
          <a:prstGeom prst="roundRect">
            <a:avLst>
              <a:gd name="adj" fmla="val 15789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749165" y="2980373"/>
            <a:ext cx="234315" cy="108585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Q4</a:t>
            </a:r>
            <a:endParaRPr lang="en-US" sz="450" dirty="0"/>
          </a:p>
        </p:txBody>
      </p:sp>
      <p:sp>
        <p:nvSpPr>
          <p:cNvPr id="117" name="Text 115"/>
          <p:cNvSpPr/>
          <p:nvPr/>
        </p:nvSpPr>
        <p:spPr>
          <a:xfrm>
            <a:off x="4983480" y="2963228"/>
            <a:ext cx="837248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23" kern="0" dirty="0">
                <a:solidFill>
                  <a:srgbClr val="E8ED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CNCF 安全 SIG</a:t>
            </a:r>
            <a:endParaRPr lang="en-US" sz="765" dirty="0"/>
          </a:p>
        </p:txBody>
      </p:sp>
      <p:sp>
        <p:nvSpPr>
          <p:cNvPr id="118" name="Text 116"/>
          <p:cNvSpPr/>
          <p:nvPr/>
        </p:nvSpPr>
        <p:spPr>
          <a:xfrm>
            <a:off x="4749165" y="3180398"/>
            <a:ext cx="433974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云原生供应链安全 SIG 发布系列白皮书，推动行业标准化工具链建设，为容器化部署与微服务架构提供安全基线参考。</a:t>
            </a:r>
            <a:endParaRPr lang="en-US" sz="563" dirty="0"/>
          </a:p>
        </p:txBody>
      </p:sp>
      <p:sp>
        <p:nvSpPr>
          <p:cNvPr id="119" name="Shape 117"/>
          <p:cNvSpPr/>
          <p:nvPr/>
        </p:nvSpPr>
        <p:spPr>
          <a:xfrm>
            <a:off x="4749165" y="4123373"/>
            <a:ext cx="3920490" cy="242888"/>
          </a:xfrm>
          <a:prstGeom prst="rect">
            <a:avLst/>
          </a:prstGeom>
          <a:noFill/>
          <a:ln/>
        </p:spPr>
      </p:sp>
      <p:sp>
        <p:nvSpPr>
          <p:cNvPr id="120" name="Shape 118"/>
          <p:cNvSpPr/>
          <p:nvPr/>
        </p:nvSpPr>
        <p:spPr>
          <a:xfrm>
            <a:off x="4749165" y="4123373"/>
            <a:ext cx="3920490" cy="0"/>
          </a:xfrm>
          <a:prstGeom prst="line">
            <a:avLst/>
          </a:prstGeom>
          <a:noFill/>
          <a:ln w="5715">
            <a:solidFill>
              <a:srgbClr val="B0BEC5">
                <a:alpha val="18000"/>
              </a:srgbClr>
            </a:solidFill>
            <a:prstDash val="dash"/>
          </a:ln>
        </p:spPr>
      </p:sp>
      <p:sp>
        <p:nvSpPr>
          <p:cNvPr id="121" name="Shape 119"/>
          <p:cNvSpPr/>
          <p:nvPr/>
        </p:nvSpPr>
        <p:spPr>
          <a:xfrm>
            <a:off x="4749165" y="4196239"/>
            <a:ext cx="160020" cy="160020"/>
          </a:xfrm>
          <a:prstGeom prst="roundRect">
            <a:avLst>
              <a:gd name="adj" fmla="val 14286"/>
            </a:avLst>
          </a:prstGeom>
          <a:noFill/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749165" y="4196239"/>
            <a:ext cx="228600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540" dirty="0"/>
          </a:p>
        </p:txBody>
      </p:sp>
      <p:sp>
        <p:nvSpPr>
          <p:cNvPr id="123" name="Text 121"/>
          <p:cNvSpPr/>
          <p:nvPr/>
        </p:nvSpPr>
        <p:spPr>
          <a:xfrm>
            <a:off x="4977765" y="4190524"/>
            <a:ext cx="36576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</a:t>
            </a:r>
            <a:pPr algn="l" indent="0" marL="0">
              <a:lnSpc>
                <a:spcPct val="100000"/>
              </a:lnSpc>
              <a:buNone/>
            </a:pPr>
            <a:r>
              <a:rPr lang="en-US" sz="585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份</a:t>
            </a:r>
            <a:endParaRPr lang="en-US" sz="1350" dirty="0"/>
          </a:p>
        </p:txBody>
      </p:sp>
      <p:sp>
        <p:nvSpPr>
          <p:cNvPr id="124" name="Text 122"/>
          <p:cNvSpPr/>
          <p:nvPr/>
        </p:nvSpPr>
        <p:spPr>
          <a:xfrm>
            <a:off x="5240655" y="4186238"/>
            <a:ext cx="684886" cy="1800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安全白皮书已发布</a:t>
            </a:r>
            <a:pPr algn="l" indent="0" marL="0">
              <a:lnSpc>
                <a:spcPct val="150000"/>
              </a:lnSpc>
              <a:buNone/>
            </a:pPr>
            <a:endParaRPr lang="en-US" sz="47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473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 年 2 月前已发布</a:t>
            </a:r>
            <a:endParaRPr lang="en-US" sz="473" dirty="0"/>
          </a:p>
        </p:txBody>
      </p:sp>
      <p:sp>
        <p:nvSpPr>
          <p:cNvPr id="125" name="Shape 123"/>
          <p:cNvSpPr/>
          <p:nvPr/>
        </p:nvSpPr>
        <p:spPr>
          <a:xfrm>
            <a:off x="8041005" y="4264819"/>
            <a:ext cx="628650" cy="22860"/>
          </a:xfrm>
          <a:prstGeom prst="roundRect">
            <a:avLst>
              <a:gd name="adj" fmla="val 50000"/>
            </a:avLst>
          </a:prstGeom>
          <a:solidFill>
            <a:srgbClr val="2196F3">
              <a:alpha val="8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8041005" y="4264819"/>
            <a:ext cx="326827" cy="228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27" name="Shape 125"/>
          <p:cNvSpPr/>
          <p:nvPr/>
        </p:nvSpPr>
        <p:spPr>
          <a:xfrm>
            <a:off x="4229100" y="2466023"/>
            <a:ext cx="685800" cy="685800"/>
          </a:xfrm>
          <a:prstGeom prst="ellipse">
            <a:avLst/>
          </a:prstGeom>
          <a:gradFill rotWithShape="1">
            <a:gsLst>
              <a:gs pos="0">
                <a:srgbClr val="2196F3">
                  <a:alpha val="30000"/>
                </a:srgbClr>
              </a:gs>
              <a:gs pos="50000">
                <a:srgbClr val="2196F3">
                  <a:alpha val="5000"/>
                </a:srgbClr>
              </a:gs>
              <a:gs pos="8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28" name="Shape 126"/>
          <p:cNvSpPr/>
          <p:nvPr/>
        </p:nvSpPr>
        <p:spPr>
          <a:xfrm>
            <a:off x="4274820" y="2511743"/>
            <a:ext cx="594360" cy="594360"/>
          </a:xfrm>
          <a:prstGeom prst="ellipse">
            <a:avLst/>
          </a:prstGeom>
          <a:noFill/>
          <a:ln w="5715">
            <a:solidFill>
              <a:srgbClr val="00BCD4">
                <a:alpha val="35000"/>
              </a:srgbClr>
            </a:solidFill>
            <a:prstDash val="dash"/>
          </a:ln>
        </p:spPr>
      </p:sp>
      <p:pic>
        <p:nvPicPr>
          <p:cNvPr id="12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83405" y="2620328"/>
            <a:ext cx="377190" cy="377190"/>
          </a:xfrm>
          <a:prstGeom prst="rect">
            <a:avLst/>
          </a:prstGeom>
        </p:spPr>
      </p:pic>
      <p:sp>
        <p:nvSpPr>
          <p:cNvPr id="130" name="Shape 127"/>
          <p:cNvSpPr/>
          <p:nvPr/>
        </p:nvSpPr>
        <p:spPr>
          <a:xfrm>
            <a:off x="342900" y="4577715"/>
            <a:ext cx="8458200" cy="308610"/>
          </a:xfrm>
          <a:prstGeom prst="rect">
            <a:avLst/>
          </a:prstGeom>
          <a:solidFill>
            <a:srgbClr val="2196F3">
              <a:alpha val="4000"/>
            </a:srgbClr>
          </a:solidFill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2818924" y="4666298"/>
            <a:ext cx="485775" cy="131445"/>
          </a:xfrm>
          <a:prstGeom prst="roundRect">
            <a:avLst>
              <a:gd name="adj" fmla="val 13043"/>
            </a:avLst>
          </a:prstGeom>
          <a:noFill/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132" name="Text 129"/>
          <p:cNvSpPr/>
          <p:nvPr/>
        </p:nvSpPr>
        <p:spPr>
          <a:xfrm>
            <a:off x="2818924" y="4666298"/>
            <a:ext cx="544068" cy="131445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SUMMARY</a:t>
            </a:r>
            <a:endParaRPr lang="en-US" sz="450" dirty="0"/>
          </a:p>
        </p:txBody>
      </p:sp>
      <p:sp>
        <p:nvSpPr>
          <p:cNvPr id="133" name="Shape 130"/>
          <p:cNvSpPr/>
          <p:nvPr/>
        </p:nvSpPr>
        <p:spPr>
          <a:xfrm>
            <a:off x="3418999" y="4663440"/>
            <a:ext cx="5715" cy="137160"/>
          </a:xfrm>
          <a:prstGeom prst="rect">
            <a:avLst/>
          </a:prstGeom>
          <a:solidFill>
            <a:srgbClr val="2196F3">
              <a:alpha val="30000"/>
            </a:srgbClr>
          </a:solidFill>
          <a:ln/>
        </p:spPr>
      </p:sp>
      <p:sp>
        <p:nvSpPr>
          <p:cNvPr id="134" name="Text 131"/>
          <p:cNvSpPr/>
          <p:nvPr/>
        </p:nvSpPr>
        <p:spPr>
          <a:xfrm>
            <a:off x="3539014" y="4672013"/>
            <a:ext cx="2198675" cy="120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75" spc="68" kern="0" dirty="0">
                <a:solidFill>
                  <a:srgbClr val="E8ED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Log4j 余波推动行业从</a:t>
            </a:r>
            <a:pPr algn="l" indent="0" marL="0">
              <a:buNone/>
            </a:pPr>
            <a:r>
              <a:rPr lang="en-US" sz="675" spc="68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被动修复</a:t>
            </a:r>
            <a:pPr algn="l" indent="0" marL="0">
              <a:buNone/>
            </a:pPr>
            <a:r>
              <a:rPr lang="en-US" sz="675" spc="68" kern="0" dirty="0">
                <a:solidFill>
                  <a:srgbClr val="E8ED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走向</a:t>
            </a:r>
            <a:pPr algn="l" indent="0" marL="0">
              <a:buNone/>
            </a:pPr>
            <a:r>
              <a:rPr lang="en-US" sz="675" spc="68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主动防御</a:t>
            </a:r>
            <a:endParaRPr lang="en-US" sz="675" dirty="0"/>
          </a:p>
        </p:txBody>
      </p:sp>
      <p:sp>
        <p:nvSpPr>
          <p:cNvPr id="135" name="Shape 132"/>
          <p:cNvSpPr/>
          <p:nvPr/>
        </p:nvSpPr>
        <p:spPr>
          <a:xfrm>
            <a:off x="5616416" y="4663440"/>
            <a:ext cx="5715" cy="137160"/>
          </a:xfrm>
          <a:prstGeom prst="rect">
            <a:avLst/>
          </a:prstGeom>
          <a:solidFill>
            <a:srgbClr val="2196F3">
              <a:alpha val="30000"/>
            </a:srgbClr>
          </a:solidFill>
          <a:ln/>
        </p:spPr>
      </p:sp>
      <p:sp>
        <p:nvSpPr>
          <p:cNvPr id="136" name="Shape 133"/>
          <p:cNvSpPr/>
          <p:nvPr/>
        </p:nvSpPr>
        <p:spPr>
          <a:xfrm>
            <a:off x="5736431" y="4666298"/>
            <a:ext cx="588645" cy="131445"/>
          </a:xfrm>
          <a:prstGeom prst="roundRect">
            <a:avLst>
              <a:gd name="adj" fmla="val 13043"/>
            </a:avLst>
          </a:prstGeom>
          <a:noFill/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5736431" y="4666298"/>
            <a:ext cx="659282" cy="131445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 · 02</a:t>
            </a:r>
            <a:endParaRPr lang="en-US" sz="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A0E1A"/>
              </a:gs>
              <a:gs pos="40000">
                <a:srgbClr val="0D1525"/>
              </a:gs>
              <a:gs pos="70000">
                <a:srgbClr val="0A1628"/>
              </a:gs>
              <a:gs pos="100000">
                <a:srgbClr val="080C16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342900" y="245745"/>
            <a:ext cx="22860" cy="2286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5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68630" y="228600"/>
            <a:ext cx="1617345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40" b="1" spc="45" kern="0" dirty="0">
                <a:solidFill>
                  <a:srgbClr val="E8EA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2月</a:t>
            </a:r>
            <a:pPr algn="l" indent="0" marL="0">
              <a:buNone/>
            </a:pPr>
            <a:r>
              <a:rPr lang="en-US" sz="1440" b="1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开源数据</a:t>
            </a:r>
            <a:pPr algn="l" indent="0" marL="0">
              <a:buNone/>
            </a:pPr>
            <a:r>
              <a:rPr lang="en-US" sz="1440" b="1" spc="45" kern="0" dirty="0">
                <a:solidFill>
                  <a:srgbClr val="E8EA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全景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342900" y="537210"/>
            <a:ext cx="8833104" cy="118854"/>
          </a:xfrm>
          <a:prstGeom prst="rect">
            <a:avLst/>
          </a:prstGeom>
          <a:noFill/>
          <a:ln/>
        </p:spPr>
        <p:txBody>
          <a:bodyPr wrap="none" lIns="0" tIns="12573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用数据说话——2022年2月的开源世界呈现出增长与安全并存的格局，AI相关项目爆发式增长，Rust持续逆袭，中国贡献者群体不断扩大，而安全事件的高占比也提醒我们开源治理仍需持续投入。</a:t>
            </a:r>
            <a:endParaRPr lang="en-US" sz="585" dirty="0"/>
          </a:p>
        </p:txBody>
      </p:sp>
      <p:sp>
        <p:nvSpPr>
          <p:cNvPr id="6" name="Shape 4"/>
          <p:cNvSpPr/>
          <p:nvPr/>
        </p:nvSpPr>
        <p:spPr>
          <a:xfrm>
            <a:off x="342900" y="781794"/>
            <a:ext cx="845820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30000">
                <a:srgbClr val="00BCD4"/>
              </a:gs>
              <a:gs pos="8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" name="Shape 5"/>
          <p:cNvSpPr/>
          <p:nvPr/>
        </p:nvSpPr>
        <p:spPr>
          <a:xfrm>
            <a:off x="342900" y="890379"/>
            <a:ext cx="2766060" cy="958959"/>
          </a:xfrm>
          <a:prstGeom prst="roundRect">
            <a:avLst>
              <a:gd name="adj" fmla="val 5960"/>
            </a:avLst>
          </a:prstGeom>
          <a:solidFill>
            <a:srgbClr val="111827"/>
          </a:solidFill>
          <a:ln w="5715">
            <a:solidFill>
              <a:srgbClr val="1E2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" y="890379"/>
            <a:ext cx="275463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9" name="Shape 7"/>
          <p:cNvSpPr/>
          <p:nvPr/>
        </p:nvSpPr>
        <p:spPr>
          <a:xfrm>
            <a:off x="2697480" y="718929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0" name="Text 8"/>
          <p:cNvSpPr/>
          <p:nvPr/>
        </p:nvSpPr>
        <p:spPr>
          <a:xfrm>
            <a:off x="451485" y="987534"/>
            <a:ext cx="2854757" cy="8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789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CONTRIBUTORS</a:t>
            </a:r>
            <a:endParaRPr lang="en-US" sz="495" dirty="0"/>
          </a:p>
        </p:txBody>
      </p:sp>
      <p:sp>
        <p:nvSpPr>
          <p:cNvPr id="11" name="Shape 9"/>
          <p:cNvSpPr/>
          <p:nvPr/>
        </p:nvSpPr>
        <p:spPr>
          <a:xfrm>
            <a:off x="451485" y="1018967"/>
            <a:ext cx="28575" cy="28575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1485" y="1090404"/>
            <a:ext cx="2854757" cy="238869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1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2000</a:t>
            </a:r>
            <a:pPr algn="l" indent="0" marL="0">
              <a:lnSpc>
                <a:spcPct val="110000"/>
              </a:lnSpc>
              <a:buNone/>
            </a:pPr>
            <a:r>
              <a:rPr lang="en-US" sz="810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万+</a:t>
            </a:r>
            <a:endParaRPr lang="en-US" sz="1710" dirty="0"/>
          </a:p>
        </p:txBody>
      </p:sp>
      <p:sp>
        <p:nvSpPr>
          <p:cNvPr id="13" name="Text 11"/>
          <p:cNvSpPr/>
          <p:nvPr/>
        </p:nvSpPr>
        <p:spPr>
          <a:xfrm>
            <a:off x="451485" y="1363563"/>
            <a:ext cx="2854757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全球月度活跃贡献者</a:t>
            </a:r>
            <a:endParaRPr lang="en-US" sz="585" dirty="0"/>
          </a:p>
        </p:txBody>
      </p:sp>
      <p:sp>
        <p:nvSpPr>
          <p:cNvPr id="14" name="Text 12"/>
          <p:cNvSpPr/>
          <p:nvPr/>
        </p:nvSpPr>
        <p:spPr>
          <a:xfrm>
            <a:off x="451485" y="1495008"/>
            <a:ext cx="285475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789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平台统计口径</a:t>
            </a:r>
            <a:endParaRPr lang="en-US" sz="450" dirty="0"/>
          </a:p>
        </p:txBody>
      </p:sp>
      <p:sp>
        <p:nvSpPr>
          <p:cNvPr id="15" name="Text 13"/>
          <p:cNvSpPr/>
          <p:nvPr/>
        </p:nvSpPr>
        <p:spPr>
          <a:xfrm>
            <a:off x="451485" y="1635026"/>
            <a:ext cx="14162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4CA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630" dirty="0"/>
          </a:p>
        </p:txBody>
      </p:sp>
      <p:sp>
        <p:nvSpPr>
          <p:cNvPr id="16" name="Text 14"/>
          <p:cNvSpPr/>
          <p:nvPr/>
        </p:nvSpPr>
        <p:spPr>
          <a:xfrm>
            <a:off x="558820" y="1640741"/>
            <a:ext cx="62727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持续攀升 · 历史峰值</a:t>
            </a:r>
            <a:endParaRPr lang="en-US" sz="450" dirty="0"/>
          </a:p>
        </p:txBody>
      </p:sp>
      <p:sp>
        <p:nvSpPr>
          <p:cNvPr id="17" name="Shape 15"/>
          <p:cNvSpPr/>
          <p:nvPr/>
        </p:nvSpPr>
        <p:spPr>
          <a:xfrm>
            <a:off x="2920365" y="1706463"/>
            <a:ext cx="0" cy="45720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931795" y="1689318"/>
            <a:ext cx="0" cy="62865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943225" y="1697355"/>
            <a:ext cx="0" cy="54828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954655" y="1677888"/>
            <a:ext cx="0" cy="74295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966085" y="1683603"/>
            <a:ext cx="0" cy="68580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977515" y="1666458"/>
            <a:ext cx="0" cy="85725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88945" y="1649313"/>
            <a:ext cx="0" cy="102870"/>
          </a:xfrm>
          <a:prstGeom prst="roundRect">
            <a:avLst>
              <a:gd name="adj" fmla="val Infinity"/>
            </a:avLst>
          </a:prstGeom>
          <a:solidFill>
            <a:srgbClr val="00BCD4"/>
          </a:solidFill>
          <a:ln/>
        </p:spPr>
      </p:sp>
      <p:sp>
        <p:nvSpPr>
          <p:cNvPr id="24" name="Shape 22"/>
          <p:cNvSpPr/>
          <p:nvPr/>
        </p:nvSpPr>
        <p:spPr>
          <a:xfrm>
            <a:off x="3000375" y="1637883"/>
            <a:ext cx="0" cy="114300"/>
          </a:xfrm>
          <a:prstGeom prst="roundRect">
            <a:avLst>
              <a:gd name="adj" fmla="val Infinity"/>
            </a:avLst>
          </a:prstGeom>
          <a:solidFill>
            <a:srgbClr val="00BCD4"/>
          </a:solidFill>
          <a:ln/>
        </p:spPr>
      </p:sp>
      <p:sp>
        <p:nvSpPr>
          <p:cNvPr id="25" name="Shape 23"/>
          <p:cNvSpPr/>
          <p:nvPr/>
        </p:nvSpPr>
        <p:spPr>
          <a:xfrm>
            <a:off x="3188970" y="890379"/>
            <a:ext cx="2766060" cy="958959"/>
          </a:xfrm>
          <a:prstGeom prst="roundRect">
            <a:avLst>
              <a:gd name="adj" fmla="val 5960"/>
            </a:avLst>
          </a:prstGeom>
          <a:solidFill>
            <a:srgbClr val="111827"/>
          </a:solidFill>
          <a:ln w="5715">
            <a:solidFill>
              <a:srgbClr val="1E2A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88970" y="890379"/>
            <a:ext cx="275463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27" name="Shape 25"/>
          <p:cNvSpPr/>
          <p:nvPr/>
        </p:nvSpPr>
        <p:spPr>
          <a:xfrm>
            <a:off x="5543550" y="718929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8" name="Text 26"/>
          <p:cNvSpPr/>
          <p:nvPr/>
        </p:nvSpPr>
        <p:spPr>
          <a:xfrm>
            <a:off x="3297555" y="987534"/>
            <a:ext cx="2854757" cy="8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789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 RANK</a:t>
            </a:r>
            <a:endParaRPr lang="en-US" sz="495" dirty="0"/>
          </a:p>
        </p:txBody>
      </p:sp>
      <p:sp>
        <p:nvSpPr>
          <p:cNvPr id="29" name="Shape 27"/>
          <p:cNvSpPr/>
          <p:nvPr/>
        </p:nvSpPr>
        <p:spPr>
          <a:xfrm>
            <a:off x="3297555" y="1018967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97555" y="1090404"/>
            <a:ext cx="2854757" cy="238869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1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第10</a:t>
            </a:r>
            <a:pPr algn="l" indent="0" marL="0">
              <a:lnSpc>
                <a:spcPct val="110000"/>
              </a:lnSpc>
              <a:buNone/>
            </a:pPr>
            <a:r>
              <a:rPr lang="en-US" sz="810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位</a:t>
            </a:r>
            <a:endParaRPr lang="en-US" sz="1710" dirty="0"/>
          </a:p>
        </p:txBody>
      </p:sp>
      <p:sp>
        <p:nvSpPr>
          <p:cNvPr id="31" name="Text 29"/>
          <p:cNvSpPr/>
          <p:nvPr/>
        </p:nvSpPr>
        <p:spPr>
          <a:xfrm>
            <a:off x="3297555" y="1363563"/>
            <a:ext cx="2854757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Rust TIOBE 排名</a:t>
            </a:r>
            <a:endParaRPr lang="en-US" sz="585" dirty="0"/>
          </a:p>
        </p:txBody>
      </p:sp>
      <p:sp>
        <p:nvSpPr>
          <p:cNvPr id="32" name="Text 30"/>
          <p:cNvSpPr/>
          <p:nvPr/>
        </p:nvSpPr>
        <p:spPr>
          <a:xfrm>
            <a:off x="3297555" y="1495008"/>
            <a:ext cx="285475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789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历史首次进入前 10</a:t>
            </a:r>
            <a:endParaRPr lang="en-US" sz="450" dirty="0"/>
          </a:p>
        </p:txBody>
      </p:sp>
      <p:sp>
        <p:nvSpPr>
          <p:cNvPr id="33" name="Text 31"/>
          <p:cNvSpPr/>
          <p:nvPr/>
        </p:nvSpPr>
        <p:spPr>
          <a:xfrm>
            <a:off x="3297555" y="1635026"/>
            <a:ext cx="14162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630" dirty="0"/>
          </a:p>
        </p:txBody>
      </p:sp>
      <p:sp>
        <p:nvSpPr>
          <p:cNvPr id="34" name="Text 32"/>
          <p:cNvSpPr/>
          <p:nvPr/>
        </p:nvSpPr>
        <p:spPr>
          <a:xfrm>
            <a:off x="3404890" y="1640741"/>
            <a:ext cx="56327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逆袭跃升 · 里程碑</a:t>
            </a:r>
            <a:endParaRPr lang="en-US" sz="450" dirty="0"/>
          </a:p>
        </p:txBody>
      </p:sp>
      <p:sp>
        <p:nvSpPr>
          <p:cNvPr id="35" name="Shape 33"/>
          <p:cNvSpPr/>
          <p:nvPr/>
        </p:nvSpPr>
        <p:spPr>
          <a:xfrm>
            <a:off x="5766435" y="1649313"/>
            <a:ext cx="0" cy="102870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777865" y="1660743"/>
            <a:ext cx="0" cy="91440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89295" y="1669941"/>
            <a:ext cx="0" cy="82242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800725" y="1683603"/>
            <a:ext cx="0" cy="68580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812155" y="1695033"/>
            <a:ext cx="0" cy="57150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823585" y="1706463"/>
            <a:ext cx="0" cy="45720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835015" y="1717893"/>
            <a:ext cx="0" cy="34290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46445" y="1729323"/>
            <a:ext cx="0" cy="22860"/>
          </a:xfrm>
          <a:prstGeom prst="roundRect">
            <a:avLst>
              <a:gd name="adj" fmla="val Infinity"/>
            </a:avLst>
          </a:prstGeom>
          <a:solidFill>
            <a:srgbClr val="00BCD4"/>
          </a:solidFill>
          <a:ln/>
        </p:spPr>
      </p:sp>
      <p:sp>
        <p:nvSpPr>
          <p:cNvPr id="43" name="Shape 41"/>
          <p:cNvSpPr/>
          <p:nvPr/>
        </p:nvSpPr>
        <p:spPr>
          <a:xfrm>
            <a:off x="6035040" y="890379"/>
            <a:ext cx="2766060" cy="958959"/>
          </a:xfrm>
          <a:prstGeom prst="roundRect">
            <a:avLst>
              <a:gd name="adj" fmla="val 5960"/>
            </a:avLst>
          </a:prstGeom>
          <a:solidFill>
            <a:srgbClr val="111827"/>
          </a:solidFill>
          <a:ln w="5715">
            <a:solidFill>
              <a:srgbClr val="1E2A3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890379"/>
            <a:ext cx="275463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5" name="Shape 43"/>
          <p:cNvSpPr/>
          <p:nvPr/>
        </p:nvSpPr>
        <p:spPr>
          <a:xfrm>
            <a:off x="8389620" y="718929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6" name="Text 44"/>
          <p:cNvSpPr/>
          <p:nvPr/>
        </p:nvSpPr>
        <p:spPr>
          <a:xfrm>
            <a:off x="6143625" y="987534"/>
            <a:ext cx="2854757" cy="8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789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 CONTRIBUTORS</a:t>
            </a:r>
            <a:endParaRPr lang="en-US" sz="495" dirty="0"/>
          </a:p>
        </p:txBody>
      </p:sp>
      <p:sp>
        <p:nvSpPr>
          <p:cNvPr id="47" name="Shape 45"/>
          <p:cNvSpPr/>
          <p:nvPr/>
        </p:nvSpPr>
        <p:spPr>
          <a:xfrm>
            <a:off x="6143625" y="1018967"/>
            <a:ext cx="28575" cy="28575"/>
          </a:xfrm>
          <a:prstGeom prst="ellipse">
            <a:avLst/>
          </a:prstGeom>
          <a:solidFill>
            <a:srgbClr val="4CAF50"/>
          </a:solidFill>
          <a:ln/>
          <a:effectLst>
            <a:outerShdw sx="100000" sy="100000" kx="0" ky="0" algn="bl" rotWithShape="0" blurRad="57150" dist="50800" dir="16200000">
              <a:srgbClr val="4CAF50">
                <a:alpha val="10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143625" y="1090404"/>
            <a:ext cx="2854757" cy="238869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1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25</a:t>
            </a:r>
            <a:pPr algn="l" indent="0" marL="0">
              <a:lnSpc>
                <a:spcPct val="110000"/>
              </a:lnSpc>
              <a:buNone/>
            </a:pPr>
            <a:r>
              <a:rPr lang="en-US" sz="810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%</a:t>
            </a:r>
            <a:endParaRPr lang="en-US" sz="1710" dirty="0"/>
          </a:p>
        </p:txBody>
      </p:sp>
      <p:sp>
        <p:nvSpPr>
          <p:cNvPr id="49" name="Text 47"/>
          <p:cNvSpPr/>
          <p:nvPr/>
        </p:nvSpPr>
        <p:spPr>
          <a:xfrm>
            <a:off x="6143625" y="1363563"/>
            <a:ext cx="2854757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中国贡献者占比</a:t>
            </a:r>
            <a:endParaRPr lang="en-US" sz="585" dirty="0"/>
          </a:p>
        </p:txBody>
      </p:sp>
      <p:sp>
        <p:nvSpPr>
          <p:cNvPr id="50" name="Text 48"/>
          <p:cNvSpPr/>
          <p:nvPr/>
        </p:nvSpPr>
        <p:spPr>
          <a:xfrm>
            <a:off x="6143625" y="1495008"/>
            <a:ext cx="285475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789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CNCF 年度调查数据趋势</a:t>
            </a:r>
            <a:endParaRPr lang="en-US" sz="450" dirty="0"/>
          </a:p>
        </p:txBody>
      </p:sp>
      <p:sp>
        <p:nvSpPr>
          <p:cNvPr id="51" name="Text 49"/>
          <p:cNvSpPr/>
          <p:nvPr/>
        </p:nvSpPr>
        <p:spPr>
          <a:xfrm>
            <a:off x="6143625" y="1635026"/>
            <a:ext cx="14162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4CA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630" dirty="0"/>
          </a:p>
        </p:txBody>
      </p:sp>
      <p:sp>
        <p:nvSpPr>
          <p:cNvPr id="52" name="Text 50"/>
          <p:cNvSpPr/>
          <p:nvPr/>
        </p:nvSpPr>
        <p:spPr>
          <a:xfrm>
            <a:off x="6250960" y="1640741"/>
            <a:ext cx="62727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增速领跑 · 群体扩大</a:t>
            </a:r>
            <a:endParaRPr lang="en-US" sz="450" dirty="0"/>
          </a:p>
        </p:txBody>
      </p:sp>
      <p:sp>
        <p:nvSpPr>
          <p:cNvPr id="53" name="Shape 51"/>
          <p:cNvSpPr/>
          <p:nvPr/>
        </p:nvSpPr>
        <p:spPr>
          <a:xfrm>
            <a:off x="8612505" y="1717893"/>
            <a:ext cx="0" cy="34290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623935" y="1704231"/>
            <a:ext cx="0" cy="47952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635365" y="1695033"/>
            <a:ext cx="0" cy="57150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46795" y="1689318"/>
            <a:ext cx="0" cy="62865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658225" y="1681371"/>
            <a:ext cx="0" cy="70812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69655" y="1672173"/>
            <a:ext cx="0" cy="80010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681085" y="1660743"/>
            <a:ext cx="0" cy="91440"/>
          </a:xfrm>
          <a:prstGeom prst="roundRect">
            <a:avLst>
              <a:gd name="adj" fmla="val Infinity"/>
            </a:avLst>
          </a:prstGeom>
          <a:solidFill>
            <a:srgbClr val="00BCD4"/>
          </a:solidFill>
          <a:ln/>
        </p:spPr>
      </p:sp>
      <p:sp>
        <p:nvSpPr>
          <p:cNvPr id="60" name="Shape 58"/>
          <p:cNvSpPr/>
          <p:nvPr/>
        </p:nvSpPr>
        <p:spPr>
          <a:xfrm>
            <a:off x="8692515" y="1649313"/>
            <a:ext cx="0" cy="102870"/>
          </a:xfrm>
          <a:prstGeom prst="roundRect">
            <a:avLst>
              <a:gd name="adj" fmla="val Infinity"/>
            </a:avLst>
          </a:prstGeom>
          <a:solidFill>
            <a:srgbClr val="00BCD4"/>
          </a:solidFill>
          <a:ln/>
        </p:spPr>
      </p:sp>
      <p:sp>
        <p:nvSpPr>
          <p:cNvPr id="61" name="Shape 59"/>
          <p:cNvSpPr/>
          <p:nvPr/>
        </p:nvSpPr>
        <p:spPr>
          <a:xfrm>
            <a:off x="342900" y="1929348"/>
            <a:ext cx="2766060" cy="958959"/>
          </a:xfrm>
          <a:prstGeom prst="roundRect">
            <a:avLst>
              <a:gd name="adj" fmla="val 5960"/>
            </a:avLst>
          </a:prstGeom>
          <a:solidFill>
            <a:srgbClr val="111827"/>
          </a:solidFill>
          <a:ln w="5715">
            <a:solidFill>
              <a:srgbClr val="1E2A3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42900" y="1929348"/>
            <a:ext cx="275463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63" name="Shape 61"/>
          <p:cNvSpPr/>
          <p:nvPr/>
        </p:nvSpPr>
        <p:spPr>
          <a:xfrm>
            <a:off x="2697480" y="1757898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64" name="Text 62"/>
          <p:cNvSpPr/>
          <p:nvPr/>
        </p:nvSpPr>
        <p:spPr>
          <a:xfrm>
            <a:off x="451485" y="2026503"/>
            <a:ext cx="2854757" cy="8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789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CVE OPEN SOURCE</a:t>
            </a:r>
            <a:endParaRPr lang="en-US" sz="495" dirty="0"/>
          </a:p>
        </p:txBody>
      </p:sp>
      <p:sp>
        <p:nvSpPr>
          <p:cNvPr id="65" name="Shape 63"/>
          <p:cNvSpPr/>
          <p:nvPr/>
        </p:nvSpPr>
        <p:spPr>
          <a:xfrm>
            <a:off x="451485" y="2057936"/>
            <a:ext cx="28575" cy="28575"/>
          </a:xfrm>
          <a:prstGeom prst="ellipse">
            <a:avLst/>
          </a:prstGeom>
          <a:solidFill>
            <a:srgbClr val="F44336"/>
          </a:solidFill>
          <a:ln/>
          <a:effectLst>
            <a:outerShdw sx="100000" sy="100000" kx="0" ky="0" algn="bl" rotWithShape="0" blurRad="57150" dist="50800" dir="16200000">
              <a:srgbClr val="F44336">
                <a:alpha val="10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451485" y="2129373"/>
            <a:ext cx="2854757" cy="238869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1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75</a:t>
            </a:r>
            <a:pPr algn="l" indent="0" marL="0">
              <a:lnSpc>
                <a:spcPct val="110000"/>
              </a:lnSpc>
              <a:buNone/>
            </a:pPr>
            <a:r>
              <a:rPr lang="en-US" sz="810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%+</a:t>
            </a:r>
            <a:endParaRPr lang="en-US" sz="1710" dirty="0"/>
          </a:p>
        </p:txBody>
      </p:sp>
      <p:sp>
        <p:nvSpPr>
          <p:cNvPr id="67" name="Text 65"/>
          <p:cNvSpPr/>
          <p:nvPr/>
        </p:nvSpPr>
        <p:spPr>
          <a:xfrm>
            <a:off x="451485" y="2402532"/>
            <a:ext cx="2854757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CVE 涉及开源比例</a:t>
            </a:r>
            <a:endParaRPr lang="en-US" sz="585" dirty="0"/>
          </a:p>
        </p:txBody>
      </p:sp>
      <p:sp>
        <p:nvSpPr>
          <p:cNvPr id="68" name="Text 66"/>
          <p:cNvSpPr/>
          <p:nvPr/>
        </p:nvSpPr>
        <p:spPr>
          <a:xfrm>
            <a:off x="451485" y="2533977"/>
            <a:ext cx="285475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789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当月公布 CVE 统计</a:t>
            </a:r>
            <a:endParaRPr lang="en-US" sz="450" dirty="0"/>
          </a:p>
        </p:txBody>
      </p:sp>
      <p:sp>
        <p:nvSpPr>
          <p:cNvPr id="69" name="Text 67"/>
          <p:cNvSpPr/>
          <p:nvPr/>
        </p:nvSpPr>
        <p:spPr>
          <a:xfrm>
            <a:off x="451485" y="2673995"/>
            <a:ext cx="14162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443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630" dirty="0"/>
          </a:p>
        </p:txBody>
      </p:sp>
      <p:sp>
        <p:nvSpPr>
          <p:cNvPr id="70" name="Text 68"/>
          <p:cNvSpPr/>
          <p:nvPr/>
        </p:nvSpPr>
        <p:spPr>
          <a:xfrm>
            <a:off x="558820" y="2679710"/>
            <a:ext cx="62727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高风险 · 治理待投入</a:t>
            </a:r>
            <a:endParaRPr lang="en-US" sz="450" dirty="0"/>
          </a:p>
        </p:txBody>
      </p:sp>
      <p:sp>
        <p:nvSpPr>
          <p:cNvPr id="71" name="Shape 69"/>
          <p:cNvSpPr/>
          <p:nvPr/>
        </p:nvSpPr>
        <p:spPr>
          <a:xfrm>
            <a:off x="2920365" y="2722572"/>
            <a:ext cx="0" cy="68580"/>
          </a:xfrm>
          <a:prstGeom prst="roundRect">
            <a:avLst>
              <a:gd name="adj" fmla="val Infinity"/>
            </a:avLst>
          </a:prstGeom>
          <a:solidFill>
            <a:srgbClr val="F44336">
              <a:alpha val="60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2931795" y="2716857"/>
            <a:ext cx="0" cy="74295"/>
          </a:xfrm>
          <a:prstGeom prst="roundRect">
            <a:avLst>
              <a:gd name="adj" fmla="val Infinity"/>
            </a:avLst>
          </a:prstGeom>
          <a:solidFill>
            <a:srgbClr val="F44336">
              <a:alpha val="6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2943225" y="2713464"/>
            <a:ext cx="0" cy="77688"/>
          </a:xfrm>
          <a:prstGeom prst="roundRect">
            <a:avLst>
              <a:gd name="adj" fmla="val Infinity"/>
            </a:avLst>
          </a:prstGeom>
          <a:solidFill>
            <a:srgbClr val="F44336">
              <a:alpha val="60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2954655" y="2708910"/>
            <a:ext cx="0" cy="82242"/>
          </a:xfrm>
          <a:prstGeom prst="roundRect">
            <a:avLst>
              <a:gd name="adj" fmla="val Infinity"/>
            </a:avLst>
          </a:prstGeom>
          <a:solidFill>
            <a:srgbClr val="F44336">
              <a:alpha val="60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2966085" y="2702034"/>
            <a:ext cx="0" cy="89118"/>
          </a:xfrm>
          <a:prstGeom prst="roundRect">
            <a:avLst>
              <a:gd name="adj" fmla="val Infinity"/>
            </a:avLst>
          </a:prstGeom>
          <a:solidFill>
            <a:srgbClr val="F44336">
              <a:alpha val="60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2977515" y="2697480"/>
            <a:ext cx="0" cy="93672"/>
          </a:xfrm>
          <a:prstGeom prst="roundRect">
            <a:avLst>
              <a:gd name="adj" fmla="val Infinity"/>
            </a:avLst>
          </a:prstGeom>
          <a:solidFill>
            <a:srgbClr val="F44336">
              <a:alpha val="60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2988945" y="2690604"/>
            <a:ext cx="0" cy="100548"/>
          </a:xfrm>
          <a:prstGeom prst="roundRect">
            <a:avLst>
              <a:gd name="adj" fmla="val Infinity"/>
            </a:avLst>
          </a:prstGeom>
          <a:solidFill>
            <a:srgbClr val="FF5252"/>
          </a:solidFill>
          <a:ln/>
        </p:spPr>
      </p:sp>
      <p:sp>
        <p:nvSpPr>
          <p:cNvPr id="78" name="Shape 76"/>
          <p:cNvSpPr/>
          <p:nvPr/>
        </p:nvSpPr>
        <p:spPr>
          <a:xfrm>
            <a:off x="3000375" y="2682567"/>
            <a:ext cx="0" cy="108585"/>
          </a:xfrm>
          <a:prstGeom prst="roundRect">
            <a:avLst>
              <a:gd name="adj" fmla="val Infinity"/>
            </a:avLst>
          </a:prstGeom>
          <a:solidFill>
            <a:srgbClr val="FF5252"/>
          </a:solidFill>
          <a:ln/>
        </p:spPr>
      </p:sp>
      <p:sp>
        <p:nvSpPr>
          <p:cNvPr id="79" name="Shape 77"/>
          <p:cNvSpPr/>
          <p:nvPr/>
        </p:nvSpPr>
        <p:spPr>
          <a:xfrm>
            <a:off x="3188970" y="1929348"/>
            <a:ext cx="2766060" cy="958959"/>
          </a:xfrm>
          <a:prstGeom prst="roundRect">
            <a:avLst>
              <a:gd name="adj" fmla="val 5960"/>
            </a:avLst>
          </a:prstGeom>
          <a:solidFill>
            <a:srgbClr val="111827"/>
          </a:solidFill>
          <a:ln w="5715">
            <a:solidFill>
              <a:srgbClr val="1E2A3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188970" y="1929348"/>
            <a:ext cx="275463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81" name="Shape 79"/>
          <p:cNvSpPr/>
          <p:nvPr/>
        </p:nvSpPr>
        <p:spPr>
          <a:xfrm>
            <a:off x="5543550" y="1757898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82" name="Text 80"/>
          <p:cNvSpPr/>
          <p:nvPr/>
        </p:nvSpPr>
        <p:spPr>
          <a:xfrm>
            <a:off x="3297555" y="2026503"/>
            <a:ext cx="2854757" cy="8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789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1.18 DOWNLOAD</a:t>
            </a:r>
            <a:endParaRPr lang="en-US" sz="495" dirty="0"/>
          </a:p>
        </p:txBody>
      </p:sp>
      <p:sp>
        <p:nvSpPr>
          <p:cNvPr id="83" name="Shape 81"/>
          <p:cNvSpPr/>
          <p:nvPr/>
        </p:nvSpPr>
        <p:spPr>
          <a:xfrm>
            <a:off x="3297555" y="2057936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3297555" y="2129373"/>
            <a:ext cx="2854757" cy="238869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1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500</a:t>
            </a:r>
            <a:pPr algn="l" indent="0" marL="0">
              <a:lnSpc>
                <a:spcPct val="110000"/>
              </a:lnSpc>
              <a:buNone/>
            </a:pPr>
            <a:r>
              <a:rPr lang="en-US" sz="810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万+</a:t>
            </a:r>
            <a:endParaRPr lang="en-US" sz="1710" dirty="0"/>
          </a:p>
        </p:txBody>
      </p:sp>
      <p:sp>
        <p:nvSpPr>
          <p:cNvPr id="85" name="Text 83"/>
          <p:cNvSpPr/>
          <p:nvPr/>
        </p:nvSpPr>
        <p:spPr>
          <a:xfrm>
            <a:off x="3297555" y="2402532"/>
            <a:ext cx="2854757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1.18 首周下载量</a:t>
            </a:r>
            <a:endParaRPr lang="en-US" sz="585" dirty="0"/>
          </a:p>
        </p:txBody>
      </p:sp>
      <p:sp>
        <p:nvSpPr>
          <p:cNvPr id="86" name="Text 84"/>
          <p:cNvSpPr/>
          <p:nvPr/>
        </p:nvSpPr>
        <p:spPr>
          <a:xfrm>
            <a:off x="3297555" y="2533977"/>
            <a:ext cx="285475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789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官网下载统计数据</a:t>
            </a:r>
            <a:endParaRPr lang="en-US" sz="450" dirty="0"/>
          </a:p>
        </p:txBody>
      </p:sp>
      <p:sp>
        <p:nvSpPr>
          <p:cNvPr id="87" name="Text 85"/>
          <p:cNvSpPr/>
          <p:nvPr/>
        </p:nvSpPr>
        <p:spPr>
          <a:xfrm>
            <a:off x="3297555" y="2673995"/>
            <a:ext cx="14162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630" dirty="0"/>
          </a:p>
        </p:txBody>
      </p:sp>
      <p:sp>
        <p:nvSpPr>
          <p:cNvPr id="88" name="Text 86"/>
          <p:cNvSpPr/>
          <p:nvPr/>
        </p:nvSpPr>
        <p:spPr>
          <a:xfrm>
            <a:off x="3404890" y="2679710"/>
            <a:ext cx="69128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首日爆量 · 版本热度高</a:t>
            </a:r>
            <a:endParaRPr lang="en-US" sz="450" dirty="0"/>
          </a:p>
        </p:txBody>
      </p:sp>
      <p:sp>
        <p:nvSpPr>
          <p:cNvPr id="89" name="Shape 87"/>
          <p:cNvSpPr/>
          <p:nvPr/>
        </p:nvSpPr>
        <p:spPr>
          <a:xfrm>
            <a:off x="5766435" y="2676852"/>
            <a:ext cx="0" cy="114300"/>
          </a:xfrm>
          <a:prstGeom prst="roundRect">
            <a:avLst>
              <a:gd name="adj" fmla="val Infinity"/>
            </a:avLst>
          </a:prstGeom>
          <a:solidFill>
            <a:srgbClr val="00BCD4"/>
          </a:solidFill>
          <a:ln/>
        </p:spPr>
      </p:sp>
      <p:sp>
        <p:nvSpPr>
          <p:cNvPr id="90" name="Shape 88"/>
          <p:cNvSpPr/>
          <p:nvPr/>
        </p:nvSpPr>
        <p:spPr>
          <a:xfrm>
            <a:off x="5777865" y="2688282"/>
            <a:ext cx="0" cy="102870"/>
          </a:xfrm>
          <a:prstGeom prst="roundRect">
            <a:avLst>
              <a:gd name="adj" fmla="val Infinity"/>
            </a:avLst>
          </a:prstGeom>
          <a:solidFill>
            <a:srgbClr val="00BCD4"/>
          </a:solidFill>
          <a:ln/>
        </p:spPr>
      </p:sp>
      <p:sp>
        <p:nvSpPr>
          <p:cNvPr id="91" name="Shape 89"/>
          <p:cNvSpPr/>
          <p:nvPr/>
        </p:nvSpPr>
        <p:spPr>
          <a:xfrm>
            <a:off x="5789295" y="2702034"/>
            <a:ext cx="0" cy="89118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5800725" y="2716857"/>
            <a:ext cx="0" cy="74295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5812155" y="2728287"/>
            <a:ext cx="0" cy="62865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5823585" y="2739717"/>
            <a:ext cx="0" cy="51435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5835015" y="2745432"/>
            <a:ext cx="0" cy="45720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5846445" y="2751147"/>
            <a:ext cx="0" cy="40005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6035040" y="1929348"/>
            <a:ext cx="2766060" cy="958959"/>
          </a:xfrm>
          <a:prstGeom prst="roundRect">
            <a:avLst>
              <a:gd name="adj" fmla="val 5960"/>
            </a:avLst>
          </a:prstGeom>
          <a:solidFill>
            <a:srgbClr val="111827"/>
          </a:solidFill>
          <a:ln w="5715">
            <a:solidFill>
              <a:srgbClr val="1E2A3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035040" y="1929348"/>
            <a:ext cx="275463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99" name="Shape 97"/>
          <p:cNvSpPr/>
          <p:nvPr/>
        </p:nvSpPr>
        <p:spPr>
          <a:xfrm>
            <a:off x="8389620" y="1757898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00" name="Text 98"/>
          <p:cNvSpPr/>
          <p:nvPr/>
        </p:nvSpPr>
        <p:spPr>
          <a:xfrm>
            <a:off x="6143625" y="2026503"/>
            <a:ext cx="2854757" cy="8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789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REPO GROWTH</a:t>
            </a:r>
            <a:endParaRPr lang="en-US" sz="495" dirty="0"/>
          </a:p>
        </p:txBody>
      </p:sp>
      <p:sp>
        <p:nvSpPr>
          <p:cNvPr id="101" name="Shape 99"/>
          <p:cNvSpPr/>
          <p:nvPr/>
        </p:nvSpPr>
        <p:spPr>
          <a:xfrm>
            <a:off x="6143625" y="2057936"/>
            <a:ext cx="28575" cy="28575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102" name="Text 100"/>
          <p:cNvSpPr/>
          <p:nvPr/>
        </p:nvSpPr>
        <p:spPr>
          <a:xfrm>
            <a:off x="6143625" y="2129373"/>
            <a:ext cx="2854757" cy="238869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1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+40</a:t>
            </a:r>
            <a:pPr algn="l" indent="0" marL="0">
              <a:lnSpc>
                <a:spcPct val="110000"/>
              </a:lnSpc>
              <a:buNone/>
            </a:pPr>
            <a:r>
              <a:rPr lang="en-US" sz="810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%</a:t>
            </a:r>
            <a:endParaRPr lang="en-US" sz="1710" dirty="0"/>
          </a:p>
        </p:txBody>
      </p:sp>
      <p:sp>
        <p:nvSpPr>
          <p:cNvPr id="103" name="Text 101"/>
          <p:cNvSpPr/>
          <p:nvPr/>
        </p:nvSpPr>
        <p:spPr>
          <a:xfrm>
            <a:off x="6143625" y="2402532"/>
            <a:ext cx="2854757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仓库月增速</a:t>
            </a:r>
            <a:endParaRPr lang="en-US" sz="585" dirty="0"/>
          </a:p>
        </p:txBody>
      </p:sp>
      <p:sp>
        <p:nvSpPr>
          <p:cNvPr id="104" name="Text 102"/>
          <p:cNvSpPr/>
          <p:nvPr/>
        </p:nvSpPr>
        <p:spPr>
          <a:xfrm>
            <a:off x="6143625" y="2533977"/>
            <a:ext cx="285475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789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对比 2021 年 2 月基线</a:t>
            </a:r>
            <a:endParaRPr lang="en-US" sz="450" dirty="0"/>
          </a:p>
        </p:txBody>
      </p:sp>
      <p:sp>
        <p:nvSpPr>
          <p:cNvPr id="105" name="Text 103"/>
          <p:cNvSpPr/>
          <p:nvPr/>
        </p:nvSpPr>
        <p:spPr>
          <a:xfrm>
            <a:off x="6143625" y="2673995"/>
            <a:ext cx="14162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4CA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630" dirty="0"/>
          </a:p>
        </p:txBody>
      </p:sp>
      <p:sp>
        <p:nvSpPr>
          <p:cNvPr id="106" name="Text 104"/>
          <p:cNvSpPr/>
          <p:nvPr/>
        </p:nvSpPr>
        <p:spPr>
          <a:xfrm>
            <a:off x="6250960" y="2679710"/>
            <a:ext cx="67848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爆发式增长 · AI 浪潮</a:t>
            </a:r>
            <a:endParaRPr lang="en-US" sz="450" dirty="0"/>
          </a:p>
        </p:txBody>
      </p:sp>
      <p:sp>
        <p:nvSpPr>
          <p:cNvPr id="107" name="Shape 105"/>
          <p:cNvSpPr/>
          <p:nvPr/>
        </p:nvSpPr>
        <p:spPr>
          <a:xfrm>
            <a:off x="8612505" y="2762577"/>
            <a:ext cx="0" cy="28575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8623935" y="2756862"/>
            <a:ext cx="0" cy="34290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8635365" y="2747754"/>
            <a:ext cx="0" cy="43398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8646795" y="2739717"/>
            <a:ext cx="0" cy="51435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8658225" y="2728287"/>
            <a:ext cx="0" cy="62865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8669655" y="2713464"/>
            <a:ext cx="0" cy="77688"/>
          </a:xfrm>
          <a:prstGeom prst="roundRect">
            <a:avLst>
              <a:gd name="adj" fmla="val Infinity"/>
            </a:avLst>
          </a:prstGeom>
          <a:solidFill>
            <a:srgbClr val="2196F3">
              <a:alpha val="60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8681085" y="2697480"/>
            <a:ext cx="0" cy="93672"/>
          </a:xfrm>
          <a:prstGeom prst="roundRect">
            <a:avLst>
              <a:gd name="adj" fmla="val Infinity"/>
            </a:avLst>
          </a:prstGeom>
          <a:solidFill>
            <a:srgbClr val="00BCD4"/>
          </a:solidFill>
          <a:ln/>
        </p:spPr>
      </p:sp>
      <p:sp>
        <p:nvSpPr>
          <p:cNvPr id="114" name="Shape 112"/>
          <p:cNvSpPr/>
          <p:nvPr/>
        </p:nvSpPr>
        <p:spPr>
          <a:xfrm>
            <a:off x="8692515" y="2676852"/>
            <a:ext cx="0" cy="114300"/>
          </a:xfrm>
          <a:prstGeom prst="roundRect">
            <a:avLst>
              <a:gd name="adj" fmla="val Infinity"/>
            </a:avLst>
          </a:prstGeom>
          <a:solidFill>
            <a:srgbClr val="00BCD4"/>
          </a:solidFill>
          <a:ln/>
        </p:spPr>
      </p:sp>
      <p:sp>
        <p:nvSpPr>
          <p:cNvPr id="115" name="Text 113"/>
          <p:cNvSpPr/>
          <p:nvPr/>
        </p:nvSpPr>
        <p:spPr>
          <a:xfrm>
            <a:off x="342900" y="2991177"/>
            <a:ext cx="947318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KEY TAKEAWAYS · 核心要点摘要</a:t>
            </a:r>
            <a:endParaRPr lang="en-US" sz="495" dirty="0"/>
          </a:p>
        </p:txBody>
      </p:sp>
      <p:sp>
        <p:nvSpPr>
          <p:cNvPr id="116" name="Shape 114"/>
          <p:cNvSpPr/>
          <p:nvPr/>
        </p:nvSpPr>
        <p:spPr>
          <a:xfrm>
            <a:off x="342900" y="3139767"/>
            <a:ext cx="1645920" cy="1775133"/>
          </a:xfrm>
          <a:prstGeom prst="roundRect">
            <a:avLst>
              <a:gd name="adj" fmla="val 2778"/>
            </a:avLst>
          </a:prstGeom>
          <a:solidFill>
            <a:srgbClr val="111827">
              <a:alpha val="60000"/>
            </a:srgbClr>
          </a:solidFill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42900" y="3139767"/>
            <a:ext cx="11430" cy="1763700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40000"/>
              </a:srgbClr>
            </a:outerShdw>
          </a:effectLst>
        </p:spPr>
      </p:sp>
      <p:sp>
        <p:nvSpPr>
          <p:cNvPr id="118" name="Text 116"/>
          <p:cNvSpPr/>
          <p:nvPr/>
        </p:nvSpPr>
        <p:spPr>
          <a:xfrm>
            <a:off x="417195" y="3202632"/>
            <a:ext cx="167701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[ 01 ]</a:t>
            </a:r>
            <a:endParaRPr lang="en-US" sz="450" dirty="0"/>
          </a:p>
        </p:txBody>
      </p:sp>
      <p:sp>
        <p:nvSpPr>
          <p:cNvPr id="119" name="Text 117"/>
          <p:cNvSpPr/>
          <p:nvPr/>
        </p:nvSpPr>
        <p:spPr>
          <a:xfrm>
            <a:off x="417195" y="3299787"/>
            <a:ext cx="1677010" cy="891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40" b="1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活跃度</a:t>
            </a:r>
            <a:endParaRPr lang="en-US" sz="540" dirty="0"/>
          </a:p>
        </p:txBody>
      </p:sp>
      <p:sp>
        <p:nvSpPr>
          <p:cNvPr id="120" name="Shape 118"/>
          <p:cNvSpPr/>
          <p:nvPr/>
        </p:nvSpPr>
        <p:spPr>
          <a:xfrm>
            <a:off x="417195" y="3335328"/>
            <a:ext cx="28575" cy="28575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121" name="Text 119"/>
          <p:cNvSpPr/>
          <p:nvPr/>
        </p:nvSpPr>
        <p:spPr>
          <a:xfrm>
            <a:off x="417195" y="3411766"/>
            <a:ext cx="167701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月度仓库创建量持续增长，AI 相关项目增速最快，生态热度持续攀升。</a:t>
            </a:r>
            <a:endParaRPr lang="en-US" sz="450" dirty="0"/>
          </a:p>
        </p:txBody>
      </p:sp>
      <p:sp>
        <p:nvSpPr>
          <p:cNvPr id="122" name="Shape 120"/>
          <p:cNvSpPr/>
          <p:nvPr/>
        </p:nvSpPr>
        <p:spPr>
          <a:xfrm>
            <a:off x="2045970" y="3139767"/>
            <a:ext cx="1645920" cy="1775133"/>
          </a:xfrm>
          <a:prstGeom prst="roundRect">
            <a:avLst>
              <a:gd name="adj" fmla="val 2778"/>
            </a:avLst>
          </a:prstGeom>
          <a:solidFill>
            <a:srgbClr val="111827">
              <a:alpha val="60000"/>
            </a:srgbClr>
          </a:solidFill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2045970" y="3139767"/>
            <a:ext cx="11430" cy="1763700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40000"/>
              </a:srgbClr>
            </a:outerShdw>
          </a:effectLst>
        </p:spPr>
      </p:sp>
      <p:sp>
        <p:nvSpPr>
          <p:cNvPr id="124" name="Text 122"/>
          <p:cNvSpPr/>
          <p:nvPr/>
        </p:nvSpPr>
        <p:spPr>
          <a:xfrm>
            <a:off x="2120265" y="3202632"/>
            <a:ext cx="167701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[ 02 ]</a:t>
            </a:r>
            <a:endParaRPr lang="en-US" sz="450" dirty="0"/>
          </a:p>
        </p:txBody>
      </p:sp>
      <p:sp>
        <p:nvSpPr>
          <p:cNvPr id="125" name="Text 123"/>
          <p:cNvSpPr/>
          <p:nvPr/>
        </p:nvSpPr>
        <p:spPr>
          <a:xfrm>
            <a:off x="2120265" y="3299787"/>
            <a:ext cx="1677010" cy="891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40" b="1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Rust 语言排名</a:t>
            </a:r>
            <a:endParaRPr lang="en-US" sz="540" dirty="0"/>
          </a:p>
        </p:txBody>
      </p:sp>
      <p:sp>
        <p:nvSpPr>
          <p:cNvPr id="126" name="Shape 124"/>
          <p:cNvSpPr/>
          <p:nvPr/>
        </p:nvSpPr>
        <p:spPr>
          <a:xfrm>
            <a:off x="2120265" y="3335328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127" name="Text 125"/>
          <p:cNvSpPr/>
          <p:nvPr/>
        </p:nvSpPr>
        <p:spPr>
          <a:xfrm>
            <a:off x="2120265" y="3411766"/>
            <a:ext cx="167701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TIOBE 指数首次进入前 10，Stack Overflow 连续四年最受欢迎语言。</a:t>
            </a:r>
            <a:endParaRPr lang="en-US" sz="450" dirty="0"/>
          </a:p>
        </p:txBody>
      </p:sp>
      <p:sp>
        <p:nvSpPr>
          <p:cNvPr id="128" name="Shape 126"/>
          <p:cNvSpPr/>
          <p:nvPr/>
        </p:nvSpPr>
        <p:spPr>
          <a:xfrm>
            <a:off x="3749040" y="3139767"/>
            <a:ext cx="1645920" cy="1775133"/>
          </a:xfrm>
          <a:prstGeom prst="roundRect">
            <a:avLst>
              <a:gd name="adj" fmla="val 2778"/>
            </a:avLst>
          </a:prstGeom>
          <a:solidFill>
            <a:srgbClr val="111827">
              <a:alpha val="60000"/>
            </a:srgbClr>
          </a:solidFill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749040" y="3139767"/>
            <a:ext cx="11430" cy="1763700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40000"/>
              </a:srgbClr>
            </a:outerShdw>
          </a:effectLst>
        </p:spPr>
      </p:sp>
      <p:sp>
        <p:nvSpPr>
          <p:cNvPr id="130" name="Text 128"/>
          <p:cNvSpPr/>
          <p:nvPr/>
        </p:nvSpPr>
        <p:spPr>
          <a:xfrm>
            <a:off x="3823335" y="3202632"/>
            <a:ext cx="167701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[ 03 ]</a:t>
            </a:r>
            <a:endParaRPr lang="en-US" sz="450" dirty="0"/>
          </a:p>
        </p:txBody>
      </p:sp>
      <p:sp>
        <p:nvSpPr>
          <p:cNvPr id="131" name="Text 129"/>
          <p:cNvSpPr/>
          <p:nvPr/>
        </p:nvSpPr>
        <p:spPr>
          <a:xfrm>
            <a:off x="3823335" y="3299787"/>
            <a:ext cx="1677010" cy="891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40" b="1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开源贡献者增长</a:t>
            </a:r>
            <a:endParaRPr lang="en-US" sz="540" dirty="0"/>
          </a:p>
        </p:txBody>
      </p:sp>
      <p:sp>
        <p:nvSpPr>
          <p:cNvPr id="132" name="Shape 130"/>
          <p:cNvSpPr/>
          <p:nvPr/>
        </p:nvSpPr>
        <p:spPr>
          <a:xfrm>
            <a:off x="3823335" y="3335328"/>
            <a:ext cx="28575" cy="28575"/>
          </a:xfrm>
          <a:prstGeom prst="ellipse">
            <a:avLst/>
          </a:prstGeom>
          <a:solidFill>
            <a:srgbClr val="4CAF50"/>
          </a:solidFill>
          <a:ln/>
          <a:effectLst>
            <a:outerShdw sx="100000" sy="100000" kx="0" ky="0" algn="bl" rotWithShape="0" blurRad="57150" dist="50800" dir="16200000">
              <a:srgbClr val="4CAF50">
                <a:alpha val="100000"/>
              </a:srgbClr>
            </a:outerShdw>
          </a:effectLst>
        </p:spPr>
      </p:sp>
      <p:sp>
        <p:nvSpPr>
          <p:cNvPr id="133" name="Text 131"/>
          <p:cNvSpPr/>
          <p:nvPr/>
        </p:nvSpPr>
        <p:spPr>
          <a:xfrm>
            <a:off x="3823335" y="3411766"/>
            <a:ext cx="167701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全球月度活跃贡献者突破 2000 万，中国贡献者增速领跑全球。</a:t>
            </a:r>
            <a:endParaRPr lang="en-US" sz="450" dirty="0"/>
          </a:p>
        </p:txBody>
      </p:sp>
      <p:sp>
        <p:nvSpPr>
          <p:cNvPr id="134" name="Shape 132"/>
          <p:cNvSpPr/>
          <p:nvPr/>
        </p:nvSpPr>
        <p:spPr>
          <a:xfrm>
            <a:off x="5452110" y="3139767"/>
            <a:ext cx="1645920" cy="1775133"/>
          </a:xfrm>
          <a:prstGeom prst="roundRect">
            <a:avLst>
              <a:gd name="adj" fmla="val 2778"/>
            </a:avLst>
          </a:prstGeom>
          <a:solidFill>
            <a:srgbClr val="111827">
              <a:alpha val="60000"/>
            </a:srgbClr>
          </a:solidFill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452110" y="3139767"/>
            <a:ext cx="11430" cy="1763700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40000"/>
              </a:srgbClr>
            </a:outerShdw>
          </a:effectLst>
        </p:spPr>
      </p:sp>
      <p:sp>
        <p:nvSpPr>
          <p:cNvPr id="136" name="Text 134"/>
          <p:cNvSpPr/>
          <p:nvPr/>
        </p:nvSpPr>
        <p:spPr>
          <a:xfrm>
            <a:off x="5526405" y="3202632"/>
            <a:ext cx="167701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[ 04 ]</a:t>
            </a:r>
            <a:endParaRPr lang="en-US" sz="450" dirty="0"/>
          </a:p>
        </p:txBody>
      </p:sp>
      <p:sp>
        <p:nvSpPr>
          <p:cNvPr id="137" name="Text 135"/>
          <p:cNvSpPr/>
          <p:nvPr/>
        </p:nvSpPr>
        <p:spPr>
          <a:xfrm>
            <a:off x="5526405" y="3299787"/>
            <a:ext cx="1677010" cy="891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40" b="1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基金会议程</a:t>
            </a:r>
            <a:endParaRPr lang="en-US" sz="540" dirty="0"/>
          </a:p>
        </p:txBody>
      </p:sp>
      <p:sp>
        <p:nvSpPr>
          <p:cNvPr id="138" name="Shape 136"/>
          <p:cNvSpPr/>
          <p:nvPr/>
        </p:nvSpPr>
        <p:spPr>
          <a:xfrm>
            <a:off x="5526405" y="3335328"/>
            <a:ext cx="28575" cy="28575"/>
          </a:xfrm>
          <a:prstGeom prst="ellipse">
            <a:avLst/>
          </a:prstGeom>
          <a:solidFill>
            <a:srgbClr val="FF9800"/>
          </a:solidFill>
          <a:ln/>
          <a:effectLst>
            <a:outerShdw sx="100000" sy="100000" kx="0" ky="0" algn="bl" rotWithShape="0" blurRad="57150" dist="50800" dir="16200000">
              <a:srgbClr val="FF9800">
                <a:alpha val="100000"/>
              </a:srgbClr>
            </a:outerShdw>
          </a:effectLst>
        </p:spPr>
      </p:sp>
      <p:sp>
        <p:nvSpPr>
          <p:cNvPr id="139" name="Text 137"/>
          <p:cNvSpPr/>
          <p:nvPr/>
        </p:nvSpPr>
        <p:spPr>
          <a:xfrm>
            <a:off x="5526405" y="3411766"/>
            <a:ext cx="167701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Apache、CNCF、LF AI 等基金会 2 月均有重要项目毕业或基金发放。</a:t>
            </a:r>
            <a:endParaRPr lang="en-US" sz="450" dirty="0"/>
          </a:p>
        </p:txBody>
      </p:sp>
      <p:sp>
        <p:nvSpPr>
          <p:cNvPr id="140" name="Shape 138"/>
          <p:cNvSpPr/>
          <p:nvPr/>
        </p:nvSpPr>
        <p:spPr>
          <a:xfrm>
            <a:off x="7155180" y="3139767"/>
            <a:ext cx="1645920" cy="1775133"/>
          </a:xfrm>
          <a:prstGeom prst="roundRect">
            <a:avLst>
              <a:gd name="adj" fmla="val 2778"/>
            </a:avLst>
          </a:prstGeom>
          <a:solidFill>
            <a:srgbClr val="111827">
              <a:alpha val="60000"/>
            </a:srgbClr>
          </a:solidFill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155180" y="3139767"/>
            <a:ext cx="11430" cy="1763700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40000"/>
              </a:srgbClr>
            </a:outerShdw>
          </a:effectLst>
        </p:spPr>
      </p:sp>
      <p:sp>
        <p:nvSpPr>
          <p:cNvPr id="142" name="Text 140"/>
          <p:cNvSpPr/>
          <p:nvPr/>
        </p:nvSpPr>
        <p:spPr>
          <a:xfrm>
            <a:off x="7229475" y="3202632"/>
            <a:ext cx="167701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[ 05 ]</a:t>
            </a:r>
            <a:endParaRPr lang="en-US" sz="450" dirty="0"/>
          </a:p>
        </p:txBody>
      </p:sp>
      <p:sp>
        <p:nvSpPr>
          <p:cNvPr id="143" name="Text 141"/>
          <p:cNvSpPr/>
          <p:nvPr/>
        </p:nvSpPr>
        <p:spPr>
          <a:xfrm>
            <a:off x="7229475" y="3299787"/>
            <a:ext cx="1677010" cy="891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40" b="1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安全事件统计</a:t>
            </a:r>
            <a:endParaRPr lang="en-US" sz="540" dirty="0"/>
          </a:p>
        </p:txBody>
      </p:sp>
      <p:sp>
        <p:nvSpPr>
          <p:cNvPr id="144" name="Shape 142"/>
          <p:cNvSpPr/>
          <p:nvPr/>
        </p:nvSpPr>
        <p:spPr>
          <a:xfrm>
            <a:off x="7229475" y="3335328"/>
            <a:ext cx="28575" cy="28575"/>
          </a:xfrm>
          <a:prstGeom prst="ellipse">
            <a:avLst/>
          </a:prstGeom>
          <a:solidFill>
            <a:srgbClr val="F44336"/>
          </a:solidFill>
          <a:ln/>
          <a:effectLst>
            <a:outerShdw sx="100000" sy="100000" kx="0" ky="0" algn="bl" rotWithShape="0" blurRad="57150" dist="50800" dir="16200000">
              <a:srgbClr val="F44336">
                <a:alpha val="100000"/>
              </a:srgbClr>
            </a:outerShdw>
          </a:effectLst>
        </p:spPr>
      </p:sp>
      <p:sp>
        <p:nvSpPr>
          <p:cNvPr id="145" name="Text 143"/>
          <p:cNvSpPr/>
          <p:nvPr/>
        </p:nvSpPr>
        <p:spPr>
          <a:xfrm>
            <a:off x="7229475" y="3411766"/>
            <a:ext cx="167701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当月 CVE 中涉及开源组件比例超过 75%，依赖风险持续高位。</a:t>
            </a:r>
            <a:endParaRPr lang="en-US" sz="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14775" y="308610"/>
            <a:ext cx="1314450" cy="182880"/>
          </a:xfrm>
          <a:prstGeom prst="roundRect">
            <a:avLst>
              <a:gd name="adj" fmla="val 62500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00BCD4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23360" y="348615"/>
            <a:ext cx="1228954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spc="18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NEXT / END · 010</a:t>
            </a:r>
            <a:endParaRPr lang="en-US" sz="585" dirty="0"/>
          </a:p>
        </p:txBody>
      </p:sp>
      <p:sp>
        <p:nvSpPr>
          <p:cNvPr id="4" name="Text 2"/>
          <p:cNvSpPr/>
          <p:nvPr/>
        </p:nvSpPr>
        <p:spPr>
          <a:xfrm>
            <a:off x="3543300" y="605790"/>
            <a:ext cx="236601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171450" dist="50800" dir="5400000">
              <a:srgbClr val="2196F3">
                <a:alpha val="55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430" b="1" spc="270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适兕阅读笔记</a:t>
            </a:r>
            <a:endParaRPr lang="en-US" sz="2430" dirty="0"/>
          </a:p>
        </p:txBody>
      </p:sp>
      <p:sp>
        <p:nvSpPr>
          <p:cNvPr id="5" name="Text 3"/>
          <p:cNvSpPr/>
          <p:nvPr/>
        </p:nvSpPr>
        <p:spPr>
          <a:xfrm>
            <a:off x="4011930" y="1091565"/>
            <a:ext cx="1254557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spc="36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月度书单与展望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771900" y="1348740"/>
            <a:ext cx="16002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000">
                <a:srgbClr val="2196F3"/>
              </a:gs>
              <a:gs pos="67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" name="Shape 5"/>
          <p:cNvSpPr/>
          <p:nvPr/>
        </p:nvSpPr>
        <p:spPr>
          <a:xfrm>
            <a:off x="462915" y="1514475"/>
            <a:ext cx="1943100" cy="1943100"/>
          </a:xfrm>
          <a:prstGeom prst="ellipse">
            <a:avLst/>
          </a:prstGeom>
          <a:solidFill>
            <a:srgbClr val="0A0E1A">
              <a:alpha val="72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2196F3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2082314"/>
            <a:ext cx="20002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585" dirty="0"/>
          </a:p>
        </p:txBody>
      </p:sp>
      <p:sp>
        <p:nvSpPr>
          <p:cNvPr id="9" name="Text 7"/>
          <p:cNvSpPr/>
          <p:nvPr/>
        </p:nvSpPr>
        <p:spPr>
          <a:xfrm>
            <a:off x="1108710" y="2230904"/>
            <a:ext cx="75438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10" spc="45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本月推荐书单</a:t>
            </a:r>
            <a:endParaRPr lang="en-US" sz="810" dirty="0"/>
          </a:p>
        </p:txBody>
      </p:sp>
      <p:sp>
        <p:nvSpPr>
          <p:cNvPr id="10" name="Shape 8"/>
          <p:cNvSpPr/>
          <p:nvPr/>
        </p:nvSpPr>
        <p:spPr>
          <a:xfrm>
            <a:off x="1331595" y="2436644"/>
            <a:ext cx="20574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1" name="Text 9"/>
          <p:cNvSpPr/>
          <p:nvPr/>
        </p:nvSpPr>
        <p:spPr>
          <a:xfrm>
            <a:off x="902970" y="2510939"/>
            <a:ext cx="1116140" cy="3787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marL="342900" indent="-342900">
              <a:buSzPct val="100000"/>
              <a:buChar char="›"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《Rust程序设计语言》中文版</a:t>
            </a:r>
            <a:endParaRPr lang="en-US" sz="585" dirty="0"/>
          </a:p>
          <a:p>
            <a:pPr algn="ctr" marL="342900" indent="-342900">
              <a:buSzPct val="100000"/>
              <a:buChar char="›"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《Open Source in Practice》</a:t>
            </a:r>
            <a:endParaRPr lang="en-US" sz="585" dirty="0"/>
          </a:p>
          <a:p>
            <a:pPr algn="ctr" marL="342900" indent="-342900">
              <a:buSzPct val="100000"/>
              <a:buChar char="›"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CNCF安全白皮书合集</a:t>
            </a:r>
            <a:endParaRPr lang="en-US" sz="585" dirty="0"/>
          </a:p>
        </p:txBody>
      </p:sp>
      <p:sp>
        <p:nvSpPr>
          <p:cNvPr id="12" name="Shape 10"/>
          <p:cNvSpPr/>
          <p:nvPr/>
        </p:nvSpPr>
        <p:spPr>
          <a:xfrm>
            <a:off x="2554605" y="1514475"/>
            <a:ext cx="1943100" cy="1943100"/>
          </a:xfrm>
          <a:prstGeom prst="ellipse">
            <a:avLst/>
          </a:prstGeom>
          <a:solidFill>
            <a:srgbClr val="0A0E1A">
              <a:alpha val="72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2196F3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63290" y="2082314"/>
            <a:ext cx="20002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585" dirty="0"/>
          </a:p>
        </p:txBody>
      </p:sp>
      <p:sp>
        <p:nvSpPr>
          <p:cNvPr id="14" name="Text 12"/>
          <p:cNvSpPr/>
          <p:nvPr/>
        </p:nvSpPr>
        <p:spPr>
          <a:xfrm>
            <a:off x="3200400" y="2230904"/>
            <a:ext cx="75438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10" spc="45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持续关注话题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3423285" y="2436644"/>
            <a:ext cx="20574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6" name="Text 14"/>
          <p:cNvSpPr/>
          <p:nvPr/>
        </p:nvSpPr>
        <p:spPr>
          <a:xfrm>
            <a:off x="3057525" y="2510939"/>
            <a:ext cx="984123" cy="3787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marL="342900" indent="-342900">
              <a:buSzPct val="100000"/>
              <a:buChar char="›"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BSL对开源生态的长期影响</a:t>
            </a:r>
            <a:endParaRPr lang="en-US" sz="585" dirty="0"/>
          </a:p>
          <a:p>
            <a:pPr algn="ctr" marL="342900" indent="-342900">
              <a:buSzPct val="100000"/>
              <a:buChar char="›"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AI治理框架的社区共识</a:t>
            </a:r>
            <a:endParaRPr lang="en-US" sz="585" dirty="0"/>
          </a:p>
          <a:p>
            <a:pPr algn="ctr" marL="342900" indent="-342900">
              <a:buSzPct val="100000"/>
              <a:buChar char="›"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供应链安全自动化工具链</a:t>
            </a:r>
            <a:endParaRPr lang="en-US" sz="585" dirty="0"/>
          </a:p>
        </p:txBody>
      </p:sp>
      <p:sp>
        <p:nvSpPr>
          <p:cNvPr id="17" name="Shape 15"/>
          <p:cNvSpPr/>
          <p:nvPr/>
        </p:nvSpPr>
        <p:spPr>
          <a:xfrm>
            <a:off x="4646295" y="1514475"/>
            <a:ext cx="1943100" cy="1943100"/>
          </a:xfrm>
          <a:prstGeom prst="ellipse">
            <a:avLst/>
          </a:prstGeom>
          <a:solidFill>
            <a:srgbClr val="0A0E1A">
              <a:alpha val="72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2196F3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54980" y="2082314"/>
            <a:ext cx="20002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585" dirty="0"/>
          </a:p>
        </p:txBody>
      </p:sp>
      <p:sp>
        <p:nvSpPr>
          <p:cNvPr id="19" name="Text 17"/>
          <p:cNvSpPr/>
          <p:nvPr/>
        </p:nvSpPr>
        <p:spPr>
          <a:xfrm>
            <a:off x="5400675" y="2230904"/>
            <a:ext cx="53721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10" spc="45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下期预告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5514975" y="2436644"/>
            <a:ext cx="20574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21" name="Text 19"/>
          <p:cNvSpPr/>
          <p:nvPr/>
        </p:nvSpPr>
        <p:spPr>
          <a:xfrm>
            <a:off x="4957763" y="2510939"/>
            <a:ext cx="1386173" cy="3787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marL="342900" indent="-342900">
              <a:buSzPct val="100000"/>
              <a:buChar char="›"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2022年3月刊重点跟踪</a:t>
            </a:r>
            <a:endParaRPr lang="en-US" sz="585" dirty="0"/>
          </a:p>
          <a:p>
            <a:pPr algn="ctr" marL="342900" indent="-342900">
              <a:buSzPct val="100000"/>
              <a:buChar char="›"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KubeCon + CloudNativeCon 欧洲站</a:t>
            </a:r>
            <a:endParaRPr lang="en-US" sz="585" dirty="0"/>
          </a:p>
          <a:p>
            <a:pPr algn="ctr" marL="342900" indent="-342900">
              <a:buSzPct val="100000"/>
              <a:buChar char="›"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WebAssembly 生态进展</a:t>
            </a:r>
            <a:endParaRPr lang="en-US" sz="585" dirty="0"/>
          </a:p>
        </p:txBody>
      </p:sp>
      <p:sp>
        <p:nvSpPr>
          <p:cNvPr id="22" name="Shape 20"/>
          <p:cNvSpPr/>
          <p:nvPr/>
        </p:nvSpPr>
        <p:spPr>
          <a:xfrm>
            <a:off x="6737985" y="1514475"/>
            <a:ext cx="1943100" cy="1943100"/>
          </a:xfrm>
          <a:prstGeom prst="ellipse">
            <a:avLst/>
          </a:prstGeom>
          <a:solidFill>
            <a:srgbClr val="0A0E1A">
              <a:alpha val="72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2196F3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46670" y="2082314"/>
            <a:ext cx="20002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</a:t>
            </a:r>
            <a:endParaRPr lang="en-US" sz="585" dirty="0"/>
          </a:p>
        </p:txBody>
      </p:sp>
      <p:sp>
        <p:nvSpPr>
          <p:cNvPr id="24" name="Text 22"/>
          <p:cNvSpPr/>
          <p:nvPr/>
        </p:nvSpPr>
        <p:spPr>
          <a:xfrm>
            <a:off x="7492365" y="2230904"/>
            <a:ext cx="53721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10" spc="45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感谢读者</a:t>
            </a:r>
            <a:endParaRPr lang="en-US" sz="810" dirty="0"/>
          </a:p>
        </p:txBody>
      </p:sp>
      <p:sp>
        <p:nvSpPr>
          <p:cNvPr id="25" name="Shape 23"/>
          <p:cNvSpPr/>
          <p:nvPr/>
        </p:nvSpPr>
        <p:spPr>
          <a:xfrm>
            <a:off x="7606665" y="2436644"/>
            <a:ext cx="20574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26" name="Text 24"/>
          <p:cNvSpPr/>
          <p:nvPr/>
        </p:nvSpPr>
        <p:spPr>
          <a:xfrm>
            <a:off x="7086600" y="2510939"/>
            <a:ext cx="1308164" cy="3787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marL="342900" indent="-342900">
              <a:buSzPct val="100000"/>
              <a:buChar char="›"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感谢每一位开源之道的读者与贡献者</a:t>
            </a:r>
            <a:endParaRPr lang="en-US" sz="585" dirty="0"/>
          </a:p>
          <a:p>
            <a:pPr algn="ctr" marL="342900" indent="-342900">
              <a:buSzPct val="100000"/>
              <a:buChar char="›"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欢迎在公众号留言</a:t>
            </a:r>
            <a:endParaRPr lang="en-US" sz="585" dirty="0"/>
          </a:p>
          <a:p>
            <a:pPr algn="ctr" marL="342900" indent="-342900">
              <a:buSzPct val="100000"/>
              <a:buChar char="›"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或加入 GitHub Discussions 交流</a:t>
            </a:r>
            <a:endParaRPr lang="en-US" sz="585" dirty="0"/>
          </a:p>
        </p:txBody>
      </p:sp>
      <p:sp>
        <p:nvSpPr>
          <p:cNvPr id="27" name="Text 25"/>
          <p:cNvSpPr/>
          <p:nvPr/>
        </p:nvSpPr>
        <p:spPr>
          <a:xfrm>
            <a:off x="800100" y="3560445"/>
            <a:ext cx="8449056" cy="1479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85000"/>
              </a:lnSpc>
              <a:buNone/>
            </a:pPr>
            <a:r>
              <a:rPr lang="en-US" sz="630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2022年2月的开源世界，从技术发布到生态治理，每一件事都在提醒我们：</a:t>
            </a:r>
            <a:pPr algn="ctr" indent="0" marL="0">
              <a:lnSpc>
                <a:spcPct val="185000"/>
              </a:lnSpc>
              <a:buNone/>
            </a:pPr>
            <a:r>
              <a:rPr lang="en-US" sz="630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开源不仅是技术选择，更是一种协作哲学。</a:t>
            </a:r>
            <a:pPr algn="ctr" indent="0" marL="0">
              <a:lnSpc>
                <a:spcPct val="185000"/>
              </a:lnSpc>
              <a:buNone/>
            </a:pPr>
            <a:r>
              <a:rPr lang="en-US" sz="630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感谢阅读本期适兕观察，我们下期再见。</a:t>
            </a:r>
            <a:endParaRPr lang="en-US" sz="630" dirty="0"/>
          </a:p>
        </p:txBody>
      </p:sp>
      <p:sp>
        <p:nvSpPr>
          <p:cNvPr id="28" name="Shape 26"/>
          <p:cNvSpPr/>
          <p:nvPr/>
        </p:nvSpPr>
        <p:spPr>
          <a:xfrm>
            <a:off x="2928938" y="3788420"/>
            <a:ext cx="862965" cy="188595"/>
          </a:xfrm>
          <a:prstGeom prst="roundRect">
            <a:avLst>
              <a:gd name="adj" fmla="val 48485"/>
            </a:avLst>
          </a:prstGeom>
          <a:solidFill>
            <a:srgbClr val="2196F3">
              <a:alpha val="15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37523" y="3865572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117533" y="3834140"/>
            <a:ext cx="29146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公众号</a:t>
            </a:r>
            <a:endParaRPr lang="en-US" sz="540" dirty="0"/>
          </a:p>
        </p:txBody>
      </p:sp>
      <p:sp>
        <p:nvSpPr>
          <p:cNvPr id="31" name="Text 29"/>
          <p:cNvSpPr/>
          <p:nvPr/>
        </p:nvSpPr>
        <p:spPr>
          <a:xfrm>
            <a:off x="3386138" y="3834140"/>
            <a:ext cx="36576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spc="45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开源之道</a:t>
            </a:r>
            <a:endParaRPr lang="en-US" sz="540" dirty="0"/>
          </a:p>
        </p:txBody>
      </p:sp>
      <p:sp>
        <p:nvSpPr>
          <p:cNvPr id="32" name="Shape 30"/>
          <p:cNvSpPr/>
          <p:nvPr/>
        </p:nvSpPr>
        <p:spPr>
          <a:xfrm>
            <a:off x="3894773" y="3788420"/>
            <a:ext cx="1314450" cy="188595"/>
          </a:xfrm>
          <a:prstGeom prst="roundRect">
            <a:avLst>
              <a:gd name="adj" fmla="val 48485"/>
            </a:avLst>
          </a:prstGeom>
          <a:solidFill>
            <a:srgbClr val="2196F3">
              <a:alpha val="15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03358" y="3865572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083368" y="3834140"/>
            <a:ext cx="21717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交流</a:t>
            </a:r>
            <a:endParaRPr lang="en-US" sz="540" dirty="0"/>
          </a:p>
        </p:txBody>
      </p:sp>
      <p:sp>
        <p:nvSpPr>
          <p:cNvPr id="35" name="Text 33"/>
          <p:cNvSpPr/>
          <p:nvPr/>
        </p:nvSpPr>
        <p:spPr>
          <a:xfrm>
            <a:off x="4277678" y="3836997"/>
            <a:ext cx="92171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spc="45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GitHub Discussions</a:t>
            </a:r>
            <a:endParaRPr lang="en-US" sz="540" dirty="0"/>
          </a:p>
        </p:txBody>
      </p:sp>
      <p:sp>
        <p:nvSpPr>
          <p:cNvPr id="36" name="Shape 34"/>
          <p:cNvSpPr/>
          <p:nvPr/>
        </p:nvSpPr>
        <p:spPr>
          <a:xfrm>
            <a:off x="5312093" y="3788420"/>
            <a:ext cx="902970" cy="188595"/>
          </a:xfrm>
          <a:prstGeom prst="roundRect">
            <a:avLst>
              <a:gd name="adj" fmla="val 48485"/>
            </a:avLst>
          </a:prstGeom>
          <a:solidFill>
            <a:srgbClr val="2196F3">
              <a:alpha val="15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20678" y="3865572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500688" y="3834140"/>
            <a:ext cx="21717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下期</a:t>
            </a:r>
            <a:endParaRPr lang="en-US" sz="540" dirty="0"/>
          </a:p>
        </p:txBody>
      </p:sp>
      <p:sp>
        <p:nvSpPr>
          <p:cNvPr id="39" name="Text 37"/>
          <p:cNvSpPr/>
          <p:nvPr/>
        </p:nvSpPr>
        <p:spPr>
          <a:xfrm>
            <a:off x="5694998" y="3836997"/>
            <a:ext cx="48006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spc="45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 · 03</a:t>
            </a:r>
            <a:endParaRPr lang="en-US" sz="5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2026-08-27T22:08:54Z</dcterms:created>
  <dcterms:modified xsi:type="dcterms:W3CDTF">2026-08-27T22:08:54Z</dcterms:modified>
</cp:coreProperties>
</file>