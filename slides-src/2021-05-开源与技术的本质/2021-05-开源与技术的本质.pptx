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rgbClr val="5470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70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1CC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C8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E66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3C0D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A27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C845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25</c:v>
                </c:pt>
                <c:pt idx="2">
                  <c:v>35</c:v>
                </c:pt>
                <c:pt idx="3">
                  <c:v>52</c:v>
                </c:pt>
                <c:pt idx="4">
                  <c:v>100</c:v>
                </c:pt>
                <c:pt idx="5">
                  <c:v>145</c:v>
                </c:pt>
                <c:pt idx="6">
                  <c:v>198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5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9C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E7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9C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许可证分布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bubble3D val="0"/>
            <c:spPr>
              <a:solidFill>
                <a:srgbClr val="5C6BC0"/>
              </a:solidFill>
              <a:effectLst/>
            </c:spPr>
          </c:dPt>
          <c:dPt>
            <c:idx val="3"/>
            <c:bubble3D val="0"/>
            <c:spPr>
              <a:solidFill>
                <a:srgbClr val="26C6DA"/>
              </a:solidFill>
              <a:effectLst/>
            </c:spPr>
          </c:dPt>
          <c:dPt>
            <c:idx val="4"/>
            <c:bubble3D val="0"/>
            <c:spPr>
              <a:solidFill>
                <a:srgbClr val="42A5F5"/>
              </a:solidFill>
              <a:effectLst/>
            </c:spPr>
          </c:dPt>
          <c:dPt>
            <c:idx val="5"/>
            <c:bubble3D val="0"/>
            <c:spPr>
              <a:solidFill>
                <a:srgbClr val="2E7D32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8E8F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MIT</c:v>
                </c:pt>
                <c:pt idx="1">
                  <c:v>Apache-2.0</c:v>
                </c:pt>
                <c:pt idx="2">
                  <c:v>GPL 系列</c:v>
                </c:pt>
                <c:pt idx="3">
                  <c:v>BSD</c:v>
                </c:pt>
                <c:pt idx="4">
                  <c:v>LGPL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32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firstSliceAng val="0"/>
        <c:holeSize val="42"/>
      </c:doughnutChart>
      <c:spPr>
        <a:noFill/>
        <a:ln>
          <a:noFill/>
        </a:ln>
        <a:effectLst/>
      </c:spPr>
    </c:plotArea>
    <c:legend>
      <c:legendPos val="l"/>
      <c:overlay val="0"/>
      <c:txPr>
        <a:bodyPr/>
        <a:lstStyle/>
        <a:p>
          <a:pPr>
            <a:defRPr>
              <a:solidFill>
                <a:srgbClr val="9C9C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50000">
                <a:srgbClr val="12122A"/>
              </a:gs>
              <a:gs pos="100000">
                <a:srgbClr val="0D0D20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228600" y="4000500"/>
            <a:ext cx="342900" cy="342900"/>
          </a:xfrm>
          <a:prstGeom prst="rect">
            <a:avLst/>
          </a:prstGeom>
          <a:solidFill>
            <a:srgbClr val="2196F3">
              <a:alpha val="3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571500"/>
            <a:ext cx="228600" cy="228600"/>
          </a:xfrm>
          <a:prstGeom prst="rect">
            <a:avLst/>
          </a:prstGeom>
          <a:solidFill>
            <a:srgbClr val="2196F3">
              <a:alpha val="3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14500" y="4514850"/>
            <a:ext cx="171450" cy="171450"/>
          </a:xfrm>
          <a:prstGeom prst="rect">
            <a:avLst/>
          </a:prstGeom>
          <a:solidFill>
            <a:srgbClr val="2196F3">
              <a:alpha val="3000"/>
            </a:srgbClr>
          </a:solidFill>
          <a:ln w="5715">
            <a:solidFill>
              <a:srgbClr val="00BCD4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4500" y="685800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857500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49690" y="3977640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35390" y="2000250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0050" y="4926330"/>
            <a:ext cx="22860" cy="2286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8630" y="4903470"/>
            <a:ext cx="200985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ESSAYS · 2021 · READING NOTES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8321040" y="4903470"/>
            <a:ext cx="48006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COVER</a:t>
            </a:r>
            <a:endParaRPr lang="en-US" sz="450" dirty="0"/>
          </a:p>
        </p:txBody>
      </p:sp>
      <p:sp>
        <p:nvSpPr>
          <p:cNvPr id="14" name="Shape 12"/>
          <p:cNvSpPr/>
          <p:nvPr/>
        </p:nvSpPr>
        <p:spPr>
          <a:xfrm>
            <a:off x="400050" y="42291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4350" y="400050"/>
            <a:ext cx="187543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TECH · ESSENCE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400050" y="605790"/>
            <a:ext cx="1771650" cy="5257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20" b="1" spc="9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开源与</a:t>
            </a:r>
            <a:endParaRPr lang="en-US" sz="3420" dirty="0"/>
          </a:p>
        </p:txBody>
      </p:sp>
      <p:sp>
        <p:nvSpPr>
          <p:cNvPr id="17" name="Text 15"/>
          <p:cNvSpPr/>
          <p:nvPr/>
        </p:nvSpPr>
        <p:spPr>
          <a:xfrm>
            <a:off x="1737360" y="605790"/>
            <a:ext cx="2663190" cy="5257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20" b="1" spc="9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技术的本质</a:t>
            </a:r>
            <a:endParaRPr lang="en-US" sz="3420" dirty="0"/>
          </a:p>
        </p:txBody>
      </p:sp>
      <p:sp>
        <p:nvSpPr>
          <p:cNvPr id="18" name="Shape 16"/>
          <p:cNvSpPr/>
          <p:nvPr/>
        </p:nvSpPr>
        <p:spPr>
          <a:xfrm>
            <a:off x="400050" y="1229350"/>
            <a:ext cx="4171950" cy="314325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00050" y="1543675"/>
            <a:ext cx="41719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050" y="1252210"/>
            <a:ext cx="151058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· 开源之道 读书笔记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400050" y="1680835"/>
            <a:ext cx="4171950" cy="374333"/>
          </a:xfrm>
          <a:prstGeom prst="roundRect">
            <a:avLst>
              <a:gd name="adj" fmla="val 9160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" y="1749415"/>
            <a:ext cx="17145" cy="225743"/>
          </a:xfrm>
          <a:prstGeom prst="roundRect">
            <a:avLst>
              <a:gd name="adj" fmla="val 66667"/>
            </a:avLst>
          </a:prstGeom>
          <a:solidFill>
            <a:srgbClr val="2196F3"/>
          </a:solidFill>
          <a:ln/>
        </p:spPr>
      </p:sp>
      <p:sp>
        <p:nvSpPr>
          <p:cNvPr id="23" name="Shape 21"/>
          <p:cNvSpPr/>
          <p:nvPr/>
        </p:nvSpPr>
        <p:spPr>
          <a:xfrm>
            <a:off x="520065" y="1755130"/>
            <a:ext cx="205740" cy="205740"/>
          </a:xfrm>
          <a:prstGeom prst="roundRect">
            <a:avLst>
              <a:gd name="adj" fmla="val 1111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065" y="1755130"/>
            <a:ext cx="29718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05815" y="1755130"/>
            <a:ext cx="410931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主题聚焦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805815" y="1869430"/>
            <a:ext cx="4109314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dirty="0">
                <a:solidFill>
                  <a:srgbClr val="E8EAF6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从开源精神与技术演进的双重维度，重新审视创新与协作的关系</a:t>
            </a:r>
            <a:endParaRPr lang="en-US" sz="585" dirty="0"/>
          </a:p>
        </p:txBody>
      </p:sp>
      <p:sp>
        <p:nvSpPr>
          <p:cNvPr id="27" name="Shape 25"/>
          <p:cNvSpPr/>
          <p:nvPr/>
        </p:nvSpPr>
        <p:spPr>
          <a:xfrm>
            <a:off x="400050" y="2123748"/>
            <a:ext cx="4171950" cy="374333"/>
          </a:xfrm>
          <a:prstGeom prst="roundRect">
            <a:avLst>
              <a:gd name="adj" fmla="val 9160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" y="2192328"/>
            <a:ext cx="17145" cy="225743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</p:spPr>
      </p:sp>
      <p:sp>
        <p:nvSpPr>
          <p:cNvPr id="29" name="Shape 27"/>
          <p:cNvSpPr/>
          <p:nvPr/>
        </p:nvSpPr>
        <p:spPr>
          <a:xfrm>
            <a:off x="520065" y="2198043"/>
            <a:ext cx="205740" cy="205740"/>
          </a:xfrm>
          <a:prstGeom prst="roundRect">
            <a:avLst>
              <a:gd name="adj" fmla="val 11111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0065" y="2198043"/>
            <a:ext cx="29718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805815" y="2198043"/>
            <a:ext cx="410931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阅读来源</a:t>
            </a:r>
            <a:endParaRPr lang="en-US" sz="540" dirty="0"/>
          </a:p>
        </p:txBody>
      </p:sp>
      <p:sp>
        <p:nvSpPr>
          <p:cNvPr id="32" name="Text 30"/>
          <p:cNvSpPr/>
          <p:nvPr/>
        </p:nvSpPr>
        <p:spPr>
          <a:xfrm>
            <a:off x="805815" y="2312343"/>
            <a:ext cx="4109314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dirty="0">
                <a:solidFill>
                  <a:srgbClr val="E8EAF6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《开源之书记录：2021-05》专章分享，凝练核心洞见</a:t>
            </a:r>
            <a:endParaRPr lang="en-US" sz="585" dirty="0"/>
          </a:p>
        </p:txBody>
      </p:sp>
      <p:sp>
        <p:nvSpPr>
          <p:cNvPr id="33" name="Shape 31"/>
          <p:cNvSpPr/>
          <p:nvPr/>
        </p:nvSpPr>
        <p:spPr>
          <a:xfrm>
            <a:off x="400050" y="2566660"/>
            <a:ext cx="4171950" cy="374333"/>
          </a:xfrm>
          <a:prstGeom prst="roundRect">
            <a:avLst>
              <a:gd name="adj" fmla="val 9160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0050" y="2635240"/>
            <a:ext cx="17145" cy="225743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520065" y="2640955"/>
            <a:ext cx="205740" cy="205740"/>
          </a:xfrm>
          <a:prstGeom prst="roundRect">
            <a:avLst>
              <a:gd name="adj" fmla="val 1111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0065" y="2640955"/>
            <a:ext cx="29718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05815" y="2640955"/>
            <a:ext cx="410931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核心追问</a:t>
            </a:r>
            <a:endParaRPr lang="en-US" sz="540" dirty="0"/>
          </a:p>
        </p:txBody>
      </p:sp>
      <p:sp>
        <p:nvSpPr>
          <p:cNvPr id="38" name="Text 36"/>
          <p:cNvSpPr/>
          <p:nvPr/>
        </p:nvSpPr>
        <p:spPr>
          <a:xfrm>
            <a:off x="805815" y="2755255"/>
            <a:ext cx="4109314" cy="1114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5" dirty="0">
                <a:solidFill>
                  <a:srgbClr val="E8EAF6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开源是手段还是目的？技术的本质究竟指向何方？</a:t>
            </a:r>
            <a:endParaRPr lang="en-US" sz="585" dirty="0"/>
          </a:p>
        </p:txBody>
      </p:sp>
      <p:sp>
        <p:nvSpPr>
          <p:cNvPr id="39" name="Shape 37"/>
          <p:cNvSpPr/>
          <p:nvPr/>
        </p:nvSpPr>
        <p:spPr>
          <a:xfrm>
            <a:off x="400050" y="3055293"/>
            <a:ext cx="2051685" cy="324505"/>
          </a:xfrm>
          <a:prstGeom prst="roundRect">
            <a:avLst>
              <a:gd name="adj" fmla="val 10567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205" y="3154680"/>
            <a:ext cx="651510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2021-05</a:t>
            </a:r>
            <a:endParaRPr lang="en-US" sz="990" dirty="0"/>
          </a:p>
        </p:txBody>
      </p:sp>
      <p:sp>
        <p:nvSpPr>
          <p:cNvPr id="41" name="Text 39"/>
          <p:cNvSpPr/>
          <p:nvPr/>
        </p:nvSpPr>
        <p:spPr>
          <a:xfrm>
            <a:off x="1080135" y="3129588"/>
            <a:ext cx="565785" cy="175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笔记来源</a:t>
            </a:r>
            <a:pPr algn="l" indent="0" marL="0">
              <a:lnSpc>
                <a:spcPct val="140000"/>
              </a:lnSpc>
              <a:buNone/>
            </a:pPr>
            <a:endParaRPr lang="en-US" sz="49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开源之道系列专章</a:t>
            </a:r>
            <a:endParaRPr lang="en-US" sz="495" dirty="0"/>
          </a:p>
        </p:txBody>
      </p:sp>
      <p:sp>
        <p:nvSpPr>
          <p:cNvPr id="42" name="Shape 40"/>
          <p:cNvSpPr/>
          <p:nvPr/>
        </p:nvSpPr>
        <p:spPr>
          <a:xfrm>
            <a:off x="2520315" y="3055293"/>
            <a:ext cx="2051685" cy="324505"/>
          </a:xfrm>
          <a:prstGeom prst="roundRect">
            <a:avLst>
              <a:gd name="adj" fmla="val 10567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7470" y="3154680"/>
            <a:ext cx="213741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2760345" y="3129588"/>
            <a:ext cx="998525" cy="175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核心命题</a:t>
            </a:r>
            <a:pPr algn="l" indent="0" marL="0">
              <a:lnSpc>
                <a:spcPct val="140000"/>
              </a:lnSpc>
              <a:buNone/>
            </a:pPr>
            <a:endParaRPr lang="en-US" sz="49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 × 技术，本质探索与再思考</a:t>
            </a:r>
            <a:endParaRPr lang="en-US" sz="495" dirty="0"/>
          </a:p>
        </p:txBody>
      </p:sp>
      <p:sp>
        <p:nvSpPr>
          <p:cNvPr id="45" name="Shape 43"/>
          <p:cNvSpPr/>
          <p:nvPr/>
        </p:nvSpPr>
        <p:spPr>
          <a:xfrm>
            <a:off x="400050" y="3482667"/>
            <a:ext cx="4171950" cy="318790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400050" y="3482667"/>
            <a:ext cx="4171950" cy="0"/>
          </a:xfrm>
          <a:prstGeom prst="lin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0050" y="3482667"/>
            <a:ext cx="4672584" cy="318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2196F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本篇</a:t>
            </a:r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围绕「开源与技术的本质」这一命题展开，结合2021年5月开源之道的阅读笔记，从</a:t>
            </a:r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2196F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哲学</a:t>
            </a:r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2196F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</a:t>
            </a:r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2196F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生态</a:t>
            </a:r>
            <a:pPr algn="l" indent="0" marL="0">
              <a:lnSpc>
                <a:spcPct val="17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三个层面，探讨开源运动与软件技术发展的内在逻辑及其对未来的深远影响。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4857750" y="457200"/>
            <a:ext cx="4000500" cy="2234565"/>
          </a:xfrm>
          <a:prstGeom prst="roundRect">
            <a:avLst>
              <a:gd name="adj" fmla="val 2046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57750" y="457200"/>
            <a:ext cx="3989070" cy="2223135"/>
          </a:xfrm>
          <a:prstGeom prst="roundRect">
            <a:avLst>
              <a:gd name="adj" fmla="val 205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40000">
                <a:srgbClr val="000000">
                  <a:alpha val="0"/>
                </a:srgbClr>
              </a:gs>
              <a:gs pos="60000">
                <a:srgbClr val="000000">
                  <a:alpha val="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/>
        </p:spPr>
      </p:sp>
      <p:sp>
        <p:nvSpPr>
          <p:cNvPr id="50" name="Shape 48"/>
          <p:cNvSpPr/>
          <p:nvPr/>
        </p:nvSpPr>
        <p:spPr>
          <a:xfrm>
            <a:off x="4857750" y="457200"/>
            <a:ext cx="114300" cy="11430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4857750" y="457200"/>
            <a:ext cx="1143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57750" y="457200"/>
            <a:ext cx="0" cy="1143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43950" y="457200"/>
            <a:ext cx="114300" cy="114300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8743950" y="457200"/>
            <a:ext cx="1143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58250" y="457200"/>
            <a:ext cx="0" cy="1143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57750" y="2577465"/>
            <a:ext cx="114300" cy="114300"/>
          </a:xfrm>
          <a:prstGeom prst="rect">
            <a:avLst/>
          </a:prstGeom>
          <a:noFill/>
          <a:ln/>
        </p:spPr>
      </p:sp>
      <p:sp>
        <p:nvSpPr>
          <p:cNvPr id="57" name="Shape 55"/>
          <p:cNvSpPr/>
          <p:nvPr/>
        </p:nvSpPr>
        <p:spPr>
          <a:xfrm>
            <a:off x="4857750" y="2691765"/>
            <a:ext cx="114300" cy="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57750" y="2577465"/>
            <a:ext cx="0" cy="1143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43950" y="2577465"/>
            <a:ext cx="114300" cy="114300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8858250" y="2577465"/>
            <a:ext cx="0" cy="1143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43950" y="2691765"/>
            <a:ext cx="1143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pic>
        <p:nvPicPr>
          <p:cNvPr id="62" name="Image 0" descr="/home/lee/developing/oscar-open-source-book/website/slides-src/2021-05-开源与技术的本质/images/page_001_hero.png">    </p:cNvPr>
          <p:cNvPicPr>
            <a:picLocks noChangeAspect="1"/>
          </p:cNvPicPr>
          <p:nvPr/>
        </p:nvPicPr>
        <p:blipFill>
          <a:blip r:embed="rId1"/>
          <a:srcRect l="39" r="39" t="0" b="0"/>
          <a:stretch/>
        </p:blipFill>
        <p:spPr>
          <a:xfrm>
            <a:off x="4863465" y="462915"/>
            <a:ext cx="4000500" cy="2234565"/>
          </a:xfrm>
          <a:prstGeom prst="rect">
            <a:avLst/>
          </a:prstGeom>
        </p:spPr>
      </p:pic>
      <p:sp>
        <p:nvSpPr>
          <p:cNvPr id="63" name="Shape 60"/>
          <p:cNvSpPr/>
          <p:nvPr/>
        </p:nvSpPr>
        <p:spPr>
          <a:xfrm>
            <a:off x="4857750" y="2748915"/>
            <a:ext cx="1028700" cy="125730"/>
          </a:xfrm>
          <a:prstGeom prst="roundRect">
            <a:avLst>
              <a:gd name="adj" fmla="val 13636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857750" y="2748915"/>
            <a:ext cx="1152144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· NEBULA CODE</a:t>
            </a:r>
            <a:endParaRPr lang="en-US" sz="450" dirty="0"/>
          </a:p>
        </p:txBody>
      </p:sp>
      <p:sp>
        <p:nvSpPr>
          <p:cNvPr id="65" name="Text 62"/>
          <p:cNvSpPr/>
          <p:nvPr/>
        </p:nvSpPr>
        <p:spPr>
          <a:xfrm>
            <a:off x="8155305" y="2777490"/>
            <a:ext cx="787298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2752 × 1536 / 1.79 : 1</a:t>
            </a:r>
            <a:endParaRPr lang="en-US" sz="450" dirty="0"/>
          </a:p>
        </p:txBody>
      </p:sp>
      <p:sp>
        <p:nvSpPr>
          <p:cNvPr id="66" name="Shape 63"/>
          <p:cNvSpPr/>
          <p:nvPr/>
        </p:nvSpPr>
        <p:spPr>
          <a:xfrm>
            <a:off x="4857750" y="2966085"/>
            <a:ext cx="4000500" cy="404604"/>
          </a:xfrm>
          <a:prstGeom prst="rect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/>
        </p:spPr>
      </p:sp>
      <p:sp>
        <p:nvSpPr>
          <p:cNvPr id="67" name="Shape 64"/>
          <p:cNvSpPr/>
          <p:nvPr/>
        </p:nvSpPr>
        <p:spPr>
          <a:xfrm>
            <a:off x="4857750" y="2966085"/>
            <a:ext cx="0" cy="404604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989195" y="3057525"/>
            <a:ext cx="420532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b="1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INTENT</a:t>
            </a:r>
            <a:endParaRPr lang="en-US" sz="450" dirty="0"/>
          </a:p>
        </p:txBody>
      </p:sp>
      <p:sp>
        <p:nvSpPr>
          <p:cNvPr id="69" name="Text 66"/>
          <p:cNvSpPr/>
          <p:nvPr/>
        </p:nvSpPr>
        <p:spPr>
          <a:xfrm>
            <a:off x="4989195" y="3160395"/>
            <a:ext cx="4205326" cy="118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代码流 × 几何网格</a:t>
            </a:r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，隐喻开源生态的流动与构建</a:t>
            </a:r>
            <a:endParaRPr lang="en-US" sz="585" dirty="0"/>
          </a:p>
        </p:txBody>
      </p:sp>
      <p:sp>
        <p:nvSpPr>
          <p:cNvPr id="70" name="Shape 67"/>
          <p:cNvSpPr/>
          <p:nvPr/>
        </p:nvSpPr>
        <p:spPr>
          <a:xfrm>
            <a:off x="4857750" y="3450699"/>
            <a:ext cx="1287750" cy="348615"/>
          </a:xfrm>
          <a:prstGeom prst="roundRect">
            <a:avLst>
              <a:gd name="adj" fmla="val 9836"/>
            </a:avLst>
          </a:prstGeom>
          <a:solidFill>
            <a:srgbClr val="2196F3">
              <a:alpha val="4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954905" y="3536424"/>
            <a:ext cx="122465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代码流光</a:t>
            </a:r>
            <a:endParaRPr lang="en-US" sz="495" dirty="0"/>
          </a:p>
        </p:txBody>
      </p:sp>
      <p:sp>
        <p:nvSpPr>
          <p:cNvPr id="72" name="Text 69"/>
          <p:cNvSpPr/>
          <p:nvPr/>
        </p:nvSpPr>
        <p:spPr>
          <a:xfrm>
            <a:off x="4954905" y="3650724"/>
            <a:ext cx="12246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FLOW</a:t>
            </a:r>
            <a:endParaRPr lang="en-US" sz="405" dirty="0"/>
          </a:p>
        </p:txBody>
      </p:sp>
      <p:sp>
        <p:nvSpPr>
          <p:cNvPr id="73" name="Shape 70"/>
          <p:cNvSpPr/>
          <p:nvPr/>
        </p:nvSpPr>
        <p:spPr>
          <a:xfrm>
            <a:off x="6214080" y="3450699"/>
            <a:ext cx="1287840" cy="348615"/>
          </a:xfrm>
          <a:prstGeom prst="roundRect">
            <a:avLst>
              <a:gd name="adj" fmla="val 9836"/>
            </a:avLst>
          </a:prstGeom>
          <a:solidFill>
            <a:srgbClr val="2196F3">
              <a:alpha val="4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311235" y="3536424"/>
            <a:ext cx="122475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几何网格</a:t>
            </a:r>
            <a:endParaRPr lang="en-US" sz="495" dirty="0"/>
          </a:p>
        </p:txBody>
      </p:sp>
      <p:sp>
        <p:nvSpPr>
          <p:cNvPr id="75" name="Text 72"/>
          <p:cNvSpPr/>
          <p:nvPr/>
        </p:nvSpPr>
        <p:spPr>
          <a:xfrm>
            <a:off x="6311235" y="3650724"/>
            <a:ext cx="12247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GEOMETRIC GRID</a:t>
            </a:r>
            <a:endParaRPr lang="en-US" sz="405" dirty="0"/>
          </a:p>
        </p:txBody>
      </p:sp>
      <p:sp>
        <p:nvSpPr>
          <p:cNvPr id="76" name="Shape 73"/>
          <p:cNvSpPr/>
          <p:nvPr/>
        </p:nvSpPr>
        <p:spPr>
          <a:xfrm>
            <a:off x="7570500" y="3450699"/>
            <a:ext cx="1287750" cy="348615"/>
          </a:xfrm>
          <a:prstGeom prst="roundRect">
            <a:avLst>
              <a:gd name="adj" fmla="val 9836"/>
            </a:avLst>
          </a:prstGeom>
          <a:solidFill>
            <a:srgbClr val="2196F3">
              <a:alpha val="4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667655" y="3536424"/>
            <a:ext cx="122465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蓝色霓虹</a:t>
            </a:r>
            <a:endParaRPr lang="en-US" sz="495" dirty="0"/>
          </a:p>
        </p:txBody>
      </p:sp>
      <p:sp>
        <p:nvSpPr>
          <p:cNvPr id="78" name="Text 75"/>
          <p:cNvSpPr/>
          <p:nvPr/>
        </p:nvSpPr>
        <p:spPr>
          <a:xfrm>
            <a:off x="7667655" y="3650724"/>
            <a:ext cx="12246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NEON</a:t>
            </a:r>
            <a:endParaRPr lang="en-US" sz="40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0" y="-10287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3200400" y="10287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274320"/>
            <a:ext cx="8458200" cy="57721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42900" y="851535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" y="274320"/>
            <a:ext cx="2809951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开源：从理念到运动</a:t>
            </a:r>
            <a:endParaRPr lang="en-US" sz="1710" dirty="0"/>
          </a:p>
        </p:txBody>
      </p:sp>
      <p:sp>
        <p:nvSpPr>
          <p:cNvPr id="7" name="Text 5"/>
          <p:cNvSpPr/>
          <p:nvPr/>
        </p:nvSpPr>
        <p:spPr>
          <a:xfrm>
            <a:off x="342900" y="634365"/>
            <a:ext cx="280995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FROM PHILOSOPHY TO MOVEMENT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7806690" y="582930"/>
            <a:ext cx="445770" cy="148590"/>
          </a:xfrm>
          <a:prstGeom prst="roundRect">
            <a:avLst>
              <a:gd name="adj" fmla="val 76923"/>
            </a:avLst>
          </a:prstGeom>
          <a:noFill/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06690" y="582930"/>
            <a:ext cx="508635" cy="14859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</a:t>
            </a:r>
            <a:endParaRPr lang="en-US" sz="495" dirty="0"/>
          </a:p>
        </p:txBody>
      </p:sp>
      <p:sp>
        <p:nvSpPr>
          <p:cNvPr id="10" name="Shape 8"/>
          <p:cNvSpPr/>
          <p:nvPr/>
        </p:nvSpPr>
        <p:spPr>
          <a:xfrm>
            <a:off x="8309610" y="582930"/>
            <a:ext cx="491490" cy="148590"/>
          </a:xfrm>
          <a:prstGeom prst="roundRect">
            <a:avLst>
              <a:gd name="adj" fmla="val 76923"/>
            </a:avLst>
          </a:prstGeom>
          <a:noFill/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9610" y="582930"/>
            <a:ext cx="554355" cy="14859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495" dirty="0"/>
          </a:p>
        </p:txBody>
      </p:sp>
      <p:sp>
        <p:nvSpPr>
          <p:cNvPr id="12" name="Shape 10"/>
          <p:cNvSpPr/>
          <p:nvPr/>
        </p:nvSpPr>
        <p:spPr>
          <a:xfrm>
            <a:off x="422910" y="1080135"/>
            <a:ext cx="11430" cy="2743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571500" y="1034415"/>
            <a:ext cx="4343400" cy="461754"/>
          </a:xfrm>
          <a:prstGeom prst="roundRect">
            <a:avLst>
              <a:gd name="adj" fmla="val 12377"/>
            </a:avLst>
          </a:prstGeom>
          <a:solidFill>
            <a:srgbClr val="16213E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7190" y="1160145"/>
            <a:ext cx="80010" cy="80010"/>
          </a:xfrm>
          <a:prstGeom prst="ellipse">
            <a:avLst/>
          </a:prstGeom>
          <a:solidFill>
            <a:srgbClr val="1A1A2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1515" y="1137285"/>
            <a:ext cx="377190" cy="102870"/>
          </a:xfrm>
          <a:prstGeom prst="roundRect">
            <a:avLst>
              <a:gd name="adj" fmla="val 22222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1515" y="1137285"/>
            <a:ext cx="440055" cy="10287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01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1125855" y="1120140"/>
            <a:ext cx="45720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概念起源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691515" y="1291590"/>
            <a:ext cx="459577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开源思想植根于自由软件运动，强调源代码的自由获取、修改与再分发权利。</a:t>
            </a:r>
            <a:endParaRPr lang="en-US" sz="585" dirty="0"/>
          </a:p>
        </p:txBody>
      </p:sp>
      <p:sp>
        <p:nvSpPr>
          <p:cNvPr id="19" name="Shape 17"/>
          <p:cNvSpPr/>
          <p:nvPr/>
        </p:nvSpPr>
        <p:spPr>
          <a:xfrm>
            <a:off x="571500" y="1576179"/>
            <a:ext cx="4343400" cy="461754"/>
          </a:xfrm>
          <a:prstGeom prst="roundRect">
            <a:avLst>
              <a:gd name="adj" fmla="val 12377"/>
            </a:avLst>
          </a:prstGeom>
          <a:solidFill>
            <a:srgbClr val="16213E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190" y="1701909"/>
            <a:ext cx="80010" cy="80010"/>
          </a:xfrm>
          <a:prstGeom prst="ellipse">
            <a:avLst/>
          </a:prstGeom>
          <a:solidFill>
            <a:srgbClr val="1A1A2E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1515" y="1679049"/>
            <a:ext cx="388620" cy="102870"/>
          </a:xfrm>
          <a:prstGeom prst="roundRect">
            <a:avLst>
              <a:gd name="adj" fmla="val 22222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91515" y="1679049"/>
            <a:ext cx="451485" cy="10287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02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1137285" y="1661904"/>
            <a:ext cx="44577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定义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691515" y="1833354"/>
            <a:ext cx="459577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开源促进会于 1998 年正式确立开源定义，明确开放源代码的十条核心标准。</a:t>
            </a:r>
            <a:endParaRPr lang="en-US" sz="585" dirty="0"/>
          </a:p>
        </p:txBody>
      </p:sp>
      <p:sp>
        <p:nvSpPr>
          <p:cNvPr id="25" name="Shape 23"/>
          <p:cNvSpPr/>
          <p:nvPr/>
        </p:nvSpPr>
        <p:spPr>
          <a:xfrm>
            <a:off x="571500" y="2117943"/>
            <a:ext cx="4343400" cy="461754"/>
          </a:xfrm>
          <a:prstGeom prst="roundRect">
            <a:avLst>
              <a:gd name="adj" fmla="val 12377"/>
            </a:avLst>
          </a:prstGeom>
          <a:solidFill>
            <a:srgbClr val="16213E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7190" y="2243673"/>
            <a:ext cx="80010" cy="80010"/>
          </a:xfrm>
          <a:prstGeom prst="ellipse">
            <a:avLst/>
          </a:prstGeom>
          <a:solidFill>
            <a:srgbClr val="1A1A2E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1515" y="2220813"/>
            <a:ext cx="388620" cy="102870"/>
          </a:xfrm>
          <a:prstGeom prst="roundRect">
            <a:avLst>
              <a:gd name="adj" fmla="val 22222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91515" y="2220813"/>
            <a:ext cx="451485" cy="10287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03</a:t>
            </a:r>
            <a:endParaRPr lang="en-US" sz="495" dirty="0"/>
          </a:p>
        </p:txBody>
      </p:sp>
      <p:sp>
        <p:nvSpPr>
          <p:cNvPr id="29" name="Text 27"/>
          <p:cNvSpPr/>
          <p:nvPr/>
        </p:nvSpPr>
        <p:spPr>
          <a:xfrm>
            <a:off x="1137285" y="2203668"/>
            <a:ext cx="82296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与自由软件的区别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691515" y="2375118"/>
            <a:ext cx="459577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自由软件强调用户自由，开源更侧重协作效率与工程方法，两者精神相通但侧重点不同。</a:t>
            </a:r>
            <a:endParaRPr lang="en-US" sz="585" dirty="0"/>
          </a:p>
        </p:txBody>
      </p:sp>
      <p:sp>
        <p:nvSpPr>
          <p:cNvPr id="31" name="Shape 29"/>
          <p:cNvSpPr/>
          <p:nvPr/>
        </p:nvSpPr>
        <p:spPr>
          <a:xfrm>
            <a:off x="571500" y="2659707"/>
            <a:ext cx="4343400" cy="461754"/>
          </a:xfrm>
          <a:prstGeom prst="roundRect">
            <a:avLst>
              <a:gd name="adj" fmla="val 12377"/>
            </a:avLst>
          </a:prstGeom>
          <a:solidFill>
            <a:srgbClr val="16213E"/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7190" y="2785437"/>
            <a:ext cx="80010" cy="80010"/>
          </a:xfrm>
          <a:prstGeom prst="ellipse">
            <a:avLst/>
          </a:prstGeom>
          <a:solidFill>
            <a:srgbClr val="1A1A2E"/>
          </a:solidFill>
          <a:ln w="11430">
            <a:solidFill>
              <a:srgbClr val="00BCD4"/>
            </a:solidFill>
            <a:prstDash val="solid"/>
          </a:ln>
          <a:effectLst>
            <a:outerShdw sx="100000" sy="100000" kx="0" ky="0" algn="bl" rotWithShape="0" blurRad="95250" dist="50800" dir="16200000">
              <a:srgbClr val="00BCD4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1515" y="2762577"/>
            <a:ext cx="388620" cy="102870"/>
          </a:xfrm>
          <a:prstGeom prst="roundRect">
            <a:avLst>
              <a:gd name="adj" fmla="val 22222"/>
            </a:avLst>
          </a:prstGeom>
          <a:solidFill>
            <a:srgbClr val="00BCD4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91515" y="2762577"/>
            <a:ext cx="451485" cy="102870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04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1137285" y="2745432"/>
            <a:ext cx="45720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企业接纳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91515" y="2916882"/>
            <a:ext cx="4595774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Linux 到 Apache 再到 Kubernetes，开源已成为企业级软件的主流范式与基础设施。</a:t>
            </a:r>
            <a:endParaRPr lang="en-US" sz="585" dirty="0"/>
          </a:p>
        </p:txBody>
      </p:sp>
      <p:sp>
        <p:nvSpPr>
          <p:cNvPr id="37" name="Shape 35"/>
          <p:cNvSpPr/>
          <p:nvPr/>
        </p:nvSpPr>
        <p:spPr>
          <a:xfrm>
            <a:off x="342900" y="3960495"/>
            <a:ext cx="2240280" cy="51435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915" y="4057650"/>
            <a:ext cx="2240280" cy="2000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1998 年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462915" y="4280535"/>
            <a:ext cx="22402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正式确立开源定义</a:t>
            </a:r>
            <a:endParaRPr lang="en-US" sz="540" dirty="0"/>
          </a:p>
        </p:txBody>
      </p:sp>
      <p:sp>
        <p:nvSpPr>
          <p:cNvPr id="40" name="Shape 38"/>
          <p:cNvSpPr/>
          <p:nvPr/>
        </p:nvSpPr>
        <p:spPr>
          <a:xfrm>
            <a:off x="2674620" y="3960495"/>
            <a:ext cx="2240280" cy="51435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94635" y="4057650"/>
            <a:ext cx="2240280" cy="2000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条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2794635" y="4280535"/>
            <a:ext cx="22402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OSI 开源定义核心标准</a:t>
            </a:r>
            <a:endParaRPr lang="en-US" sz="540" dirty="0"/>
          </a:p>
        </p:txBody>
      </p:sp>
      <p:sp>
        <p:nvSpPr>
          <p:cNvPr id="43" name="Shape 41"/>
          <p:cNvSpPr/>
          <p:nvPr/>
        </p:nvSpPr>
        <p:spPr>
          <a:xfrm>
            <a:off x="5200650" y="1338739"/>
            <a:ext cx="3543300" cy="2628900"/>
          </a:xfrm>
          <a:prstGeom prst="roundRect">
            <a:avLst>
              <a:gd name="adj" fmla="val 2609"/>
            </a:avLst>
          </a:prstGeom>
          <a:noFill/>
          <a:ln w="5715">
            <a:solidFill>
              <a:srgbClr val="2196F3">
                <a:alpha val="25000"/>
              </a:srgbClr>
            </a:solidFill>
            <a:prstDash val="solid"/>
          </a:ln>
          <a:effectLst>
            <a:outerShdw sx="100000" sy="100000" kx="0" ky="0" algn="bl" rotWithShape="0" blurRad="571500" dist="190500" dir="162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200650" y="1338739"/>
            <a:ext cx="3531870" cy="2617470"/>
          </a:xfrm>
          <a:prstGeom prst="rect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100000">
                <a:srgbClr val="1A1A2E">
                  <a:alpha val="70000"/>
                </a:srgbClr>
              </a:gs>
            </a:gsLst>
            <a:lin ang="5400000" scaled="0"/>
          </a:gradFill>
          <a:ln/>
        </p:spPr>
      </p:sp>
      <p:pic>
        <p:nvPicPr>
          <p:cNvPr id="45" name="Image 0" descr="/home/lee/developing/oscar-open-source-book/website/slides-src/2021-05-开源与技术的本质/images/page_002_side_visual.png">    </p:cNvPr>
          <p:cNvPicPr>
            <a:picLocks noChangeAspect="1"/>
          </p:cNvPicPr>
          <p:nvPr/>
        </p:nvPicPr>
        <p:blipFill>
          <a:blip r:embed="rId1"/>
          <a:srcRect l="0" r="0" t="144" b="144"/>
          <a:stretch/>
        </p:blipFill>
        <p:spPr>
          <a:xfrm>
            <a:off x="5206365" y="1344454"/>
            <a:ext cx="3531870" cy="261747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200775" y="4059079"/>
            <a:ext cx="1728216" cy="1114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585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协作网络：</a:t>
            </a:r>
            <a:pPr algn="ctr" indent="0" marL="0">
              <a:lnSpc>
                <a:spcPct val="150000"/>
              </a:lnSpc>
              <a:buNone/>
            </a:pPr>
            <a:r>
              <a:rPr lang="en-US" sz="585" spc="23" kern="0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无数贡献者通过开放代码连接彼此</a:t>
            </a:r>
            <a:endParaRPr lang="en-US" sz="585" dirty="0"/>
          </a:p>
        </p:txBody>
      </p:sp>
      <p:sp>
        <p:nvSpPr>
          <p:cNvPr id="47" name="Shape 44"/>
          <p:cNvSpPr/>
          <p:nvPr/>
        </p:nvSpPr>
        <p:spPr>
          <a:xfrm>
            <a:off x="342900" y="4589145"/>
            <a:ext cx="8458200" cy="280035"/>
          </a:xfrm>
          <a:prstGeom prst="rect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/>
        </p:spPr>
      </p:sp>
      <p:sp>
        <p:nvSpPr>
          <p:cNvPr id="48" name="Shape 45"/>
          <p:cNvSpPr/>
          <p:nvPr/>
        </p:nvSpPr>
        <p:spPr>
          <a:xfrm>
            <a:off x="342900" y="4589145"/>
            <a:ext cx="0" cy="280035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97205" y="471201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22935" y="4669155"/>
            <a:ext cx="5568696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b="1" spc="23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从自由到开放，从理念到运动</a:t>
            </a:r>
            <a:pPr algn="l" indent="0" marL="0">
              <a:lnSpc>
                <a:spcPct val="150000"/>
              </a:lnSpc>
              <a:buNone/>
            </a:pPr>
            <a:r>
              <a:rPr lang="en-US" sz="630" spc="23" kern="0" dirty="0">
                <a:solidFill>
                  <a:srgbClr val="9FA8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——开源不仅是一种代码实践方式，更是一套被全球开发者广泛接受、深刻重塑软件产业格局的协作文明。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121225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4572000" y="-308610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371600" y="102870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3206115" y="408623"/>
            <a:ext cx="40005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3731895" y="257175"/>
            <a:ext cx="1897380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710" b="1" spc="18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开源的核心价值</a:t>
            </a:r>
            <a:endParaRPr lang="en-US" sz="1710" dirty="0"/>
          </a:p>
        </p:txBody>
      </p:sp>
      <p:sp>
        <p:nvSpPr>
          <p:cNvPr id="8" name="Shape 6"/>
          <p:cNvSpPr/>
          <p:nvPr/>
        </p:nvSpPr>
        <p:spPr>
          <a:xfrm>
            <a:off x="5537835" y="408623"/>
            <a:ext cx="40005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143000" y="651510"/>
            <a:ext cx="7680960" cy="295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开源之所以能深刻改变软件世界，在于它同时提供了一种</a:t>
            </a:r>
            <a:pPr algn="ctr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技术方案</a:t>
            </a:r>
            <a:pPr algn="ctr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和一种</a:t>
            </a:r>
            <a:pPr algn="ctr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社会模型</a:t>
            </a:r>
            <a:pPr algn="ctr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。开放透明赢得信任，协作创新加速发展，共享复用降低成本，社区文化凝聚人心——这四重价值共同构筑了开源的持久生命力。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400050" y="1130320"/>
            <a:ext cx="8343900" cy="3407390"/>
          </a:xfrm>
          <a:prstGeom prst="roundRect">
            <a:avLst>
              <a:gd name="adj" fmla="val 2013"/>
            </a:avLst>
          </a:prstGeom>
          <a:solidFill>
            <a:srgbClr val="2196F3">
              <a:alpha val="7000"/>
            </a:srgbClr>
          </a:solidFill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9143" y="1221760"/>
            <a:ext cx="5715" cy="322451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>
                  <a:alpha val="35000"/>
                </a:srgbClr>
              </a:gs>
              <a:gs pos="70000">
                <a:srgbClr val="00BCD4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491490" y="2831157"/>
            <a:ext cx="816102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>
                  <a:alpha val="35000"/>
                </a:srgbClr>
              </a:gs>
              <a:gs pos="70000">
                <a:srgbClr val="00BCD4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577215" y="1307485"/>
            <a:ext cx="3499634" cy="1426250"/>
          </a:xfrm>
          <a:prstGeom prst="roundRect">
            <a:avLst>
              <a:gd name="adj" fmla="val 400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2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1438930"/>
            <a:ext cx="228600" cy="2286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731520" y="1438930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1028700" y="1438930"/>
            <a:ext cx="122255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开放与透明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1028700" y="1598950"/>
            <a:ext cx="122255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OPENNESS &amp; TRANSPARENCY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731520" y="173611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731520" y="1816120"/>
            <a:ext cx="3573947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源代码公开让任何人都能审查、学习与改进，透明度是建立信任的基础。</a:t>
            </a:r>
            <a:endParaRPr lang="en-US" sz="563" dirty="0"/>
          </a:p>
        </p:txBody>
      </p:sp>
      <p:sp>
        <p:nvSpPr>
          <p:cNvPr id="20" name="Shape 18"/>
          <p:cNvSpPr/>
          <p:nvPr/>
        </p:nvSpPr>
        <p:spPr>
          <a:xfrm>
            <a:off x="731520" y="2009715"/>
            <a:ext cx="402908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009715"/>
            <a:ext cx="460058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源代码公开</a:t>
            </a:r>
            <a:endParaRPr lang="en-US" sz="450" dirty="0"/>
          </a:p>
        </p:txBody>
      </p:sp>
      <p:sp>
        <p:nvSpPr>
          <p:cNvPr id="22" name="Shape 20"/>
          <p:cNvSpPr/>
          <p:nvPr/>
        </p:nvSpPr>
        <p:spPr>
          <a:xfrm>
            <a:off x="1168718" y="2009715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8718" y="2009715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自由审查</a:t>
            </a:r>
            <a:endParaRPr lang="en-US" sz="450" dirty="0"/>
          </a:p>
        </p:txBody>
      </p:sp>
      <p:sp>
        <p:nvSpPr>
          <p:cNvPr id="24" name="Shape 22"/>
          <p:cNvSpPr/>
          <p:nvPr/>
        </p:nvSpPr>
        <p:spPr>
          <a:xfrm>
            <a:off x="1545908" y="2009715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45908" y="2009715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信任基石</a:t>
            </a:r>
            <a:endParaRPr lang="en-US" sz="450" dirty="0"/>
          </a:p>
        </p:txBody>
      </p:sp>
      <p:sp>
        <p:nvSpPr>
          <p:cNvPr id="26" name="Shape 24"/>
          <p:cNvSpPr/>
          <p:nvPr/>
        </p:nvSpPr>
        <p:spPr>
          <a:xfrm>
            <a:off x="5067151" y="1307485"/>
            <a:ext cx="3499634" cy="1426250"/>
          </a:xfrm>
          <a:prstGeom prst="roundRect">
            <a:avLst>
              <a:gd name="adj" fmla="val 400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2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21456" y="1438930"/>
            <a:ext cx="228600" cy="2286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5221456" y="1438930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5518636" y="1438930"/>
            <a:ext cx="1369771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协作与创新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5518636" y="1598950"/>
            <a:ext cx="136977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&amp; INNOVATION</a:t>
            </a:r>
            <a:endParaRPr lang="en-US" sz="450" dirty="0"/>
          </a:p>
        </p:txBody>
      </p:sp>
      <p:sp>
        <p:nvSpPr>
          <p:cNvPr id="31" name="Shape 29"/>
          <p:cNvSpPr/>
          <p:nvPr/>
        </p:nvSpPr>
        <p:spPr>
          <a:xfrm>
            <a:off x="5221456" y="173611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2" name="Text 30"/>
          <p:cNvSpPr/>
          <p:nvPr/>
        </p:nvSpPr>
        <p:spPr>
          <a:xfrm>
            <a:off x="5221456" y="1816120"/>
            <a:ext cx="3573947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全球分布式协作打破组织边界，以众包模式加速迭代，催生颠覆性创新成果。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5221456" y="2009715"/>
            <a:ext cx="402908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21456" y="2009715"/>
            <a:ext cx="460058" cy="131445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分布式协作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5658654" y="2009715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8654" y="2009715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众包模式</a:t>
            </a:r>
            <a:endParaRPr lang="en-US" sz="450" dirty="0"/>
          </a:p>
        </p:txBody>
      </p:sp>
      <p:sp>
        <p:nvSpPr>
          <p:cNvPr id="37" name="Shape 35"/>
          <p:cNvSpPr/>
          <p:nvPr/>
        </p:nvSpPr>
        <p:spPr>
          <a:xfrm>
            <a:off x="6035844" y="2009715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844" y="2009715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颠覆创新</a:t>
            </a:r>
            <a:endParaRPr lang="en-US" sz="450" dirty="0"/>
          </a:p>
        </p:txBody>
      </p:sp>
      <p:sp>
        <p:nvSpPr>
          <p:cNvPr id="39" name="Shape 37"/>
          <p:cNvSpPr/>
          <p:nvPr/>
        </p:nvSpPr>
        <p:spPr>
          <a:xfrm>
            <a:off x="577215" y="2934295"/>
            <a:ext cx="3499634" cy="1426250"/>
          </a:xfrm>
          <a:prstGeom prst="roundRect">
            <a:avLst>
              <a:gd name="adj" fmla="val 400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2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3065740"/>
            <a:ext cx="228600" cy="2286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565C0"/>
              </a:gs>
              <a:gs pos="100000">
                <a:srgbClr val="2196F3"/>
              </a:gs>
            </a:gsLst>
            <a:lin ang="2700000" scaled="0"/>
          </a:gradFill>
          <a:ln/>
        </p:spPr>
      </p:sp>
      <p:sp>
        <p:nvSpPr>
          <p:cNvPr id="41" name="Text 39"/>
          <p:cNvSpPr/>
          <p:nvPr/>
        </p:nvSpPr>
        <p:spPr>
          <a:xfrm>
            <a:off x="731520" y="3065740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10" dirty="0"/>
          </a:p>
        </p:txBody>
      </p:sp>
      <p:sp>
        <p:nvSpPr>
          <p:cNvPr id="42" name="Text 40"/>
          <p:cNvSpPr/>
          <p:nvPr/>
        </p:nvSpPr>
        <p:spPr>
          <a:xfrm>
            <a:off x="1028700" y="3065740"/>
            <a:ext cx="77152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共享与复用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1028700" y="3225760"/>
            <a:ext cx="748894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SHARING &amp; REUSE</a:t>
            </a:r>
            <a:endParaRPr lang="en-US" sz="450" dirty="0"/>
          </a:p>
        </p:txBody>
      </p:sp>
      <p:sp>
        <p:nvSpPr>
          <p:cNvPr id="44" name="Shape 42"/>
          <p:cNvSpPr/>
          <p:nvPr/>
        </p:nvSpPr>
        <p:spPr>
          <a:xfrm>
            <a:off x="731520" y="336292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731520" y="3442930"/>
            <a:ext cx="3573947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避免重复造轮子，优秀成果被广泛复用，形成正反馈的知识积累生态。</a:t>
            </a:r>
            <a:endParaRPr lang="en-US" sz="563" dirty="0"/>
          </a:p>
        </p:txBody>
      </p:sp>
      <p:sp>
        <p:nvSpPr>
          <p:cNvPr id="46" name="Shape 44"/>
          <p:cNvSpPr/>
          <p:nvPr/>
        </p:nvSpPr>
        <p:spPr>
          <a:xfrm>
            <a:off x="731520" y="3636526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3636526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避免重复</a:t>
            </a:r>
            <a:endParaRPr lang="en-US" sz="450" dirty="0"/>
          </a:p>
        </p:txBody>
      </p:sp>
      <p:sp>
        <p:nvSpPr>
          <p:cNvPr id="48" name="Shape 46"/>
          <p:cNvSpPr/>
          <p:nvPr/>
        </p:nvSpPr>
        <p:spPr>
          <a:xfrm>
            <a:off x="1108710" y="3636526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8710" y="3636526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广泛复用</a:t>
            </a:r>
            <a:endParaRPr lang="en-US" sz="450" dirty="0"/>
          </a:p>
        </p:txBody>
      </p:sp>
      <p:sp>
        <p:nvSpPr>
          <p:cNvPr id="50" name="Shape 48"/>
          <p:cNvSpPr/>
          <p:nvPr/>
        </p:nvSpPr>
        <p:spPr>
          <a:xfrm>
            <a:off x="1485900" y="3636526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85900" y="3636526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知识生态</a:t>
            </a:r>
            <a:endParaRPr lang="en-US" sz="450" dirty="0"/>
          </a:p>
        </p:txBody>
      </p:sp>
      <p:sp>
        <p:nvSpPr>
          <p:cNvPr id="52" name="Shape 50"/>
          <p:cNvSpPr/>
          <p:nvPr/>
        </p:nvSpPr>
        <p:spPr>
          <a:xfrm>
            <a:off x="5067151" y="2934295"/>
            <a:ext cx="3499634" cy="1426250"/>
          </a:xfrm>
          <a:prstGeom prst="roundRect">
            <a:avLst>
              <a:gd name="adj" fmla="val 4007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2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21456" y="3065740"/>
            <a:ext cx="228600" cy="2286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838F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54" name="Text 52"/>
          <p:cNvSpPr/>
          <p:nvPr/>
        </p:nvSpPr>
        <p:spPr>
          <a:xfrm>
            <a:off x="5221456" y="3065740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10" dirty="0"/>
          </a:p>
        </p:txBody>
      </p:sp>
      <p:sp>
        <p:nvSpPr>
          <p:cNvPr id="55" name="Text 53"/>
          <p:cNvSpPr/>
          <p:nvPr/>
        </p:nvSpPr>
        <p:spPr>
          <a:xfrm>
            <a:off x="5518636" y="3065740"/>
            <a:ext cx="1011326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社区与文化</a:t>
            </a:r>
            <a:endParaRPr lang="en-US" sz="810" dirty="0"/>
          </a:p>
        </p:txBody>
      </p:sp>
      <p:sp>
        <p:nvSpPr>
          <p:cNvPr id="56" name="Text 54"/>
          <p:cNvSpPr/>
          <p:nvPr/>
        </p:nvSpPr>
        <p:spPr>
          <a:xfrm>
            <a:off x="5518636" y="3225760"/>
            <a:ext cx="101132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&amp; CULTURE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5221456" y="3362920"/>
            <a:ext cx="20574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8" name="Text 56"/>
          <p:cNvSpPr/>
          <p:nvPr/>
        </p:nvSpPr>
        <p:spPr>
          <a:xfrm>
            <a:off x="5221456" y="3442930"/>
            <a:ext cx="3573947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开源社区以贡献驱动认可，形成独特的荣誉体系与工程师文化认同。</a:t>
            </a:r>
            <a:endParaRPr lang="en-US" sz="563" dirty="0"/>
          </a:p>
        </p:txBody>
      </p:sp>
      <p:sp>
        <p:nvSpPr>
          <p:cNvPr id="59" name="Shape 57"/>
          <p:cNvSpPr/>
          <p:nvPr/>
        </p:nvSpPr>
        <p:spPr>
          <a:xfrm>
            <a:off x="5221456" y="3636526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21456" y="3636526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贡献驱动</a:t>
            </a:r>
            <a:endParaRPr lang="en-US" sz="450" dirty="0"/>
          </a:p>
        </p:txBody>
      </p:sp>
      <p:sp>
        <p:nvSpPr>
          <p:cNvPr id="61" name="Shape 59"/>
          <p:cNvSpPr/>
          <p:nvPr/>
        </p:nvSpPr>
        <p:spPr>
          <a:xfrm>
            <a:off x="5598646" y="3636526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98646" y="3636526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荣誉体系</a:t>
            </a:r>
            <a:endParaRPr lang="en-US" sz="450" dirty="0"/>
          </a:p>
        </p:txBody>
      </p:sp>
      <p:sp>
        <p:nvSpPr>
          <p:cNvPr id="63" name="Shape 61"/>
          <p:cNvSpPr/>
          <p:nvPr/>
        </p:nvSpPr>
        <p:spPr>
          <a:xfrm>
            <a:off x="5975836" y="3636526"/>
            <a:ext cx="342900" cy="131445"/>
          </a:xfrm>
          <a:prstGeom prst="roundRect">
            <a:avLst>
              <a:gd name="adj" fmla="val 17391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75836" y="3636526"/>
            <a:ext cx="400050" cy="131445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文化认同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 rot="-2700000">
            <a:off x="3596388" y="3232411"/>
            <a:ext cx="1143000" cy="1143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00BCD4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66" name="Shape 64"/>
          <p:cNvSpPr/>
          <p:nvPr/>
        </p:nvSpPr>
        <p:spPr>
          <a:xfrm rot="-2700000">
            <a:off x="4404612" y="2424188"/>
            <a:ext cx="1143000" cy="1143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00BCD4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67" name="Shape 65"/>
          <p:cNvSpPr/>
          <p:nvPr/>
        </p:nvSpPr>
        <p:spPr>
          <a:xfrm rot="2700000">
            <a:off x="3596388" y="2424188"/>
            <a:ext cx="1143000" cy="1143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00BCD4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68" name="Shape 66"/>
          <p:cNvSpPr/>
          <p:nvPr/>
        </p:nvSpPr>
        <p:spPr>
          <a:xfrm rot="2700000">
            <a:off x="4404612" y="3232411"/>
            <a:ext cx="1143000" cy="1143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00BCD4">
                  <a:alpha val="20000"/>
                </a:srgbClr>
              </a:gs>
            </a:gsLst>
            <a:lin ang="0" scaled="0"/>
          </a:gradFill>
          <a:ln/>
        </p:spPr>
      </p:sp>
      <p:sp>
        <p:nvSpPr>
          <p:cNvPr id="69" name="Shape 67"/>
          <p:cNvSpPr/>
          <p:nvPr/>
        </p:nvSpPr>
        <p:spPr>
          <a:xfrm>
            <a:off x="4257675" y="2519690"/>
            <a:ext cx="628650" cy="628650"/>
          </a:xfrm>
          <a:prstGeom prst="ellipse">
            <a:avLst/>
          </a:prstGeom>
          <a:gradFill rotWithShape="1">
            <a:gsLst>
              <a:gs pos="0">
                <a:srgbClr val="2196F3">
                  <a:alpha val="95000"/>
                </a:srgbClr>
              </a:gs>
              <a:gs pos="30000">
                <a:srgbClr val="2196F3">
                  <a:alpha val="60000"/>
                </a:srgbClr>
              </a:gs>
              <a:gs pos="55000">
                <a:srgbClr val="2196F3">
                  <a:alpha val="2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0" name="Shape 68"/>
          <p:cNvSpPr/>
          <p:nvPr/>
        </p:nvSpPr>
        <p:spPr>
          <a:xfrm>
            <a:off x="4114800" y="2376815"/>
            <a:ext cx="914400" cy="914400"/>
          </a:xfrm>
          <a:prstGeom prst="ellipse">
            <a:avLst/>
          </a:prstGeom>
          <a:gradFill rotWithShape="1">
            <a:gsLst>
              <a:gs pos="0">
                <a:srgbClr val="2196F3">
                  <a:alpha val="25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1" name="Shape 69"/>
          <p:cNvSpPr/>
          <p:nvPr/>
        </p:nvSpPr>
        <p:spPr>
          <a:xfrm>
            <a:off x="4394835" y="2656850"/>
            <a:ext cx="354330" cy="354330"/>
          </a:xfrm>
          <a:prstGeom prst="ellipse">
            <a:avLst/>
          </a:prstGeom>
          <a:gradFill rotWithShape="1">
            <a:gsLst>
              <a:gs pos="0">
                <a:srgbClr val="64B5F6"/>
              </a:gs>
              <a:gs pos="60000">
                <a:srgbClr val="2196F3"/>
              </a:gs>
              <a:gs pos="100000">
                <a:srgbClr val="1565C0"/>
              </a:gs>
            </a:gsLst>
            <a:path path="circle">
              <a:fillToRect l="50000" t="50000" r="50000" b="50000"/>
            </a:path>
          </a:gradFill>
          <a:ln w="11430">
            <a:solidFill>
              <a:srgbClr val="00BCD4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5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394835" y="2656850"/>
            <a:ext cx="417195" cy="3543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495" dirty="0"/>
          </a:p>
        </p:txBody>
      </p:sp>
      <p:sp>
        <p:nvSpPr>
          <p:cNvPr id="73" name="Shape 71"/>
          <p:cNvSpPr/>
          <p:nvPr/>
        </p:nvSpPr>
        <p:spPr>
          <a:xfrm>
            <a:off x="400050" y="4617720"/>
            <a:ext cx="8343900" cy="325755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4000"/>
                </a:srgbClr>
              </a:gs>
            </a:gsLst>
            <a:lin ang="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46095" y="4692015"/>
            <a:ext cx="252603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  <p:sp>
        <p:nvSpPr>
          <p:cNvPr id="75" name="Text 73"/>
          <p:cNvSpPr/>
          <p:nvPr/>
        </p:nvSpPr>
        <p:spPr>
          <a:xfrm>
            <a:off x="3206115" y="4734878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价值维度</a:t>
            </a:r>
            <a:endParaRPr lang="en-US" sz="495" dirty="0"/>
          </a:p>
        </p:txBody>
      </p:sp>
      <p:sp>
        <p:nvSpPr>
          <p:cNvPr id="76" name="Shape 74"/>
          <p:cNvSpPr/>
          <p:nvPr/>
        </p:nvSpPr>
        <p:spPr>
          <a:xfrm>
            <a:off x="3583305" y="4712018"/>
            <a:ext cx="5715" cy="13716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691890" y="4703445"/>
            <a:ext cx="325755" cy="154305"/>
          </a:xfrm>
          <a:prstGeom prst="roundRect">
            <a:avLst>
              <a:gd name="adj" fmla="val 14815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91890" y="4703445"/>
            <a:ext cx="394335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</a:t>
            </a:r>
            <a:endParaRPr lang="en-US" sz="540" dirty="0"/>
          </a:p>
        </p:txBody>
      </p:sp>
      <p:sp>
        <p:nvSpPr>
          <p:cNvPr id="79" name="Shape 77"/>
          <p:cNvSpPr/>
          <p:nvPr/>
        </p:nvSpPr>
        <p:spPr>
          <a:xfrm>
            <a:off x="3754755" y="4778990"/>
            <a:ext cx="28575" cy="2857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2196F3">
                <a:alpha val="10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063365" y="4703445"/>
            <a:ext cx="325755" cy="154305"/>
          </a:xfrm>
          <a:prstGeom prst="roundRect">
            <a:avLst>
              <a:gd name="adj" fmla="val 14815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63365" y="4703445"/>
            <a:ext cx="394335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</a:t>
            </a:r>
            <a:endParaRPr lang="en-US" sz="540" dirty="0"/>
          </a:p>
        </p:txBody>
      </p:sp>
      <p:sp>
        <p:nvSpPr>
          <p:cNvPr id="82" name="Shape 80"/>
          <p:cNvSpPr/>
          <p:nvPr/>
        </p:nvSpPr>
        <p:spPr>
          <a:xfrm>
            <a:off x="4126230" y="477899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434840" y="4703445"/>
            <a:ext cx="325755" cy="154305"/>
          </a:xfrm>
          <a:prstGeom prst="roundRect">
            <a:avLst>
              <a:gd name="adj" fmla="val 14815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34840" y="4703445"/>
            <a:ext cx="394335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</a:t>
            </a:r>
            <a:endParaRPr lang="en-US" sz="540" dirty="0"/>
          </a:p>
        </p:txBody>
      </p:sp>
      <p:sp>
        <p:nvSpPr>
          <p:cNvPr id="85" name="Shape 83"/>
          <p:cNvSpPr/>
          <p:nvPr/>
        </p:nvSpPr>
        <p:spPr>
          <a:xfrm>
            <a:off x="4497705" y="4778990"/>
            <a:ext cx="28575" cy="28575"/>
          </a:xfrm>
          <a:prstGeom prst="ellipse">
            <a:avLst/>
          </a:prstGeom>
          <a:solidFill>
            <a:srgbClr val="42A5F5"/>
          </a:solidFill>
          <a:ln/>
          <a:effectLst>
            <a:outerShdw sx="100000" sy="100000" kx="0" ky="0" algn="bl" rotWithShape="0" blurRad="57150" dist="50800" dir="16200000">
              <a:srgbClr val="42A5F5">
                <a:alpha val="10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806315" y="4703445"/>
            <a:ext cx="325755" cy="154305"/>
          </a:xfrm>
          <a:prstGeom prst="roundRect">
            <a:avLst>
              <a:gd name="adj" fmla="val 14815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06315" y="4703445"/>
            <a:ext cx="394335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</a:t>
            </a:r>
            <a:endParaRPr lang="en-US" sz="540" dirty="0"/>
          </a:p>
        </p:txBody>
      </p:sp>
      <p:sp>
        <p:nvSpPr>
          <p:cNvPr id="88" name="Shape 86"/>
          <p:cNvSpPr/>
          <p:nvPr/>
        </p:nvSpPr>
        <p:spPr>
          <a:xfrm>
            <a:off x="4869180" y="4778990"/>
            <a:ext cx="28575" cy="28575"/>
          </a:xfrm>
          <a:prstGeom prst="ellipse">
            <a:avLst/>
          </a:prstGeom>
          <a:solidFill>
            <a:srgbClr val="26C6DA"/>
          </a:solidFill>
          <a:ln/>
          <a:effectLst>
            <a:outerShdw sx="100000" sy="100000" kx="0" ky="0" algn="bl" rotWithShape="0" blurRad="57150" dist="50800" dir="16200000">
              <a:srgbClr val="26C6DA">
                <a:alpha val="10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5234940" y="4712018"/>
            <a:ext cx="5715" cy="137160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5343525" y="4734878"/>
            <a:ext cx="84490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 · 协作 · 共享 · 文化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00225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028700" y="-1028700"/>
            <a:ext cx="1828800" cy="1828800"/>
          </a:xfrm>
          <a:prstGeom prst="ellipse">
            <a:avLst/>
          </a:prstGeom>
          <a:noFill/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2500" y="4572000"/>
            <a:ext cx="1257300" cy="1257300"/>
          </a:xfrm>
          <a:prstGeom prst="ellipse">
            <a:avLst/>
          </a:prstGeom>
          <a:noFill/>
          <a:ln w="5715">
            <a:solidFill>
              <a:srgbClr val="00BCD4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457200"/>
            <a:ext cx="800100" cy="800100"/>
          </a:xfrm>
          <a:prstGeom prst="ellipse">
            <a:avLst/>
          </a:prstGeom>
          <a:noFill/>
          <a:ln w="5715">
            <a:solidFill>
              <a:srgbClr val="00BCD4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14350"/>
            <a:ext cx="11430" cy="40005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" y="914400"/>
            <a:ext cx="148590" cy="1143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8605" y="89725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" y="1771650"/>
            <a:ext cx="11430" cy="34290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" y="2114550"/>
            <a:ext cx="125730" cy="1143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00025" y="209740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0020" y="2971800"/>
            <a:ext cx="11430" cy="45720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2875" y="341185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4300" y="4057650"/>
            <a:ext cx="11430" cy="34290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" y="4400550"/>
            <a:ext cx="171450" cy="1143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" y="438340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95410" y="400050"/>
            <a:ext cx="11430" cy="45720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995410" y="84010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869680" y="857250"/>
            <a:ext cx="137160" cy="1143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714500"/>
            <a:ext cx="11430" cy="40005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15400" y="2114550"/>
            <a:ext cx="125730" cy="1143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03970" y="209740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0" y="2914650"/>
            <a:ext cx="11430" cy="485775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61120" y="338899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06840" y="4000500"/>
            <a:ext cx="11430" cy="371475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846820" y="4371975"/>
            <a:ext cx="171450" cy="11430"/>
          </a:xfrm>
          <a:prstGeom prst="rect">
            <a:avLst/>
          </a:prstGeom>
          <a:solidFill>
            <a:srgbClr val="2196F3">
              <a:alpha val="5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835390" y="435483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51460"/>
            <a:ext cx="82296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2196F3">
                  <a:alpha val="8000"/>
                </a:srgbClr>
              </a:gs>
              <a:gs pos="50000">
                <a:srgbClr val="2196F3"/>
              </a:gs>
              <a:gs pos="92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9" name="Shape 27"/>
          <p:cNvSpPr/>
          <p:nvPr/>
        </p:nvSpPr>
        <p:spPr>
          <a:xfrm>
            <a:off x="4572000" y="257175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54768" y="365760"/>
            <a:ext cx="160660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 ·  章 节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2560320" y="588645"/>
            <a:ext cx="4506163" cy="492026"/>
          </a:xfrm>
          <a:prstGeom prst="rect">
            <a:avLst/>
          </a:prstGeom>
          <a:noFill/>
          <a:ln/>
          <a:effectLst>
            <a:outerShdw sx="100000" sy="100000" kx="0" ky="0" algn="bl" rotWithShape="0" blurRad="2857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90" b="1" spc="270" kern="0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技术的本质再思考</a:t>
            </a:r>
            <a:endParaRPr lang="en-US" sz="3690" dirty="0"/>
          </a:p>
        </p:txBody>
      </p:sp>
      <p:sp>
        <p:nvSpPr>
          <p:cNvPr id="32" name="Text 30"/>
          <p:cNvSpPr/>
          <p:nvPr/>
        </p:nvSpPr>
        <p:spPr>
          <a:xfrm>
            <a:off x="3411855" y="1194971"/>
            <a:ext cx="2598725" cy="16573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00BCD4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spc="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工 具 理 性 到 价 值 追 问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1566446"/>
            <a:ext cx="82296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2196F3">
                  <a:alpha val="8000"/>
                </a:srgbClr>
              </a:gs>
              <a:gs pos="50000">
                <a:srgbClr val="2196F3"/>
              </a:gs>
              <a:gs pos="92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4" name="Shape 32"/>
          <p:cNvSpPr/>
          <p:nvPr/>
        </p:nvSpPr>
        <p:spPr>
          <a:xfrm>
            <a:off x="4572000" y="1572161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74520" y="1772186"/>
            <a:ext cx="1714500" cy="900113"/>
          </a:xfrm>
          <a:prstGeom prst="roundRect">
            <a:avLst>
              <a:gd name="adj" fmla="val 5079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4520" y="1772186"/>
            <a:ext cx="25146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7" name="Text 35"/>
          <p:cNvSpPr/>
          <p:nvPr/>
        </p:nvSpPr>
        <p:spPr>
          <a:xfrm>
            <a:off x="2005965" y="1915061"/>
            <a:ext cx="16258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5" dirty="0"/>
          </a:p>
        </p:txBody>
      </p:sp>
      <p:sp>
        <p:nvSpPr>
          <p:cNvPr id="38" name="Text 36"/>
          <p:cNvSpPr/>
          <p:nvPr/>
        </p:nvSpPr>
        <p:spPr>
          <a:xfrm>
            <a:off x="2005965" y="2063651"/>
            <a:ext cx="162580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章节导览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2005965" y="2280821"/>
            <a:ext cx="1625803" cy="260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9B9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本章深入探讨技术的本质属性，以及开源如何折射出技术发展的内在规律</a:t>
            </a:r>
            <a:endParaRPr lang="en-US" sz="585" dirty="0"/>
          </a:p>
        </p:txBody>
      </p:sp>
      <p:sp>
        <p:nvSpPr>
          <p:cNvPr id="40" name="Shape 38"/>
          <p:cNvSpPr/>
          <p:nvPr/>
        </p:nvSpPr>
        <p:spPr>
          <a:xfrm>
            <a:off x="3714750" y="1772186"/>
            <a:ext cx="1714500" cy="900113"/>
          </a:xfrm>
          <a:prstGeom prst="roundRect">
            <a:avLst>
              <a:gd name="adj" fmla="val 5079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14750" y="1772186"/>
            <a:ext cx="25146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2" name="Text 40"/>
          <p:cNvSpPr/>
          <p:nvPr/>
        </p:nvSpPr>
        <p:spPr>
          <a:xfrm>
            <a:off x="3846195" y="1915061"/>
            <a:ext cx="16258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43" name="Text 41"/>
          <p:cNvSpPr/>
          <p:nvPr/>
        </p:nvSpPr>
        <p:spPr>
          <a:xfrm>
            <a:off x="3846195" y="2063651"/>
            <a:ext cx="162580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关键问题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3846195" y="2280821"/>
            <a:ext cx="1625803" cy="260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9B9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技术是价值中立的工具，还是承载了创造者的价值观与权力关系？</a:t>
            </a:r>
            <a:endParaRPr lang="en-US" sz="585" dirty="0"/>
          </a:p>
        </p:txBody>
      </p:sp>
      <p:sp>
        <p:nvSpPr>
          <p:cNvPr id="45" name="Shape 43"/>
          <p:cNvSpPr/>
          <p:nvPr/>
        </p:nvSpPr>
        <p:spPr>
          <a:xfrm>
            <a:off x="5554980" y="1772186"/>
            <a:ext cx="1714500" cy="900113"/>
          </a:xfrm>
          <a:prstGeom prst="roundRect">
            <a:avLst>
              <a:gd name="adj" fmla="val 5079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54980" y="1772186"/>
            <a:ext cx="251460" cy="1714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Text 45"/>
          <p:cNvSpPr/>
          <p:nvPr/>
        </p:nvSpPr>
        <p:spPr>
          <a:xfrm>
            <a:off x="5686425" y="1915061"/>
            <a:ext cx="16258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5" dirty="0"/>
          </a:p>
        </p:txBody>
      </p:sp>
      <p:sp>
        <p:nvSpPr>
          <p:cNvPr id="48" name="Text 46"/>
          <p:cNvSpPr/>
          <p:nvPr/>
        </p:nvSpPr>
        <p:spPr>
          <a:xfrm>
            <a:off x="5686425" y="2063651"/>
            <a:ext cx="162580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阅读线索</a:t>
            </a:r>
            <a:endParaRPr lang="en-US" sz="810" dirty="0"/>
          </a:p>
        </p:txBody>
      </p:sp>
      <p:sp>
        <p:nvSpPr>
          <p:cNvPr id="49" name="Text 47"/>
          <p:cNvSpPr/>
          <p:nvPr/>
        </p:nvSpPr>
        <p:spPr>
          <a:xfrm>
            <a:off x="5686425" y="2280821"/>
            <a:ext cx="1625803" cy="260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9B9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结合2021年开源之道的思考片段，串联哲学视角与工程实践的双线叙事</a:t>
            </a:r>
            <a:endParaRPr lang="en-US" sz="585" dirty="0"/>
          </a:p>
        </p:txBody>
      </p:sp>
      <p:sp>
        <p:nvSpPr>
          <p:cNvPr id="50" name="Shape 48"/>
          <p:cNvSpPr/>
          <p:nvPr/>
        </p:nvSpPr>
        <p:spPr>
          <a:xfrm>
            <a:off x="1371600" y="2843748"/>
            <a:ext cx="6400800" cy="509707"/>
          </a:xfrm>
          <a:prstGeom prst="roundRect">
            <a:avLst>
              <a:gd name="adj" fmla="val 4485"/>
            </a:avLst>
          </a:prstGeom>
          <a:solidFill>
            <a:srgbClr val="2196F3">
              <a:alpha val="3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72400" y="2843748"/>
            <a:ext cx="0" cy="509707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71600" y="2843748"/>
            <a:ext cx="0" cy="509707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30204" y="2969478"/>
            <a:ext cx="6589624" cy="249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spc="23" kern="0" dirty="0">
                <a:solidFill>
                  <a:srgbClr val="9B9B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在进入技术本质的深层探讨之前，我们需要意识到：技术从来不只是工具。它承载着设计者的意图、组织的利益和社会的规范。开源运动恰恰为理解这一复杂关系提供了独特的观察窗口。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3569018" y="4697730"/>
            <a:ext cx="224668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270" kern="0" dirty="0">
                <a:solidFill>
                  <a:srgbClr val="2196F3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H I L O S O P H Y  ·  哲 学 之 思</a:t>
            </a:r>
            <a:endParaRPr lang="en-US" sz="495" dirty="0"/>
          </a:p>
        </p:txBody>
      </p:sp>
      <p:sp>
        <p:nvSpPr>
          <p:cNvPr id="55" name="Shape 53"/>
          <p:cNvSpPr/>
          <p:nvPr/>
        </p:nvSpPr>
        <p:spPr>
          <a:xfrm>
            <a:off x="457200" y="4880610"/>
            <a:ext cx="82296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2196F3">
                  <a:alpha val="8000"/>
                </a:srgbClr>
              </a:gs>
              <a:gs pos="50000">
                <a:srgbClr val="2196F3"/>
              </a:gs>
              <a:gs pos="92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6" name="Shape 54"/>
          <p:cNvSpPr/>
          <p:nvPr/>
        </p:nvSpPr>
        <p:spPr>
          <a:xfrm>
            <a:off x="4572000" y="4886325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55000">
                <a:srgbClr val="141428"/>
              </a:gs>
              <a:gs pos="100000">
                <a:srgbClr val="0F0F1F"/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4389120" y="-267462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12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2926080" y="185166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868501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137160" y="137160"/>
            <a:ext cx="80010" cy="8001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137160" y="13716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13716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26830" y="137160"/>
            <a:ext cx="80010" cy="8001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8926830" y="13716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06840" y="13716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4926330"/>
            <a:ext cx="80010" cy="8001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137160" y="500634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492633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6830" y="4926330"/>
            <a:ext cx="80010" cy="80010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006840" y="4926330"/>
            <a:ext cx="0" cy="8001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26830" y="5006340"/>
            <a:ext cx="80010" cy="0"/>
          </a:xfrm>
          <a:prstGeom prst="lin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" y="29432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1468"/>
            <a:ext cx="36576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891540" y="274320"/>
            <a:ext cx="155309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· IS · CHOICE</a:t>
            </a:r>
            <a:endParaRPr lang="en-US" sz="540" dirty="0"/>
          </a:p>
        </p:txBody>
      </p:sp>
      <p:sp>
        <p:nvSpPr>
          <p:cNvPr id="21" name="Text 19"/>
          <p:cNvSpPr/>
          <p:nvPr/>
        </p:nvSpPr>
        <p:spPr>
          <a:xfrm>
            <a:off x="342900" y="930384"/>
            <a:ext cx="4679885" cy="154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5" spc="34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技术即选择——</a:t>
            </a:r>
            <a:pPr algn="l" indent="0" marL="0">
              <a:buNone/>
            </a:pPr>
            <a:r>
              <a:rPr lang="en-US" sz="855" b="1" spc="3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价值取向的载体</a:t>
            </a:r>
            <a:pPr algn="l" indent="0" marL="0">
              <a:buNone/>
            </a:pPr>
            <a:r>
              <a:rPr lang="en-US" sz="855" spc="34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，每一项架构决策都烙印着设计者对世界秩序的偏好</a:t>
            </a:r>
            <a:endParaRPr lang="en-US" sz="855" dirty="0"/>
          </a:p>
        </p:txBody>
      </p:sp>
      <p:sp>
        <p:nvSpPr>
          <p:cNvPr id="22" name="Shape 20"/>
          <p:cNvSpPr/>
          <p:nvPr/>
        </p:nvSpPr>
        <p:spPr>
          <a:xfrm>
            <a:off x="7054096" y="320040"/>
            <a:ext cx="845374" cy="200025"/>
          </a:xfrm>
          <a:prstGeom prst="roundRect">
            <a:avLst>
              <a:gd name="adj" fmla="val 2854286"/>
            </a:avLst>
          </a:prstGeom>
          <a:solidFill>
            <a:srgbClr val="16213E">
              <a:alpha val="50000"/>
            </a:srgbClr>
          </a:solidFill>
          <a:ln w="5715">
            <a:solidFill>
              <a:srgbClr val="2A35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4096" y="320040"/>
            <a:ext cx="946818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议题 01 / 技术伦理</a:t>
            </a:r>
            <a:endParaRPr lang="en-US" sz="540" dirty="0"/>
          </a:p>
        </p:txBody>
      </p:sp>
      <p:sp>
        <p:nvSpPr>
          <p:cNvPr id="24" name="Shape 22"/>
          <p:cNvSpPr/>
          <p:nvPr/>
        </p:nvSpPr>
        <p:spPr>
          <a:xfrm>
            <a:off x="7151251" y="402908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25199" y="325755"/>
            <a:ext cx="775901" cy="188595"/>
          </a:xfrm>
          <a:prstGeom prst="roundRect">
            <a:avLst>
              <a:gd name="adj" fmla="val 3027273"/>
            </a:avLst>
          </a:prstGeom>
          <a:solidFill>
            <a:srgbClr val="16213E">
              <a:alpha val="50000"/>
            </a:srgbClr>
          </a:solidFill>
          <a:ln w="5715">
            <a:solidFill>
              <a:srgbClr val="2A35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5199" y="325755"/>
            <a:ext cx="869009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</a:t>
            </a:r>
            <a:endParaRPr lang="en-US" sz="540" dirty="0"/>
          </a:p>
        </p:txBody>
      </p:sp>
      <p:sp>
        <p:nvSpPr>
          <p:cNvPr id="27" name="Shape 25"/>
          <p:cNvSpPr/>
          <p:nvPr/>
        </p:nvSpPr>
        <p:spPr>
          <a:xfrm>
            <a:off x="8122354" y="40290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" y="1256139"/>
            <a:ext cx="4149090" cy="3218706"/>
          </a:xfrm>
          <a:prstGeom prst="roundRect">
            <a:avLst>
              <a:gd name="adj" fmla="val 2841"/>
            </a:avLst>
          </a:prstGeom>
          <a:gradFill rotWithShape="1">
            <a:gsLst>
              <a:gs pos="0">
                <a:srgbClr val="131B36"/>
              </a:gs>
              <a:gs pos="100000">
                <a:srgbClr val="0E1428"/>
              </a:gs>
            </a:gsLst>
            <a:lin ang="4200000" scaled="0"/>
          </a:gradFill>
          <a:ln w="5715">
            <a:solidFill>
              <a:srgbClr val="2A35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775" y="1387584"/>
            <a:ext cx="1769621" cy="142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5" b="1" spc="1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概念对照：技术黑箱 vs 开源透明</a:t>
            </a:r>
            <a:endParaRPr lang="en-US" sz="765" dirty="0"/>
          </a:p>
        </p:txBody>
      </p:sp>
      <p:sp>
        <p:nvSpPr>
          <p:cNvPr id="30" name="Shape 28"/>
          <p:cNvSpPr/>
          <p:nvPr/>
        </p:nvSpPr>
        <p:spPr>
          <a:xfrm>
            <a:off x="485775" y="1421874"/>
            <a:ext cx="17145" cy="91440"/>
          </a:xfrm>
          <a:prstGeom prst="roundRect">
            <a:avLst>
              <a:gd name="adj" fmla="val 66667"/>
            </a:avLst>
          </a:prstGeom>
          <a:solidFill>
            <a:srgbClr val="00BCD4"/>
          </a:solidFill>
          <a:ln/>
        </p:spPr>
      </p:sp>
      <p:sp>
        <p:nvSpPr>
          <p:cNvPr id="31" name="Shape 29"/>
          <p:cNvSpPr/>
          <p:nvPr/>
        </p:nvSpPr>
        <p:spPr>
          <a:xfrm>
            <a:off x="3546336" y="1390442"/>
            <a:ext cx="802779" cy="137160"/>
          </a:xfrm>
          <a:prstGeom prst="roundRect">
            <a:avLst>
              <a:gd name="adj" fmla="val 4162500"/>
            </a:avLst>
          </a:prstGeom>
          <a:noFill/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6336" y="1390442"/>
            <a:ext cx="899112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· MAP</a:t>
            </a:r>
            <a:endParaRPr lang="en-US" sz="495" dirty="0"/>
          </a:p>
        </p:txBody>
      </p:sp>
      <p:sp>
        <p:nvSpPr>
          <p:cNvPr id="33" name="Shape 31"/>
          <p:cNvSpPr/>
          <p:nvPr/>
        </p:nvSpPr>
        <p:spPr>
          <a:xfrm>
            <a:off x="485775" y="1610469"/>
            <a:ext cx="1840230" cy="2732931"/>
          </a:xfrm>
          <a:prstGeom prst="roundRect">
            <a:avLst>
              <a:gd name="adj" fmla="val 3727"/>
            </a:avLst>
          </a:prstGeom>
          <a:gradFill rotWithShape="1">
            <a:gsLst>
              <a:gs pos="0">
                <a:srgbClr val="0A0E1F"/>
              </a:gs>
              <a:gs pos="100000">
                <a:srgbClr val="141428"/>
              </a:gs>
            </a:gsLst>
            <a:lin ang="2700000" scaled="0"/>
          </a:gradFill>
          <a:ln w="5715">
            <a:solidFill>
              <a:srgbClr val="1E25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2930" y="1696194"/>
            <a:ext cx="184343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· A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582930" y="1810494"/>
            <a:ext cx="1843430" cy="130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5" b="1" spc="7" kern="0" dirty="0">
                <a:solidFill>
                  <a:srgbClr val="5A6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</a:t>
            </a:r>
            <a:pPr algn="l" indent="0" marL="0">
              <a:lnSpc>
                <a:spcPct val="120000"/>
              </a:lnSpc>
              <a:buNone/>
            </a:pPr>
            <a:r>
              <a:rPr lang="en-US" sz="855" b="1" spc="7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黑箱</a:t>
            </a:r>
            <a:endParaRPr lang="en-US" sz="855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930" y="2653457"/>
            <a:ext cx="1645920" cy="74295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82930" y="4120515"/>
            <a:ext cx="310485" cy="137160"/>
          </a:xfrm>
          <a:prstGeom prst="roundRect">
            <a:avLst>
              <a:gd name="adj" fmla="val 16667"/>
            </a:avLst>
          </a:prstGeom>
          <a:solidFill>
            <a:srgbClr val="787896">
              <a:alpha val="10000"/>
            </a:srgbClr>
          </a:solidFill>
          <a:ln w="5715">
            <a:solidFill>
              <a:srgbClr val="2A305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2930" y="4120515"/>
            <a:ext cx="373350" cy="13716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不可见</a:t>
            </a:r>
            <a:endParaRPr lang="en-US" sz="495" dirty="0"/>
          </a:p>
        </p:txBody>
      </p:sp>
      <p:sp>
        <p:nvSpPr>
          <p:cNvPr id="39" name="Shape 36"/>
          <p:cNvSpPr/>
          <p:nvPr/>
        </p:nvSpPr>
        <p:spPr>
          <a:xfrm>
            <a:off x="927705" y="4120515"/>
            <a:ext cx="310485" cy="137160"/>
          </a:xfrm>
          <a:prstGeom prst="roundRect">
            <a:avLst>
              <a:gd name="adj" fmla="val 16667"/>
            </a:avLst>
          </a:prstGeom>
          <a:solidFill>
            <a:srgbClr val="787896">
              <a:alpha val="10000"/>
            </a:srgbClr>
          </a:solidFill>
          <a:ln w="5715">
            <a:solidFill>
              <a:srgbClr val="2A305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7705" y="4120515"/>
            <a:ext cx="373350" cy="13716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不可审</a:t>
            </a:r>
            <a:endParaRPr lang="en-US" sz="495" dirty="0"/>
          </a:p>
        </p:txBody>
      </p:sp>
      <p:sp>
        <p:nvSpPr>
          <p:cNvPr id="41" name="Shape 38"/>
          <p:cNvSpPr/>
          <p:nvPr/>
        </p:nvSpPr>
        <p:spPr>
          <a:xfrm>
            <a:off x="1272480" y="4120515"/>
            <a:ext cx="375851" cy="137160"/>
          </a:xfrm>
          <a:prstGeom prst="roundRect">
            <a:avLst>
              <a:gd name="adj" fmla="val 16667"/>
            </a:avLst>
          </a:prstGeom>
          <a:solidFill>
            <a:srgbClr val="787896">
              <a:alpha val="10000"/>
            </a:srgbClr>
          </a:solidFill>
          <a:ln w="5715">
            <a:solidFill>
              <a:srgbClr val="2A305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72480" y="4120515"/>
            <a:ext cx="438716" cy="13716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封闭依赖</a:t>
            </a:r>
            <a:endParaRPr lang="en-US" sz="495" dirty="0"/>
          </a:p>
        </p:txBody>
      </p:sp>
      <p:sp>
        <p:nvSpPr>
          <p:cNvPr id="43" name="Shape 40"/>
          <p:cNvSpPr/>
          <p:nvPr/>
        </p:nvSpPr>
        <p:spPr>
          <a:xfrm>
            <a:off x="2417445" y="1610469"/>
            <a:ext cx="5715" cy="273293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A3558"/>
              </a:gs>
              <a:gs pos="80000">
                <a:srgbClr val="2A3558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4" name="Shape 41"/>
          <p:cNvSpPr/>
          <p:nvPr/>
        </p:nvSpPr>
        <p:spPr>
          <a:xfrm>
            <a:off x="2308860" y="2868305"/>
            <a:ext cx="217170" cy="217170"/>
          </a:xfrm>
          <a:prstGeom prst="ellipse">
            <a:avLst/>
          </a:prstGeom>
          <a:solidFill>
            <a:srgbClr val="0F0F1F"/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71450" dist="50800" dir="16200000">
              <a:srgbClr val="00BCD4">
                <a:alpha val="35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2308860" y="2868305"/>
            <a:ext cx="285750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3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</a:t>
            </a:r>
            <a:endParaRPr lang="en-US" sz="540" dirty="0"/>
          </a:p>
        </p:txBody>
      </p:sp>
      <p:sp>
        <p:nvSpPr>
          <p:cNvPr id="46" name="Shape 43"/>
          <p:cNvSpPr/>
          <p:nvPr/>
        </p:nvSpPr>
        <p:spPr>
          <a:xfrm>
            <a:off x="2508885" y="1610469"/>
            <a:ext cx="1840230" cy="2732931"/>
          </a:xfrm>
          <a:prstGeom prst="roundRect">
            <a:avLst>
              <a:gd name="adj" fmla="val 3727"/>
            </a:avLst>
          </a:prstGeom>
          <a:gradFill rotWithShape="1">
            <a:gsLst>
              <a:gs pos="0">
                <a:srgbClr val="0C1A33"/>
              </a:gs>
              <a:gs pos="100000">
                <a:srgbClr val="0E2544"/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606040" y="1696194"/>
            <a:ext cx="184343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1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· B</a:t>
            </a:r>
            <a:endParaRPr lang="en-US" sz="495" dirty="0"/>
          </a:p>
        </p:txBody>
      </p:sp>
      <p:sp>
        <p:nvSpPr>
          <p:cNvPr id="48" name="Text 45"/>
          <p:cNvSpPr/>
          <p:nvPr/>
        </p:nvSpPr>
        <p:spPr>
          <a:xfrm>
            <a:off x="2606040" y="1810494"/>
            <a:ext cx="1843430" cy="130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5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</a:t>
            </a:r>
            <a:pPr algn="l" indent="0" marL="0">
              <a:lnSpc>
                <a:spcPct val="120000"/>
              </a:lnSpc>
              <a:buNone/>
            </a:pPr>
            <a:r>
              <a:rPr lang="en-US" sz="855" b="1" spc="7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</a:t>
            </a:r>
            <a:endParaRPr lang="en-US" sz="855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6040" y="2653457"/>
            <a:ext cx="1645920" cy="742950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2606040" y="4120515"/>
            <a:ext cx="375851" cy="137160"/>
          </a:xfrm>
          <a:prstGeom prst="roundRect">
            <a:avLst>
              <a:gd name="adj" fmla="val 16667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606040" y="4120515"/>
            <a:ext cx="438716" cy="13716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7FE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代码公开</a:t>
            </a:r>
            <a:endParaRPr lang="en-US" sz="495" dirty="0"/>
          </a:p>
        </p:txBody>
      </p:sp>
      <p:sp>
        <p:nvSpPr>
          <p:cNvPr id="52" name="Shape 48"/>
          <p:cNvSpPr/>
          <p:nvPr/>
        </p:nvSpPr>
        <p:spPr>
          <a:xfrm>
            <a:off x="3016181" y="4120515"/>
            <a:ext cx="375851" cy="137160"/>
          </a:xfrm>
          <a:prstGeom prst="roundRect">
            <a:avLst>
              <a:gd name="adj" fmla="val 16667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016181" y="4120515"/>
            <a:ext cx="438716" cy="13716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7FE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逻辑可审</a:t>
            </a:r>
            <a:endParaRPr lang="en-US" sz="495" dirty="0"/>
          </a:p>
        </p:txBody>
      </p:sp>
      <p:sp>
        <p:nvSpPr>
          <p:cNvPr id="54" name="Shape 50"/>
          <p:cNvSpPr/>
          <p:nvPr/>
        </p:nvSpPr>
        <p:spPr>
          <a:xfrm>
            <a:off x="3426321" y="4120515"/>
            <a:ext cx="375851" cy="137160"/>
          </a:xfrm>
          <a:prstGeom prst="roundRect">
            <a:avLst>
              <a:gd name="adj" fmla="val 16667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426321" y="4120515"/>
            <a:ext cx="438716" cy="137160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95" spc="20" kern="0" dirty="0">
                <a:solidFill>
                  <a:srgbClr val="7FE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协作共创</a:t>
            </a:r>
            <a:endParaRPr lang="en-US" sz="495" dirty="0"/>
          </a:p>
        </p:txBody>
      </p:sp>
      <p:sp>
        <p:nvSpPr>
          <p:cNvPr id="56" name="Text 52"/>
          <p:cNvSpPr/>
          <p:nvPr/>
        </p:nvSpPr>
        <p:spPr>
          <a:xfrm>
            <a:off x="4652010" y="1256139"/>
            <a:ext cx="725359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四大核心命题</a:t>
            </a:r>
            <a:endParaRPr lang="en-US" sz="720" dirty="0"/>
          </a:p>
        </p:txBody>
      </p:sp>
      <p:sp>
        <p:nvSpPr>
          <p:cNvPr id="57" name="Shape 53"/>
          <p:cNvSpPr/>
          <p:nvPr/>
        </p:nvSpPr>
        <p:spPr>
          <a:xfrm>
            <a:off x="4652010" y="1290429"/>
            <a:ext cx="17145" cy="85725"/>
          </a:xfrm>
          <a:prstGeom prst="roundRect">
            <a:avLst>
              <a:gd name="adj" fmla="val 66667"/>
            </a:avLst>
          </a:prstGeom>
          <a:solidFill>
            <a:srgbClr val="2196F3"/>
          </a:solidFill>
          <a:ln/>
        </p:spPr>
      </p:sp>
      <p:sp>
        <p:nvSpPr>
          <p:cNvPr id="58" name="Text 54"/>
          <p:cNvSpPr/>
          <p:nvPr/>
        </p:nvSpPr>
        <p:spPr>
          <a:xfrm>
            <a:off x="8185309" y="1313289"/>
            <a:ext cx="68968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89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· THESES</a:t>
            </a:r>
            <a:endParaRPr lang="en-US" sz="495" dirty="0"/>
          </a:p>
        </p:txBody>
      </p:sp>
      <p:sp>
        <p:nvSpPr>
          <p:cNvPr id="59" name="Shape 55"/>
          <p:cNvSpPr/>
          <p:nvPr/>
        </p:nvSpPr>
        <p:spPr>
          <a:xfrm>
            <a:off x="4652010" y="1473309"/>
            <a:ext cx="4149090" cy="547211"/>
          </a:xfrm>
          <a:prstGeom prst="roundRect">
            <a:avLst>
              <a:gd name="adj" fmla="val 10444"/>
            </a:avLst>
          </a:prstGeom>
          <a:gradFill rotWithShape="1">
            <a:gsLst>
              <a:gs pos="0">
                <a:srgbClr val="16213E">
                  <a:alpha val="85000"/>
                </a:srgbClr>
              </a:gs>
              <a:gs pos="100000">
                <a:srgbClr val="16213E">
                  <a:alpha val="55000"/>
                </a:srgbClr>
              </a:gs>
            </a:gsLst>
            <a:lin ang="0" scaled="0"/>
          </a:gradFill>
          <a:ln w="17145">
            <a:solidFill>
              <a:srgbClr val="2196F3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8395335" y="1364724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1" name="Shape 57"/>
          <p:cNvSpPr/>
          <p:nvPr/>
        </p:nvSpPr>
        <p:spPr>
          <a:xfrm>
            <a:off x="4760595" y="1553319"/>
            <a:ext cx="240030" cy="240030"/>
          </a:xfrm>
          <a:prstGeom prst="roundRect">
            <a:avLst>
              <a:gd name="adj" fmla="val 23810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760595" y="1553319"/>
            <a:ext cx="34290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7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10" dirty="0"/>
          </a:p>
        </p:txBody>
      </p:sp>
      <p:sp>
        <p:nvSpPr>
          <p:cNvPr id="63" name="Text 59"/>
          <p:cNvSpPr/>
          <p:nvPr/>
        </p:nvSpPr>
        <p:spPr>
          <a:xfrm>
            <a:off x="5114925" y="1553319"/>
            <a:ext cx="55783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技术非中立</a:t>
            </a:r>
            <a:endParaRPr lang="en-US" sz="720" dirty="0"/>
          </a:p>
        </p:txBody>
      </p:sp>
      <p:sp>
        <p:nvSpPr>
          <p:cNvPr id="64" name="Shape 60"/>
          <p:cNvSpPr/>
          <p:nvPr/>
        </p:nvSpPr>
        <p:spPr>
          <a:xfrm>
            <a:off x="8178165" y="1564749"/>
            <a:ext cx="525780" cy="11430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22B48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8178165" y="1564749"/>
            <a:ext cx="588874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BIAS</a:t>
            </a:r>
            <a:endParaRPr lang="en-US" sz="450" dirty="0"/>
          </a:p>
        </p:txBody>
      </p:sp>
      <p:sp>
        <p:nvSpPr>
          <p:cNvPr id="66" name="Text 62"/>
          <p:cNvSpPr/>
          <p:nvPr/>
        </p:nvSpPr>
        <p:spPr>
          <a:xfrm>
            <a:off x="5114925" y="1719054"/>
            <a:ext cx="4019702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每一项技术决策都暗含价值取舍——选择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BFE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还是 NoSQL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、选择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BFE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集中式还是分布式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，都是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BFE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理念的体现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，而非纯粹的工程问题。</a:t>
            </a:r>
            <a:endParaRPr lang="en-US" sz="563" dirty="0"/>
          </a:p>
        </p:txBody>
      </p:sp>
      <p:sp>
        <p:nvSpPr>
          <p:cNvPr id="67" name="Shape 63"/>
          <p:cNvSpPr/>
          <p:nvPr/>
        </p:nvSpPr>
        <p:spPr>
          <a:xfrm>
            <a:off x="4652010" y="2077670"/>
            <a:ext cx="4149090" cy="436483"/>
          </a:xfrm>
          <a:prstGeom prst="roundRect">
            <a:avLst>
              <a:gd name="adj" fmla="val 13093"/>
            </a:avLst>
          </a:prstGeom>
          <a:gradFill rotWithShape="1">
            <a:gsLst>
              <a:gs pos="0">
                <a:srgbClr val="16213E">
                  <a:alpha val="85000"/>
                </a:srgbClr>
              </a:gs>
              <a:gs pos="100000">
                <a:srgbClr val="16213E">
                  <a:alpha val="55000"/>
                </a:srgbClr>
              </a:gs>
            </a:gsLst>
            <a:lin ang="0" scaled="0"/>
          </a:gradFill>
          <a:ln w="17145">
            <a:solidFill>
              <a:srgbClr val="42A5F5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395335" y="1969085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9" name="Shape 65"/>
          <p:cNvSpPr/>
          <p:nvPr/>
        </p:nvSpPr>
        <p:spPr>
          <a:xfrm>
            <a:off x="4760595" y="2157680"/>
            <a:ext cx="240030" cy="240030"/>
          </a:xfrm>
          <a:prstGeom prst="roundRect">
            <a:avLst>
              <a:gd name="adj" fmla="val 23810"/>
            </a:avLst>
          </a:prstGeom>
          <a:solidFill>
            <a:srgbClr val="42A5F5">
              <a:alpha val="12000"/>
            </a:srgbClr>
          </a:solidFill>
          <a:ln w="5715">
            <a:solidFill>
              <a:srgbClr val="42A5F5">
                <a:alpha val="3000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4760595" y="2157680"/>
            <a:ext cx="34290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7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10" dirty="0"/>
          </a:p>
        </p:txBody>
      </p:sp>
      <p:sp>
        <p:nvSpPr>
          <p:cNvPr id="71" name="Text 67"/>
          <p:cNvSpPr/>
          <p:nvPr/>
        </p:nvSpPr>
        <p:spPr>
          <a:xfrm>
            <a:off x="5114925" y="2157680"/>
            <a:ext cx="55783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设计者意志</a:t>
            </a:r>
            <a:endParaRPr lang="en-US" sz="720" dirty="0"/>
          </a:p>
        </p:txBody>
      </p:sp>
      <p:sp>
        <p:nvSpPr>
          <p:cNvPr id="72" name="Shape 68"/>
          <p:cNvSpPr/>
          <p:nvPr/>
        </p:nvSpPr>
        <p:spPr>
          <a:xfrm>
            <a:off x="8051274" y="2169110"/>
            <a:ext cx="652671" cy="11430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22B48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8051274" y="2169110"/>
            <a:ext cx="730991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POWER</a:t>
            </a:r>
            <a:endParaRPr lang="en-US" sz="450" dirty="0"/>
          </a:p>
        </p:txBody>
      </p:sp>
      <p:sp>
        <p:nvSpPr>
          <p:cNvPr id="74" name="Text 70"/>
          <p:cNvSpPr/>
          <p:nvPr/>
        </p:nvSpPr>
        <p:spPr>
          <a:xfrm>
            <a:off x="5114925" y="2323415"/>
            <a:ext cx="4019702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技术架构的边界由设计者划定，这些边界决定了用户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BFE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能做什么、不能做什么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，构成一种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7FE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隐形的权力结构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63" dirty="0"/>
          </a:p>
        </p:txBody>
      </p:sp>
      <p:sp>
        <p:nvSpPr>
          <p:cNvPr id="75" name="Shape 71"/>
          <p:cNvSpPr/>
          <p:nvPr/>
        </p:nvSpPr>
        <p:spPr>
          <a:xfrm>
            <a:off x="4652010" y="2571304"/>
            <a:ext cx="4149090" cy="547211"/>
          </a:xfrm>
          <a:prstGeom prst="roundRect">
            <a:avLst>
              <a:gd name="adj" fmla="val 10444"/>
            </a:avLst>
          </a:prstGeom>
          <a:gradFill rotWithShape="1">
            <a:gsLst>
              <a:gs pos="0">
                <a:srgbClr val="16213E">
                  <a:alpha val="85000"/>
                </a:srgbClr>
              </a:gs>
              <a:gs pos="100000">
                <a:srgbClr val="16213E">
                  <a:alpha val="55000"/>
                </a:srgbClr>
              </a:gs>
            </a:gsLst>
            <a:lin ang="0" scaled="0"/>
          </a:gradFill>
          <a:ln w="17145">
            <a:solidFill>
              <a:srgbClr val="26C6DA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395335" y="246271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7" name="Shape 73"/>
          <p:cNvSpPr/>
          <p:nvPr/>
        </p:nvSpPr>
        <p:spPr>
          <a:xfrm>
            <a:off x="4760595" y="2651314"/>
            <a:ext cx="240030" cy="240030"/>
          </a:xfrm>
          <a:prstGeom prst="roundRect">
            <a:avLst>
              <a:gd name="adj" fmla="val 23810"/>
            </a:avLst>
          </a:prstGeom>
          <a:solidFill>
            <a:srgbClr val="26C6DA">
              <a:alpha val="12000"/>
            </a:srgbClr>
          </a:solidFill>
          <a:ln w="5715">
            <a:solidFill>
              <a:srgbClr val="26C6DA">
                <a:alpha val="3000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4760595" y="2651314"/>
            <a:ext cx="34290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7" kern="0" dirty="0">
                <a:solidFill>
                  <a:srgbClr val="26C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10" dirty="0"/>
          </a:p>
        </p:txBody>
      </p:sp>
      <p:sp>
        <p:nvSpPr>
          <p:cNvPr id="79" name="Text 75"/>
          <p:cNvSpPr/>
          <p:nvPr/>
        </p:nvSpPr>
        <p:spPr>
          <a:xfrm>
            <a:off x="5114925" y="2651314"/>
            <a:ext cx="55783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开源的回应</a:t>
            </a:r>
            <a:endParaRPr lang="en-US" sz="720" dirty="0"/>
          </a:p>
        </p:txBody>
      </p:sp>
      <p:sp>
        <p:nvSpPr>
          <p:cNvPr id="80" name="Shape 76"/>
          <p:cNvSpPr/>
          <p:nvPr/>
        </p:nvSpPr>
        <p:spPr>
          <a:xfrm>
            <a:off x="8094672" y="2662744"/>
            <a:ext cx="609273" cy="11430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22B48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8094672" y="2662744"/>
            <a:ext cx="682385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</a:t>
            </a:r>
            <a:endParaRPr lang="en-US" sz="450" dirty="0"/>
          </a:p>
        </p:txBody>
      </p:sp>
      <p:sp>
        <p:nvSpPr>
          <p:cNvPr id="82" name="Text 78"/>
          <p:cNvSpPr/>
          <p:nvPr/>
        </p:nvSpPr>
        <p:spPr>
          <a:xfrm>
            <a:off x="5114925" y="2817049"/>
            <a:ext cx="4019702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开源通过公开源代码打破了黑箱，让用户能够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BFE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理解、挑战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甚至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7FE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重新定义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技术的设计选择，使选择回归公共领域。</a:t>
            </a:r>
            <a:endParaRPr lang="en-US" sz="563" dirty="0"/>
          </a:p>
        </p:txBody>
      </p:sp>
      <p:sp>
        <p:nvSpPr>
          <p:cNvPr id="83" name="Shape 79"/>
          <p:cNvSpPr/>
          <p:nvPr/>
        </p:nvSpPr>
        <p:spPr>
          <a:xfrm>
            <a:off x="4652010" y="3175665"/>
            <a:ext cx="4149090" cy="436483"/>
          </a:xfrm>
          <a:prstGeom prst="roundRect">
            <a:avLst>
              <a:gd name="adj" fmla="val 13093"/>
            </a:avLst>
          </a:prstGeom>
          <a:gradFill rotWithShape="1">
            <a:gsLst>
              <a:gs pos="0">
                <a:srgbClr val="16213E">
                  <a:alpha val="85000"/>
                </a:srgbClr>
              </a:gs>
              <a:gs pos="100000">
                <a:srgbClr val="16213E">
                  <a:alpha val="55000"/>
                </a:srgbClr>
              </a:gs>
            </a:gsLst>
            <a:lin ang="0" scaled="0"/>
          </a:gradFill>
          <a:ln w="17145">
            <a:solidFill>
              <a:srgbClr val="00BCD4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395335" y="306708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5" name="Shape 81"/>
          <p:cNvSpPr/>
          <p:nvPr/>
        </p:nvSpPr>
        <p:spPr>
          <a:xfrm>
            <a:off x="4760595" y="3255675"/>
            <a:ext cx="240030" cy="240030"/>
          </a:xfrm>
          <a:prstGeom prst="roundRect">
            <a:avLst>
              <a:gd name="adj" fmla="val 23810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4760595" y="3255675"/>
            <a:ext cx="342900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10" dirty="0"/>
          </a:p>
        </p:txBody>
      </p:sp>
      <p:sp>
        <p:nvSpPr>
          <p:cNvPr id="87" name="Text 83"/>
          <p:cNvSpPr/>
          <p:nvPr/>
        </p:nvSpPr>
        <p:spPr>
          <a:xfrm>
            <a:off x="5114925" y="3255675"/>
            <a:ext cx="744379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14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案例：协议之争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8155305" y="3267105"/>
            <a:ext cx="548640" cy="114300"/>
          </a:xfrm>
          <a:prstGeom prst="roundRect">
            <a:avLst>
              <a:gd name="adj" fmla="val 20000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22B48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8155305" y="3267105"/>
            <a:ext cx="614477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72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450" dirty="0"/>
          </a:p>
        </p:txBody>
      </p:sp>
      <p:sp>
        <p:nvSpPr>
          <p:cNvPr id="90" name="Text 86"/>
          <p:cNvSpPr/>
          <p:nvPr/>
        </p:nvSpPr>
        <p:spPr>
          <a:xfrm>
            <a:off x="5114925" y="3421410"/>
            <a:ext cx="4019702" cy="11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BFE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 的 LZW 专利争议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BFE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字体授权问题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，技术选择常常牵涉</a:t>
            </a:r>
            <a:pPr algn="l" indent="0" marL="0">
              <a:lnSpc>
                <a:spcPct val="155000"/>
              </a:lnSpc>
              <a:buNone/>
            </a:pPr>
            <a:r>
              <a:rPr lang="en-US" sz="563" b="1" spc="7" kern="0" dirty="0">
                <a:solidFill>
                  <a:srgbClr val="7FE7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知识产权与社会公义</a:t>
            </a:r>
            <a:pPr algn="l" indent="0" marL="0">
              <a:lnSpc>
                <a:spcPct val="155000"/>
              </a:lnSpc>
              <a:buNone/>
            </a:pPr>
            <a:r>
              <a:rPr lang="en-US" sz="563" spc="7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，远非技术细节本身。</a:t>
            </a:r>
            <a:endParaRPr lang="en-US" sz="563" dirty="0"/>
          </a:p>
        </p:txBody>
      </p:sp>
      <p:sp>
        <p:nvSpPr>
          <p:cNvPr id="91" name="Shape 87"/>
          <p:cNvSpPr/>
          <p:nvPr/>
        </p:nvSpPr>
        <p:spPr>
          <a:xfrm>
            <a:off x="342900" y="4566285"/>
            <a:ext cx="8458200" cy="348615"/>
          </a:xfrm>
          <a:prstGeom prst="rect">
            <a:avLst/>
          </a:prstGeom>
          <a:noFill/>
          <a:ln/>
        </p:spPr>
      </p:sp>
      <p:sp>
        <p:nvSpPr>
          <p:cNvPr id="92" name="Shape 88"/>
          <p:cNvSpPr/>
          <p:nvPr/>
        </p:nvSpPr>
        <p:spPr>
          <a:xfrm>
            <a:off x="342900" y="4566285"/>
            <a:ext cx="8458200" cy="0"/>
          </a:xfrm>
          <a:prstGeom prst="line">
            <a:avLst/>
          </a:prstGeom>
          <a:noFill/>
          <a:ln w="5715">
            <a:solidFill>
              <a:srgbClr val="2A3558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342900" y="467487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9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050" y="4732020"/>
            <a:ext cx="114300" cy="114300"/>
          </a:xfrm>
          <a:prstGeom prst="rect">
            <a:avLst/>
          </a:prstGeom>
        </p:spPr>
      </p:pic>
      <p:sp>
        <p:nvSpPr>
          <p:cNvPr id="95" name="Text 90"/>
          <p:cNvSpPr/>
          <p:nvPr/>
        </p:nvSpPr>
        <p:spPr>
          <a:xfrm>
            <a:off x="651510" y="4680585"/>
            <a:ext cx="118834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08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核心理念 · CORE IDEA</a:t>
            </a:r>
            <a:endParaRPr lang="en-US" sz="450" dirty="0"/>
          </a:p>
        </p:txBody>
      </p:sp>
      <p:sp>
        <p:nvSpPr>
          <p:cNvPr id="96" name="Text 91"/>
          <p:cNvSpPr/>
          <p:nvPr/>
        </p:nvSpPr>
        <p:spPr>
          <a:xfrm>
            <a:off x="651510" y="4783455"/>
            <a:ext cx="1188349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spc="13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技术即选择：</a:t>
            </a:r>
            <a:pPr algn="l" indent="0" marL="0">
              <a:buNone/>
            </a:pPr>
            <a:r>
              <a:rPr lang="en-US" sz="630" b="1" spc="1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价值取向的载体</a:t>
            </a:r>
            <a:endParaRPr lang="en-US" sz="630" dirty="0"/>
          </a:p>
        </p:txBody>
      </p:sp>
      <p:sp>
        <p:nvSpPr>
          <p:cNvPr id="97" name="Shape 92"/>
          <p:cNvSpPr/>
          <p:nvPr/>
        </p:nvSpPr>
        <p:spPr>
          <a:xfrm>
            <a:off x="4569143" y="4663440"/>
            <a:ext cx="5715" cy="25146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A3558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98" name="Text 93"/>
          <p:cNvSpPr/>
          <p:nvPr/>
        </p:nvSpPr>
        <p:spPr>
          <a:xfrm>
            <a:off x="7145893" y="4680585"/>
            <a:ext cx="150818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108" kern="0" dirty="0">
                <a:solidFill>
                  <a:srgbClr val="9AA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典型案例 · CASE</a:t>
            </a:r>
            <a:endParaRPr lang="en-US" sz="450" dirty="0"/>
          </a:p>
        </p:txBody>
      </p:sp>
      <p:sp>
        <p:nvSpPr>
          <p:cNvPr id="99" name="Text 94"/>
          <p:cNvSpPr/>
          <p:nvPr/>
        </p:nvSpPr>
        <p:spPr>
          <a:xfrm>
            <a:off x="7145893" y="4783455"/>
            <a:ext cx="1508189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30" b="1" spc="13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 专利争议：</a:t>
            </a:r>
            <a:pPr algn="r" indent="0" marL="0">
              <a:buNone/>
            </a:pPr>
            <a:r>
              <a:rPr lang="en-US" sz="630" b="1" spc="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LZW 格式</a:t>
            </a:r>
            <a:pPr algn="r" indent="0" marL="0">
              <a:buNone/>
            </a:pPr>
            <a:r>
              <a:rPr lang="en-US" sz="630" b="1" spc="13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与知识产权</a:t>
            </a:r>
            <a:endParaRPr lang="en-US" sz="630" dirty="0"/>
          </a:p>
        </p:txBody>
      </p:sp>
      <p:sp>
        <p:nvSpPr>
          <p:cNvPr id="100" name="Shape 95"/>
          <p:cNvSpPr/>
          <p:nvPr/>
        </p:nvSpPr>
        <p:spPr>
          <a:xfrm>
            <a:off x="8572500" y="467487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10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29650" y="473202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12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80010" y="80010"/>
            <a:ext cx="457200" cy="4572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80010" y="80010"/>
            <a:ext cx="457200" cy="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" y="80010"/>
            <a:ext cx="0" cy="45720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06790" y="80010"/>
            <a:ext cx="457200" cy="4572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606790" y="80010"/>
            <a:ext cx="457200" cy="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63990" y="80010"/>
            <a:ext cx="0" cy="45720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" y="460629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80010" y="5063490"/>
            <a:ext cx="457200" cy="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" y="4606290"/>
            <a:ext cx="0" cy="45720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06790" y="460629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063990" y="4606290"/>
            <a:ext cx="0" cy="45720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06790" y="5063490"/>
            <a:ext cx="457200" cy="0"/>
          </a:xfrm>
          <a:prstGeom prst="line">
            <a:avLst/>
          </a:prstGeom>
          <a:noFill/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7173"/>
            <a:ext cx="34290" cy="26289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71450" dist="50800" dir="16200000">
              <a:srgbClr val="00BCD4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28600"/>
            <a:ext cx="2016252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开源社区的运作逻辑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5966460" y="325755"/>
            <a:ext cx="32004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SOCIAL-TECHNICAL SYSTEM / OPEN SOURCE GOVERNANCE</a:t>
            </a:r>
            <a:endParaRPr lang="en-US" sz="540" dirty="0"/>
          </a:p>
        </p:txBody>
      </p:sp>
      <p:sp>
        <p:nvSpPr>
          <p:cNvPr id="20" name="Shape 18"/>
          <p:cNvSpPr/>
          <p:nvPr/>
        </p:nvSpPr>
        <p:spPr>
          <a:xfrm>
            <a:off x="320040" y="588645"/>
            <a:ext cx="7886700" cy="305038"/>
          </a:xfrm>
          <a:prstGeom prst="rect">
            <a:avLst/>
          </a:prstGeom>
          <a:solidFill>
            <a:srgbClr val="2196F3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588645"/>
            <a:ext cx="0" cy="305038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88645"/>
            <a:ext cx="8833104" cy="305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开源社区不依赖层级管理，而靠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声誉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和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共识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驱动，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代码审查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是质量控制的核心手段，</a:t>
            </a:r>
            <a:pPr algn="l" indent="0" marL="0">
              <a:lnSpc>
                <a:spcPct val="175000"/>
              </a:lnSpc>
              <a:buNone/>
            </a:pPr>
            <a:r>
              <a:rPr lang="en-US" sz="653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</a:t>
            </a:r>
            <a:pPr algn="l" indent="0" marL="0">
              <a:lnSpc>
                <a:spcPct val="175000"/>
              </a:lnSpc>
              <a:buNone/>
            </a:pPr>
            <a:r>
              <a:rPr lang="en-US" sz="65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则从法律层面保障了开放性的可持续性——这是一套独特的社会技术系统。</a:t>
            </a:r>
            <a:endParaRPr lang="en-US" sz="653" dirty="0"/>
          </a:p>
        </p:txBody>
      </p:sp>
      <p:sp>
        <p:nvSpPr>
          <p:cNvPr id="23" name="Shape 21"/>
          <p:cNvSpPr/>
          <p:nvPr/>
        </p:nvSpPr>
        <p:spPr>
          <a:xfrm>
            <a:off x="320040" y="996553"/>
            <a:ext cx="1943100" cy="1541978"/>
          </a:xfrm>
          <a:prstGeom prst="roundRect">
            <a:avLst>
              <a:gd name="adj" fmla="val 5189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16213E">
                  <a:alpha val="6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996553"/>
            <a:ext cx="193167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1794510" y="2069899"/>
            <a:ext cx="628650" cy="6286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6" name="Shape 24"/>
          <p:cNvSpPr/>
          <p:nvPr/>
        </p:nvSpPr>
        <p:spPr>
          <a:xfrm>
            <a:off x="440055" y="1105138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0055" y="1105138"/>
            <a:ext cx="30861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702945" y="1136571"/>
            <a:ext cx="49720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贡献驱动</a:t>
            </a:r>
            <a:endParaRPr lang="en-US" sz="765" dirty="0"/>
          </a:p>
        </p:txBody>
      </p:sp>
      <p:sp>
        <p:nvSpPr>
          <p:cNvPr id="29" name="Shape 27"/>
          <p:cNvSpPr/>
          <p:nvPr/>
        </p:nvSpPr>
        <p:spPr>
          <a:xfrm>
            <a:off x="1480185" y="1150858"/>
            <a:ext cx="662940" cy="114300"/>
          </a:xfrm>
          <a:prstGeom prst="roundRect">
            <a:avLst>
              <a:gd name="adj" fmla="val 50000"/>
            </a:avLst>
          </a:prstGeom>
          <a:noFill/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80185" y="1150858"/>
            <a:ext cx="742493" cy="114300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  <a:endParaRPr lang="en-US" sz="450" dirty="0"/>
          </a:p>
        </p:txBody>
      </p:sp>
      <p:sp>
        <p:nvSpPr>
          <p:cNvPr id="31" name="Text 29"/>
          <p:cNvSpPr/>
          <p:nvPr/>
        </p:nvSpPr>
        <p:spPr>
          <a:xfrm>
            <a:off x="440055" y="1356598"/>
            <a:ext cx="1907438" cy="51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以实际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代码贡献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作为社区成员的核心身份标识，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贡献越大、话语权越强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。提交量、Issue 参与度与社区影响力共同构成个人声誉，是进入核心圈的唯一通行证。</a:t>
            </a:r>
            <a:endParaRPr lang="en-US" sz="594" dirty="0"/>
          </a:p>
        </p:txBody>
      </p:sp>
      <p:sp>
        <p:nvSpPr>
          <p:cNvPr id="32" name="Shape 30"/>
          <p:cNvSpPr/>
          <p:nvPr/>
        </p:nvSpPr>
        <p:spPr>
          <a:xfrm>
            <a:off x="440055" y="1926669"/>
            <a:ext cx="33718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055" y="1926669"/>
            <a:ext cx="397193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endParaRPr lang="en-US" sz="473" dirty="0"/>
          </a:p>
        </p:txBody>
      </p:sp>
      <p:sp>
        <p:nvSpPr>
          <p:cNvPr id="34" name="Shape 32"/>
          <p:cNvSpPr/>
          <p:nvPr/>
        </p:nvSpPr>
        <p:spPr>
          <a:xfrm>
            <a:off x="811530" y="1926669"/>
            <a:ext cx="26860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530" y="1926669"/>
            <a:ext cx="328613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</a:t>
            </a:r>
            <a:endParaRPr lang="en-US" sz="473" dirty="0"/>
          </a:p>
        </p:txBody>
      </p:sp>
      <p:sp>
        <p:nvSpPr>
          <p:cNvPr id="36" name="Shape 34"/>
          <p:cNvSpPr/>
          <p:nvPr/>
        </p:nvSpPr>
        <p:spPr>
          <a:xfrm>
            <a:off x="1114425" y="1926669"/>
            <a:ext cx="42291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4425" y="1926669"/>
            <a:ext cx="482918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Reputation</a:t>
            </a:r>
            <a:endParaRPr lang="en-US" sz="473" dirty="0"/>
          </a:p>
        </p:txBody>
      </p:sp>
      <p:sp>
        <p:nvSpPr>
          <p:cNvPr id="38" name="Shape 36"/>
          <p:cNvSpPr/>
          <p:nvPr/>
        </p:nvSpPr>
        <p:spPr>
          <a:xfrm>
            <a:off x="6880860" y="996553"/>
            <a:ext cx="1943100" cy="1541978"/>
          </a:xfrm>
          <a:prstGeom prst="roundRect">
            <a:avLst>
              <a:gd name="adj" fmla="val 5189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16213E">
                  <a:alpha val="6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80860" y="996553"/>
            <a:ext cx="193167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0" name="Shape 38"/>
          <p:cNvSpPr/>
          <p:nvPr/>
        </p:nvSpPr>
        <p:spPr>
          <a:xfrm>
            <a:off x="8355330" y="2069899"/>
            <a:ext cx="628650" cy="6286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1" name="Shape 39"/>
          <p:cNvSpPr/>
          <p:nvPr/>
        </p:nvSpPr>
        <p:spPr>
          <a:xfrm>
            <a:off x="7000875" y="1105138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00875" y="1105138"/>
            <a:ext cx="30861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7263765" y="1136571"/>
            <a:ext cx="69723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去中心化治理</a:t>
            </a:r>
            <a:endParaRPr lang="en-US" sz="765" dirty="0"/>
          </a:p>
        </p:txBody>
      </p:sp>
      <p:sp>
        <p:nvSpPr>
          <p:cNvPr id="44" name="Shape 42"/>
          <p:cNvSpPr/>
          <p:nvPr/>
        </p:nvSpPr>
        <p:spPr>
          <a:xfrm>
            <a:off x="8109585" y="1150858"/>
            <a:ext cx="594360" cy="114300"/>
          </a:xfrm>
          <a:prstGeom prst="roundRect">
            <a:avLst>
              <a:gd name="adj" fmla="val 50000"/>
            </a:avLst>
          </a:prstGeom>
          <a:noFill/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09585" y="1150858"/>
            <a:ext cx="665683" cy="114300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450" dirty="0"/>
          </a:p>
        </p:txBody>
      </p:sp>
      <p:sp>
        <p:nvSpPr>
          <p:cNvPr id="46" name="Text 44"/>
          <p:cNvSpPr/>
          <p:nvPr/>
        </p:nvSpPr>
        <p:spPr>
          <a:xfrm>
            <a:off x="7000875" y="1356598"/>
            <a:ext cx="1907438" cy="51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多数成熟开源项目采用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Meritocracy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治理模型，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核心决策权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掌握在活跃贡献者手中。没有固定老板，角色随贡献流动，社区通过异步讨论与投票达成动态共识。</a:t>
            </a:r>
            <a:endParaRPr lang="en-US" sz="594" dirty="0"/>
          </a:p>
        </p:txBody>
      </p:sp>
      <p:sp>
        <p:nvSpPr>
          <p:cNvPr id="47" name="Shape 45"/>
          <p:cNvSpPr/>
          <p:nvPr/>
        </p:nvSpPr>
        <p:spPr>
          <a:xfrm>
            <a:off x="7000875" y="1926669"/>
            <a:ext cx="46291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00875" y="1926669"/>
            <a:ext cx="522923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Meritocracy</a:t>
            </a:r>
            <a:endParaRPr lang="en-US" sz="473" dirty="0"/>
          </a:p>
        </p:txBody>
      </p:sp>
      <p:sp>
        <p:nvSpPr>
          <p:cNvPr id="49" name="Shape 47"/>
          <p:cNvSpPr/>
          <p:nvPr/>
        </p:nvSpPr>
        <p:spPr>
          <a:xfrm>
            <a:off x="7498080" y="1926669"/>
            <a:ext cx="26860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1926669"/>
            <a:ext cx="328613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BDFL</a:t>
            </a:r>
            <a:endParaRPr lang="en-US" sz="473" dirty="0"/>
          </a:p>
        </p:txBody>
      </p:sp>
      <p:sp>
        <p:nvSpPr>
          <p:cNvPr id="51" name="Shape 49"/>
          <p:cNvSpPr/>
          <p:nvPr/>
        </p:nvSpPr>
        <p:spPr>
          <a:xfrm>
            <a:off x="7800975" y="1926669"/>
            <a:ext cx="43434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00975" y="1926669"/>
            <a:ext cx="494348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</a:t>
            </a:r>
            <a:endParaRPr lang="en-US" sz="473" dirty="0"/>
          </a:p>
        </p:txBody>
      </p:sp>
      <p:sp>
        <p:nvSpPr>
          <p:cNvPr id="53" name="Shape 51"/>
          <p:cNvSpPr/>
          <p:nvPr/>
        </p:nvSpPr>
        <p:spPr>
          <a:xfrm>
            <a:off x="320040" y="2652832"/>
            <a:ext cx="1943100" cy="1541978"/>
          </a:xfrm>
          <a:prstGeom prst="roundRect">
            <a:avLst>
              <a:gd name="adj" fmla="val 5189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16213E">
                  <a:alpha val="6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" y="2652832"/>
            <a:ext cx="193167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5" name="Shape 53"/>
          <p:cNvSpPr/>
          <p:nvPr/>
        </p:nvSpPr>
        <p:spPr>
          <a:xfrm>
            <a:off x="1794510" y="3726177"/>
            <a:ext cx="628650" cy="6286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6" name="Shape 54"/>
          <p:cNvSpPr/>
          <p:nvPr/>
        </p:nvSpPr>
        <p:spPr>
          <a:xfrm>
            <a:off x="440055" y="2761417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4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40055" y="2761417"/>
            <a:ext cx="30861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endParaRPr lang="en-US" sz="810" dirty="0"/>
          </a:p>
        </p:txBody>
      </p:sp>
      <p:sp>
        <p:nvSpPr>
          <p:cNvPr id="58" name="Text 56"/>
          <p:cNvSpPr/>
          <p:nvPr/>
        </p:nvSpPr>
        <p:spPr>
          <a:xfrm>
            <a:off x="702945" y="2792849"/>
            <a:ext cx="59721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代码即信任</a:t>
            </a:r>
            <a:endParaRPr lang="en-US" sz="765" dirty="0"/>
          </a:p>
        </p:txBody>
      </p:sp>
      <p:sp>
        <p:nvSpPr>
          <p:cNvPr id="59" name="Shape 57"/>
          <p:cNvSpPr/>
          <p:nvPr/>
        </p:nvSpPr>
        <p:spPr>
          <a:xfrm>
            <a:off x="1563053" y="2807137"/>
            <a:ext cx="580073" cy="114300"/>
          </a:xfrm>
          <a:prstGeom prst="roundRect">
            <a:avLst>
              <a:gd name="adj" fmla="val 50000"/>
            </a:avLst>
          </a:prstGeom>
          <a:noFill/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563053" y="2807137"/>
            <a:ext cx="649681" cy="114300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REVIEW</a:t>
            </a:r>
            <a:endParaRPr lang="en-US" sz="450" dirty="0"/>
          </a:p>
        </p:txBody>
      </p:sp>
      <p:sp>
        <p:nvSpPr>
          <p:cNvPr id="61" name="Text 59"/>
          <p:cNvSpPr/>
          <p:nvPr/>
        </p:nvSpPr>
        <p:spPr>
          <a:xfrm>
            <a:off x="440055" y="3012877"/>
            <a:ext cx="1907438" cy="51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所有变更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公开可审查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Review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成为质量保障的核心机制。每一行代码都被同行检视，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信任建立在透明之上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，而非职位或头衔，形成去中心化的质量护城河。</a:t>
            </a:r>
            <a:endParaRPr lang="en-US" sz="594" dirty="0"/>
          </a:p>
        </p:txBody>
      </p:sp>
      <p:sp>
        <p:nvSpPr>
          <p:cNvPr id="62" name="Shape 60"/>
          <p:cNvSpPr/>
          <p:nvPr/>
        </p:nvSpPr>
        <p:spPr>
          <a:xfrm>
            <a:off x="440055" y="3582948"/>
            <a:ext cx="47434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0055" y="3582948"/>
            <a:ext cx="534353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</a:t>
            </a:r>
            <a:endParaRPr lang="en-US" sz="473" dirty="0"/>
          </a:p>
        </p:txBody>
      </p:sp>
      <p:sp>
        <p:nvSpPr>
          <p:cNvPr id="64" name="Shape 62"/>
          <p:cNvSpPr/>
          <p:nvPr/>
        </p:nvSpPr>
        <p:spPr>
          <a:xfrm>
            <a:off x="948690" y="3582948"/>
            <a:ext cx="29146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8690" y="3582948"/>
            <a:ext cx="351473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473" dirty="0"/>
          </a:p>
        </p:txBody>
      </p:sp>
      <p:sp>
        <p:nvSpPr>
          <p:cNvPr id="66" name="Shape 64"/>
          <p:cNvSpPr/>
          <p:nvPr/>
        </p:nvSpPr>
        <p:spPr>
          <a:xfrm>
            <a:off x="1274445" y="3582948"/>
            <a:ext cx="50292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74445" y="3582948"/>
            <a:ext cx="563270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473" dirty="0"/>
          </a:p>
        </p:txBody>
      </p:sp>
      <p:sp>
        <p:nvSpPr>
          <p:cNvPr id="68" name="Shape 66"/>
          <p:cNvSpPr/>
          <p:nvPr/>
        </p:nvSpPr>
        <p:spPr>
          <a:xfrm>
            <a:off x="6880860" y="2652832"/>
            <a:ext cx="1943100" cy="1541978"/>
          </a:xfrm>
          <a:prstGeom prst="roundRect">
            <a:avLst>
              <a:gd name="adj" fmla="val 5189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16213E">
                  <a:alpha val="6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228600" dist="50800" dir="16200000">
              <a:srgbClr val="2196F3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880860" y="2652832"/>
            <a:ext cx="193167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0" name="Shape 68"/>
          <p:cNvSpPr/>
          <p:nvPr/>
        </p:nvSpPr>
        <p:spPr>
          <a:xfrm>
            <a:off x="8355330" y="3726177"/>
            <a:ext cx="628650" cy="62865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1" name="Shape 69"/>
          <p:cNvSpPr/>
          <p:nvPr/>
        </p:nvSpPr>
        <p:spPr>
          <a:xfrm>
            <a:off x="7000875" y="2761417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2700000" scaled="0"/>
          </a:gradFill>
          <a:ln/>
          <a:effectLst>
            <a:outerShdw sx="100000" sy="100000" kx="0" ky="0" algn="bl" rotWithShape="0" blurRad="133350" dist="50800" dir="16200000">
              <a:srgbClr val="00BCD4">
                <a:alpha val="4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000875" y="2761417"/>
            <a:ext cx="30861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④</a:t>
            </a:r>
            <a:endParaRPr lang="en-US" sz="810" dirty="0"/>
          </a:p>
        </p:txBody>
      </p:sp>
      <p:sp>
        <p:nvSpPr>
          <p:cNvPr id="73" name="Text 71"/>
          <p:cNvSpPr/>
          <p:nvPr/>
        </p:nvSpPr>
        <p:spPr>
          <a:xfrm>
            <a:off x="7263765" y="2792849"/>
            <a:ext cx="59721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23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许可证框架</a:t>
            </a:r>
            <a:endParaRPr lang="en-US" sz="765" dirty="0"/>
          </a:p>
        </p:txBody>
      </p:sp>
      <p:sp>
        <p:nvSpPr>
          <p:cNvPr id="74" name="Shape 72"/>
          <p:cNvSpPr/>
          <p:nvPr/>
        </p:nvSpPr>
        <p:spPr>
          <a:xfrm>
            <a:off x="8295323" y="2807137"/>
            <a:ext cx="408623" cy="114300"/>
          </a:xfrm>
          <a:prstGeom prst="roundRect">
            <a:avLst>
              <a:gd name="adj" fmla="val 50000"/>
            </a:avLst>
          </a:prstGeom>
          <a:noFill/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95323" y="2807137"/>
            <a:ext cx="465773" cy="114300"/>
          </a:xfrm>
          <a:prstGeom prst="rect">
            <a:avLst/>
          </a:prstGeom>
          <a:noFill/>
          <a:ln/>
        </p:spPr>
        <p:txBody>
          <a:bodyPr wrap="square" lIns="17145" tIns="45720" rIns="45720" bIns="17145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</a:t>
            </a:r>
            <a:endParaRPr lang="en-US" sz="450" dirty="0"/>
          </a:p>
        </p:txBody>
      </p:sp>
      <p:sp>
        <p:nvSpPr>
          <p:cNvPr id="76" name="Text 74"/>
          <p:cNvSpPr/>
          <p:nvPr/>
        </p:nvSpPr>
        <p:spPr>
          <a:xfrm>
            <a:off x="7000875" y="3012877"/>
            <a:ext cx="1907438" cy="51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/ Creative Commons / MIT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等许可证为协作提供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法律基础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，确保成果</a:t>
            </a:r>
            <a:pPr algn="l" indent="0" marL="0">
              <a:lnSpc>
                <a:spcPct val="170000"/>
              </a:lnSpc>
              <a:buNone/>
            </a:pPr>
            <a:r>
              <a:rPr lang="en-US" sz="594" b="1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不被私有化</a:t>
            </a:r>
            <a:pPr algn="l" indent="0" marL="0">
              <a:lnSpc>
                <a:spcPct val="170000"/>
              </a:lnSpc>
              <a:buNone/>
            </a:pPr>
            <a:r>
              <a:rPr lang="en-US" sz="594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。许可证在"开源"与"开放"之间划出边界，让共享成为可持续的契约。</a:t>
            </a:r>
            <a:endParaRPr lang="en-US" sz="594" dirty="0"/>
          </a:p>
        </p:txBody>
      </p:sp>
      <p:sp>
        <p:nvSpPr>
          <p:cNvPr id="77" name="Shape 75"/>
          <p:cNvSpPr/>
          <p:nvPr/>
        </p:nvSpPr>
        <p:spPr>
          <a:xfrm>
            <a:off x="7000875" y="3582948"/>
            <a:ext cx="234315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00875" y="3582948"/>
            <a:ext cx="294323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</a:t>
            </a:r>
            <a:endParaRPr lang="en-US" sz="473" dirty="0"/>
          </a:p>
        </p:txBody>
      </p:sp>
      <p:sp>
        <p:nvSpPr>
          <p:cNvPr id="79" name="Shape 77"/>
          <p:cNvSpPr/>
          <p:nvPr/>
        </p:nvSpPr>
        <p:spPr>
          <a:xfrm>
            <a:off x="7269480" y="3582948"/>
            <a:ext cx="22860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69480" y="3582948"/>
            <a:ext cx="288608" cy="120015"/>
          </a:xfrm>
          <a:prstGeom prst="rect">
            <a:avLst/>
          </a:prstGeom>
          <a:noFill/>
          <a:ln/>
        </p:spPr>
        <p:txBody>
          <a:bodyPr wrap="non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473" dirty="0"/>
          </a:p>
        </p:txBody>
      </p:sp>
      <p:sp>
        <p:nvSpPr>
          <p:cNvPr id="81" name="Shape 79"/>
          <p:cNvSpPr/>
          <p:nvPr/>
        </p:nvSpPr>
        <p:spPr>
          <a:xfrm>
            <a:off x="7532370" y="3582948"/>
            <a:ext cx="434340" cy="120015"/>
          </a:xfrm>
          <a:prstGeom prst="roundRect">
            <a:avLst>
              <a:gd name="adj" fmla="val 47619"/>
            </a:avLst>
          </a:prstGeom>
          <a:solidFill>
            <a:srgbClr val="00BCD4">
              <a:alpha val="12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32370" y="3582948"/>
            <a:ext cx="494348" cy="120015"/>
          </a:xfrm>
          <a:prstGeom prst="rect">
            <a:avLst/>
          </a:prstGeom>
          <a:noFill/>
          <a:ln/>
        </p:spPr>
        <p:txBody>
          <a:bodyPr wrap="square" lIns="17145" tIns="51435" rIns="51435" bIns="17145" rtlCol="0" anchor="ctr"/>
          <a:lstStyle/>
          <a:p>
            <a:pPr algn="l" indent="0" marL="0">
              <a:buNone/>
            </a:pPr>
            <a:r>
              <a:rPr lang="en-US" sz="473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 2.0</a:t>
            </a:r>
            <a:endParaRPr lang="en-US" sz="473" dirty="0"/>
          </a:p>
        </p:txBody>
      </p:sp>
      <p:sp>
        <p:nvSpPr>
          <p:cNvPr id="83" name="Shape 81"/>
          <p:cNvSpPr/>
          <p:nvPr/>
        </p:nvSpPr>
        <p:spPr>
          <a:xfrm>
            <a:off x="2434590" y="996553"/>
            <a:ext cx="4274820" cy="3198257"/>
          </a:xfrm>
          <a:prstGeom prst="roundRect">
            <a:avLst>
              <a:gd name="adj" fmla="val 2502"/>
            </a:avLst>
          </a:prstGeom>
          <a:gradFill rotWithShape="1">
            <a:gsLst>
              <a:gs pos="0">
                <a:srgbClr val="16213E">
                  <a:alpha val="70000"/>
                </a:srgbClr>
              </a:gs>
              <a:gs pos="100000">
                <a:srgbClr val="1A1A2E">
                  <a:alpha val="8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10000"/>
              </a:srgbClr>
            </a:outerShdw>
          </a:effectLst>
        </p:spPr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4700" y="1664137"/>
            <a:ext cx="2514600" cy="1885950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2440305" y="3811905"/>
            <a:ext cx="4263390" cy="377190"/>
          </a:xfrm>
          <a:prstGeom prst="rect">
            <a:avLst/>
          </a:prstGeom>
          <a:gradFill rotWithShape="1">
            <a:gsLst>
              <a:gs pos="0">
                <a:srgbClr val="000000">
                  <a:alpha val="3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86" name="Shape 83"/>
          <p:cNvSpPr/>
          <p:nvPr/>
        </p:nvSpPr>
        <p:spPr>
          <a:xfrm>
            <a:off x="2440305" y="3811905"/>
            <a:ext cx="4263390" cy="0"/>
          </a:xfrm>
          <a:prstGeom prst="line">
            <a:avLst/>
          </a:prstGeom>
          <a:noFill/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934653" y="3880485"/>
            <a:ext cx="35433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10" dirty="0"/>
          </a:p>
        </p:txBody>
      </p:sp>
      <p:sp>
        <p:nvSpPr>
          <p:cNvPr id="88" name="Text 85"/>
          <p:cNvSpPr/>
          <p:nvPr/>
        </p:nvSpPr>
        <p:spPr>
          <a:xfrm>
            <a:off x="2934653" y="4011930"/>
            <a:ext cx="31146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45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角色节点</a:t>
            </a:r>
            <a:endParaRPr lang="en-US" sz="473" dirty="0"/>
          </a:p>
        </p:txBody>
      </p:sp>
      <p:sp>
        <p:nvSpPr>
          <p:cNvPr id="89" name="Text 86"/>
          <p:cNvSpPr/>
          <p:nvPr/>
        </p:nvSpPr>
        <p:spPr>
          <a:xfrm>
            <a:off x="3923348" y="3880485"/>
            <a:ext cx="35433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10" dirty="0"/>
          </a:p>
        </p:txBody>
      </p:sp>
      <p:sp>
        <p:nvSpPr>
          <p:cNvPr id="90" name="Text 87"/>
          <p:cNvSpPr/>
          <p:nvPr/>
        </p:nvSpPr>
        <p:spPr>
          <a:xfrm>
            <a:off x="3923348" y="4011930"/>
            <a:ext cx="31146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45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协作连线</a:t>
            </a:r>
            <a:endParaRPr lang="en-US" sz="473" dirty="0"/>
          </a:p>
        </p:txBody>
      </p:sp>
      <p:sp>
        <p:nvSpPr>
          <p:cNvPr id="91" name="Text 88"/>
          <p:cNvSpPr/>
          <p:nvPr/>
        </p:nvSpPr>
        <p:spPr>
          <a:xfrm>
            <a:off x="4912043" y="3880485"/>
            <a:ext cx="4114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去中心</a:t>
            </a:r>
            <a:endParaRPr lang="en-US" sz="810" dirty="0"/>
          </a:p>
        </p:txBody>
      </p:sp>
      <p:sp>
        <p:nvSpPr>
          <p:cNvPr id="92" name="Text 89"/>
          <p:cNvSpPr/>
          <p:nvPr/>
        </p:nvSpPr>
        <p:spPr>
          <a:xfrm>
            <a:off x="4912043" y="4040505"/>
            <a:ext cx="3686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45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网络拓扑</a:t>
            </a:r>
            <a:endParaRPr lang="en-US" sz="473" dirty="0"/>
          </a:p>
        </p:txBody>
      </p:sp>
      <p:sp>
        <p:nvSpPr>
          <p:cNvPr id="93" name="Text 90"/>
          <p:cNvSpPr/>
          <p:nvPr/>
        </p:nvSpPr>
        <p:spPr>
          <a:xfrm>
            <a:off x="5957888" y="3880485"/>
            <a:ext cx="3909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810" dirty="0"/>
          </a:p>
        </p:txBody>
      </p:sp>
      <p:sp>
        <p:nvSpPr>
          <p:cNvPr id="94" name="Text 91"/>
          <p:cNvSpPr/>
          <p:nvPr/>
        </p:nvSpPr>
        <p:spPr>
          <a:xfrm>
            <a:off x="5957888" y="4011930"/>
            <a:ext cx="31146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45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异步协作</a:t>
            </a:r>
            <a:endParaRPr lang="en-US" sz="473" dirty="0"/>
          </a:p>
        </p:txBody>
      </p:sp>
      <p:sp>
        <p:nvSpPr>
          <p:cNvPr id="95" name="Shape 92"/>
          <p:cNvSpPr/>
          <p:nvPr/>
        </p:nvSpPr>
        <p:spPr>
          <a:xfrm>
            <a:off x="2440305" y="1002268"/>
            <a:ext cx="4263390" cy="280035"/>
          </a:xfrm>
          <a:prstGeom prst="rect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96" name="Text 93"/>
          <p:cNvSpPr/>
          <p:nvPr/>
        </p:nvSpPr>
        <p:spPr>
          <a:xfrm>
            <a:off x="2566035" y="1082278"/>
            <a:ext cx="81930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45" kern="0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社区协作网络拓扑</a:t>
            </a:r>
            <a:endParaRPr lang="en-US" sz="675" dirty="0"/>
          </a:p>
        </p:txBody>
      </p:sp>
      <p:sp>
        <p:nvSpPr>
          <p:cNvPr id="97" name="Text 94"/>
          <p:cNvSpPr/>
          <p:nvPr/>
        </p:nvSpPr>
        <p:spPr>
          <a:xfrm>
            <a:off x="5589270" y="1105138"/>
            <a:ext cx="1107338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CONTRIBUTOR NETWORK</a:t>
            </a:r>
            <a:endParaRPr lang="en-US" sz="473" dirty="0"/>
          </a:p>
        </p:txBody>
      </p:sp>
      <p:sp>
        <p:nvSpPr>
          <p:cNvPr id="98" name="Shape 95"/>
          <p:cNvSpPr/>
          <p:nvPr/>
        </p:nvSpPr>
        <p:spPr>
          <a:xfrm>
            <a:off x="320040" y="4286250"/>
            <a:ext cx="2766060" cy="62865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0040" y="4286250"/>
            <a:ext cx="22860" cy="61722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5000"/>
              </a:srgbClr>
            </a:outerShdw>
          </a:effectLst>
        </p:spPr>
      </p:sp>
      <p:sp>
        <p:nvSpPr>
          <p:cNvPr id="100" name="Text 97"/>
          <p:cNvSpPr/>
          <p:nvPr/>
        </p:nvSpPr>
        <p:spPr>
          <a:xfrm>
            <a:off x="451485" y="4512528"/>
            <a:ext cx="1171575" cy="176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6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Meritocracy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260" dirty="0"/>
          </a:p>
        </p:txBody>
      </p:sp>
      <p:sp>
        <p:nvSpPr>
          <p:cNvPr id="101" name="Text 98"/>
          <p:cNvSpPr/>
          <p:nvPr/>
        </p:nvSpPr>
        <p:spPr>
          <a:xfrm>
            <a:off x="1554480" y="4485561"/>
            <a:ext cx="156819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治理模型</a:t>
            </a:r>
            <a:endParaRPr lang="en-US" sz="585" dirty="0"/>
          </a:p>
        </p:txBody>
      </p:sp>
      <p:sp>
        <p:nvSpPr>
          <p:cNvPr id="102" name="Text 99"/>
          <p:cNvSpPr/>
          <p:nvPr/>
        </p:nvSpPr>
        <p:spPr>
          <a:xfrm>
            <a:off x="1554480" y="4617006"/>
            <a:ext cx="1568196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以贡献论英雄，能力与声誉决定决策权归属</a:t>
            </a:r>
            <a:endParaRPr lang="en-US" sz="518" dirty="0"/>
          </a:p>
        </p:txBody>
      </p:sp>
      <p:sp>
        <p:nvSpPr>
          <p:cNvPr id="103" name="Shape 100"/>
          <p:cNvSpPr/>
          <p:nvPr/>
        </p:nvSpPr>
        <p:spPr>
          <a:xfrm>
            <a:off x="3188970" y="4286250"/>
            <a:ext cx="2766060" cy="62865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188970" y="4286250"/>
            <a:ext cx="22860" cy="61722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5000"/>
              </a:srgbClr>
            </a:outerShdw>
          </a:effectLst>
        </p:spPr>
      </p:sp>
      <p:sp>
        <p:nvSpPr>
          <p:cNvPr id="105" name="Text 102"/>
          <p:cNvSpPr/>
          <p:nvPr/>
        </p:nvSpPr>
        <p:spPr>
          <a:xfrm>
            <a:off x="3320415" y="4512528"/>
            <a:ext cx="1188720" cy="176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6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Review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260" dirty="0"/>
          </a:p>
        </p:txBody>
      </p:sp>
      <p:sp>
        <p:nvSpPr>
          <p:cNvPr id="106" name="Text 103"/>
          <p:cNvSpPr/>
          <p:nvPr/>
        </p:nvSpPr>
        <p:spPr>
          <a:xfrm>
            <a:off x="4440555" y="4485561"/>
            <a:ext cx="154899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核心机制</a:t>
            </a:r>
            <a:endParaRPr lang="en-US" sz="585" dirty="0"/>
          </a:p>
        </p:txBody>
      </p:sp>
      <p:sp>
        <p:nvSpPr>
          <p:cNvPr id="107" name="Text 104"/>
          <p:cNvSpPr/>
          <p:nvPr/>
        </p:nvSpPr>
        <p:spPr>
          <a:xfrm>
            <a:off x="4440555" y="4617006"/>
            <a:ext cx="1548994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同行评审保障质量，每一行代码都被公开检视</a:t>
            </a:r>
            <a:endParaRPr lang="en-US" sz="518" dirty="0"/>
          </a:p>
        </p:txBody>
      </p:sp>
      <p:sp>
        <p:nvSpPr>
          <p:cNvPr id="108" name="Shape 105"/>
          <p:cNvSpPr/>
          <p:nvPr/>
        </p:nvSpPr>
        <p:spPr>
          <a:xfrm>
            <a:off x="6057900" y="4286250"/>
            <a:ext cx="2766060" cy="62865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057900" y="4286250"/>
            <a:ext cx="22860" cy="61722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00BCD4">
                <a:alpha val="45000"/>
              </a:srgbClr>
            </a:outerShdw>
          </a:effectLst>
        </p:spPr>
      </p:sp>
      <p:sp>
        <p:nvSpPr>
          <p:cNvPr id="110" name="Text 107"/>
          <p:cNvSpPr/>
          <p:nvPr/>
        </p:nvSpPr>
        <p:spPr>
          <a:xfrm>
            <a:off x="6189345" y="4512528"/>
            <a:ext cx="954405" cy="176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60" b="1" dirty="0">
                <a:solidFill>
                  <a:srgbClr val="E3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 / MIT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260" dirty="0"/>
          </a:p>
        </p:txBody>
      </p:sp>
      <p:sp>
        <p:nvSpPr>
          <p:cNvPr id="111" name="Text 108"/>
          <p:cNvSpPr/>
          <p:nvPr/>
        </p:nvSpPr>
        <p:spPr>
          <a:xfrm>
            <a:off x="7075170" y="4485561"/>
            <a:ext cx="181142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23" kern="0" dirty="0">
                <a:solidFill>
                  <a:srgbClr val="B3E5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代表许可证</a:t>
            </a:r>
            <a:endParaRPr lang="en-US" sz="585" dirty="0"/>
          </a:p>
        </p:txBody>
      </p:sp>
      <p:sp>
        <p:nvSpPr>
          <p:cNvPr id="112" name="Text 109"/>
          <p:cNvSpPr/>
          <p:nvPr/>
        </p:nvSpPr>
        <p:spPr>
          <a:xfrm>
            <a:off x="7075170" y="4617006"/>
            <a:ext cx="1811426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法律框架保障开放，确保成果不被私有化</a:t>
            </a:r>
            <a:endParaRPr lang="en-US" sz="51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36004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4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5486400" y="282892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112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342900" y="617220"/>
            <a:ext cx="5325466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从数据视角看，开源已经从小众运动演变为全球软件产业的支柱，数千万开发者参与协作，九成以上企业依赖开源技术，市场规模持续高速增长。</a:t>
            </a:r>
            <a:endParaRPr lang="en-US" sz="585" dirty="0"/>
          </a:p>
        </p:txBody>
      </p:sp>
      <p:sp>
        <p:nvSpPr>
          <p:cNvPr id="5" name="Shape 3"/>
          <p:cNvSpPr/>
          <p:nvPr/>
        </p:nvSpPr>
        <p:spPr>
          <a:xfrm>
            <a:off x="7726680" y="547479"/>
            <a:ext cx="1074420" cy="188595"/>
          </a:xfrm>
          <a:prstGeom prst="roundRect">
            <a:avLst>
              <a:gd name="adj" fmla="val 60606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2E2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547479"/>
            <a:ext cx="1203350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数据洞察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7812405" y="621774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" y="816084"/>
            <a:ext cx="2045970" cy="720358"/>
          </a:xfrm>
          <a:prstGeom prst="roundRect">
            <a:avLst>
              <a:gd name="adj" fmla="val 11107"/>
            </a:avLst>
          </a:prstGeom>
          <a:gradFill rotWithShape="1">
            <a:gsLst>
              <a:gs pos="0">
                <a:srgbClr val="242444"/>
              </a:gs>
              <a:gs pos="100000">
                <a:srgbClr val="1B1B33"/>
              </a:gs>
            </a:gsLst>
            <a:lin ang="4200000" scaled="0"/>
          </a:gradFill>
          <a:ln w="5715">
            <a:solidFill>
              <a:srgbClr val="2E2E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" y="816084"/>
            <a:ext cx="22860" cy="70892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2154555" y="890379"/>
            <a:ext cx="2114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462915" y="924669"/>
            <a:ext cx="202265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全球开发者数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462915" y="1056114"/>
            <a:ext cx="2023110" cy="238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万+</a:t>
            </a:r>
            <a:endParaRPr lang="en-US" sz="1710" dirty="0"/>
          </a:p>
        </p:txBody>
      </p:sp>
      <p:sp>
        <p:nvSpPr>
          <p:cNvPr id="13" name="Text 11"/>
          <p:cNvSpPr/>
          <p:nvPr/>
        </p:nvSpPr>
        <p:spPr>
          <a:xfrm>
            <a:off x="462915" y="1340703"/>
            <a:ext cx="202265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平台累计注册，数千万人参与代码协作</a:t>
            </a:r>
            <a:endParaRPr lang="en-US" sz="518" dirty="0"/>
          </a:p>
        </p:txBody>
      </p:sp>
      <p:sp>
        <p:nvSpPr>
          <p:cNvPr id="14" name="Shape 12"/>
          <p:cNvSpPr/>
          <p:nvPr/>
        </p:nvSpPr>
        <p:spPr>
          <a:xfrm>
            <a:off x="2480310" y="816084"/>
            <a:ext cx="2045970" cy="720358"/>
          </a:xfrm>
          <a:prstGeom prst="roundRect">
            <a:avLst>
              <a:gd name="adj" fmla="val 11107"/>
            </a:avLst>
          </a:prstGeom>
          <a:gradFill rotWithShape="1">
            <a:gsLst>
              <a:gs pos="0">
                <a:srgbClr val="242444"/>
              </a:gs>
              <a:gs pos="100000">
                <a:srgbClr val="1B1B33"/>
              </a:gs>
            </a:gsLst>
            <a:lin ang="4200000" scaled="0"/>
          </a:gradFill>
          <a:ln w="5715">
            <a:solidFill>
              <a:srgbClr val="2E2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0310" y="816084"/>
            <a:ext cx="22860" cy="70892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4194810" y="890379"/>
            <a:ext cx="30861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2600325" y="924669"/>
            <a:ext cx="202265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企业采纳率</a:t>
            </a:r>
            <a:endParaRPr lang="en-US" sz="540" dirty="0"/>
          </a:p>
        </p:txBody>
      </p:sp>
      <p:sp>
        <p:nvSpPr>
          <p:cNvPr id="18" name="Text 16"/>
          <p:cNvSpPr/>
          <p:nvPr/>
        </p:nvSpPr>
        <p:spPr>
          <a:xfrm>
            <a:off x="2600325" y="1056114"/>
            <a:ext cx="2023110" cy="238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&gt;90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710" dirty="0"/>
          </a:p>
        </p:txBody>
      </p:sp>
      <p:sp>
        <p:nvSpPr>
          <p:cNvPr id="19" name="Text 17"/>
          <p:cNvSpPr/>
          <p:nvPr/>
        </p:nvSpPr>
        <p:spPr>
          <a:xfrm>
            <a:off x="2600325" y="1340703"/>
            <a:ext cx="202265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企业技术栈中开源组件占比，已成为基础设施</a:t>
            </a:r>
            <a:endParaRPr lang="en-US" sz="518" dirty="0"/>
          </a:p>
        </p:txBody>
      </p:sp>
      <p:sp>
        <p:nvSpPr>
          <p:cNvPr id="20" name="Shape 18"/>
          <p:cNvSpPr/>
          <p:nvPr/>
        </p:nvSpPr>
        <p:spPr>
          <a:xfrm>
            <a:off x="4617720" y="816084"/>
            <a:ext cx="2045970" cy="720358"/>
          </a:xfrm>
          <a:prstGeom prst="roundRect">
            <a:avLst>
              <a:gd name="adj" fmla="val 11107"/>
            </a:avLst>
          </a:prstGeom>
          <a:gradFill rotWithShape="1">
            <a:gsLst>
              <a:gs pos="0">
                <a:srgbClr val="242444"/>
              </a:gs>
              <a:gs pos="100000">
                <a:srgbClr val="1B1B33"/>
              </a:gs>
            </a:gsLst>
            <a:lin ang="4200000" scaled="0"/>
          </a:gradFill>
          <a:ln w="5715">
            <a:solidFill>
              <a:srgbClr val="2E2E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816084"/>
            <a:ext cx="22860" cy="70892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6275070" y="890379"/>
            <a:ext cx="36576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4737735" y="924669"/>
            <a:ext cx="202265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市场规模 (2020)</a:t>
            </a:r>
            <a:endParaRPr lang="en-US" sz="540" dirty="0"/>
          </a:p>
        </p:txBody>
      </p:sp>
      <p:sp>
        <p:nvSpPr>
          <p:cNvPr id="24" name="Text 22"/>
          <p:cNvSpPr/>
          <p:nvPr/>
        </p:nvSpPr>
        <p:spPr>
          <a:xfrm>
            <a:off x="4737735" y="1056114"/>
            <a:ext cx="2023110" cy="238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亿+</a:t>
            </a:r>
            <a:endParaRPr lang="en-US" sz="1710" dirty="0"/>
          </a:p>
        </p:txBody>
      </p:sp>
      <p:sp>
        <p:nvSpPr>
          <p:cNvPr id="25" name="Text 23"/>
          <p:cNvSpPr/>
          <p:nvPr/>
        </p:nvSpPr>
        <p:spPr>
          <a:xfrm>
            <a:off x="4737735" y="1340703"/>
            <a:ext cx="202265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全球企业年度在开源技术与服务上的投入</a:t>
            </a:r>
            <a:endParaRPr lang="en-US" sz="518" dirty="0"/>
          </a:p>
        </p:txBody>
      </p:sp>
      <p:sp>
        <p:nvSpPr>
          <p:cNvPr id="26" name="Shape 24"/>
          <p:cNvSpPr/>
          <p:nvPr/>
        </p:nvSpPr>
        <p:spPr>
          <a:xfrm>
            <a:off x="6755130" y="816084"/>
            <a:ext cx="2045970" cy="720358"/>
          </a:xfrm>
          <a:prstGeom prst="roundRect">
            <a:avLst>
              <a:gd name="adj" fmla="val 11107"/>
            </a:avLst>
          </a:prstGeom>
          <a:gradFill rotWithShape="1">
            <a:gsLst>
              <a:gs pos="0">
                <a:srgbClr val="242444"/>
              </a:gs>
              <a:gs pos="100000">
                <a:srgbClr val="1B1B33"/>
              </a:gs>
            </a:gsLst>
            <a:lin ang="4200000" scaled="0"/>
          </a:gradFill>
          <a:ln w="5715">
            <a:solidFill>
              <a:srgbClr val="2E2E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55130" y="816084"/>
            <a:ext cx="22860" cy="708929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8389620" y="890379"/>
            <a:ext cx="3886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495" dirty="0"/>
          </a:p>
        </p:txBody>
      </p:sp>
      <p:sp>
        <p:nvSpPr>
          <p:cNvPr id="29" name="Text 27"/>
          <p:cNvSpPr/>
          <p:nvPr/>
        </p:nvSpPr>
        <p:spPr>
          <a:xfrm>
            <a:off x="6875145" y="924669"/>
            <a:ext cx="202265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核心开源项目</a:t>
            </a:r>
            <a:endParaRPr lang="en-US" sz="540" dirty="0"/>
          </a:p>
        </p:txBody>
      </p:sp>
      <p:sp>
        <p:nvSpPr>
          <p:cNvPr id="30" name="Text 28"/>
          <p:cNvSpPr/>
          <p:nvPr/>
        </p:nvSpPr>
        <p:spPr>
          <a:xfrm>
            <a:off x="6875145" y="1056114"/>
            <a:ext cx="2023110" cy="238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数千</a:t>
            </a:r>
            <a:pPr algn="l" indent="0" marL="0">
              <a:lnSpc>
                <a:spcPct val="11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</a:t>
            </a:r>
            <a:endParaRPr lang="en-US" sz="1710" dirty="0"/>
          </a:p>
        </p:txBody>
      </p:sp>
      <p:sp>
        <p:nvSpPr>
          <p:cNvPr id="31" name="Text 29"/>
          <p:cNvSpPr/>
          <p:nvPr/>
        </p:nvSpPr>
        <p:spPr>
          <a:xfrm>
            <a:off x="6875145" y="1340703"/>
            <a:ext cx="2022653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支撑全球互联网基础设施的关键开源项目</a:t>
            </a:r>
            <a:endParaRPr lang="en-US" sz="518" dirty="0"/>
          </a:p>
        </p:txBody>
      </p:sp>
      <p:sp>
        <p:nvSpPr>
          <p:cNvPr id="32" name="Shape 30"/>
          <p:cNvSpPr/>
          <p:nvPr/>
        </p:nvSpPr>
        <p:spPr>
          <a:xfrm>
            <a:off x="342900" y="1616452"/>
            <a:ext cx="4646295" cy="2005965"/>
          </a:xfrm>
          <a:prstGeom prst="roundRect">
            <a:avLst>
              <a:gd name="adj" fmla="val 3989"/>
            </a:avLst>
          </a:prstGeom>
          <a:solidFill>
            <a:srgbClr val="22223D"/>
          </a:solidFill>
          <a:ln w="5715">
            <a:solidFill>
              <a:srgbClr val="2E2E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485" y="1702177"/>
            <a:ext cx="103693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开源市场规模增长趋势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451485" y="1725037"/>
            <a:ext cx="22860" cy="85725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</p:spPr>
      </p:sp>
      <p:sp>
        <p:nvSpPr>
          <p:cNvPr id="35" name="Text 33"/>
          <p:cNvSpPr/>
          <p:nvPr/>
        </p:nvSpPr>
        <p:spPr>
          <a:xfrm>
            <a:off x="4229100" y="1716465"/>
            <a:ext cx="72969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单位: 亿美元 · 逐年攀升</a:t>
            </a:r>
            <a:endParaRPr lang="en-US" sz="495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51485" y="1845052"/>
          <a:ext cx="4429125" cy="1714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5080635" y="1616452"/>
            <a:ext cx="3720465" cy="2005965"/>
          </a:xfrm>
          <a:prstGeom prst="roundRect">
            <a:avLst>
              <a:gd name="adj" fmla="val 3989"/>
            </a:avLst>
          </a:prstGeom>
          <a:solidFill>
            <a:srgbClr val="22223D"/>
          </a:solidFill>
          <a:ln w="5715">
            <a:solidFill>
              <a:srgbClr val="2E2E5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89220" y="1702177"/>
            <a:ext cx="754380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许可证分布格局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89220" y="1725037"/>
            <a:ext cx="22860" cy="85725"/>
          </a:xfrm>
          <a:prstGeom prst="roundRect">
            <a:avLst>
              <a:gd name="adj" fmla="val 50000"/>
            </a:avLst>
          </a:prstGeom>
          <a:solidFill>
            <a:srgbClr val="00BCD4"/>
          </a:solidFill>
          <a:ln/>
        </p:spPr>
      </p:sp>
      <p:sp>
        <p:nvSpPr>
          <p:cNvPr id="40" name="Text 37"/>
          <p:cNvSpPr/>
          <p:nvPr/>
        </p:nvSpPr>
        <p:spPr>
          <a:xfrm>
            <a:off x="7920990" y="1716465"/>
            <a:ext cx="8641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宽松派 vs 强 Copyleft 并存</a:t>
            </a:r>
            <a:endParaRPr lang="en-US" sz="495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5189220" y="1845052"/>
          <a:ext cx="3503295" cy="1714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Shape 38"/>
          <p:cNvSpPr/>
          <p:nvPr/>
        </p:nvSpPr>
        <p:spPr>
          <a:xfrm>
            <a:off x="342900" y="3702427"/>
            <a:ext cx="4183380" cy="951548"/>
          </a:xfrm>
          <a:prstGeom prst="roundRect">
            <a:avLst>
              <a:gd name="adj" fmla="val 8408"/>
            </a:avLst>
          </a:prstGeom>
          <a:gradFill rotWithShape="1">
            <a:gsLst>
              <a:gs pos="0">
                <a:srgbClr val="242444"/>
              </a:gs>
              <a:gs pos="100000">
                <a:srgbClr val="1B1B33"/>
              </a:gs>
            </a:gsLst>
            <a:lin ang="2700000" scaled="0"/>
          </a:gradFill>
          <a:ln w="5715">
            <a:solidFill>
              <a:srgbClr val="2E2E52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246245" y="3799582"/>
            <a:ext cx="32918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45" kern="0" dirty="0">
                <a:solidFill>
                  <a:srgbClr val="00BCD4">
                    <a:alpha val="2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80" dirty="0"/>
          </a:p>
        </p:txBody>
      </p:sp>
      <p:sp>
        <p:nvSpPr>
          <p:cNvPr id="44" name="Text 40"/>
          <p:cNvSpPr/>
          <p:nvPr/>
        </p:nvSpPr>
        <p:spPr>
          <a:xfrm>
            <a:off x="474345" y="3799582"/>
            <a:ext cx="4403750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⌘</a:t>
            </a:r>
            <a:endParaRPr lang="en-US" sz="653" dirty="0"/>
          </a:p>
          <a:p>
            <a:pPr algn="l" indent="0" marL="0">
              <a:buNone/>
            </a:pPr>
            <a:r>
              <a:rPr lang="en-US" sz="653" b="1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全球开发者规模</a:t>
            </a:r>
            <a:endParaRPr lang="en-US" sz="653" dirty="0"/>
          </a:p>
        </p:txBody>
      </p:sp>
      <p:sp>
        <p:nvSpPr>
          <p:cNvPr id="45" name="Shape 41"/>
          <p:cNvSpPr/>
          <p:nvPr/>
        </p:nvSpPr>
        <p:spPr>
          <a:xfrm>
            <a:off x="474345" y="3799582"/>
            <a:ext cx="148590" cy="148590"/>
          </a:xfrm>
          <a:prstGeom prst="roundRect">
            <a:avLst>
              <a:gd name="adj" fmla="val 30769"/>
            </a:avLst>
          </a:prstGeom>
          <a:solidFill>
            <a:srgbClr val="2196F3">
              <a:alpha val="18000"/>
            </a:srgbClr>
          </a:solidFill>
          <a:ln/>
        </p:spPr>
      </p:sp>
      <p:sp>
        <p:nvSpPr>
          <p:cNvPr id="46" name="Text 42"/>
          <p:cNvSpPr/>
          <p:nvPr/>
        </p:nvSpPr>
        <p:spPr>
          <a:xfrm>
            <a:off x="474345" y="3799582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⌘</a:t>
            </a:r>
            <a:endParaRPr lang="en-US" sz="585" dirty="0"/>
          </a:p>
        </p:txBody>
      </p:sp>
      <p:sp>
        <p:nvSpPr>
          <p:cNvPr id="47" name="Text 43"/>
          <p:cNvSpPr/>
          <p:nvPr/>
        </p:nvSpPr>
        <p:spPr>
          <a:xfrm>
            <a:off x="474345" y="3999607"/>
            <a:ext cx="4403750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等平台已汇聚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数千万开发者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，跨越企业与个人边界。开源已成为</a:t>
            </a:r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最活跃的软件协作形态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之一，代码贡献、Issue 讨论与 Pull Request 的交互构成了全球性知识网络。</a:t>
            </a:r>
            <a:endParaRPr lang="en-US" sz="563" dirty="0"/>
          </a:p>
        </p:txBody>
      </p:sp>
      <p:sp>
        <p:nvSpPr>
          <p:cNvPr id="48" name="Shape 44"/>
          <p:cNvSpPr/>
          <p:nvPr/>
        </p:nvSpPr>
        <p:spPr>
          <a:xfrm>
            <a:off x="474345" y="4305360"/>
            <a:ext cx="382905" cy="251460"/>
          </a:xfrm>
          <a:prstGeom prst="rect">
            <a:avLst/>
          </a:prstGeom>
          <a:noFill/>
          <a:ln/>
        </p:spPr>
      </p:sp>
      <p:sp>
        <p:nvSpPr>
          <p:cNvPr id="49" name="Shape 45"/>
          <p:cNvSpPr/>
          <p:nvPr/>
        </p:nvSpPr>
        <p:spPr>
          <a:xfrm>
            <a:off x="474345" y="4305360"/>
            <a:ext cx="0" cy="2514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42925" y="4305360"/>
            <a:ext cx="41719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数千万</a:t>
            </a:r>
            <a:endParaRPr lang="en-US" sz="810" dirty="0"/>
          </a:p>
        </p:txBody>
      </p:sp>
      <p:sp>
        <p:nvSpPr>
          <p:cNvPr id="51" name="Text 47"/>
          <p:cNvSpPr/>
          <p:nvPr/>
        </p:nvSpPr>
        <p:spPr>
          <a:xfrm>
            <a:off x="542925" y="4465380"/>
            <a:ext cx="3771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活跃开发者</a:t>
            </a:r>
            <a:endParaRPr lang="en-US" sz="495" dirty="0"/>
          </a:p>
        </p:txBody>
      </p:sp>
      <p:sp>
        <p:nvSpPr>
          <p:cNvPr id="52" name="Shape 48"/>
          <p:cNvSpPr/>
          <p:nvPr/>
        </p:nvSpPr>
        <p:spPr>
          <a:xfrm>
            <a:off x="971550" y="4305360"/>
            <a:ext cx="548640" cy="251460"/>
          </a:xfrm>
          <a:prstGeom prst="rect">
            <a:avLst/>
          </a:prstGeom>
          <a:noFill/>
          <a:ln/>
        </p:spPr>
      </p:sp>
      <p:sp>
        <p:nvSpPr>
          <p:cNvPr id="53" name="Shape 49"/>
          <p:cNvSpPr/>
          <p:nvPr/>
        </p:nvSpPr>
        <p:spPr>
          <a:xfrm>
            <a:off x="971550" y="4305360"/>
            <a:ext cx="0" cy="2514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040130" y="4305360"/>
            <a:ext cx="58293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5000万+</a:t>
            </a:r>
            <a:endParaRPr lang="en-US" sz="810" dirty="0"/>
          </a:p>
        </p:txBody>
      </p:sp>
      <p:sp>
        <p:nvSpPr>
          <p:cNvPr id="55" name="Text 51"/>
          <p:cNvSpPr/>
          <p:nvPr/>
        </p:nvSpPr>
        <p:spPr>
          <a:xfrm>
            <a:off x="1040130" y="4465380"/>
            <a:ext cx="5429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累计注册</a:t>
            </a:r>
            <a:endParaRPr lang="en-US" sz="495" dirty="0"/>
          </a:p>
        </p:txBody>
      </p:sp>
      <p:sp>
        <p:nvSpPr>
          <p:cNvPr id="56" name="Shape 52"/>
          <p:cNvSpPr/>
          <p:nvPr/>
        </p:nvSpPr>
        <p:spPr>
          <a:xfrm>
            <a:off x="4617720" y="3702427"/>
            <a:ext cx="4183380" cy="951548"/>
          </a:xfrm>
          <a:prstGeom prst="roundRect">
            <a:avLst>
              <a:gd name="adj" fmla="val 8408"/>
            </a:avLst>
          </a:prstGeom>
          <a:gradFill rotWithShape="1">
            <a:gsLst>
              <a:gs pos="0">
                <a:srgbClr val="242444"/>
              </a:gs>
              <a:gs pos="100000">
                <a:srgbClr val="1B1B33"/>
              </a:gs>
            </a:gsLst>
            <a:lin ang="2700000" scaled="0"/>
          </a:gradFill>
          <a:ln w="5715">
            <a:solidFill>
              <a:srgbClr val="2E2E52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498205" y="3799582"/>
            <a:ext cx="33147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b="1" spc="45" kern="0" dirty="0">
                <a:solidFill>
                  <a:srgbClr val="00BCD4">
                    <a:alpha val="2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80" dirty="0"/>
          </a:p>
        </p:txBody>
      </p:sp>
      <p:sp>
        <p:nvSpPr>
          <p:cNvPr id="58" name="Text 54"/>
          <p:cNvSpPr/>
          <p:nvPr/>
        </p:nvSpPr>
        <p:spPr>
          <a:xfrm>
            <a:off x="4749165" y="3799582"/>
            <a:ext cx="4403750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653" dirty="0"/>
          </a:p>
          <a:p>
            <a:pPr algn="l" indent="0" marL="0">
              <a:buNone/>
            </a:pPr>
            <a:r>
              <a:rPr lang="en-US" sz="653" b="1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核心项目数量</a:t>
            </a:r>
            <a:endParaRPr lang="en-US" sz="653" dirty="0"/>
          </a:p>
        </p:txBody>
      </p:sp>
      <p:sp>
        <p:nvSpPr>
          <p:cNvPr id="59" name="Shape 55"/>
          <p:cNvSpPr/>
          <p:nvPr/>
        </p:nvSpPr>
        <p:spPr>
          <a:xfrm>
            <a:off x="4749165" y="3799582"/>
            <a:ext cx="148590" cy="148590"/>
          </a:xfrm>
          <a:prstGeom prst="roundRect">
            <a:avLst>
              <a:gd name="adj" fmla="val 30769"/>
            </a:avLst>
          </a:prstGeom>
          <a:solidFill>
            <a:srgbClr val="2196F3">
              <a:alpha val="18000"/>
            </a:srgbClr>
          </a:solidFill>
          <a:ln/>
        </p:spPr>
      </p:sp>
      <p:sp>
        <p:nvSpPr>
          <p:cNvPr id="60" name="Text 56"/>
          <p:cNvSpPr/>
          <p:nvPr/>
        </p:nvSpPr>
        <p:spPr>
          <a:xfrm>
            <a:off x="4749165" y="3799582"/>
            <a:ext cx="22288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585" dirty="0"/>
          </a:p>
        </p:txBody>
      </p:sp>
      <p:sp>
        <p:nvSpPr>
          <p:cNvPr id="61" name="Text 57"/>
          <p:cNvSpPr/>
          <p:nvPr/>
        </p:nvSpPr>
        <p:spPr>
          <a:xfrm>
            <a:off x="4749165" y="3999607"/>
            <a:ext cx="4403750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b="1" dirty="0">
                <a:solidFill>
                  <a:srgbClr val="E8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数千个核心开源项目</a:t>
            </a:r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支撑着互联网基础设施，从操作系统 (Linux) 到数据库 (MySQL/PostgreSQL)、Web 框架、编程语言、AI 框架无所不包，构成现代数字世界的技术底座。</a:t>
            </a:r>
            <a:endParaRPr lang="en-US" sz="563" dirty="0"/>
          </a:p>
        </p:txBody>
      </p:sp>
      <p:sp>
        <p:nvSpPr>
          <p:cNvPr id="62" name="Shape 58"/>
          <p:cNvSpPr/>
          <p:nvPr/>
        </p:nvSpPr>
        <p:spPr>
          <a:xfrm>
            <a:off x="4749165" y="4305360"/>
            <a:ext cx="377190" cy="251460"/>
          </a:xfrm>
          <a:prstGeom prst="rect">
            <a:avLst/>
          </a:prstGeom>
          <a:noFill/>
          <a:ln/>
        </p:spPr>
      </p:sp>
      <p:sp>
        <p:nvSpPr>
          <p:cNvPr id="63" name="Shape 59"/>
          <p:cNvSpPr/>
          <p:nvPr/>
        </p:nvSpPr>
        <p:spPr>
          <a:xfrm>
            <a:off x="4749165" y="4305360"/>
            <a:ext cx="0" cy="2514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4817745" y="4305360"/>
            <a:ext cx="4114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数千个</a:t>
            </a:r>
            <a:endParaRPr lang="en-US" sz="810" dirty="0"/>
          </a:p>
        </p:txBody>
      </p:sp>
      <p:sp>
        <p:nvSpPr>
          <p:cNvPr id="65" name="Text 61"/>
          <p:cNvSpPr/>
          <p:nvPr/>
        </p:nvSpPr>
        <p:spPr>
          <a:xfrm>
            <a:off x="4817745" y="4465380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核心项目</a:t>
            </a:r>
            <a:endParaRPr lang="en-US" sz="495" dirty="0"/>
          </a:p>
        </p:txBody>
      </p:sp>
      <p:sp>
        <p:nvSpPr>
          <p:cNvPr id="66" name="Shape 62"/>
          <p:cNvSpPr/>
          <p:nvPr/>
        </p:nvSpPr>
        <p:spPr>
          <a:xfrm>
            <a:off x="5240655" y="4305360"/>
            <a:ext cx="480060" cy="251460"/>
          </a:xfrm>
          <a:prstGeom prst="rect">
            <a:avLst/>
          </a:prstGeom>
          <a:noFill/>
          <a:ln/>
        </p:spPr>
      </p:sp>
      <p:sp>
        <p:nvSpPr>
          <p:cNvPr id="67" name="Shape 63"/>
          <p:cNvSpPr/>
          <p:nvPr/>
        </p:nvSpPr>
        <p:spPr>
          <a:xfrm>
            <a:off x="5240655" y="4305360"/>
            <a:ext cx="0" cy="25146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5309235" y="4305360"/>
            <a:ext cx="51435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全栈覆盖</a:t>
            </a:r>
            <a:endParaRPr lang="en-US" sz="810" dirty="0"/>
          </a:p>
        </p:txBody>
      </p:sp>
      <p:sp>
        <p:nvSpPr>
          <p:cNvPr id="69" name="Text 65"/>
          <p:cNvSpPr/>
          <p:nvPr/>
        </p:nvSpPr>
        <p:spPr>
          <a:xfrm>
            <a:off x="5309235" y="4465380"/>
            <a:ext cx="4743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9C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→ DB → AI</a:t>
            </a:r>
            <a:endParaRPr lang="en-US" sz="495" dirty="0"/>
          </a:p>
        </p:txBody>
      </p:sp>
      <p:sp>
        <p:nvSpPr>
          <p:cNvPr id="70" name="Shape 66"/>
          <p:cNvSpPr/>
          <p:nvPr/>
        </p:nvSpPr>
        <p:spPr>
          <a:xfrm>
            <a:off x="342900" y="4733985"/>
            <a:ext cx="845820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16000"/>
                </a:srgbClr>
              </a:gs>
              <a:gs pos="100000">
                <a:srgbClr val="00BCD4">
                  <a:alpha val="14000"/>
                </a:srgbClr>
              </a:gs>
            </a:gsLst>
            <a:lin ang="0" scaled="0"/>
          </a:gradFill>
          <a:ln w="5715">
            <a:solidFill>
              <a:srgbClr val="2E2E52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474345" y="4813995"/>
            <a:ext cx="540068" cy="148590"/>
          </a:xfrm>
          <a:prstGeom prst="roundRect">
            <a:avLst>
              <a:gd name="adj" fmla="val 76923"/>
            </a:avLst>
          </a:prstGeom>
          <a:noFill/>
          <a:ln w="5715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474345" y="4813995"/>
            <a:ext cx="604876" cy="148590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495" b="1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495" dirty="0"/>
          </a:p>
        </p:txBody>
      </p:sp>
      <p:sp>
        <p:nvSpPr>
          <p:cNvPr id="73" name="Text 69"/>
          <p:cNvSpPr/>
          <p:nvPr/>
        </p:nvSpPr>
        <p:spPr>
          <a:xfrm>
            <a:off x="1094423" y="4831140"/>
            <a:ext cx="3341518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数千万开发者</a:t>
            </a:r>
            <a:pPr algn="l" indent="0" marL="0">
              <a:buNone/>
            </a:pPr>
            <a:r>
              <a:rPr lang="en-US" sz="630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pPr algn="l" indent="0" marL="0">
              <a:buNone/>
            </a:pPr>
            <a:r>
              <a:rPr lang="en-US" sz="63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九成企业依赖</a:t>
            </a:r>
            <a:pPr algn="l" indent="0" marL="0">
              <a:buNone/>
            </a:pPr>
            <a:r>
              <a:rPr lang="en-US" sz="630" b="1" spc="14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pPr algn="l" indent="0" marL="0">
              <a:buNone/>
            </a:pPr>
            <a:r>
              <a:rPr lang="en-US" sz="630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百亿美元投入，开源已成为全球软件产业的基石。</a:t>
            </a:r>
            <a:endParaRPr lang="en-US" sz="6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6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4789170"/>
            <a:ext cx="91440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277178"/>
            <a:ext cx="34290" cy="30861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480060" y="274320"/>
            <a:ext cx="2246681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技术演进的内在规律</a:t>
            </a:r>
            <a:endParaRPr lang="en-US" sz="1710" dirty="0"/>
          </a:p>
        </p:txBody>
      </p:sp>
      <p:sp>
        <p:nvSpPr>
          <p:cNvPr id="6" name="Text 4"/>
          <p:cNvSpPr/>
          <p:nvPr/>
        </p:nvSpPr>
        <p:spPr>
          <a:xfrm>
            <a:off x="342900" y="680085"/>
            <a:ext cx="8577072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技术的演进遵循着可辨识的规律：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复杂度不断上升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抽象层持续叠加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迭代速度加快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，同时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标准与碎片化的张力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始终存在。开源以其开放的协作机制，既加速了这一进程，也为应对复杂度挑战提供了</a:t>
            </a:r>
            <a:pPr algn="l" indent="0" marL="0">
              <a:lnSpc>
                <a:spcPct val="175000"/>
              </a:lnSpc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独特的社会技术支持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3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1062990"/>
            <a:ext cx="8458200" cy="1600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2900" y="1062990"/>
            <a:ext cx="2028825" cy="16002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E2A4A">
                  <a:alpha val="95000"/>
                </a:srgbClr>
              </a:gs>
              <a:gs pos="100000">
                <a:srgbClr val="1A1A2E">
                  <a:alpha val="95000"/>
                </a:srgbClr>
              </a:gs>
            </a:gsLst>
            <a:lin ang="4200000" scaled="0"/>
          </a:gradFill>
          <a:ln w="5715">
            <a:solidFill>
              <a:srgbClr val="2A3A6A"/>
            </a:solidFill>
            <a:prstDash val="solid"/>
          </a:ln>
          <a:effectLst>
            <a:outerShdw sx="100000" sy="100000" kx="0" ky="0" algn="bl" rotWithShape="0" blurRad="285750" dist="76200" dir="162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" y="1062990"/>
            <a:ext cx="2017395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" name="Text 7"/>
          <p:cNvSpPr/>
          <p:nvPr/>
        </p:nvSpPr>
        <p:spPr>
          <a:xfrm>
            <a:off x="451485" y="1194435"/>
            <a:ext cx="202905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规律 01</a:t>
            </a:r>
            <a:endParaRPr lang="en-US" sz="540" dirty="0"/>
          </a:p>
        </p:txBody>
      </p:sp>
      <p:sp>
        <p:nvSpPr>
          <p:cNvPr id="11" name="Shape 8"/>
          <p:cNvSpPr/>
          <p:nvPr/>
        </p:nvSpPr>
        <p:spPr>
          <a:xfrm>
            <a:off x="451485" y="1360170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80" y="1434465"/>
            <a:ext cx="160020" cy="1600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485" y="1748790"/>
            <a:ext cx="202905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复杂度递增</a:t>
            </a:r>
            <a:endParaRPr lang="en-US" sz="765" dirty="0"/>
          </a:p>
        </p:txBody>
      </p:sp>
      <p:sp>
        <p:nvSpPr>
          <p:cNvPr id="14" name="Text 10"/>
          <p:cNvSpPr/>
          <p:nvPr/>
        </p:nvSpPr>
        <p:spPr>
          <a:xfrm>
            <a:off x="451485" y="1948815"/>
            <a:ext cx="2029054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从单进程到分布式，从命令行到图形界面，技术系统随需求增长呈现复杂度必然上升的趋势。</a:t>
            </a:r>
            <a:endParaRPr lang="en-US" sz="563" dirty="0"/>
          </a:p>
        </p:txBody>
      </p:sp>
      <p:sp>
        <p:nvSpPr>
          <p:cNvPr id="15" name="Shape 11"/>
          <p:cNvSpPr/>
          <p:nvPr/>
        </p:nvSpPr>
        <p:spPr>
          <a:xfrm>
            <a:off x="451485" y="2383155"/>
            <a:ext cx="578465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1485" y="2383155"/>
            <a:ext cx="647881" cy="148590"/>
          </a:xfrm>
          <a:prstGeom prst="rect">
            <a:avLst/>
          </a:prstGeom>
          <a:noFill/>
          <a:ln/>
        </p:spPr>
        <p:txBody>
          <a:bodyPr wrap="squar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单进程 → 分布式</a:t>
            </a:r>
            <a:endParaRPr lang="en-US" sz="495" dirty="0"/>
          </a:p>
        </p:txBody>
      </p:sp>
      <p:sp>
        <p:nvSpPr>
          <p:cNvPr id="17" name="Shape 13"/>
          <p:cNvSpPr/>
          <p:nvPr/>
        </p:nvSpPr>
        <p:spPr>
          <a:xfrm>
            <a:off x="1064240" y="2383155"/>
            <a:ext cx="407015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64240" y="2383155"/>
            <a:ext cx="469880" cy="148590"/>
          </a:xfrm>
          <a:prstGeom prst="rect">
            <a:avLst/>
          </a:prstGeom>
          <a:noFill/>
          <a:ln/>
        </p:spPr>
        <p:txBody>
          <a:bodyPr wrap="squar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→ GUI</a:t>
            </a:r>
            <a:endParaRPr lang="en-US" sz="495" dirty="0"/>
          </a:p>
        </p:txBody>
      </p:sp>
      <p:sp>
        <p:nvSpPr>
          <p:cNvPr id="19" name="Shape 15"/>
          <p:cNvSpPr/>
          <p:nvPr/>
        </p:nvSpPr>
        <p:spPr>
          <a:xfrm>
            <a:off x="2486025" y="1062990"/>
            <a:ext cx="2028825" cy="16002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E2A4A">
                  <a:alpha val="95000"/>
                </a:srgbClr>
              </a:gs>
              <a:gs pos="100000">
                <a:srgbClr val="1A1A2E">
                  <a:alpha val="95000"/>
                </a:srgbClr>
              </a:gs>
            </a:gsLst>
            <a:lin ang="4200000" scaled="0"/>
          </a:gradFill>
          <a:ln w="5715">
            <a:solidFill>
              <a:srgbClr val="2A3A6A"/>
            </a:solidFill>
            <a:prstDash val="solid"/>
          </a:ln>
          <a:effectLst>
            <a:outerShdw sx="100000" sy="100000" kx="0" ky="0" algn="bl" rotWithShape="0" blurRad="285750" dist="762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486025" y="1062990"/>
            <a:ext cx="2017395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1" name="Text 17"/>
          <p:cNvSpPr/>
          <p:nvPr/>
        </p:nvSpPr>
        <p:spPr>
          <a:xfrm>
            <a:off x="2594610" y="1194435"/>
            <a:ext cx="202905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规律 02</a:t>
            </a:r>
            <a:endParaRPr lang="en-US" sz="540" dirty="0"/>
          </a:p>
        </p:txBody>
      </p:sp>
      <p:sp>
        <p:nvSpPr>
          <p:cNvPr id="22" name="Shape 18"/>
          <p:cNvSpPr/>
          <p:nvPr/>
        </p:nvSpPr>
        <p:spPr>
          <a:xfrm>
            <a:off x="2594610" y="1360170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8905" y="1434465"/>
            <a:ext cx="160020" cy="1600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594610" y="1748790"/>
            <a:ext cx="202905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抽象与封装</a:t>
            </a:r>
            <a:endParaRPr lang="en-US" sz="765" dirty="0"/>
          </a:p>
        </p:txBody>
      </p:sp>
      <p:sp>
        <p:nvSpPr>
          <p:cNvPr id="25" name="Text 20"/>
          <p:cNvSpPr/>
          <p:nvPr/>
        </p:nvSpPr>
        <p:spPr>
          <a:xfrm>
            <a:off x="2594610" y="1948815"/>
            <a:ext cx="2029054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每次技术跃迁都伴随着新的抽象层出现，封装复杂细节，为上层提供简洁接口。</a:t>
            </a:r>
            <a:endParaRPr lang="en-US" sz="563" dirty="0"/>
          </a:p>
        </p:txBody>
      </p:sp>
      <p:sp>
        <p:nvSpPr>
          <p:cNvPr id="26" name="Shape 21"/>
          <p:cNvSpPr/>
          <p:nvPr/>
        </p:nvSpPr>
        <p:spPr>
          <a:xfrm>
            <a:off x="2594610" y="2383155"/>
            <a:ext cx="365760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594610" y="2383155"/>
            <a:ext cx="428625" cy="148590"/>
          </a:xfrm>
          <a:prstGeom prst="rect">
            <a:avLst/>
          </a:prstGeom>
          <a:noFill/>
          <a:ln/>
        </p:spPr>
        <p:txBody>
          <a:bodyPr wrap="non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分层架构</a:t>
            </a:r>
            <a:endParaRPr lang="en-US" sz="495" dirty="0"/>
          </a:p>
        </p:txBody>
      </p:sp>
      <p:sp>
        <p:nvSpPr>
          <p:cNvPr id="28" name="Shape 23"/>
          <p:cNvSpPr/>
          <p:nvPr/>
        </p:nvSpPr>
        <p:spPr>
          <a:xfrm>
            <a:off x="2994660" y="2383155"/>
            <a:ext cx="365760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994660" y="2383155"/>
            <a:ext cx="428625" cy="148590"/>
          </a:xfrm>
          <a:prstGeom prst="rect">
            <a:avLst/>
          </a:prstGeom>
          <a:noFill/>
          <a:ln/>
        </p:spPr>
        <p:txBody>
          <a:bodyPr wrap="non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封装细节</a:t>
            </a:r>
            <a:endParaRPr lang="en-US" sz="495" dirty="0"/>
          </a:p>
        </p:txBody>
      </p:sp>
      <p:sp>
        <p:nvSpPr>
          <p:cNvPr id="30" name="Shape 25"/>
          <p:cNvSpPr/>
          <p:nvPr/>
        </p:nvSpPr>
        <p:spPr>
          <a:xfrm>
            <a:off x="4629150" y="1062990"/>
            <a:ext cx="2028825" cy="16002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E2A4A">
                  <a:alpha val="95000"/>
                </a:srgbClr>
              </a:gs>
              <a:gs pos="100000">
                <a:srgbClr val="1A1A2E">
                  <a:alpha val="95000"/>
                </a:srgbClr>
              </a:gs>
            </a:gsLst>
            <a:lin ang="4200000" scaled="0"/>
          </a:gradFill>
          <a:ln w="5715">
            <a:solidFill>
              <a:srgbClr val="2A3A6A"/>
            </a:solidFill>
            <a:prstDash val="solid"/>
          </a:ln>
          <a:effectLst>
            <a:outerShdw sx="100000" sy="100000" kx="0" ky="0" algn="bl" rotWithShape="0" blurRad="285750" dist="76200" dir="16200000">
              <a:srgbClr val="000000">
                <a:alpha val="3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629150" y="1062990"/>
            <a:ext cx="2017395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2" name="Text 27"/>
          <p:cNvSpPr/>
          <p:nvPr/>
        </p:nvSpPr>
        <p:spPr>
          <a:xfrm>
            <a:off x="4737735" y="1194435"/>
            <a:ext cx="202905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规律 03</a:t>
            </a:r>
            <a:endParaRPr lang="en-US" sz="540" dirty="0"/>
          </a:p>
        </p:txBody>
      </p:sp>
      <p:sp>
        <p:nvSpPr>
          <p:cNvPr id="33" name="Shape 28"/>
          <p:cNvSpPr/>
          <p:nvPr/>
        </p:nvSpPr>
        <p:spPr>
          <a:xfrm>
            <a:off x="4737735" y="1360170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2030" y="1434465"/>
            <a:ext cx="160020" cy="1600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737735" y="1748790"/>
            <a:ext cx="202905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开源加速迭代</a:t>
            </a:r>
            <a:endParaRPr lang="en-US" sz="765" dirty="0"/>
          </a:p>
        </p:txBody>
      </p:sp>
      <p:sp>
        <p:nvSpPr>
          <p:cNvPr id="36" name="Text 30"/>
          <p:cNvSpPr/>
          <p:nvPr/>
        </p:nvSpPr>
        <p:spPr>
          <a:xfrm>
            <a:off x="4737735" y="1948815"/>
            <a:ext cx="2029054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开放协作模式使试错成本大幅降低，技术迭代周期从数年缩短至数周甚至数天。</a:t>
            </a:r>
            <a:endParaRPr lang="en-US" sz="563" dirty="0"/>
          </a:p>
        </p:txBody>
      </p:sp>
      <p:sp>
        <p:nvSpPr>
          <p:cNvPr id="37" name="Shape 31"/>
          <p:cNvSpPr/>
          <p:nvPr/>
        </p:nvSpPr>
        <p:spPr>
          <a:xfrm>
            <a:off x="4737735" y="2383155"/>
            <a:ext cx="365760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737735" y="2383155"/>
            <a:ext cx="428625" cy="148590"/>
          </a:xfrm>
          <a:prstGeom prst="rect">
            <a:avLst/>
          </a:prstGeom>
          <a:noFill/>
          <a:ln/>
        </p:spPr>
        <p:txBody>
          <a:bodyPr wrap="non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开放协作</a:t>
            </a:r>
            <a:endParaRPr lang="en-US" sz="495" dirty="0"/>
          </a:p>
        </p:txBody>
      </p:sp>
      <p:sp>
        <p:nvSpPr>
          <p:cNvPr id="39" name="Shape 33"/>
          <p:cNvSpPr/>
          <p:nvPr/>
        </p:nvSpPr>
        <p:spPr>
          <a:xfrm>
            <a:off x="5137785" y="2383155"/>
            <a:ext cx="327005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137785" y="2383155"/>
            <a:ext cx="389870" cy="148590"/>
          </a:xfrm>
          <a:prstGeom prst="rect">
            <a:avLst/>
          </a:prstGeom>
          <a:noFill/>
          <a:ln/>
        </p:spPr>
        <p:txBody>
          <a:bodyPr wrap="squar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 → 周</a:t>
            </a:r>
            <a:endParaRPr lang="en-US" sz="495" dirty="0"/>
          </a:p>
        </p:txBody>
      </p:sp>
      <p:sp>
        <p:nvSpPr>
          <p:cNvPr id="41" name="Shape 35"/>
          <p:cNvSpPr/>
          <p:nvPr/>
        </p:nvSpPr>
        <p:spPr>
          <a:xfrm>
            <a:off x="6772275" y="1062990"/>
            <a:ext cx="2028825" cy="16002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E2A4A">
                  <a:alpha val="95000"/>
                </a:srgbClr>
              </a:gs>
              <a:gs pos="100000">
                <a:srgbClr val="1A1A2E">
                  <a:alpha val="95000"/>
                </a:srgbClr>
              </a:gs>
            </a:gsLst>
            <a:lin ang="4200000" scaled="0"/>
          </a:gradFill>
          <a:ln w="5715">
            <a:solidFill>
              <a:srgbClr val="2A3A6A"/>
            </a:solidFill>
            <a:prstDash val="solid"/>
          </a:ln>
          <a:effectLst>
            <a:outerShdw sx="100000" sy="100000" kx="0" ky="0" algn="bl" rotWithShape="0" blurRad="285750" dist="76200" dir="16200000">
              <a:srgbClr val="000000">
                <a:alpha val="3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6772275" y="1062990"/>
            <a:ext cx="2017395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3" name="Text 37"/>
          <p:cNvSpPr/>
          <p:nvPr/>
        </p:nvSpPr>
        <p:spPr>
          <a:xfrm>
            <a:off x="6880860" y="1194435"/>
            <a:ext cx="202905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规律 04</a:t>
            </a:r>
            <a:endParaRPr lang="en-US" sz="540" dirty="0"/>
          </a:p>
        </p:txBody>
      </p:sp>
      <p:sp>
        <p:nvSpPr>
          <p:cNvPr id="44" name="Shape 38"/>
          <p:cNvSpPr/>
          <p:nvPr/>
        </p:nvSpPr>
        <p:spPr>
          <a:xfrm>
            <a:off x="6880860" y="1360170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55155" y="1434465"/>
            <a:ext cx="160020" cy="16002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880860" y="1748790"/>
            <a:ext cx="202905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标准与碎片化</a:t>
            </a:r>
            <a:endParaRPr lang="en-US" sz="765" dirty="0"/>
          </a:p>
        </p:txBody>
      </p:sp>
      <p:sp>
        <p:nvSpPr>
          <p:cNvPr id="47" name="Text 40"/>
          <p:cNvSpPr/>
          <p:nvPr/>
        </p:nvSpPr>
        <p:spPr>
          <a:xfrm>
            <a:off x="6880860" y="1948815"/>
            <a:ext cx="2029054" cy="24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技术发展始终在标准化统一与多样化分化之间拉锯，开源社区对此尤为显著。</a:t>
            </a:r>
            <a:endParaRPr lang="en-US" sz="563" dirty="0"/>
          </a:p>
        </p:txBody>
      </p:sp>
      <p:sp>
        <p:nvSpPr>
          <p:cNvPr id="48" name="Shape 41"/>
          <p:cNvSpPr/>
          <p:nvPr/>
        </p:nvSpPr>
        <p:spPr>
          <a:xfrm>
            <a:off x="6880860" y="2383155"/>
            <a:ext cx="302895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880860" y="2383155"/>
            <a:ext cx="365760" cy="148590"/>
          </a:xfrm>
          <a:prstGeom prst="rect">
            <a:avLst/>
          </a:prstGeom>
          <a:noFill/>
          <a:ln/>
        </p:spPr>
        <p:txBody>
          <a:bodyPr wrap="non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标准化</a:t>
            </a:r>
            <a:endParaRPr lang="en-US" sz="495" dirty="0"/>
          </a:p>
        </p:txBody>
      </p:sp>
      <p:sp>
        <p:nvSpPr>
          <p:cNvPr id="50" name="Shape 43"/>
          <p:cNvSpPr/>
          <p:nvPr/>
        </p:nvSpPr>
        <p:spPr>
          <a:xfrm>
            <a:off x="7218045" y="2383155"/>
            <a:ext cx="302895" cy="148590"/>
          </a:xfrm>
          <a:prstGeom prst="roundRect">
            <a:avLst>
              <a:gd name="adj" fmla="val 38462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7218045" y="2383155"/>
            <a:ext cx="365760" cy="148590"/>
          </a:xfrm>
          <a:prstGeom prst="rect">
            <a:avLst/>
          </a:prstGeom>
          <a:noFill/>
          <a:ln/>
        </p:spPr>
        <p:txBody>
          <a:bodyPr wrap="none" lIns="22860" tIns="51435" rIns="51435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多样化</a:t>
            </a:r>
            <a:endParaRPr lang="en-US" sz="495" dirty="0"/>
          </a:p>
        </p:txBody>
      </p:sp>
      <p:sp>
        <p:nvSpPr>
          <p:cNvPr id="52" name="Shape 45"/>
          <p:cNvSpPr/>
          <p:nvPr/>
        </p:nvSpPr>
        <p:spPr>
          <a:xfrm>
            <a:off x="342900" y="2766060"/>
            <a:ext cx="4171950" cy="468630"/>
          </a:xfrm>
          <a:prstGeom prst="roundRect">
            <a:avLst>
              <a:gd name="adj" fmla="val 14634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17145">
            <a:solidFill>
              <a:srgbClr val="00BCD4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85775" y="2874645"/>
            <a:ext cx="83210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EVOLUTION DRIVER</a:t>
            </a:r>
            <a:endParaRPr lang="en-US" sz="495" dirty="0"/>
          </a:p>
        </p:txBody>
      </p:sp>
      <p:sp>
        <p:nvSpPr>
          <p:cNvPr id="54" name="Text 47"/>
          <p:cNvSpPr/>
          <p:nvPr/>
        </p:nvSpPr>
        <p:spPr>
          <a:xfrm>
            <a:off x="485775" y="2977515"/>
            <a:ext cx="84582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演进驱动力</a:t>
            </a:r>
            <a:endParaRPr lang="en-US" sz="810" dirty="0"/>
          </a:p>
        </p:txBody>
      </p:sp>
      <p:sp>
        <p:nvSpPr>
          <p:cNvPr id="55" name="Text 48"/>
          <p:cNvSpPr/>
          <p:nvPr/>
        </p:nvSpPr>
        <p:spPr>
          <a:xfrm>
            <a:off x="1343025" y="2931795"/>
            <a:ext cx="45720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需求增长</a:t>
            </a:r>
            <a:endParaRPr lang="en-US" sz="720" dirty="0"/>
          </a:p>
        </p:txBody>
      </p:sp>
      <p:sp>
        <p:nvSpPr>
          <p:cNvPr id="56" name="Text 49"/>
          <p:cNvSpPr/>
          <p:nvPr/>
        </p:nvSpPr>
        <p:spPr>
          <a:xfrm>
            <a:off x="1788795" y="2926080"/>
            <a:ext cx="23110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90" dirty="0"/>
          </a:p>
        </p:txBody>
      </p:sp>
      <p:sp>
        <p:nvSpPr>
          <p:cNvPr id="57" name="Text 50"/>
          <p:cNvSpPr/>
          <p:nvPr/>
        </p:nvSpPr>
        <p:spPr>
          <a:xfrm>
            <a:off x="1974175" y="2908935"/>
            <a:ext cx="75438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复杂度递增</a:t>
            </a:r>
            <a:endParaRPr lang="en-US" sz="990" dirty="0"/>
          </a:p>
        </p:txBody>
      </p:sp>
      <p:sp>
        <p:nvSpPr>
          <p:cNvPr id="58" name="Shape 51"/>
          <p:cNvSpPr/>
          <p:nvPr/>
        </p:nvSpPr>
        <p:spPr>
          <a:xfrm>
            <a:off x="4629150" y="2766060"/>
            <a:ext cx="4171950" cy="468630"/>
          </a:xfrm>
          <a:prstGeom prst="roundRect">
            <a:avLst>
              <a:gd name="adj" fmla="val 14634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17145">
            <a:solidFill>
              <a:srgbClr val="00BCD4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4772025" y="2874645"/>
            <a:ext cx="76489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 CYCLE</a:t>
            </a:r>
            <a:endParaRPr lang="en-US" sz="495" dirty="0"/>
          </a:p>
        </p:txBody>
      </p:sp>
      <p:sp>
        <p:nvSpPr>
          <p:cNvPr id="60" name="Text 53"/>
          <p:cNvSpPr/>
          <p:nvPr/>
        </p:nvSpPr>
        <p:spPr>
          <a:xfrm>
            <a:off x="4772025" y="2977515"/>
            <a:ext cx="78581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迭代周期变化</a:t>
            </a:r>
            <a:endParaRPr lang="en-US" sz="810" dirty="0"/>
          </a:p>
        </p:txBody>
      </p:sp>
      <p:sp>
        <p:nvSpPr>
          <p:cNvPr id="61" name="Text 54"/>
          <p:cNvSpPr/>
          <p:nvPr/>
        </p:nvSpPr>
        <p:spPr>
          <a:xfrm>
            <a:off x="5569268" y="2931795"/>
            <a:ext cx="1828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</a:t>
            </a:r>
            <a:endParaRPr lang="en-US" sz="720" dirty="0"/>
          </a:p>
        </p:txBody>
      </p:sp>
      <p:sp>
        <p:nvSpPr>
          <p:cNvPr id="62" name="Text 55"/>
          <p:cNvSpPr/>
          <p:nvPr/>
        </p:nvSpPr>
        <p:spPr>
          <a:xfrm>
            <a:off x="5740718" y="2926080"/>
            <a:ext cx="23110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90" dirty="0"/>
          </a:p>
        </p:txBody>
      </p:sp>
      <p:sp>
        <p:nvSpPr>
          <p:cNvPr id="63" name="Text 56"/>
          <p:cNvSpPr/>
          <p:nvPr/>
        </p:nvSpPr>
        <p:spPr>
          <a:xfrm>
            <a:off x="5926098" y="2908935"/>
            <a:ext cx="25146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周</a:t>
            </a:r>
            <a:endParaRPr lang="en-US" sz="990" dirty="0"/>
          </a:p>
        </p:txBody>
      </p:sp>
      <p:sp>
        <p:nvSpPr>
          <p:cNvPr id="64" name="Shape 57"/>
          <p:cNvSpPr/>
          <p:nvPr/>
        </p:nvSpPr>
        <p:spPr>
          <a:xfrm>
            <a:off x="6131838" y="2977515"/>
            <a:ext cx="2537817" cy="45720"/>
          </a:xfrm>
          <a:prstGeom prst="roundRect">
            <a:avLst>
              <a:gd name="adj" fmla="val 50000"/>
            </a:avLst>
          </a:prstGeom>
          <a:solidFill>
            <a:srgbClr val="2196F3">
              <a:alpha val="12000"/>
            </a:srgbClr>
          </a:solidFill>
          <a:ln/>
        </p:spPr>
      </p:sp>
      <p:sp>
        <p:nvSpPr>
          <p:cNvPr id="65" name="Shape 58"/>
          <p:cNvSpPr/>
          <p:nvPr/>
        </p:nvSpPr>
        <p:spPr>
          <a:xfrm>
            <a:off x="6131838" y="2977515"/>
            <a:ext cx="2233226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6" name="Shape 59"/>
          <p:cNvSpPr/>
          <p:nvPr/>
        </p:nvSpPr>
        <p:spPr>
          <a:xfrm>
            <a:off x="342900" y="3326130"/>
            <a:ext cx="8458200" cy="2857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6000"/>
                </a:srgbClr>
              </a:gs>
            </a:gsLst>
            <a:lin ang="0" scaled="0"/>
          </a:gradFill>
          <a:ln w="5715">
            <a:solidFill>
              <a:srgbClr val="2A3A6A"/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342900" y="3326130"/>
            <a:ext cx="9473184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开源以</a:t>
            </a:r>
            <a:pPr algn="ctr" indent="0" marL="0">
              <a:buNone/>
            </a:pPr>
            <a:r>
              <a:rPr lang="en-US" sz="63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协作之力</a:t>
            </a:r>
            <a:pPr algn="ctr" indent="0" marL="0"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</a:t>
            </a:r>
            <a:pPr algn="ctr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复杂可被驾驭</a:t>
            </a:r>
            <a:pPr algn="ctr" indent="0" marL="0"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</a:t>
            </a:r>
            <a:pPr algn="ctr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迭代被加速</a:t>
            </a:r>
            <a:pPr algn="ctr" indent="0" marL="0"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，让</a:t>
            </a:r>
            <a:pPr algn="ctr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标准与碎片化在张力中共同进化</a:t>
            </a:r>
            <a:pPr algn="ctr" indent="0" marL="0"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30" dirty="0"/>
          </a:p>
        </p:txBody>
      </p:sp>
      <p:sp>
        <p:nvSpPr>
          <p:cNvPr id="68" name="Shape 61"/>
          <p:cNvSpPr/>
          <p:nvPr/>
        </p:nvSpPr>
        <p:spPr>
          <a:xfrm>
            <a:off x="8389620" y="171450"/>
            <a:ext cx="45720" cy="45720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69" name="Shape 62"/>
          <p:cNvSpPr/>
          <p:nvPr/>
        </p:nvSpPr>
        <p:spPr>
          <a:xfrm>
            <a:off x="8481060" y="171450"/>
            <a:ext cx="45720" cy="45720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70" name="Shape 63"/>
          <p:cNvSpPr/>
          <p:nvPr/>
        </p:nvSpPr>
        <p:spPr>
          <a:xfrm>
            <a:off x="8572500" y="171450"/>
            <a:ext cx="45720" cy="45720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71" name="Shape 64"/>
          <p:cNvSpPr/>
          <p:nvPr/>
        </p:nvSpPr>
        <p:spPr>
          <a:xfrm>
            <a:off x="8663940" y="171450"/>
            <a:ext cx="45720" cy="45720"/>
          </a:xfrm>
          <a:prstGeom prst="ellipse">
            <a:avLst/>
          </a:prstGeom>
          <a:solidFill>
            <a:srgbClr val="2196F3">
              <a:alpha val="40000"/>
            </a:srgbClr>
          </a:solidFill>
          <a:ln/>
        </p:spPr>
      </p:sp>
      <p:sp>
        <p:nvSpPr>
          <p:cNvPr id="72" name="Shape 65"/>
          <p:cNvSpPr/>
          <p:nvPr/>
        </p:nvSpPr>
        <p:spPr>
          <a:xfrm>
            <a:off x="8755380" y="171450"/>
            <a:ext cx="45720" cy="45720"/>
          </a:xfrm>
          <a:prstGeom prst="ellipse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6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4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1371600" y="-514350"/>
            <a:ext cx="11887200" cy="6686550"/>
          </a:xfrm>
          <a:prstGeom prst="ellipse">
            <a:avLst/>
          </a:prstGeom>
          <a:gradFill rotWithShape="1">
            <a:gsLst>
              <a:gs pos="0">
                <a:srgbClr val="2196F3">
                  <a:alpha val="4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342900" y="320040"/>
            <a:ext cx="2205990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45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开源对未来的意义</a:t>
            </a:r>
            <a:endParaRPr lang="en-US" sz="1890" dirty="0"/>
          </a:p>
        </p:txBody>
      </p:sp>
      <p:sp>
        <p:nvSpPr>
          <p:cNvPr id="7" name="Shape 5"/>
          <p:cNvSpPr/>
          <p:nvPr/>
        </p:nvSpPr>
        <p:spPr>
          <a:xfrm>
            <a:off x="342900" y="668655"/>
            <a:ext cx="4572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342900" y="777240"/>
            <a:ext cx="5117440" cy="245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开源的内涵正在不断扩展，新兴议题与深层挑战并存 —— 从人工智能到硬件架构，从治理模式到知识传播，开源正在重塑技术文明的底层逻辑。</a:t>
            </a:r>
            <a:endParaRPr lang="en-US" sz="675" dirty="0"/>
          </a:p>
        </p:txBody>
      </p:sp>
      <p:sp>
        <p:nvSpPr>
          <p:cNvPr id="9" name="Shape 7"/>
          <p:cNvSpPr/>
          <p:nvPr/>
        </p:nvSpPr>
        <p:spPr>
          <a:xfrm>
            <a:off x="7823835" y="320040"/>
            <a:ext cx="977265" cy="160020"/>
          </a:xfrm>
          <a:prstGeom prst="roundRect">
            <a:avLst>
              <a:gd name="adj" fmla="val 71429"/>
            </a:avLst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38290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78140" y="360045"/>
            <a:ext cx="82570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· OUTLOOK</a:t>
            </a:r>
            <a:endParaRPr lang="en-US" sz="495" dirty="0"/>
          </a:p>
        </p:txBody>
      </p:sp>
      <p:sp>
        <p:nvSpPr>
          <p:cNvPr id="12" name="Text 10"/>
          <p:cNvSpPr/>
          <p:nvPr/>
        </p:nvSpPr>
        <p:spPr>
          <a:xfrm>
            <a:off x="7915275" y="514350"/>
            <a:ext cx="99212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× 2025</a:t>
            </a:r>
            <a:endParaRPr lang="en-US" sz="495" dirty="0"/>
          </a:p>
        </p:txBody>
      </p:sp>
      <p:sp>
        <p:nvSpPr>
          <p:cNvPr id="13" name="Shape 11"/>
          <p:cNvSpPr/>
          <p:nvPr/>
        </p:nvSpPr>
        <p:spPr>
          <a:xfrm>
            <a:off x="3714750" y="1791653"/>
            <a:ext cx="1714500" cy="1714500"/>
          </a:xfrm>
          <a:prstGeom prst="ellipse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40000">
                <a:srgbClr val="00BCD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4" name="Shape 12"/>
          <p:cNvSpPr/>
          <p:nvPr/>
        </p:nvSpPr>
        <p:spPr>
          <a:xfrm>
            <a:off x="4114800" y="2191703"/>
            <a:ext cx="914400" cy="91440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60000">
                <a:srgbClr val="1565C0"/>
              </a:gs>
              <a:gs pos="100000">
                <a:srgbClr val="0D47A1"/>
              </a:gs>
            </a:gsLst>
            <a:path path="circle">
              <a:fillToRect l="50000" t="50000" r="50000" b="50000"/>
            </a:path>
          </a:gradFill>
          <a:ln w="11430">
            <a:solidFill>
              <a:srgbClr val="00BCD4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2506028"/>
            <a:ext cx="67437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开源未来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4126230" y="2683193"/>
            <a:ext cx="81930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· SOURCE · FUTURE</a:t>
            </a:r>
            <a:endParaRPr lang="en-US" sz="4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00" y="1154430"/>
            <a:ext cx="8458200" cy="298894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42900" y="1211580"/>
            <a:ext cx="1943100" cy="1050131"/>
          </a:xfrm>
          <a:prstGeom prst="roundRect">
            <a:avLst>
              <a:gd name="adj" fmla="val 6531"/>
            </a:avLst>
          </a:prstGeom>
          <a:gradFill rotWithShape="1">
            <a:gsLst>
              <a:gs pos="0">
                <a:srgbClr val="0F1B33">
                  <a:alpha val="95000"/>
                </a:srgbClr>
              </a:gs>
              <a:gs pos="100000">
                <a:srgbClr val="16213E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1205865"/>
            <a:ext cx="170307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Shape 17"/>
          <p:cNvSpPr/>
          <p:nvPr/>
        </p:nvSpPr>
        <p:spPr>
          <a:xfrm>
            <a:off x="462915" y="1320165"/>
            <a:ext cx="160020" cy="16002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21" name="Text 18"/>
          <p:cNvSpPr/>
          <p:nvPr/>
        </p:nvSpPr>
        <p:spPr>
          <a:xfrm>
            <a:off x="500063" y="1354455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5" dirty="0"/>
          </a:p>
        </p:txBody>
      </p:sp>
      <p:sp>
        <p:nvSpPr>
          <p:cNvPr id="22" name="Text 19"/>
          <p:cNvSpPr/>
          <p:nvPr/>
        </p:nvSpPr>
        <p:spPr>
          <a:xfrm>
            <a:off x="680085" y="1351598"/>
            <a:ext cx="7086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AI时代的新议题</a:t>
            </a:r>
            <a:endParaRPr lang="en-US" sz="675" dirty="0"/>
          </a:p>
        </p:txBody>
      </p:sp>
      <p:sp>
        <p:nvSpPr>
          <p:cNvPr id="23" name="Shape 20"/>
          <p:cNvSpPr/>
          <p:nvPr/>
        </p:nvSpPr>
        <p:spPr>
          <a:xfrm>
            <a:off x="462915" y="1537335"/>
            <a:ext cx="170307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4" name="Text 21"/>
          <p:cNvSpPr/>
          <p:nvPr/>
        </p:nvSpPr>
        <p:spPr>
          <a:xfrm>
            <a:off x="462915" y="1617345"/>
            <a:ext cx="1901038" cy="328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训练数据、模型权重是否应该开源，AI开源运动正在引发新的伦理与治理讨论。大模型时代的开放边界成为核心争议点。</a:t>
            </a:r>
            <a:endParaRPr lang="en-US" sz="563" dirty="0"/>
          </a:p>
        </p:txBody>
      </p:sp>
      <p:sp>
        <p:nvSpPr>
          <p:cNvPr id="25" name="Shape 22"/>
          <p:cNvSpPr/>
          <p:nvPr/>
        </p:nvSpPr>
        <p:spPr>
          <a:xfrm>
            <a:off x="462915" y="2021681"/>
            <a:ext cx="582930" cy="131445"/>
          </a:xfrm>
          <a:prstGeom prst="roundRect">
            <a:avLst>
              <a:gd name="adj" fmla="val 4347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5780" y="2055971"/>
            <a:ext cx="51435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伦理 · 治理</a:t>
            </a:r>
            <a:endParaRPr lang="en-US" sz="450" dirty="0"/>
          </a:p>
        </p:txBody>
      </p:sp>
      <p:sp>
        <p:nvSpPr>
          <p:cNvPr id="27" name="Shape 24"/>
          <p:cNvSpPr/>
          <p:nvPr/>
        </p:nvSpPr>
        <p:spPr>
          <a:xfrm>
            <a:off x="6858000" y="1211580"/>
            <a:ext cx="1943100" cy="1050131"/>
          </a:xfrm>
          <a:prstGeom prst="roundRect">
            <a:avLst>
              <a:gd name="adj" fmla="val 6531"/>
            </a:avLst>
          </a:prstGeom>
          <a:gradFill rotWithShape="1">
            <a:gsLst>
              <a:gs pos="0">
                <a:srgbClr val="0F1B33">
                  <a:alpha val="95000"/>
                </a:srgbClr>
              </a:gs>
              <a:gs pos="100000">
                <a:srgbClr val="16213E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972300" y="1205865"/>
            <a:ext cx="170307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9" name="Shape 26"/>
          <p:cNvSpPr/>
          <p:nvPr/>
        </p:nvSpPr>
        <p:spPr>
          <a:xfrm>
            <a:off x="6978015" y="1320165"/>
            <a:ext cx="160020" cy="16002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30" name="Text 27"/>
          <p:cNvSpPr/>
          <p:nvPr/>
        </p:nvSpPr>
        <p:spPr>
          <a:xfrm>
            <a:off x="7009448" y="1354455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31" name="Text 28"/>
          <p:cNvSpPr/>
          <p:nvPr/>
        </p:nvSpPr>
        <p:spPr>
          <a:xfrm>
            <a:off x="7195185" y="1351598"/>
            <a:ext cx="61722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开源硬件兴起</a:t>
            </a:r>
            <a:endParaRPr lang="en-US" sz="675" dirty="0"/>
          </a:p>
        </p:txBody>
      </p:sp>
      <p:sp>
        <p:nvSpPr>
          <p:cNvPr id="32" name="Shape 29"/>
          <p:cNvSpPr/>
          <p:nvPr/>
        </p:nvSpPr>
        <p:spPr>
          <a:xfrm>
            <a:off x="6978015" y="1537335"/>
            <a:ext cx="170307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3" name="Text 30"/>
          <p:cNvSpPr/>
          <p:nvPr/>
        </p:nvSpPr>
        <p:spPr>
          <a:xfrm>
            <a:off x="6978015" y="1617345"/>
            <a:ext cx="1881835" cy="328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从Arduino到RISC-V，硬件开源正在打破芯片领域的封闭垄断，走向通用可定制。开放架构重塑产业格局。</a:t>
            </a:r>
            <a:endParaRPr lang="en-US" sz="563" dirty="0"/>
          </a:p>
        </p:txBody>
      </p:sp>
      <p:sp>
        <p:nvSpPr>
          <p:cNvPr id="34" name="Shape 31"/>
          <p:cNvSpPr/>
          <p:nvPr/>
        </p:nvSpPr>
        <p:spPr>
          <a:xfrm>
            <a:off x="6978015" y="2021681"/>
            <a:ext cx="862965" cy="131445"/>
          </a:xfrm>
          <a:prstGeom prst="roundRect">
            <a:avLst>
              <a:gd name="adj" fmla="val 4347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40880" y="2055971"/>
            <a:ext cx="825703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硬件 · RISC-V · 开放架构</a:t>
            </a:r>
            <a:endParaRPr lang="en-US" sz="450" dirty="0"/>
          </a:p>
        </p:txBody>
      </p:sp>
      <p:sp>
        <p:nvSpPr>
          <p:cNvPr id="36" name="Shape 33"/>
          <p:cNvSpPr/>
          <p:nvPr/>
        </p:nvSpPr>
        <p:spPr>
          <a:xfrm>
            <a:off x="342900" y="3036094"/>
            <a:ext cx="1943100" cy="1050131"/>
          </a:xfrm>
          <a:prstGeom prst="roundRect">
            <a:avLst>
              <a:gd name="adj" fmla="val 6531"/>
            </a:avLst>
          </a:prstGeom>
          <a:gradFill rotWithShape="1">
            <a:gsLst>
              <a:gs pos="0">
                <a:srgbClr val="0F1B33">
                  <a:alpha val="95000"/>
                </a:srgbClr>
              </a:gs>
              <a:gs pos="100000">
                <a:srgbClr val="16213E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7200" y="3030379"/>
            <a:ext cx="170307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8" name="Shape 35"/>
          <p:cNvSpPr/>
          <p:nvPr/>
        </p:nvSpPr>
        <p:spPr>
          <a:xfrm>
            <a:off x="462915" y="3144679"/>
            <a:ext cx="160020" cy="16002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39" name="Text 36"/>
          <p:cNvSpPr/>
          <p:nvPr/>
        </p:nvSpPr>
        <p:spPr>
          <a:xfrm>
            <a:off x="491490" y="3178969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5" dirty="0"/>
          </a:p>
        </p:txBody>
      </p:sp>
      <p:sp>
        <p:nvSpPr>
          <p:cNvPr id="40" name="Text 37"/>
          <p:cNvSpPr/>
          <p:nvPr/>
        </p:nvSpPr>
        <p:spPr>
          <a:xfrm>
            <a:off x="680085" y="3176111"/>
            <a:ext cx="705803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可持续治理挑战</a:t>
            </a:r>
            <a:endParaRPr lang="en-US" sz="675" dirty="0"/>
          </a:p>
        </p:txBody>
      </p:sp>
      <p:sp>
        <p:nvSpPr>
          <p:cNvPr id="41" name="Shape 38"/>
          <p:cNvSpPr/>
          <p:nvPr/>
        </p:nvSpPr>
        <p:spPr>
          <a:xfrm>
            <a:off x="462915" y="3361849"/>
            <a:ext cx="170307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2" name="Text 39"/>
          <p:cNvSpPr/>
          <p:nvPr/>
        </p:nvSpPr>
        <p:spPr>
          <a:xfrm>
            <a:off x="462915" y="3441859"/>
            <a:ext cx="1830629" cy="328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大量核心项目依赖少数企业和个人维护，可持续性与社区健康成为关键议题。维护者倦怠威胁基础设施安全。</a:t>
            </a:r>
            <a:endParaRPr lang="en-US" sz="563" dirty="0"/>
          </a:p>
        </p:txBody>
      </p:sp>
      <p:sp>
        <p:nvSpPr>
          <p:cNvPr id="43" name="Shape 40"/>
          <p:cNvSpPr/>
          <p:nvPr/>
        </p:nvSpPr>
        <p:spPr>
          <a:xfrm>
            <a:off x="462915" y="3846195"/>
            <a:ext cx="765810" cy="131445"/>
          </a:xfrm>
          <a:prstGeom prst="roundRect">
            <a:avLst>
              <a:gd name="adj" fmla="val 4347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25780" y="3880485"/>
            <a:ext cx="71689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 · 社区 · 可持续性</a:t>
            </a:r>
            <a:endParaRPr lang="en-US" sz="450" dirty="0"/>
          </a:p>
        </p:txBody>
      </p:sp>
      <p:sp>
        <p:nvSpPr>
          <p:cNvPr id="45" name="Shape 42"/>
          <p:cNvSpPr/>
          <p:nvPr/>
        </p:nvSpPr>
        <p:spPr>
          <a:xfrm>
            <a:off x="6858000" y="3036094"/>
            <a:ext cx="1943100" cy="1050131"/>
          </a:xfrm>
          <a:prstGeom prst="roundRect">
            <a:avLst>
              <a:gd name="adj" fmla="val 6531"/>
            </a:avLst>
          </a:prstGeom>
          <a:gradFill rotWithShape="1">
            <a:gsLst>
              <a:gs pos="0">
                <a:srgbClr val="0F1B33">
                  <a:alpha val="95000"/>
                </a:srgbClr>
              </a:gs>
              <a:gs pos="100000">
                <a:srgbClr val="16213E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972300" y="3030379"/>
            <a:ext cx="170307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Shape 44"/>
          <p:cNvSpPr/>
          <p:nvPr/>
        </p:nvSpPr>
        <p:spPr>
          <a:xfrm>
            <a:off x="6978015" y="3144679"/>
            <a:ext cx="160020" cy="16002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48" name="Text 45"/>
          <p:cNvSpPr/>
          <p:nvPr/>
        </p:nvSpPr>
        <p:spPr>
          <a:xfrm>
            <a:off x="7006590" y="3178969"/>
            <a:ext cx="17830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85" dirty="0"/>
          </a:p>
        </p:txBody>
      </p:sp>
      <p:sp>
        <p:nvSpPr>
          <p:cNvPr id="49" name="Text 46"/>
          <p:cNvSpPr/>
          <p:nvPr/>
        </p:nvSpPr>
        <p:spPr>
          <a:xfrm>
            <a:off x="7195185" y="3176111"/>
            <a:ext cx="52863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知识民主化</a:t>
            </a:r>
            <a:endParaRPr lang="en-US" sz="675" dirty="0"/>
          </a:p>
        </p:txBody>
      </p:sp>
      <p:sp>
        <p:nvSpPr>
          <p:cNvPr id="50" name="Shape 47"/>
          <p:cNvSpPr/>
          <p:nvPr/>
        </p:nvSpPr>
        <p:spPr>
          <a:xfrm>
            <a:off x="6978015" y="3361849"/>
            <a:ext cx="170307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1" name="Text 48"/>
          <p:cNvSpPr/>
          <p:nvPr/>
        </p:nvSpPr>
        <p:spPr>
          <a:xfrm>
            <a:off x="6978015" y="3441859"/>
            <a:ext cx="1830629" cy="328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开源推动了知识的开放获取与传播，降低学习门槛，促进技术公平与教育普惠，让创新之火惠及更多人。</a:t>
            </a:r>
            <a:endParaRPr lang="en-US" sz="563" dirty="0"/>
          </a:p>
        </p:txBody>
      </p:sp>
      <p:sp>
        <p:nvSpPr>
          <p:cNvPr id="52" name="Shape 49"/>
          <p:cNvSpPr/>
          <p:nvPr/>
        </p:nvSpPr>
        <p:spPr>
          <a:xfrm>
            <a:off x="6978015" y="3846195"/>
            <a:ext cx="640080" cy="131445"/>
          </a:xfrm>
          <a:prstGeom prst="roundRect">
            <a:avLst>
              <a:gd name="adj" fmla="val 4347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40880" y="3880485"/>
            <a:ext cx="576072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 · 教育 · 公平</a:t>
            </a:r>
            <a:endParaRPr lang="en-US" sz="450" dirty="0"/>
          </a:p>
        </p:txBody>
      </p:sp>
      <p:sp>
        <p:nvSpPr>
          <p:cNvPr id="54" name="Shape 51"/>
          <p:cNvSpPr/>
          <p:nvPr/>
        </p:nvSpPr>
        <p:spPr>
          <a:xfrm>
            <a:off x="342900" y="4211955"/>
            <a:ext cx="4171950" cy="51435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0F1B33">
                  <a:alpha val="80000"/>
                </a:srgbClr>
              </a:gs>
              <a:gs pos="100000">
                <a:srgbClr val="16213E">
                  <a:alpha val="60000"/>
                </a:srgbClr>
              </a:gs>
            </a:gsLst>
            <a:lin ang="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42900" y="4211955"/>
            <a:ext cx="17145" cy="5029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56" name="Shape 53"/>
          <p:cNvSpPr/>
          <p:nvPr/>
        </p:nvSpPr>
        <p:spPr>
          <a:xfrm>
            <a:off x="462915" y="4349115"/>
            <a:ext cx="24003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57034" y="4409123"/>
            <a:ext cx="174879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</a:t>
            </a:r>
            <a:endParaRPr lang="en-US" sz="810" dirty="0"/>
          </a:p>
        </p:txBody>
      </p:sp>
      <p:sp>
        <p:nvSpPr>
          <p:cNvPr id="58" name="Text 55"/>
          <p:cNvSpPr/>
          <p:nvPr/>
        </p:nvSpPr>
        <p:spPr>
          <a:xfrm>
            <a:off x="794385" y="4297680"/>
            <a:ext cx="3600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新兴方向</a:t>
            </a:r>
            <a:endParaRPr lang="en-US" sz="495" dirty="0"/>
          </a:p>
        </p:txBody>
      </p:sp>
      <p:sp>
        <p:nvSpPr>
          <p:cNvPr id="59" name="Text 56"/>
          <p:cNvSpPr/>
          <p:nvPr/>
        </p:nvSpPr>
        <p:spPr>
          <a:xfrm>
            <a:off x="794385" y="4417695"/>
            <a:ext cx="84582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硬件 · 数据</a:t>
            </a:r>
            <a:endParaRPr lang="en-US" sz="810" dirty="0"/>
          </a:p>
        </p:txBody>
      </p:sp>
      <p:sp>
        <p:nvSpPr>
          <p:cNvPr id="60" name="Shape 57"/>
          <p:cNvSpPr/>
          <p:nvPr/>
        </p:nvSpPr>
        <p:spPr>
          <a:xfrm>
            <a:off x="794385" y="4597718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1" name="Text 58"/>
          <p:cNvSpPr/>
          <p:nvPr/>
        </p:nvSpPr>
        <p:spPr>
          <a:xfrm>
            <a:off x="851535" y="4566285"/>
            <a:ext cx="5143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开源边界持续扩展</a:t>
            </a:r>
            <a:endParaRPr lang="en-US" sz="450" dirty="0"/>
          </a:p>
        </p:txBody>
      </p:sp>
      <p:sp>
        <p:nvSpPr>
          <p:cNvPr id="62" name="Shape 59"/>
          <p:cNvSpPr/>
          <p:nvPr/>
        </p:nvSpPr>
        <p:spPr>
          <a:xfrm>
            <a:off x="4629150" y="4211955"/>
            <a:ext cx="4171950" cy="51435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0F1B33">
                  <a:alpha val="80000"/>
                </a:srgbClr>
              </a:gs>
              <a:gs pos="100000">
                <a:srgbClr val="16213E">
                  <a:alpha val="60000"/>
                </a:srgbClr>
              </a:gs>
            </a:gsLst>
            <a:lin ang="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29150" y="4211955"/>
            <a:ext cx="17145" cy="50292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4" name="Shape 61"/>
          <p:cNvSpPr/>
          <p:nvPr/>
        </p:nvSpPr>
        <p:spPr>
          <a:xfrm>
            <a:off x="4749165" y="4349115"/>
            <a:ext cx="240030" cy="240030"/>
          </a:xfrm>
          <a:prstGeom prst="roundRect">
            <a:avLst>
              <a:gd name="adj" fmla="val 19048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829621" y="4409123"/>
            <a:ext cx="181987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810" dirty="0"/>
          </a:p>
        </p:txBody>
      </p:sp>
      <p:sp>
        <p:nvSpPr>
          <p:cNvPr id="66" name="Text 63"/>
          <p:cNvSpPr/>
          <p:nvPr/>
        </p:nvSpPr>
        <p:spPr>
          <a:xfrm>
            <a:off x="5080635" y="4311968"/>
            <a:ext cx="3600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代表架构</a:t>
            </a:r>
            <a:endParaRPr lang="en-US" sz="495" dirty="0"/>
          </a:p>
        </p:txBody>
      </p:sp>
      <p:sp>
        <p:nvSpPr>
          <p:cNvPr id="67" name="Text 64"/>
          <p:cNvSpPr/>
          <p:nvPr/>
        </p:nvSpPr>
        <p:spPr>
          <a:xfrm>
            <a:off x="5080635" y="4409123"/>
            <a:ext cx="49149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RISC-V</a:t>
            </a:r>
            <a:endParaRPr lang="en-US" sz="810" dirty="0"/>
          </a:p>
        </p:txBody>
      </p:sp>
      <p:sp>
        <p:nvSpPr>
          <p:cNvPr id="68" name="Shape 65"/>
          <p:cNvSpPr/>
          <p:nvPr/>
        </p:nvSpPr>
        <p:spPr>
          <a:xfrm>
            <a:off x="5080635" y="4583430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69" name="Text 66"/>
          <p:cNvSpPr/>
          <p:nvPr/>
        </p:nvSpPr>
        <p:spPr>
          <a:xfrm>
            <a:off x="5137785" y="4551998"/>
            <a:ext cx="4572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dirty="0">
                <a:solidFill>
                  <a:srgbClr val="90A4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开源硬件里程碑</a:t>
            </a:r>
            <a:endParaRPr lang="en-US" sz="450" dirty="0"/>
          </a:p>
        </p:txBody>
      </p:sp>
      <p:sp>
        <p:nvSpPr>
          <p:cNvPr id="70" name="Shape 67"/>
          <p:cNvSpPr/>
          <p:nvPr/>
        </p:nvSpPr>
        <p:spPr>
          <a:xfrm>
            <a:off x="365760" y="4814888"/>
            <a:ext cx="22860" cy="22860"/>
          </a:xfrm>
          <a:prstGeom prst="ellipse">
            <a:avLst/>
          </a:prstGeom>
          <a:solidFill>
            <a:srgbClr val="2196F3">
              <a:alpha val="60000"/>
            </a:srgbClr>
          </a:solidFill>
          <a:ln/>
        </p:spPr>
      </p:sp>
      <p:sp>
        <p:nvSpPr>
          <p:cNvPr id="71" name="Text 68"/>
          <p:cNvSpPr/>
          <p:nvPr/>
        </p:nvSpPr>
        <p:spPr>
          <a:xfrm>
            <a:off x="434340" y="4783455"/>
            <a:ext cx="196504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C6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FUTURE · 开源塑造技术文明的新形态</a:t>
            </a:r>
            <a:endParaRPr lang="en-US" sz="450" dirty="0"/>
          </a:p>
        </p:txBody>
      </p:sp>
      <p:sp>
        <p:nvSpPr>
          <p:cNvPr id="72" name="Text 69"/>
          <p:cNvSpPr/>
          <p:nvPr/>
        </p:nvSpPr>
        <p:spPr>
          <a:xfrm>
            <a:off x="7372350" y="4783455"/>
            <a:ext cx="157459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C6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DIRECTIONS · 四大议题 · 一个未来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50000">
                <a:srgbClr val="0F0F1A"/>
              </a:gs>
              <a:gs pos="100000">
                <a:srgbClr val="0A0A14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828800" y="-154305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657600" y="2571750"/>
            <a:ext cx="7315200" cy="41148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-914400" y="-5143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4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2506206" y="3731806"/>
            <a:ext cx="15359" cy="15359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42270" y="1281499"/>
            <a:ext cx="6787" cy="67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612737" y="3855839"/>
            <a:ext cx="8215" cy="821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84457" y="3835837"/>
            <a:ext cx="6519" cy="6519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224278" y="3741896"/>
            <a:ext cx="16431" cy="1643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732324" y="419606"/>
            <a:ext cx="8840" cy="8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54485" y="3559463"/>
            <a:ext cx="7054" cy="7054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215" y="4455914"/>
            <a:ext cx="15984" cy="15984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2206" y="3055293"/>
            <a:ext cx="16877" cy="1687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879592" y="3670102"/>
            <a:ext cx="14109" cy="14109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905" y="2470666"/>
            <a:ext cx="7412" cy="74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154" y="2825621"/>
            <a:ext cx="16609" cy="16609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69632" y="3587234"/>
            <a:ext cx="9019" cy="901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8349" y="4773186"/>
            <a:ext cx="11698" cy="116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15518" y="1912293"/>
            <a:ext cx="16609" cy="166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7877" y="3235494"/>
            <a:ext cx="6519" cy="651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716732" y="2725162"/>
            <a:ext cx="11430" cy="114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44252" y="1199882"/>
            <a:ext cx="14913" cy="14913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83960" y="361295"/>
            <a:ext cx="12948" cy="129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1943" y="560516"/>
            <a:ext cx="13752" cy="13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753969" y="4074527"/>
            <a:ext cx="16609" cy="166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4607" y="3959781"/>
            <a:ext cx="15448" cy="15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4489" y="2624614"/>
            <a:ext cx="12859" cy="12859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65955" y="3066455"/>
            <a:ext cx="16252" cy="16252"/>
          </a:xfrm>
          <a:prstGeom prst="ellipse">
            <a:avLst/>
          </a:prstGeom>
          <a:solidFill>
            <a:srgbClr val="00BCD4">
              <a:alpha val="22000"/>
            </a:srgbClr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124373" y="2622203"/>
            <a:ext cx="13752" cy="13752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00939" y="2035165"/>
            <a:ext cx="16073" cy="16073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50379" y="4436269"/>
            <a:ext cx="14198" cy="141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961477" y="5117961"/>
            <a:ext cx="5894" cy="58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259354" y="2376279"/>
            <a:ext cx="10358" cy="103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1922" y="1622167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28191" y="2075884"/>
            <a:ext cx="5804" cy="5804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708142" y="870734"/>
            <a:ext cx="10537" cy="105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000286" y="154751"/>
            <a:ext cx="6161" cy="616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919669" y="1999625"/>
            <a:ext cx="7501" cy="7501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14666" y="3189506"/>
            <a:ext cx="10805" cy="108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55355" y="1710392"/>
            <a:ext cx="6787" cy="67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2942868" y="3606165"/>
            <a:ext cx="11609" cy="116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462951" y="757684"/>
            <a:ext cx="9555" cy="95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5890915" y="1346329"/>
            <a:ext cx="9019" cy="901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22338" y="4593521"/>
            <a:ext cx="16163" cy="161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173" y="238244"/>
            <a:ext cx="15627" cy="1562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811744" y="3472488"/>
            <a:ext cx="10448" cy="1044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928384" y="1636990"/>
            <a:ext cx="6072" cy="6072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461808" y="1607701"/>
            <a:ext cx="7680" cy="7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2291358" y="4435286"/>
            <a:ext cx="15627" cy="15627"/>
          </a:xfrm>
          <a:prstGeom prst="ellipse">
            <a:avLst/>
          </a:prstGeom>
          <a:solidFill>
            <a:srgbClr val="00BCD4">
              <a:alpha val="21000"/>
            </a:srgbClr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52573" y="1884253"/>
            <a:ext cx="5804" cy="5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4544407" y="1251942"/>
            <a:ext cx="16966" cy="169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2892236" y="675620"/>
            <a:ext cx="15091" cy="15091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726734" y="1071741"/>
            <a:ext cx="13930" cy="139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6466701" y="986105"/>
            <a:ext cx="12323" cy="12323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098494" y="3165574"/>
            <a:ext cx="12680" cy="12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6442770" y="2104370"/>
            <a:ext cx="9912" cy="9912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94794" y="1301859"/>
            <a:ext cx="7412" cy="74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175290" y="2423071"/>
            <a:ext cx="13216" cy="13216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36215" y="1182648"/>
            <a:ext cx="11876" cy="11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8710196" y="1253282"/>
            <a:ext cx="15538" cy="1553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551230" y="3054757"/>
            <a:ext cx="7233" cy="7233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554944" y="1463129"/>
            <a:ext cx="7947" cy="7947"/>
          </a:xfrm>
          <a:prstGeom prst="ellipse">
            <a:avLst/>
          </a:prstGeom>
          <a:solidFill>
            <a:srgbClr val="FFFFFF">
              <a:alpha val="23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279463" y="1028343"/>
            <a:ext cx="16073" cy="16073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618095" y="2495490"/>
            <a:ext cx="8573" cy="8573"/>
          </a:xfrm>
          <a:prstGeom prst="ellipse">
            <a:avLst/>
          </a:prstGeom>
          <a:solidFill>
            <a:srgbClr val="FFFFFF">
              <a:alpha val="21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08789" y="1122551"/>
            <a:ext cx="8126" cy="81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615613" y="1084511"/>
            <a:ext cx="5804" cy="58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93762" y="101263"/>
            <a:ext cx="8662" cy="86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1188095" y="3034844"/>
            <a:ext cx="16966" cy="169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2527548" y="4294465"/>
            <a:ext cx="16341" cy="1634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266015" y="3288090"/>
            <a:ext cx="15806" cy="15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2554516" y="2216527"/>
            <a:ext cx="10091" cy="100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143982" y="741611"/>
            <a:ext cx="12323" cy="123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3312021" y="683478"/>
            <a:ext cx="9287" cy="92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3216027" y="3027878"/>
            <a:ext cx="10358" cy="103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7742575" y="3769489"/>
            <a:ext cx="12680" cy="12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186898" y="1015663"/>
            <a:ext cx="8840" cy="8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2280017" y="4516011"/>
            <a:ext cx="10537" cy="105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2708017" y="3125033"/>
            <a:ext cx="5715" cy="571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4405372" y="3450699"/>
            <a:ext cx="9644" cy="96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8915489" y="3127534"/>
            <a:ext cx="7590" cy="75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312057" y="2967067"/>
            <a:ext cx="11609" cy="116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3811994" y="131891"/>
            <a:ext cx="6608" cy="6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5532745" y="3306663"/>
            <a:ext cx="15806" cy="15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5" name="Shape 83"/>
          <p:cNvSpPr/>
          <p:nvPr/>
        </p:nvSpPr>
        <p:spPr>
          <a:xfrm>
            <a:off x="5552658" y="1148804"/>
            <a:ext cx="15538" cy="15538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38100" dist="50800" dir="16200000">
              <a:srgbClr val="00BCD4">
                <a:alpha val="6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7715250" y="-857250"/>
            <a:ext cx="2286000" cy="2286000"/>
          </a:xfrm>
          <a:prstGeom prst="ellipse">
            <a:avLst/>
          </a:prstGeom>
          <a:noFill/>
          <a:ln w="5715">
            <a:solidFill>
              <a:srgbClr val="00BCD4">
                <a:alpha val="1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-1143000" y="3429000"/>
            <a:ext cx="2857500" cy="2857500"/>
          </a:xfrm>
          <a:prstGeom prst="ellips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01000" y="2057400"/>
            <a:ext cx="685800" cy="685800"/>
          </a:xfrm>
          <a:prstGeom prst="ellipse">
            <a:avLst/>
          </a:prstGeom>
          <a:noFill/>
          <a:ln w="5715">
            <a:solidFill>
              <a:srgbClr val="2196F3">
                <a:alpha val="12000"/>
              </a:srgbClr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731520" y="514350"/>
            <a:ext cx="457200" cy="457200"/>
          </a:xfrm>
          <a:prstGeom prst="ellipse">
            <a:avLst/>
          </a:prstGeom>
          <a:noFill/>
          <a:ln w="5715">
            <a:solidFill>
              <a:srgbClr val="00BCD4">
                <a:alpha val="15000"/>
              </a:srgbClr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2886075" y="314325"/>
            <a:ext cx="3371850" cy="628650"/>
          </a:xfrm>
          <a:prstGeom prst="roundRect">
            <a:avLst>
              <a:gd name="adj" fmla="val 10909"/>
            </a:avLst>
          </a:prstGeom>
          <a:noFill/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285750" dist="50800" dir="16200000">
              <a:srgbClr val="2196F3">
                <a:alpha val="6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3183255" y="428625"/>
            <a:ext cx="3110789" cy="4000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160" b="1" spc="270" kern="0" dirty="0">
                <a:solidFill>
                  <a:srgbClr val="E8EA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回归本质，拥抱开放</a:t>
            </a:r>
            <a:endParaRPr lang="en-US" sz="2160" dirty="0"/>
          </a:p>
        </p:txBody>
      </p:sp>
      <p:sp>
        <p:nvSpPr>
          <p:cNvPr id="92" name="Text 90"/>
          <p:cNvSpPr/>
          <p:nvPr/>
        </p:nvSpPr>
        <p:spPr>
          <a:xfrm>
            <a:off x="400050" y="1045845"/>
            <a:ext cx="934516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20" spc="360" kern="0" dirty="0">
                <a:solidFill>
                  <a:srgbClr val="00BCD4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 · 持续探索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800475" y="1197293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4" name="Shape 92"/>
          <p:cNvSpPr/>
          <p:nvPr/>
        </p:nvSpPr>
        <p:spPr>
          <a:xfrm>
            <a:off x="4554855" y="118300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5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657725" y="1197293"/>
            <a:ext cx="6858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6" name="Text 94"/>
          <p:cNvSpPr/>
          <p:nvPr/>
        </p:nvSpPr>
        <p:spPr>
          <a:xfrm>
            <a:off x="1285875" y="1468755"/>
            <a:ext cx="7360920" cy="303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开源与技术的本质，最终指向的是人类如何</a:t>
            </a:r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协作创造</a:t>
            </a:r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、如何</a:t>
            </a:r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共享知识</a:t>
            </a:r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、如何在</a:t>
            </a:r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开放中建立信任</a:t>
            </a:r>
            <a:pPr algn="ctr" indent="0" marL="0">
              <a:lnSpc>
                <a:spcPct val="190000"/>
              </a:lnSpc>
              <a:buNone/>
            </a:pPr>
            <a:r>
              <a:rPr lang="en-US" sz="63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。这不是一个可以一劳永逸回答的问题，而是一个值得持续追问和实践的方向。让我们以开放之心，继续这场探索。</a:t>
            </a:r>
            <a:endParaRPr lang="en-US" sz="630" dirty="0"/>
          </a:p>
        </p:txBody>
      </p:sp>
      <p:sp>
        <p:nvSpPr>
          <p:cNvPr id="97" name="Shape 95"/>
          <p:cNvSpPr/>
          <p:nvPr/>
        </p:nvSpPr>
        <p:spPr>
          <a:xfrm>
            <a:off x="662940" y="1955602"/>
            <a:ext cx="2514600" cy="1080671"/>
          </a:xfrm>
          <a:prstGeom prst="roundRect">
            <a:avLst>
              <a:gd name="adj" fmla="val 634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62940" y="1955602"/>
            <a:ext cx="25031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99" name="Text 97"/>
          <p:cNvSpPr/>
          <p:nvPr/>
        </p:nvSpPr>
        <p:spPr>
          <a:xfrm>
            <a:off x="2823210" y="2029897"/>
            <a:ext cx="493776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2196F3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20" dirty="0"/>
          </a:p>
        </p:txBody>
      </p:sp>
      <p:sp>
        <p:nvSpPr>
          <p:cNvPr id="100" name="Shape 98"/>
          <p:cNvSpPr/>
          <p:nvPr/>
        </p:nvSpPr>
        <p:spPr>
          <a:xfrm>
            <a:off x="805815" y="2109907"/>
            <a:ext cx="182880" cy="182880"/>
          </a:xfrm>
          <a:prstGeom prst="ellipse">
            <a:avLst/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50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805815" y="2109907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630" dirty="0"/>
          </a:p>
        </p:txBody>
      </p:sp>
      <p:sp>
        <p:nvSpPr>
          <p:cNvPr id="102" name="Text 100"/>
          <p:cNvSpPr/>
          <p:nvPr/>
        </p:nvSpPr>
        <p:spPr>
          <a:xfrm>
            <a:off x="805815" y="2384227"/>
            <a:ext cx="61722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核心洞见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805815" y="2607112"/>
            <a:ext cx="2496312" cy="274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开源不仅是代码开放，更是一种关于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信任、协作与知识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的价值观和生活方式。</a:t>
            </a:r>
            <a:endParaRPr lang="en-US" sz="585" dirty="0"/>
          </a:p>
        </p:txBody>
      </p:sp>
      <p:sp>
        <p:nvSpPr>
          <p:cNvPr id="104" name="Shape 102"/>
          <p:cNvSpPr/>
          <p:nvPr/>
        </p:nvSpPr>
        <p:spPr>
          <a:xfrm>
            <a:off x="3314700" y="1955602"/>
            <a:ext cx="2514600" cy="1080671"/>
          </a:xfrm>
          <a:prstGeom prst="roundRect">
            <a:avLst>
              <a:gd name="adj" fmla="val 634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314700" y="1955602"/>
            <a:ext cx="25031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6" name="Text 104"/>
          <p:cNvSpPr/>
          <p:nvPr/>
        </p:nvSpPr>
        <p:spPr>
          <a:xfrm>
            <a:off x="5434965" y="2029897"/>
            <a:ext cx="493776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2196F3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20" dirty="0"/>
          </a:p>
        </p:txBody>
      </p:sp>
      <p:sp>
        <p:nvSpPr>
          <p:cNvPr id="107" name="Shape 105"/>
          <p:cNvSpPr/>
          <p:nvPr/>
        </p:nvSpPr>
        <p:spPr>
          <a:xfrm>
            <a:off x="3457575" y="2109907"/>
            <a:ext cx="182880" cy="182880"/>
          </a:xfrm>
          <a:prstGeom prst="ellipse">
            <a:avLst/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50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3457575" y="2109907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△</a:t>
            </a:r>
            <a:endParaRPr lang="en-US" sz="630" dirty="0"/>
          </a:p>
        </p:txBody>
      </p:sp>
      <p:sp>
        <p:nvSpPr>
          <p:cNvPr id="109" name="Text 107"/>
          <p:cNvSpPr/>
          <p:nvPr/>
        </p:nvSpPr>
        <p:spPr>
          <a:xfrm>
            <a:off x="3457575" y="2384227"/>
            <a:ext cx="61722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技术反思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3457575" y="2607112"/>
            <a:ext cx="2496312" cy="274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理解技术的本质意味着认识到技术选择背后的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价值判断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，并以开放心态参与塑造。</a:t>
            </a:r>
            <a:endParaRPr lang="en-US" sz="585" dirty="0"/>
          </a:p>
        </p:txBody>
      </p:sp>
      <p:sp>
        <p:nvSpPr>
          <p:cNvPr id="111" name="Shape 109"/>
          <p:cNvSpPr/>
          <p:nvPr/>
        </p:nvSpPr>
        <p:spPr>
          <a:xfrm>
            <a:off x="5966460" y="1955602"/>
            <a:ext cx="2514600" cy="1080671"/>
          </a:xfrm>
          <a:prstGeom prst="roundRect">
            <a:avLst>
              <a:gd name="adj" fmla="val 6346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66460" y="1955602"/>
            <a:ext cx="25031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13" name="Text 111"/>
          <p:cNvSpPr/>
          <p:nvPr/>
        </p:nvSpPr>
        <p:spPr>
          <a:xfrm>
            <a:off x="8081010" y="2029897"/>
            <a:ext cx="493776" cy="2514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2196F3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20" dirty="0"/>
          </a:p>
        </p:txBody>
      </p:sp>
      <p:sp>
        <p:nvSpPr>
          <p:cNvPr id="114" name="Shape 112"/>
          <p:cNvSpPr/>
          <p:nvPr/>
        </p:nvSpPr>
        <p:spPr>
          <a:xfrm>
            <a:off x="6109335" y="2109907"/>
            <a:ext cx="182880" cy="182880"/>
          </a:xfrm>
          <a:prstGeom prst="ellipse">
            <a:avLst/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5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6109335" y="2109907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○</a:t>
            </a:r>
            <a:endParaRPr lang="en-US" sz="630" dirty="0"/>
          </a:p>
        </p:txBody>
      </p:sp>
      <p:sp>
        <p:nvSpPr>
          <p:cNvPr id="116" name="Text 114"/>
          <p:cNvSpPr/>
          <p:nvPr/>
        </p:nvSpPr>
        <p:spPr>
          <a:xfrm>
            <a:off x="6109335" y="2384227"/>
            <a:ext cx="61722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行动召唤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6109335" y="2607112"/>
            <a:ext cx="2496312" cy="274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加入开源社区，贡献代码与思想，在实践中体悟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开源精神与技术本质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的交融。</a:t>
            </a:r>
            <a:endParaRPr lang="en-US" sz="585" dirty="0"/>
          </a:p>
        </p:txBody>
      </p:sp>
      <p:sp>
        <p:nvSpPr>
          <p:cNvPr id="118" name="Shape 116"/>
          <p:cNvSpPr/>
          <p:nvPr/>
        </p:nvSpPr>
        <p:spPr>
          <a:xfrm>
            <a:off x="400050" y="4629150"/>
            <a:ext cx="8343900" cy="257175"/>
          </a:xfrm>
          <a:prstGeom prst="rect">
            <a:avLst/>
          </a:prstGeom>
          <a:noFill/>
          <a:ln/>
        </p:spPr>
      </p:sp>
      <p:sp>
        <p:nvSpPr>
          <p:cNvPr id="119" name="Shape 117"/>
          <p:cNvSpPr/>
          <p:nvPr/>
        </p:nvSpPr>
        <p:spPr>
          <a:xfrm>
            <a:off x="400050" y="4629150"/>
            <a:ext cx="83439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4350" y="4714875"/>
            <a:ext cx="12417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FA8C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阅读笔记 · 2021-05 · 开源之道系列</a:t>
            </a:r>
            <a:endParaRPr lang="en-US" sz="495" dirty="0"/>
          </a:p>
        </p:txBody>
      </p:sp>
      <p:sp>
        <p:nvSpPr>
          <p:cNvPr id="121" name="Shape 119"/>
          <p:cNvSpPr/>
          <p:nvPr/>
        </p:nvSpPr>
        <p:spPr>
          <a:xfrm>
            <a:off x="4214813" y="4749165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2" name="Text 120"/>
          <p:cNvSpPr/>
          <p:nvPr/>
        </p:nvSpPr>
        <p:spPr>
          <a:xfrm>
            <a:off x="4283393" y="4720590"/>
            <a:ext cx="37719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FA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END</a:t>
            </a:r>
            <a:endParaRPr lang="en-US" sz="495" dirty="0"/>
          </a:p>
        </p:txBody>
      </p:sp>
      <p:sp>
        <p:nvSpPr>
          <p:cNvPr id="123" name="Shape 121"/>
          <p:cNvSpPr/>
          <p:nvPr/>
        </p:nvSpPr>
        <p:spPr>
          <a:xfrm>
            <a:off x="4643438" y="4749165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24" name="Text 122"/>
          <p:cNvSpPr/>
          <p:nvPr/>
        </p:nvSpPr>
        <p:spPr>
          <a:xfrm>
            <a:off x="7258050" y="4714875"/>
            <a:ext cx="15361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00BCD4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分享主题：开源与技术的本质 · 读书笔记整理</a:t>
            </a:r>
            <a:endParaRPr lang="en-US" sz="495" dirty="0"/>
          </a:p>
        </p:txBody>
      </p:sp>
      <p:sp>
        <p:nvSpPr>
          <p:cNvPr id="125" name="Text 123"/>
          <p:cNvSpPr/>
          <p:nvPr/>
        </p:nvSpPr>
        <p:spPr>
          <a:xfrm>
            <a:off x="142875" y="114300"/>
            <a:ext cx="940918" cy="301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git commit -m "open"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git push origin main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&lt;/open-source&gt;</a:t>
            </a:r>
            <a:endParaRPr lang="en-US" sz="495" dirty="0"/>
          </a:p>
        </p:txBody>
      </p:sp>
      <p:sp>
        <p:nvSpPr>
          <p:cNvPr id="126" name="Text 124"/>
          <p:cNvSpPr/>
          <p:nvPr/>
        </p:nvSpPr>
        <p:spPr>
          <a:xfrm>
            <a:off x="8343900" y="114300"/>
            <a:ext cx="736092" cy="201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 "value": "trust" }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fn collaborate() {}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</p:txBody>
      </p:sp>
      <p:sp>
        <p:nvSpPr>
          <p:cNvPr id="127" name="Text 125"/>
          <p:cNvSpPr/>
          <p:nvPr/>
        </p:nvSpPr>
        <p:spPr>
          <a:xfrm>
            <a:off x="142875" y="4441805"/>
            <a:ext cx="1056132" cy="301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{ knowledge } from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"./community";</a:t>
            </a:r>
            <a:pPr algn="l" indent="0" marL="0">
              <a:lnSpc>
                <a:spcPct val="160000"/>
              </a:lnSpc>
              <a:buNone/>
            </a:pPr>
            <a:endParaRPr lang="en-US" sz="49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default open;</a:t>
            </a:r>
            <a:endParaRPr lang="en-US" sz="495" dirty="0"/>
          </a:p>
        </p:txBody>
      </p:sp>
      <p:sp>
        <p:nvSpPr>
          <p:cNvPr id="128" name="Text 126"/>
          <p:cNvSpPr/>
          <p:nvPr/>
        </p:nvSpPr>
        <p:spPr>
          <a:xfrm>
            <a:off x="8143875" y="4441805"/>
            <a:ext cx="960120" cy="301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* FROM ideas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open = true</a:t>
            </a:r>
            <a:pPr algn="r" indent="0" marL="0">
              <a:lnSpc>
                <a:spcPct val="160000"/>
              </a:lnSpc>
              <a:buNone/>
            </a:pPr>
            <a:endParaRPr lang="en-US" sz="495" dirty="0"/>
          </a:p>
          <a:p>
            <a:pPr algn="r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BY impact DESC;</a:t>
            </a:r>
            <a:endParaRPr lang="en-US" sz="4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2026-08-27T16:36:41Z</dcterms:created>
  <dcterms:modified xsi:type="dcterms:W3CDTF">2026-08-27T16:36:41Z</dcterms:modified>
</cp:coreProperties>
</file>