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111F"/>
              </a:gs>
              <a:gs pos="45000">
                <a:srgbClr val="0D1F3C"/>
              </a:gs>
              <a:gs pos="100000">
                <a:srgbClr val="08111F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2900" y="160020"/>
            <a:ext cx="106893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SYS://READING.2023</a:t>
            </a:r>
            <a:endParaRPr lang="en-US" sz="495" dirty="0"/>
          </a:p>
        </p:txBody>
      </p:sp>
      <p:sp>
        <p:nvSpPr>
          <p:cNvPr id="5" name="Text 3"/>
          <p:cNvSpPr/>
          <p:nvPr/>
        </p:nvSpPr>
        <p:spPr>
          <a:xfrm>
            <a:off x="7875270" y="160020"/>
            <a:ext cx="103693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v1.0 · OPEN SOURCE</a:t>
            </a:r>
            <a:endParaRPr lang="en-US" sz="495" dirty="0"/>
          </a:p>
        </p:txBody>
      </p:sp>
      <p:sp>
        <p:nvSpPr>
          <p:cNvPr id="6" name="Text 4"/>
          <p:cNvSpPr/>
          <p:nvPr/>
        </p:nvSpPr>
        <p:spPr>
          <a:xfrm>
            <a:off x="342900" y="4903470"/>
            <a:ext cx="51435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NODE_001</a:t>
            </a:r>
            <a:endParaRPr lang="en-US" sz="495" dirty="0"/>
          </a:p>
        </p:txBody>
      </p:sp>
      <p:sp>
        <p:nvSpPr>
          <p:cNvPr id="7" name="Text 5"/>
          <p:cNvSpPr/>
          <p:nvPr/>
        </p:nvSpPr>
        <p:spPr>
          <a:xfrm>
            <a:off x="8423910" y="4903470"/>
            <a:ext cx="44005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2023.05</a:t>
            </a:r>
            <a:endParaRPr lang="en-US" sz="495" dirty="0"/>
          </a:p>
        </p:txBody>
      </p:sp>
      <p:sp>
        <p:nvSpPr>
          <p:cNvPr id="8" name="Shape 6"/>
          <p:cNvSpPr/>
          <p:nvPr/>
        </p:nvSpPr>
        <p:spPr>
          <a:xfrm>
            <a:off x="2971800" y="240030"/>
            <a:ext cx="102870" cy="10287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2971800" y="24003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4003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43950" y="240030"/>
            <a:ext cx="102870" cy="10287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8743950" y="24003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46820" y="24003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3463290"/>
            <a:ext cx="102870" cy="10287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2971800" y="356616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346329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3950" y="3463290"/>
            <a:ext cx="102870" cy="10287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8846820" y="3463290"/>
            <a:ext cx="0" cy="10287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43950" y="3566160"/>
            <a:ext cx="10287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" y="497205"/>
            <a:ext cx="2251710" cy="1085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30" b="1" spc="27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以阅读</a:t>
            </a:r>
            <a:pPr algn="l" indent="0" marL="0">
              <a:lnSpc>
                <a:spcPct val="112000"/>
              </a:lnSpc>
              <a:buNone/>
            </a:pPr>
            <a:endParaRPr lang="en-US" sz="33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330" b="1" spc="27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打开世界</a:t>
            </a:r>
            <a:endParaRPr lang="en-US" sz="3330" dirty="0"/>
          </a:p>
        </p:txBody>
      </p:sp>
      <p:sp>
        <p:nvSpPr>
          <p:cNvPr id="21" name="Shape 19"/>
          <p:cNvSpPr/>
          <p:nvPr/>
        </p:nvSpPr>
        <p:spPr>
          <a:xfrm>
            <a:off x="342900" y="1678781"/>
            <a:ext cx="457200" cy="2286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  <a:effectLst>
            <a:outerShdw sx="100000" sy="100000" kx="0" ky="0" algn="bl" rotWithShape="0" blurRad="133350" dist="50800" dir="16200000">
              <a:srgbClr val="2196F3">
                <a:alpha val="7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2900" y="1844516"/>
            <a:ext cx="2406701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55" spc="13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2023年5月·开源之道·开源读书分享会</a:t>
            </a:r>
            <a:endParaRPr lang="en-US" sz="855" dirty="0"/>
          </a:p>
        </p:txBody>
      </p:sp>
      <p:sp>
        <p:nvSpPr>
          <p:cNvPr id="23" name="Shape 21"/>
          <p:cNvSpPr/>
          <p:nvPr/>
        </p:nvSpPr>
        <p:spPr>
          <a:xfrm>
            <a:off x="3543300" y="285750"/>
            <a:ext cx="5257800" cy="2937510"/>
          </a:xfrm>
          <a:prstGeom prst="roundRect">
            <a:avLst>
              <a:gd name="adj" fmla="val 1556"/>
            </a:avLst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  <a:effectLst>
            <a:outerShdw sx="100000" sy="100000" kx="0" ky="0" algn="bl" rotWithShape="0" blurRad="666750" dist="228600" dir="16200000">
              <a:srgbClr val="2196F3">
                <a:alpha val="18000"/>
              </a:srgbClr>
            </a:outerShdw>
          </a:effectLst>
        </p:spPr>
      </p:sp>
      <p:pic>
        <p:nvPicPr>
          <p:cNvPr id="24" name="Image 0" descr="/home/lee/developing/oscar-open-source-book/website/slides-src/2023-05-open-the-world-by-reading-os/images/page_001_hero.png">    </p:cNvPr>
          <p:cNvPicPr>
            <a:picLocks noChangeAspect="1"/>
          </p:cNvPicPr>
          <p:nvPr/>
        </p:nvPicPr>
        <p:blipFill>
          <a:blip r:embed="rId1"/>
          <a:srcRect l="50" r="50" t="0" b="0"/>
          <a:stretch/>
        </p:blipFill>
        <p:spPr>
          <a:xfrm>
            <a:off x="3549015" y="291465"/>
            <a:ext cx="5257800" cy="293751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218045" y="3268980"/>
            <a:ext cx="1773022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· DATA · FLOW · OPEN SOURCE</a:t>
            </a:r>
            <a:endParaRPr lang="en-US" sz="495" dirty="0"/>
          </a:p>
        </p:txBody>
      </p:sp>
      <p:sp>
        <p:nvSpPr>
          <p:cNvPr id="26" name="Shape 23"/>
          <p:cNvSpPr/>
          <p:nvPr/>
        </p:nvSpPr>
        <p:spPr>
          <a:xfrm>
            <a:off x="342900" y="3186113"/>
            <a:ext cx="40005" cy="4000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2910" y="3186113"/>
            <a:ext cx="40005" cy="40005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76200" dist="50800" dir="16200000">
              <a:srgbClr val="2196F3">
                <a:alpha val="8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02920" y="3186113"/>
            <a:ext cx="40005" cy="40005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76200" dist="50800" dir="16200000">
              <a:srgbClr val="00BCD4">
                <a:alpha val="8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51510" y="3171825"/>
            <a:ext cx="520065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450" dirty="0"/>
          </a:p>
        </p:txBody>
      </p:sp>
      <p:sp>
        <p:nvSpPr>
          <p:cNvPr id="30" name="Shape 27"/>
          <p:cNvSpPr/>
          <p:nvPr/>
        </p:nvSpPr>
        <p:spPr>
          <a:xfrm>
            <a:off x="342900" y="3429000"/>
            <a:ext cx="2743200" cy="650349"/>
          </a:xfrm>
          <a:prstGeom prst="roundRect">
            <a:avLst>
              <a:gd name="adj" fmla="val 8788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2900" y="3429000"/>
            <a:ext cx="17145" cy="63892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20065" y="3554730"/>
            <a:ext cx="1885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◇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520065" y="3720465"/>
            <a:ext cx="4171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本期主题</a:t>
            </a:r>
            <a:endParaRPr lang="en-US" sz="585" dirty="0"/>
          </a:p>
        </p:txBody>
      </p:sp>
      <p:sp>
        <p:nvSpPr>
          <p:cNvPr id="34" name="Text 31"/>
          <p:cNvSpPr/>
          <p:nvPr/>
        </p:nvSpPr>
        <p:spPr>
          <a:xfrm>
            <a:off x="520065" y="3863340"/>
            <a:ext cx="1747418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围绕开源文化与技术成长，分享五月的阅读收获</a:t>
            </a:r>
            <a:endParaRPr lang="en-US" sz="585" dirty="0"/>
          </a:p>
        </p:txBody>
      </p:sp>
      <p:sp>
        <p:nvSpPr>
          <p:cNvPr id="35" name="Shape 32"/>
          <p:cNvSpPr/>
          <p:nvPr/>
        </p:nvSpPr>
        <p:spPr>
          <a:xfrm>
            <a:off x="3200400" y="3429000"/>
            <a:ext cx="2743200" cy="650349"/>
          </a:xfrm>
          <a:prstGeom prst="roundRect">
            <a:avLst>
              <a:gd name="adj" fmla="val 8788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0" y="3429000"/>
            <a:ext cx="17145" cy="63892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3377565" y="3554730"/>
            <a:ext cx="1885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3377565" y="3720465"/>
            <a:ext cx="33147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主讲人</a:t>
            </a:r>
            <a:endParaRPr lang="en-US" sz="585" dirty="0"/>
          </a:p>
        </p:txBody>
      </p:sp>
      <p:sp>
        <p:nvSpPr>
          <p:cNvPr id="39" name="Text 36"/>
          <p:cNvSpPr/>
          <p:nvPr/>
        </p:nvSpPr>
        <p:spPr>
          <a:xfrm>
            <a:off x="3377565" y="3863340"/>
            <a:ext cx="177302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开源之道·适兕，社区布道者，长期关注开源生态</a:t>
            </a:r>
            <a:endParaRPr lang="en-US" sz="585" dirty="0"/>
          </a:p>
        </p:txBody>
      </p:sp>
      <p:sp>
        <p:nvSpPr>
          <p:cNvPr id="40" name="Shape 37"/>
          <p:cNvSpPr/>
          <p:nvPr/>
        </p:nvSpPr>
        <p:spPr>
          <a:xfrm>
            <a:off x="6057900" y="3429000"/>
            <a:ext cx="2743200" cy="650349"/>
          </a:xfrm>
          <a:prstGeom prst="roundRect">
            <a:avLst>
              <a:gd name="adj" fmla="val 8788"/>
            </a:avLst>
          </a:prstGeom>
          <a:solidFill>
            <a:srgbClr val="2196F3">
              <a:alpha val="7000"/>
            </a:srgbClr>
          </a:solidFill>
          <a:ln w="5715">
            <a:solidFill>
              <a:srgbClr val="2196F3">
                <a:alpha val="22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057900" y="3429000"/>
            <a:ext cx="17145" cy="638920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95250" dist="50800" dir="16200000">
              <a:srgbClr val="2196F3">
                <a:alpha val="5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235065" y="3537585"/>
            <a:ext cx="16752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◈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6235065" y="3697605"/>
            <a:ext cx="41719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活动时间</a:t>
            </a:r>
            <a:endParaRPr lang="en-US" sz="585" dirty="0"/>
          </a:p>
        </p:txBody>
      </p:sp>
      <p:sp>
        <p:nvSpPr>
          <p:cNvPr id="44" name="Text 41"/>
          <p:cNvSpPr/>
          <p:nvPr/>
        </p:nvSpPr>
        <p:spPr>
          <a:xfrm>
            <a:off x="6235065" y="3840480"/>
            <a:ext cx="183703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2023年5月，线上公开分享，面向全社区开放参与</a:t>
            </a:r>
            <a:endParaRPr lang="en-US" sz="585" dirty="0"/>
          </a:p>
        </p:txBody>
      </p:sp>
      <p:sp>
        <p:nvSpPr>
          <p:cNvPr id="45" name="Text 42"/>
          <p:cNvSpPr/>
          <p:nvPr/>
        </p:nvSpPr>
        <p:spPr>
          <a:xfrm>
            <a:off x="1121569" y="4189095"/>
            <a:ext cx="772896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585" spc="68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2023年5月，开源之道社区以「以阅读打开世界」为主题，开展了一场聚焦开源精神与技术成长的读书会，邀请社区伙伴共赴一场思想之旅，用阅读连接彼此，用开源精神点燃创造的火花。</a:t>
            </a:r>
            <a:endParaRPr lang="en-US" sz="5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F1F"/>
              </a:gs>
              <a:gs pos="40000">
                <a:srgbClr val="0A1E3D"/>
              </a:gs>
              <a:gs pos="70000">
                <a:srgbClr val="0D1F42"/>
              </a:gs>
              <a:gs pos="100000">
                <a:srgbClr val="081428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 rot="1800000">
            <a:off x="8458200" y="228600"/>
            <a:ext cx="457200" cy="457200"/>
          </a:xfrm>
          <a:prstGeom prst="rect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171450" y="4457700"/>
            <a:ext cx="342900" cy="342900"/>
          </a:xfrm>
          <a:prstGeom prst="rect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685800"/>
            <a:ext cx="685800" cy="685800"/>
          </a:xfrm>
          <a:prstGeom prst="ellips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4229100"/>
            <a:ext cx="342900" cy="342900"/>
          </a:xfrm>
          <a:prstGeom prst="ellipse">
            <a:avLst/>
          </a:prstGeom>
          <a:noFill/>
          <a:ln w="5715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0050" y="285750"/>
            <a:ext cx="54864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</a:t>
            </a:r>
            <a:endParaRPr lang="en-US" sz="585" dirty="0"/>
          </a:p>
        </p:txBody>
      </p:sp>
      <p:sp>
        <p:nvSpPr>
          <p:cNvPr id="9" name="Shape 7"/>
          <p:cNvSpPr/>
          <p:nvPr/>
        </p:nvSpPr>
        <p:spPr>
          <a:xfrm>
            <a:off x="965835" y="328613"/>
            <a:ext cx="6863715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>
            <a:off x="7920990" y="308610"/>
            <a:ext cx="45720" cy="45720"/>
          </a:xfrm>
          <a:prstGeom prst="ellipse">
            <a:avLst/>
          </a:prstGeom>
          <a:solidFill>
            <a:srgbClr val="2196F3"/>
          </a:solidFill>
          <a:ln w="5715">
            <a:solidFill>
              <a:srgbClr val="2196F3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50800" dir="16200000">
              <a:srgbClr val="2196F3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01000" y="308610"/>
            <a:ext cx="45720" cy="45720"/>
          </a:xfrm>
          <a:prstGeom prst="ellipse">
            <a:avLst/>
          </a:prstGeom>
          <a:solidFill>
            <a:srgbClr val="2196F3">
              <a:alpha val="30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81010" y="308610"/>
            <a:ext cx="45720" cy="45720"/>
          </a:xfrm>
          <a:prstGeom prst="ellipse">
            <a:avLst/>
          </a:prstGeom>
          <a:solidFill>
            <a:srgbClr val="2196F3">
              <a:alpha val="30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1020" y="308610"/>
            <a:ext cx="45720" cy="45720"/>
          </a:xfrm>
          <a:prstGeom prst="ellipse">
            <a:avLst/>
          </a:prstGeom>
          <a:solidFill>
            <a:srgbClr val="2196F3">
              <a:alpha val="30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1030" y="308610"/>
            <a:ext cx="45720" cy="45720"/>
          </a:xfrm>
          <a:prstGeom prst="ellipse">
            <a:avLst/>
          </a:prstGeom>
          <a:solidFill>
            <a:srgbClr val="2196F3">
              <a:alpha val="30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8190" y="285750"/>
            <a:ext cx="44005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05</a:t>
            </a:r>
            <a:endParaRPr lang="en-US" sz="585" dirty="0"/>
          </a:p>
        </p:txBody>
      </p:sp>
      <p:sp>
        <p:nvSpPr>
          <p:cNvPr id="16" name="Text 14"/>
          <p:cNvSpPr/>
          <p:nvPr/>
        </p:nvSpPr>
        <p:spPr>
          <a:xfrm>
            <a:off x="628650" y="1788795"/>
            <a:ext cx="3840480" cy="1600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0" b="1" spc="-360" kern="0" dirty="0">
                <a:solidFill>
                  <a:srgbClr val="2196F3">
                    <a:alpha val="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0" dirty="0"/>
          </a:p>
        </p:txBody>
      </p:sp>
      <p:sp>
        <p:nvSpPr>
          <p:cNvPr id="17" name="Text 15"/>
          <p:cNvSpPr/>
          <p:nvPr/>
        </p:nvSpPr>
        <p:spPr>
          <a:xfrm>
            <a:off x="1188720" y="1331595"/>
            <a:ext cx="1305763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CHAPTER 01 —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885825" y="1497330"/>
            <a:ext cx="3840480" cy="1600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0" b="1" spc="-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0" dirty="0"/>
          </a:p>
        </p:txBody>
      </p:sp>
      <p:sp>
        <p:nvSpPr>
          <p:cNvPr id="19" name="Text 17"/>
          <p:cNvSpPr/>
          <p:nvPr/>
        </p:nvSpPr>
        <p:spPr>
          <a:xfrm>
            <a:off x="1125855" y="3234690"/>
            <a:ext cx="1531620" cy="3486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90" b="1" spc="18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活 动 概 览</a:t>
            </a:r>
            <a:endParaRPr lang="en-US" sz="1890" dirty="0"/>
          </a:p>
        </p:txBody>
      </p:sp>
      <p:sp>
        <p:nvSpPr>
          <p:cNvPr id="20" name="Shape 18"/>
          <p:cNvSpPr/>
          <p:nvPr/>
        </p:nvSpPr>
        <p:spPr>
          <a:xfrm>
            <a:off x="1543050" y="3674745"/>
            <a:ext cx="457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000">
                <a:srgbClr val="2196F3"/>
              </a:gs>
              <a:gs pos="67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3429000" y="1717983"/>
            <a:ext cx="57150" cy="5715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66160" y="1672263"/>
            <a:ext cx="1945843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45" kern="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从初心到书单，一览本期读书会全景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3429000" y="1958013"/>
            <a:ext cx="5314950" cy="1387495"/>
          </a:xfrm>
          <a:prstGeom prst="roundRect">
            <a:avLst>
              <a:gd name="adj" fmla="val 5767"/>
            </a:avLst>
          </a:prstGeom>
          <a:solidFill>
            <a:srgbClr val="0A1630">
              <a:alpha val="50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83305" y="2138035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3305" y="2138035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3857625" y="2123748"/>
            <a:ext cx="6800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初心与使命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3857625" y="2289483"/>
            <a:ext cx="64008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</a:t>
            </a:r>
            <a:endParaRPr lang="en-US" sz="450" dirty="0"/>
          </a:p>
        </p:txBody>
      </p:sp>
      <p:sp>
        <p:nvSpPr>
          <p:cNvPr id="28" name="Shape 26"/>
          <p:cNvSpPr/>
          <p:nvPr/>
        </p:nvSpPr>
        <p:spPr>
          <a:xfrm>
            <a:off x="3583305" y="2438073"/>
            <a:ext cx="22860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9" name="Text 27"/>
          <p:cNvSpPr/>
          <p:nvPr/>
        </p:nvSpPr>
        <p:spPr>
          <a:xfrm>
            <a:off x="3583305" y="2529513"/>
            <a:ext cx="1642805" cy="45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30" spc="23" kern="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以阅读为桥梁，传播开源文化，推动开发者共同进步。我们相信阅读的力量，更相信分享的价值。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3583305" y="3082617"/>
            <a:ext cx="34290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495" dirty="0"/>
          </a:p>
        </p:txBody>
      </p:sp>
      <p:sp>
        <p:nvSpPr>
          <p:cNvPr id="31" name="Shape 29"/>
          <p:cNvSpPr/>
          <p:nvPr/>
        </p:nvSpPr>
        <p:spPr>
          <a:xfrm>
            <a:off x="3909060" y="3119765"/>
            <a:ext cx="1003875" cy="5715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58655" y="3065472"/>
            <a:ext cx="1714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5198685" y="1963728"/>
            <a:ext cx="1769775" cy="1376065"/>
          </a:xfrm>
          <a:prstGeom prst="rect">
            <a:avLst/>
          </a:prstGeom>
          <a:noFill/>
          <a:ln/>
        </p:spPr>
      </p:sp>
      <p:sp>
        <p:nvSpPr>
          <p:cNvPr id="34" name="Shape 32"/>
          <p:cNvSpPr/>
          <p:nvPr/>
        </p:nvSpPr>
        <p:spPr>
          <a:xfrm>
            <a:off x="5198685" y="1963728"/>
            <a:ext cx="0" cy="1376065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52990" y="2138035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2990" y="2138035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5627310" y="2123748"/>
            <a:ext cx="5657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内容板块</a:t>
            </a:r>
            <a:endParaRPr lang="en-US" sz="855" dirty="0"/>
          </a:p>
        </p:txBody>
      </p:sp>
      <p:sp>
        <p:nvSpPr>
          <p:cNvPr id="38" name="Text 36"/>
          <p:cNvSpPr/>
          <p:nvPr/>
        </p:nvSpPr>
        <p:spPr>
          <a:xfrm>
            <a:off x="5627310" y="2289483"/>
            <a:ext cx="51435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SECTIONS</a:t>
            </a:r>
            <a:endParaRPr lang="en-US" sz="450" dirty="0"/>
          </a:p>
        </p:txBody>
      </p:sp>
      <p:sp>
        <p:nvSpPr>
          <p:cNvPr id="39" name="Shape 37"/>
          <p:cNvSpPr/>
          <p:nvPr/>
        </p:nvSpPr>
        <p:spPr>
          <a:xfrm>
            <a:off x="5352990" y="2438073"/>
            <a:ext cx="22860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0" name="Text 38"/>
          <p:cNvSpPr/>
          <p:nvPr/>
        </p:nvSpPr>
        <p:spPr>
          <a:xfrm>
            <a:off x="5352990" y="2529513"/>
            <a:ext cx="1642905" cy="45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30" spc="23" kern="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涵盖主题书单、嘉宾分享、社区互动与数据回顾四大板块，全面呈现本期读书会精彩内容。</a:t>
            </a:r>
            <a:endParaRPr lang="en-US" sz="630" dirty="0"/>
          </a:p>
        </p:txBody>
      </p:sp>
      <p:sp>
        <p:nvSpPr>
          <p:cNvPr id="41" name="Text 39"/>
          <p:cNvSpPr/>
          <p:nvPr/>
        </p:nvSpPr>
        <p:spPr>
          <a:xfrm>
            <a:off x="5352990" y="3082617"/>
            <a:ext cx="54292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495" dirty="0"/>
          </a:p>
        </p:txBody>
      </p:sp>
      <p:sp>
        <p:nvSpPr>
          <p:cNvPr id="42" name="Shape 40"/>
          <p:cNvSpPr/>
          <p:nvPr/>
        </p:nvSpPr>
        <p:spPr>
          <a:xfrm>
            <a:off x="5878770" y="3119765"/>
            <a:ext cx="803940" cy="5715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728430" y="3065472"/>
            <a:ext cx="1714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44" name="Shape 42"/>
          <p:cNvSpPr/>
          <p:nvPr/>
        </p:nvSpPr>
        <p:spPr>
          <a:xfrm>
            <a:off x="6968460" y="1963728"/>
            <a:ext cx="1769775" cy="1376065"/>
          </a:xfrm>
          <a:prstGeom prst="rect">
            <a:avLst/>
          </a:prstGeom>
          <a:noFill/>
          <a:ln/>
        </p:spPr>
      </p:sp>
      <p:sp>
        <p:nvSpPr>
          <p:cNvPr id="45" name="Shape 43"/>
          <p:cNvSpPr/>
          <p:nvPr/>
        </p:nvSpPr>
        <p:spPr>
          <a:xfrm>
            <a:off x="6968460" y="1963728"/>
            <a:ext cx="0" cy="1376065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22765" y="2138035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2700000" scaled="0"/>
          </a:gra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22765" y="2138035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48" name="Text 46"/>
          <p:cNvSpPr/>
          <p:nvPr/>
        </p:nvSpPr>
        <p:spPr>
          <a:xfrm>
            <a:off x="7397085" y="2123748"/>
            <a:ext cx="565785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参与方式</a:t>
            </a:r>
            <a:endParaRPr lang="en-US" sz="855" dirty="0"/>
          </a:p>
        </p:txBody>
      </p:sp>
      <p:sp>
        <p:nvSpPr>
          <p:cNvPr id="49" name="Text 47"/>
          <p:cNvSpPr/>
          <p:nvPr/>
        </p:nvSpPr>
        <p:spPr>
          <a:xfrm>
            <a:off x="7397085" y="2289483"/>
            <a:ext cx="514350" cy="685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50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US</a:t>
            </a:r>
            <a:endParaRPr lang="en-US" sz="450" dirty="0"/>
          </a:p>
        </p:txBody>
      </p:sp>
      <p:sp>
        <p:nvSpPr>
          <p:cNvPr id="50" name="Shape 48"/>
          <p:cNvSpPr/>
          <p:nvPr/>
        </p:nvSpPr>
        <p:spPr>
          <a:xfrm>
            <a:off x="7122765" y="2438073"/>
            <a:ext cx="228600" cy="1143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1" name="Text 49"/>
          <p:cNvSpPr/>
          <p:nvPr/>
        </p:nvSpPr>
        <p:spPr>
          <a:xfrm>
            <a:off x="7122765" y="2529513"/>
            <a:ext cx="1642905" cy="455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630" spc="23" kern="0" dirty="0">
                <a:solidFill>
                  <a:srgbClr val="90A4A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线上直播加录播回放，社区成员可全程参与讨论，随时随地加入这场知识盛宴。</a:t>
            </a:r>
            <a:endParaRPr lang="en-US" sz="630" dirty="0"/>
          </a:p>
        </p:txBody>
      </p:sp>
      <p:sp>
        <p:nvSpPr>
          <p:cNvPr id="52" name="Text 50"/>
          <p:cNvSpPr/>
          <p:nvPr/>
        </p:nvSpPr>
        <p:spPr>
          <a:xfrm>
            <a:off x="7122765" y="3082617"/>
            <a:ext cx="38862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495" dirty="0"/>
          </a:p>
        </p:txBody>
      </p:sp>
      <p:sp>
        <p:nvSpPr>
          <p:cNvPr id="53" name="Shape 51"/>
          <p:cNvSpPr/>
          <p:nvPr/>
        </p:nvSpPr>
        <p:spPr>
          <a:xfrm>
            <a:off x="7494240" y="3119765"/>
            <a:ext cx="958245" cy="5715"/>
          </a:xfrm>
          <a:prstGeom prst="rect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498205" y="3065472"/>
            <a:ext cx="171450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400050" y="4606290"/>
            <a:ext cx="8343900" cy="251460"/>
          </a:xfrm>
          <a:prstGeom prst="rect">
            <a:avLst/>
          </a:prstGeom>
          <a:noFill/>
          <a:ln/>
        </p:spPr>
      </p:sp>
      <p:sp>
        <p:nvSpPr>
          <p:cNvPr id="56" name="Shape 54"/>
          <p:cNvSpPr/>
          <p:nvPr/>
        </p:nvSpPr>
        <p:spPr>
          <a:xfrm>
            <a:off x="400050" y="4606290"/>
            <a:ext cx="8343900" cy="0"/>
          </a:xfrm>
          <a:prstGeom prst="line">
            <a:avLst/>
          </a:prstGeom>
          <a:noFill/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0050" y="4746308"/>
            <a:ext cx="41719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</a:t>
            </a:r>
            <a:endParaRPr lang="en-US" sz="495" dirty="0"/>
          </a:p>
        </p:txBody>
      </p:sp>
      <p:sp>
        <p:nvSpPr>
          <p:cNvPr id="58" name="Text 56"/>
          <p:cNvSpPr/>
          <p:nvPr/>
        </p:nvSpPr>
        <p:spPr>
          <a:xfrm>
            <a:off x="868680" y="4732020"/>
            <a:ext cx="394335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活动概览</a:t>
            </a:r>
            <a:endParaRPr lang="en-US" sz="585" dirty="0"/>
          </a:p>
        </p:txBody>
      </p:sp>
      <p:sp>
        <p:nvSpPr>
          <p:cNvPr id="59" name="Text 57"/>
          <p:cNvSpPr/>
          <p:nvPr/>
        </p:nvSpPr>
        <p:spPr>
          <a:xfrm>
            <a:off x="1303020" y="4746308"/>
            <a:ext cx="106871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495" dirty="0"/>
          </a:p>
        </p:txBody>
      </p:sp>
      <p:sp>
        <p:nvSpPr>
          <p:cNvPr id="60" name="Text 58"/>
          <p:cNvSpPr/>
          <p:nvPr/>
        </p:nvSpPr>
        <p:spPr>
          <a:xfrm>
            <a:off x="1451610" y="4746308"/>
            <a:ext cx="5086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TIME</a:t>
            </a:r>
            <a:endParaRPr lang="en-US" sz="495" dirty="0"/>
          </a:p>
        </p:txBody>
      </p:sp>
      <p:sp>
        <p:nvSpPr>
          <p:cNvPr id="61" name="Text 59"/>
          <p:cNvSpPr/>
          <p:nvPr/>
        </p:nvSpPr>
        <p:spPr>
          <a:xfrm>
            <a:off x="2011680" y="4740593"/>
            <a:ext cx="31432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MIN</a:t>
            </a:r>
            <a:endParaRPr lang="en-US" sz="585" dirty="0"/>
          </a:p>
        </p:txBody>
      </p:sp>
      <p:sp>
        <p:nvSpPr>
          <p:cNvPr id="62" name="Shape 60"/>
          <p:cNvSpPr/>
          <p:nvPr/>
        </p:nvSpPr>
        <p:spPr>
          <a:xfrm>
            <a:off x="6772275" y="4714875"/>
            <a:ext cx="462915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72275" y="4714875"/>
            <a:ext cx="531495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#2196F3</a:t>
            </a:r>
            <a:endParaRPr lang="en-US" sz="540" dirty="0"/>
          </a:p>
        </p:txBody>
      </p:sp>
      <p:sp>
        <p:nvSpPr>
          <p:cNvPr id="64" name="Text 62"/>
          <p:cNvSpPr/>
          <p:nvPr/>
        </p:nvSpPr>
        <p:spPr>
          <a:xfrm>
            <a:off x="7303770" y="4743450"/>
            <a:ext cx="12001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</a:t>
            </a:r>
            <a:endParaRPr lang="en-US" sz="540" dirty="0"/>
          </a:p>
        </p:txBody>
      </p:sp>
      <p:sp>
        <p:nvSpPr>
          <p:cNvPr id="65" name="Shape 63"/>
          <p:cNvSpPr/>
          <p:nvPr/>
        </p:nvSpPr>
        <p:spPr>
          <a:xfrm>
            <a:off x="7423785" y="4714875"/>
            <a:ext cx="497205" cy="142875"/>
          </a:xfrm>
          <a:prstGeom prst="roundRect">
            <a:avLst>
              <a:gd name="adj" fmla="val 16000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23785" y="4714875"/>
            <a:ext cx="565785" cy="142875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540" b="1" spc="45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#00BCD4</a:t>
            </a:r>
            <a:endParaRPr lang="en-US" sz="540" dirty="0"/>
          </a:p>
        </p:txBody>
      </p:sp>
      <p:sp>
        <p:nvSpPr>
          <p:cNvPr id="67" name="Text 65"/>
          <p:cNvSpPr/>
          <p:nvPr/>
        </p:nvSpPr>
        <p:spPr>
          <a:xfrm>
            <a:off x="7989570" y="4743450"/>
            <a:ext cx="116586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540" dirty="0"/>
          </a:p>
        </p:txBody>
      </p:sp>
      <p:sp>
        <p:nvSpPr>
          <p:cNvPr id="68" name="Text 66"/>
          <p:cNvSpPr/>
          <p:nvPr/>
        </p:nvSpPr>
        <p:spPr>
          <a:xfrm>
            <a:off x="8086725" y="4743450"/>
            <a:ext cx="736092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BLUE TECH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114800" y="-205740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2286000" y="15430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25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-457200" y="-342900"/>
            <a:ext cx="2057400" cy="2057400"/>
          </a:xfrm>
          <a:prstGeom prst="ellipse">
            <a:avLst/>
          </a:prstGeom>
          <a:solidFill>
            <a:srgbClr val="2196F3">
              <a:alpha val="35000"/>
            </a:srgbClr>
          </a:solidFill>
          <a:ln/>
          <a:effectLst>
            <a:outerShdw sx="100000" sy="100000" kx="0" ky="0" algn="bl" rotWithShape="0" blurRad="457200" dist="50800" dir="16200000">
              <a:srgbClr val="2196F3">
                <a:alpha val="6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0" y="3429000"/>
            <a:ext cx="2400300" cy="2400300"/>
          </a:xfrm>
          <a:prstGeom prst="ellipse">
            <a:avLst/>
          </a:prstGeom>
          <a:solidFill>
            <a:srgbClr val="00BCD4">
              <a:alpha val="35000"/>
            </a:srgbClr>
          </a:solidFill>
          <a:ln/>
          <a:effectLst>
            <a:outerShdw sx="100000" sy="100000" kx="0" ky="0" algn="bl" rotWithShape="0" blurRad="457200" dist="50800" dir="16200000">
              <a:srgbClr val="00BCD4">
                <a:alpha val="6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2900" y="351473"/>
            <a:ext cx="24003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662940" y="308610"/>
            <a:ext cx="277154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27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 · READING · MISSION</a:t>
            </a:r>
            <a:endParaRPr lang="en-US" sz="630" dirty="0"/>
          </a:p>
        </p:txBody>
      </p:sp>
      <p:sp>
        <p:nvSpPr>
          <p:cNvPr id="9" name="Shape 7"/>
          <p:cNvSpPr/>
          <p:nvPr/>
        </p:nvSpPr>
        <p:spPr>
          <a:xfrm>
            <a:off x="7778115" y="590877"/>
            <a:ext cx="1022985" cy="211455"/>
          </a:xfrm>
          <a:prstGeom prst="roundRect">
            <a:avLst>
              <a:gd name="adj" fmla="val 54054"/>
            </a:avLst>
          </a:prstGeom>
          <a:noFill/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8115" y="590877"/>
            <a:ext cx="1145743" cy="211455"/>
          </a:xfrm>
          <a:prstGeom prst="rect">
            <a:avLst/>
          </a:prstGeom>
          <a:noFill/>
          <a:ln/>
        </p:spPr>
        <p:txBody>
          <a:bodyPr wrap="none" lIns="45720" tIns="80010" rIns="80010" bIns="45720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 · 初心宣言</a:t>
            </a:r>
            <a:endParaRPr lang="en-US" sz="585" dirty="0"/>
          </a:p>
        </p:txBody>
      </p:sp>
      <p:sp>
        <p:nvSpPr>
          <p:cNvPr id="11" name="Shape 9"/>
          <p:cNvSpPr/>
          <p:nvPr/>
        </p:nvSpPr>
        <p:spPr>
          <a:xfrm>
            <a:off x="342900" y="939492"/>
            <a:ext cx="7886700" cy="250031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342900" y="939492"/>
            <a:ext cx="0" cy="250031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" y="939492"/>
            <a:ext cx="8833104" cy="250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开源之道社区一直坚持让更多人通过</a:t>
            </a:r>
            <a:pPr algn="l" indent="0" marL="0">
              <a:lnSpc>
                <a:spcPct val="185000"/>
              </a:lnSpc>
              <a:buNone/>
            </a:pPr>
            <a:r>
              <a:rPr lang="en-US" sz="675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</a:t>
            </a:r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理解开源、走近开源、最终参与开源。</a:t>
            </a:r>
            <a:pPr algn="l" indent="0" marL="0">
              <a:lnSpc>
                <a:spcPct val="185000"/>
              </a:lnSpc>
              <a:buNone/>
            </a:pPr>
            <a:r>
              <a:rPr lang="en-US" sz="67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技术文档与优秀书籍</a:t>
            </a:r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是最平等的内容形式——</a:t>
            </a:r>
            <a:pPr algn="l" indent="0" marL="0">
              <a:lnSpc>
                <a:spcPct val="185000"/>
              </a:lnSpc>
              <a:buNone/>
            </a:pPr>
            <a:r>
              <a:rPr lang="en-US" sz="675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不受职级限制、不受地域约束</a:t>
            </a:r>
            <a:pPr algn="l" indent="0" marL="0">
              <a:lnSpc>
                <a:spcPct val="185000"/>
              </a:lnSpc>
              <a:buNone/>
            </a:pPr>
            <a:r>
              <a:rPr lang="en-US" sz="675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，每个人都能在同一片知识的星空下相遇。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342900" y="1315254"/>
            <a:ext cx="4652010" cy="732681"/>
          </a:xfrm>
          <a:prstGeom prst="roundRect">
            <a:avLst>
              <a:gd name="adj" fmla="val 10920"/>
            </a:avLst>
          </a:prstGeom>
          <a:gradFill rotWithShape="1">
            <a:gsLst>
              <a:gs pos="0">
                <a:srgbClr val="141A27"/>
              </a:gs>
              <a:gs pos="100000">
                <a:srgbClr val="0F1521"/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" y="1315254"/>
            <a:ext cx="22860" cy="72125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6" name="Shape 14"/>
          <p:cNvSpPr/>
          <p:nvPr/>
        </p:nvSpPr>
        <p:spPr>
          <a:xfrm>
            <a:off x="474345" y="1527244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7150" dir="16200000">
              <a:srgbClr val="2196F3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345" y="1527244"/>
            <a:ext cx="43434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90" dirty="0"/>
          </a:p>
        </p:txBody>
      </p:sp>
      <p:sp>
        <p:nvSpPr>
          <p:cNvPr id="18" name="Text 16"/>
          <p:cNvSpPr/>
          <p:nvPr/>
        </p:nvSpPr>
        <p:spPr>
          <a:xfrm>
            <a:off x="897255" y="1525548"/>
            <a:ext cx="444215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2196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知识自由流动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7255" y="1714143"/>
            <a:ext cx="4442155" cy="1234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开源不仅仅是代码共享，更是一种开放获取知识的文化理念。</a:t>
            </a:r>
            <a:endParaRPr lang="en-US" sz="608" dirty="0"/>
          </a:p>
        </p:txBody>
      </p:sp>
      <p:sp>
        <p:nvSpPr>
          <p:cNvPr id="20" name="Shape 18"/>
          <p:cNvSpPr/>
          <p:nvPr/>
        </p:nvSpPr>
        <p:spPr>
          <a:xfrm>
            <a:off x="342900" y="2127945"/>
            <a:ext cx="4652010" cy="732770"/>
          </a:xfrm>
          <a:prstGeom prst="roundRect">
            <a:avLst>
              <a:gd name="adj" fmla="val 10919"/>
            </a:avLst>
          </a:prstGeom>
          <a:gradFill rotWithShape="1">
            <a:gsLst>
              <a:gs pos="0">
                <a:srgbClr val="141A27"/>
              </a:gs>
              <a:gs pos="100000">
                <a:srgbClr val="0F1521"/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38100" dir="162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" y="2127945"/>
            <a:ext cx="22860" cy="721342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2" name="Shape 20"/>
          <p:cNvSpPr/>
          <p:nvPr/>
        </p:nvSpPr>
        <p:spPr>
          <a:xfrm>
            <a:off x="474345" y="2340025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7150" dir="16200000">
              <a:srgbClr val="2196F3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4345" y="2340025"/>
            <a:ext cx="43434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897255" y="2338328"/>
            <a:ext cx="444215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2196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社区共建成长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7255" y="2526923"/>
            <a:ext cx="4442155" cy="1234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通过共读与讨论，让个人经验转化为社区集体智慧。</a:t>
            </a:r>
            <a:endParaRPr lang="en-US" sz="608" dirty="0"/>
          </a:p>
        </p:txBody>
      </p:sp>
      <p:sp>
        <p:nvSpPr>
          <p:cNvPr id="26" name="Shape 24"/>
          <p:cNvSpPr/>
          <p:nvPr/>
        </p:nvSpPr>
        <p:spPr>
          <a:xfrm>
            <a:off x="342900" y="2940725"/>
            <a:ext cx="4652010" cy="732770"/>
          </a:xfrm>
          <a:prstGeom prst="roundRect">
            <a:avLst>
              <a:gd name="adj" fmla="val 10919"/>
            </a:avLst>
          </a:prstGeom>
          <a:gradFill rotWithShape="1">
            <a:gsLst>
              <a:gs pos="0">
                <a:srgbClr val="141A27"/>
              </a:gs>
              <a:gs pos="100000">
                <a:srgbClr val="0F1521"/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38100" dir="162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2900" y="2940725"/>
            <a:ext cx="22860" cy="721342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28" name="Shape 26"/>
          <p:cNvSpPr/>
          <p:nvPr/>
        </p:nvSpPr>
        <p:spPr>
          <a:xfrm>
            <a:off x="474345" y="3152805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7150" dir="16200000">
              <a:srgbClr val="2196F3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4345" y="3152805"/>
            <a:ext cx="43434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90" dirty="0"/>
          </a:p>
        </p:txBody>
      </p:sp>
      <p:sp>
        <p:nvSpPr>
          <p:cNvPr id="30" name="Text 28"/>
          <p:cNvSpPr/>
          <p:nvPr/>
        </p:nvSpPr>
        <p:spPr>
          <a:xfrm>
            <a:off x="897255" y="3151108"/>
            <a:ext cx="444215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2196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打破信息壁垒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97255" y="3339703"/>
            <a:ext cx="4442155" cy="1234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以阅读消除技术鸿沟，让不同背景的开发者拥有共同语言。</a:t>
            </a:r>
            <a:endParaRPr lang="en-US" sz="608" dirty="0"/>
          </a:p>
        </p:txBody>
      </p:sp>
      <p:sp>
        <p:nvSpPr>
          <p:cNvPr id="32" name="Shape 30"/>
          <p:cNvSpPr/>
          <p:nvPr/>
        </p:nvSpPr>
        <p:spPr>
          <a:xfrm>
            <a:off x="342900" y="3753505"/>
            <a:ext cx="4652010" cy="732770"/>
          </a:xfrm>
          <a:prstGeom prst="roundRect">
            <a:avLst>
              <a:gd name="adj" fmla="val 10919"/>
            </a:avLst>
          </a:prstGeom>
          <a:gradFill rotWithShape="1">
            <a:gsLst>
              <a:gs pos="0">
                <a:srgbClr val="141A27"/>
              </a:gs>
              <a:gs pos="100000">
                <a:srgbClr val="0F1521"/>
              </a:gs>
            </a:gsLst>
            <a:lin ang="27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  <a:effectLst>
            <a:outerShdw sx="100000" sy="100000" kx="0" ky="0" algn="bl" rotWithShape="0" blurRad="228600" dist="38100" dir="162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" y="3753505"/>
            <a:ext cx="22860" cy="721342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34" name="Shape 32"/>
          <p:cNvSpPr/>
          <p:nvPr/>
        </p:nvSpPr>
        <p:spPr>
          <a:xfrm>
            <a:off x="474345" y="3965585"/>
            <a:ext cx="308610" cy="30861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7150" dir="16200000">
              <a:srgbClr val="2196F3">
                <a:alpha val="4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4345" y="3965585"/>
            <a:ext cx="434340" cy="3086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90" dirty="0"/>
          </a:p>
        </p:txBody>
      </p:sp>
      <p:sp>
        <p:nvSpPr>
          <p:cNvPr id="36" name="Text 34"/>
          <p:cNvSpPr/>
          <p:nvPr/>
        </p:nvSpPr>
        <p:spPr>
          <a:xfrm>
            <a:off x="897255" y="3963888"/>
            <a:ext cx="444215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2196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布道与传承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97255" y="4152483"/>
            <a:ext cx="4442155" cy="1234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608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开源精神的延续需要一代代人的言传身教，阅读是最温和的方式。</a:t>
            </a:r>
            <a:endParaRPr lang="en-US" sz="608" dirty="0"/>
          </a:p>
        </p:txBody>
      </p:sp>
      <p:sp>
        <p:nvSpPr>
          <p:cNvPr id="38" name="Shape 36"/>
          <p:cNvSpPr/>
          <p:nvPr/>
        </p:nvSpPr>
        <p:spPr>
          <a:xfrm>
            <a:off x="5154930" y="1315254"/>
            <a:ext cx="3646170" cy="3171021"/>
          </a:xfrm>
          <a:prstGeom prst="roundRect">
            <a:avLst>
              <a:gd name="adj" fmla="val 2523"/>
            </a:avLst>
          </a:prstGeom>
          <a:gradFill rotWithShape="1">
            <a:gsLst>
              <a:gs pos="0">
                <a:srgbClr val="0E1320"/>
              </a:gs>
              <a:gs pos="100000">
                <a:srgbClr val="0A0E18"/>
              </a:gs>
            </a:gsLst>
            <a:lin ang="420000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63515" y="1423839"/>
            <a:ext cx="38404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· SHARE · GROW</a:t>
            </a:r>
            <a:endParaRPr lang="en-US" sz="540" dirty="0"/>
          </a:p>
        </p:txBody>
      </p:sp>
      <p:sp>
        <p:nvSpPr>
          <p:cNvPr id="40" name="Text 38"/>
          <p:cNvSpPr/>
          <p:nvPr/>
        </p:nvSpPr>
        <p:spPr>
          <a:xfrm>
            <a:off x="5263515" y="1532424"/>
            <a:ext cx="3840480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翻开书页 · 看见开源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5263515" y="1715304"/>
            <a:ext cx="3840480" cy="1096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54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以几何书页隐喻开源阅读——每翻一页，都是思想的一次自由延展。</a:t>
            </a:r>
            <a:endParaRPr lang="en-US" sz="54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63515" y="1870680"/>
            <a:ext cx="3429000" cy="2143125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5263515" y="4059525"/>
            <a:ext cx="1104870" cy="331470"/>
          </a:xfrm>
          <a:prstGeom prst="roundRect">
            <a:avLst>
              <a:gd name="adj" fmla="val 1724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303520" y="4110960"/>
            <a:ext cx="1147843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300+</a:t>
            </a:r>
            <a:endParaRPr lang="en-US" sz="855" dirty="0"/>
          </a:p>
        </p:txBody>
      </p:sp>
      <p:sp>
        <p:nvSpPr>
          <p:cNvPr id="45" name="Text 42"/>
          <p:cNvSpPr/>
          <p:nvPr/>
        </p:nvSpPr>
        <p:spPr>
          <a:xfrm>
            <a:off x="5303520" y="4253835"/>
            <a:ext cx="11478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共读书目</a:t>
            </a:r>
            <a:endParaRPr lang="en-US" sz="473" dirty="0"/>
          </a:p>
        </p:txBody>
      </p:sp>
      <p:sp>
        <p:nvSpPr>
          <p:cNvPr id="46" name="Shape 43"/>
          <p:cNvSpPr/>
          <p:nvPr/>
        </p:nvSpPr>
        <p:spPr>
          <a:xfrm>
            <a:off x="6425535" y="4059525"/>
            <a:ext cx="1104870" cy="331470"/>
          </a:xfrm>
          <a:prstGeom prst="roundRect">
            <a:avLst>
              <a:gd name="adj" fmla="val 1724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65540" y="4110960"/>
            <a:ext cx="1147843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10K+</a:t>
            </a:r>
            <a:endParaRPr lang="en-US" sz="855" dirty="0"/>
          </a:p>
        </p:txBody>
      </p:sp>
      <p:sp>
        <p:nvSpPr>
          <p:cNvPr id="48" name="Text 45"/>
          <p:cNvSpPr/>
          <p:nvPr/>
        </p:nvSpPr>
        <p:spPr>
          <a:xfrm>
            <a:off x="6465540" y="4253835"/>
            <a:ext cx="11478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社区读者</a:t>
            </a:r>
            <a:endParaRPr lang="en-US" sz="473" dirty="0"/>
          </a:p>
        </p:txBody>
      </p:sp>
      <p:sp>
        <p:nvSpPr>
          <p:cNvPr id="49" name="Shape 46"/>
          <p:cNvSpPr/>
          <p:nvPr/>
        </p:nvSpPr>
        <p:spPr>
          <a:xfrm>
            <a:off x="7587555" y="4059525"/>
            <a:ext cx="1104870" cy="331470"/>
          </a:xfrm>
          <a:prstGeom prst="roundRect">
            <a:avLst>
              <a:gd name="adj" fmla="val 17241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627560" y="4110960"/>
            <a:ext cx="1147843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b="1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∞</a:t>
            </a:r>
            <a:endParaRPr lang="en-US" sz="855" dirty="0"/>
          </a:p>
        </p:txBody>
      </p:sp>
      <p:sp>
        <p:nvSpPr>
          <p:cNvPr id="51" name="Text 48"/>
          <p:cNvSpPr/>
          <p:nvPr/>
        </p:nvSpPr>
        <p:spPr>
          <a:xfrm>
            <a:off x="7627560" y="4253835"/>
            <a:ext cx="114784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73" spc="4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知识流动</a:t>
            </a:r>
            <a:endParaRPr lang="en-US" sz="473" dirty="0"/>
          </a:p>
        </p:txBody>
      </p:sp>
      <p:sp>
        <p:nvSpPr>
          <p:cNvPr id="52" name="Shape 49"/>
          <p:cNvSpPr/>
          <p:nvPr/>
        </p:nvSpPr>
        <p:spPr>
          <a:xfrm>
            <a:off x="342900" y="4577715"/>
            <a:ext cx="8458200" cy="337185"/>
          </a:xfrm>
          <a:prstGeom prst="roundRect">
            <a:avLst>
              <a:gd name="adj" fmla="val 20339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 w="5715">
            <a:solidFill>
              <a:srgbClr val="2196F3">
                <a:alpha val="2800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2915" y="4663440"/>
            <a:ext cx="3657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60095" y="4663440"/>
            <a:ext cx="24003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931545" y="4663440"/>
            <a:ext cx="3657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开放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228725" y="4663440"/>
            <a:ext cx="24003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2196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400175" y="4663440"/>
            <a:ext cx="365760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共享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771650" y="4703445"/>
            <a:ext cx="1145743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B0BE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 开源之道核心价值观</a:t>
            </a:r>
            <a:endParaRPr lang="en-US" sz="630" dirty="0"/>
          </a:p>
        </p:txBody>
      </p:sp>
      <p:sp>
        <p:nvSpPr>
          <p:cNvPr id="59" name="Shape 56"/>
          <p:cNvSpPr/>
          <p:nvPr/>
        </p:nvSpPr>
        <p:spPr>
          <a:xfrm>
            <a:off x="6452235" y="472916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6555105" y="4706303"/>
            <a:ext cx="144018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35" kern="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OPENDOOR · READING FIRST</a:t>
            </a:r>
            <a:endParaRPr lang="en-US" sz="495" dirty="0"/>
          </a:p>
        </p:txBody>
      </p:sp>
      <p:sp>
        <p:nvSpPr>
          <p:cNvPr id="61" name="Text 58"/>
          <p:cNvSpPr/>
          <p:nvPr/>
        </p:nvSpPr>
        <p:spPr>
          <a:xfrm>
            <a:off x="7909560" y="4692015"/>
            <a:ext cx="864108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90" kern="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初心不改，阅读不止</a:t>
            </a:r>
            <a:endParaRPr lang="en-US" sz="5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389120" y="-3600450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5029200" y="2828925"/>
            <a:ext cx="10058400" cy="5657850"/>
          </a:xfrm>
          <a:prstGeom prst="ellipse">
            <a:avLst/>
          </a:prstGeom>
          <a:gradFill rotWithShape="1">
            <a:gsLst>
              <a:gs pos="0">
                <a:srgbClr val="00BCD4">
                  <a:alpha val="64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10287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0" y="20574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0" y="30861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457200" y="800100"/>
            <a:ext cx="22860" cy="2286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0" y="1485900"/>
            <a:ext cx="22860" cy="2286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" y="4457700"/>
            <a:ext cx="22860" cy="2286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515350" y="3886200"/>
            <a:ext cx="22860" cy="22860"/>
          </a:xfrm>
          <a:prstGeom prst="ellipse">
            <a:avLst/>
          </a:prstGeom>
          <a:solidFill>
            <a:srgbClr val="00BCD4">
              <a:alpha val="50000"/>
            </a:srgbClr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20040"/>
            <a:ext cx="2971800" cy="4503420"/>
          </a:xfrm>
          <a:prstGeom prst="rect">
            <a:avLst/>
          </a:prstGeom>
          <a:noFill/>
          <a:ln/>
        </p:spPr>
      </p:sp>
      <p:sp>
        <p:nvSpPr>
          <p:cNvPr id="13" name="Shape 11"/>
          <p:cNvSpPr/>
          <p:nvPr/>
        </p:nvSpPr>
        <p:spPr>
          <a:xfrm>
            <a:off x="3337560" y="320040"/>
            <a:ext cx="0" cy="4503420"/>
          </a:xfrm>
          <a:prstGeom prst="lin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0045" y="320040"/>
            <a:ext cx="17145" cy="40005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14300" dist="50800" dir="16200000">
              <a:srgbClr val="2196F3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7188"/>
            <a:ext cx="205740" cy="11430"/>
          </a:xfrm>
          <a:prstGeom prst="rect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650" y="320040"/>
            <a:ext cx="868509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5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· READING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365760" y="508635"/>
            <a:ext cx="3117190" cy="578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80" b="1" spc="40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五月</a:t>
            </a:r>
            <a:pPr algn="l" indent="0" marL="0">
              <a:lnSpc>
                <a:spcPct val="115000"/>
              </a:lnSpc>
              <a:buNone/>
            </a:pPr>
            <a:endParaRPr lang="en-US" sz="19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80" b="1" spc="4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推荐书单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365760" y="1132642"/>
            <a:ext cx="850606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7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· 2025.05</a:t>
            </a:r>
            <a:endParaRPr lang="en-US" sz="585" dirty="0"/>
          </a:p>
        </p:txBody>
      </p:sp>
      <p:sp>
        <p:nvSpPr>
          <p:cNvPr id="19" name="Shape 17"/>
          <p:cNvSpPr/>
          <p:nvPr/>
        </p:nvSpPr>
        <p:spPr>
          <a:xfrm>
            <a:off x="1205240" y="1175504"/>
            <a:ext cx="1943725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365760" y="1384102"/>
            <a:ext cx="2783205" cy="688300"/>
          </a:xfrm>
          <a:prstGeom prst="rect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3000"/>
                </a:srgbClr>
              </a:gs>
            </a:gsLst>
            <a:lin ang="27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365760" y="1384102"/>
            <a:ext cx="0" cy="688300"/>
          </a:xfrm>
          <a:prstGeom prst="line">
            <a:avLst/>
          </a:prstGeom>
          <a:noFill/>
          <a:ln w="1143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384102"/>
            <a:ext cx="3117190" cy="688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本期我们精选了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五本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系统底层、语言进阶、工程协作与算法基础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的优质书目，既有面向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资深开发者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的深潜之作，也有适合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新手入门</a:t>
            </a:r>
            <a:pPr algn="l" indent="0" marL="0">
              <a:lnSpc>
                <a:spcPct val="185000"/>
              </a:lnSpc>
              <a:buNone/>
            </a:pPr>
            <a:r>
              <a:rPr lang="en-US" sz="653" spc="7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的友好读物，满足不同层次学习者的需求。</a:t>
            </a:r>
            <a:endParaRPr lang="en-US" sz="653" dirty="0"/>
          </a:p>
        </p:txBody>
      </p:sp>
      <p:sp>
        <p:nvSpPr>
          <p:cNvPr id="23" name="Shape 21"/>
          <p:cNvSpPr/>
          <p:nvPr/>
        </p:nvSpPr>
        <p:spPr>
          <a:xfrm>
            <a:off x="365760" y="2232422"/>
            <a:ext cx="433447" cy="171450"/>
          </a:xfrm>
          <a:prstGeom prst="roundRect">
            <a:avLst>
              <a:gd name="adj" fmla="val 66667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232422"/>
            <a:ext cx="499170" cy="171450"/>
          </a:xfrm>
          <a:prstGeom prst="rect">
            <a:avLst/>
          </a:prstGeom>
          <a:noFill/>
          <a:ln/>
        </p:spPr>
        <p:txBody>
          <a:bodyPr wrap="none" lIns="34290" tIns="68580" rIns="68580" bIns="34290" rtlCol="0" anchor="ctr"/>
          <a:lstStyle/>
          <a:p>
            <a:pPr algn="l" indent="0" marL="0">
              <a:buNone/>
            </a:pPr>
            <a:r>
              <a:rPr lang="en-US" sz="518" spc="21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系统底层</a:t>
            </a:r>
            <a:endParaRPr lang="en-US" sz="518" dirty="0"/>
          </a:p>
        </p:txBody>
      </p:sp>
      <p:sp>
        <p:nvSpPr>
          <p:cNvPr id="25" name="Shape 23"/>
          <p:cNvSpPr/>
          <p:nvPr/>
        </p:nvSpPr>
        <p:spPr>
          <a:xfrm>
            <a:off x="844927" y="2232422"/>
            <a:ext cx="433447" cy="171450"/>
          </a:xfrm>
          <a:prstGeom prst="roundRect">
            <a:avLst>
              <a:gd name="adj" fmla="val 66667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27" y="2232422"/>
            <a:ext cx="499170" cy="171450"/>
          </a:xfrm>
          <a:prstGeom prst="rect">
            <a:avLst/>
          </a:prstGeom>
          <a:noFill/>
          <a:ln/>
        </p:spPr>
        <p:txBody>
          <a:bodyPr wrap="none" lIns="34290" tIns="68580" rIns="68580" bIns="34290" rtlCol="0" anchor="ctr"/>
          <a:lstStyle/>
          <a:p>
            <a:pPr algn="l" indent="0" marL="0">
              <a:buNone/>
            </a:pPr>
            <a:r>
              <a:rPr lang="en-US" sz="518" spc="21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语言进阶</a:t>
            </a:r>
            <a:endParaRPr lang="en-US" sz="518" dirty="0"/>
          </a:p>
        </p:txBody>
      </p:sp>
      <p:sp>
        <p:nvSpPr>
          <p:cNvPr id="27" name="Shape 25"/>
          <p:cNvSpPr/>
          <p:nvPr/>
        </p:nvSpPr>
        <p:spPr>
          <a:xfrm>
            <a:off x="1324094" y="2232422"/>
            <a:ext cx="433447" cy="171450"/>
          </a:xfrm>
          <a:prstGeom prst="roundRect">
            <a:avLst>
              <a:gd name="adj" fmla="val 66667"/>
            </a:avLst>
          </a:prstGeom>
          <a:solidFill>
            <a:srgbClr val="00BCD4">
              <a:alpha val="10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4094" y="2232422"/>
            <a:ext cx="499170" cy="171450"/>
          </a:xfrm>
          <a:prstGeom prst="rect">
            <a:avLst/>
          </a:prstGeom>
          <a:noFill/>
          <a:ln/>
        </p:spPr>
        <p:txBody>
          <a:bodyPr wrap="none" lIns="34290" tIns="68580" rIns="68580" bIns="34290" rtlCol="0" anchor="ctr"/>
          <a:lstStyle/>
          <a:p>
            <a:pPr algn="l" indent="0" marL="0">
              <a:buNone/>
            </a:pPr>
            <a:r>
              <a:rPr lang="en-US" sz="518" spc="21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工程协作</a:t>
            </a:r>
            <a:endParaRPr lang="en-US" sz="518" dirty="0"/>
          </a:p>
        </p:txBody>
      </p:sp>
      <p:sp>
        <p:nvSpPr>
          <p:cNvPr id="29" name="Shape 27"/>
          <p:cNvSpPr/>
          <p:nvPr/>
        </p:nvSpPr>
        <p:spPr>
          <a:xfrm>
            <a:off x="1803261" y="2232422"/>
            <a:ext cx="362277" cy="171450"/>
          </a:xfrm>
          <a:prstGeom prst="roundRect">
            <a:avLst>
              <a:gd name="adj" fmla="val 66667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03261" y="2232422"/>
            <a:ext cx="428000" cy="171450"/>
          </a:xfrm>
          <a:prstGeom prst="rect">
            <a:avLst/>
          </a:prstGeom>
          <a:noFill/>
          <a:ln/>
        </p:spPr>
        <p:txBody>
          <a:bodyPr wrap="none" lIns="34290" tIns="68580" rIns="68580" bIns="34290" rtlCol="0" anchor="ctr"/>
          <a:lstStyle/>
          <a:p>
            <a:pPr algn="l" indent="0" marL="0">
              <a:buNone/>
            </a:pPr>
            <a:r>
              <a:rPr lang="en-US" sz="518" spc="21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</a:t>
            </a:r>
            <a:endParaRPr lang="en-US" sz="518" dirty="0"/>
          </a:p>
        </p:txBody>
      </p:sp>
      <p:sp>
        <p:nvSpPr>
          <p:cNvPr id="31" name="Shape 29"/>
          <p:cNvSpPr/>
          <p:nvPr/>
        </p:nvSpPr>
        <p:spPr>
          <a:xfrm>
            <a:off x="2211259" y="2232422"/>
            <a:ext cx="433447" cy="171450"/>
          </a:xfrm>
          <a:prstGeom prst="roundRect">
            <a:avLst>
              <a:gd name="adj" fmla="val 66667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11259" y="2232422"/>
            <a:ext cx="499170" cy="171450"/>
          </a:xfrm>
          <a:prstGeom prst="rect">
            <a:avLst/>
          </a:prstGeom>
          <a:noFill/>
          <a:ln/>
        </p:spPr>
        <p:txBody>
          <a:bodyPr wrap="none" lIns="34290" tIns="68580" rIns="68580" bIns="34290" rtlCol="0" anchor="ctr"/>
          <a:lstStyle/>
          <a:p>
            <a:pPr algn="l" indent="0" marL="0">
              <a:buNone/>
            </a:pPr>
            <a:r>
              <a:rPr lang="en-US" sz="518" spc="21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算法基础</a:t>
            </a:r>
            <a:endParaRPr lang="en-US" sz="518" dirty="0"/>
          </a:p>
        </p:txBody>
      </p:sp>
      <p:sp>
        <p:nvSpPr>
          <p:cNvPr id="33" name="Shape 31"/>
          <p:cNvSpPr/>
          <p:nvPr/>
        </p:nvSpPr>
        <p:spPr>
          <a:xfrm>
            <a:off x="365760" y="3853071"/>
            <a:ext cx="2783205" cy="970389"/>
          </a:xfrm>
          <a:prstGeom prst="roundRect">
            <a:avLst>
              <a:gd name="adj" fmla="val 7067"/>
            </a:avLst>
          </a:prstGeom>
          <a:gradFill rotWithShape="1">
            <a:gsLst>
              <a:gs pos="0">
                <a:srgbClr val="2196F3">
                  <a:alpha val="12000"/>
                </a:srgbClr>
              </a:gs>
              <a:gs pos="100000">
                <a:srgbClr val="00BCD4">
                  <a:alpha val="6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0335" y="3624471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5" name="Text 33"/>
          <p:cNvSpPr/>
          <p:nvPr/>
        </p:nvSpPr>
        <p:spPr>
          <a:xfrm>
            <a:off x="508635" y="3984516"/>
            <a:ext cx="1027728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109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BESTSELLER · COUNT</a:t>
            </a:r>
            <a:endParaRPr lang="en-US" sz="495" dirty="0"/>
          </a:p>
        </p:txBody>
      </p:sp>
      <p:sp>
        <p:nvSpPr>
          <p:cNvPr id="36" name="Text 34"/>
          <p:cNvSpPr/>
          <p:nvPr/>
        </p:nvSpPr>
        <p:spPr>
          <a:xfrm>
            <a:off x="508635" y="4371975"/>
            <a:ext cx="279715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22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涵盖系统 / 语言 / 协作 / 云原生 / 算法</a:t>
            </a:r>
            <a:endParaRPr lang="en-US" sz="540" dirty="0"/>
          </a:p>
        </p:txBody>
      </p:sp>
      <p:sp>
        <p:nvSpPr>
          <p:cNvPr id="37" name="Shape 35"/>
          <p:cNvSpPr/>
          <p:nvPr/>
        </p:nvSpPr>
        <p:spPr>
          <a:xfrm>
            <a:off x="508635" y="4537710"/>
            <a:ext cx="2497455" cy="154305"/>
          </a:xfrm>
          <a:prstGeom prst="rect">
            <a:avLst/>
          </a:prstGeom>
          <a:noFill/>
          <a:ln/>
        </p:spPr>
      </p:sp>
      <p:sp>
        <p:nvSpPr>
          <p:cNvPr id="38" name="Shape 36"/>
          <p:cNvSpPr/>
          <p:nvPr/>
        </p:nvSpPr>
        <p:spPr>
          <a:xfrm>
            <a:off x="508635" y="4537710"/>
            <a:ext cx="2497455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508635" y="4612005"/>
            <a:ext cx="52533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3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· MAY</a:t>
            </a:r>
            <a:endParaRPr lang="en-US" sz="495" dirty="0"/>
          </a:p>
        </p:txBody>
      </p:sp>
      <p:sp>
        <p:nvSpPr>
          <p:cNvPr id="40" name="Text 38"/>
          <p:cNvSpPr/>
          <p:nvPr/>
        </p:nvSpPr>
        <p:spPr>
          <a:xfrm>
            <a:off x="2532191" y="4612005"/>
            <a:ext cx="53676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30" kern="0" dirty="0">
                <a:solidFill>
                  <a:srgbClr val="607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</a:t>
            </a:r>
            <a:endParaRPr lang="en-US" sz="495" dirty="0"/>
          </a:p>
        </p:txBody>
      </p:sp>
      <p:sp>
        <p:nvSpPr>
          <p:cNvPr id="41" name="Shape 39"/>
          <p:cNvSpPr/>
          <p:nvPr/>
        </p:nvSpPr>
        <p:spPr>
          <a:xfrm>
            <a:off x="3611880" y="320040"/>
            <a:ext cx="5166360" cy="222885"/>
          </a:xfrm>
          <a:prstGeom prst="rect">
            <a:avLst/>
          </a:prstGeom>
          <a:noFill/>
          <a:ln/>
        </p:spPr>
      </p:sp>
      <p:sp>
        <p:nvSpPr>
          <p:cNvPr id="42" name="Shape 40"/>
          <p:cNvSpPr/>
          <p:nvPr/>
        </p:nvSpPr>
        <p:spPr>
          <a:xfrm>
            <a:off x="3611880" y="542925"/>
            <a:ext cx="5166360" cy="0"/>
          </a:xfrm>
          <a:prstGeom prst="lin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337185"/>
            <a:ext cx="673031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4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本期推荐书目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7575947" y="348615"/>
            <a:ext cx="1346568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8" spc="52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pPr algn="l" indent="0" marL="0">
              <a:buNone/>
            </a:pPr>
            <a:r>
              <a:rPr lang="en-US" sz="518" b="1" spc="52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TITLES</a:t>
            </a:r>
            <a:pPr algn="l" indent="0" marL="0">
              <a:buNone/>
            </a:pPr>
            <a:r>
              <a:rPr lang="en-US" sz="518" spc="52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SELECTED READING</a:t>
            </a:r>
            <a:endParaRPr lang="en-US" sz="518" dirty="0"/>
          </a:p>
        </p:txBody>
      </p:sp>
      <p:sp>
        <p:nvSpPr>
          <p:cNvPr id="45" name="Shape 43"/>
          <p:cNvSpPr/>
          <p:nvPr/>
        </p:nvSpPr>
        <p:spPr>
          <a:xfrm>
            <a:off x="3611880" y="645795"/>
            <a:ext cx="2543175" cy="1339185"/>
          </a:xfrm>
          <a:prstGeom prst="roundRect">
            <a:avLst>
              <a:gd name="adj" fmla="val 5121"/>
            </a:avLst>
          </a:prstGeom>
          <a:gradFill rotWithShape="1">
            <a:gsLst>
              <a:gs pos="0">
                <a:srgbClr val="161D2E"/>
              </a:gs>
              <a:gs pos="100000">
                <a:srgbClr val="121826"/>
              </a:gs>
            </a:gsLst>
            <a:lin ang="2700000" scaled="0"/>
          </a:gradFill>
          <a:ln w="5715">
            <a:solidFill>
              <a:srgbClr val="1E3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11880" y="645795"/>
            <a:ext cx="17145" cy="1327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47" name="Shape 45"/>
          <p:cNvSpPr/>
          <p:nvPr/>
        </p:nvSpPr>
        <p:spPr>
          <a:xfrm>
            <a:off x="5743575" y="474345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8" name="Shape 46"/>
          <p:cNvSpPr/>
          <p:nvPr/>
        </p:nvSpPr>
        <p:spPr>
          <a:xfrm>
            <a:off x="3731895" y="754380"/>
            <a:ext cx="262890" cy="262890"/>
          </a:xfrm>
          <a:prstGeom prst="roundRect">
            <a:avLst>
              <a:gd name="adj" fmla="val 2173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731895" y="754380"/>
            <a:ext cx="37719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86225" y="77724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60520" y="754380"/>
            <a:ext cx="77679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· KERNEL</a:t>
            </a:r>
            <a:endParaRPr lang="en-US" sz="473" dirty="0"/>
          </a:p>
        </p:txBody>
      </p:sp>
      <p:sp>
        <p:nvSpPr>
          <p:cNvPr id="52" name="Text 50"/>
          <p:cNvSpPr/>
          <p:nvPr/>
        </p:nvSpPr>
        <p:spPr>
          <a:xfrm>
            <a:off x="4086225" y="862965"/>
            <a:ext cx="2182673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8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《构建现代 Linux》</a:t>
            </a:r>
            <a:endParaRPr lang="en-US" sz="765" dirty="0"/>
          </a:p>
        </p:txBody>
      </p:sp>
      <p:sp>
        <p:nvSpPr>
          <p:cNvPr id="53" name="Text 51"/>
          <p:cNvSpPr/>
          <p:nvPr/>
        </p:nvSpPr>
        <p:spPr>
          <a:xfrm>
            <a:off x="4086225" y="1028343"/>
            <a:ext cx="2182673" cy="226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spc="7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深入理解 Linux 内核架构与系统调用机制，适合有基础的进阶开发者。</a:t>
            </a:r>
            <a:endParaRPr lang="en-US" sz="540" dirty="0"/>
          </a:p>
        </p:txBody>
      </p:sp>
      <p:sp>
        <p:nvSpPr>
          <p:cNvPr id="54" name="Shape 52"/>
          <p:cNvSpPr/>
          <p:nvPr/>
        </p:nvSpPr>
        <p:spPr>
          <a:xfrm>
            <a:off x="4086225" y="1334631"/>
            <a:ext cx="373618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86225" y="1334631"/>
            <a:ext cx="433626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3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系统底层</a:t>
            </a:r>
            <a:endParaRPr lang="en-US" sz="473" dirty="0"/>
          </a:p>
        </p:txBody>
      </p:sp>
      <p:sp>
        <p:nvSpPr>
          <p:cNvPr id="56" name="Shape 54"/>
          <p:cNvSpPr/>
          <p:nvPr/>
        </p:nvSpPr>
        <p:spPr>
          <a:xfrm>
            <a:off x="5772150" y="1377494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829300" y="1377494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886450" y="1377494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943600" y="1377494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000750" y="1377494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235065" y="645795"/>
            <a:ext cx="2543175" cy="1339185"/>
          </a:xfrm>
          <a:prstGeom prst="roundRect">
            <a:avLst>
              <a:gd name="adj" fmla="val 5121"/>
            </a:avLst>
          </a:prstGeom>
          <a:gradFill rotWithShape="1">
            <a:gsLst>
              <a:gs pos="0">
                <a:srgbClr val="161D2E"/>
              </a:gs>
              <a:gs pos="100000">
                <a:srgbClr val="121826"/>
              </a:gs>
            </a:gsLst>
            <a:lin ang="2700000" scaled="0"/>
          </a:gradFill>
          <a:ln w="5715">
            <a:solidFill>
              <a:srgbClr val="1E3A5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35065" y="645795"/>
            <a:ext cx="17145" cy="1327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3" name="Shape 61"/>
          <p:cNvSpPr/>
          <p:nvPr/>
        </p:nvSpPr>
        <p:spPr>
          <a:xfrm>
            <a:off x="8366760" y="474345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4" name="Shape 62"/>
          <p:cNvSpPr/>
          <p:nvPr/>
        </p:nvSpPr>
        <p:spPr>
          <a:xfrm>
            <a:off x="6355080" y="754380"/>
            <a:ext cx="262890" cy="262890"/>
          </a:xfrm>
          <a:prstGeom prst="roundRect">
            <a:avLst>
              <a:gd name="adj" fmla="val 2173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355080" y="754380"/>
            <a:ext cx="37719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709410" y="77724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783705" y="754380"/>
            <a:ext cx="619577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473" dirty="0"/>
          </a:p>
        </p:txBody>
      </p:sp>
      <p:sp>
        <p:nvSpPr>
          <p:cNvPr id="68" name="Text 66"/>
          <p:cNvSpPr/>
          <p:nvPr/>
        </p:nvSpPr>
        <p:spPr>
          <a:xfrm>
            <a:off x="6709410" y="862965"/>
            <a:ext cx="2182673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8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《开源协作之道》</a:t>
            </a:r>
            <a:endParaRPr lang="en-US" sz="765" dirty="0"/>
          </a:p>
        </p:txBody>
      </p:sp>
      <p:sp>
        <p:nvSpPr>
          <p:cNvPr id="69" name="Text 67"/>
          <p:cNvSpPr/>
          <p:nvPr/>
        </p:nvSpPr>
        <p:spPr>
          <a:xfrm>
            <a:off x="6709410" y="1028343"/>
            <a:ext cx="2182673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spc="7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从项目治理到社区运营，解析大型开源项目如何高效协作。</a:t>
            </a:r>
            <a:endParaRPr lang="en-US" sz="540" dirty="0"/>
          </a:p>
        </p:txBody>
      </p:sp>
      <p:sp>
        <p:nvSpPr>
          <p:cNvPr id="70" name="Shape 68"/>
          <p:cNvSpPr/>
          <p:nvPr/>
        </p:nvSpPr>
        <p:spPr>
          <a:xfrm>
            <a:off x="6709410" y="1221492"/>
            <a:ext cx="373618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09410" y="1221492"/>
            <a:ext cx="433626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3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工程协作</a:t>
            </a:r>
            <a:endParaRPr lang="en-US" sz="473" dirty="0"/>
          </a:p>
        </p:txBody>
      </p:sp>
      <p:sp>
        <p:nvSpPr>
          <p:cNvPr id="72" name="Shape 70"/>
          <p:cNvSpPr/>
          <p:nvPr/>
        </p:nvSpPr>
        <p:spPr>
          <a:xfrm>
            <a:off x="8395335" y="1264354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452485" y="1264354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509635" y="1264354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8566785" y="1264354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8623935" y="1264354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3611880" y="2064990"/>
            <a:ext cx="2543175" cy="1339185"/>
          </a:xfrm>
          <a:prstGeom prst="roundRect">
            <a:avLst>
              <a:gd name="adj" fmla="val 5121"/>
            </a:avLst>
          </a:prstGeom>
          <a:gradFill rotWithShape="1">
            <a:gsLst>
              <a:gs pos="0">
                <a:srgbClr val="161D2E"/>
              </a:gs>
              <a:gs pos="100000">
                <a:srgbClr val="121826"/>
              </a:gs>
            </a:gsLst>
            <a:lin ang="2700000" scaled="0"/>
          </a:gradFill>
          <a:ln w="5715">
            <a:solidFill>
              <a:srgbClr val="2196F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0" dist="50800" dir="16200000">
              <a:srgbClr val="2196F3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611880" y="2064990"/>
            <a:ext cx="17145" cy="1327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9" name="Shape 77"/>
          <p:cNvSpPr/>
          <p:nvPr/>
        </p:nvSpPr>
        <p:spPr>
          <a:xfrm>
            <a:off x="5743575" y="189354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0" name="Shape 78"/>
          <p:cNvSpPr/>
          <p:nvPr/>
        </p:nvSpPr>
        <p:spPr>
          <a:xfrm>
            <a:off x="3731895" y="2173575"/>
            <a:ext cx="262890" cy="262890"/>
          </a:xfrm>
          <a:prstGeom prst="roundRect">
            <a:avLst>
              <a:gd name="adj" fmla="val 2173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3731895" y="2173575"/>
            <a:ext cx="37719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086225" y="219643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4160520" y="2173575"/>
            <a:ext cx="656582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· SAFETY</a:t>
            </a:r>
            <a:endParaRPr lang="en-US" sz="473" dirty="0"/>
          </a:p>
        </p:txBody>
      </p:sp>
      <p:sp>
        <p:nvSpPr>
          <p:cNvPr id="84" name="Text 82"/>
          <p:cNvSpPr/>
          <p:nvPr/>
        </p:nvSpPr>
        <p:spPr>
          <a:xfrm>
            <a:off x="4086225" y="2282160"/>
            <a:ext cx="2182673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8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《Rust 程序设计》</a:t>
            </a:r>
            <a:endParaRPr lang="en-US" sz="765" dirty="0"/>
          </a:p>
        </p:txBody>
      </p:sp>
      <p:sp>
        <p:nvSpPr>
          <p:cNvPr id="85" name="Text 83"/>
          <p:cNvSpPr/>
          <p:nvPr/>
        </p:nvSpPr>
        <p:spPr>
          <a:xfrm>
            <a:off x="4086225" y="2447538"/>
            <a:ext cx="2182673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spc="7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系统学习内存安全语言 Rust，拥抱下一代系统编程范式。</a:t>
            </a:r>
            <a:endParaRPr lang="en-US" sz="540" dirty="0"/>
          </a:p>
        </p:txBody>
      </p:sp>
      <p:sp>
        <p:nvSpPr>
          <p:cNvPr id="86" name="Shape 84"/>
          <p:cNvSpPr/>
          <p:nvPr/>
        </p:nvSpPr>
        <p:spPr>
          <a:xfrm>
            <a:off x="4086225" y="2640687"/>
            <a:ext cx="373618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86225" y="2640687"/>
            <a:ext cx="433626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3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语言进阶</a:t>
            </a:r>
            <a:endParaRPr lang="en-US" sz="473" dirty="0"/>
          </a:p>
        </p:txBody>
      </p:sp>
      <p:sp>
        <p:nvSpPr>
          <p:cNvPr id="88" name="Shape 86"/>
          <p:cNvSpPr/>
          <p:nvPr/>
        </p:nvSpPr>
        <p:spPr>
          <a:xfrm>
            <a:off x="5772150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5829300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5886450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943600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6000750" y="2683550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6235065" y="2064990"/>
            <a:ext cx="2543175" cy="1339185"/>
          </a:xfrm>
          <a:prstGeom prst="roundRect">
            <a:avLst>
              <a:gd name="adj" fmla="val 5121"/>
            </a:avLst>
          </a:prstGeom>
          <a:gradFill rotWithShape="1">
            <a:gsLst>
              <a:gs pos="0">
                <a:srgbClr val="161D2E"/>
              </a:gs>
              <a:gs pos="100000">
                <a:srgbClr val="121826"/>
              </a:gs>
            </a:gsLst>
            <a:lin ang="2700000" scaled="0"/>
          </a:gradFill>
          <a:ln w="5715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235065" y="2064990"/>
            <a:ext cx="17145" cy="1327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95" name="Shape 93"/>
          <p:cNvSpPr/>
          <p:nvPr/>
        </p:nvSpPr>
        <p:spPr>
          <a:xfrm>
            <a:off x="8366760" y="1893540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6" name="Shape 94"/>
          <p:cNvSpPr/>
          <p:nvPr/>
        </p:nvSpPr>
        <p:spPr>
          <a:xfrm>
            <a:off x="6355080" y="2173575"/>
            <a:ext cx="262890" cy="262890"/>
          </a:xfrm>
          <a:prstGeom prst="roundRect">
            <a:avLst>
              <a:gd name="adj" fmla="val 2173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5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355080" y="2173575"/>
            <a:ext cx="37719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709410" y="2196435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6783705" y="2173575"/>
            <a:ext cx="644481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NATIVE</a:t>
            </a:r>
            <a:endParaRPr lang="en-US" sz="473" dirty="0"/>
          </a:p>
        </p:txBody>
      </p:sp>
      <p:sp>
        <p:nvSpPr>
          <p:cNvPr id="100" name="Text 98"/>
          <p:cNvSpPr/>
          <p:nvPr/>
        </p:nvSpPr>
        <p:spPr>
          <a:xfrm>
            <a:off x="6709410" y="2282160"/>
            <a:ext cx="2182673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765" spc="8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《云原生实践手册》</a:t>
            </a:r>
            <a:endParaRPr lang="en-US" sz="765" dirty="0"/>
          </a:p>
        </p:txBody>
      </p:sp>
      <p:sp>
        <p:nvSpPr>
          <p:cNvPr id="101" name="Text 99"/>
          <p:cNvSpPr/>
          <p:nvPr/>
        </p:nvSpPr>
        <p:spPr>
          <a:xfrm>
            <a:off x="6709410" y="2447538"/>
            <a:ext cx="2182673" cy="113139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40" spc="7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容器、Kubernetes 与服务网格的实践指南，紧跟技术前沿。</a:t>
            </a:r>
            <a:endParaRPr lang="en-US" sz="540" dirty="0"/>
          </a:p>
        </p:txBody>
      </p:sp>
      <p:sp>
        <p:nvSpPr>
          <p:cNvPr id="102" name="Shape 100"/>
          <p:cNvSpPr/>
          <p:nvPr/>
        </p:nvSpPr>
        <p:spPr>
          <a:xfrm>
            <a:off x="6709410" y="2640687"/>
            <a:ext cx="305931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709410" y="2640687"/>
            <a:ext cx="365939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3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</a:t>
            </a:r>
            <a:endParaRPr lang="en-US" sz="473" dirty="0"/>
          </a:p>
        </p:txBody>
      </p:sp>
      <p:sp>
        <p:nvSpPr>
          <p:cNvPr id="104" name="Shape 102"/>
          <p:cNvSpPr/>
          <p:nvPr/>
        </p:nvSpPr>
        <p:spPr>
          <a:xfrm>
            <a:off x="8395335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8452485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8509635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8566785" y="2683550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8623935" y="2683550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3611880" y="3484185"/>
            <a:ext cx="5166360" cy="1339185"/>
          </a:xfrm>
          <a:prstGeom prst="roundRect">
            <a:avLst>
              <a:gd name="adj" fmla="val 5121"/>
            </a:avLst>
          </a:prstGeom>
          <a:gradFill rotWithShape="1">
            <a:gsLst>
              <a:gs pos="0">
                <a:srgbClr val="161D2E"/>
              </a:gs>
              <a:gs pos="100000">
                <a:srgbClr val="121826"/>
              </a:gs>
            </a:gsLst>
            <a:lin ang="2700000" scaled="0"/>
          </a:gradFill>
          <a:ln w="5715">
            <a:solidFill>
              <a:srgbClr val="1E3A5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611880" y="3484185"/>
            <a:ext cx="17145" cy="132775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111" name="Shape 109"/>
          <p:cNvSpPr/>
          <p:nvPr/>
        </p:nvSpPr>
        <p:spPr>
          <a:xfrm>
            <a:off x="8366760" y="3312735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12" name="Shape 110"/>
          <p:cNvSpPr/>
          <p:nvPr/>
        </p:nvSpPr>
        <p:spPr>
          <a:xfrm>
            <a:off x="3731895" y="3592770"/>
            <a:ext cx="262890" cy="262890"/>
          </a:xfrm>
          <a:prstGeom prst="roundRect">
            <a:avLst>
              <a:gd name="adj" fmla="val 21739"/>
            </a:avLst>
          </a:prstGeom>
          <a:solidFill>
            <a:srgbClr val="00BCD4">
              <a:alpha val="6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  <a:effectLst>
            <a:outerShdw sx="100000" sy="100000" kx="0" ky="0" algn="bl" rotWithShape="0" blurRad="114300" dist="50800" dir="16200000">
              <a:srgbClr val="00BCD4">
                <a:alpha val="15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3731895" y="3592770"/>
            <a:ext cx="377190" cy="2628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-1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086225" y="3615630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57150" dist="50800" dir="16200000">
              <a:srgbClr val="00BCD4">
                <a:alpha val="10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4160520" y="3592770"/>
            <a:ext cx="120005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8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 · QUICK START</a:t>
            </a:r>
            <a:endParaRPr lang="en-US" sz="473" dirty="0"/>
          </a:p>
        </p:txBody>
      </p:sp>
      <p:sp>
        <p:nvSpPr>
          <p:cNvPr id="116" name="Text 114"/>
          <p:cNvSpPr/>
          <p:nvPr/>
        </p:nvSpPr>
        <p:spPr>
          <a:xfrm>
            <a:off x="4086225" y="3701355"/>
            <a:ext cx="5120640" cy="13885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10" spc="8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《写给大忙人的算法书》</a:t>
            </a:r>
            <a:endParaRPr lang="en-US" sz="810" dirty="0"/>
          </a:p>
        </p:txBody>
      </p:sp>
      <p:sp>
        <p:nvSpPr>
          <p:cNvPr id="117" name="Text 115"/>
          <p:cNvSpPr/>
          <p:nvPr/>
        </p:nvSpPr>
        <p:spPr>
          <a:xfrm>
            <a:off x="4086225" y="3874502"/>
            <a:ext cx="5120640" cy="1178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563" spc="7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轻量入门算法与数据结构，适合工作繁忙的开发者快速充电，用最短时间建立核心思维框架。</a:t>
            </a:r>
            <a:endParaRPr lang="en-US" sz="563" dirty="0"/>
          </a:p>
        </p:txBody>
      </p:sp>
      <p:sp>
        <p:nvSpPr>
          <p:cNvPr id="118" name="Shape 116"/>
          <p:cNvSpPr/>
          <p:nvPr/>
        </p:nvSpPr>
        <p:spPr>
          <a:xfrm>
            <a:off x="4086225" y="4072384"/>
            <a:ext cx="373618" cy="120015"/>
          </a:xfrm>
          <a:prstGeom prst="roundRect">
            <a:avLst>
              <a:gd name="adj" fmla="val 19048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086225" y="4072384"/>
            <a:ext cx="433626" cy="120015"/>
          </a:xfrm>
          <a:prstGeom prst="rect">
            <a:avLst/>
          </a:prstGeom>
          <a:noFill/>
          <a:ln/>
        </p:spPr>
        <p:txBody>
          <a:bodyPr wrap="none" lIns="11430" tIns="45720" rIns="45720" bIns="11430" rtlCol="0" anchor="ctr"/>
          <a:lstStyle/>
          <a:p>
            <a:pPr algn="l" indent="0" marL="0">
              <a:buNone/>
            </a:pPr>
            <a:r>
              <a:rPr lang="en-US" sz="473" spc="38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算法基础</a:t>
            </a:r>
            <a:endParaRPr lang="en-US" sz="473" dirty="0"/>
          </a:p>
        </p:txBody>
      </p:sp>
      <p:sp>
        <p:nvSpPr>
          <p:cNvPr id="120" name="Shape 118"/>
          <p:cNvSpPr/>
          <p:nvPr/>
        </p:nvSpPr>
        <p:spPr>
          <a:xfrm>
            <a:off x="8395335" y="4115246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121" name="Shape 119"/>
          <p:cNvSpPr/>
          <p:nvPr/>
        </p:nvSpPr>
        <p:spPr>
          <a:xfrm>
            <a:off x="8452485" y="4115246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38100" dist="50800" dir="16200000">
              <a:srgbClr val="2196F3">
                <a:alpha val="100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8509635" y="4115246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566785" y="4115246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8623935" y="4115246"/>
            <a:ext cx="34290" cy="3429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0D1F"/>
              </a:gs>
              <a:gs pos="50000">
                <a:srgbClr val="0A1428"/>
              </a:gs>
              <a:gs pos="100000">
                <a:srgbClr val="0C1A35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2891790" y="463987"/>
            <a:ext cx="457200" cy="11430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5795010" y="463987"/>
            <a:ext cx="4572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2800350" y="699462"/>
            <a:ext cx="3968496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30" spc="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  READING  CIRCLE  ·  DATA DASHBOARD</a:t>
            </a:r>
            <a:endParaRPr lang="en-US" sz="630" dirty="0"/>
          </a:p>
        </p:txBody>
      </p:sp>
      <p:sp>
        <p:nvSpPr>
          <p:cNvPr id="6" name="Shape 4"/>
          <p:cNvSpPr/>
          <p:nvPr/>
        </p:nvSpPr>
        <p:spPr>
          <a:xfrm>
            <a:off x="400050" y="1036647"/>
            <a:ext cx="1586448" cy="1485900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E1B33"/>
              </a:gs>
              <a:gs pos="100000">
                <a:srgbClr val="112247"/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0050" y="1036647"/>
            <a:ext cx="1575020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7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Shape 6"/>
          <p:cNvSpPr/>
          <p:nvPr/>
        </p:nvSpPr>
        <p:spPr>
          <a:xfrm>
            <a:off x="1517870" y="20539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9" name="Shape 7"/>
          <p:cNvSpPr/>
          <p:nvPr/>
        </p:nvSpPr>
        <p:spPr>
          <a:xfrm>
            <a:off x="1084689" y="1236672"/>
            <a:ext cx="217170" cy="217170"/>
          </a:xfrm>
          <a:prstGeom prst="ellipse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7554" y="1290965"/>
            <a:ext cx="20574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1090404" y="2156787"/>
            <a:ext cx="205740" cy="1143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10357" y="1522422"/>
            <a:ext cx="1172718" cy="37147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3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</a:t>
            </a:r>
            <a:endParaRPr lang="en-US" sz="2430" dirty="0"/>
          </a:p>
        </p:txBody>
      </p:sp>
      <p:sp>
        <p:nvSpPr>
          <p:cNvPr id="13" name="Text 11"/>
          <p:cNvSpPr/>
          <p:nvPr/>
        </p:nvSpPr>
        <p:spPr>
          <a:xfrm>
            <a:off x="1561892" y="1665297"/>
            <a:ext cx="27432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976104" y="1968192"/>
            <a:ext cx="5314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累计观看</a:t>
            </a:r>
            <a:endParaRPr lang="en-US" sz="765" dirty="0"/>
          </a:p>
        </p:txBody>
      </p:sp>
      <p:sp>
        <p:nvSpPr>
          <p:cNvPr id="15" name="Text 13"/>
          <p:cNvSpPr/>
          <p:nvPr/>
        </p:nvSpPr>
        <p:spPr>
          <a:xfrm>
            <a:off x="970389" y="2236797"/>
            <a:ext cx="5143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线上直播人次</a:t>
            </a:r>
            <a:endParaRPr lang="en-US" sz="540" dirty="0"/>
          </a:p>
        </p:txBody>
      </p:sp>
      <p:sp>
        <p:nvSpPr>
          <p:cNvPr id="16" name="Shape 14"/>
          <p:cNvSpPr/>
          <p:nvPr/>
        </p:nvSpPr>
        <p:spPr>
          <a:xfrm>
            <a:off x="2089368" y="1036647"/>
            <a:ext cx="1586448" cy="1485900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E1B33"/>
              </a:gs>
              <a:gs pos="100000">
                <a:srgbClr val="112247"/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89368" y="1036647"/>
            <a:ext cx="1575020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7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8" name="Shape 16"/>
          <p:cNvSpPr/>
          <p:nvPr/>
        </p:nvSpPr>
        <p:spPr>
          <a:xfrm>
            <a:off x="3207188" y="20539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9" name="Shape 17"/>
          <p:cNvSpPr/>
          <p:nvPr/>
        </p:nvSpPr>
        <p:spPr>
          <a:xfrm>
            <a:off x="2774007" y="1236672"/>
            <a:ext cx="217170" cy="217170"/>
          </a:xfrm>
          <a:prstGeom prst="ellipse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8300" y="1290965"/>
            <a:ext cx="20574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2779722" y="2156787"/>
            <a:ext cx="205740" cy="1143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508260" y="1522422"/>
            <a:ext cx="956691" cy="37147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3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380</a:t>
            </a:r>
            <a:endParaRPr lang="en-US" sz="2430" dirty="0"/>
          </a:p>
        </p:txBody>
      </p:sp>
      <p:sp>
        <p:nvSpPr>
          <p:cNvPr id="23" name="Text 21"/>
          <p:cNvSpPr/>
          <p:nvPr/>
        </p:nvSpPr>
        <p:spPr>
          <a:xfrm>
            <a:off x="3142625" y="1665297"/>
            <a:ext cx="27432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2665422" y="1968192"/>
            <a:ext cx="5314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评论互动</a:t>
            </a:r>
            <a:endParaRPr lang="en-US" sz="765" dirty="0"/>
          </a:p>
        </p:txBody>
      </p:sp>
      <p:sp>
        <p:nvSpPr>
          <p:cNvPr id="25" name="Text 23"/>
          <p:cNvSpPr/>
          <p:nvPr/>
        </p:nvSpPr>
        <p:spPr>
          <a:xfrm>
            <a:off x="2659707" y="2236797"/>
            <a:ext cx="51435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社区讨论条数</a:t>
            </a:r>
            <a:endParaRPr lang="en-US" sz="540" dirty="0"/>
          </a:p>
        </p:txBody>
      </p:sp>
      <p:sp>
        <p:nvSpPr>
          <p:cNvPr id="26" name="Shape 24"/>
          <p:cNvSpPr/>
          <p:nvPr/>
        </p:nvSpPr>
        <p:spPr>
          <a:xfrm>
            <a:off x="3778687" y="1036647"/>
            <a:ext cx="1586538" cy="1485900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E1B33"/>
              </a:gs>
              <a:gs pos="100000">
                <a:srgbClr val="112247"/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78687" y="1036647"/>
            <a:ext cx="1575105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7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8" name="Shape 26"/>
          <p:cNvSpPr/>
          <p:nvPr/>
        </p:nvSpPr>
        <p:spPr>
          <a:xfrm>
            <a:off x="4896592" y="20539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9" name="Shape 27"/>
          <p:cNvSpPr/>
          <p:nvPr/>
        </p:nvSpPr>
        <p:spPr>
          <a:xfrm>
            <a:off x="4463326" y="1236672"/>
            <a:ext cx="217170" cy="217170"/>
          </a:xfrm>
          <a:prstGeom prst="ellipse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4761" y="1290965"/>
            <a:ext cx="20574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469041" y="2156787"/>
            <a:ext cx="205740" cy="1143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234726" y="1522422"/>
            <a:ext cx="956691" cy="37147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3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</a:t>
            </a:r>
            <a:endParaRPr lang="en-US" sz="2430" dirty="0"/>
          </a:p>
        </p:txBody>
      </p:sp>
      <p:sp>
        <p:nvSpPr>
          <p:cNvPr id="33" name="Text 31"/>
          <p:cNvSpPr/>
          <p:nvPr/>
        </p:nvSpPr>
        <p:spPr>
          <a:xfrm>
            <a:off x="4794796" y="1665297"/>
            <a:ext cx="27432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4354741" y="1968192"/>
            <a:ext cx="5314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书单收藏</a:t>
            </a:r>
            <a:endParaRPr lang="en-US" sz="765" dirty="0"/>
          </a:p>
        </p:txBody>
      </p:sp>
      <p:sp>
        <p:nvSpPr>
          <p:cNvPr id="35" name="Text 33"/>
          <p:cNvSpPr/>
          <p:nvPr/>
        </p:nvSpPr>
        <p:spPr>
          <a:xfrm>
            <a:off x="4311878" y="2236797"/>
            <a:ext cx="5886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社区成员收藏数</a:t>
            </a:r>
            <a:endParaRPr lang="en-US" sz="540" dirty="0"/>
          </a:p>
        </p:txBody>
      </p:sp>
      <p:sp>
        <p:nvSpPr>
          <p:cNvPr id="36" name="Shape 34"/>
          <p:cNvSpPr/>
          <p:nvPr/>
        </p:nvSpPr>
        <p:spPr>
          <a:xfrm>
            <a:off x="5468094" y="1036647"/>
            <a:ext cx="1586448" cy="1485900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E1B33"/>
              </a:gs>
              <a:gs pos="100000">
                <a:srgbClr val="112247"/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68094" y="1036647"/>
            <a:ext cx="1575020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7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8" name="Shape 36"/>
          <p:cNvSpPr/>
          <p:nvPr/>
        </p:nvSpPr>
        <p:spPr>
          <a:xfrm>
            <a:off x="6585914" y="20539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9" name="Shape 37"/>
          <p:cNvSpPr/>
          <p:nvPr/>
        </p:nvSpPr>
        <p:spPr>
          <a:xfrm>
            <a:off x="6152733" y="1236672"/>
            <a:ext cx="217170" cy="217170"/>
          </a:xfrm>
          <a:prstGeom prst="ellipse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4168" y="1290965"/>
            <a:ext cx="20574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6158448" y="2156787"/>
            <a:ext cx="205740" cy="1143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998428" y="1522422"/>
            <a:ext cx="740664" cy="37147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3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2430" dirty="0"/>
          </a:p>
        </p:txBody>
      </p:sp>
      <p:sp>
        <p:nvSpPr>
          <p:cNvPr id="43" name="Text 41"/>
          <p:cNvSpPr/>
          <p:nvPr/>
        </p:nvSpPr>
        <p:spPr>
          <a:xfrm>
            <a:off x="6409908" y="1665297"/>
            <a:ext cx="274320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260" dirty="0"/>
          </a:p>
        </p:txBody>
      </p:sp>
      <p:sp>
        <p:nvSpPr>
          <p:cNvPr id="44" name="Text 42"/>
          <p:cNvSpPr/>
          <p:nvPr/>
        </p:nvSpPr>
        <p:spPr>
          <a:xfrm>
            <a:off x="6044148" y="1968192"/>
            <a:ext cx="5314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新增注册</a:t>
            </a:r>
            <a:endParaRPr lang="en-US" sz="765" dirty="0"/>
          </a:p>
        </p:txBody>
      </p:sp>
      <p:sp>
        <p:nvSpPr>
          <p:cNvPr id="45" name="Text 43"/>
          <p:cNvSpPr/>
          <p:nvPr/>
        </p:nvSpPr>
        <p:spPr>
          <a:xfrm>
            <a:off x="5889843" y="2236797"/>
            <a:ext cx="83210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首次加入社区的开发者</a:t>
            </a:r>
            <a:endParaRPr lang="en-US" sz="540" dirty="0"/>
          </a:p>
        </p:txBody>
      </p:sp>
      <p:sp>
        <p:nvSpPr>
          <p:cNvPr id="46" name="Shape 44"/>
          <p:cNvSpPr/>
          <p:nvPr/>
        </p:nvSpPr>
        <p:spPr>
          <a:xfrm>
            <a:off x="7157412" y="1036647"/>
            <a:ext cx="1586538" cy="1485900"/>
          </a:xfrm>
          <a:prstGeom prst="roundRect">
            <a:avLst>
              <a:gd name="adj" fmla="val 5385"/>
            </a:avLst>
          </a:prstGeom>
          <a:gradFill rotWithShape="1">
            <a:gsLst>
              <a:gs pos="0">
                <a:srgbClr val="0E1B33"/>
              </a:gs>
              <a:gs pos="100000">
                <a:srgbClr val="112247"/>
              </a:gs>
            </a:gsLst>
            <a:lin ang="42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7412" y="1036647"/>
            <a:ext cx="1575105" cy="1714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2196F3"/>
              </a:gs>
              <a:gs pos="7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8" name="Shape 46"/>
          <p:cNvSpPr/>
          <p:nvPr/>
        </p:nvSpPr>
        <p:spPr>
          <a:xfrm>
            <a:off x="8275318" y="2053917"/>
            <a:ext cx="685800" cy="685800"/>
          </a:xfrm>
          <a:prstGeom prst="ellipse">
            <a:avLst/>
          </a:prstGeom>
          <a:gradFill rotWithShape="1">
            <a:gsLst>
              <a:gs pos="0">
                <a:srgbClr val="00BCD4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9" name="Shape 47"/>
          <p:cNvSpPr/>
          <p:nvPr/>
        </p:nvSpPr>
        <p:spPr>
          <a:xfrm>
            <a:off x="7842052" y="1236672"/>
            <a:ext cx="217170" cy="217170"/>
          </a:xfrm>
          <a:prstGeom prst="ellipse">
            <a:avLst/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96344" y="1290965"/>
            <a:ext cx="20574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75" dirty="0"/>
          </a:p>
        </p:txBody>
      </p:sp>
      <p:sp>
        <p:nvSpPr>
          <p:cNvPr id="51" name="Shape 49"/>
          <p:cNvSpPr/>
          <p:nvPr/>
        </p:nvSpPr>
        <p:spPr>
          <a:xfrm>
            <a:off x="7847767" y="2156787"/>
            <a:ext cx="205740" cy="11430"/>
          </a:xfrm>
          <a:prstGeom prst="rect">
            <a:avLst/>
          </a:prstGeom>
          <a:solidFill>
            <a:srgbClr val="00BCD4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579162" y="1522422"/>
            <a:ext cx="956691" cy="371475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3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2430" dirty="0"/>
          </a:p>
        </p:txBody>
      </p:sp>
      <p:sp>
        <p:nvSpPr>
          <p:cNvPr id="53" name="Text 51"/>
          <p:cNvSpPr/>
          <p:nvPr/>
        </p:nvSpPr>
        <p:spPr>
          <a:xfrm>
            <a:off x="8156377" y="1665297"/>
            <a:ext cx="325755" cy="194310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50800" dir="5400000">
              <a:srgbClr val="2196F3">
                <a:alpha val="3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spc="45" kern="0" dirty="0">
                <a:solidFill>
                  <a:srgbClr val="000000">
                    <a:alpha val="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260" dirty="0"/>
          </a:p>
        </p:txBody>
      </p:sp>
      <p:sp>
        <p:nvSpPr>
          <p:cNvPr id="54" name="Text 52"/>
          <p:cNvSpPr/>
          <p:nvPr/>
        </p:nvSpPr>
        <p:spPr>
          <a:xfrm>
            <a:off x="7733467" y="1968192"/>
            <a:ext cx="531495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76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录播留存</a:t>
            </a:r>
            <a:endParaRPr lang="en-US" sz="765" dirty="0"/>
          </a:p>
        </p:txBody>
      </p:sp>
      <p:sp>
        <p:nvSpPr>
          <p:cNvPr id="55" name="Text 53"/>
          <p:cNvSpPr/>
          <p:nvPr/>
        </p:nvSpPr>
        <p:spPr>
          <a:xfrm>
            <a:off x="7653457" y="2236797"/>
            <a:ext cx="66568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全程录制可供回看</a:t>
            </a:r>
            <a:endParaRPr lang="en-US" sz="540" dirty="0"/>
          </a:p>
        </p:txBody>
      </p:sp>
      <p:sp>
        <p:nvSpPr>
          <p:cNvPr id="56" name="Shape 54"/>
          <p:cNvSpPr/>
          <p:nvPr/>
        </p:nvSpPr>
        <p:spPr>
          <a:xfrm>
            <a:off x="400050" y="2682567"/>
            <a:ext cx="8343900" cy="402282"/>
          </a:xfrm>
          <a:prstGeom prst="rect">
            <a:avLst/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6000"/>
                </a:srgbClr>
              </a:gs>
            </a:gsLst>
            <a:lin ang="0" scaled="0"/>
          </a:gradFill>
          <a:ln/>
        </p:spPr>
      </p:sp>
      <p:sp>
        <p:nvSpPr>
          <p:cNvPr id="57" name="Shape 55"/>
          <p:cNvSpPr/>
          <p:nvPr/>
        </p:nvSpPr>
        <p:spPr>
          <a:xfrm>
            <a:off x="400050" y="2682567"/>
            <a:ext cx="0" cy="402282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0050" y="2682567"/>
            <a:ext cx="9345168" cy="4022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72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五月读书会取得了</a:t>
            </a:r>
            <a:pPr algn="l" indent="0" marL="0">
              <a:lnSpc>
                <a:spcPct val="19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超出预期</a:t>
            </a:r>
            <a:pPr algn="l" indent="0" marL="0">
              <a:lnSpc>
                <a:spcPct val="190000"/>
              </a:lnSpc>
              <a:buNone/>
            </a:pPr>
            <a:r>
              <a:rPr lang="en-US" sz="72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的社区反响。从观看人次到讨论互动，从书单传播到新人招募，每一项数据都印证了</a:t>
            </a:r>
            <a:pPr algn="l" indent="0" marL="0">
              <a:lnSpc>
                <a:spcPct val="19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「以阅读打开世界」</a:t>
            </a:r>
            <a:pPr algn="l" indent="0" marL="0">
              <a:lnSpc>
                <a:spcPct val="190000"/>
              </a:lnSpc>
              <a:buNone/>
            </a:pPr>
            <a:r>
              <a:rPr lang="en-US" sz="720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这一主题的强大号召力与传播价值。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400050" y="3164860"/>
            <a:ext cx="1604754" cy="361117"/>
          </a:xfrm>
          <a:prstGeom prst="rect">
            <a:avLst/>
          </a:prstGeom>
          <a:noFill/>
          <a:ln/>
        </p:spPr>
      </p:sp>
      <p:sp>
        <p:nvSpPr>
          <p:cNvPr id="60" name="Shape 58"/>
          <p:cNvSpPr/>
          <p:nvPr/>
        </p:nvSpPr>
        <p:spPr>
          <a:xfrm>
            <a:off x="400050" y="3164860"/>
            <a:ext cx="1604754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02385" y="314200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42362" y="3239155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参与规模</a:t>
            </a:r>
            <a:endParaRPr lang="en-US" sz="540" dirty="0"/>
          </a:p>
        </p:txBody>
      </p:sp>
      <p:sp>
        <p:nvSpPr>
          <p:cNvPr id="63" name="Text 61"/>
          <p:cNvSpPr/>
          <p:nvPr/>
        </p:nvSpPr>
        <p:spPr>
          <a:xfrm>
            <a:off x="845195" y="3370600"/>
            <a:ext cx="80010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覆盖多个时区社区成员</a:t>
            </a:r>
            <a:endParaRPr lang="en-US" sz="540" dirty="0"/>
          </a:p>
        </p:txBody>
      </p:sp>
      <p:sp>
        <p:nvSpPr>
          <p:cNvPr id="64" name="Shape 62"/>
          <p:cNvSpPr/>
          <p:nvPr/>
        </p:nvSpPr>
        <p:spPr>
          <a:xfrm>
            <a:off x="2084814" y="3164860"/>
            <a:ext cx="1604754" cy="361117"/>
          </a:xfrm>
          <a:prstGeom prst="rect">
            <a:avLst/>
          </a:prstGeom>
          <a:noFill/>
          <a:ln/>
        </p:spPr>
      </p:sp>
      <p:sp>
        <p:nvSpPr>
          <p:cNvPr id="65" name="Shape 63"/>
          <p:cNvSpPr/>
          <p:nvPr/>
        </p:nvSpPr>
        <p:spPr>
          <a:xfrm>
            <a:off x="2084814" y="3164860"/>
            <a:ext cx="1604754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87149" y="314200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2727127" y="3239155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讨论热度</a:t>
            </a:r>
            <a:endParaRPr lang="en-US" sz="540" dirty="0"/>
          </a:p>
        </p:txBody>
      </p:sp>
      <p:sp>
        <p:nvSpPr>
          <p:cNvPr id="68" name="Text 66"/>
          <p:cNvSpPr/>
          <p:nvPr/>
        </p:nvSpPr>
        <p:spPr>
          <a:xfrm>
            <a:off x="2387084" y="3370600"/>
            <a:ext cx="112014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反映大家对开源阅读的高度热情</a:t>
            </a:r>
            <a:endParaRPr lang="en-US" sz="540" dirty="0"/>
          </a:p>
        </p:txBody>
      </p:sp>
      <p:sp>
        <p:nvSpPr>
          <p:cNvPr id="69" name="Shape 67"/>
          <p:cNvSpPr/>
          <p:nvPr/>
        </p:nvSpPr>
        <p:spPr>
          <a:xfrm>
            <a:off x="3769578" y="3164860"/>
            <a:ext cx="1604754" cy="361117"/>
          </a:xfrm>
          <a:prstGeom prst="rect">
            <a:avLst/>
          </a:prstGeom>
          <a:noFill/>
          <a:ln/>
        </p:spPr>
      </p:sp>
      <p:sp>
        <p:nvSpPr>
          <p:cNvPr id="70" name="Shape 68"/>
          <p:cNvSpPr/>
          <p:nvPr/>
        </p:nvSpPr>
        <p:spPr>
          <a:xfrm>
            <a:off x="3769578" y="3164860"/>
            <a:ext cx="1604754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1913" y="314200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411891" y="3239155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书单传播</a:t>
            </a:r>
            <a:endParaRPr lang="en-US" sz="540" dirty="0"/>
          </a:p>
        </p:txBody>
      </p:sp>
      <p:sp>
        <p:nvSpPr>
          <p:cNvPr id="73" name="Text 71"/>
          <p:cNvSpPr/>
          <p:nvPr/>
        </p:nvSpPr>
        <p:spPr>
          <a:xfrm>
            <a:off x="4250442" y="3370600"/>
            <a:ext cx="72009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成为后续阅读的入口</a:t>
            </a:r>
            <a:endParaRPr lang="en-US" sz="540" dirty="0"/>
          </a:p>
        </p:txBody>
      </p:sp>
      <p:sp>
        <p:nvSpPr>
          <p:cNvPr id="74" name="Shape 72"/>
          <p:cNvSpPr/>
          <p:nvPr/>
        </p:nvSpPr>
        <p:spPr>
          <a:xfrm>
            <a:off x="5454342" y="3164860"/>
            <a:ext cx="1604754" cy="361117"/>
          </a:xfrm>
          <a:prstGeom prst="rect">
            <a:avLst/>
          </a:prstGeom>
          <a:noFill/>
          <a:ln/>
        </p:spPr>
      </p:sp>
      <p:sp>
        <p:nvSpPr>
          <p:cNvPr id="75" name="Shape 73"/>
          <p:cNvSpPr/>
          <p:nvPr/>
        </p:nvSpPr>
        <p:spPr>
          <a:xfrm>
            <a:off x="5454342" y="3164860"/>
            <a:ext cx="1604754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56677" y="314200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096655" y="3239155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新人加入</a:t>
            </a:r>
            <a:endParaRPr lang="en-US" sz="540" dirty="0"/>
          </a:p>
        </p:txBody>
      </p:sp>
      <p:sp>
        <p:nvSpPr>
          <p:cNvPr id="78" name="Text 76"/>
          <p:cNvSpPr/>
          <p:nvPr/>
        </p:nvSpPr>
        <p:spPr>
          <a:xfrm>
            <a:off x="5970925" y="3370600"/>
            <a:ext cx="640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带来新开发者注册</a:t>
            </a:r>
            <a:endParaRPr lang="en-US" sz="540" dirty="0"/>
          </a:p>
        </p:txBody>
      </p:sp>
      <p:sp>
        <p:nvSpPr>
          <p:cNvPr id="79" name="Shape 77"/>
          <p:cNvSpPr/>
          <p:nvPr/>
        </p:nvSpPr>
        <p:spPr>
          <a:xfrm>
            <a:off x="7139107" y="3164860"/>
            <a:ext cx="1604754" cy="361117"/>
          </a:xfrm>
          <a:prstGeom prst="rect">
            <a:avLst/>
          </a:prstGeom>
          <a:noFill/>
          <a:ln/>
        </p:spPr>
      </p:sp>
      <p:sp>
        <p:nvSpPr>
          <p:cNvPr id="80" name="Shape 78"/>
          <p:cNvSpPr/>
          <p:nvPr/>
        </p:nvSpPr>
        <p:spPr>
          <a:xfrm>
            <a:off x="7139107" y="3164860"/>
            <a:ext cx="1604754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41441" y="3142000"/>
            <a:ext cx="45720" cy="4572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7781419" y="3239155"/>
            <a:ext cx="38862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40" b="1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内容沉淀</a:t>
            </a:r>
            <a:endParaRPr lang="en-US" sz="540" dirty="0"/>
          </a:p>
        </p:txBody>
      </p:sp>
      <p:sp>
        <p:nvSpPr>
          <p:cNvPr id="83" name="Text 81"/>
          <p:cNvSpPr/>
          <p:nvPr/>
        </p:nvSpPr>
        <p:spPr>
          <a:xfrm>
            <a:off x="7655689" y="3370600"/>
            <a:ext cx="640080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540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形成长效社区资产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3417570" y="340043"/>
            <a:ext cx="3429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3851910" y="297180"/>
            <a:ext cx="161300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/ REVIEW</a:t>
            </a:r>
            <a:endParaRPr lang="en-US" sz="585" dirty="0"/>
          </a:p>
        </p:txBody>
      </p:sp>
      <p:sp>
        <p:nvSpPr>
          <p:cNvPr id="5" name="Shape 3"/>
          <p:cNvSpPr/>
          <p:nvPr/>
        </p:nvSpPr>
        <p:spPr>
          <a:xfrm>
            <a:off x="5383530" y="340043"/>
            <a:ext cx="3429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3980498" y="468630"/>
            <a:ext cx="1983105" cy="800100"/>
          </a:xfrm>
          <a:prstGeom prst="rect">
            <a:avLst/>
          </a:prstGeom>
          <a:noFill/>
          <a:ln/>
          <a:effectLst>
            <a:outerShdw sx="100000" sy="100000" kx="0" ky="0" algn="bl" rotWithShape="0" blurRad="3429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36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114300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3474720" y="1434465"/>
            <a:ext cx="2514600" cy="3886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520" b="1" spc="36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精彩分享回顾</a:t>
            </a:r>
            <a:endParaRPr lang="en-US" sz="2520" dirty="0"/>
          </a:p>
        </p:txBody>
      </p:sp>
      <p:sp>
        <p:nvSpPr>
          <p:cNvPr id="9" name="Shape 7"/>
          <p:cNvSpPr/>
          <p:nvPr/>
        </p:nvSpPr>
        <p:spPr>
          <a:xfrm>
            <a:off x="4229100" y="1925955"/>
            <a:ext cx="6858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" name="Text 8"/>
          <p:cNvSpPr/>
          <p:nvPr/>
        </p:nvSpPr>
        <p:spPr>
          <a:xfrm>
            <a:off x="3731895" y="2023110"/>
            <a:ext cx="1881835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13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嘉宾洞见与社区共鸣的交汇时刻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968442" y="2840355"/>
            <a:ext cx="1207117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Shape 10"/>
          <p:cNvSpPr/>
          <p:nvPr/>
        </p:nvSpPr>
        <p:spPr>
          <a:xfrm>
            <a:off x="3931920" y="234315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32070" y="251460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103370" y="2691765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2400300"/>
            <a:ext cx="22860" cy="2286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909009" y="2228799"/>
            <a:ext cx="205841" cy="205841"/>
          </a:xfrm>
          <a:prstGeom prst="ellips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7635" y="2286000"/>
            <a:ext cx="148590" cy="14859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51910" y="2411730"/>
            <a:ext cx="320040" cy="365760"/>
          </a:xfrm>
          <a:prstGeom prst="roundRect">
            <a:avLst>
              <a:gd name="adj" fmla="val 89286"/>
            </a:avLst>
          </a:prstGeom>
          <a:gradFill rotWithShape="1">
            <a:gsLst>
              <a:gs pos="0">
                <a:srgbClr val="2196F3">
                  <a:alpha val="70000"/>
                </a:srgbClr>
              </a:gs>
              <a:gs pos="100000">
                <a:srgbClr val="00BCD4">
                  <a:alpha val="40000"/>
                </a:srgbClr>
              </a:gs>
            </a:gsLst>
            <a:lin ang="5400000" scaled="0"/>
          </a:gradFill>
          <a:ln/>
        </p:spPr>
      </p:sp>
      <p:sp>
        <p:nvSpPr>
          <p:cNvPr id="19" name="Shape 17"/>
          <p:cNvSpPr/>
          <p:nvPr/>
        </p:nvSpPr>
        <p:spPr>
          <a:xfrm>
            <a:off x="4509135" y="2343150"/>
            <a:ext cx="125730" cy="12573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29125" y="2446020"/>
            <a:ext cx="285750" cy="33147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196F3">
                  <a:alpha val="70000"/>
                </a:srgbClr>
              </a:gs>
              <a:gs pos="100000">
                <a:srgbClr val="00BCD4">
                  <a:alpha val="40000"/>
                </a:srgbClr>
              </a:gs>
            </a:gsLst>
            <a:lin ang="540000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5029149" y="2228799"/>
            <a:ext cx="205841" cy="205841"/>
          </a:xfrm>
          <a:prstGeom prst="ellips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57775" y="2286000"/>
            <a:ext cx="148590" cy="148590"/>
          </a:xfrm>
          <a:prstGeom prst="ellipse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90500" dist="50800" dir="16200000">
              <a:srgbClr val="2196F3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72050" y="2411730"/>
            <a:ext cx="320040" cy="365760"/>
          </a:xfrm>
          <a:prstGeom prst="roundRect">
            <a:avLst>
              <a:gd name="adj" fmla="val 89286"/>
            </a:avLst>
          </a:prstGeom>
          <a:gradFill rotWithShape="1">
            <a:gsLst>
              <a:gs pos="0">
                <a:srgbClr val="2196F3">
                  <a:alpha val="70000"/>
                </a:srgbClr>
              </a:gs>
              <a:gs pos="100000">
                <a:srgbClr val="00BCD4">
                  <a:alpha val="40000"/>
                </a:srgbClr>
              </a:gs>
            </a:gsLst>
            <a:lin ang="5400000" scaled="0"/>
          </a:gradFill>
          <a:ln/>
        </p:spPr>
      </p:sp>
      <p:sp>
        <p:nvSpPr>
          <p:cNvPr id="24" name="Shape 22"/>
          <p:cNvSpPr/>
          <p:nvPr/>
        </p:nvSpPr>
        <p:spPr>
          <a:xfrm>
            <a:off x="457200" y="2914650"/>
            <a:ext cx="2636490" cy="1010305"/>
          </a:xfrm>
          <a:prstGeom prst="roundRect">
            <a:avLst>
              <a:gd name="adj" fmla="val 6788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14650"/>
            <a:ext cx="262506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2625060" y="2686050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7" name="Shape 25"/>
          <p:cNvSpPr/>
          <p:nvPr/>
        </p:nvSpPr>
        <p:spPr>
          <a:xfrm>
            <a:off x="622935" y="3057525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28" name="Text 26"/>
          <p:cNvSpPr/>
          <p:nvPr/>
        </p:nvSpPr>
        <p:spPr>
          <a:xfrm>
            <a:off x="622935" y="3057525"/>
            <a:ext cx="29146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897255" y="3106103"/>
            <a:ext cx="58864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嘉宾阵容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622935" y="3348990"/>
            <a:ext cx="2419502" cy="225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本期邀请多位资深开源贡献者与行业技术专家，跨越不同技术领域，齐聚一堂。</a:t>
            </a:r>
            <a:endParaRPr lang="en-US" sz="585" dirty="0"/>
          </a:p>
        </p:txBody>
      </p:sp>
      <p:sp>
        <p:nvSpPr>
          <p:cNvPr id="31" name="Shape 29"/>
          <p:cNvSpPr/>
          <p:nvPr/>
        </p:nvSpPr>
        <p:spPr>
          <a:xfrm>
            <a:off x="622935" y="3656350"/>
            <a:ext cx="445770" cy="125730"/>
          </a:xfrm>
          <a:prstGeom prst="roundRect">
            <a:avLst>
              <a:gd name="adj" fmla="val 45455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935" y="3656350"/>
            <a:ext cx="508635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GUESTS</a:t>
            </a:r>
            <a:endParaRPr lang="en-US" sz="495" dirty="0"/>
          </a:p>
        </p:txBody>
      </p:sp>
      <p:sp>
        <p:nvSpPr>
          <p:cNvPr id="33" name="Shape 31"/>
          <p:cNvSpPr/>
          <p:nvPr/>
        </p:nvSpPr>
        <p:spPr>
          <a:xfrm>
            <a:off x="3253710" y="2914650"/>
            <a:ext cx="2636490" cy="1010305"/>
          </a:xfrm>
          <a:prstGeom prst="roundRect">
            <a:avLst>
              <a:gd name="adj" fmla="val 6788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53710" y="2914650"/>
            <a:ext cx="2625060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5" name="Shape 33"/>
          <p:cNvSpPr/>
          <p:nvPr/>
        </p:nvSpPr>
        <p:spPr>
          <a:xfrm>
            <a:off x="5421570" y="2686050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6" name="Shape 34"/>
          <p:cNvSpPr/>
          <p:nvPr/>
        </p:nvSpPr>
        <p:spPr>
          <a:xfrm>
            <a:off x="3419445" y="3057525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37" name="Text 35"/>
          <p:cNvSpPr/>
          <p:nvPr/>
        </p:nvSpPr>
        <p:spPr>
          <a:xfrm>
            <a:off x="3419445" y="3057525"/>
            <a:ext cx="29146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693765" y="3106103"/>
            <a:ext cx="58864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分享维度</a:t>
            </a:r>
            <a:endParaRPr lang="en-US" sz="855" dirty="0"/>
          </a:p>
        </p:txBody>
      </p:sp>
      <p:sp>
        <p:nvSpPr>
          <p:cNvPr id="39" name="Text 37"/>
          <p:cNvSpPr/>
          <p:nvPr/>
        </p:nvSpPr>
        <p:spPr>
          <a:xfrm>
            <a:off x="3419445" y="3348990"/>
            <a:ext cx="2505913" cy="225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从技术实战到开源哲学，多维度展开深度讨论，呈现立体丰富的开源图景。</a:t>
            </a:r>
            <a:endParaRPr lang="en-US" sz="585" dirty="0"/>
          </a:p>
        </p:txBody>
      </p:sp>
      <p:sp>
        <p:nvSpPr>
          <p:cNvPr id="40" name="Shape 38"/>
          <p:cNvSpPr/>
          <p:nvPr/>
        </p:nvSpPr>
        <p:spPr>
          <a:xfrm>
            <a:off x="3419445" y="3656350"/>
            <a:ext cx="634365" cy="125730"/>
          </a:xfrm>
          <a:prstGeom prst="roundRect">
            <a:avLst>
              <a:gd name="adj" fmla="val 45455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9445" y="3656350"/>
            <a:ext cx="710489" cy="125730"/>
          </a:xfrm>
          <a:prstGeom prst="rect">
            <a:avLst/>
          </a:prstGeom>
          <a:noFill/>
          <a:ln/>
        </p:spPr>
        <p:txBody>
          <a:bodyPr wrap="squar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DIMENSIONS</a:t>
            </a:r>
            <a:endParaRPr lang="en-US" sz="495" dirty="0"/>
          </a:p>
        </p:txBody>
      </p:sp>
      <p:sp>
        <p:nvSpPr>
          <p:cNvPr id="42" name="Shape 40"/>
          <p:cNvSpPr/>
          <p:nvPr/>
        </p:nvSpPr>
        <p:spPr>
          <a:xfrm>
            <a:off x="6050220" y="2914650"/>
            <a:ext cx="2636580" cy="1010305"/>
          </a:xfrm>
          <a:prstGeom prst="roundRect">
            <a:avLst>
              <a:gd name="adj" fmla="val 6788"/>
            </a:avLst>
          </a:prstGeom>
          <a:solidFill>
            <a:srgbClr val="2196F3">
              <a:alpha val="8000"/>
            </a:srgbClr>
          </a:soli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50220" y="2914650"/>
            <a:ext cx="2625151" cy="17145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4" name="Shape 42"/>
          <p:cNvSpPr/>
          <p:nvPr/>
        </p:nvSpPr>
        <p:spPr>
          <a:xfrm>
            <a:off x="8218171" y="2686050"/>
            <a:ext cx="685800" cy="685800"/>
          </a:xfrm>
          <a:prstGeom prst="ellipse">
            <a:avLst/>
          </a:prstGeom>
          <a:gradFill rotWithShape="1">
            <a:gsLst>
              <a:gs pos="0">
                <a:srgbClr val="2196F3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5" name="Shape 43"/>
          <p:cNvSpPr/>
          <p:nvPr/>
        </p:nvSpPr>
        <p:spPr>
          <a:xfrm>
            <a:off x="6215955" y="3057525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</p:spPr>
      </p:sp>
      <p:sp>
        <p:nvSpPr>
          <p:cNvPr id="46" name="Text 44"/>
          <p:cNvSpPr/>
          <p:nvPr/>
        </p:nvSpPr>
        <p:spPr>
          <a:xfrm>
            <a:off x="6215955" y="3057525"/>
            <a:ext cx="291465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490275" y="3106103"/>
            <a:ext cx="588645" cy="13144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55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现场氛围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6215955" y="3348990"/>
            <a:ext cx="2505913" cy="2251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585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弹幕刷屏、连麦互动，社区成员热情参与全程，共鸣与火花交织不断。</a:t>
            </a:r>
            <a:endParaRPr lang="en-US" sz="585" dirty="0"/>
          </a:p>
        </p:txBody>
      </p:sp>
      <p:sp>
        <p:nvSpPr>
          <p:cNvPr id="49" name="Shape 47"/>
          <p:cNvSpPr/>
          <p:nvPr/>
        </p:nvSpPr>
        <p:spPr>
          <a:xfrm>
            <a:off x="6215955" y="3656350"/>
            <a:ext cx="314325" cy="125730"/>
          </a:xfrm>
          <a:prstGeom prst="roundRect">
            <a:avLst>
              <a:gd name="adj" fmla="val 45455"/>
            </a:avLst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5955" y="3656350"/>
            <a:ext cx="377190" cy="125730"/>
          </a:xfrm>
          <a:prstGeom prst="rect">
            <a:avLst/>
          </a:prstGeom>
          <a:noFill/>
          <a:ln/>
        </p:spPr>
        <p:txBody>
          <a:bodyPr wrap="none" lIns="17145" tIns="57150" rIns="57150" bIns="17145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VIBE</a:t>
            </a:r>
            <a:endParaRPr lang="en-US" sz="495" dirty="0"/>
          </a:p>
        </p:txBody>
      </p:sp>
      <p:sp>
        <p:nvSpPr>
          <p:cNvPr id="51" name="Shape 49"/>
          <p:cNvSpPr/>
          <p:nvPr/>
        </p:nvSpPr>
        <p:spPr>
          <a:xfrm>
            <a:off x="114300" y="1143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52" name="Shape 50"/>
          <p:cNvSpPr/>
          <p:nvPr/>
        </p:nvSpPr>
        <p:spPr>
          <a:xfrm>
            <a:off x="114300" y="114300"/>
            <a:ext cx="2286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300" y="114300"/>
            <a:ext cx="0" cy="2286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1100" y="1143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55" name="Shape 53"/>
          <p:cNvSpPr/>
          <p:nvPr/>
        </p:nvSpPr>
        <p:spPr>
          <a:xfrm>
            <a:off x="8801100" y="114300"/>
            <a:ext cx="2286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9700" y="114300"/>
            <a:ext cx="0" cy="2286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4300" y="48006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58" name="Shape 56"/>
          <p:cNvSpPr/>
          <p:nvPr/>
        </p:nvSpPr>
        <p:spPr>
          <a:xfrm>
            <a:off x="114300" y="5029200"/>
            <a:ext cx="2286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4300" y="4800600"/>
            <a:ext cx="0" cy="2286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01100" y="4800600"/>
            <a:ext cx="228600" cy="228600"/>
          </a:xfrm>
          <a:prstGeom prst="rect">
            <a:avLst/>
          </a:prstGeom>
          <a:noFill/>
          <a:ln/>
        </p:spPr>
      </p:sp>
      <p:sp>
        <p:nvSpPr>
          <p:cNvPr id="61" name="Shape 59"/>
          <p:cNvSpPr/>
          <p:nvPr/>
        </p:nvSpPr>
        <p:spPr>
          <a:xfrm>
            <a:off x="9029700" y="4800600"/>
            <a:ext cx="0" cy="22860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01100" y="5029200"/>
            <a:ext cx="228600" cy="0"/>
          </a:xfrm>
          <a:prstGeom prst="line">
            <a:avLst/>
          </a:prstGeom>
          <a:noFill/>
          <a:ln w="1143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100000">
                <a:srgbClr val="061224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2743200" y="-25717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2196F3">
                  <a:alpha val="96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4572000" y="2571750"/>
            <a:ext cx="9144000" cy="5143500"/>
          </a:xfrm>
          <a:prstGeom prst="ellipse">
            <a:avLst/>
          </a:prstGeom>
          <a:gradFill rotWithShape="1">
            <a:gsLst>
              <a:gs pos="0">
                <a:srgbClr val="00BCD4">
                  <a:alpha val="8000"/>
                </a:srgbClr>
              </a:gs>
              <a:gs pos="100000">
                <a:srgbClr val="00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342900" y="285750"/>
            <a:ext cx="1725930" cy="142875"/>
          </a:xfrm>
          <a:prstGeom prst="roundRect">
            <a:avLst>
              <a:gd name="adj" fmla="val 80000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8625" y="314325"/>
            <a:ext cx="1741018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SHARING HIGHLIGHTS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342900" y="508635"/>
            <a:ext cx="1988820" cy="4000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16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嘉宾分享精华</a:t>
            </a:r>
            <a:endParaRPr lang="en-US" sz="2160" dirty="0"/>
          </a:p>
        </p:txBody>
      </p:sp>
      <p:sp>
        <p:nvSpPr>
          <p:cNvPr id="9" name="Shape 7"/>
          <p:cNvSpPr/>
          <p:nvPr/>
        </p:nvSpPr>
        <p:spPr>
          <a:xfrm>
            <a:off x="342900" y="977265"/>
            <a:ext cx="34290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10" name="Shape 8"/>
          <p:cNvSpPr/>
          <p:nvPr/>
        </p:nvSpPr>
        <p:spPr>
          <a:xfrm rot="2700000">
            <a:off x="8412480" y="765810"/>
            <a:ext cx="80010" cy="80010"/>
          </a:xfrm>
          <a:prstGeom prst="rect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8515350" y="765810"/>
            <a:ext cx="80010" cy="80010"/>
          </a:xfrm>
          <a:prstGeom prst="rect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8618220" y="765810"/>
            <a:ext cx="80010" cy="80010"/>
          </a:xfrm>
          <a:prstGeom prst="rect">
            <a:avLst/>
          </a:prstGeom>
          <a:noFill/>
          <a:ln w="5715">
            <a:solidFill>
              <a:srgbClr val="00B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8721090" y="765810"/>
            <a:ext cx="80010" cy="80010"/>
          </a:xfrm>
          <a:prstGeom prst="rect">
            <a:avLst/>
          </a:prstGeom>
          <a:noFill/>
          <a:ln w="5715">
            <a:solidFill>
              <a:srgbClr val="2196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83780" y="880110"/>
            <a:ext cx="171450" cy="5715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7583805" y="880110"/>
            <a:ext cx="136337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· COMMUNITY · INNOVATION</a:t>
            </a:r>
            <a:endParaRPr lang="en-US" sz="495" dirty="0"/>
          </a:p>
        </p:txBody>
      </p:sp>
      <p:sp>
        <p:nvSpPr>
          <p:cNvPr id="16" name="Shape 14"/>
          <p:cNvSpPr/>
          <p:nvPr/>
        </p:nvSpPr>
        <p:spPr>
          <a:xfrm>
            <a:off x="342900" y="1074420"/>
            <a:ext cx="8458200" cy="303967"/>
          </a:xfrm>
          <a:prstGeom prst="rect">
            <a:avLst/>
          </a:prstGeom>
          <a:solidFill>
            <a:srgbClr val="2196F3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" y="1074420"/>
            <a:ext cx="0" cy="303967"/>
          </a:xfrm>
          <a:prstGeom prst="line">
            <a:avLst/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775" y="1177290"/>
            <a:ext cx="7706563" cy="97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本期嘉宾从</a:t>
            </a:r>
            <a:pPr algn="l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系统编程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开源运营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l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云原生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8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算法学习</a:t>
            </a:r>
            <a:pPr algn="l" indent="0" marL="0">
              <a:lnSpc>
                <a:spcPct val="180000"/>
              </a:lnSpc>
              <a:buNone/>
            </a:pPr>
            <a:r>
              <a:rPr lang="en-US" sz="63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四个维度带来了各自的分享，每位讲者都结合了自己的实践经验，用通俗易懂的方式传递了复杂的技术理念，让不同水平的听众都能获得启发。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342900" y="1504117"/>
            <a:ext cx="4183380" cy="1389906"/>
          </a:xfrm>
          <a:prstGeom prst="roundRect">
            <a:avLst>
              <a:gd name="adj" fmla="val 4934"/>
            </a:avLst>
          </a:prstGeom>
          <a:gradFill rotWithShape="1">
            <a:gsLst>
              <a:gs pos="0">
                <a:srgbClr val="0F2037">
                  <a:alpha val="90000"/>
                </a:srgbClr>
              </a:gs>
              <a:gs pos="100000">
                <a:srgbClr val="0A1628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" y="1504117"/>
            <a:ext cx="417195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Shape 19"/>
          <p:cNvSpPr/>
          <p:nvPr/>
        </p:nvSpPr>
        <p:spPr>
          <a:xfrm>
            <a:off x="4171950" y="253969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2" name="Text 20"/>
          <p:cNvSpPr/>
          <p:nvPr/>
        </p:nvSpPr>
        <p:spPr>
          <a:xfrm>
            <a:off x="4326255" y="1589842"/>
            <a:ext cx="15430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95" dirty="0"/>
          </a:p>
        </p:txBody>
      </p:sp>
      <p:sp>
        <p:nvSpPr>
          <p:cNvPr id="23" name="Shape 21"/>
          <p:cNvSpPr/>
          <p:nvPr/>
        </p:nvSpPr>
        <p:spPr>
          <a:xfrm>
            <a:off x="485775" y="1635562"/>
            <a:ext cx="400050" cy="4000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2196F3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2930" y="1732717"/>
            <a:ext cx="205740" cy="2057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88695" y="1635562"/>
            <a:ext cx="95440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系统编程新视角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88695" y="1824157"/>
            <a:ext cx="1081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PROGRAMMING</a:t>
            </a:r>
            <a:endParaRPr lang="en-US" sz="495" dirty="0"/>
          </a:p>
        </p:txBody>
      </p:sp>
      <p:sp>
        <p:nvSpPr>
          <p:cNvPr id="27" name="Shape 24"/>
          <p:cNvSpPr/>
          <p:nvPr/>
        </p:nvSpPr>
        <p:spPr>
          <a:xfrm>
            <a:off x="988695" y="1961317"/>
            <a:ext cx="171450" cy="11430"/>
          </a:xfrm>
          <a:prstGeom prst="roundRect">
            <a:avLst>
              <a:gd name="adj" fmla="val 100000"/>
            </a:avLst>
          </a:prstGeom>
          <a:solidFill>
            <a:srgbClr val="2196F3"/>
          </a:solidFill>
          <a:ln/>
        </p:spPr>
      </p:sp>
      <p:sp>
        <p:nvSpPr>
          <p:cNvPr id="28" name="Text 25"/>
          <p:cNvSpPr/>
          <p:nvPr/>
        </p:nvSpPr>
        <p:spPr>
          <a:xfrm>
            <a:off x="988695" y="2047042"/>
            <a:ext cx="2169871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Linux 内核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到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 生态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，分享系统层技术的最新演进趋势</a:t>
            </a:r>
            <a:endParaRPr lang="en-US" sz="585" dirty="0"/>
          </a:p>
        </p:txBody>
      </p:sp>
      <p:sp>
        <p:nvSpPr>
          <p:cNvPr id="29" name="Shape 26"/>
          <p:cNvSpPr/>
          <p:nvPr/>
        </p:nvSpPr>
        <p:spPr>
          <a:xfrm>
            <a:off x="4617720" y="1504117"/>
            <a:ext cx="4183380" cy="1389906"/>
          </a:xfrm>
          <a:prstGeom prst="roundRect">
            <a:avLst>
              <a:gd name="adj" fmla="val 4934"/>
            </a:avLst>
          </a:prstGeom>
          <a:gradFill rotWithShape="1">
            <a:gsLst>
              <a:gs pos="0">
                <a:srgbClr val="0F2037">
                  <a:alpha val="90000"/>
                </a:srgbClr>
              </a:gs>
              <a:gs pos="100000">
                <a:srgbClr val="0A1628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17720" y="1504117"/>
            <a:ext cx="417195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8"/>
          <p:cNvSpPr/>
          <p:nvPr/>
        </p:nvSpPr>
        <p:spPr>
          <a:xfrm>
            <a:off x="8446770" y="2539692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2" name="Text 29"/>
          <p:cNvSpPr/>
          <p:nvPr/>
        </p:nvSpPr>
        <p:spPr>
          <a:xfrm>
            <a:off x="8589645" y="1589842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95" dirty="0"/>
          </a:p>
        </p:txBody>
      </p:sp>
      <p:sp>
        <p:nvSpPr>
          <p:cNvPr id="33" name="Shape 30"/>
          <p:cNvSpPr/>
          <p:nvPr/>
        </p:nvSpPr>
        <p:spPr>
          <a:xfrm>
            <a:off x="4760595" y="1635562"/>
            <a:ext cx="400050" cy="4000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7750" y="1732717"/>
            <a:ext cx="205740" cy="20574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63515" y="1635562"/>
            <a:ext cx="95440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开源项目运营术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263515" y="1824157"/>
            <a:ext cx="64008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SOURCE</a:t>
            </a:r>
            <a:endParaRPr lang="en-US" sz="495" dirty="0"/>
          </a:p>
        </p:txBody>
      </p:sp>
      <p:sp>
        <p:nvSpPr>
          <p:cNvPr id="37" name="Shape 33"/>
          <p:cNvSpPr/>
          <p:nvPr/>
        </p:nvSpPr>
        <p:spPr>
          <a:xfrm>
            <a:off x="5263515" y="1961317"/>
            <a:ext cx="171450" cy="11430"/>
          </a:xfrm>
          <a:prstGeom prst="roundRect">
            <a:avLst>
              <a:gd name="adj" fmla="val 100000"/>
            </a:avLst>
          </a:prstGeom>
          <a:solidFill>
            <a:srgbClr val="00BCD4"/>
          </a:solidFill>
          <a:ln/>
        </p:spPr>
      </p:sp>
      <p:sp>
        <p:nvSpPr>
          <p:cNvPr id="38" name="Text 34"/>
          <p:cNvSpPr/>
          <p:nvPr/>
        </p:nvSpPr>
        <p:spPr>
          <a:xfrm>
            <a:off x="5263515" y="2047042"/>
            <a:ext cx="216347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结合亲身维护经验，讲解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社区治理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与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版本发布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的实用方法论</a:t>
            </a:r>
            <a:endParaRPr lang="en-US" sz="585" dirty="0"/>
          </a:p>
        </p:txBody>
      </p:sp>
      <p:sp>
        <p:nvSpPr>
          <p:cNvPr id="39" name="Shape 35"/>
          <p:cNvSpPr/>
          <p:nvPr/>
        </p:nvSpPr>
        <p:spPr>
          <a:xfrm>
            <a:off x="342900" y="2985462"/>
            <a:ext cx="4183380" cy="1389995"/>
          </a:xfrm>
          <a:prstGeom prst="roundRect">
            <a:avLst>
              <a:gd name="adj" fmla="val 4934"/>
            </a:avLst>
          </a:prstGeom>
          <a:gradFill rotWithShape="1">
            <a:gsLst>
              <a:gs pos="0">
                <a:srgbClr val="0F2037">
                  <a:alpha val="90000"/>
                </a:srgbClr>
              </a:gs>
              <a:gs pos="100000">
                <a:srgbClr val="0A1628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42900" y="2985462"/>
            <a:ext cx="417195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1" name="Shape 37"/>
          <p:cNvSpPr/>
          <p:nvPr/>
        </p:nvSpPr>
        <p:spPr>
          <a:xfrm>
            <a:off x="4171950" y="402112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2" name="Text 38"/>
          <p:cNvSpPr/>
          <p:nvPr/>
        </p:nvSpPr>
        <p:spPr>
          <a:xfrm>
            <a:off x="4314825" y="3071187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95" dirty="0"/>
          </a:p>
        </p:txBody>
      </p:sp>
      <p:sp>
        <p:nvSpPr>
          <p:cNvPr id="43" name="Shape 39"/>
          <p:cNvSpPr/>
          <p:nvPr/>
        </p:nvSpPr>
        <p:spPr>
          <a:xfrm>
            <a:off x="485775" y="3116907"/>
            <a:ext cx="400050" cy="4000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2196F3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930" y="3214062"/>
            <a:ext cx="205740" cy="20574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988695" y="3116907"/>
            <a:ext cx="95440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云原生落地实践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988695" y="3305502"/>
            <a:ext cx="672084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NATIVE</a:t>
            </a:r>
            <a:endParaRPr lang="en-US" sz="495" dirty="0"/>
          </a:p>
        </p:txBody>
      </p:sp>
      <p:sp>
        <p:nvSpPr>
          <p:cNvPr id="47" name="Shape 42"/>
          <p:cNvSpPr/>
          <p:nvPr/>
        </p:nvSpPr>
        <p:spPr>
          <a:xfrm>
            <a:off x="988695" y="3442662"/>
            <a:ext cx="171450" cy="11430"/>
          </a:xfrm>
          <a:prstGeom prst="roundRect">
            <a:avLst>
              <a:gd name="adj" fmla="val 100000"/>
            </a:avLst>
          </a:prstGeom>
          <a:solidFill>
            <a:srgbClr val="2196F3"/>
          </a:solidFill>
          <a:ln/>
        </p:spPr>
      </p:sp>
      <p:sp>
        <p:nvSpPr>
          <p:cNvPr id="48" name="Text 43"/>
          <p:cNvSpPr/>
          <p:nvPr/>
        </p:nvSpPr>
        <p:spPr>
          <a:xfrm>
            <a:off x="988695" y="3528387"/>
            <a:ext cx="199705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真实生产案例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为基础，揭示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容器化转型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的关键决策点</a:t>
            </a:r>
            <a:endParaRPr lang="en-US" sz="585" dirty="0"/>
          </a:p>
        </p:txBody>
      </p:sp>
      <p:sp>
        <p:nvSpPr>
          <p:cNvPr id="49" name="Shape 44"/>
          <p:cNvSpPr/>
          <p:nvPr/>
        </p:nvSpPr>
        <p:spPr>
          <a:xfrm>
            <a:off x="4617720" y="2985462"/>
            <a:ext cx="4183380" cy="1389995"/>
          </a:xfrm>
          <a:prstGeom prst="roundRect">
            <a:avLst>
              <a:gd name="adj" fmla="val 4934"/>
            </a:avLst>
          </a:prstGeom>
          <a:gradFill rotWithShape="1">
            <a:gsLst>
              <a:gs pos="0">
                <a:srgbClr val="0F2037">
                  <a:alpha val="90000"/>
                </a:srgbClr>
              </a:gs>
              <a:gs pos="100000">
                <a:srgbClr val="0A1628">
                  <a:alpha val="90000"/>
                </a:srgbClr>
              </a:gs>
            </a:gsLst>
            <a:lin ang="2700000" scaled="0"/>
          </a:gradFill>
          <a:ln w="5715">
            <a:solidFill>
              <a:srgbClr val="2196F3">
                <a:alpha val="25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617720" y="2985462"/>
            <a:ext cx="4171950" cy="1143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1" name="Shape 46"/>
          <p:cNvSpPr/>
          <p:nvPr/>
        </p:nvSpPr>
        <p:spPr>
          <a:xfrm>
            <a:off x="8446770" y="4021129"/>
            <a:ext cx="571500" cy="571500"/>
          </a:xfrm>
          <a:prstGeom prst="ellipse">
            <a:avLst/>
          </a:prstGeom>
          <a:gradFill rotWithShape="1">
            <a:gsLst>
              <a:gs pos="0">
                <a:srgbClr val="2196F3">
                  <a:alpha val="1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2" name="Text 47"/>
          <p:cNvSpPr/>
          <p:nvPr/>
        </p:nvSpPr>
        <p:spPr>
          <a:xfrm>
            <a:off x="8589645" y="3071187"/>
            <a:ext cx="16573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95" dirty="0"/>
          </a:p>
        </p:txBody>
      </p:sp>
      <p:sp>
        <p:nvSpPr>
          <p:cNvPr id="53" name="Shape 48"/>
          <p:cNvSpPr/>
          <p:nvPr/>
        </p:nvSpPr>
        <p:spPr>
          <a:xfrm>
            <a:off x="4760595" y="3116907"/>
            <a:ext cx="400050" cy="40005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7750" y="3214062"/>
            <a:ext cx="205740" cy="20574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263515" y="3116907"/>
            <a:ext cx="954405" cy="16573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算法学习的心法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5263515" y="3305502"/>
            <a:ext cx="537210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95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</a:t>
            </a:r>
            <a:endParaRPr lang="en-US" sz="495" dirty="0"/>
          </a:p>
        </p:txBody>
      </p:sp>
      <p:sp>
        <p:nvSpPr>
          <p:cNvPr id="57" name="Shape 51"/>
          <p:cNvSpPr/>
          <p:nvPr/>
        </p:nvSpPr>
        <p:spPr>
          <a:xfrm>
            <a:off x="5263515" y="3442662"/>
            <a:ext cx="171450" cy="11430"/>
          </a:xfrm>
          <a:prstGeom prst="roundRect">
            <a:avLst>
              <a:gd name="adj" fmla="val 100000"/>
            </a:avLst>
          </a:prstGeom>
          <a:solidFill>
            <a:srgbClr val="00BCD4"/>
          </a:solidFill>
          <a:ln/>
        </p:spPr>
      </p:sp>
      <p:sp>
        <p:nvSpPr>
          <p:cNvPr id="58" name="Text 52"/>
          <p:cNvSpPr/>
          <p:nvPr/>
        </p:nvSpPr>
        <p:spPr>
          <a:xfrm>
            <a:off x="5263515" y="3528387"/>
            <a:ext cx="216347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如何用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碎片时间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构建算法思维，分享高效学习的</a:t>
            </a:r>
            <a:pPr algn="l" indent="0" marL="0">
              <a:lnSpc>
                <a:spcPct val="170000"/>
              </a:lnSpc>
              <a:buNone/>
            </a:pPr>
            <a:r>
              <a:rPr lang="en-US" sz="58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个人方法论</a:t>
            </a:r>
            <a:endParaRPr lang="en-US" sz="585" dirty="0"/>
          </a:p>
        </p:txBody>
      </p:sp>
      <p:sp>
        <p:nvSpPr>
          <p:cNvPr id="59" name="Shape 53"/>
          <p:cNvSpPr/>
          <p:nvPr/>
        </p:nvSpPr>
        <p:spPr>
          <a:xfrm>
            <a:off x="342900" y="4478328"/>
            <a:ext cx="4183380" cy="436572"/>
          </a:xfrm>
          <a:prstGeom prst="roundRect">
            <a:avLst>
              <a:gd name="adj" fmla="val 1309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342900" y="4478328"/>
            <a:ext cx="17145" cy="425142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61" name="Shape 55"/>
          <p:cNvSpPr/>
          <p:nvPr/>
        </p:nvSpPr>
        <p:spPr>
          <a:xfrm>
            <a:off x="462915" y="4570839"/>
            <a:ext cx="251460" cy="251460"/>
          </a:xfrm>
          <a:prstGeom prst="roundRect">
            <a:avLst>
              <a:gd name="adj" fmla="val 22727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5780" y="4633704"/>
            <a:ext cx="125730" cy="12573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805815" y="4564053"/>
            <a:ext cx="21374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0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90" dirty="0"/>
          </a:p>
        </p:txBody>
      </p:sp>
      <p:sp>
        <p:nvSpPr>
          <p:cNvPr id="64" name="Text 57"/>
          <p:cNvSpPr/>
          <p:nvPr/>
        </p:nvSpPr>
        <p:spPr>
          <a:xfrm>
            <a:off x="914400" y="4609773"/>
            <a:ext cx="297180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位嘉宾</a:t>
            </a:r>
            <a:endParaRPr lang="en-US" sz="585" dirty="0"/>
          </a:p>
        </p:txBody>
      </p:sp>
      <p:sp>
        <p:nvSpPr>
          <p:cNvPr id="65" name="Text 58"/>
          <p:cNvSpPr/>
          <p:nvPr/>
        </p:nvSpPr>
        <p:spPr>
          <a:xfrm>
            <a:off x="805815" y="4743450"/>
            <a:ext cx="665683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覆盖四个技术领域</a:t>
            </a:r>
            <a:endParaRPr lang="en-US" sz="540" dirty="0"/>
          </a:p>
        </p:txBody>
      </p:sp>
      <p:sp>
        <p:nvSpPr>
          <p:cNvPr id="66" name="Shape 59"/>
          <p:cNvSpPr/>
          <p:nvPr/>
        </p:nvSpPr>
        <p:spPr>
          <a:xfrm>
            <a:off x="4051935" y="4580840"/>
            <a:ext cx="354330" cy="231458"/>
          </a:xfrm>
          <a:prstGeom prst="rect">
            <a:avLst/>
          </a:prstGeom>
          <a:noFill/>
          <a:ln/>
        </p:spPr>
      </p:sp>
      <p:sp>
        <p:nvSpPr>
          <p:cNvPr id="67" name="Shape 60"/>
          <p:cNvSpPr/>
          <p:nvPr/>
        </p:nvSpPr>
        <p:spPr>
          <a:xfrm>
            <a:off x="4051935" y="4580840"/>
            <a:ext cx="0" cy="231458"/>
          </a:xfrm>
          <a:prstGeom prst="lin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4126230" y="4580840"/>
            <a:ext cx="371475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720" dirty="0"/>
          </a:p>
        </p:txBody>
      </p:sp>
      <p:sp>
        <p:nvSpPr>
          <p:cNvPr id="69" name="Text 62"/>
          <p:cNvSpPr/>
          <p:nvPr/>
        </p:nvSpPr>
        <p:spPr>
          <a:xfrm>
            <a:off x="4126230" y="4723715"/>
            <a:ext cx="3371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领域互补</a:t>
            </a:r>
            <a:endParaRPr lang="en-US" sz="495" dirty="0"/>
          </a:p>
        </p:txBody>
      </p:sp>
      <p:sp>
        <p:nvSpPr>
          <p:cNvPr id="70" name="Shape 63"/>
          <p:cNvSpPr/>
          <p:nvPr/>
        </p:nvSpPr>
        <p:spPr>
          <a:xfrm>
            <a:off x="4617720" y="4478328"/>
            <a:ext cx="4183380" cy="436572"/>
          </a:xfrm>
          <a:prstGeom prst="roundRect">
            <a:avLst>
              <a:gd name="adj" fmla="val 13091"/>
            </a:avLst>
          </a:prstGeom>
          <a:gradFill rotWithShape="1">
            <a:gsLst>
              <a:gs pos="0">
                <a:srgbClr val="2196F3">
                  <a:alpha val="8000"/>
                </a:srgbClr>
              </a:gs>
              <a:gs pos="100000">
                <a:srgbClr val="00BCD4">
                  <a:alpha val="4000"/>
                </a:srgbClr>
              </a:gs>
            </a:gsLst>
            <a:lin ang="2700000" scaled="0"/>
          </a:gradFill>
          <a:ln w="5715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4617720" y="4478328"/>
            <a:ext cx="17145" cy="425142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</p:spPr>
      </p:sp>
      <p:sp>
        <p:nvSpPr>
          <p:cNvPr id="72" name="Shape 65"/>
          <p:cNvSpPr/>
          <p:nvPr/>
        </p:nvSpPr>
        <p:spPr>
          <a:xfrm>
            <a:off x="4737735" y="4570839"/>
            <a:ext cx="251460" cy="251460"/>
          </a:xfrm>
          <a:prstGeom prst="roundRect">
            <a:avLst>
              <a:gd name="adj" fmla="val 22727"/>
            </a:avLst>
          </a:prstGeom>
          <a:solidFill>
            <a:srgbClr val="00BCD4">
              <a:alpha val="15000"/>
            </a:srgbClr>
          </a:solidFill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00600" y="4633704"/>
            <a:ext cx="125730" cy="125730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5080635" y="4564053"/>
            <a:ext cx="213741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0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90" dirty="0"/>
          </a:p>
        </p:txBody>
      </p:sp>
      <p:sp>
        <p:nvSpPr>
          <p:cNvPr id="75" name="Text 67"/>
          <p:cNvSpPr/>
          <p:nvPr/>
        </p:nvSpPr>
        <p:spPr>
          <a:xfrm>
            <a:off x="5183505" y="4609773"/>
            <a:ext cx="371475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8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小时分享</a:t>
            </a:r>
            <a:endParaRPr lang="en-US" sz="585" dirty="0"/>
          </a:p>
        </p:txBody>
      </p:sp>
      <p:sp>
        <p:nvSpPr>
          <p:cNvPr id="76" name="Text 68"/>
          <p:cNvSpPr/>
          <p:nvPr/>
        </p:nvSpPr>
        <p:spPr>
          <a:xfrm>
            <a:off x="5080635" y="4743450"/>
            <a:ext cx="588645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含互动问答环节</a:t>
            </a:r>
            <a:endParaRPr lang="en-US" sz="540" dirty="0"/>
          </a:p>
        </p:txBody>
      </p:sp>
      <p:sp>
        <p:nvSpPr>
          <p:cNvPr id="77" name="Shape 69"/>
          <p:cNvSpPr/>
          <p:nvPr/>
        </p:nvSpPr>
        <p:spPr>
          <a:xfrm>
            <a:off x="8286750" y="4580840"/>
            <a:ext cx="394335" cy="231458"/>
          </a:xfrm>
          <a:prstGeom prst="rect">
            <a:avLst/>
          </a:prstGeom>
          <a:noFill/>
          <a:ln/>
        </p:spPr>
      </p:sp>
      <p:sp>
        <p:nvSpPr>
          <p:cNvPr id="78" name="Shape 70"/>
          <p:cNvSpPr/>
          <p:nvPr/>
        </p:nvSpPr>
        <p:spPr>
          <a:xfrm>
            <a:off x="8286750" y="4580840"/>
            <a:ext cx="0" cy="231458"/>
          </a:xfrm>
          <a:prstGeom prst="line">
            <a:avLst/>
          </a:prstGeom>
          <a:noFill/>
          <a:ln w="5715">
            <a:solidFill>
              <a:srgbClr val="00BCD4">
                <a:alpha val="30000"/>
              </a:srgbClr>
            </a:solidFill>
            <a:prstDash val="solid"/>
          </a:ln>
        </p:spPr>
      </p:sp>
      <p:sp>
        <p:nvSpPr>
          <p:cNvPr id="79" name="Text 71"/>
          <p:cNvSpPr/>
          <p:nvPr/>
        </p:nvSpPr>
        <p:spPr>
          <a:xfrm>
            <a:off x="8361045" y="4580840"/>
            <a:ext cx="411480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20" b="1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40min</a:t>
            </a:r>
            <a:endParaRPr lang="en-US" sz="720" dirty="0"/>
          </a:p>
        </p:txBody>
      </p:sp>
      <p:sp>
        <p:nvSpPr>
          <p:cNvPr id="80" name="Text 72"/>
          <p:cNvSpPr/>
          <p:nvPr/>
        </p:nvSpPr>
        <p:spPr>
          <a:xfrm>
            <a:off x="8361045" y="4723715"/>
            <a:ext cx="337185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95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互动时间</a:t>
            </a:r>
            <a:endParaRPr lang="en-US" sz="4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426"/>
              </a:gs>
              <a:gs pos="40000">
                <a:srgbClr val="0F1E3D"/>
              </a:gs>
              <a:gs pos="100000">
                <a:srgbClr val="0A1224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30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342900" y="360045"/>
            <a:ext cx="34290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5400000" scaled="0"/>
          </a:gradFill>
          <a:ln/>
          <a:effectLst>
            <a:outerShdw sx="100000" sy="100000" kx="0" ky="0" algn="bl" rotWithShape="0" blurRad="190500" dist="50800" dir="16200000">
              <a:srgbClr val="00BCD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0060" y="274320"/>
            <a:ext cx="1994535" cy="3143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710" b="1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社区互动亮点</a:t>
            </a:r>
            <a:endParaRPr lang="en-US" sz="1710" dirty="0"/>
          </a:p>
        </p:txBody>
      </p:sp>
      <p:sp>
        <p:nvSpPr>
          <p:cNvPr id="6" name="Text 4"/>
          <p:cNvSpPr/>
          <p:nvPr/>
        </p:nvSpPr>
        <p:spPr>
          <a:xfrm>
            <a:off x="480060" y="622935"/>
            <a:ext cx="1990649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45" kern="0" dirty="0">
                <a:solidFill>
                  <a:srgbClr val="ECEFF1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INTERACTION HIGHLIGHTS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7823835" y="274320"/>
            <a:ext cx="977265" cy="188595"/>
          </a:xfrm>
          <a:prstGeom prst="roundRect">
            <a:avLst>
              <a:gd name="adj" fmla="val 60606"/>
            </a:avLst>
          </a:prstGeom>
          <a:solidFill>
            <a:srgbClr val="2196F3">
              <a:alpha val="6000"/>
            </a:srgbClr>
          </a:soli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2420" y="351473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23860" y="325755"/>
            <a:ext cx="74889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 · 08</a:t>
            </a:r>
            <a:endParaRPr lang="en-US" sz="540" dirty="0"/>
          </a:p>
        </p:txBody>
      </p:sp>
      <p:sp>
        <p:nvSpPr>
          <p:cNvPr id="10" name="Shape 8"/>
          <p:cNvSpPr/>
          <p:nvPr/>
        </p:nvSpPr>
        <p:spPr>
          <a:xfrm>
            <a:off x="342900" y="822960"/>
            <a:ext cx="7886700" cy="330845"/>
          </a:xfrm>
          <a:prstGeom prst="rect">
            <a:avLst/>
          </a:prstGeom>
          <a:solidFill>
            <a:srgbClr val="2196F3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" y="822960"/>
            <a:ext cx="0" cy="330845"/>
          </a:xfrm>
          <a:prstGeom prst="line">
            <a:avLst/>
          </a:prstGeom>
          <a:noFill/>
          <a:ln w="17145">
            <a:solidFill>
              <a:srgbClr val="2196F3">
                <a:alpha val="7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" y="822960"/>
            <a:ext cx="8833104" cy="330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ECEFF1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一场好的分享会，精彩不仅在于台上的演讲，更在于台下的回应。本次活动中，社区成员的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参与度远超预期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ECEFF1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：连麦提问、弹幕互动、共读打卡、笔记分享，形成了</a:t>
            </a:r>
            <a:pPr algn="l" indent="0" marL="0">
              <a:lnSpc>
                <a:spcPct val="185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完整的知识传播闭环</a:t>
            </a:r>
            <a:pPr algn="l" indent="0" marL="0">
              <a:lnSpc>
                <a:spcPct val="185000"/>
              </a:lnSpc>
              <a:buNone/>
            </a:pPr>
            <a:r>
              <a:rPr lang="en-US" sz="630" dirty="0">
                <a:solidFill>
                  <a:srgbClr val="ECEFF1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630" dirty="0"/>
          </a:p>
        </p:txBody>
      </p:sp>
      <p:sp>
        <p:nvSpPr>
          <p:cNvPr id="13" name="Shape 11"/>
          <p:cNvSpPr/>
          <p:nvPr/>
        </p:nvSpPr>
        <p:spPr>
          <a:xfrm>
            <a:off x="342900" y="1279535"/>
            <a:ext cx="2743200" cy="620613"/>
          </a:xfrm>
          <a:prstGeom prst="roundRect">
            <a:avLst>
              <a:gd name="adj" fmla="val 1105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" y="1279535"/>
            <a:ext cx="27317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5" name="Shape 13"/>
          <p:cNvSpPr/>
          <p:nvPr/>
        </p:nvSpPr>
        <p:spPr>
          <a:xfrm>
            <a:off x="485775" y="1441252"/>
            <a:ext cx="297180" cy="297180"/>
          </a:xfrm>
          <a:prstGeom prst="roundRect">
            <a:avLst>
              <a:gd name="adj" fmla="val 19231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070" y="1515547"/>
            <a:ext cx="148590" cy="14859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85825" y="1388120"/>
            <a:ext cx="230428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CEFF1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连麦次数</a:t>
            </a:r>
            <a:endParaRPr lang="en-US" sz="540" dirty="0"/>
          </a:p>
        </p:txBody>
      </p:sp>
      <p:sp>
        <p:nvSpPr>
          <p:cNvPr id="18" name="Text 15"/>
          <p:cNvSpPr/>
          <p:nvPr/>
        </p:nvSpPr>
        <p:spPr>
          <a:xfrm>
            <a:off x="885825" y="1508135"/>
            <a:ext cx="2304288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次</a:t>
            </a:r>
            <a:endParaRPr lang="en-US" sz="1170" dirty="0"/>
          </a:p>
        </p:txBody>
      </p:sp>
      <p:sp>
        <p:nvSpPr>
          <p:cNvPr id="19" name="Text 16"/>
          <p:cNvSpPr/>
          <p:nvPr/>
        </p:nvSpPr>
        <p:spPr>
          <a:xfrm>
            <a:off x="885825" y="1694408"/>
            <a:ext cx="230428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CEFF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嘉宾与观众实时交流</a:t>
            </a:r>
            <a:endParaRPr lang="en-US" sz="540" dirty="0"/>
          </a:p>
        </p:txBody>
      </p:sp>
      <p:sp>
        <p:nvSpPr>
          <p:cNvPr id="20" name="Shape 17"/>
          <p:cNvSpPr/>
          <p:nvPr/>
        </p:nvSpPr>
        <p:spPr>
          <a:xfrm>
            <a:off x="3200400" y="1279535"/>
            <a:ext cx="2743200" cy="620613"/>
          </a:xfrm>
          <a:prstGeom prst="roundRect">
            <a:avLst>
              <a:gd name="adj" fmla="val 1105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0400" y="1279535"/>
            <a:ext cx="27317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2" name="Shape 19"/>
          <p:cNvSpPr/>
          <p:nvPr/>
        </p:nvSpPr>
        <p:spPr>
          <a:xfrm>
            <a:off x="3343275" y="1441252"/>
            <a:ext cx="297180" cy="297180"/>
          </a:xfrm>
          <a:prstGeom prst="roundRect">
            <a:avLst>
              <a:gd name="adj" fmla="val 19231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7570" y="1515547"/>
            <a:ext cx="148590" cy="14859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43325" y="1388120"/>
            <a:ext cx="230428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CEFF1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共读参与</a:t>
            </a:r>
            <a:endParaRPr lang="en-US" sz="540" dirty="0"/>
          </a:p>
        </p:txBody>
      </p:sp>
      <p:sp>
        <p:nvSpPr>
          <p:cNvPr id="25" name="Text 21"/>
          <p:cNvSpPr/>
          <p:nvPr/>
        </p:nvSpPr>
        <p:spPr>
          <a:xfrm>
            <a:off x="3743325" y="1508135"/>
            <a:ext cx="2304288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1170" dirty="0"/>
          </a:p>
        </p:txBody>
      </p:sp>
      <p:sp>
        <p:nvSpPr>
          <p:cNvPr id="26" name="Text 22"/>
          <p:cNvSpPr/>
          <p:nvPr/>
        </p:nvSpPr>
        <p:spPr>
          <a:xfrm>
            <a:off x="3743325" y="1694408"/>
            <a:ext cx="230428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CEFF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加入30天共读挑战</a:t>
            </a:r>
            <a:endParaRPr lang="en-US" sz="540" dirty="0"/>
          </a:p>
        </p:txBody>
      </p:sp>
      <p:sp>
        <p:nvSpPr>
          <p:cNvPr id="27" name="Shape 23"/>
          <p:cNvSpPr/>
          <p:nvPr/>
        </p:nvSpPr>
        <p:spPr>
          <a:xfrm>
            <a:off x="6057900" y="1279535"/>
            <a:ext cx="2743200" cy="620613"/>
          </a:xfrm>
          <a:prstGeom prst="roundRect">
            <a:avLst>
              <a:gd name="adj" fmla="val 11050"/>
            </a:avLst>
          </a:prstGeom>
          <a:gradFill rotWithShape="1">
            <a:gsLst>
              <a:gs pos="0">
                <a:srgbClr val="2196F3">
                  <a:alpha val="10000"/>
                </a:srgbClr>
              </a:gs>
              <a:gs pos="100000">
                <a:srgbClr val="00BCD4">
                  <a:alpha val="5000"/>
                </a:srgbClr>
              </a:gs>
            </a:gsLst>
            <a:lin ang="27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057900" y="1279535"/>
            <a:ext cx="27317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9" name="Shape 25"/>
          <p:cNvSpPr/>
          <p:nvPr/>
        </p:nvSpPr>
        <p:spPr>
          <a:xfrm>
            <a:off x="6200775" y="1441252"/>
            <a:ext cx="297180" cy="297180"/>
          </a:xfrm>
          <a:prstGeom prst="roundRect">
            <a:avLst>
              <a:gd name="adj" fmla="val 19231"/>
            </a:avLst>
          </a:prstGeom>
          <a:solidFill>
            <a:srgbClr val="2196F3">
              <a:alpha val="15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5070" y="1515547"/>
            <a:ext cx="148590" cy="14859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00825" y="1388120"/>
            <a:ext cx="230428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ECEFF1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公开笔记</a:t>
            </a:r>
            <a:endParaRPr lang="en-US" sz="540" dirty="0"/>
          </a:p>
        </p:txBody>
      </p:sp>
      <p:sp>
        <p:nvSpPr>
          <p:cNvPr id="32" name="Text 27"/>
          <p:cNvSpPr/>
          <p:nvPr/>
        </p:nvSpPr>
        <p:spPr>
          <a:xfrm>
            <a:off x="6600825" y="1508135"/>
            <a:ext cx="2304288" cy="163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70" b="1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pPr algn="l" indent="0" marL="0">
              <a:lnSpc>
                <a:spcPct val="110000"/>
              </a:lnSpc>
              <a:buNone/>
            </a:pPr>
            <a:r>
              <a:rPr lang="en-US" sz="630" b="1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篇</a:t>
            </a:r>
            <a:endParaRPr lang="en-US" sz="1170" dirty="0"/>
          </a:p>
        </p:txBody>
      </p:sp>
      <p:sp>
        <p:nvSpPr>
          <p:cNvPr id="33" name="Text 28"/>
          <p:cNvSpPr/>
          <p:nvPr/>
        </p:nvSpPr>
        <p:spPr>
          <a:xfrm>
            <a:off x="6600825" y="1694408"/>
            <a:ext cx="230428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dirty="0">
                <a:solidFill>
                  <a:srgbClr val="ECEFF1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社区成员自发撰写</a:t>
            </a:r>
            <a:endParaRPr lang="en-US" sz="540" dirty="0"/>
          </a:p>
        </p:txBody>
      </p:sp>
      <p:sp>
        <p:nvSpPr>
          <p:cNvPr id="34" name="Text 29"/>
          <p:cNvSpPr/>
          <p:nvPr/>
        </p:nvSpPr>
        <p:spPr>
          <a:xfrm>
            <a:off x="342900" y="2025878"/>
            <a:ext cx="755294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▎ 四大互动亮点</a:t>
            </a:r>
            <a:endParaRPr lang="en-US" sz="585" dirty="0"/>
          </a:p>
        </p:txBody>
      </p:sp>
      <p:sp>
        <p:nvSpPr>
          <p:cNvPr id="35" name="Shape 30"/>
          <p:cNvSpPr/>
          <p:nvPr/>
        </p:nvSpPr>
        <p:spPr>
          <a:xfrm>
            <a:off x="1074420" y="2077313"/>
            <a:ext cx="5646420" cy="5715"/>
          </a:xfrm>
          <a:prstGeom prst="rect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6" name="Shape 31"/>
          <p:cNvSpPr/>
          <p:nvPr/>
        </p:nvSpPr>
        <p:spPr>
          <a:xfrm>
            <a:off x="342900" y="2214473"/>
            <a:ext cx="6377940" cy="412909"/>
          </a:xfrm>
          <a:prstGeom prst="roundRect">
            <a:avLst>
              <a:gd name="adj" fmla="val 13841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40055" y="2288768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440055" y="2288768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30" dirty="0"/>
          </a:p>
        </p:txBody>
      </p:sp>
      <p:sp>
        <p:nvSpPr>
          <p:cNvPr id="39" name="Text 34"/>
          <p:cNvSpPr/>
          <p:nvPr/>
        </p:nvSpPr>
        <p:spPr>
          <a:xfrm>
            <a:off x="737235" y="2288768"/>
            <a:ext cx="6183173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连麦对谈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737235" y="2431643"/>
            <a:ext cx="6183173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多位社区成员连麦与嘉宾实时交流，问题质量极高，现场互动热烈。</a:t>
            </a:r>
            <a:endParaRPr lang="en-US" sz="563" dirty="0"/>
          </a:p>
        </p:txBody>
      </p:sp>
      <p:sp>
        <p:nvSpPr>
          <p:cNvPr id="41" name="Shape 36"/>
          <p:cNvSpPr/>
          <p:nvPr/>
        </p:nvSpPr>
        <p:spPr>
          <a:xfrm>
            <a:off x="6349365" y="2311628"/>
            <a:ext cx="274320" cy="125730"/>
          </a:xfrm>
          <a:prstGeom prst="roundRect">
            <a:avLst>
              <a:gd name="adj" fmla="val 45455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349365" y="2311628"/>
            <a:ext cx="331470" cy="12573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450" dirty="0"/>
          </a:p>
        </p:txBody>
      </p:sp>
      <p:sp>
        <p:nvSpPr>
          <p:cNvPr id="43" name="Shape 38"/>
          <p:cNvSpPr/>
          <p:nvPr/>
        </p:nvSpPr>
        <p:spPr>
          <a:xfrm>
            <a:off x="342900" y="2684532"/>
            <a:ext cx="6377940" cy="412909"/>
          </a:xfrm>
          <a:prstGeom prst="roundRect">
            <a:avLst>
              <a:gd name="adj" fmla="val 13841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40055" y="2758827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440055" y="2758827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30" dirty="0"/>
          </a:p>
        </p:txBody>
      </p:sp>
      <p:sp>
        <p:nvSpPr>
          <p:cNvPr id="46" name="Text 41"/>
          <p:cNvSpPr/>
          <p:nvPr/>
        </p:nvSpPr>
        <p:spPr>
          <a:xfrm>
            <a:off x="737235" y="2758827"/>
            <a:ext cx="5971946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弹幕金句</a:t>
            </a:r>
            <a:endParaRPr lang="en-US" sz="675" dirty="0"/>
          </a:p>
        </p:txBody>
      </p:sp>
      <p:sp>
        <p:nvSpPr>
          <p:cNvPr id="47" name="Text 42"/>
          <p:cNvSpPr/>
          <p:nvPr/>
        </p:nvSpPr>
        <p:spPr>
          <a:xfrm>
            <a:off x="737235" y="2901702"/>
            <a:ext cx="5971946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直播弹幕中涌现多条被收藏的优质评论，体现社区思考深度与参与热情。</a:t>
            </a:r>
            <a:endParaRPr lang="en-US" sz="563" dirty="0"/>
          </a:p>
        </p:txBody>
      </p:sp>
      <p:sp>
        <p:nvSpPr>
          <p:cNvPr id="48" name="Shape 43"/>
          <p:cNvSpPr/>
          <p:nvPr/>
        </p:nvSpPr>
        <p:spPr>
          <a:xfrm>
            <a:off x="6160770" y="2781687"/>
            <a:ext cx="462915" cy="125730"/>
          </a:xfrm>
          <a:prstGeom prst="roundRect">
            <a:avLst>
              <a:gd name="adj" fmla="val 45455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160770" y="2781687"/>
            <a:ext cx="520065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DANMAKU</a:t>
            </a:r>
            <a:endParaRPr lang="en-US" sz="450" dirty="0"/>
          </a:p>
        </p:txBody>
      </p:sp>
      <p:sp>
        <p:nvSpPr>
          <p:cNvPr id="50" name="Shape 45"/>
          <p:cNvSpPr/>
          <p:nvPr/>
        </p:nvSpPr>
        <p:spPr>
          <a:xfrm>
            <a:off x="342900" y="3154591"/>
            <a:ext cx="6377940" cy="412909"/>
          </a:xfrm>
          <a:prstGeom prst="roundRect">
            <a:avLst>
              <a:gd name="adj" fmla="val 13841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40055" y="3228886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52" name="Text 47"/>
          <p:cNvSpPr/>
          <p:nvPr/>
        </p:nvSpPr>
        <p:spPr>
          <a:xfrm>
            <a:off x="440055" y="3228886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30" dirty="0"/>
          </a:p>
        </p:txBody>
      </p:sp>
      <p:sp>
        <p:nvSpPr>
          <p:cNvPr id="53" name="Text 48"/>
          <p:cNvSpPr/>
          <p:nvPr/>
        </p:nvSpPr>
        <p:spPr>
          <a:xfrm>
            <a:off x="737235" y="3228886"/>
            <a:ext cx="6042355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共读打卡</a:t>
            </a:r>
            <a:endParaRPr lang="en-US" sz="675" dirty="0"/>
          </a:p>
        </p:txBody>
      </p:sp>
      <p:sp>
        <p:nvSpPr>
          <p:cNvPr id="54" name="Text 49"/>
          <p:cNvSpPr/>
          <p:nvPr/>
        </p:nvSpPr>
        <p:spPr>
          <a:xfrm>
            <a:off x="737235" y="3371761"/>
            <a:ext cx="6042355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活动后发起30天共读挑战，社区成员自发组队互相督促，持续输出阅读成果。</a:t>
            </a:r>
            <a:endParaRPr lang="en-US" sz="563" dirty="0"/>
          </a:p>
        </p:txBody>
      </p:sp>
      <p:sp>
        <p:nvSpPr>
          <p:cNvPr id="55" name="Shape 50"/>
          <p:cNvSpPr/>
          <p:nvPr/>
        </p:nvSpPr>
        <p:spPr>
          <a:xfrm>
            <a:off x="6223635" y="3251746"/>
            <a:ext cx="400050" cy="125730"/>
          </a:xfrm>
          <a:prstGeom prst="roundRect">
            <a:avLst>
              <a:gd name="adj" fmla="val 45455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223635" y="3251746"/>
            <a:ext cx="457200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DAYS</a:t>
            </a:r>
            <a:endParaRPr lang="en-US" sz="450" dirty="0"/>
          </a:p>
        </p:txBody>
      </p:sp>
      <p:sp>
        <p:nvSpPr>
          <p:cNvPr id="57" name="Shape 52"/>
          <p:cNvSpPr/>
          <p:nvPr/>
        </p:nvSpPr>
        <p:spPr>
          <a:xfrm>
            <a:off x="342900" y="3624649"/>
            <a:ext cx="6377940" cy="412909"/>
          </a:xfrm>
          <a:prstGeom prst="roundRect">
            <a:avLst>
              <a:gd name="adj" fmla="val 13841"/>
            </a:avLst>
          </a:prstGeom>
          <a:solidFill>
            <a:srgbClr val="2196F3">
              <a:alpha val="5000"/>
            </a:srgbClr>
          </a:solidFill>
          <a:ln w="5715">
            <a:solidFill>
              <a:srgbClr val="2196F3">
                <a:alpha val="12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40055" y="3698944"/>
            <a:ext cx="205740" cy="20574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2700000" scaled="0"/>
          </a:gradFill>
          <a:ln/>
          <a:effectLst>
            <a:outerShdw sx="100000" sy="100000" kx="0" ky="0" algn="bl" rotWithShape="0" blurRad="114300" dist="38100" dir="16200000">
              <a:srgbClr val="2196F3">
                <a:alpha val="30000"/>
              </a:srgbClr>
            </a:outerShdw>
          </a:effectLst>
        </p:spPr>
      </p:sp>
      <p:sp>
        <p:nvSpPr>
          <p:cNvPr id="59" name="Text 54"/>
          <p:cNvSpPr/>
          <p:nvPr/>
        </p:nvSpPr>
        <p:spPr>
          <a:xfrm>
            <a:off x="440055" y="3698944"/>
            <a:ext cx="285750" cy="2057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30" dirty="0"/>
          </a:p>
        </p:txBody>
      </p:sp>
      <p:sp>
        <p:nvSpPr>
          <p:cNvPr id="60" name="Text 55"/>
          <p:cNvSpPr/>
          <p:nvPr/>
        </p:nvSpPr>
        <p:spPr>
          <a:xfrm>
            <a:off x="737235" y="3698944"/>
            <a:ext cx="6099962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b="1" spc="23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笔记沉淀</a:t>
            </a:r>
            <a:endParaRPr lang="en-US" sz="675" dirty="0"/>
          </a:p>
        </p:txBody>
      </p:sp>
      <p:sp>
        <p:nvSpPr>
          <p:cNvPr id="61" name="Text 56"/>
          <p:cNvSpPr/>
          <p:nvPr/>
        </p:nvSpPr>
        <p:spPr>
          <a:xfrm>
            <a:off x="737235" y="3841819"/>
            <a:ext cx="6099962" cy="1214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563" dirty="0">
                <a:solidFill>
                  <a:srgbClr val="ECEFF1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多位参与者撰写阅读笔记并在社区公开分享，形成知识长尾效应。</a:t>
            </a:r>
            <a:endParaRPr lang="en-US" sz="563" dirty="0"/>
          </a:p>
        </p:txBody>
      </p:sp>
      <p:sp>
        <p:nvSpPr>
          <p:cNvPr id="62" name="Shape 57"/>
          <p:cNvSpPr/>
          <p:nvPr/>
        </p:nvSpPr>
        <p:spPr>
          <a:xfrm>
            <a:off x="6275070" y="3721804"/>
            <a:ext cx="348615" cy="125730"/>
          </a:xfrm>
          <a:prstGeom prst="roundRect">
            <a:avLst>
              <a:gd name="adj" fmla="val 45455"/>
            </a:avLst>
          </a:prstGeom>
          <a:solidFill>
            <a:srgbClr val="00BCD4">
              <a:alpha val="8000"/>
            </a:srgbClr>
          </a:solidFill>
          <a:ln w="5715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6275070" y="3721804"/>
            <a:ext cx="405765" cy="12573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5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</a:t>
            </a:r>
            <a:endParaRPr lang="en-US" sz="450" dirty="0"/>
          </a:p>
        </p:txBody>
      </p:sp>
      <p:sp>
        <p:nvSpPr>
          <p:cNvPr id="64" name="Shape 59"/>
          <p:cNvSpPr/>
          <p:nvPr/>
        </p:nvSpPr>
        <p:spPr>
          <a:xfrm>
            <a:off x="6858000" y="2025878"/>
            <a:ext cx="1943100" cy="2574697"/>
          </a:xfrm>
          <a:prstGeom prst="roundRect">
            <a:avLst>
              <a:gd name="adj" fmla="val 3529"/>
            </a:avLst>
          </a:prstGeom>
          <a:gradFill rotWithShape="1">
            <a:gsLst>
              <a:gs pos="0">
                <a:srgbClr val="2196F3">
                  <a:alpha val="6000"/>
                </a:srgbClr>
              </a:gs>
              <a:gs pos="100000">
                <a:srgbClr val="00BCD4">
                  <a:alpha val="3000"/>
                </a:srgbClr>
              </a:gs>
            </a:gsLst>
            <a:lin ang="4200000" scaled="0"/>
          </a:gradFill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6966585" y="2134463"/>
            <a:ext cx="1933042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495" spc="90" kern="0" dirty="0">
                <a:solidFill>
                  <a:srgbClr val="ECEFF1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▎ COMMUNITY PULSE ▎</a:t>
            </a:r>
            <a:endParaRPr lang="en-US" sz="495" dirty="0"/>
          </a:p>
        </p:txBody>
      </p:sp>
      <p:sp>
        <p:nvSpPr>
          <p:cNvPr id="66" name="Shape 61"/>
          <p:cNvSpPr/>
          <p:nvPr/>
        </p:nvSpPr>
        <p:spPr>
          <a:xfrm>
            <a:off x="7012305" y="2324930"/>
            <a:ext cx="674370" cy="190827"/>
          </a:xfrm>
          <a:prstGeom prst="roundRect">
            <a:avLst>
              <a:gd name="adj" fmla="val 41928"/>
            </a:avLst>
          </a:prstGeom>
          <a:solidFill>
            <a:srgbClr val="2196F3">
              <a:alpha val="25000"/>
            </a:srgbClr>
          </a:soli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012305" y="2324930"/>
            <a:ext cx="755294" cy="190827"/>
          </a:xfrm>
          <a:prstGeom prst="rect">
            <a:avLst/>
          </a:prstGeom>
          <a:noFill/>
          <a:ln/>
        </p:spPr>
        <p:txBody>
          <a:bodyPr wrap="square" lIns="45720" tIns="80010" rIns="80010" bIns="4572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这个问题问得好！</a:t>
            </a:r>
            <a:endParaRPr lang="en-US" sz="495" dirty="0"/>
          </a:p>
        </p:txBody>
      </p:sp>
      <p:sp>
        <p:nvSpPr>
          <p:cNvPr id="68" name="Shape 63"/>
          <p:cNvSpPr/>
          <p:nvPr/>
        </p:nvSpPr>
        <p:spPr>
          <a:xfrm>
            <a:off x="8126730" y="2408783"/>
            <a:ext cx="508635" cy="190827"/>
          </a:xfrm>
          <a:prstGeom prst="roundRect">
            <a:avLst>
              <a:gd name="adj" fmla="val 41928"/>
            </a:avLst>
          </a:prstGeom>
          <a:solidFill>
            <a:srgbClr val="00BCD4">
              <a:alpha val="22000"/>
            </a:srgbClr>
          </a:solidFill>
          <a:ln w="5715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126730" y="2408783"/>
            <a:ext cx="571500" cy="190827"/>
          </a:xfrm>
          <a:prstGeom prst="rect">
            <a:avLst/>
          </a:prstGeom>
          <a:noFill/>
          <a:ln/>
        </p:spPr>
        <p:txBody>
          <a:bodyPr wrap="square" lIns="45720" tIns="80010" rIns="80010" bIns="4572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共鸣了，加1</a:t>
            </a:r>
            <a:endParaRPr lang="en-US" sz="495" dirty="0"/>
          </a:p>
        </p:txBody>
      </p:sp>
      <p:sp>
        <p:nvSpPr>
          <p:cNvPr id="70" name="Shape 65"/>
          <p:cNvSpPr/>
          <p:nvPr/>
        </p:nvSpPr>
        <p:spPr>
          <a:xfrm>
            <a:off x="7103745" y="2717393"/>
            <a:ext cx="611505" cy="190827"/>
          </a:xfrm>
          <a:prstGeom prst="roundRect">
            <a:avLst>
              <a:gd name="adj" fmla="val 41928"/>
            </a:avLst>
          </a:prstGeom>
          <a:solidFill>
            <a:srgbClr val="2196F3">
              <a:alpha val="18000"/>
            </a:srgbClr>
          </a:solidFill>
          <a:ln w="5715">
            <a:solidFill>
              <a:srgbClr val="2196F3">
                <a:alpha val="35000"/>
              </a:srgbClr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7103745" y="2717393"/>
            <a:ext cx="684886" cy="190827"/>
          </a:xfrm>
          <a:prstGeom prst="rect">
            <a:avLst/>
          </a:prstGeom>
          <a:noFill/>
          <a:ln/>
        </p:spPr>
        <p:txBody>
          <a:bodyPr wrap="square" lIns="45720" tIns="80010" rIns="80010" bIns="4572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CEFF1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学到了，记笔记</a:t>
            </a:r>
            <a:endParaRPr lang="en-US" sz="495" dirty="0"/>
          </a:p>
        </p:txBody>
      </p:sp>
      <p:sp>
        <p:nvSpPr>
          <p:cNvPr id="72" name="Shape 67"/>
          <p:cNvSpPr/>
          <p:nvPr/>
        </p:nvSpPr>
        <p:spPr>
          <a:xfrm>
            <a:off x="7915275" y="2945993"/>
            <a:ext cx="742950" cy="278785"/>
          </a:xfrm>
          <a:prstGeom prst="roundRect">
            <a:avLst>
              <a:gd name="adj" fmla="val 28700"/>
            </a:avLst>
          </a:prstGeom>
          <a:solidFill>
            <a:srgbClr val="00BCD4">
              <a:alpha val="18000"/>
            </a:srgbClr>
          </a:solidFill>
          <a:ln w="5715">
            <a:solidFill>
              <a:srgbClr val="00BCD4">
                <a:alpha val="35000"/>
              </a:srgbClr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7915275" y="2945993"/>
            <a:ext cx="832104" cy="278785"/>
          </a:xfrm>
          <a:prstGeom prst="rect">
            <a:avLst/>
          </a:prstGeom>
          <a:noFill/>
          <a:ln/>
        </p:spPr>
        <p:txBody>
          <a:bodyPr wrap="square" lIns="45720" tIns="80010" rIns="80010" bIns="4572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CEFF1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明天继续共读打卡 ✨</a:t>
            </a:r>
            <a:endParaRPr lang="en-US" sz="495" dirty="0"/>
          </a:p>
        </p:txBody>
      </p:sp>
      <p:sp>
        <p:nvSpPr>
          <p:cNvPr id="74" name="Shape 69"/>
          <p:cNvSpPr/>
          <p:nvPr/>
        </p:nvSpPr>
        <p:spPr>
          <a:xfrm>
            <a:off x="6989445" y="3254603"/>
            <a:ext cx="485775" cy="190827"/>
          </a:xfrm>
          <a:prstGeom prst="roundRect">
            <a:avLst>
              <a:gd name="adj" fmla="val 41928"/>
            </a:avLst>
          </a:prstGeom>
          <a:solidFill>
            <a:srgbClr val="2196F3">
              <a:alpha val="20000"/>
            </a:srgbClr>
          </a:soli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989445" y="3254603"/>
            <a:ext cx="548640" cy="190827"/>
          </a:xfrm>
          <a:prstGeom prst="rect">
            <a:avLst/>
          </a:prstGeom>
          <a:noFill/>
          <a:ln/>
        </p:spPr>
        <p:txBody>
          <a:bodyPr wrap="square" lIns="45720" tIns="80010" rIns="80010" bIns="4572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495" dirty="0">
                <a:solidFill>
                  <a:srgbClr val="ECEFF1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笔记已分享</a:t>
            </a:r>
            <a:endParaRPr lang="en-US" sz="495" dirty="0"/>
          </a:p>
        </p:txBody>
      </p:sp>
      <p:sp>
        <p:nvSpPr>
          <p:cNvPr id="76" name="Shape 71"/>
          <p:cNvSpPr/>
          <p:nvPr/>
        </p:nvSpPr>
        <p:spPr>
          <a:xfrm>
            <a:off x="7880985" y="301457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7" name="Shape 72"/>
          <p:cNvSpPr/>
          <p:nvPr/>
        </p:nvSpPr>
        <p:spPr>
          <a:xfrm>
            <a:off x="8109585" y="315744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8" name="Shape 73"/>
          <p:cNvSpPr/>
          <p:nvPr/>
        </p:nvSpPr>
        <p:spPr>
          <a:xfrm>
            <a:off x="7423785" y="3100298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79" name="Shape 74"/>
          <p:cNvSpPr/>
          <p:nvPr/>
        </p:nvSpPr>
        <p:spPr>
          <a:xfrm>
            <a:off x="7208133" y="4046220"/>
            <a:ext cx="5715" cy="171450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80" name="Shape 75"/>
          <p:cNvSpPr/>
          <p:nvPr/>
        </p:nvSpPr>
        <p:spPr>
          <a:xfrm>
            <a:off x="7622381" y="4103370"/>
            <a:ext cx="5715" cy="114300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81" name="Shape 76"/>
          <p:cNvSpPr/>
          <p:nvPr/>
        </p:nvSpPr>
        <p:spPr>
          <a:xfrm>
            <a:off x="8031004" y="4017645"/>
            <a:ext cx="5715" cy="20002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82" name="Shape 77"/>
          <p:cNvSpPr/>
          <p:nvPr/>
        </p:nvSpPr>
        <p:spPr>
          <a:xfrm>
            <a:off x="8445252" y="4074795"/>
            <a:ext cx="5715" cy="142875"/>
          </a:xfrm>
          <a:prstGeom prst="rect">
            <a:avLst/>
          </a:prstGeom>
          <a:gradFill rotWithShape="1">
            <a:gsLst>
              <a:gs pos="0">
                <a:srgbClr val="2196F3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/>
        </p:spPr>
      </p:sp>
      <p:sp>
        <p:nvSpPr>
          <p:cNvPr id="83" name="Shape 78"/>
          <p:cNvSpPr/>
          <p:nvPr/>
        </p:nvSpPr>
        <p:spPr>
          <a:xfrm>
            <a:off x="7440930" y="4217670"/>
            <a:ext cx="91440" cy="91440"/>
          </a:xfrm>
          <a:prstGeom prst="ellipse">
            <a:avLst/>
          </a:prstGeom>
          <a:solidFill>
            <a:srgbClr val="2196F3">
              <a:alpha val="40000"/>
            </a:srgbClr>
          </a:solidFill>
          <a:ln w="5715">
            <a:solidFill>
              <a:srgbClr val="2196F3">
                <a:alpha val="7000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7406640" y="4297680"/>
            <a:ext cx="160020" cy="137160"/>
          </a:xfrm>
          <a:prstGeom prst="rect">
            <a:avLst/>
          </a:prstGeom>
          <a:solidFill>
            <a:srgbClr val="2196F3">
              <a:alpha val="25000"/>
            </a:srgbClr>
          </a:solidFill>
          <a:ln/>
        </p:spPr>
      </p:sp>
      <p:sp>
        <p:nvSpPr>
          <p:cNvPr id="85" name="Shape 80"/>
          <p:cNvSpPr/>
          <p:nvPr/>
        </p:nvSpPr>
        <p:spPr>
          <a:xfrm>
            <a:off x="7566660" y="4297680"/>
            <a:ext cx="0" cy="137160"/>
          </a:xfrm>
          <a:prstGeom prst="line">
            <a:avLst/>
          </a:prstGeom>
          <a:noFill/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7406640" y="4434840"/>
            <a:ext cx="160020" cy="0"/>
          </a:xfrm>
          <a:prstGeom prst="line">
            <a:avLst/>
          </a:prstGeom>
          <a:noFill/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7406640" y="4297680"/>
            <a:ext cx="0" cy="137160"/>
          </a:xfrm>
          <a:prstGeom prst="line">
            <a:avLst/>
          </a:prstGeom>
          <a:noFill/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7669530" y="4217670"/>
            <a:ext cx="91440" cy="91440"/>
          </a:xfrm>
          <a:prstGeom prst="ellipse">
            <a:avLst/>
          </a:prstGeom>
          <a:solidFill>
            <a:srgbClr val="00BCD4">
              <a:alpha val="40000"/>
            </a:srgbClr>
          </a:solidFill>
          <a:ln w="5715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7635240" y="4297680"/>
            <a:ext cx="160020" cy="137160"/>
          </a:xfrm>
          <a:prstGeom prst="rect">
            <a:avLst/>
          </a:prstGeom>
          <a:solidFill>
            <a:srgbClr val="00BCD4">
              <a:alpha val="40000"/>
            </a:srgbClr>
          </a:solidFill>
          <a:ln/>
        </p:spPr>
      </p:sp>
      <p:sp>
        <p:nvSpPr>
          <p:cNvPr id="90" name="Shape 85"/>
          <p:cNvSpPr/>
          <p:nvPr/>
        </p:nvSpPr>
        <p:spPr>
          <a:xfrm>
            <a:off x="7795260" y="4297680"/>
            <a:ext cx="0" cy="137160"/>
          </a:xfrm>
          <a:prstGeom prst="line">
            <a:avLst/>
          </a:prstGeom>
          <a:noFill/>
          <a:ln w="5715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635240" y="4434840"/>
            <a:ext cx="160020" cy="0"/>
          </a:xfrm>
          <a:prstGeom prst="line">
            <a:avLst/>
          </a:prstGeom>
          <a:noFill/>
          <a:ln w="5715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635240" y="4297680"/>
            <a:ext cx="0" cy="137160"/>
          </a:xfrm>
          <a:prstGeom prst="line">
            <a:avLst/>
          </a:prstGeom>
          <a:noFill/>
          <a:ln w="5715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7898130" y="4217670"/>
            <a:ext cx="91440" cy="91440"/>
          </a:xfrm>
          <a:prstGeom prst="ellipse">
            <a:avLst/>
          </a:prstGeom>
          <a:solidFill>
            <a:srgbClr val="2196F3">
              <a:alpha val="35000"/>
            </a:srgbClr>
          </a:solidFill>
          <a:ln w="5715">
            <a:solidFill>
              <a:srgbClr val="2196F3">
                <a:alpha val="60000"/>
              </a:srgbClr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7863840" y="4297680"/>
            <a:ext cx="160020" cy="13716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95" name="Shape 90"/>
          <p:cNvSpPr/>
          <p:nvPr/>
        </p:nvSpPr>
        <p:spPr>
          <a:xfrm>
            <a:off x="8023860" y="4297680"/>
            <a:ext cx="0" cy="13716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7863840" y="4434840"/>
            <a:ext cx="16002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7863840" y="4297680"/>
            <a:ext cx="0" cy="13716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8126730" y="4217670"/>
            <a:ext cx="91440" cy="91440"/>
          </a:xfrm>
          <a:prstGeom prst="ellipse">
            <a:avLst/>
          </a:prstGeom>
          <a:solidFill>
            <a:srgbClr val="00BCD4">
              <a:alpha val="35000"/>
            </a:srgbClr>
          </a:solidFill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8092440" y="4297680"/>
            <a:ext cx="160020" cy="137160"/>
          </a:xfrm>
          <a:prstGeom prst="rect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100" name="Shape 95"/>
          <p:cNvSpPr/>
          <p:nvPr/>
        </p:nvSpPr>
        <p:spPr>
          <a:xfrm>
            <a:off x="8252460" y="4297680"/>
            <a:ext cx="0" cy="137160"/>
          </a:xfrm>
          <a:prstGeom prst="line">
            <a:avLst/>
          </a:prstGeom>
          <a:noFill/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092440" y="4434840"/>
            <a:ext cx="160020" cy="0"/>
          </a:xfrm>
          <a:prstGeom prst="line">
            <a:avLst/>
          </a:prstGeom>
          <a:noFill/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8092440" y="4297680"/>
            <a:ext cx="0" cy="137160"/>
          </a:xfrm>
          <a:prstGeom prst="line">
            <a:avLst/>
          </a:prstGeom>
          <a:noFill/>
          <a:ln w="5715">
            <a:solidFill>
              <a:srgbClr val="00BCD4">
                <a:alpha val="60000"/>
              </a:srgbClr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342900" y="4692015"/>
            <a:ext cx="8458200" cy="222885"/>
          </a:xfrm>
          <a:prstGeom prst="rect">
            <a:avLst/>
          </a:prstGeom>
          <a:noFill/>
          <a:ln/>
        </p:spPr>
      </p:sp>
      <p:sp>
        <p:nvSpPr>
          <p:cNvPr id="104" name="Shape 99"/>
          <p:cNvSpPr/>
          <p:nvPr/>
        </p:nvSpPr>
        <p:spPr>
          <a:xfrm>
            <a:off x="342900" y="4692015"/>
            <a:ext cx="8458200" cy="0"/>
          </a:xfrm>
          <a:prstGeom prst="line">
            <a:avLst/>
          </a:prstGeom>
          <a:noFill/>
          <a:ln w="5715">
            <a:solidFill>
              <a:srgbClr val="2196F3">
                <a:alpha val="18000"/>
              </a:srgbClr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3257550" y="4843463"/>
            <a:ext cx="5715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106" name="Text 101"/>
          <p:cNvSpPr/>
          <p:nvPr/>
        </p:nvSpPr>
        <p:spPr>
          <a:xfrm>
            <a:off x="3943350" y="4777740"/>
            <a:ext cx="1408176" cy="1371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720" spc="18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互动即沉淀，沉淀即传播</a:t>
            </a:r>
            <a:endParaRPr lang="en-US" sz="720" dirty="0"/>
          </a:p>
        </p:txBody>
      </p:sp>
      <p:sp>
        <p:nvSpPr>
          <p:cNvPr id="107" name="Shape 102"/>
          <p:cNvSpPr/>
          <p:nvPr/>
        </p:nvSpPr>
        <p:spPr>
          <a:xfrm>
            <a:off x="5314950" y="4843463"/>
            <a:ext cx="57150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100000">
                <a:srgbClr val="060E1C"/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-4114800" y="-1800225"/>
            <a:ext cx="10972800" cy="6172200"/>
          </a:xfrm>
          <a:prstGeom prst="ellipse">
            <a:avLst/>
          </a:prstGeom>
          <a:gradFill rotWithShape="1">
            <a:gsLst>
              <a:gs pos="0">
                <a:srgbClr val="2196F3">
                  <a:alpha val="11200"/>
                </a:srgbClr>
              </a:gs>
              <a:gs pos="100000">
                <a:srgbClr val="2196F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2057400"/>
            <a:ext cx="1714500" cy="1714500"/>
          </a:xfrm>
          <a:prstGeom prst="ellipse">
            <a:avLst/>
          </a:prstGeom>
          <a:gradFill rotWithShape="1">
            <a:gsLst>
              <a:gs pos="0">
                <a:srgbClr val="2196F3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7" name="Shape 5"/>
          <p:cNvSpPr/>
          <p:nvPr/>
        </p:nvSpPr>
        <p:spPr>
          <a:xfrm>
            <a:off x="142875" y="1428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142875" y="142875"/>
            <a:ext cx="17145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875" y="142875"/>
            <a:ext cx="0" cy="17145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9675" y="1428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8829675" y="142875"/>
            <a:ext cx="17145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1125" y="142875"/>
            <a:ext cx="0" cy="17145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2875" y="48291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142875" y="5000625"/>
            <a:ext cx="17145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2875" y="4829175"/>
            <a:ext cx="0" cy="17145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9675" y="4829175"/>
            <a:ext cx="171450" cy="17145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9001125" y="4829175"/>
            <a:ext cx="0" cy="17145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9675" y="5000625"/>
            <a:ext cx="171450" cy="0"/>
          </a:xfrm>
          <a:prstGeom prst="line">
            <a:avLst/>
          </a:prstGeom>
          <a:noFill/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457700"/>
            <a:ext cx="9144000" cy="6858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>
                  <a:alpha val="10000"/>
                </a:srgbClr>
              </a:gs>
              <a:gs pos="100000">
                <a:srgbClr val="00BCD4">
                  <a:alpha val="6000"/>
                </a:srgbClr>
              </a:gs>
            </a:gsLst>
            <a:lin ang="5400000" scaled="0"/>
          </a:gradFill>
          <a:ln/>
        </p:spPr>
      </p:sp>
      <p:sp>
        <p:nvSpPr>
          <p:cNvPr id="20" name="Shape 18"/>
          <p:cNvSpPr/>
          <p:nvPr/>
        </p:nvSpPr>
        <p:spPr>
          <a:xfrm>
            <a:off x="428625" y="1120140"/>
            <a:ext cx="685800" cy="2286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1" name="Text 19"/>
          <p:cNvSpPr/>
          <p:nvPr/>
        </p:nvSpPr>
        <p:spPr>
          <a:xfrm>
            <a:off x="400050" y="131445"/>
            <a:ext cx="2468880" cy="1240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8100" b="1" spc="-36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100" dirty="0"/>
          </a:p>
        </p:txBody>
      </p:sp>
      <p:sp>
        <p:nvSpPr>
          <p:cNvPr id="22" name="Text 20"/>
          <p:cNvSpPr/>
          <p:nvPr/>
        </p:nvSpPr>
        <p:spPr>
          <a:xfrm>
            <a:off x="1925955" y="440055"/>
            <a:ext cx="1075334" cy="914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27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/ 章节</a:t>
            </a:r>
            <a:endParaRPr lang="en-US" sz="585" dirty="0"/>
          </a:p>
        </p:txBody>
      </p:sp>
      <p:sp>
        <p:nvSpPr>
          <p:cNvPr id="23" name="Text 21"/>
          <p:cNvSpPr/>
          <p:nvPr/>
        </p:nvSpPr>
        <p:spPr>
          <a:xfrm>
            <a:off x="1925955" y="605790"/>
            <a:ext cx="1783080" cy="462915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30000"/>
              </a:srgbClr>
            </a:outerShdw>
          </a:effectLst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2520" b="1" spc="36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未来展望</a:t>
            </a:r>
            <a:endParaRPr lang="en-US" sz="2520" dirty="0"/>
          </a:p>
        </p:txBody>
      </p:sp>
      <p:sp>
        <p:nvSpPr>
          <p:cNvPr id="24" name="Text 22"/>
          <p:cNvSpPr/>
          <p:nvPr/>
        </p:nvSpPr>
        <p:spPr>
          <a:xfrm>
            <a:off x="1925955" y="1160145"/>
            <a:ext cx="2048256" cy="14859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spc="90" kern="0" dirty="0">
                <a:solidFill>
                  <a:srgbClr val="8FA8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从五月出发，把阅读的火种传得更远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1925955" y="1463040"/>
            <a:ext cx="11430" cy="285750"/>
          </a:xfrm>
          <a:prstGeom prst="rect">
            <a:avLst/>
          </a:prstGeom>
          <a:gradFill rotWithShape="1">
            <a:gsLst>
              <a:gs pos="0">
                <a:srgbClr val="2196F3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7298055" y="497205"/>
            <a:ext cx="4572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7823835" y="482918"/>
            <a:ext cx="34290" cy="34290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95250" dist="50800" dir="16200000">
              <a:srgbClr val="00BCD4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26705" y="457200"/>
            <a:ext cx="91531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8F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ROADMAP</a:t>
            </a:r>
            <a:endParaRPr lang="en-US" sz="540" dirty="0"/>
          </a:p>
        </p:txBody>
      </p:sp>
      <p:sp>
        <p:nvSpPr>
          <p:cNvPr id="29" name="Text 27"/>
          <p:cNvSpPr/>
          <p:nvPr/>
        </p:nvSpPr>
        <p:spPr>
          <a:xfrm>
            <a:off x="7989570" y="634365"/>
            <a:ext cx="844906" cy="1143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30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 · 愿景 · 行动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811530" y="2005965"/>
            <a:ext cx="2400300" cy="1796653"/>
          </a:xfrm>
          <a:prstGeom prst="roundRect">
            <a:avLst>
              <a:gd name="adj" fmla="val 3817"/>
            </a:avLst>
          </a:prstGeom>
          <a:solidFill>
            <a:srgbClr val="0F1E36">
              <a:alpha val="7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530" y="2005965"/>
            <a:ext cx="23888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2" name="Shape 30"/>
          <p:cNvSpPr/>
          <p:nvPr/>
        </p:nvSpPr>
        <p:spPr>
          <a:xfrm>
            <a:off x="2514600" y="3219688"/>
            <a:ext cx="1028700" cy="10287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3" name="Shape 31"/>
          <p:cNvSpPr/>
          <p:nvPr/>
        </p:nvSpPr>
        <p:spPr>
          <a:xfrm>
            <a:off x="977265" y="2183130"/>
            <a:ext cx="297180" cy="29718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275" y="2263140"/>
            <a:ext cx="137160" cy="13716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2857500" y="2234565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60" dirty="0"/>
          </a:p>
        </p:txBody>
      </p:sp>
      <p:sp>
        <p:nvSpPr>
          <p:cNvPr id="36" name="Text 33"/>
          <p:cNvSpPr/>
          <p:nvPr/>
        </p:nvSpPr>
        <p:spPr>
          <a:xfrm>
            <a:off x="977265" y="2571750"/>
            <a:ext cx="23170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月度常态化</a:t>
            </a:r>
            <a:endParaRPr lang="en-US" sz="990" dirty="0"/>
          </a:p>
        </p:txBody>
      </p:sp>
      <p:sp>
        <p:nvSpPr>
          <p:cNvPr id="37" name="Text 34"/>
          <p:cNvSpPr/>
          <p:nvPr/>
        </p:nvSpPr>
        <p:spPr>
          <a:xfrm>
            <a:off x="977265" y="2766060"/>
            <a:ext cx="231709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MONTHLY REGULARITY</a:t>
            </a:r>
            <a:endParaRPr lang="en-US" sz="540" dirty="0"/>
          </a:p>
        </p:txBody>
      </p:sp>
      <p:sp>
        <p:nvSpPr>
          <p:cNvPr id="38" name="Shape 35"/>
          <p:cNvSpPr/>
          <p:nvPr/>
        </p:nvSpPr>
        <p:spPr>
          <a:xfrm>
            <a:off x="977265" y="2954655"/>
            <a:ext cx="2286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9" name="Text 36"/>
          <p:cNvSpPr/>
          <p:nvPr/>
        </p:nvSpPr>
        <p:spPr>
          <a:xfrm>
            <a:off x="977265" y="3057525"/>
            <a:ext cx="2317090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spc="23" kern="0" dirty="0">
                <a:solidFill>
                  <a:srgbClr val="8FA8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将读书会打造成每月固定栏目，形成稳定的社区学习节奏，让阅读成为一种可期待的日常仪式。</a:t>
            </a:r>
            <a:endParaRPr lang="en-US" sz="630" dirty="0"/>
          </a:p>
        </p:txBody>
      </p:sp>
      <p:sp>
        <p:nvSpPr>
          <p:cNvPr id="40" name="Shape 37"/>
          <p:cNvSpPr/>
          <p:nvPr/>
        </p:nvSpPr>
        <p:spPr>
          <a:xfrm>
            <a:off x="977265" y="3436858"/>
            <a:ext cx="914400" cy="200025"/>
          </a:xfrm>
          <a:prstGeom prst="roundRect">
            <a:avLst>
              <a:gd name="adj" fmla="val 57143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62990" y="352258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1137285" y="3488293"/>
            <a:ext cx="748894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规划频次 · 每月一期</a:t>
            </a:r>
            <a:endParaRPr lang="en-US" sz="540" dirty="0"/>
          </a:p>
        </p:txBody>
      </p:sp>
      <p:sp>
        <p:nvSpPr>
          <p:cNvPr id="43" name="Shape 40"/>
          <p:cNvSpPr/>
          <p:nvPr/>
        </p:nvSpPr>
        <p:spPr>
          <a:xfrm>
            <a:off x="3371850" y="2005965"/>
            <a:ext cx="2400300" cy="1796653"/>
          </a:xfrm>
          <a:prstGeom prst="roundRect">
            <a:avLst>
              <a:gd name="adj" fmla="val 3817"/>
            </a:avLst>
          </a:prstGeom>
          <a:solidFill>
            <a:srgbClr val="0F1E36">
              <a:alpha val="7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371850" y="2005965"/>
            <a:ext cx="23888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5" name="Shape 42"/>
          <p:cNvSpPr/>
          <p:nvPr/>
        </p:nvSpPr>
        <p:spPr>
          <a:xfrm>
            <a:off x="5074920" y="3219688"/>
            <a:ext cx="1028700" cy="10287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6" name="Shape 43"/>
          <p:cNvSpPr/>
          <p:nvPr/>
        </p:nvSpPr>
        <p:spPr>
          <a:xfrm>
            <a:off x="3537585" y="2183130"/>
            <a:ext cx="297180" cy="29718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7595" y="2263140"/>
            <a:ext cx="137160" cy="13716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383530" y="2234565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60" dirty="0"/>
          </a:p>
        </p:txBody>
      </p:sp>
      <p:sp>
        <p:nvSpPr>
          <p:cNvPr id="49" name="Text 45"/>
          <p:cNvSpPr/>
          <p:nvPr/>
        </p:nvSpPr>
        <p:spPr>
          <a:xfrm>
            <a:off x="3537585" y="2571750"/>
            <a:ext cx="23170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主题多元化</a:t>
            </a:r>
            <a:endParaRPr lang="en-US" sz="990" dirty="0"/>
          </a:p>
        </p:txBody>
      </p:sp>
      <p:sp>
        <p:nvSpPr>
          <p:cNvPr id="50" name="Text 46"/>
          <p:cNvSpPr/>
          <p:nvPr/>
        </p:nvSpPr>
        <p:spPr>
          <a:xfrm>
            <a:off x="3537585" y="2766060"/>
            <a:ext cx="231709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DIVERSIFIED TOPICS</a:t>
            </a:r>
            <a:endParaRPr lang="en-US" sz="540" dirty="0"/>
          </a:p>
        </p:txBody>
      </p:sp>
      <p:sp>
        <p:nvSpPr>
          <p:cNvPr id="51" name="Shape 47"/>
          <p:cNvSpPr/>
          <p:nvPr/>
        </p:nvSpPr>
        <p:spPr>
          <a:xfrm>
            <a:off x="3537585" y="2954655"/>
            <a:ext cx="2286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2" name="Text 48"/>
          <p:cNvSpPr/>
          <p:nvPr/>
        </p:nvSpPr>
        <p:spPr>
          <a:xfrm>
            <a:off x="3537585" y="3057525"/>
            <a:ext cx="2317090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spc="23" kern="0" dirty="0">
                <a:solidFill>
                  <a:srgbClr val="8FA8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后续将覆盖更多技术细分领域，兼顾深度与广度，从底层原理到前沿实践，构建完整的知识图谱。</a:t>
            </a:r>
            <a:endParaRPr lang="en-US" sz="630" dirty="0"/>
          </a:p>
        </p:txBody>
      </p:sp>
      <p:sp>
        <p:nvSpPr>
          <p:cNvPr id="53" name="Shape 49"/>
          <p:cNvSpPr/>
          <p:nvPr/>
        </p:nvSpPr>
        <p:spPr>
          <a:xfrm>
            <a:off x="3537585" y="3436858"/>
            <a:ext cx="965835" cy="200025"/>
          </a:xfrm>
          <a:prstGeom prst="roundRect">
            <a:avLst>
              <a:gd name="adj" fmla="val 57143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3623310" y="352258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55" name="Text 51"/>
          <p:cNvSpPr/>
          <p:nvPr/>
        </p:nvSpPr>
        <p:spPr>
          <a:xfrm>
            <a:off x="3697605" y="3488293"/>
            <a:ext cx="806501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领域覆盖 · 深度×广度</a:t>
            </a:r>
            <a:endParaRPr lang="en-US" sz="540" dirty="0"/>
          </a:p>
        </p:txBody>
      </p:sp>
      <p:sp>
        <p:nvSpPr>
          <p:cNvPr id="56" name="Shape 52"/>
          <p:cNvSpPr/>
          <p:nvPr/>
        </p:nvSpPr>
        <p:spPr>
          <a:xfrm>
            <a:off x="5932170" y="2005965"/>
            <a:ext cx="2400300" cy="1796653"/>
          </a:xfrm>
          <a:prstGeom prst="roundRect">
            <a:avLst>
              <a:gd name="adj" fmla="val 3817"/>
            </a:avLst>
          </a:prstGeom>
          <a:solidFill>
            <a:srgbClr val="0F1E36">
              <a:alpha val="7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932170" y="2005965"/>
            <a:ext cx="238887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8" name="Shape 54"/>
          <p:cNvSpPr/>
          <p:nvPr/>
        </p:nvSpPr>
        <p:spPr>
          <a:xfrm>
            <a:off x="7635240" y="3219688"/>
            <a:ext cx="1028700" cy="1028700"/>
          </a:xfrm>
          <a:prstGeom prst="ellipse">
            <a:avLst/>
          </a:prstGeom>
          <a:gradFill rotWithShape="1">
            <a:gsLst>
              <a:gs pos="0">
                <a:srgbClr val="2196F3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9" name="Shape 55"/>
          <p:cNvSpPr/>
          <p:nvPr/>
        </p:nvSpPr>
        <p:spPr>
          <a:xfrm>
            <a:off x="6097905" y="2183130"/>
            <a:ext cx="297180" cy="297180"/>
          </a:xfrm>
          <a:prstGeom prst="roundRect">
            <a:avLst>
              <a:gd name="adj" fmla="val 19231"/>
            </a:avLst>
          </a:prstGeom>
          <a:gradFill rotWithShape="1">
            <a:gsLst>
              <a:gs pos="0">
                <a:srgbClr val="2196F3">
                  <a:alpha val="20000"/>
                </a:srgbClr>
              </a:gs>
              <a:gs pos="100000">
                <a:srgbClr val="00BCD4">
                  <a:alpha val="15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7915" y="2263140"/>
            <a:ext cx="137160" cy="137160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7943850" y="2234565"/>
            <a:ext cx="384048" cy="1943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260" b="1" spc="45" kern="0" dirty="0">
                <a:solidFill>
                  <a:srgbClr val="2196F3">
                    <a:alpha val="3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60" dirty="0"/>
          </a:p>
        </p:txBody>
      </p:sp>
      <p:sp>
        <p:nvSpPr>
          <p:cNvPr id="62" name="Text 57"/>
          <p:cNvSpPr/>
          <p:nvPr/>
        </p:nvSpPr>
        <p:spPr>
          <a:xfrm>
            <a:off x="6097905" y="2571750"/>
            <a:ext cx="231709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90" kern="0" dirty="0">
                <a:solidFill>
                  <a:srgbClr val="ECEFF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全球社区联动</a:t>
            </a:r>
            <a:endParaRPr lang="en-US" sz="990" dirty="0"/>
          </a:p>
        </p:txBody>
      </p:sp>
      <p:sp>
        <p:nvSpPr>
          <p:cNvPr id="63" name="Text 58"/>
          <p:cNvSpPr/>
          <p:nvPr/>
        </p:nvSpPr>
        <p:spPr>
          <a:xfrm>
            <a:off x="6097905" y="2766060"/>
            <a:ext cx="2317090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35" kern="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GLOBAL COMMUNITY</a:t>
            </a:r>
            <a:endParaRPr lang="en-US" sz="540" dirty="0"/>
          </a:p>
        </p:txBody>
      </p:sp>
      <p:sp>
        <p:nvSpPr>
          <p:cNvPr id="64" name="Shape 59"/>
          <p:cNvSpPr/>
          <p:nvPr/>
        </p:nvSpPr>
        <p:spPr>
          <a:xfrm>
            <a:off x="6097905" y="2954655"/>
            <a:ext cx="22860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5" name="Text 60"/>
          <p:cNvSpPr/>
          <p:nvPr/>
        </p:nvSpPr>
        <p:spPr>
          <a:xfrm>
            <a:off x="6097905" y="3057525"/>
            <a:ext cx="2317090" cy="28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630" spc="23" kern="0" dirty="0">
                <a:solidFill>
                  <a:srgbClr val="8FA8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探索与国际开源社区的合作，推动跨文化的技术交流，让中国开源的声音走向世界舞台中央。</a:t>
            </a:r>
            <a:endParaRPr lang="en-US" sz="630" dirty="0"/>
          </a:p>
        </p:txBody>
      </p:sp>
      <p:sp>
        <p:nvSpPr>
          <p:cNvPr id="66" name="Shape 61"/>
          <p:cNvSpPr/>
          <p:nvPr/>
        </p:nvSpPr>
        <p:spPr>
          <a:xfrm>
            <a:off x="6097905" y="3436858"/>
            <a:ext cx="948690" cy="200025"/>
          </a:xfrm>
          <a:prstGeom prst="roundRect">
            <a:avLst>
              <a:gd name="adj" fmla="val 57143"/>
            </a:avLst>
          </a:prstGeom>
          <a:solidFill>
            <a:srgbClr val="2196F3">
              <a:alpha val="10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183630" y="3522583"/>
            <a:ext cx="28575" cy="28575"/>
          </a:xfrm>
          <a:prstGeom prst="ellipse">
            <a:avLst/>
          </a:prstGeom>
          <a:solidFill>
            <a:srgbClr val="00BCD4"/>
          </a:solidFill>
          <a:ln/>
          <a:effectLst>
            <a:outerShdw sx="100000" sy="100000" kx="0" ky="0" algn="bl" rotWithShape="0" blurRad="76200" dist="50800" dir="16200000">
              <a:srgbClr val="00BCD4">
                <a:alpha val="100000"/>
              </a:srgbClr>
            </a:outerShdw>
          </a:effectLst>
        </p:spPr>
      </p:sp>
      <p:sp>
        <p:nvSpPr>
          <p:cNvPr id="68" name="Text 63"/>
          <p:cNvSpPr/>
          <p:nvPr/>
        </p:nvSpPr>
        <p:spPr>
          <a:xfrm>
            <a:off x="6257925" y="3488293"/>
            <a:ext cx="787298" cy="9715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4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目标语言 · 中/英双语</a:t>
            </a:r>
            <a:endParaRPr lang="en-US" sz="540" dirty="0"/>
          </a:p>
        </p:txBody>
      </p:sp>
      <p:sp>
        <p:nvSpPr>
          <p:cNvPr id="69" name="Shape 64"/>
          <p:cNvSpPr/>
          <p:nvPr/>
        </p:nvSpPr>
        <p:spPr>
          <a:xfrm>
            <a:off x="4572000" y="4286250"/>
            <a:ext cx="11430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70" name="Text 65"/>
          <p:cNvSpPr/>
          <p:nvPr/>
        </p:nvSpPr>
        <p:spPr>
          <a:xfrm>
            <a:off x="1714500" y="442341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200000"/>
              </a:lnSpc>
              <a:buNone/>
            </a:pPr>
            <a:r>
              <a:rPr lang="en-US" sz="630" spc="68" kern="0" dirty="0">
                <a:solidFill>
                  <a:srgbClr val="8FA8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五月的读书会只是一个开始。开源之道社区正在规划更长远的阅读推广计划：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68" kern="0" dirty="0">
                <a:solidFill>
                  <a:srgbClr val="00BCD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从月度常态化运营到全球社区联动</a:t>
            </a:r>
            <a:pPr algn="ctr" indent="0" marL="0">
              <a:lnSpc>
                <a:spcPct val="200000"/>
              </a:lnSpc>
              <a:buNone/>
            </a:pPr>
            <a:r>
              <a:rPr lang="en-US" sz="630" spc="68" kern="0" dirty="0">
                <a:solidFill>
                  <a:srgbClr val="8FA8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，我们希望让每一次翻页都成为连接世界的节点。</a:t>
            </a:r>
            <a:endParaRPr lang="en-US" sz="630" dirty="0"/>
          </a:p>
        </p:txBody>
      </p:sp>
      <p:sp>
        <p:nvSpPr>
          <p:cNvPr id="71" name="Text 66"/>
          <p:cNvSpPr/>
          <p:nvPr/>
        </p:nvSpPr>
        <p:spPr>
          <a:xfrm>
            <a:off x="8589645" y="4903470"/>
            <a:ext cx="388620" cy="800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pPr algn="l" indent="0" marL="0">
              <a:buNone/>
            </a:pPr>
            <a:r>
              <a:rPr lang="en-US" sz="495" spc="135" kern="0" dirty="0">
                <a:solidFill>
                  <a:srgbClr val="8FA8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12</a:t>
            </a:r>
            <a:endParaRPr lang="en-US" sz="49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61220"/>
              </a:gs>
              <a:gs pos="40000">
                <a:srgbClr val="0A1E3A"/>
              </a:gs>
              <a:gs pos="70000">
                <a:srgbClr val="0F2540"/>
              </a:gs>
              <a:gs pos="100000">
                <a:srgbClr val="061220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715000" y="1600200"/>
            <a:ext cx="2400300" cy="2400300"/>
          </a:xfrm>
          <a:prstGeom prst="ellipse">
            <a:avLst/>
          </a:prstGeom>
          <a:gradFill rotWithShape="1">
            <a:gsLst>
              <a:gs pos="0">
                <a:srgbClr val="2196F3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742950" y="2057400"/>
            <a:ext cx="2057400" cy="2057400"/>
          </a:xfrm>
          <a:prstGeom prst="ellipse">
            <a:avLst/>
          </a:prstGeom>
          <a:gradFill rotWithShape="1">
            <a:gsLst>
              <a:gs pos="0">
                <a:srgbClr val="00BCD4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3829050" y="685800"/>
            <a:ext cx="1485900" cy="1485900"/>
          </a:xfrm>
          <a:prstGeom prst="ellipse">
            <a:avLst/>
          </a:prstGeom>
          <a:gradFill rotWithShape="1">
            <a:gsLst>
              <a:gs pos="0">
                <a:srgbClr val="2196F3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4300"/>
                </a:srgbClr>
              </a:gs>
              <a:gs pos="25000">
                <a:srgbClr val="000000">
                  <a:alpha val="0"/>
                </a:srgbClr>
              </a:gs>
              <a:gs pos="50000">
                <a:srgbClr val="000000"/>
              </a:gs>
              <a:gs pos="75000">
                <a:srgbClr val="000000">
                  <a:alpha val="43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7" name="Shape 5"/>
          <p:cNvSpPr/>
          <p:nvPr/>
        </p:nvSpPr>
        <p:spPr>
          <a:xfrm>
            <a:off x="102870" y="102870"/>
            <a:ext cx="400050" cy="40005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102870" y="102870"/>
            <a:ext cx="400050" cy="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870" y="102870"/>
            <a:ext cx="0" cy="40005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102870"/>
            <a:ext cx="400050" cy="40005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8641080" y="102870"/>
            <a:ext cx="400050" cy="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41130" y="102870"/>
            <a:ext cx="0" cy="40005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" y="4640580"/>
            <a:ext cx="400050" cy="40005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102870" y="5040630"/>
            <a:ext cx="400050" cy="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870" y="4640580"/>
            <a:ext cx="0" cy="40005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41080" y="4640580"/>
            <a:ext cx="400050" cy="40005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9041130" y="4640580"/>
            <a:ext cx="0" cy="40005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5040630"/>
            <a:ext cx="400050" cy="0"/>
          </a:xfrm>
          <a:prstGeom prst="line">
            <a:avLst/>
          </a:prstGeom>
          <a:noFill/>
          <a:ln w="11430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6780" y="125730"/>
            <a:ext cx="34290" cy="34290"/>
          </a:xfrm>
          <a:prstGeom prst="ellipse">
            <a:avLst/>
          </a:prstGeom>
          <a:solidFill>
            <a:srgbClr val="2196F3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06790" y="125730"/>
            <a:ext cx="34290" cy="34290"/>
          </a:xfrm>
          <a:prstGeom prst="ellipse">
            <a:avLst/>
          </a:prstGeom>
          <a:solidFill>
            <a:srgbClr val="00BCD4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125730"/>
            <a:ext cx="34290" cy="34290"/>
          </a:xfrm>
          <a:prstGeom prst="ellipse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66810" y="125730"/>
            <a:ext cx="34290" cy="34290"/>
          </a:xfrm>
          <a:prstGeom prst="ellipse">
            <a:avLst/>
          </a:prstGeom>
          <a:solidFill>
            <a:srgbClr val="00BCD4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" y="257175"/>
            <a:ext cx="9473184" cy="477738"/>
          </a:xfrm>
          <a:prstGeom prst="rect">
            <a:avLst/>
          </a:prstGeom>
          <a:noFill/>
          <a:ln/>
          <a:effectLst>
            <a:outerShdw sx="100000" sy="100000" kx="0" ky="0" algn="bl" rotWithShape="0" blurRad="228600" dist="50800" dir="5400000">
              <a:srgbClr val="2196F3">
                <a:alpha val="25000"/>
              </a:srgbClr>
            </a:outerShdw>
          </a:effectLst>
        </p:spPr>
        <p:txBody>
          <a:bodyPr wrap="non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420" b="1" spc="45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感谢与邀请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342900" y="803493"/>
            <a:ext cx="9473184" cy="15430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855" spc="18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下一期读书会，期待与你相遇</a:t>
            </a:r>
            <a:endParaRPr lang="en-US" sz="855" dirty="0"/>
          </a:p>
        </p:txBody>
      </p:sp>
      <p:sp>
        <p:nvSpPr>
          <p:cNvPr id="25" name="Shape 23"/>
          <p:cNvSpPr/>
          <p:nvPr/>
        </p:nvSpPr>
        <p:spPr>
          <a:xfrm>
            <a:off x="4200525" y="1037808"/>
            <a:ext cx="742950" cy="17145"/>
          </a:xfrm>
          <a:prstGeom prst="roundRect">
            <a:avLst>
              <a:gd name="adj" fmla="val 66667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26" name="Shape 24"/>
          <p:cNvSpPr/>
          <p:nvPr/>
        </p:nvSpPr>
        <p:spPr>
          <a:xfrm>
            <a:off x="4194810" y="1097816"/>
            <a:ext cx="22860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>
                  <a:alpha val="50000"/>
                </a:srgbClr>
              </a:gs>
            </a:gsLst>
            <a:lin ang="0" scaled="0"/>
          </a:gradFill>
          <a:ln/>
        </p:spPr>
      </p:sp>
      <p:sp>
        <p:nvSpPr>
          <p:cNvPr id="27" name="Shape 25"/>
          <p:cNvSpPr/>
          <p:nvPr/>
        </p:nvSpPr>
        <p:spPr>
          <a:xfrm>
            <a:off x="4480560" y="1089243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8" name="Shape 26"/>
          <p:cNvSpPr/>
          <p:nvPr/>
        </p:nvSpPr>
        <p:spPr>
          <a:xfrm>
            <a:off x="4560570" y="1089243"/>
            <a:ext cx="22860" cy="228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9" name="Shape 27"/>
          <p:cNvSpPr/>
          <p:nvPr/>
        </p:nvSpPr>
        <p:spPr>
          <a:xfrm>
            <a:off x="4640580" y="1089243"/>
            <a:ext cx="22860" cy="2286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30" name="Shape 28"/>
          <p:cNvSpPr/>
          <p:nvPr/>
        </p:nvSpPr>
        <p:spPr>
          <a:xfrm>
            <a:off x="4720590" y="1097816"/>
            <a:ext cx="228600" cy="5715"/>
          </a:xfrm>
          <a:prstGeom prst="rect">
            <a:avLst/>
          </a:prstGeom>
          <a:gradFill rotWithShape="1">
            <a:gsLst>
              <a:gs pos="0">
                <a:srgbClr val="00BCD4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1" name="Shape 29"/>
          <p:cNvSpPr/>
          <p:nvPr/>
        </p:nvSpPr>
        <p:spPr>
          <a:xfrm>
            <a:off x="342900" y="1226403"/>
            <a:ext cx="2720340" cy="1342668"/>
          </a:xfrm>
          <a:prstGeom prst="roundRect">
            <a:avLst>
              <a:gd name="adj" fmla="val 5959"/>
            </a:avLst>
          </a:prstGeom>
          <a:solidFill>
            <a:srgbClr val="0F2027">
              <a:alpha val="62000"/>
            </a:srgbClr>
          </a:soli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" y="1226403"/>
            <a:ext cx="27089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33" name="Text 31"/>
          <p:cNvSpPr/>
          <p:nvPr/>
        </p:nvSpPr>
        <p:spPr>
          <a:xfrm>
            <a:off x="474345" y="1357848"/>
            <a:ext cx="27523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GRATITUDE</a:t>
            </a:r>
            <a:endParaRPr lang="en-US" sz="540" dirty="0"/>
          </a:p>
        </p:txBody>
      </p:sp>
      <p:sp>
        <p:nvSpPr>
          <p:cNvPr id="34" name="Shape 32"/>
          <p:cNvSpPr/>
          <p:nvPr/>
        </p:nvSpPr>
        <p:spPr>
          <a:xfrm>
            <a:off x="474345" y="1500723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28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4345" y="1500723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♥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474345" y="1797903"/>
            <a:ext cx="2752344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感谢每一位</a:t>
            </a:r>
            <a:endParaRPr lang="en-US" sz="945" dirty="0"/>
          </a:p>
        </p:txBody>
      </p:sp>
      <p:sp>
        <p:nvSpPr>
          <p:cNvPr id="37" name="Text 35"/>
          <p:cNvSpPr/>
          <p:nvPr/>
        </p:nvSpPr>
        <p:spPr>
          <a:xfrm>
            <a:off x="474345" y="2015073"/>
            <a:ext cx="275234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感谢所有参与、分享与传播的社区伙伴，是你们让阅读有了温度</a:t>
            </a:r>
            <a:endParaRPr lang="en-US" sz="608" dirty="0"/>
          </a:p>
        </p:txBody>
      </p:sp>
      <p:sp>
        <p:nvSpPr>
          <p:cNvPr id="38" name="Shape 36"/>
          <p:cNvSpPr/>
          <p:nvPr/>
        </p:nvSpPr>
        <p:spPr>
          <a:xfrm>
            <a:off x="474345" y="2226171"/>
            <a:ext cx="2457450" cy="222885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74345" y="2226171"/>
            <a:ext cx="24574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74345" y="2300466"/>
            <a:ext cx="400050" cy="148590"/>
          </a:xfrm>
          <a:prstGeom prst="roundRect">
            <a:avLst>
              <a:gd name="adj" fmla="val 46154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4345" y="2300466"/>
            <a:ext cx="462915" cy="148590"/>
          </a:xfrm>
          <a:prstGeom prst="rect">
            <a:avLst/>
          </a:prstGeom>
          <a:noFill/>
          <a:ln/>
        </p:spPr>
        <p:txBody>
          <a:bodyPr wrap="non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社区伙伴</a:t>
            </a:r>
            <a:endParaRPr lang="en-US" sz="495" dirty="0"/>
          </a:p>
        </p:txBody>
      </p:sp>
      <p:sp>
        <p:nvSpPr>
          <p:cNvPr id="42" name="Text 40"/>
          <p:cNvSpPr/>
          <p:nvPr/>
        </p:nvSpPr>
        <p:spPr>
          <a:xfrm>
            <a:off x="2846070" y="2314754"/>
            <a:ext cx="17145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3211830" y="1226403"/>
            <a:ext cx="2720340" cy="1342668"/>
          </a:xfrm>
          <a:prstGeom prst="roundRect">
            <a:avLst>
              <a:gd name="adj" fmla="val 5959"/>
            </a:avLst>
          </a:prstGeom>
          <a:solidFill>
            <a:srgbClr val="0F2027">
              <a:alpha val="62000"/>
            </a:srgbClr>
          </a:soli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11830" y="1226403"/>
            <a:ext cx="27089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45" name="Text 43"/>
          <p:cNvSpPr/>
          <p:nvPr/>
        </p:nvSpPr>
        <p:spPr>
          <a:xfrm>
            <a:off x="3343275" y="1357848"/>
            <a:ext cx="27523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FOLLOW</a:t>
            </a:r>
            <a:endParaRPr lang="en-US" sz="540" dirty="0"/>
          </a:p>
        </p:txBody>
      </p:sp>
      <p:sp>
        <p:nvSpPr>
          <p:cNvPr id="46" name="Shape 44"/>
          <p:cNvSpPr/>
          <p:nvPr/>
        </p:nvSpPr>
        <p:spPr>
          <a:xfrm>
            <a:off x="3343275" y="1500723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28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3275" y="1500723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◐</a:t>
            </a:r>
            <a:endParaRPr lang="en-US" sz="810" dirty="0"/>
          </a:p>
        </p:txBody>
      </p:sp>
      <p:sp>
        <p:nvSpPr>
          <p:cNvPr id="48" name="Text 46"/>
          <p:cNvSpPr/>
          <p:nvPr/>
        </p:nvSpPr>
        <p:spPr>
          <a:xfrm>
            <a:off x="3343275" y="1797903"/>
            <a:ext cx="2752344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关注开源之道</a:t>
            </a:r>
            <a:endParaRPr lang="en-US" sz="945" dirty="0"/>
          </a:p>
        </p:txBody>
      </p:sp>
      <p:sp>
        <p:nvSpPr>
          <p:cNvPr id="49" name="Text 47"/>
          <p:cNvSpPr/>
          <p:nvPr/>
        </p:nvSpPr>
        <p:spPr>
          <a:xfrm>
            <a:off x="3343275" y="2015073"/>
            <a:ext cx="275234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关注公众号与社区，第一时间获取下期活动通知与书单推荐</a:t>
            </a:r>
            <a:endParaRPr lang="en-US" sz="608" dirty="0"/>
          </a:p>
        </p:txBody>
      </p:sp>
      <p:sp>
        <p:nvSpPr>
          <p:cNvPr id="50" name="Shape 48"/>
          <p:cNvSpPr/>
          <p:nvPr/>
        </p:nvSpPr>
        <p:spPr>
          <a:xfrm>
            <a:off x="3343275" y="2226171"/>
            <a:ext cx="2457450" cy="222885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3343275" y="2226171"/>
            <a:ext cx="24574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3343275" y="2300466"/>
            <a:ext cx="542925" cy="148590"/>
          </a:xfrm>
          <a:prstGeom prst="roundRect">
            <a:avLst>
              <a:gd name="adj" fmla="val 46154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43275" y="2300466"/>
            <a:ext cx="608076" cy="14859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公众号 / 社区</a:t>
            </a:r>
            <a:endParaRPr lang="en-US" sz="495" dirty="0"/>
          </a:p>
        </p:txBody>
      </p:sp>
      <p:sp>
        <p:nvSpPr>
          <p:cNvPr id="54" name="Text 52"/>
          <p:cNvSpPr/>
          <p:nvPr/>
        </p:nvSpPr>
        <p:spPr>
          <a:xfrm>
            <a:off x="5715000" y="2314754"/>
            <a:ext cx="17145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</p:txBody>
      </p:sp>
      <p:sp>
        <p:nvSpPr>
          <p:cNvPr id="55" name="Shape 53"/>
          <p:cNvSpPr/>
          <p:nvPr/>
        </p:nvSpPr>
        <p:spPr>
          <a:xfrm>
            <a:off x="6080760" y="1226403"/>
            <a:ext cx="2720340" cy="1342668"/>
          </a:xfrm>
          <a:prstGeom prst="roundRect">
            <a:avLst>
              <a:gd name="adj" fmla="val 5959"/>
            </a:avLst>
          </a:prstGeom>
          <a:solidFill>
            <a:srgbClr val="0F2027">
              <a:alpha val="62000"/>
            </a:srgbClr>
          </a:solidFill>
          <a:ln w="5715">
            <a:solidFill>
              <a:srgbClr val="2196F3">
                <a:alpha val="3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1226403"/>
            <a:ext cx="270891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57" name="Text 55"/>
          <p:cNvSpPr/>
          <p:nvPr/>
        </p:nvSpPr>
        <p:spPr>
          <a:xfrm>
            <a:off x="6212205" y="1357848"/>
            <a:ext cx="2752344" cy="8572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40" spc="18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JOIN</a:t>
            </a:r>
            <a:endParaRPr lang="en-US" sz="540" dirty="0"/>
          </a:p>
        </p:txBody>
      </p:sp>
      <p:sp>
        <p:nvSpPr>
          <p:cNvPr id="58" name="Shape 56"/>
          <p:cNvSpPr/>
          <p:nvPr/>
        </p:nvSpPr>
        <p:spPr>
          <a:xfrm>
            <a:off x="6212205" y="1500723"/>
            <a:ext cx="228600" cy="228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2196F3">
                  <a:alpha val="28000"/>
                </a:srgbClr>
              </a:gs>
              <a:gs pos="100000">
                <a:srgbClr val="00BCD4">
                  <a:alpha val="18000"/>
                </a:srgbClr>
              </a:gs>
            </a:gsLst>
            <a:lin ang="2700000" scaled="0"/>
          </a:gradFill>
          <a:ln w="5715">
            <a:solidFill>
              <a:srgbClr val="2196F3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2205" y="1500723"/>
            <a:ext cx="331470" cy="2286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6212205" y="1797903"/>
            <a:ext cx="2752344" cy="17145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45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加入共读计划</a:t>
            </a:r>
            <a:endParaRPr lang="en-US" sz="945" dirty="0"/>
          </a:p>
        </p:txBody>
      </p:sp>
      <p:sp>
        <p:nvSpPr>
          <p:cNvPr id="61" name="Text 59"/>
          <p:cNvSpPr/>
          <p:nvPr/>
        </p:nvSpPr>
        <p:spPr>
          <a:xfrm>
            <a:off x="6212205" y="2015073"/>
            <a:ext cx="2752344" cy="13108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608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扫描二维码进入30天共读挑战，与志同道合的伙伴一起成长</a:t>
            </a:r>
            <a:endParaRPr lang="en-US" sz="608" dirty="0"/>
          </a:p>
        </p:txBody>
      </p:sp>
      <p:sp>
        <p:nvSpPr>
          <p:cNvPr id="62" name="Shape 60"/>
          <p:cNvSpPr/>
          <p:nvPr/>
        </p:nvSpPr>
        <p:spPr>
          <a:xfrm>
            <a:off x="6212205" y="2226171"/>
            <a:ext cx="2457450" cy="222885"/>
          </a:xfrm>
          <a:prstGeom prst="rect">
            <a:avLst/>
          </a:prstGeom>
          <a:noFill/>
          <a:ln/>
        </p:spPr>
      </p:sp>
      <p:sp>
        <p:nvSpPr>
          <p:cNvPr id="63" name="Shape 61"/>
          <p:cNvSpPr/>
          <p:nvPr/>
        </p:nvSpPr>
        <p:spPr>
          <a:xfrm>
            <a:off x="6212205" y="2226171"/>
            <a:ext cx="2457450" cy="0"/>
          </a:xfrm>
          <a:prstGeom prst="line">
            <a:avLst/>
          </a:prstGeom>
          <a:noFill/>
          <a:ln w="5715">
            <a:solidFill>
              <a:srgbClr val="2196F3">
                <a:alpha val="20000"/>
              </a:srgbClr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6212205" y="2300466"/>
            <a:ext cx="422910" cy="148590"/>
          </a:xfrm>
          <a:prstGeom prst="roundRect">
            <a:avLst>
              <a:gd name="adj" fmla="val 46154"/>
            </a:avLst>
          </a:prstGeom>
          <a:solidFill>
            <a:srgbClr val="2196F3">
              <a:alpha val="12000"/>
            </a:srgbClr>
          </a:solidFill>
          <a:ln w="5715">
            <a:solidFill>
              <a:srgbClr val="2196F3">
                <a:alpha val="3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2205" y="2300466"/>
            <a:ext cx="485775" cy="148590"/>
          </a:xfrm>
          <a:prstGeom prst="rect">
            <a:avLst/>
          </a:prstGeom>
          <a:noFill/>
          <a:ln/>
        </p:spPr>
        <p:txBody>
          <a:bodyPr wrap="square" lIns="22860" tIns="57150" rIns="57150" bIns="22860" rtlCol="0" anchor="ctr"/>
          <a:lstStyle/>
          <a:p>
            <a:pPr algn="l" indent="0" marL="0">
              <a:buNone/>
            </a:pPr>
            <a:r>
              <a:rPr lang="en-US" sz="495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30天共读</a:t>
            </a:r>
            <a:endParaRPr lang="en-US" sz="495" dirty="0"/>
          </a:p>
        </p:txBody>
      </p:sp>
      <p:sp>
        <p:nvSpPr>
          <p:cNvPr id="66" name="Text 64"/>
          <p:cNvSpPr/>
          <p:nvPr/>
        </p:nvSpPr>
        <p:spPr>
          <a:xfrm>
            <a:off x="8583930" y="2314754"/>
            <a:ext cx="171450" cy="12001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675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1000125" y="2751951"/>
            <a:ext cx="8001000" cy="157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阅读是最好的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开源精神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实践——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开放获取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自由分享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持续迭代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。感谢你在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五月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的这场精神之旅中陪伴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，我们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六月</a:t>
            </a:r>
            <a:pPr algn="ctr" indent="0" marL="0">
              <a:lnSpc>
                <a:spcPct val="190000"/>
              </a:lnSpc>
              <a:buNone/>
            </a:pPr>
            <a:r>
              <a:rPr lang="en-US" sz="653" spc="23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再见。愿每一位开发者都能在书页间找到属于自己的世界。</a:t>
            </a:r>
            <a:endParaRPr lang="en-US" sz="653" dirty="0"/>
          </a:p>
        </p:txBody>
      </p:sp>
      <p:sp>
        <p:nvSpPr>
          <p:cNvPr id="68" name="Shape 66"/>
          <p:cNvSpPr/>
          <p:nvPr/>
        </p:nvSpPr>
        <p:spPr>
          <a:xfrm>
            <a:off x="342900" y="4137660"/>
            <a:ext cx="688122" cy="742950"/>
          </a:xfrm>
          <a:prstGeom prst="roundRect">
            <a:avLst>
              <a:gd name="adj" fmla="val 9966"/>
            </a:avLst>
          </a:prstGeom>
          <a:solidFill>
            <a:srgbClr val="0F2027">
              <a:alpha val="55000"/>
            </a:srgbClr>
          </a:solidFill>
          <a:ln w="11430">
            <a:solidFill>
              <a:srgbClr val="2196F3">
                <a:alpha val="50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566946" y="4331970"/>
            <a:ext cx="240030" cy="240030"/>
          </a:xfrm>
          <a:prstGeom prst="roundRect">
            <a:avLst>
              <a:gd name="adj" fmla="val 14286"/>
            </a:avLst>
          </a:prstGeom>
          <a:noFill/>
          <a:ln w="17145">
            <a:solidFill>
              <a:srgbClr val="2196F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4091" y="4349115"/>
            <a:ext cx="80010" cy="80010"/>
          </a:xfrm>
          <a:prstGeom prst="roundRect">
            <a:avLst>
              <a:gd name="adj" fmla="val 21429"/>
            </a:avLst>
          </a:prstGeom>
          <a:solidFill>
            <a:srgbClr val="2196F3"/>
          </a:solidFill>
          <a:ln/>
        </p:spPr>
      </p:sp>
      <p:sp>
        <p:nvSpPr>
          <p:cNvPr id="71" name="Shape 69"/>
          <p:cNvSpPr/>
          <p:nvPr/>
        </p:nvSpPr>
        <p:spPr>
          <a:xfrm>
            <a:off x="675531" y="4440555"/>
            <a:ext cx="80010" cy="80010"/>
          </a:xfrm>
          <a:prstGeom prst="roundRect">
            <a:avLst>
              <a:gd name="adj" fmla="val 21429"/>
            </a:avLst>
          </a:prstGeom>
          <a:solidFill>
            <a:srgbClr val="2196F3"/>
          </a:solidFill>
          <a:ln/>
        </p:spPr>
      </p:sp>
      <p:sp>
        <p:nvSpPr>
          <p:cNvPr id="72" name="Shape 70"/>
          <p:cNvSpPr/>
          <p:nvPr/>
        </p:nvSpPr>
        <p:spPr>
          <a:xfrm>
            <a:off x="652671" y="4417695"/>
            <a:ext cx="68580" cy="68580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/>
        </p:spPr>
      </p:sp>
      <p:sp>
        <p:nvSpPr>
          <p:cNvPr id="73" name="Text 71"/>
          <p:cNvSpPr/>
          <p:nvPr/>
        </p:nvSpPr>
        <p:spPr>
          <a:xfrm>
            <a:off x="549801" y="4606290"/>
            <a:ext cx="328613" cy="8001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28" spc="90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扫码加入</a:t>
            </a:r>
            <a:endParaRPr lang="en-US" sz="428" dirty="0"/>
          </a:p>
        </p:txBody>
      </p:sp>
      <p:sp>
        <p:nvSpPr>
          <p:cNvPr id="74" name="Text 72"/>
          <p:cNvSpPr/>
          <p:nvPr/>
        </p:nvSpPr>
        <p:spPr>
          <a:xfrm>
            <a:off x="1099602" y="4270534"/>
            <a:ext cx="514886" cy="2171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3" spc="45" kern="0" dirty="0">
                <a:solidFill>
                  <a:srgbClr val="64B5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开源之道社区</a:t>
            </a:r>
            <a:endParaRPr lang="en-US" sz="563" dirty="0"/>
          </a:p>
        </p:txBody>
      </p:sp>
      <p:sp>
        <p:nvSpPr>
          <p:cNvPr id="75" name="Shape 73"/>
          <p:cNvSpPr/>
          <p:nvPr/>
        </p:nvSpPr>
        <p:spPr>
          <a:xfrm>
            <a:off x="1099602" y="4527709"/>
            <a:ext cx="171450" cy="11430"/>
          </a:xfrm>
          <a:prstGeom prst="rect">
            <a:avLst/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76" name="Text 74"/>
          <p:cNvSpPr/>
          <p:nvPr/>
        </p:nvSpPr>
        <p:spPr>
          <a:xfrm>
            <a:off x="1099602" y="4567714"/>
            <a:ext cx="503456" cy="180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扫码加入共读</a:t>
            </a:r>
            <a:pPr algn="l" indent="0" marL="0">
              <a:lnSpc>
                <a:spcPct val="150000"/>
              </a:lnSpc>
              <a:buNone/>
            </a:pPr>
            <a:endParaRPr lang="en-US" sz="47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473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挑战与社区</a:t>
            </a:r>
            <a:endParaRPr lang="en-US" sz="473" dirty="0"/>
          </a:p>
        </p:txBody>
      </p:sp>
      <p:sp>
        <p:nvSpPr>
          <p:cNvPr id="77" name="Shape 75"/>
          <p:cNvSpPr/>
          <p:nvPr/>
        </p:nvSpPr>
        <p:spPr>
          <a:xfrm>
            <a:off x="3600450" y="4406801"/>
            <a:ext cx="400050" cy="571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196F3"/>
              </a:gs>
            </a:gsLst>
            <a:lin ang="0" scaled="0"/>
          </a:gradFill>
          <a:ln/>
        </p:spPr>
      </p:sp>
      <p:sp>
        <p:nvSpPr>
          <p:cNvPr id="78" name="Shape 76"/>
          <p:cNvSpPr/>
          <p:nvPr/>
        </p:nvSpPr>
        <p:spPr>
          <a:xfrm>
            <a:off x="4069080" y="4392513"/>
            <a:ext cx="34290" cy="34290"/>
          </a:xfrm>
          <a:prstGeom prst="ellipse">
            <a:avLst/>
          </a:prstGeom>
          <a:solidFill>
            <a:srgbClr val="2196F3"/>
          </a:solidFill>
          <a:ln/>
          <a:effectLst>
            <a:outerShdw sx="100000" sy="100000" kx="0" ky="0" algn="bl" rotWithShape="0" blurRad="95250" dist="50800" dir="16200000">
              <a:srgbClr val="2196F3">
                <a:alpha val="10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171950" y="4406801"/>
            <a:ext cx="400050" cy="5715"/>
          </a:xfrm>
          <a:prstGeom prst="rect">
            <a:avLst/>
          </a:prstGeom>
          <a:gradFill rotWithShape="1">
            <a:gsLst>
              <a:gs pos="0">
                <a:srgbClr val="00BCD4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80" name="Text 78"/>
          <p:cNvSpPr/>
          <p:nvPr/>
        </p:nvSpPr>
        <p:spPr>
          <a:xfrm>
            <a:off x="2954655" y="4483953"/>
            <a:ext cx="2534717" cy="14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698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感谢与邀请</a:t>
            </a:r>
            <a:pPr algn="ctr" indent="0" marL="0">
              <a:lnSpc>
                <a:spcPct val="160000"/>
              </a:lnSpc>
              <a:buNone/>
            </a:pPr>
            <a:r>
              <a:rPr lang="en-US" sz="698" spc="90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——</a:t>
            </a:r>
            <a:pPr algn="ctr" indent="0" marL="0">
              <a:lnSpc>
                <a:spcPct val="160000"/>
              </a:lnSpc>
              <a:buNone/>
            </a:pPr>
            <a:r>
              <a:rPr lang="en-US" sz="698" spc="90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愿你在书页间找到属于自己的世界</a:t>
            </a:r>
            <a:endParaRPr lang="en-US" sz="698" dirty="0"/>
          </a:p>
        </p:txBody>
      </p:sp>
      <p:sp>
        <p:nvSpPr>
          <p:cNvPr id="81" name="Shape 79"/>
          <p:cNvSpPr/>
          <p:nvPr/>
        </p:nvSpPr>
        <p:spPr>
          <a:xfrm>
            <a:off x="6629400" y="4103370"/>
            <a:ext cx="2171700" cy="811530"/>
          </a:xfrm>
          <a:prstGeom prst="roundRect">
            <a:avLst>
              <a:gd name="adj" fmla="val 9859"/>
            </a:avLst>
          </a:prstGeom>
          <a:gradFill rotWithShape="1">
            <a:gsLst>
              <a:gs pos="0">
                <a:srgbClr val="2196F3">
                  <a:alpha val="18000"/>
                </a:srgbClr>
              </a:gs>
              <a:gs pos="100000">
                <a:srgbClr val="00BCD4">
                  <a:alpha val="8000"/>
                </a:srgbClr>
              </a:gs>
            </a:gsLst>
            <a:lin ang="2700000" scaled="0"/>
          </a:gradFill>
          <a:ln w="5715">
            <a:solidFill>
              <a:srgbClr val="2196F3">
                <a:alpha val="4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89620" y="3931920"/>
            <a:ext cx="571500" cy="571500"/>
          </a:xfrm>
          <a:prstGeom prst="rect">
            <a:avLst/>
          </a:prstGeom>
          <a:solidFill>
            <a:srgbClr val="00BCD4">
              <a:alpha val="3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749415" y="4200525"/>
            <a:ext cx="457200" cy="137160"/>
          </a:xfrm>
          <a:prstGeom prst="roundRect">
            <a:avLst>
              <a:gd name="adj" fmla="val 41667"/>
            </a:avLst>
          </a:prstGeom>
          <a:gradFill rotWithShape="1">
            <a:gsLst>
              <a:gs pos="0">
                <a:srgbClr val="2196F3"/>
              </a:gs>
              <a:gs pos="100000">
                <a:srgbClr val="00BCD4"/>
              </a:gs>
            </a:gsLst>
            <a:lin ang="0" scaled="0"/>
          </a:gradFill>
          <a:ln/>
        </p:spPr>
      </p:sp>
      <p:sp>
        <p:nvSpPr>
          <p:cNvPr id="84" name="Text 82"/>
          <p:cNvSpPr/>
          <p:nvPr/>
        </p:nvSpPr>
        <p:spPr>
          <a:xfrm>
            <a:off x="6749415" y="4200525"/>
            <a:ext cx="520065" cy="137160"/>
          </a:xfrm>
          <a:prstGeom prst="rect">
            <a:avLst/>
          </a:prstGeom>
          <a:noFill/>
          <a:ln/>
        </p:spPr>
        <p:txBody>
          <a:bodyPr wrap="none" lIns="22860" tIns="68580" rIns="68580" bIns="22860" rtlCol="0" anchor="ctr"/>
          <a:lstStyle/>
          <a:p>
            <a:pPr algn="l" indent="0" marL="0">
              <a:buNone/>
            </a:pPr>
            <a:r>
              <a:rPr lang="en-US" sz="495" b="1" spc="135" kern="0" dirty="0">
                <a:solidFill>
                  <a:srgbClr val="0A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下期预告</a:t>
            </a:r>
            <a:endParaRPr lang="en-US" sz="495" dirty="0"/>
          </a:p>
        </p:txBody>
      </p:sp>
      <p:sp>
        <p:nvSpPr>
          <p:cNvPr id="85" name="Text 83"/>
          <p:cNvSpPr/>
          <p:nvPr/>
        </p:nvSpPr>
        <p:spPr>
          <a:xfrm>
            <a:off x="6749415" y="4371975"/>
            <a:ext cx="216347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990" b="1" spc="45" kern="0" dirty="0">
                <a:solidFill>
                  <a:srgbClr val="ECEF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2023年6月</a:t>
            </a:r>
            <a:endParaRPr lang="en-US" sz="990" dirty="0"/>
          </a:p>
        </p:txBody>
      </p:sp>
      <p:sp>
        <p:nvSpPr>
          <p:cNvPr id="86" name="Text 84"/>
          <p:cNvSpPr/>
          <p:nvPr/>
        </p:nvSpPr>
        <p:spPr>
          <a:xfrm>
            <a:off x="6749415" y="4589145"/>
            <a:ext cx="2163470" cy="10858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585" spc="45" kern="0" dirty="0">
                <a:solidFill>
                  <a:srgbClr val="90A4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主题待定 · 敬请期待</a:t>
            </a:r>
            <a:endParaRPr lang="en-US" sz="585" dirty="0"/>
          </a:p>
        </p:txBody>
      </p:sp>
      <p:sp>
        <p:nvSpPr>
          <p:cNvPr id="87" name="Text 85"/>
          <p:cNvSpPr/>
          <p:nvPr/>
        </p:nvSpPr>
        <p:spPr>
          <a:xfrm>
            <a:off x="6749415" y="4754880"/>
            <a:ext cx="2163470" cy="74295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473" spc="135" kern="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COMING SOON</a:t>
            </a:r>
            <a:endParaRPr lang="en-US" sz="4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2026-08-28T00:46:19Z</dcterms:created>
  <dcterms:modified xsi:type="dcterms:W3CDTF">2026-08-28T00:46:19Z</dcterms:modified>
</cp:coreProperties>
</file>