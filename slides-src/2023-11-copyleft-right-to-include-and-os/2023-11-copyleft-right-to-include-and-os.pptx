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2FA7"/>
              </a:solidFill>
              <a:effectLst/>
            </c:spPr>
          </c:dPt>
          <c:dPt>
            <c:idx val="1"/>
            <c:bubble3D val="0"/>
            <c:spPr>
              <a:solidFill>
                <a:srgbClr val="1A4FB8"/>
              </a:solidFill>
              <a:effectLst/>
            </c:spPr>
          </c:dPt>
          <c:dPt>
            <c:idx val="2"/>
            <c:bubble3D val="0"/>
            <c:spPr>
              <a:solidFill>
                <a:srgbClr val="3E7BC0"/>
              </a:solidFill>
              <a:effectLst/>
            </c:spPr>
          </c:dPt>
          <c:dPt>
            <c:idx val="3"/>
            <c:bubble3D val="0"/>
            <c:spPr>
              <a:solidFill>
                <a:srgbClr val="7FA5D0"/>
              </a:solidFill>
              <a:effectLst/>
            </c:spPr>
          </c:dPt>
          <c:dPt>
            <c:idx val="4"/>
            <c:bubble3D val="0"/>
            <c:spPr>
              <a:solidFill>
                <a:srgbClr val="B0C4D8"/>
              </a:solidFill>
              <a:effectLst/>
            </c:spPr>
          </c:dPt>
          <c:dPt>
            <c:idx val="5"/>
            <c:bubble3D val="0"/>
            <c:spPr>
              <a:solidFill>
                <a:srgbClr val="EDEFF5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MIT</c:v>
                </c:pt>
                <c:pt idx="1">
                  <c:v>Apache 2.0</c:v>
                </c:pt>
                <c:pt idx="2">
                  <c:v>GPL / AGPL</c:v>
                </c:pt>
                <c:pt idx="3">
                  <c:v>BSD 家族</c:v>
                </c:pt>
                <c:pt idx="4">
                  <c:v>LGPL</c:v>
                </c:pt>
                <c:pt idx="5">
                  <c:v>其他 / 未标注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43</c:v>
                </c:pt>
                <c:pt idx="1">
                  <c:v>19</c:v>
                </c:pt>
                <c:pt idx="2">
                  <c:v>11</c:v>
                </c:pt>
                <c:pt idx="3">
                  <c:v>8</c:v>
                </c:pt>
                <c:pt idx="4">
                  <c:v>3</c:v>
                </c:pt>
                <c:pt idx="5">
                  <c:v>16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noFill/>
          <a:ln w="5715">
            <a:solidFill>
              <a:srgbClr val="D9DB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68580" cy="6858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228600" y="228600"/>
            <a:ext cx="68580" cy="0"/>
          </a:xfrm>
          <a:prstGeom prst="line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28600"/>
            <a:ext cx="0" cy="68580"/>
          </a:xfrm>
          <a:prstGeom prst="line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46820" y="228600"/>
            <a:ext cx="68580" cy="6858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8846820" y="228600"/>
            <a:ext cx="68580" cy="0"/>
          </a:xfrm>
          <a:prstGeom prst="line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15400" y="228600"/>
            <a:ext cx="0" cy="68580"/>
          </a:xfrm>
          <a:prstGeom prst="line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4846320"/>
            <a:ext cx="68580" cy="6858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228600" y="4914900"/>
            <a:ext cx="68580" cy="0"/>
          </a:xfrm>
          <a:prstGeom prst="line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4846320"/>
            <a:ext cx="0" cy="68580"/>
          </a:xfrm>
          <a:prstGeom prst="line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46820" y="4846320"/>
            <a:ext cx="68580" cy="6858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8915400" y="4846320"/>
            <a:ext cx="0" cy="68580"/>
          </a:xfrm>
          <a:prstGeom prst="line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46820" y="4914900"/>
            <a:ext cx="68580" cy="0"/>
          </a:xfrm>
          <a:prstGeom prst="line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65760"/>
            <a:ext cx="125730" cy="125730"/>
          </a:xfrm>
          <a:prstGeom prst="rect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055" y="394335"/>
            <a:ext cx="45720" cy="4572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" y="380048"/>
            <a:ext cx="1338867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19" kern="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 · 适兕  /  开源读者会</a:t>
            </a:r>
            <a:endParaRPr lang="en-US" sz="540" dirty="0"/>
          </a:p>
        </p:txBody>
      </p:sp>
      <p:sp>
        <p:nvSpPr>
          <p:cNvPr id="18" name="Text 16"/>
          <p:cNvSpPr/>
          <p:nvPr/>
        </p:nvSpPr>
        <p:spPr>
          <a:xfrm>
            <a:off x="7194917" y="388620"/>
            <a:ext cx="172211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145" kern="0" dirty="0">
                <a:solidFill>
                  <a:srgbClr val="6B70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№ 47  ·  2023.11  ·  Cover</a:t>
            </a:r>
            <a:endParaRPr lang="en-US" sz="518" dirty="0"/>
          </a:p>
        </p:txBody>
      </p:sp>
      <p:sp>
        <p:nvSpPr>
          <p:cNvPr id="19" name="Shape 17"/>
          <p:cNvSpPr/>
          <p:nvPr/>
        </p:nvSpPr>
        <p:spPr>
          <a:xfrm>
            <a:off x="411480" y="728663"/>
            <a:ext cx="40005" cy="40005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20" name="Text 18"/>
          <p:cNvSpPr/>
          <p:nvPr/>
        </p:nvSpPr>
        <p:spPr>
          <a:xfrm>
            <a:off x="531495" y="708660"/>
            <a:ext cx="285825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217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READING · ROUND TABLE № 47</a:t>
            </a:r>
            <a:endParaRPr lang="en-US" sz="518" dirty="0"/>
          </a:p>
        </p:txBody>
      </p:sp>
      <p:sp>
        <p:nvSpPr>
          <p:cNvPr id="21" name="Shape 19"/>
          <p:cNvSpPr/>
          <p:nvPr/>
        </p:nvSpPr>
        <p:spPr>
          <a:xfrm>
            <a:off x="3163520" y="745808"/>
            <a:ext cx="320040" cy="5715"/>
          </a:xfrm>
          <a:prstGeom prst="rect">
            <a:avLst/>
          </a:prstGeom>
          <a:solidFill>
            <a:srgbClr val="002FA7">
              <a:alpha val="5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948690"/>
            <a:ext cx="4352544" cy="9326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b="1" spc="-54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开源布道</a:t>
            </a:r>
            <a:pPr algn="l" indent="0" marL="0">
              <a:lnSpc>
                <a:spcPct val="102000"/>
              </a:lnSpc>
              <a:buNone/>
            </a:pPr>
            <a:endParaRPr lang="en-US" sz="36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600" b="1" spc="-54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</a:t>
            </a:r>
            <a:pPr algn="l" indent="0" marL="0">
              <a:lnSpc>
                <a:spcPct val="102000"/>
              </a:lnSpc>
              <a:buNone/>
            </a:pPr>
            <a:r>
              <a:rPr lang="en-US" sz="2610" b="1" spc="-54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pPr algn="l" indent="0" marL="0">
              <a:lnSpc>
                <a:spcPct val="102000"/>
              </a:lnSpc>
              <a:buNone/>
            </a:pPr>
            <a:r>
              <a:rPr lang="en-US" sz="3600" b="1" spc="-54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包容权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11480" y="1927027"/>
            <a:ext cx="435254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214" kern="0" dirty="0">
                <a:solidFill>
                  <a:srgbClr val="6B70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  ·  RIGHT TO INCLUDE</a:t>
            </a:r>
            <a:endParaRPr lang="en-US" sz="630" dirty="0"/>
          </a:p>
        </p:txBody>
      </p:sp>
      <p:sp>
        <p:nvSpPr>
          <p:cNvPr id="24" name="Text 22"/>
          <p:cNvSpPr/>
          <p:nvPr/>
        </p:nvSpPr>
        <p:spPr>
          <a:xfrm>
            <a:off x="411480" y="2161342"/>
            <a:ext cx="4096512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2023-11 阅读分享</a:t>
            </a:r>
            <a:pPr algn="l"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从共享精神到包容边界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2584252"/>
            <a:ext cx="3886200" cy="880467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411480" y="2584252"/>
            <a:ext cx="3886200" cy="0"/>
          </a:xfrm>
          <a:prstGeom prst="line">
            <a:avLst/>
          </a:prstGeom>
          <a:noFill/>
          <a:ln w="5715">
            <a:solidFill>
              <a:srgbClr val="D9DB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715697"/>
            <a:ext cx="520065" cy="114568"/>
          </a:xfrm>
          <a:prstGeom prst="rect">
            <a:avLst/>
          </a:prstGeom>
          <a:noFill/>
          <a:ln/>
        </p:spPr>
        <p:txBody>
          <a:bodyPr wrap="none" lIns="17145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b="1" spc="11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阅读主题</a:t>
            </a:r>
            <a:endParaRPr lang="en-US" sz="495" dirty="0"/>
          </a:p>
        </p:txBody>
      </p:sp>
      <p:sp>
        <p:nvSpPr>
          <p:cNvPr id="28" name="Text 26"/>
          <p:cNvSpPr/>
          <p:nvPr/>
        </p:nvSpPr>
        <p:spPr>
          <a:xfrm>
            <a:off x="982980" y="2715697"/>
            <a:ext cx="2598725" cy="123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回看</a:t>
            </a:r>
            <a:pPr algn="l" indent="0" marL="0">
              <a:lnSpc>
                <a:spcPct val="155000"/>
              </a:lnSpc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的哲学誓言，重访</a:t>
            </a:r>
            <a:pPr algn="l" indent="0" marL="0">
              <a:lnSpc>
                <a:spcPct val="155000"/>
              </a:lnSpc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to Include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的当代追问。</a:t>
            </a:r>
            <a:endParaRPr lang="en-US" sz="630" dirty="0"/>
          </a:p>
        </p:txBody>
      </p:sp>
      <p:sp>
        <p:nvSpPr>
          <p:cNvPr id="29" name="Text 27"/>
          <p:cNvSpPr/>
          <p:nvPr/>
        </p:nvSpPr>
        <p:spPr>
          <a:xfrm>
            <a:off x="411480" y="2942511"/>
            <a:ext cx="520065" cy="114568"/>
          </a:xfrm>
          <a:prstGeom prst="rect">
            <a:avLst/>
          </a:prstGeom>
          <a:noFill/>
          <a:ln/>
        </p:spPr>
        <p:txBody>
          <a:bodyPr wrap="none" lIns="17145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b="1" spc="11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分享身份</a:t>
            </a:r>
            <a:endParaRPr lang="en-US" sz="495" dirty="0"/>
          </a:p>
        </p:txBody>
      </p:sp>
      <p:sp>
        <p:nvSpPr>
          <p:cNvPr id="30" name="Text 28"/>
          <p:cNvSpPr/>
          <p:nvPr/>
        </p:nvSpPr>
        <p:spPr>
          <a:xfrm>
            <a:off x="982980" y="2942511"/>
            <a:ext cx="1760220" cy="123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开源之道·适兕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主讲，</a:t>
            </a:r>
            <a:pPr algn="l" indent="0" marL="0">
              <a:lnSpc>
                <a:spcPct val="155000"/>
              </a:lnSpc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开源读者会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 47 期。</a:t>
            </a:r>
            <a:endParaRPr lang="en-US" sz="630" dirty="0"/>
          </a:p>
        </p:txBody>
      </p:sp>
      <p:sp>
        <p:nvSpPr>
          <p:cNvPr id="31" name="Text 29"/>
          <p:cNvSpPr/>
          <p:nvPr/>
        </p:nvSpPr>
        <p:spPr>
          <a:xfrm>
            <a:off x="411480" y="3169325"/>
            <a:ext cx="520065" cy="114568"/>
          </a:xfrm>
          <a:prstGeom prst="rect">
            <a:avLst/>
          </a:prstGeom>
          <a:noFill/>
          <a:ln/>
        </p:spPr>
        <p:txBody>
          <a:bodyPr wrap="none" lIns="17145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b="1" spc="11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核心问题</a:t>
            </a:r>
            <a:endParaRPr lang="en-US" sz="495" dirty="0"/>
          </a:p>
        </p:txBody>
      </p:sp>
      <p:sp>
        <p:nvSpPr>
          <p:cNvPr id="32" name="Text 30"/>
          <p:cNvSpPr/>
          <p:nvPr/>
        </p:nvSpPr>
        <p:spPr>
          <a:xfrm>
            <a:off x="982980" y="3169325"/>
            <a:ext cx="2099462" cy="123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当开源进入</a:t>
            </a:r>
            <a:pPr algn="l" indent="0" marL="0">
              <a:lnSpc>
                <a:spcPct val="155000"/>
              </a:lnSpc>
              <a:buNone/>
            </a:pPr>
            <a:r>
              <a:rPr lang="en-US" sz="63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时代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，“共享代码”之外还应守护什么。</a:t>
            </a:r>
            <a:endParaRPr lang="en-US" sz="630" dirty="0"/>
          </a:p>
        </p:txBody>
      </p:sp>
      <p:sp>
        <p:nvSpPr>
          <p:cNvPr id="33" name="Shape 31"/>
          <p:cNvSpPr/>
          <p:nvPr/>
        </p:nvSpPr>
        <p:spPr>
          <a:xfrm>
            <a:off x="4594860" y="674370"/>
            <a:ext cx="4114800" cy="2308860"/>
          </a:xfrm>
          <a:prstGeom prst="rect">
            <a:avLst/>
          </a:prstGeom>
          <a:solidFill>
            <a:srgbClr val="FAFAFA"/>
          </a:solidFill>
          <a:ln w="5715">
            <a:solidFill>
              <a:srgbClr val="D9DB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94860" y="674370"/>
            <a:ext cx="80010" cy="80010"/>
          </a:xfrm>
          <a:prstGeom prst="rect">
            <a:avLst/>
          </a:prstGeom>
          <a:noFill/>
          <a:ln/>
        </p:spPr>
      </p:sp>
      <p:sp>
        <p:nvSpPr>
          <p:cNvPr id="35" name="Shape 33"/>
          <p:cNvSpPr/>
          <p:nvPr/>
        </p:nvSpPr>
        <p:spPr>
          <a:xfrm>
            <a:off x="4594860" y="674370"/>
            <a:ext cx="80010" cy="0"/>
          </a:xfrm>
          <a:prstGeom prst="line">
            <a:avLst/>
          </a:prstGeom>
          <a:noFill/>
          <a:ln w="11430">
            <a:solidFill>
              <a:srgbClr val="FF704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94860" y="674370"/>
            <a:ext cx="0" cy="80010"/>
          </a:xfrm>
          <a:prstGeom prst="line">
            <a:avLst/>
          </a:prstGeom>
          <a:noFill/>
          <a:ln w="11430">
            <a:solidFill>
              <a:srgbClr val="FF704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29650" y="2903220"/>
            <a:ext cx="80010" cy="80010"/>
          </a:xfrm>
          <a:prstGeom prst="rect">
            <a:avLst/>
          </a:prstGeom>
          <a:noFill/>
          <a:ln/>
        </p:spPr>
      </p:sp>
      <p:sp>
        <p:nvSpPr>
          <p:cNvPr id="38" name="Shape 36"/>
          <p:cNvSpPr/>
          <p:nvPr/>
        </p:nvSpPr>
        <p:spPr>
          <a:xfrm>
            <a:off x="8709660" y="2903220"/>
            <a:ext cx="0" cy="80010"/>
          </a:xfrm>
          <a:prstGeom prst="line">
            <a:avLst/>
          </a:prstGeom>
          <a:noFill/>
          <a:ln w="11430">
            <a:solidFill>
              <a:srgbClr val="FF704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29650" y="2983230"/>
            <a:ext cx="80010" cy="0"/>
          </a:xfrm>
          <a:prstGeom prst="line">
            <a:avLst/>
          </a:prstGeom>
          <a:noFill/>
          <a:ln w="11430">
            <a:solidFill>
              <a:srgbClr val="FF7043"/>
            </a:solidFill>
            <a:prstDash val="solid"/>
          </a:ln>
        </p:spPr>
      </p:sp>
      <p:pic>
        <p:nvPicPr>
          <p:cNvPr id="40" name="Image 0" descr="/home/lee/developing/oscar-open-source-book/website/slides-src/2023-11-copyleft-right-to-include-and-os/images/page_001_hero.png">    </p:cNvPr>
          <p:cNvPicPr>
            <a:picLocks noChangeAspect="1"/>
          </p:cNvPicPr>
          <p:nvPr/>
        </p:nvPicPr>
        <p:blipFill>
          <a:blip r:embed="rId1"/>
          <a:srcRect l="-1486" r="-1486" t="0" b="0"/>
          <a:stretch/>
        </p:blipFill>
        <p:spPr>
          <a:xfrm>
            <a:off x="4680585" y="760095"/>
            <a:ext cx="3943350" cy="213741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5934045" y="862965"/>
            <a:ext cx="2598450" cy="142875"/>
          </a:xfrm>
          <a:prstGeom prst="rect">
            <a:avLst/>
          </a:prstGeom>
          <a:solidFill>
            <a:srgbClr val="FFFFFF">
              <a:alpha val="88000"/>
            </a:srgbClr>
          </a:solidFill>
          <a:ln w="5715">
            <a:solidFill>
              <a:srgbClr val="D9DBD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34045" y="862965"/>
            <a:ext cx="2910264" cy="14287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 algn="l" indent="0" marL="0">
              <a:buNone/>
            </a:pPr>
            <a:r>
              <a:rPr lang="en-US" sz="428" spc="111" kern="0" dirty="0">
                <a:solidFill>
                  <a:srgbClr val="6B70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Fig. 01  /  Open Rings · Three Cycles, One Awaiting Inclusion</a:t>
            </a:r>
            <a:endParaRPr lang="en-US" sz="428" dirty="0"/>
          </a:p>
        </p:txBody>
      </p:sp>
      <p:sp>
        <p:nvSpPr>
          <p:cNvPr id="43" name="Shape 40"/>
          <p:cNvSpPr/>
          <p:nvPr/>
        </p:nvSpPr>
        <p:spPr>
          <a:xfrm>
            <a:off x="4594860" y="3143250"/>
            <a:ext cx="4114800" cy="290036"/>
          </a:xfrm>
          <a:prstGeom prst="rect">
            <a:avLst/>
          </a:prstGeom>
          <a:noFill/>
          <a:ln/>
        </p:spPr>
      </p:sp>
      <p:sp>
        <p:nvSpPr>
          <p:cNvPr id="44" name="Shape 41"/>
          <p:cNvSpPr/>
          <p:nvPr/>
        </p:nvSpPr>
        <p:spPr>
          <a:xfrm>
            <a:off x="4594860" y="3143250"/>
            <a:ext cx="0" cy="290036"/>
          </a:xfrm>
          <a:prstGeom prst="line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594860" y="3143250"/>
            <a:ext cx="4608576" cy="290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to Include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两条线索展开，试图在“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共享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”与“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包容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”之间重新校准开源社区的价值坐标 —— 一半回望四十余年前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GNU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的诞生誓言，一半直面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年以来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R2I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提出的新议程。</a:t>
            </a:r>
            <a:endParaRPr lang="en-US" sz="653" dirty="0"/>
          </a:p>
        </p:txBody>
      </p:sp>
      <p:sp>
        <p:nvSpPr>
          <p:cNvPr id="46" name="Shape 43"/>
          <p:cNvSpPr/>
          <p:nvPr/>
        </p:nvSpPr>
        <p:spPr>
          <a:xfrm>
            <a:off x="411480" y="4840605"/>
            <a:ext cx="8321040" cy="5715"/>
          </a:xfrm>
          <a:prstGeom prst="rect">
            <a:avLst/>
          </a:prstGeom>
          <a:solidFill>
            <a:srgbClr val="D9DBDD"/>
          </a:solidFill>
          <a:ln/>
        </p:spPr>
      </p:sp>
      <p:sp>
        <p:nvSpPr>
          <p:cNvPr id="47" name="Shape 44"/>
          <p:cNvSpPr/>
          <p:nvPr/>
        </p:nvSpPr>
        <p:spPr>
          <a:xfrm>
            <a:off x="411480" y="4703445"/>
            <a:ext cx="34290" cy="3429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48" name="Text 45"/>
          <p:cNvSpPr/>
          <p:nvPr/>
        </p:nvSpPr>
        <p:spPr>
          <a:xfrm>
            <a:off x="514350" y="4674870"/>
            <a:ext cx="41371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145" kern="0" dirty="0">
                <a:solidFill>
                  <a:srgbClr val="6B70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分享期数</a:t>
            </a:r>
            <a:endParaRPr lang="en-US" sz="518" dirty="0"/>
          </a:p>
        </p:txBody>
      </p:sp>
      <p:sp>
        <p:nvSpPr>
          <p:cNvPr id="49" name="Text 46"/>
          <p:cNvSpPr/>
          <p:nvPr/>
        </p:nvSpPr>
        <p:spPr>
          <a:xfrm>
            <a:off x="930920" y="4674870"/>
            <a:ext cx="46809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103" kern="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第 47 期</a:t>
            </a:r>
            <a:endParaRPr lang="en-US" sz="518" dirty="0"/>
          </a:p>
        </p:txBody>
      </p:sp>
      <p:sp>
        <p:nvSpPr>
          <p:cNvPr id="50" name="Text 47"/>
          <p:cNvSpPr/>
          <p:nvPr/>
        </p:nvSpPr>
        <p:spPr>
          <a:xfrm>
            <a:off x="7363956" y="4674870"/>
            <a:ext cx="23976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145" kern="0" dirty="0">
                <a:solidFill>
                  <a:srgbClr val="6B70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时间</a:t>
            </a:r>
            <a:endParaRPr lang="en-US" sz="518" dirty="0"/>
          </a:p>
        </p:txBody>
      </p:sp>
      <p:sp>
        <p:nvSpPr>
          <p:cNvPr id="51" name="Text 48"/>
          <p:cNvSpPr/>
          <p:nvPr/>
        </p:nvSpPr>
        <p:spPr>
          <a:xfrm>
            <a:off x="7606576" y="4674870"/>
            <a:ext cx="69708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103" kern="0" dirty="0">
                <a:solidFill>
                  <a:srgbClr val="11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2023 年 11 月</a:t>
            </a:r>
            <a:endParaRPr lang="en-US" sz="518" dirty="0"/>
          </a:p>
        </p:txBody>
      </p:sp>
      <p:sp>
        <p:nvSpPr>
          <p:cNvPr id="52" name="Text 49"/>
          <p:cNvSpPr/>
          <p:nvPr/>
        </p:nvSpPr>
        <p:spPr>
          <a:xfrm>
            <a:off x="8297555" y="4674870"/>
            <a:ext cx="50068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145" kern="0" dirty="0">
                <a:solidFill>
                  <a:srgbClr val="6B70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圆桌读书会</a:t>
            </a:r>
            <a:endParaRPr lang="en-US" sz="51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90511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62" kern="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· 2024</a:t>
            </a:r>
            <a:endParaRPr lang="en-US" sz="540" dirty="0"/>
          </a:p>
        </p:txBody>
      </p:sp>
      <p:sp>
        <p:nvSpPr>
          <p:cNvPr id="3" name="Shape 1"/>
          <p:cNvSpPr/>
          <p:nvPr/>
        </p:nvSpPr>
        <p:spPr>
          <a:xfrm>
            <a:off x="1333917" y="382905"/>
            <a:ext cx="137160" cy="5715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4" name="Text 2"/>
          <p:cNvSpPr/>
          <p:nvPr/>
        </p:nvSpPr>
        <p:spPr>
          <a:xfrm>
            <a:off x="1539657" y="342900"/>
            <a:ext cx="107923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62" kern="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&amp; AI</a:t>
            </a:r>
            <a:endParaRPr lang="en-US" sz="540" dirty="0"/>
          </a:p>
        </p:txBody>
      </p:sp>
      <p:sp>
        <p:nvSpPr>
          <p:cNvPr id="5" name="Text 3"/>
          <p:cNvSpPr/>
          <p:nvPr/>
        </p:nvSpPr>
        <p:spPr>
          <a:xfrm>
            <a:off x="7117407" y="351473"/>
            <a:ext cx="76939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176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01</a:t>
            </a:r>
            <a:endParaRPr lang="en-US" sz="630" dirty="0"/>
          </a:p>
        </p:txBody>
      </p:sp>
      <p:sp>
        <p:nvSpPr>
          <p:cNvPr id="6" name="Shape 4"/>
          <p:cNvSpPr/>
          <p:nvPr/>
        </p:nvSpPr>
        <p:spPr>
          <a:xfrm>
            <a:off x="7884378" y="397193"/>
            <a:ext cx="125730" cy="5715"/>
          </a:xfrm>
          <a:prstGeom prst="rect">
            <a:avLst/>
          </a:prstGeom>
          <a:solidFill>
            <a:srgbClr val="B8B8B8"/>
          </a:solidFill>
          <a:ln/>
        </p:spPr>
      </p:sp>
      <p:sp>
        <p:nvSpPr>
          <p:cNvPr id="7" name="Text 5"/>
          <p:cNvSpPr/>
          <p:nvPr/>
        </p:nvSpPr>
        <p:spPr>
          <a:xfrm>
            <a:off x="8090118" y="342900"/>
            <a:ext cx="528102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252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议题背景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8652510" y="382905"/>
            <a:ext cx="34290" cy="3429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788670"/>
            <a:ext cx="102412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324" kern="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· BACKGROUND</a:t>
            </a:r>
            <a:endParaRPr lang="en-US" sz="540" dirty="0"/>
          </a:p>
        </p:txBody>
      </p:sp>
      <p:sp>
        <p:nvSpPr>
          <p:cNvPr id="10" name="Text 8"/>
          <p:cNvSpPr/>
          <p:nvPr/>
        </p:nvSpPr>
        <p:spPr>
          <a:xfrm>
            <a:off x="3763149" y="1000125"/>
            <a:ext cx="1949083" cy="4800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610" spc="574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议题背景</a:t>
            </a:r>
            <a:endParaRPr lang="en-US" sz="2610" dirty="0"/>
          </a:p>
        </p:txBody>
      </p:sp>
      <p:sp>
        <p:nvSpPr>
          <p:cNvPr id="11" name="Shape 9"/>
          <p:cNvSpPr/>
          <p:nvPr/>
        </p:nvSpPr>
        <p:spPr>
          <a:xfrm>
            <a:off x="4571913" y="1520190"/>
            <a:ext cx="251460" cy="1714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1605915"/>
            <a:ext cx="1024128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spc="97" kern="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 GNU 的共享誓言，到 R2I 的包容诉求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571500" y="2194560"/>
            <a:ext cx="176093" cy="85725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747593" y="2194560"/>
            <a:ext cx="0" cy="85725"/>
          </a:xfrm>
          <a:prstGeom prst="line">
            <a:avLst/>
          </a:prstGeom>
          <a:noFill/>
          <a:ln w="5715">
            <a:solidFill>
              <a:srgbClr val="002F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" y="2194560"/>
            <a:ext cx="244673" cy="85725"/>
          </a:xfrm>
          <a:prstGeom prst="rect">
            <a:avLst/>
          </a:prstGeom>
          <a:noFill/>
          <a:ln/>
        </p:spPr>
        <p:txBody>
          <a:bodyPr wrap="none" lIns="0" tIns="0" rIns="68580" bIns="0" rtlCol="0" anchor="ctr"/>
          <a:lstStyle/>
          <a:p>
            <a:pPr algn="l" indent="0" marL="0">
              <a:buNone/>
            </a:pPr>
            <a:r>
              <a:rPr lang="en-US" sz="540" spc="108" kern="0" dirty="0">
                <a:solidFill>
                  <a:srgbClr val="002FA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40" dirty="0"/>
          </a:p>
        </p:txBody>
      </p:sp>
      <p:sp>
        <p:nvSpPr>
          <p:cNvPr id="16" name="Text 14"/>
          <p:cNvSpPr/>
          <p:nvPr/>
        </p:nvSpPr>
        <p:spPr>
          <a:xfrm>
            <a:off x="827603" y="2171700"/>
            <a:ext cx="1670609" cy="135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先梳理</a:t>
            </a:r>
            <a:pPr algn="l" indent="0" marL="0">
              <a:lnSpc>
                <a:spcPct val="170000"/>
              </a:lnSpc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</a:t>
            </a:r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的历史脉络与许可证家族</a:t>
            </a:r>
            <a:endParaRPr lang="en-US" sz="630" dirty="0"/>
          </a:p>
        </p:txBody>
      </p:sp>
      <p:sp>
        <p:nvSpPr>
          <p:cNvPr id="17" name="Shape 15"/>
          <p:cNvSpPr/>
          <p:nvPr/>
        </p:nvSpPr>
        <p:spPr>
          <a:xfrm>
            <a:off x="3284160" y="2194560"/>
            <a:ext cx="187523" cy="85725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3471684" y="2194560"/>
            <a:ext cx="0" cy="85725"/>
          </a:xfrm>
          <a:prstGeom prst="line">
            <a:avLst/>
          </a:prstGeom>
          <a:noFill/>
          <a:ln w="5715">
            <a:solidFill>
              <a:srgbClr val="002F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4160" y="2194560"/>
            <a:ext cx="256103" cy="85725"/>
          </a:xfrm>
          <a:prstGeom prst="rect">
            <a:avLst/>
          </a:prstGeom>
          <a:noFill/>
          <a:ln/>
        </p:spPr>
        <p:txBody>
          <a:bodyPr wrap="none" lIns="0" tIns="0" rIns="68580" bIns="0" rtlCol="0" anchor="ctr"/>
          <a:lstStyle/>
          <a:p>
            <a:pPr algn="l" indent="0" marL="0">
              <a:buNone/>
            </a:pPr>
            <a:r>
              <a:rPr lang="en-US" sz="540" spc="108" kern="0" dirty="0">
                <a:solidFill>
                  <a:srgbClr val="002FA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40" dirty="0"/>
          </a:p>
        </p:txBody>
      </p:sp>
      <p:sp>
        <p:nvSpPr>
          <p:cNvPr id="20" name="Text 18"/>
          <p:cNvSpPr/>
          <p:nvPr/>
        </p:nvSpPr>
        <p:spPr>
          <a:xfrm>
            <a:off x="3551694" y="2171700"/>
            <a:ext cx="1645006" cy="135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再看</a:t>
            </a:r>
            <a:pPr algn="l" indent="0" marL="0">
              <a:lnSpc>
                <a:spcPct val="170000"/>
              </a:lnSpc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to Include</a:t>
            </a:r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的兴起逻辑与主张</a:t>
            </a:r>
            <a:endParaRPr lang="en-US" sz="630" dirty="0"/>
          </a:p>
        </p:txBody>
      </p:sp>
      <p:sp>
        <p:nvSpPr>
          <p:cNvPr id="21" name="Shape 19"/>
          <p:cNvSpPr/>
          <p:nvPr/>
        </p:nvSpPr>
        <p:spPr>
          <a:xfrm>
            <a:off x="5996910" y="2194560"/>
            <a:ext cx="193238" cy="85725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6190149" y="2194560"/>
            <a:ext cx="0" cy="85725"/>
          </a:xfrm>
          <a:prstGeom prst="line">
            <a:avLst/>
          </a:prstGeom>
          <a:noFill/>
          <a:ln w="5715">
            <a:solidFill>
              <a:srgbClr val="002F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96910" y="2194560"/>
            <a:ext cx="261818" cy="85725"/>
          </a:xfrm>
          <a:prstGeom prst="rect">
            <a:avLst/>
          </a:prstGeom>
          <a:noFill/>
          <a:ln/>
        </p:spPr>
        <p:txBody>
          <a:bodyPr wrap="none" lIns="0" tIns="0" rIns="68580" bIns="0" rtlCol="0" anchor="ctr"/>
          <a:lstStyle/>
          <a:p>
            <a:pPr algn="l" indent="0" marL="0">
              <a:buNone/>
            </a:pPr>
            <a:r>
              <a:rPr lang="en-US" sz="540" spc="108" kern="0" dirty="0">
                <a:solidFill>
                  <a:srgbClr val="002FA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40" dirty="0"/>
          </a:p>
        </p:txBody>
      </p:sp>
      <p:sp>
        <p:nvSpPr>
          <p:cNvPr id="24" name="Text 22"/>
          <p:cNvSpPr/>
          <p:nvPr/>
        </p:nvSpPr>
        <p:spPr>
          <a:xfrm>
            <a:off x="6270159" y="2171700"/>
            <a:ext cx="1779422" cy="135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最后在</a:t>
            </a:r>
            <a:pPr algn="l" indent="0" marL="0">
              <a:lnSpc>
                <a:spcPct val="170000"/>
              </a:lnSpc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与多样性</a:t>
            </a:r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议题上做一次对照性收束</a:t>
            </a:r>
            <a:endParaRPr lang="en-US" sz="630" dirty="0"/>
          </a:p>
        </p:txBody>
      </p:sp>
      <p:sp>
        <p:nvSpPr>
          <p:cNvPr id="25" name="Shape 23"/>
          <p:cNvSpPr/>
          <p:nvPr/>
        </p:nvSpPr>
        <p:spPr>
          <a:xfrm>
            <a:off x="571500" y="2926080"/>
            <a:ext cx="2529780" cy="601147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571500" y="2926080"/>
            <a:ext cx="2529780" cy="0"/>
          </a:xfrm>
          <a:prstGeom prst="line">
            <a:avLst/>
          </a:prstGeom>
          <a:noFill/>
          <a:ln w="5715">
            <a:solidFill>
              <a:srgbClr val="002FA7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1500" y="2903220"/>
            <a:ext cx="40005" cy="40005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" y="3057525"/>
            <a:ext cx="2833354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5" spc="46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两条主线</a:t>
            </a:r>
            <a:endParaRPr lang="en-US" sz="765" dirty="0"/>
          </a:p>
        </p:txBody>
      </p:sp>
      <p:sp>
        <p:nvSpPr>
          <p:cNvPr id="29" name="Text 27"/>
          <p:cNvSpPr/>
          <p:nvPr/>
        </p:nvSpPr>
        <p:spPr>
          <a:xfrm>
            <a:off x="571500" y="3257193"/>
            <a:ext cx="2833354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spc="12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 关注代码自由的强制延续，R2I 关注人、AI、可访问性的强制包含</a:t>
            </a:r>
            <a:endParaRPr lang="en-US" sz="608" dirty="0"/>
          </a:p>
        </p:txBody>
      </p:sp>
      <p:sp>
        <p:nvSpPr>
          <p:cNvPr id="30" name="Shape 28"/>
          <p:cNvSpPr/>
          <p:nvPr/>
        </p:nvSpPr>
        <p:spPr>
          <a:xfrm>
            <a:off x="3307020" y="2926080"/>
            <a:ext cx="2529870" cy="601147"/>
          </a:xfrm>
          <a:prstGeom prst="rect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3307020" y="2926080"/>
            <a:ext cx="2529870" cy="0"/>
          </a:xfrm>
          <a:prstGeom prst="line">
            <a:avLst/>
          </a:prstGeom>
          <a:noFill/>
          <a:ln w="5715">
            <a:solidFill>
              <a:srgbClr val="002FA7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07020" y="2903220"/>
            <a:ext cx="40005" cy="40005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33" name="Text 31"/>
          <p:cNvSpPr/>
          <p:nvPr/>
        </p:nvSpPr>
        <p:spPr>
          <a:xfrm>
            <a:off x="3307020" y="3057525"/>
            <a:ext cx="2833454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5" spc="46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时间跨度</a:t>
            </a:r>
            <a:endParaRPr lang="en-US" sz="765" dirty="0"/>
          </a:p>
        </p:txBody>
      </p:sp>
      <p:sp>
        <p:nvSpPr>
          <p:cNvPr id="34" name="Text 32"/>
          <p:cNvSpPr/>
          <p:nvPr/>
        </p:nvSpPr>
        <p:spPr>
          <a:xfrm>
            <a:off x="3307020" y="3257193"/>
            <a:ext cx="2833454" cy="13501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spc="12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1983–2023，跨越四十年的开源话语演进</a:t>
            </a:r>
            <a:endParaRPr lang="en-US" sz="608" dirty="0"/>
          </a:p>
        </p:txBody>
      </p:sp>
      <p:sp>
        <p:nvSpPr>
          <p:cNvPr id="35" name="Shape 33"/>
          <p:cNvSpPr/>
          <p:nvPr/>
        </p:nvSpPr>
        <p:spPr>
          <a:xfrm>
            <a:off x="6042630" y="2926080"/>
            <a:ext cx="2529780" cy="601147"/>
          </a:xfrm>
          <a:prstGeom prst="rect">
            <a:avLst/>
          </a:prstGeom>
          <a:noFill/>
          <a:ln/>
        </p:spPr>
      </p:sp>
      <p:sp>
        <p:nvSpPr>
          <p:cNvPr id="36" name="Shape 34"/>
          <p:cNvSpPr/>
          <p:nvPr/>
        </p:nvSpPr>
        <p:spPr>
          <a:xfrm>
            <a:off x="6042630" y="2926080"/>
            <a:ext cx="2529780" cy="0"/>
          </a:xfrm>
          <a:prstGeom prst="line">
            <a:avLst/>
          </a:prstGeom>
          <a:noFill/>
          <a:ln w="5715">
            <a:solidFill>
              <a:srgbClr val="002FA7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42630" y="2903220"/>
            <a:ext cx="40005" cy="40005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38" name="Text 36"/>
          <p:cNvSpPr/>
          <p:nvPr/>
        </p:nvSpPr>
        <p:spPr>
          <a:xfrm>
            <a:off x="6042630" y="3057525"/>
            <a:ext cx="2833354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5" spc="46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关键问题</a:t>
            </a:r>
            <a:endParaRPr lang="en-US" sz="765" dirty="0"/>
          </a:p>
        </p:txBody>
      </p:sp>
      <p:sp>
        <p:nvSpPr>
          <p:cNvPr id="39" name="Text 37"/>
          <p:cNvSpPr/>
          <p:nvPr/>
        </p:nvSpPr>
        <p:spPr>
          <a:xfrm>
            <a:off x="6042630" y="3257193"/>
            <a:ext cx="2833354" cy="13501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spc="12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训练、可访问性、地缘多样性，正在挑战经典 Copyleft 的边界</a:t>
            </a:r>
            <a:endParaRPr lang="en-US" sz="608" dirty="0"/>
          </a:p>
        </p:txBody>
      </p:sp>
      <p:sp>
        <p:nvSpPr>
          <p:cNvPr id="40" name="Text 38"/>
          <p:cNvSpPr/>
          <p:nvPr/>
        </p:nvSpPr>
        <p:spPr>
          <a:xfrm>
            <a:off x="2628900" y="4391978"/>
            <a:ext cx="2688336" cy="4200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63" spc="32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01 · CONTEXT</a:t>
            </a:r>
            <a:endParaRPr lang="en-US" sz="540" dirty="0"/>
          </a:p>
          <a:p>
            <a:pPr algn="l" indent="0" marL="0">
              <a:lnSpc>
                <a:spcPct val="185000"/>
              </a:lnSpc>
              <a:buNone/>
            </a:pPr>
            <a:r>
              <a:rPr lang="en-US" sz="540" spc="32" kern="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本页开启本次分享的第一章节；后续章节将依此主线延展至 AI 与包容性的新话语场。</a:t>
            </a:r>
            <a:endParaRPr lang="en-US" sz="540" dirty="0"/>
          </a:p>
        </p:txBody>
      </p:sp>
      <p:sp>
        <p:nvSpPr>
          <p:cNvPr id="41" name="Text 39"/>
          <p:cNvSpPr/>
          <p:nvPr/>
        </p:nvSpPr>
        <p:spPr>
          <a:xfrm>
            <a:off x="6983551" y="4362867"/>
            <a:ext cx="56667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spc="139" kern="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议题跨度</a:t>
            </a:r>
            <a:endParaRPr lang="en-US" sz="495" dirty="0"/>
          </a:p>
        </p:txBody>
      </p:sp>
      <p:sp>
        <p:nvSpPr>
          <p:cNvPr id="42" name="Text 40"/>
          <p:cNvSpPr/>
          <p:nvPr/>
        </p:nvSpPr>
        <p:spPr>
          <a:xfrm>
            <a:off x="6983551" y="4511457"/>
            <a:ext cx="652403" cy="163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70" spc="23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pPr algn="r" indent="0" marL="0">
              <a:lnSpc>
                <a:spcPct val="110000"/>
              </a:lnSpc>
              <a:buNone/>
            </a:pPr>
            <a:r>
              <a:rPr lang="en-US" sz="630" spc="23" kern="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</a:t>
            </a:r>
            <a:endParaRPr lang="en-US" sz="1170" dirty="0"/>
          </a:p>
        </p:txBody>
      </p:sp>
      <p:sp>
        <p:nvSpPr>
          <p:cNvPr id="43" name="Text 41"/>
          <p:cNvSpPr/>
          <p:nvPr/>
        </p:nvSpPr>
        <p:spPr>
          <a:xfrm>
            <a:off x="6983551" y="4720590"/>
            <a:ext cx="56667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spc="74" kern="0" dirty="0">
                <a:solidFill>
                  <a:srgbClr val="B8B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1983 — 2023</a:t>
            </a:r>
            <a:endParaRPr lang="en-US" sz="495" dirty="0"/>
          </a:p>
        </p:txBody>
      </p:sp>
      <p:sp>
        <p:nvSpPr>
          <p:cNvPr id="44" name="Text 42"/>
          <p:cNvSpPr/>
          <p:nvPr/>
        </p:nvSpPr>
        <p:spPr>
          <a:xfrm>
            <a:off x="7830264" y="4351437"/>
            <a:ext cx="83130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spc="139" kern="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章节结构</a:t>
            </a:r>
            <a:endParaRPr lang="en-US" sz="495" dirty="0"/>
          </a:p>
        </p:txBody>
      </p:sp>
      <p:sp>
        <p:nvSpPr>
          <p:cNvPr id="45" name="Text 43"/>
          <p:cNvSpPr/>
          <p:nvPr/>
        </p:nvSpPr>
        <p:spPr>
          <a:xfrm>
            <a:off x="7830264" y="4500027"/>
            <a:ext cx="890826" cy="163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70" spc="23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pPr algn="r" indent="0" marL="0">
              <a:lnSpc>
                <a:spcPct val="110000"/>
              </a:lnSpc>
              <a:buNone/>
            </a:pPr>
            <a:r>
              <a:rPr lang="en-US" sz="630" spc="23" kern="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主线</a:t>
            </a:r>
            <a:pPr algn="r" indent="0" marL="0">
              <a:lnSpc>
                <a:spcPct val="110000"/>
              </a:lnSpc>
              <a:buNone/>
            </a:pPr>
            <a:r>
              <a:rPr lang="en-US" sz="1170" spc="23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8</a:t>
            </a:r>
            <a:pPr algn="r" indent="0" marL="0">
              <a:lnSpc>
                <a:spcPct val="110000"/>
              </a:lnSpc>
              <a:buNone/>
            </a:pPr>
            <a:r>
              <a:rPr lang="en-US" sz="630" spc="23" kern="0" dirty="0">
                <a:solidFill>
                  <a:srgbClr val="7A7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页</a:t>
            </a:r>
            <a:endParaRPr lang="en-US" sz="1170" dirty="0"/>
          </a:p>
        </p:txBody>
      </p:sp>
      <p:sp>
        <p:nvSpPr>
          <p:cNvPr id="46" name="Text 44"/>
          <p:cNvSpPr/>
          <p:nvPr/>
        </p:nvSpPr>
        <p:spPr>
          <a:xfrm>
            <a:off x="7830264" y="4709160"/>
            <a:ext cx="83130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spc="74" kern="0" dirty="0">
                <a:solidFill>
                  <a:srgbClr val="B8B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全场结构</a:t>
            </a:r>
            <a:endParaRPr lang="en-US" sz="495" dirty="0"/>
          </a:p>
        </p:txBody>
      </p:sp>
      <p:sp>
        <p:nvSpPr>
          <p:cNvPr id="47" name="Text 45"/>
          <p:cNvSpPr/>
          <p:nvPr/>
        </p:nvSpPr>
        <p:spPr>
          <a:xfrm>
            <a:off x="228600" y="4017645"/>
            <a:ext cx="3017520" cy="10687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900" b="1" spc="-198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" y="-228600"/>
            <a:ext cx="1257300" cy="12573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-228600" y="-228600"/>
            <a:ext cx="1257300" cy="0"/>
          </a:xfrm>
          <a:prstGeom prst="line">
            <a:avLst/>
          </a:prstGeom>
          <a:noFill/>
          <a:ln w="5715">
            <a:solidFill>
              <a:srgbClr val="E3E3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28600" y="-228600"/>
            <a:ext cx="0" cy="1257300"/>
          </a:xfrm>
          <a:prstGeom prst="line">
            <a:avLst/>
          </a:prstGeom>
          <a:noFill/>
          <a:ln w="5715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5300" y="3429000"/>
            <a:ext cx="1257300" cy="12573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9372600" y="3429000"/>
            <a:ext cx="0" cy="1257300"/>
          </a:xfrm>
          <a:prstGeom prst="line">
            <a:avLst/>
          </a:prstGeom>
          <a:noFill/>
          <a:ln w="5715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15300" y="4686300"/>
            <a:ext cx="1257300" cy="0"/>
          </a:xfrm>
          <a:prstGeom prst="line">
            <a:avLst/>
          </a:prstGeom>
          <a:noFill/>
          <a:ln w="5715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23910" y="342900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320040"/>
            <a:ext cx="124075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51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PHILOSOPHY · ORIGIN</a:t>
            </a:r>
            <a:endParaRPr lang="en-US" sz="540" dirty="0"/>
          </a:p>
        </p:txBody>
      </p:sp>
      <p:sp>
        <p:nvSpPr>
          <p:cNvPr id="10" name="Shape 8"/>
          <p:cNvSpPr/>
          <p:nvPr/>
        </p:nvSpPr>
        <p:spPr>
          <a:xfrm>
            <a:off x="1599307" y="357188"/>
            <a:ext cx="251460" cy="1143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462915"/>
            <a:ext cx="3096287" cy="3120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40" b="1" spc="-23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 的</a:t>
            </a:r>
            <a:pPr algn="l" indent="0" marL="0">
              <a:lnSpc>
                <a:spcPct val="105000"/>
              </a:lnSpc>
              <a:buNone/>
            </a:pPr>
            <a:r>
              <a:rPr lang="en-US" sz="2340" b="1" spc="-23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哲学起源</a:t>
            </a:r>
            <a:endParaRPr lang="en-US" sz="2340" dirty="0"/>
          </a:p>
        </p:txBody>
      </p:sp>
      <p:sp>
        <p:nvSpPr>
          <p:cNvPr id="12" name="Text 10"/>
          <p:cNvSpPr/>
          <p:nvPr/>
        </p:nvSpPr>
        <p:spPr>
          <a:xfrm>
            <a:off x="7723197" y="437733"/>
            <a:ext cx="1203633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7723197" y="654903"/>
            <a:ext cx="113044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40" spc="108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/ 1983—1985</a:t>
            </a:r>
            <a:endParaRPr lang="en-US" sz="540" dirty="0"/>
          </a:p>
        </p:txBody>
      </p:sp>
      <p:sp>
        <p:nvSpPr>
          <p:cNvPr id="14" name="Shape 12"/>
          <p:cNvSpPr/>
          <p:nvPr/>
        </p:nvSpPr>
        <p:spPr>
          <a:xfrm>
            <a:off x="411480" y="900648"/>
            <a:ext cx="8321040" cy="349687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411480" y="900648"/>
            <a:ext cx="8321040" cy="0"/>
          </a:xfrm>
          <a:prstGeom prst="line">
            <a:avLst/>
          </a:prstGeom>
          <a:noFill/>
          <a:ln w="5715">
            <a:solidFill>
              <a:srgbClr val="E3E3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1250335"/>
            <a:ext cx="8321040" cy="0"/>
          </a:xfrm>
          <a:prstGeom prst="line">
            <a:avLst/>
          </a:prstGeom>
          <a:noFill/>
          <a:ln w="5715">
            <a:solidFill>
              <a:srgbClr val="E3E3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997803"/>
            <a:ext cx="22860" cy="155377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8" name="Text 16"/>
          <p:cNvSpPr/>
          <p:nvPr/>
        </p:nvSpPr>
        <p:spPr>
          <a:xfrm>
            <a:off x="537210" y="997803"/>
            <a:ext cx="7930591" cy="155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72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 起源于</a:t>
            </a:r>
            <a:pPr algn="l" indent="0" marL="0">
              <a:lnSpc>
                <a:spcPct val="170000"/>
              </a:lnSpc>
              <a:buNone/>
            </a:pPr>
            <a:r>
              <a:rPr lang="en-US" sz="72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GNU 项目对专有软件的反抗</a:t>
            </a:r>
            <a:pPr algn="l" indent="0" marL="0">
              <a:lnSpc>
                <a:spcPct val="170000"/>
              </a:lnSpc>
              <a:buNone/>
            </a:pPr>
            <a:r>
              <a:rPr lang="en-US" sz="72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：如果自由只能停留在个人，那么它终将被私有化吞没；因此许可证必须以法律方式</a:t>
            </a:r>
            <a:pPr algn="l" indent="0" marL="0">
              <a:lnSpc>
                <a:spcPct val="170000"/>
              </a:lnSpc>
              <a:buNone/>
            </a:pPr>
            <a:r>
              <a:rPr lang="en-US" sz="72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"复制自由"</a:t>
            </a:r>
            <a:pPr algn="l" indent="0" marL="0">
              <a:lnSpc>
                <a:spcPct val="170000"/>
              </a:lnSpc>
              <a:buNone/>
            </a:pPr>
            <a:r>
              <a:rPr lang="en-US" sz="72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，让每一次再分发都不失其自由。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91490" y="1398925"/>
            <a:ext cx="363815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40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MILESTONES / 1983 → 1985</a:t>
            </a:r>
            <a:endParaRPr lang="en-US" sz="585" dirty="0"/>
          </a:p>
        </p:txBody>
      </p:sp>
      <p:sp>
        <p:nvSpPr>
          <p:cNvPr id="20" name="Shape 18"/>
          <p:cNvSpPr/>
          <p:nvPr/>
        </p:nvSpPr>
        <p:spPr>
          <a:xfrm>
            <a:off x="531495" y="1638955"/>
            <a:ext cx="11430" cy="2066327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1" name="Shape 19"/>
          <p:cNvSpPr/>
          <p:nvPr/>
        </p:nvSpPr>
        <p:spPr>
          <a:xfrm>
            <a:off x="491490" y="1638955"/>
            <a:ext cx="91440" cy="91440"/>
          </a:xfrm>
          <a:prstGeom prst="ellipse">
            <a:avLst/>
          </a:prstGeom>
          <a:solidFill>
            <a:srgbClr val="002FA7"/>
          </a:solidFill>
          <a:ln w="17145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50800" dir="16200000">
              <a:srgbClr val="002FA7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1510" y="1593235"/>
            <a:ext cx="3458932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spc="-31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1983</a:t>
            </a:r>
            <a:endParaRPr lang="en-US" sz="1530" dirty="0"/>
          </a:p>
        </p:txBody>
      </p:sp>
      <p:sp>
        <p:nvSpPr>
          <p:cNvPr id="23" name="Text 21"/>
          <p:cNvSpPr/>
          <p:nvPr/>
        </p:nvSpPr>
        <p:spPr>
          <a:xfrm>
            <a:off x="651510" y="1810405"/>
            <a:ext cx="72580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GNU 项目启动</a:t>
            </a:r>
            <a:endParaRPr lang="en-US" sz="630" dirty="0"/>
          </a:p>
        </p:txBody>
      </p:sp>
      <p:sp>
        <p:nvSpPr>
          <p:cNvPr id="24" name="Shape 22"/>
          <p:cNvSpPr/>
          <p:nvPr/>
        </p:nvSpPr>
        <p:spPr>
          <a:xfrm>
            <a:off x="651510" y="1810405"/>
            <a:ext cx="80010" cy="571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25" name="Text 23"/>
          <p:cNvSpPr/>
          <p:nvPr/>
        </p:nvSpPr>
        <p:spPr>
          <a:xfrm>
            <a:off x="651510" y="1936135"/>
            <a:ext cx="345893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7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Richard Stallman 宣布</a:t>
            </a:r>
            <a:endParaRPr lang="en-US" sz="540" dirty="0"/>
          </a:p>
        </p:txBody>
      </p:sp>
      <p:sp>
        <p:nvSpPr>
          <p:cNvPr id="26" name="Text 24"/>
          <p:cNvSpPr/>
          <p:nvPr/>
        </p:nvSpPr>
        <p:spPr>
          <a:xfrm>
            <a:off x="651510" y="2067580"/>
            <a:ext cx="3458932" cy="2302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Richard Stallman 发起 GNU 项目，目标是一套完全自由的操作系统，让计算不再是受控的私有工具。</a:t>
            </a:r>
            <a:endParaRPr lang="en-US" sz="585" dirty="0"/>
          </a:p>
        </p:txBody>
      </p:sp>
      <p:sp>
        <p:nvSpPr>
          <p:cNvPr id="27" name="Shape 25"/>
          <p:cNvSpPr/>
          <p:nvPr/>
        </p:nvSpPr>
        <p:spPr>
          <a:xfrm>
            <a:off x="491490" y="2480667"/>
            <a:ext cx="91440" cy="91440"/>
          </a:xfrm>
          <a:prstGeom prst="ellipse">
            <a:avLst/>
          </a:prstGeom>
          <a:solidFill>
            <a:srgbClr val="002FA7"/>
          </a:solidFill>
          <a:ln w="17145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50800" dir="16200000">
              <a:srgbClr val="002FA7">
                <a:alpha val="10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1510" y="2434947"/>
            <a:ext cx="3458932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spc="-31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1984</a:t>
            </a:r>
            <a:endParaRPr lang="en-US" sz="1530" dirty="0"/>
          </a:p>
        </p:txBody>
      </p:sp>
      <p:sp>
        <p:nvSpPr>
          <p:cNvPr id="29" name="Text 27"/>
          <p:cNvSpPr/>
          <p:nvPr/>
        </p:nvSpPr>
        <p:spPr>
          <a:xfrm>
            <a:off x="651510" y="2652117"/>
            <a:ext cx="71437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 术语</a:t>
            </a:r>
            <a:endParaRPr lang="en-US" sz="630" dirty="0"/>
          </a:p>
        </p:txBody>
      </p:sp>
      <p:sp>
        <p:nvSpPr>
          <p:cNvPr id="30" name="Shape 28"/>
          <p:cNvSpPr/>
          <p:nvPr/>
        </p:nvSpPr>
        <p:spPr>
          <a:xfrm>
            <a:off x="651510" y="2652117"/>
            <a:ext cx="80010" cy="571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31" name="Text 29"/>
          <p:cNvSpPr/>
          <p:nvPr/>
        </p:nvSpPr>
        <p:spPr>
          <a:xfrm>
            <a:off x="651510" y="2777847"/>
            <a:ext cx="345893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7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 首次提出</a:t>
            </a:r>
            <a:endParaRPr lang="en-US" sz="540" dirty="0"/>
          </a:p>
        </p:txBody>
      </p:sp>
      <p:sp>
        <p:nvSpPr>
          <p:cNvPr id="32" name="Text 30"/>
          <p:cNvSpPr/>
          <p:nvPr/>
        </p:nvSpPr>
        <p:spPr>
          <a:xfrm>
            <a:off x="651510" y="2909292"/>
            <a:ext cx="3458932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 反讽式借用 Copyright，将"复制须保留自由"写入许可证——让自由随代码一同流转。</a:t>
            </a:r>
            <a:endParaRPr lang="en-US" sz="585" dirty="0"/>
          </a:p>
        </p:txBody>
      </p:sp>
      <p:sp>
        <p:nvSpPr>
          <p:cNvPr id="33" name="Shape 31"/>
          <p:cNvSpPr/>
          <p:nvPr/>
        </p:nvSpPr>
        <p:spPr>
          <a:xfrm>
            <a:off x="491490" y="3207276"/>
            <a:ext cx="91440" cy="91440"/>
          </a:xfrm>
          <a:prstGeom prst="ellipse">
            <a:avLst/>
          </a:prstGeom>
          <a:solidFill>
            <a:srgbClr val="002FA7"/>
          </a:solidFill>
          <a:ln w="17145">
            <a:solidFill>
              <a:srgbClr val="F5F5F5"/>
            </a:solidFill>
            <a:prstDash val="solid"/>
          </a:ln>
          <a:effectLst>
            <a:outerShdw sx="100000" sy="100000" kx="0" ky="0" algn="bl" rotWithShape="0" blurRad="101600" dist="50800" dir="16200000">
              <a:srgbClr val="002FA7">
                <a:alpha val="10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1510" y="3161556"/>
            <a:ext cx="3458932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30" b="1" spc="-31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1985</a:t>
            </a:r>
            <a:endParaRPr lang="en-US" sz="1530" dirty="0"/>
          </a:p>
        </p:txBody>
      </p:sp>
      <p:sp>
        <p:nvSpPr>
          <p:cNvPr id="35" name="Text 33"/>
          <p:cNvSpPr/>
          <p:nvPr/>
        </p:nvSpPr>
        <p:spPr>
          <a:xfrm>
            <a:off x="651510" y="3378726"/>
            <a:ext cx="52578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FSF 成立</a:t>
            </a:r>
            <a:endParaRPr lang="en-US" sz="630" dirty="0"/>
          </a:p>
        </p:txBody>
      </p:sp>
      <p:sp>
        <p:nvSpPr>
          <p:cNvPr id="36" name="Shape 34"/>
          <p:cNvSpPr/>
          <p:nvPr/>
        </p:nvSpPr>
        <p:spPr>
          <a:xfrm>
            <a:off x="651510" y="3378726"/>
            <a:ext cx="80010" cy="571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37" name="Text 35"/>
          <p:cNvSpPr/>
          <p:nvPr/>
        </p:nvSpPr>
        <p:spPr>
          <a:xfrm>
            <a:off x="651510" y="3504456"/>
            <a:ext cx="345893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7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推动自由软件运动</a:t>
            </a:r>
            <a:endParaRPr lang="en-US" sz="540" dirty="0"/>
          </a:p>
        </p:txBody>
      </p:sp>
      <p:sp>
        <p:nvSpPr>
          <p:cNvPr id="38" name="Text 36"/>
          <p:cNvSpPr/>
          <p:nvPr/>
        </p:nvSpPr>
        <p:spPr>
          <a:xfrm>
            <a:off x="651510" y="3635901"/>
            <a:ext cx="3458932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自由软件基金会将 Copyleft 视为唯一能抵御私有化的开源护城河，从此制度化落地。</a:t>
            </a:r>
            <a:endParaRPr lang="en-US" sz="585" dirty="0"/>
          </a:p>
        </p:txBody>
      </p:sp>
      <p:sp>
        <p:nvSpPr>
          <p:cNvPr id="39" name="Shape 37"/>
          <p:cNvSpPr/>
          <p:nvPr/>
        </p:nvSpPr>
        <p:spPr>
          <a:xfrm>
            <a:off x="4155877" y="1398925"/>
            <a:ext cx="4576554" cy="1200150"/>
          </a:xfrm>
          <a:prstGeom prst="rect">
            <a:avLst/>
          </a:prstGeom>
          <a:solidFill>
            <a:srgbClr val="FFFFFF"/>
          </a:solidFill>
          <a:ln w="5715">
            <a:solidFill>
              <a:srgbClr val="E3E3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75892" y="1404640"/>
            <a:ext cx="1165860" cy="6858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02FA7">
                    <a:alpha val="1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400" dirty="0"/>
          </a:p>
        </p:txBody>
      </p:sp>
      <p:sp>
        <p:nvSpPr>
          <p:cNvPr id="41" name="Text 39"/>
          <p:cNvSpPr/>
          <p:nvPr/>
        </p:nvSpPr>
        <p:spPr>
          <a:xfrm>
            <a:off x="4595932" y="1530370"/>
            <a:ext cx="4447256" cy="318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10" spc="-4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版权</a:t>
            </a:r>
            <a:pPr algn="l" indent="0" marL="0">
              <a:lnSpc>
                <a:spcPct val="155000"/>
              </a:lnSpc>
              <a:buNone/>
            </a:pPr>
            <a:r>
              <a:rPr lang="en-US" sz="810" b="1" spc="-4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(Copyright)</a:t>
            </a:r>
            <a:pPr algn="l" indent="0" marL="0">
              <a:lnSpc>
                <a:spcPct val="155000"/>
              </a:lnSpc>
              <a:buNone/>
            </a:pPr>
            <a:r>
              <a:rPr lang="en-US" sz="810" spc="-4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让公共领域不断萎缩，因为每个作者都想私有化自己的作品。</a:t>
            </a:r>
            <a:pPr algn="l" indent="0" marL="0">
              <a:lnSpc>
                <a:spcPct val="155000"/>
              </a:lnSpc>
              <a:buNone/>
            </a:pPr>
            <a:endParaRPr lang="en-US" sz="81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10" spc="-4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我则希望公共领域</a:t>
            </a:r>
            <a:pPr algn="l" indent="0" marL="0">
              <a:lnSpc>
                <a:spcPct val="155000"/>
              </a:lnSpc>
              <a:buNone/>
            </a:pPr>
            <a:r>
              <a:rPr lang="en-US" sz="810" b="1" spc="-4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扩张</a:t>
            </a:r>
            <a:pPr algn="l" indent="0" marL="0">
              <a:lnSpc>
                <a:spcPct val="155000"/>
              </a:lnSpc>
              <a:buNone/>
            </a:pPr>
            <a:r>
              <a:rPr lang="en-US" sz="810" spc="-4" kern="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，成为一片无人能拥有的广阔海洋。</a:t>
            </a:r>
            <a:endParaRPr lang="en-US" sz="810" dirty="0"/>
          </a:p>
        </p:txBody>
      </p:sp>
      <p:sp>
        <p:nvSpPr>
          <p:cNvPr id="42" name="Text 40"/>
          <p:cNvSpPr/>
          <p:nvPr/>
        </p:nvSpPr>
        <p:spPr>
          <a:xfrm>
            <a:off x="4595932" y="1946315"/>
            <a:ext cx="183703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585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Richard M. Stallman</a:t>
            </a:r>
            <a:pPr algn="l" indent="0" marL="0">
              <a:buNone/>
            </a:pPr>
            <a:r>
              <a:rPr lang="en-US" sz="58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GNU Manifesto, 1985</a:t>
            </a:r>
            <a:endParaRPr lang="en-US" sz="585" dirty="0"/>
          </a:p>
        </p:txBody>
      </p:sp>
      <p:sp>
        <p:nvSpPr>
          <p:cNvPr id="43" name="Shape 41"/>
          <p:cNvSpPr/>
          <p:nvPr/>
        </p:nvSpPr>
        <p:spPr>
          <a:xfrm>
            <a:off x="8064847" y="1929170"/>
            <a:ext cx="501848" cy="125730"/>
          </a:xfrm>
          <a:prstGeom prst="rect">
            <a:avLst/>
          </a:prstGeom>
          <a:noFill/>
          <a:ln w="5715">
            <a:solidFill>
              <a:srgbClr val="FF704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64847" y="1929170"/>
            <a:ext cx="562070" cy="12573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50" b="1" spc="108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FREEDOM</a:t>
            </a:r>
            <a:endParaRPr lang="en-US" sz="450" dirty="0"/>
          </a:p>
        </p:txBody>
      </p:sp>
      <p:sp>
        <p:nvSpPr>
          <p:cNvPr id="45" name="Shape 43"/>
          <p:cNvSpPr/>
          <p:nvPr/>
        </p:nvSpPr>
        <p:spPr>
          <a:xfrm>
            <a:off x="4155877" y="2690515"/>
            <a:ext cx="1479739" cy="1680210"/>
          </a:xfrm>
          <a:prstGeom prst="rect">
            <a:avLst/>
          </a:prstGeom>
          <a:solidFill>
            <a:srgbClr val="FFFFFF"/>
          </a:solidFill>
          <a:ln w="5715">
            <a:solidFill>
              <a:srgbClr val="E3E3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61592" y="2696230"/>
            <a:ext cx="1468309" cy="18288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47" name="Text 45"/>
          <p:cNvSpPr/>
          <p:nvPr/>
        </p:nvSpPr>
        <p:spPr>
          <a:xfrm>
            <a:off x="4161592" y="2696230"/>
            <a:ext cx="1644506" cy="182880"/>
          </a:xfrm>
          <a:prstGeom prst="rect">
            <a:avLst/>
          </a:prstGeom>
          <a:noFill/>
          <a:ln/>
        </p:spPr>
        <p:txBody>
          <a:bodyPr wrap="none" lIns="45720" tIns="68580" rIns="68580" bIns="45720" rtlCol="0" anchor="ctr"/>
          <a:lstStyle/>
          <a:p>
            <a:pPr algn="l" indent="0" marL="0">
              <a:buNone/>
            </a:pPr>
            <a:r>
              <a:rPr lang="en-US" sz="495" b="1" spc="9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哲学内核</a:t>
            </a:r>
            <a:endParaRPr lang="en-US" sz="495" dirty="0"/>
          </a:p>
        </p:txBody>
      </p:sp>
      <p:sp>
        <p:nvSpPr>
          <p:cNvPr id="48" name="Text 46"/>
          <p:cNvSpPr/>
          <p:nvPr/>
        </p:nvSpPr>
        <p:spPr>
          <a:xfrm>
            <a:off x="4241602" y="2959120"/>
            <a:ext cx="146528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74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CORE</a:t>
            </a:r>
            <a:endParaRPr lang="en-US" sz="495" dirty="0"/>
          </a:p>
        </p:txBody>
      </p:sp>
      <p:sp>
        <p:nvSpPr>
          <p:cNvPr id="49" name="Text 47"/>
          <p:cNvSpPr/>
          <p:nvPr/>
        </p:nvSpPr>
        <p:spPr>
          <a:xfrm>
            <a:off x="4241602" y="3084850"/>
            <a:ext cx="1465283" cy="1079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63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四自由，而非零成本</a:t>
            </a:r>
            <a:endParaRPr lang="en-US" sz="630" dirty="0"/>
          </a:p>
        </p:txBody>
      </p:sp>
      <p:sp>
        <p:nvSpPr>
          <p:cNvPr id="50" name="Text 48"/>
          <p:cNvSpPr/>
          <p:nvPr/>
        </p:nvSpPr>
        <p:spPr>
          <a:xfrm>
            <a:off x="4241602" y="3238530"/>
            <a:ext cx="1465283" cy="212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自由软件 = 用户修改与再分发的四自由，绝非"零成本"软件。</a:t>
            </a:r>
            <a:endParaRPr lang="en-US" sz="540" dirty="0"/>
          </a:p>
        </p:txBody>
      </p:sp>
      <p:sp>
        <p:nvSpPr>
          <p:cNvPr id="51" name="Shape 49"/>
          <p:cNvSpPr/>
          <p:nvPr/>
        </p:nvSpPr>
        <p:spPr>
          <a:xfrm>
            <a:off x="5704195" y="2690515"/>
            <a:ext cx="1479828" cy="1680210"/>
          </a:xfrm>
          <a:prstGeom prst="rect">
            <a:avLst/>
          </a:prstGeom>
          <a:solidFill>
            <a:srgbClr val="FFFFFF"/>
          </a:solidFill>
          <a:ln w="5715">
            <a:solidFill>
              <a:srgbClr val="E3E3E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09910" y="2696230"/>
            <a:ext cx="1468398" cy="18288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53" name="Text 51"/>
          <p:cNvSpPr/>
          <p:nvPr/>
        </p:nvSpPr>
        <p:spPr>
          <a:xfrm>
            <a:off x="5709910" y="2696230"/>
            <a:ext cx="1644606" cy="182880"/>
          </a:xfrm>
          <a:prstGeom prst="rect">
            <a:avLst/>
          </a:prstGeom>
          <a:noFill/>
          <a:ln/>
        </p:spPr>
        <p:txBody>
          <a:bodyPr wrap="none" lIns="45720" tIns="68580" rIns="68580" bIns="45720" rtlCol="0" anchor="ctr"/>
          <a:lstStyle/>
          <a:p>
            <a:pPr algn="l" indent="0" marL="0">
              <a:buNone/>
            </a:pPr>
            <a:r>
              <a:rPr lang="en-US" sz="495" b="1" spc="9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社会承诺</a:t>
            </a:r>
            <a:endParaRPr lang="en-US" sz="495" dirty="0"/>
          </a:p>
        </p:txBody>
      </p:sp>
      <p:sp>
        <p:nvSpPr>
          <p:cNvPr id="54" name="Text 52"/>
          <p:cNvSpPr/>
          <p:nvPr/>
        </p:nvSpPr>
        <p:spPr>
          <a:xfrm>
            <a:off x="5789920" y="2959120"/>
            <a:ext cx="146538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74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PACT</a:t>
            </a:r>
            <a:endParaRPr lang="en-US" sz="495" dirty="0"/>
          </a:p>
        </p:txBody>
      </p:sp>
      <p:sp>
        <p:nvSpPr>
          <p:cNvPr id="55" name="Text 53"/>
          <p:cNvSpPr/>
          <p:nvPr/>
        </p:nvSpPr>
        <p:spPr>
          <a:xfrm>
            <a:off x="5789920" y="3084850"/>
            <a:ext cx="1465383" cy="1079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63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从个体到社区的契约</a:t>
            </a:r>
            <a:endParaRPr lang="en-US" sz="630" dirty="0"/>
          </a:p>
        </p:txBody>
      </p:sp>
      <p:sp>
        <p:nvSpPr>
          <p:cNvPr id="56" name="Text 54"/>
          <p:cNvSpPr/>
          <p:nvPr/>
        </p:nvSpPr>
        <p:spPr>
          <a:xfrm>
            <a:off x="5789920" y="3238530"/>
            <a:ext cx="1465383" cy="212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许可证不是商业条款，而是把自由从个体扩展到整个社区的道德契约。</a:t>
            </a:r>
            <a:endParaRPr lang="en-US" sz="540" dirty="0"/>
          </a:p>
        </p:txBody>
      </p:sp>
      <p:sp>
        <p:nvSpPr>
          <p:cNvPr id="57" name="Shape 55"/>
          <p:cNvSpPr/>
          <p:nvPr/>
        </p:nvSpPr>
        <p:spPr>
          <a:xfrm>
            <a:off x="7252603" y="2690515"/>
            <a:ext cx="1479739" cy="1680210"/>
          </a:xfrm>
          <a:prstGeom prst="rect">
            <a:avLst/>
          </a:prstGeom>
          <a:solidFill>
            <a:srgbClr val="FFFFFF"/>
          </a:solidFill>
          <a:ln w="5715">
            <a:solidFill>
              <a:srgbClr val="E3E3E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58318" y="2696230"/>
            <a:ext cx="1468309" cy="18288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59" name="Text 57"/>
          <p:cNvSpPr/>
          <p:nvPr/>
        </p:nvSpPr>
        <p:spPr>
          <a:xfrm>
            <a:off x="7258318" y="2696230"/>
            <a:ext cx="1644506" cy="182880"/>
          </a:xfrm>
          <a:prstGeom prst="rect">
            <a:avLst/>
          </a:prstGeom>
          <a:noFill/>
          <a:ln/>
        </p:spPr>
        <p:txBody>
          <a:bodyPr wrap="square" lIns="45720" tIns="68580" rIns="68580" bIns="45720" rtlCol="0" anchor="ctr"/>
          <a:lstStyle/>
          <a:p>
            <a:pPr algn="l" indent="0" marL="0">
              <a:buNone/>
            </a:pPr>
            <a:r>
              <a:rPr lang="en-US" sz="495" b="1" spc="9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FSF 的立场</a:t>
            </a:r>
            <a:endParaRPr lang="en-US" sz="495" dirty="0"/>
          </a:p>
        </p:txBody>
      </p:sp>
      <p:sp>
        <p:nvSpPr>
          <p:cNvPr id="60" name="Text 58"/>
          <p:cNvSpPr/>
          <p:nvPr/>
        </p:nvSpPr>
        <p:spPr>
          <a:xfrm>
            <a:off x="7338328" y="2959120"/>
            <a:ext cx="146528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74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MOAT</a:t>
            </a:r>
            <a:endParaRPr lang="en-US" sz="495" dirty="0"/>
          </a:p>
        </p:txBody>
      </p:sp>
      <p:sp>
        <p:nvSpPr>
          <p:cNvPr id="61" name="Text 59"/>
          <p:cNvSpPr/>
          <p:nvPr/>
        </p:nvSpPr>
        <p:spPr>
          <a:xfrm>
            <a:off x="7338328" y="3084850"/>
            <a:ext cx="1465283" cy="1079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63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抵御私有化的护城河</a:t>
            </a:r>
            <a:endParaRPr lang="en-US" sz="630" dirty="0"/>
          </a:p>
        </p:txBody>
      </p:sp>
      <p:sp>
        <p:nvSpPr>
          <p:cNvPr id="62" name="Text 60"/>
          <p:cNvSpPr/>
          <p:nvPr/>
        </p:nvSpPr>
        <p:spPr>
          <a:xfrm>
            <a:off x="7338328" y="3238530"/>
            <a:ext cx="1465283" cy="212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FSF 将 Copyleft 视为唯一能抵御私有化的开源护城河。</a:t>
            </a:r>
            <a:endParaRPr lang="en-US" sz="540" dirty="0"/>
          </a:p>
        </p:txBody>
      </p:sp>
      <p:sp>
        <p:nvSpPr>
          <p:cNvPr id="63" name="Shape 61"/>
          <p:cNvSpPr/>
          <p:nvPr/>
        </p:nvSpPr>
        <p:spPr>
          <a:xfrm>
            <a:off x="411480" y="4846320"/>
            <a:ext cx="8321040" cy="171450"/>
          </a:xfrm>
          <a:prstGeom prst="rect">
            <a:avLst/>
          </a:prstGeom>
          <a:noFill/>
          <a:ln/>
        </p:spPr>
      </p:sp>
      <p:sp>
        <p:nvSpPr>
          <p:cNvPr id="64" name="Shape 62"/>
          <p:cNvSpPr/>
          <p:nvPr/>
        </p:nvSpPr>
        <p:spPr>
          <a:xfrm>
            <a:off x="411480" y="4846320"/>
            <a:ext cx="8321040" cy="0"/>
          </a:xfrm>
          <a:prstGeom prst="line">
            <a:avLst/>
          </a:prstGeom>
          <a:noFill/>
          <a:ln w="5715">
            <a:solidFill>
              <a:srgbClr val="E3E3E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4920615"/>
            <a:ext cx="2769146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11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 不是一种开源许可的命名，而是一场把</a:t>
            </a:r>
            <a:pPr algn="l" indent="0" marL="0">
              <a:buNone/>
            </a:pPr>
            <a:r>
              <a:rPr lang="en-US" sz="540" b="1" spc="11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自由写进法律副本</a:t>
            </a:r>
            <a:pPr algn="l" indent="0" marL="0">
              <a:buNone/>
            </a:pPr>
            <a:r>
              <a:rPr lang="en-US" sz="540" spc="11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的哲学实践。</a:t>
            </a:r>
            <a:endParaRPr lang="en-US" sz="540" dirty="0"/>
          </a:p>
        </p:txBody>
      </p:sp>
      <p:sp>
        <p:nvSpPr>
          <p:cNvPr id="66" name="Text 64"/>
          <p:cNvSpPr/>
          <p:nvPr/>
        </p:nvSpPr>
        <p:spPr>
          <a:xfrm>
            <a:off x="7273766" y="4929188"/>
            <a:ext cx="163380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SENSE NOVA · 01 / PHILOSOPHY</a:t>
            </a:r>
            <a:endParaRPr lang="en-US" sz="49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AFBFD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342900" y="274320"/>
            <a:ext cx="8458200" cy="572572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42900" y="846892"/>
            <a:ext cx="8458200" cy="0"/>
          </a:xfrm>
          <a:prstGeom prst="line">
            <a:avLst/>
          </a:prstGeom>
          <a:noFill/>
          <a:ln w="5715">
            <a:solidFill>
              <a:srgbClr val="D9DD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2900" y="274320"/>
            <a:ext cx="2611526" cy="263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80" b="1" spc="-22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</a:t>
            </a:r>
            <a:pPr algn="l" indent="0" marL="0">
              <a:lnSpc>
                <a:spcPct val="105000"/>
              </a:lnSpc>
              <a:buNone/>
            </a:pPr>
            <a:r>
              <a:rPr lang="en-US" sz="1980" b="1" spc="-22" kern="0" dirty="0">
                <a:solidFill>
                  <a:srgbClr val="14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许可证家族</a:t>
            </a:r>
            <a:endParaRPr lang="en-US" sz="1980" dirty="0"/>
          </a:p>
        </p:txBody>
      </p:sp>
      <p:sp>
        <p:nvSpPr>
          <p:cNvPr id="6" name="Text 4"/>
          <p:cNvSpPr/>
          <p:nvPr/>
        </p:nvSpPr>
        <p:spPr>
          <a:xfrm>
            <a:off x="342900" y="595432"/>
            <a:ext cx="2611526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75" spc="9" kern="0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从强传染到弱传染</a:t>
            </a:r>
            <a:pPr algn="l" indent="0" marL="0">
              <a:buNone/>
            </a:pPr>
            <a:r>
              <a:rPr lang="en-US" sz="675" spc="9" kern="0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一族以传染性为刻度的开源许可</a:t>
            </a:r>
            <a:endParaRPr lang="en-US" sz="675" dirty="0"/>
          </a:p>
        </p:txBody>
      </p:sp>
      <p:sp>
        <p:nvSpPr>
          <p:cNvPr id="7" name="Shape 5"/>
          <p:cNvSpPr/>
          <p:nvPr/>
        </p:nvSpPr>
        <p:spPr>
          <a:xfrm>
            <a:off x="1095048" y="646331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8" name="Text 6"/>
          <p:cNvSpPr/>
          <p:nvPr/>
        </p:nvSpPr>
        <p:spPr>
          <a:xfrm>
            <a:off x="7395210" y="515422"/>
            <a:ext cx="157459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54" kern="0" dirty="0">
                <a:solidFill>
                  <a:srgbClr val="8A92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SOURCE · LICENSING FAMILY</a:t>
            </a:r>
            <a:endParaRPr lang="en-US" sz="495" dirty="0"/>
          </a:p>
        </p:txBody>
      </p:sp>
      <p:sp>
        <p:nvSpPr>
          <p:cNvPr id="9" name="Text 7"/>
          <p:cNvSpPr/>
          <p:nvPr/>
        </p:nvSpPr>
        <p:spPr>
          <a:xfrm>
            <a:off x="7732395" y="618292"/>
            <a:ext cx="119695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LEGAL INSTRUMENTS</a:t>
            </a:r>
            <a:endParaRPr lang="en-US" sz="585" dirty="0"/>
          </a:p>
        </p:txBody>
      </p:sp>
      <p:sp>
        <p:nvSpPr>
          <p:cNvPr id="10" name="Shape 8"/>
          <p:cNvSpPr/>
          <p:nvPr/>
        </p:nvSpPr>
        <p:spPr>
          <a:xfrm>
            <a:off x="342900" y="1018342"/>
            <a:ext cx="4652010" cy="3171825"/>
          </a:xfrm>
          <a:prstGeom prst="roundRect">
            <a:avLst>
              <a:gd name="adj" fmla="val 721"/>
            </a:avLst>
          </a:prstGeom>
          <a:solidFill>
            <a:srgbClr val="FFFFFF"/>
          </a:solidFill>
          <a:ln w="5715">
            <a:solidFill>
              <a:srgbClr val="E8EA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205" y="1149787"/>
            <a:ext cx="48006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54" kern="0" dirty="0">
                <a:solidFill>
                  <a:srgbClr val="14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许可谱系图</a:t>
            </a:r>
            <a:endParaRPr lang="en-US" sz="585" dirty="0"/>
          </a:p>
        </p:txBody>
      </p:sp>
      <p:sp>
        <p:nvSpPr>
          <p:cNvPr id="12" name="Text 10"/>
          <p:cNvSpPr/>
          <p:nvPr/>
        </p:nvSpPr>
        <p:spPr>
          <a:xfrm>
            <a:off x="3962727" y="1164074"/>
            <a:ext cx="98322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18" kern="0" dirty="0">
                <a:solidFill>
                  <a:srgbClr val="8A92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FAMILY TREE · 3 BRANCHES</a:t>
            </a:r>
            <a:endParaRPr lang="en-US" sz="473" dirty="0"/>
          </a:p>
        </p:txBody>
      </p:sp>
      <p:sp>
        <p:nvSpPr>
          <p:cNvPr id="13" name="Shape 11"/>
          <p:cNvSpPr/>
          <p:nvPr/>
        </p:nvSpPr>
        <p:spPr>
          <a:xfrm>
            <a:off x="2606040" y="1315522"/>
            <a:ext cx="125730" cy="125730"/>
          </a:xfrm>
          <a:prstGeom prst="ellipse">
            <a:avLst/>
          </a:prstGeom>
          <a:solidFill>
            <a:srgbClr val="002FA7"/>
          </a:solidFill>
          <a:ln/>
          <a:effectLst>
            <a:outerShdw sx="100000" sy="100000" kx="0" ky="0" algn="bl" rotWithShape="0" blurRad="101600" dist="50800" dir="16200000">
              <a:srgbClr val="002FA7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30572" y="1464112"/>
            <a:ext cx="590967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-9" kern="0" dirty="0">
                <a:solidFill>
                  <a:srgbClr val="14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35662" y="1624132"/>
            <a:ext cx="5264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18" kern="0" dirty="0">
                <a:solidFill>
                  <a:srgbClr val="8A92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共享 · 衍生同权</a:t>
            </a:r>
            <a:endParaRPr lang="en-US" sz="473" dirty="0"/>
          </a:p>
        </p:txBody>
      </p:sp>
      <p:sp>
        <p:nvSpPr>
          <p:cNvPr id="16" name="Shape 14"/>
          <p:cNvSpPr/>
          <p:nvPr/>
        </p:nvSpPr>
        <p:spPr>
          <a:xfrm>
            <a:off x="2666048" y="1721287"/>
            <a:ext cx="5715" cy="1143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7" name="Shape 15"/>
          <p:cNvSpPr/>
          <p:nvPr/>
        </p:nvSpPr>
        <p:spPr>
          <a:xfrm>
            <a:off x="1278999" y="1835587"/>
            <a:ext cx="2779812" cy="5715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8" name="Shape 16"/>
          <p:cNvSpPr/>
          <p:nvPr/>
        </p:nvSpPr>
        <p:spPr>
          <a:xfrm>
            <a:off x="1278999" y="1835587"/>
            <a:ext cx="5715" cy="14859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9" name="Shape 17"/>
          <p:cNvSpPr/>
          <p:nvPr/>
        </p:nvSpPr>
        <p:spPr>
          <a:xfrm>
            <a:off x="2668905" y="1835587"/>
            <a:ext cx="5715" cy="14859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20" name="Shape 18"/>
          <p:cNvSpPr/>
          <p:nvPr/>
        </p:nvSpPr>
        <p:spPr>
          <a:xfrm>
            <a:off x="4053096" y="1835587"/>
            <a:ext cx="5715" cy="14859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21" name="Shape 19"/>
          <p:cNvSpPr/>
          <p:nvPr/>
        </p:nvSpPr>
        <p:spPr>
          <a:xfrm>
            <a:off x="497205" y="2007037"/>
            <a:ext cx="1402050" cy="1262301"/>
          </a:xfrm>
          <a:prstGeom prst="roundRect">
            <a:avLst>
              <a:gd name="adj" fmla="val 1358"/>
            </a:avLst>
          </a:prstGeom>
          <a:solidFill>
            <a:srgbClr val="FAFBFD"/>
          </a:solidFill>
          <a:ln w="5715">
            <a:solidFill>
              <a:srgbClr val="E8EA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92469" y="1972747"/>
            <a:ext cx="68580" cy="68580"/>
          </a:xfrm>
          <a:prstGeom prst="ellipse">
            <a:avLst/>
          </a:prstGeom>
          <a:solidFill>
            <a:srgbClr val="002FA7"/>
          </a:solidFill>
          <a:ln/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2930" y="2104192"/>
            <a:ext cx="137827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spc="18" kern="0" dirty="0">
                <a:solidFill>
                  <a:srgbClr val="8A92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v2 · 1991  |  v3 · 2007</a:t>
            </a:r>
            <a:endParaRPr lang="en-US" sz="495" dirty="0"/>
          </a:p>
        </p:txBody>
      </p:sp>
      <p:sp>
        <p:nvSpPr>
          <p:cNvPr id="24" name="Text 22"/>
          <p:cNvSpPr/>
          <p:nvPr/>
        </p:nvSpPr>
        <p:spPr>
          <a:xfrm>
            <a:off x="582930" y="2207062"/>
            <a:ext cx="1378272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90" b="1" spc="-13" kern="0" dirty="0">
                <a:solidFill>
                  <a:srgbClr val="14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</a:t>
            </a:r>
            <a:endParaRPr lang="en-US" sz="990" dirty="0"/>
          </a:p>
        </p:txBody>
      </p:sp>
      <p:sp>
        <p:nvSpPr>
          <p:cNvPr id="25" name="Shape 23"/>
          <p:cNvSpPr/>
          <p:nvPr/>
        </p:nvSpPr>
        <p:spPr>
          <a:xfrm>
            <a:off x="885021" y="2395657"/>
            <a:ext cx="626418" cy="120015"/>
          </a:xfrm>
          <a:prstGeom prst="roundRect">
            <a:avLst>
              <a:gd name="adj" fmla="val 9524"/>
            </a:avLst>
          </a:prstGeom>
          <a:solidFill>
            <a:srgbClr val="002FA7"/>
          </a:solidFill>
          <a:ln/>
        </p:spPr>
      </p:sp>
      <p:sp>
        <p:nvSpPr>
          <p:cNvPr id="26" name="Text 24"/>
          <p:cNvSpPr/>
          <p:nvPr/>
        </p:nvSpPr>
        <p:spPr>
          <a:xfrm>
            <a:off x="885021" y="2395657"/>
            <a:ext cx="701588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ctr" indent="0" marL="0">
              <a:buNone/>
            </a:pPr>
            <a:r>
              <a:rPr lang="en-US" sz="473" spc="3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强传染 · STRONG</a:t>
            </a:r>
            <a:endParaRPr lang="en-US" sz="473" dirty="0"/>
          </a:p>
        </p:txBody>
      </p:sp>
      <p:sp>
        <p:nvSpPr>
          <p:cNvPr id="27" name="Text 25"/>
          <p:cNvSpPr/>
          <p:nvPr/>
        </p:nvSpPr>
        <p:spPr>
          <a:xfrm>
            <a:off x="582930" y="2572822"/>
            <a:ext cx="1378272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修改或链接后，</a:t>
            </a:r>
            <a:pPr algn="ctr" indent="0" marL="0">
              <a:lnSpc>
                <a:spcPct val="150000"/>
              </a:lnSpc>
              <a:buNone/>
            </a:pPr>
            <a:endParaRPr lang="en-US" sz="54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整份衍生品必须以同一</a:t>
            </a:r>
            <a:pPr algn="ctr" indent="0" marL="0">
              <a:lnSpc>
                <a:spcPct val="150000"/>
              </a:lnSpc>
              <a:buNone/>
            </a:pPr>
            <a:endParaRPr lang="en-US" sz="54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许可证继续开源。</a:t>
            </a:r>
            <a:endParaRPr lang="en-US" sz="540" dirty="0"/>
          </a:p>
        </p:txBody>
      </p:sp>
      <p:sp>
        <p:nvSpPr>
          <p:cNvPr id="28" name="Shape 26"/>
          <p:cNvSpPr/>
          <p:nvPr/>
        </p:nvSpPr>
        <p:spPr>
          <a:xfrm>
            <a:off x="582930" y="2938582"/>
            <a:ext cx="1230600" cy="233601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582930" y="2938582"/>
            <a:ext cx="1230600" cy="0"/>
          </a:xfrm>
          <a:prstGeom prst="line">
            <a:avLst/>
          </a:prstGeom>
          <a:noFill/>
          <a:ln w="5715">
            <a:solidFill>
              <a:srgbClr val="D9DDE5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82930" y="2938582"/>
            <a:ext cx="1378272" cy="2336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495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关键字</a:t>
            </a:r>
            <a:pPr algn="ctr" indent="0" marL="0">
              <a:lnSpc>
                <a:spcPct val="145000"/>
              </a:lnSpc>
              <a:buNone/>
            </a:pPr>
            <a:r>
              <a:rPr lang="en-US" sz="495" dirty="0">
                <a:solidFill>
                  <a:srgbClr val="14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：All-or-Nothing · v3 加入反 Tivoization 与专利授权</a:t>
            </a:r>
            <a:endParaRPr lang="en-US" sz="495" dirty="0"/>
          </a:p>
        </p:txBody>
      </p:sp>
      <p:sp>
        <p:nvSpPr>
          <p:cNvPr id="31" name="Shape 29"/>
          <p:cNvSpPr/>
          <p:nvPr/>
        </p:nvSpPr>
        <p:spPr>
          <a:xfrm>
            <a:off x="1967835" y="2007037"/>
            <a:ext cx="1402050" cy="1262301"/>
          </a:xfrm>
          <a:prstGeom prst="roundRect">
            <a:avLst>
              <a:gd name="adj" fmla="val 1358"/>
            </a:avLst>
          </a:prstGeom>
          <a:solidFill>
            <a:srgbClr val="FAFBFD"/>
          </a:solidFill>
          <a:ln w="5715">
            <a:solidFill>
              <a:srgbClr val="E8EA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63099" y="1972747"/>
            <a:ext cx="68580" cy="68580"/>
          </a:xfrm>
          <a:prstGeom prst="ellipse">
            <a:avLst/>
          </a:prstGeom>
          <a:solidFill>
            <a:srgbClr val="FF7043"/>
          </a:solidFill>
          <a:ln/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053560" y="2104192"/>
            <a:ext cx="137827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spc="18" kern="0" dirty="0">
                <a:solidFill>
                  <a:srgbClr val="8A92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v2.1 · 1999  |  v3 · 2007</a:t>
            </a:r>
            <a:endParaRPr lang="en-US" sz="495" dirty="0"/>
          </a:p>
        </p:txBody>
      </p:sp>
      <p:sp>
        <p:nvSpPr>
          <p:cNvPr id="34" name="Text 32"/>
          <p:cNvSpPr/>
          <p:nvPr/>
        </p:nvSpPr>
        <p:spPr>
          <a:xfrm>
            <a:off x="2053560" y="2207062"/>
            <a:ext cx="1378272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90" b="1" spc="-13" kern="0" dirty="0">
                <a:solidFill>
                  <a:srgbClr val="14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LGPL</a:t>
            </a:r>
            <a:endParaRPr lang="en-US" sz="990" dirty="0"/>
          </a:p>
        </p:txBody>
      </p:sp>
      <p:sp>
        <p:nvSpPr>
          <p:cNvPr id="35" name="Shape 33"/>
          <p:cNvSpPr/>
          <p:nvPr/>
        </p:nvSpPr>
        <p:spPr>
          <a:xfrm>
            <a:off x="2366456" y="2395657"/>
            <a:ext cx="604718" cy="120015"/>
          </a:xfrm>
          <a:prstGeom prst="roundRect">
            <a:avLst>
              <a:gd name="adj" fmla="val 9524"/>
            </a:avLst>
          </a:prstGeom>
          <a:solidFill>
            <a:srgbClr val="FF7043"/>
          </a:solidFill>
          <a:ln/>
        </p:spPr>
      </p:sp>
      <p:sp>
        <p:nvSpPr>
          <p:cNvPr id="36" name="Text 34"/>
          <p:cNvSpPr/>
          <p:nvPr/>
        </p:nvSpPr>
        <p:spPr>
          <a:xfrm>
            <a:off x="2366456" y="2395657"/>
            <a:ext cx="677285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ctr" indent="0" marL="0">
              <a:buNone/>
            </a:pPr>
            <a:r>
              <a:rPr lang="en-US" sz="473" spc="3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接口传染 · WEAK</a:t>
            </a:r>
            <a:endParaRPr lang="en-US" sz="473" dirty="0"/>
          </a:p>
        </p:txBody>
      </p:sp>
      <p:sp>
        <p:nvSpPr>
          <p:cNvPr id="37" name="Text 35"/>
          <p:cNvSpPr/>
          <p:nvPr/>
        </p:nvSpPr>
        <p:spPr>
          <a:xfrm>
            <a:off x="2053560" y="2572822"/>
            <a:ext cx="1378272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仅当库被替换或修改时</a:t>
            </a:r>
            <a:pPr algn="ctr" indent="0" marL="0">
              <a:lnSpc>
                <a:spcPct val="150000"/>
              </a:lnSpc>
              <a:buNone/>
            </a:pPr>
            <a:endParaRPr lang="en-US" sz="54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触发传染，允许专有代码</a:t>
            </a:r>
            <a:pPr algn="ctr" indent="0" marL="0">
              <a:lnSpc>
                <a:spcPct val="150000"/>
              </a:lnSpc>
              <a:buNone/>
            </a:pPr>
            <a:endParaRPr lang="en-US" sz="54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通过链接方式复用库。</a:t>
            </a:r>
            <a:endParaRPr lang="en-US" sz="540" dirty="0"/>
          </a:p>
        </p:txBody>
      </p:sp>
      <p:sp>
        <p:nvSpPr>
          <p:cNvPr id="38" name="Shape 36"/>
          <p:cNvSpPr/>
          <p:nvPr/>
        </p:nvSpPr>
        <p:spPr>
          <a:xfrm>
            <a:off x="2053560" y="2938582"/>
            <a:ext cx="1230600" cy="233601"/>
          </a:xfrm>
          <a:prstGeom prst="rect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2053560" y="2938582"/>
            <a:ext cx="1230600" cy="0"/>
          </a:xfrm>
          <a:prstGeom prst="line">
            <a:avLst/>
          </a:prstGeom>
          <a:noFill/>
          <a:ln w="5715">
            <a:solidFill>
              <a:srgbClr val="D9DDE5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2053560" y="2938582"/>
            <a:ext cx="1378272" cy="2336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495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关键字</a:t>
            </a:r>
            <a:pPr algn="ctr" indent="0" marL="0">
              <a:lnSpc>
                <a:spcPct val="145000"/>
              </a:lnSpc>
              <a:buNone/>
            </a:pPr>
            <a:r>
              <a:rPr lang="en-US" sz="495" dirty="0">
                <a:solidFill>
                  <a:srgbClr val="14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：LibLinking · 兼顾库级共享与商业兼容</a:t>
            </a:r>
            <a:endParaRPr lang="en-US" sz="495" dirty="0"/>
          </a:p>
        </p:txBody>
      </p:sp>
      <p:sp>
        <p:nvSpPr>
          <p:cNvPr id="41" name="Shape 39"/>
          <p:cNvSpPr/>
          <p:nvPr/>
        </p:nvSpPr>
        <p:spPr>
          <a:xfrm>
            <a:off x="3438465" y="2007037"/>
            <a:ext cx="1402050" cy="1262301"/>
          </a:xfrm>
          <a:prstGeom prst="roundRect">
            <a:avLst>
              <a:gd name="adj" fmla="val 1358"/>
            </a:avLst>
          </a:prstGeom>
          <a:solidFill>
            <a:srgbClr val="FAFBFD"/>
          </a:solidFill>
          <a:ln w="5715">
            <a:solidFill>
              <a:srgbClr val="E8EA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33730" y="1972747"/>
            <a:ext cx="68580" cy="68580"/>
          </a:xfrm>
          <a:prstGeom prst="ellipse">
            <a:avLst/>
          </a:prstGeom>
          <a:solidFill>
            <a:srgbClr val="002FA7"/>
          </a:solidFill>
          <a:ln/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524190" y="2104192"/>
            <a:ext cx="137827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spc="18" kern="0" dirty="0">
                <a:solidFill>
                  <a:srgbClr val="8A92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v3 · 2007</a:t>
            </a:r>
            <a:endParaRPr lang="en-US" sz="495" dirty="0"/>
          </a:p>
        </p:txBody>
      </p:sp>
      <p:sp>
        <p:nvSpPr>
          <p:cNvPr id="44" name="Text 42"/>
          <p:cNvSpPr/>
          <p:nvPr/>
        </p:nvSpPr>
        <p:spPr>
          <a:xfrm>
            <a:off x="3524190" y="2207062"/>
            <a:ext cx="1378272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90" b="1" spc="-13" kern="0" dirty="0">
                <a:solidFill>
                  <a:srgbClr val="14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AGPL</a:t>
            </a:r>
            <a:endParaRPr lang="en-US" sz="990" dirty="0"/>
          </a:p>
        </p:txBody>
      </p:sp>
      <p:sp>
        <p:nvSpPr>
          <p:cNvPr id="45" name="Shape 43"/>
          <p:cNvSpPr/>
          <p:nvPr/>
        </p:nvSpPr>
        <p:spPr>
          <a:xfrm>
            <a:off x="3842802" y="2395657"/>
            <a:ext cx="593288" cy="120015"/>
          </a:xfrm>
          <a:prstGeom prst="roundRect">
            <a:avLst>
              <a:gd name="adj" fmla="val 9524"/>
            </a:avLst>
          </a:prstGeom>
          <a:solidFill>
            <a:srgbClr val="2952C9"/>
          </a:solidFill>
          <a:ln/>
        </p:spPr>
      </p:sp>
      <p:sp>
        <p:nvSpPr>
          <p:cNvPr id="46" name="Text 44"/>
          <p:cNvSpPr/>
          <p:nvPr/>
        </p:nvSpPr>
        <p:spPr>
          <a:xfrm>
            <a:off x="3842802" y="2395657"/>
            <a:ext cx="664483" cy="12001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ctr" indent="0" marL="0">
              <a:buNone/>
            </a:pPr>
            <a:r>
              <a:rPr lang="en-US" sz="473" spc="3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网络传染 · SAAS</a:t>
            </a:r>
            <a:endParaRPr lang="en-US" sz="473" dirty="0"/>
          </a:p>
        </p:txBody>
      </p:sp>
      <p:sp>
        <p:nvSpPr>
          <p:cNvPr id="47" name="Text 45"/>
          <p:cNvSpPr/>
          <p:nvPr/>
        </p:nvSpPr>
        <p:spPr>
          <a:xfrm>
            <a:off x="3524190" y="2572822"/>
            <a:ext cx="1378272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通过网络提供服务的</a:t>
            </a:r>
            <a:pPr algn="ctr" indent="0" marL="0">
              <a:lnSpc>
                <a:spcPct val="150000"/>
              </a:lnSpc>
              <a:buNone/>
            </a:pPr>
            <a:endParaRPr lang="en-US" sz="54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方式使用修改版本时，</a:t>
            </a:r>
            <a:pPr algn="ctr" indent="0" marL="0">
              <a:lnSpc>
                <a:spcPct val="150000"/>
              </a:lnSpc>
              <a:buNone/>
            </a:pPr>
            <a:endParaRPr lang="en-US" sz="54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同样须开放源码。</a:t>
            </a:r>
            <a:endParaRPr lang="en-US" sz="540" dirty="0"/>
          </a:p>
        </p:txBody>
      </p:sp>
      <p:sp>
        <p:nvSpPr>
          <p:cNvPr id="48" name="Shape 46"/>
          <p:cNvSpPr/>
          <p:nvPr/>
        </p:nvSpPr>
        <p:spPr>
          <a:xfrm>
            <a:off x="3524190" y="2938582"/>
            <a:ext cx="1230600" cy="233601"/>
          </a:xfrm>
          <a:prstGeom prst="rect">
            <a:avLst/>
          </a:prstGeom>
          <a:noFill/>
          <a:ln/>
        </p:spPr>
      </p:sp>
      <p:sp>
        <p:nvSpPr>
          <p:cNvPr id="49" name="Shape 47"/>
          <p:cNvSpPr/>
          <p:nvPr/>
        </p:nvSpPr>
        <p:spPr>
          <a:xfrm>
            <a:off x="3524190" y="2938582"/>
            <a:ext cx="1230600" cy="0"/>
          </a:xfrm>
          <a:prstGeom prst="line">
            <a:avLst/>
          </a:prstGeom>
          <a:noFill/>
          <a:ln w="5715">
            <a:solidFill>
              <a:srgbClr val="D9DDE5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3524190" y="2938582"/>
            <a:ext cx="1378272" cy="2336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495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关键字</a:t>
            </a:r>
            <a:pPr algn="ctr" indent="0" marL="0">
              <a:lnSpc>
                <a:spcPct val="145000"/>
              </a:lnSpc>
              <a:buNone/>
            </a:pPr>
            <a:r>
              <a:rPr lang="en-US" sz="495" dirty="0">
                <a:solidFill>
                  <a:srgbClr val="14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：Network Use · 填补 GPL 的 SaaS 漏洞</a:t>
            </a:r>
            <a:endParaRPr lang="en-US" sz="495" dirty="0"/>
          </a:p>
        </p:txBody>
      </p:sp>
      <p:sp>
        <p:nvSpPr>
          <p:cNvPr id="51" name="Shape 49"/>
          <p:cNvSpPr/>
          <p:nvPr/>
        </p:nvSpPr>
        <p:spPr>
          <a:xfrm>
            <a:off x="497205" y="3950137"/>
            <a:ext cx="4343400" cy="154305"/>
          </a:xfrm>
          <a:prstGeom prst="rect">
            <a:avLst/>
          </a:prstGeom>
          <a:noFill/>
          <a:ln/>
        </p:spPr>
      </p:sp>
      <p:sp>
        <p:nvSpPr>
          <p:cNvPr id="52" name="Shape 50"/>
          <p:cNvSpPr/>
          <p:nvPr/>
        </p:nvSpPr>
        <p:spPr>
          <a:xfrm>
            <a:off x="497205" y="3950137"/>
            <a:ext cx="4343400" cy="0"/>
          </a:xfrm>
          <a:prstGeom prst="line">
            <a:avLst/>
          </a:prstGeom>
          <a:noFill/>
          <a:ln w="5715">
            <a:solidFill>
              <a:srgbClr val="E8EA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7205" y="4013002"/>
            <a:ext cx="121615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8A92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传染性强度 / CONTAGION INTENSITY</a:t>
            </a:r>
            <a:endParaRPr lang="en-US" sz="495" dirty="0"/>
          </a:p>
        </p:txBody>
      </p:sp>
      <p:sp>
        <p:nvSpPr>
          <p:cNvPr id="54" name="Text 52"/>
          <p:cNvSpPr/>
          <p:nvPr/>
        </p:nvSpPr>
        <p:spPr>
          <a:xfrm>
            <a:off x="3891915" y="4018717"/>
            <a:ext cx="22802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8A92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WEAK</a:t>
            </a:r>
            <a:endParaRPr lang="en-US" sz="473" dirty="0"/>
          </a:p>
        </p:txBody>
      </p:sp>
      <p:sp>
        <p:nvSpPr>
          <p:cNvPr id="55" name="Shape 53"/>
          <p:cNvSpPr/>
          <p:nvPr/>
        </p:nvSpPr>
        <p:spPr>
          <a:xfrm>
            <a:off x="4074795" y="4050149"/>
            <a:ext cx="514350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FF7043"/>
              </a:gs>
              <a:gs pos="50000">
                <a:srgbClr val="2952C9"/>
              </a:gs>
              <a:gs pos="100000">
                <a:srgbClr val="002FA7"/>
              </a:gs>
            </a:gsLst>
            <a:lin ang="0" scaled="0"/>
          </a:gradFill>
          <a:ln/>
        </p:spPr>
      </p:sp>
      <p:sp>
        <p:nvSpPr>
          <p:cNvPr id="56" name="Text 54"/>
          <p:cNvSpPr/>
          <p:nvPr/>
        </p:nvSpPr>
        <p:spPr>
          <a:xfrm>
            <a:off x="4634865" y="4018717"/>
            <a:ext cx="26574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8A92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STRONG</a:t>
            </a:r>
            <a:endParaRPr lang="en-US" sz="473" dirty="0"/>
          </a:p>
        </p:txBody>
      </p:sp>
      <p:sp>
        <p:nvSpPr>
          <p:cNvPr id="57" name="Shape 55"/>
          <p:cNvSpPr/>
          <p:nvPr/>
        </p:nvSpPr>
        <p:spPr>
          <a:xfrm>
            <a:off x="5154930" y="1018342"/>
            <a:ext cx="3806190" cy="3171825"/>
          </a:xfrm>
          <a:prstGeom prst="roundRect">
            <a:avLst>
              <a:gd name="adj" fmla="val 721"/>
            </a:avLst>
          </a:prstGeom>
          <a:solidFill>
            <a:srgbClr val="FFFFFF"/>
          </a:solidFill>
          <a:ln w="5715">
            <a:solidFill>
              <a:srgbClr val="E8EA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97805" y="1149787"/>
            <a:ext cx="81420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54" kern="0" dirty="0">
                <a:solidFill>
                  <a:srgbClr val="14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许可对照 · 五种刻度</a:t>
            </a:r>
            <a:endParaRPr lang="en-US" sz="585" dirty="0"/>
          </a:p>
        </p:txBody>
      </p:sp>
      <p:sp>
        <p:nvSpPr>
          <p:cNvPr id="59" name="Text 57"/>
          <p:cNvSpPr/>
          <p:nvPr/>
        </p:nvSpPr>
        <p:spPr>
          <a:xfrm>
            <a:off x="8013502" y="1164074"/>
            <a:ext cx="90131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18" kern="0" dirty="0">
                <a:solidFill>
                  <a:srgbClr val="8A92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COMPARISON · 5 ENTRIES</a:t>
            </a:r>
            <a:endParaRPr lang="en-US" sz="473" dirty="0"/>
          </a:p>
        </p:txBody>
      </p:sp>
      <p:sp>
        <p:nvSpPr>
          <p:cNvPr id="60" name="Shape 58"/>
          <p:cNvSpPr/>
          <p:nvPr/>
        </p:nvSpPr>
        <p:spPr>
          <a:xfrm>
            <a:off x="5297805" y="1326952"/>
            <a:ext cx="3520440" cy="344329"/>
          </a:xfrm>
          <a:prstGeom prst="roundRect">
            <a:avLst>
              <a:gd name="adj" fmla="val 4979"/>
            </a:avLst>
          </a:prstGeom>
          <a:solidFill>
            <a:srgbClr val="FCFCFD"/>
          </a:solidFill>
          <a:ln w="5715">
            <a:solidFill>
              <a:srgbClr val="E8EA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60670" y="1389817"/>
            <a:ext cx="182880" cy="97155"/>
          </a:xfrm>
          <a:prstGeom prst="rect">
            <a:avLst/>
          </a:prstGeom>
          <a:noFill/>
          <a:ln/>
        </p:spPr>
      </p:sp>
      <p:sp>
        <p:nvSpPr>
          <p:cNvPr id="62" name="Shape 60"/>
          <p:cNvSpPr/>
          <p:nvPr/>
        </p:nvSpPr>
        <p:spPr>
          <a:xfrm>
            <a:off x="5543550" y="1389817"/>
            <a:ext cx="0" cy="97155"/>
          </a:xfrm>
          <a:prstGeom prst="line">
            <a:avLst/>
          </a:prstGeom>
          <a:noFill/>
          <a:ln w="5715">
            <a:solidFill>
              <a:srgbClr val="E8EA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60670" y="1389817"/>
            <a:ext cx="245745" cy="97155"/>
          </a:xfrm>
          <a:prstGeom prst="rect">
            <a:avLst/>
          </a:prstGeom>
          <a:noFill/>
          <a:ln/>
        </p:spPr>
        <p:txBody>
          <a:bodyPr wrap="none" lIns="17145" tIns="0" rIns="45720" bIns="0" rtlCol="0" anchor="ctr"/>
          <a:lstStyle/>
          <a:p>
            <a:pPr algn="ctr" indent="0" marL="0">
              <a:buNone/>
            </a:pPr>
            <a:r>
              <a:rPr lang="en-US" sz="495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495" dirty="0"/>
          </a:p>
        </p:txBody>
      </p:sp>
      <p:sp>
        <p:nvSpPr>
          <p:cNvPr id="64" name="Text 62"/>
          <p:cNvSpPr/>
          <p:nvPr/>
        </p:nvSpPr>
        <p:spPr>
          <a:xfrm>
            <a:off x="5600700" y="1389817"/>
            <a:ext cx="3520440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3" b="1" spc="-9" kern="0" dirty="0">
                <a:solidFill>
                  <a:srgbClr val="14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GPLv2 / GPLv3</a:t>
            </a:r>
            <a:pPr algn="l" indent="0" marL="0">
              <a:buNone/>
            </a:pPr>
            <a:r>
              <a:rPr lang="en-US" sz="428" b="1" spc="-9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强 COPYLEFT</a:t>
            </a:r>
            <a:endParaRPr lang="en-US" sz="653" dirty="0"/>
          </a:p>
        </p:txBody>
      </p:sp>
      <p:sp>
        <p:nvSpPr>
          <p:cNvPr id="65" name="Shape 63"/>
          <p:cNvSpPr/>
          <p:nvPr/>
        </p:nvSpPr>
        <p:spPr>
          <a:xfrm>
            <a:off x="6220242" y="1389817"/>
            <a:ext cx="457200" cy="102870"/>
          </a:xfrm>
          <a:prstGeom prst="roundRect">
            <a:avLst>
              <a:gd name="adj" fmla="val 11111"/>
            </a:avLst>
          </a:prstGeom>
          <a:solidFill>
            <a:srgbClr val="E6EBFA"/>
          </a:solidFill>
          <a:ln/>
        </p:spPr>
      </p:sp>
      <p:sp>
        <p:nvSpPr>
          <p:cNvPr id="66" name="Text 64"/>
          <p:cNvSpPr/>
          <p:nvPr/>
        </p:nvSpPr>
        <p:spPr>
          <a:xfrm>
            <a:off x="6220242" y="1389817"/>
            <a:ext cx="512064" cy="102870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buNone/>
            </a:pPr>
            <a:r>
              <a:rPr lang="en-US" sz="428" b="1" spc="27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强 COPYLEFT</a:t>
            </a:r>
            <a:endParaRPr lang="en-US" sz="428" dirty="0"/>
          </a:p>
        </p:txBody>
      </p:sp>
      <p:sp>
        <p:nvSpPr>
          <p:cNvPr id="67" name="Text 65"/>
          <p:cNvSpPr/>
          <p:nvPr/>
        </p:nvSpPr>
        <p:spPr>
          <a:xfrm>
            <a:off x="5600700" y="1509832"/>
            <a:ext cx="3520440" cy="98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强 Copyleft 代表，要求</a:t>
            </a:r>
            <a:pPr algn="l" indent="0" marL="0">
              <a:lnSpc>
                <a:spcPct val="150000"/>
              </a:lnSpc>
              <a:buNone/>
            </a:pPr>
            <a:r>
              <a:rPr lang="en-US" sz="518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衍生品以同一许可证开源</a:t>
            </a:r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；v3 加入反 Tivoization 与专利授权条款。</a:t>
            </a:r>
            <a:endParaRPr lang="en-US" sz="518" dirty="0"/>
          </a:p>
        </p:txBody>
      </p:sp>
      <p:sp>
        <p:nvSpPr>
          <p:cNvPr id="68" name="Shape 66"/>
          <p:cNvSpPr/>
          <p:nvPr/>
        </p:nvSpPr>
        <p:spPr>
          <a:xfrm>
            <a:off x="5297805" y="1717000"/>
            <a:ext cx="3520440" cy="344329"/>
          </a:xfrm>
          <a:prstGeom prst="roundRect">
            <a:avLst>
              <a:gd name="adj" fmla="val 4979"/>
            </a:avLst>
          </a:prstGeom>
          <a:solidFill>
            <a:srgbClr val="FAFBFD"/>
          </a:solidFill>
          <a:ln w="5715">
            <a:solidFill>
              <a:srgbClr val="E8EAE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60670" y="1779865"/>
            <a:ext cx="182880" cy="97155"/>
          </a:xfrm>
          <a:prstGeom prst="rect">
            <a:avLst/>
          </a:prstGeom>
          <a:noFill/>
          <a:ln/>
        </p:spPr>
      </p:sp>
      <p:sp>
        <p:nvSpPr>
          <p:cNvPr id="70" name="Shape 68"/>
          <p:cNvSpPr/>
          <p:nvPr/>
        </p:nvSpPr>
        <p:spPr>
          <a:xfrm>
            <a:off x="5543550" y="1779865"/>
            <a:ext cx="0" cy="97155"/>
          </a:xfrm>
          <a:prstGeom prst="line">
            <a:avLst/>
          </a:prstGeom>
          <a:noFill/>
          <a:ln w="5715">
            <a:solidFill>
              <a:srgbClr val="E8EAE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60670" y="1779865"/>
            <a:ext cx="245745" cy="97155"/>
          </a:xfrm>
          <a:prstGeom prst="rect">
            <a:avLst/>
          </a:prstGeom>
          <a:noFill/>
          <a:ln/>
        </p:spPr>
        <p:txBody>
          <a:bodyPr wrap="none" lIns="17145" tIns="0" rIns="45720" bIns="0" rtlCol="0" anchor="ctr"/>
          <a:lstStyle/>
          <a:p>
            <a:pPr algn="ctr" indent="0" marL="0">
              <a:buNone/>
            </a:pPr>
            <a:r>
              <a:rPr lang="en-US" sz="495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495" dirty="0"/>
          </a:p>
        </p:txBody>
      </p:sp>
      <p:sp>
        <p:nvSpPr>
          <p:cNvPr id="72" name="Text 70"/>
          <p:cNvSpPr/>
          <p:nvPr/>
        </p:nvSpPr>
        <p:spPr>
          <a:xfrm>
            <a:off x="5600700" y="1779865"/>
            <a:ext cx="3520440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3" b="1" spc="-9" kern="0" dirty="0">
                <a:solidFill>
                  <a:srgbClr val="14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LGPL</a:t>
            </a:r>
            <a:pPr algn="l" indent="0" marL="0">
              <a:buNone/>
            </a:pPr>
            <a:r>
              <a:rPr lang="en-US" sz="428" b="1" spc="-9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弱 COPYLEFT</a:t>
            </a:r>
            <a:endParaRPr lang="en-US" sz="653" dirty="0"/>
          </a:p>
        </p:txBody>
      </p:sp>
      <p:sp>
        <p:nvSpPr>
          <p:cNvPr id="73" name="Shape 71"/>
          <p:cNvSpPr/>
          <p:nvPr/>
        </p:nvSpPr>
        <p:spPr>
          <a:xfrm>
            <a:off x="5847606" y="1779865"/>
            <a:ext cx="457200" cy="102870"/>
          </a:xfrm>
          <a:prstGeom prst="roundRect">
            <a:avLst>
              <a:gd name="adj" fmla="val 11111"/>
            </a:avLst>
          </a:prstGeom>
          <a:solidFill>
            <a:srgbClr val="FFEDE5"/>
          </a:solidFill>
          <a:ln/>
        </p:spPr>
      </p:sp>
      <p:sp>
        <p:nvSpPr>
          <p:cNvPr id="74" name="Text 72"/>
          <p:cNvSpPr/>
          <p:nvPr/>
        </p:nvSpPr>
        <p:spPr>
          <a:xfrm>
            <a:off x="5847606" y="1779865"/>
            <a:ext cx="512064" cy="102870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buNone/>
            </a:pPr>
            <a:r>
              <a:rPr lang="en-US" sz="428" b="1" spc="27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弱 COPYLEFT</a:t>
            </a:r>
            <a:endParaRPr lang="en-US" sz="428" dirty="0"/>
          </a:p>
        </p:txBody>
      </p:sp>
      <p:sp>
        <p:nvSpPr>
          <p:cNvPr id="75" name="Text 73"/>
          <p:cNvSpPr/>
          <p:nvPr/>
        </p:nvSpPr>
        <p:spPr>
          <a:xfrm>
            <a:off x="5600700" y="1899880"/>
            <a:ext cx="3520440" cy="98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弱 Copyleft，允许</a:t>
            </a:r>
            <a:pPr algn="l" indent="0" marL="0">
              <a:lnSpc>
                <a:spcPct val="150000"/>
              </a:lnSpc>
              <a:buNone/>
            </a:pPr>
            <a:r>
              <a:rPr lang="en-US" sz="518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专有库链接</a:t>
            </a:r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，兼顾库级共享与商业兼容，Linux 桌面生态核心。</a:t>
            </a:r>
            <a:endParaRPr lang="en-US" sz="518" dirty="0"/>
          </a:p>
        </p:txBody>
      </p:sp>
      <p:sp>
        <p:nvSpPr>
          <p:cNvPr id="76" name="Shape 74"/>
          <p:cNvSpPr/>
          <p:nvPr/>
        </p:nvSpPr>
        <p:spPr>
          <a:xfrm>
            <a:off x="5297805" y="2107049"/>
            <a:ext cx="3520440" cy="344329"/>
          </a:xfrm>
          <a:prstGeom prst="roundRect">
            <a:avLst>
              <a:gd name="adj" fmla="val 4979"/>
            </a:avLst>
          </a:prstGeom>
          <a:solidFill>
            <a:srgbClr val="FCFCFD"/>
          </a:solidFill>
          <a:ln w="5715">
            <a:solidFill>
              <a:srgbClr val="E8EAE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360670" y="2169914"/>
            <a:ext cx="182880" cy="97155"/>
          </a:xfrm>
          <a:prstGeom prst="rect">
            <a:avLst/>
          </a:prstGeom>
          <a:noFill/>
          <a:ln/>
        </p:spPr>
      </p:sp>
      <p:sp>
        <p:nvSpPr>
          <p:cNvPr id="78" name="Shape 76"/>
          <p:cNvSpPr/>
          <p:nvPr/>
        </p:nvSpPr>
        <p:spPr>
          <a:xfrm>
            <a:off x="5543550" y="2169914"/>
            <a:ext cx="0" cy="97155"/>
          </a:xfrm>
          <a:prstGeom prst="line">
            <a:avLst/>
          </a:prstGeom>
          <a:noFill/>
          <a:ln w="5715">
            <a:solidFill>
              <a:srgbClr val="E8EAE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360670" y="2169914"/>
            <a:ext cx="245745" cy="97155"/>
          </a:xfrm>
          <a:prstGeom prst="rect">
            <a:avLst/>
          </a:prstGeom>
          <a:noFill/>
          <a:ln/>
        </p:spPr>
        <p:txBody>
          <a:bodyPr wrap="none" lIns="17145" tIns="0" rIns="45720" bIns="0" rtlCol="0" anchor="ctr"/>
          <a:lstStyle/>
          <a:p>
            <a:pPr algn="ctr" indent="0" marL="0">
              <a:buNone/>
            </a:pPr>
            <a:r>
              <a:rPr lang="en-US" sz="495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495" dirty="0"/>
          </a:p>
        </p:txBody>
      </p:sp>
      <p:sp>
        <p:nvSpPr>
          <p:cNvPr id="80" name="Text 78"/>
          <p:cNvSpPr/>
          <p:nvPr/>
        </p:nvSpPr>
        <p:spPr>
          <a:xfrm>
            <a:off x="5600700" y="2169914"/>
            <a:ext cx="3520440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3" b="1" spc="-9" kern="0" dirty="0">
                <a:solidFill>
                  <a:srgbClr val="14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AGPLv3</a:t>
            </a:r>
            <a:pPr algn="l" indent="0" marL="0">
              <a:buNone/>
            </a:pPr>
            <a:r>
              <a:rPr lang="en-US" sz="428" b="1" spc="-9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网络传染</a:t>
            </a:r>
            <a:endParaRPr lang="en-US" sz="653" dirty="0"/>
          </a:p>
        </p:txBody>
      </p:sp>
      <p:sp>
        <p:nvSpPr>
          <p:cNvPr id="81" name="Shape 79"/>
          <p:cNvSpPr/>
          <p:nvPr/>
        </p:nvSpPr>
        <p:spPr>
          <a:xfrm>
            <a:off x="5959673" y="2169914"/>
            <a:ext cx="310932" cy="102870"/>
          </a:xfrm>
          <a:prstGeom prst="roundRect">
            <a:avLst>
              <a:gd name="adj" fmla="val 11111"/>
            </a:avLst>
          </a:prstGeom>
          <a:solidFill>
            <a:srgbClr val="E6EBFA"/>
          </a:solidFill>
          <a:ln/>
        </p:spPr>
      </p:sp>
      <p:sp>
        <p:nvSpPr>
          <p:cNvPr id="82" name="Text 80"/>
          <p:cNvSpPr/>
          <p:nvPr/>
        </p:nvSpPr>
        <p:spPr>
          <a:xfrm>
            <a:off x="5959673" y="2169914"/>
            <a:ext cx="365224" cy="102870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buNone/>
            </a:pPr>
            <a:r>
              <a:rPr lang="en-US" sz="428" b="1" spc="27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网络传染</a:t>
            </a:r>
            <a:endParaRPr lang="en-US" sz="428" dirty="0"/>
          </a:p>
        </p:txBody>
      </p:sp>
      <p:sp>
        <p:nvSpPr>
          <p:cNvPr id="83" name="Text 81"/>
          <p:cNvSpPr/>
          <p:nvPr/>
        </p:nvSpPr>
        <p:spPr>
          <a:xfrm>
            <a:off x="5600700" y="2289929"/>
            <a:ext cx="3520440" cy="98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填补网络服务漏洞，</a:t>
            </a:r>
            <a:pPr algn="l" indent="0" marL="0">
              <a:lnSpc>
                <a:spcPct val="150000"/>
              </a:lnSpc>
              <a:buNone/>
            </a:pPr>
            <a:r>
              <a:rPr lang="en-US" sz="518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SaaS 场景下也强制开放修改后的代码</a:t>
            </a:r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；MongoDB、Nextcloud 采用。</a:t>
            </a:r>
            <a:endParaRPr lang="en-US" sz="518" dirty="0"/>
          </a:p>
        </p:txBody>
      </p:sp>
      <p:sp>
        <p:nvSpPr>
          <p:cNvPr id="84" name="Shape 82"/>
          <p:cNvSpPr/>
          <p:nvPr/>
        </p:nvSpPr>
        <p:spPr>
          <a:xfrm>
            <a:off x="5297805" y="2497098"/>
            <a:ext cx="3520440" cy="361474"/>
          </a:xfrm>
          <a:prstGeom prst="roundRect">
            <a:avLst>
              <a:gd name="adj" fmla="val 4743"/>
            </a:avLst>
          </a:prstGeom>
          <a:solidFill>
            <a:srgbClr val="FAFBFD"/>
          </a:solidFill>
          <a:ln w="5715">
            <a:solidFill>
              <a:srgbClr val="E8EA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360670" y="2559963"/>
            <a:ext cx="182880" cy="97155"/>
          </a:xfrm>
          <a:prstGeom prst="rect">
            <a:avLst/>
          </a:prstGeom>
          <a:noFill/>
          <a:ln/>
        </p:spPr>
      </p:sp>
      <p:sp>
        <p:nvSpPr>
          <p:cNvPr id="86" name="Shape 84"/>
          <p:cNvSpPr/>
          <p:nvPr/>
        </p:nvSpPr>
        <p:spPr>
          <a:xfrm>
            <a:off x="5543550" y="2559963"/>
            <a:ext cx="0" cy="97155"/>
          </a:xfrm>
          <a:prstGeom prst="line">
            <a:avLst/>
          </a:prstGeom>
          <a:noFill/>
          <a:ln w="5715">
            <a:solidFill>
              <a:srgbClr val="E8EAE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360670" y="2559963"/>
            <a:ext cx="245745" cy="97155"/>
          </a:xfrm>
          <a:prstGeom prst="rect">
            <a:avLst/>
          </a:prstGeom>
          <a:noFill/>
          <a:ln/>
        </p:spPr>
        <p:txBody>
          <a:bodyPr wrap="none" lIns="17145" tIns="0" rIns="45720" bIns="0" rtlCol="0" anchor="ctr"/>
          <a:lstStyle/>
          <a:p>
            <a:pPr algn="ctr" indent="0" marL="0">
              <a:buNone/>
            </a:pPr>
            <a:r>
              <a:rPr lang="en-US" sz="495" dirty="0">
                <a:solidFill>
                  <a:srgbClr val="8A92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495" dirty="0"/>
          </a:p>
        </p:txBody>
      </p:sp>
      <p:sp>
        <p:nvSpPr>
          <p:cNvPr id="88" name="Text 86"/>
          <p:cNvSpPr/>
          <p:nvPr/>
        </p:nvSpPr>
        <p:spPr>
          <a:xfrm>
            <a:off x="5600700" y="2559963"/>
            <a:ext cx="3520440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3" b="1" spc="-9" kern="0" dirty="0">
                <a:solidFill>
                  <a:srgbClr val="14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对比 Apache 2.0</a:t>
            </a:r>
            <a:pPr algn="l" indent="0" marL="0">
              <a:buNone/>
            </a:pPr>
            <a:r>
              <a:rPr lang="en-US" sz="428" b="1" spc="-9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PERMISSIVE + 专利</a:t>
            </a:r>
            <a:endParaRPr lang="en-US" sz="653" dirty="0"/>
          </a:p>
        </p:txBody>
      </p:sp>
      <p:sp>
        <p:nvSpPr>
          <p:cNvPr id="89" name="Shape 87"/>
          <p:cNvSpPr/>
          <p:nvPr/>
        </p:nvSpPr>
        <p:spPr>
          <a:xfrm>
            <a:off x="6283107" y="2571393"/>
            <a:ext cx="622935" cy="102870"/>
          </a:xfrm>
          <a:prstGeom prst="roundRect">
            <a:avLst>
              <a:gd name="adj" fmla="val 11111"/>
            </a:avLst>
          </a:prstGeom>
          <a:solidFill>
            <a:srgbClr val="EEF0F3"/>
          </a:solidFill>
          <a:ln/>
        </p:spPr>
      </p:sp>
      <p:sp>
        <p:nvSpPr>
          <p:cNvPr id="90" name="Text 88"/>
          <p:cNvSpPr/>
          <p:nvPr/>
        </p:nvSpPr>
        <p:spPr>
          <a:xfrm>
            <a:off x="6283107" y="2571393"/>
            <a:ext cx="697687" cy="102870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buNone/>
            </a:pPr>
            <a:r>
              <a:rPr lang="en-US" sz="428" b="1" spc="27" kern="0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PERMISSIVE + 专利</a:t>
            </a:r>
            <a:endParaRPr lang="en-US" sz="428" dirty="0"/>
          </a:p>
        </p:txBody>
      </p:sp>
      <p:sp>
        <p:nvSpPr>
          <p:cNvPr id="91" name="Text 89"/>
          <p:cNvSpPr/>
          <p:nvPr/>
        </p:nvSpPr>
        <p:spPr>
          <a:xfrm>
            <a:off x="5600700" y="2697123"/>
            <a:ext cx="3520440" cy="98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弱 Copyleft +</a:t>
            </a:r>
            <a:pPr algn="l" indent="0" marL="0">
              <a:lnSpc>
                <a:spcPct val="150000"/>
              </a:lnSpc>
              <a:buNone/>
            </a:pPr>
            <a:r>
              <a:rPr lang="en-US" sz="518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专利授权</a:t>
            </a:r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，企业友好型，GitHub 主流许可之一；Hadoop、TensorFlow 使用。</a:t>
            </a:r>
            <a:endParaRPr lang="en-US" sz="518" dirty="0"/>
          </a:p>
        </p:txBody>
      </p:sp>
      <p:sp>
        <p:nvSpPr>
          <p:cNvPr id="92" name="Shape 90"/>
          <p:cNvSpPr/>
          <p:nvPr/>
        </p:nvSpPr>
        <p:spPr>
          <a:xfrm>
            <a:off x="5297805" y="2904292"/>
            <a:ext cx="3520440" cy="361474"/>
          </a:xfrm>
          <a:prstGeom prst="roundRect">
            <a:avLst>
              <a:gd name="adj" fmla="val 4743"/>
            </a:avLst>
          </a:prstGeom>
          <a:solidFill>
            <a:srgbClr val="FCFCFD"/>
          </a:solidFill>
          <a:ln w="5715">
            <a:solidFill>
              <a:srgbClr val="E8EAE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360670" y="2967157"/>
            <a:ext cx="182880" cy="97155"/>
          </a:xfrm>
          <a:prstGeom prst="rect">
            <a:avLst/>
          </a:prstGeom>
          <a:noFill/>
          <a:ln/>
        </p:spPr>
      </p:sp>
      <p:sp>
        <p:nvSpPr>
          <p:cNvPr id="94" name="Shape 92"/>
          <p:cNvSpPr/>
          <p:nvPr/>
        </p:nvSpPr>
        <p:spPr>
          <a:xfrm>
            <a:off x="5543550" y="2967157"/>
            <a:ext cx="0" cy="97155"/>
          </a:xfrm>
          <a:prstGeom prst="line">
            <a:avLst/>
          </a:prstGeom>
          <a:noFill/>
          <a:ln w="5715">
            <a:solidFill>
              <a:srgbClr val="E8EAE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360670" y="2967157"/>
            <a:ext cx="245745" cy="97155"/>
          </a:xfrm>
          <a:prstGeom prst="rect">
            <a:avLst/>
          </a:prstGeom>
          <a:noFill/>
          <a:ln/>
        </p:spPr>
        <p:txBody>
          <a:bodyPr wrap="none" lIns="17145" tIns="0" rIns="45720" bIns="0" rtlCol="0" anchor="ctr"/>
          <a:lstStyle/>
          <a:p>
            <a:pPr algn="ctr" indent="0" marL="0">
              <a:buNone/>
            </a:pPr>
            <a:r>
              <a:rPr lang="en-US" sz="495" dirty="0">
                <a:solidFill>
                  <a:srgbClr val="8A92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495" dirty="0"/>
          </a:p>
        </p:txBody>
      </p:sp>
      <p:sp>
        <p:nvSpPr>
          <p:cNvPr id="96" name="Text 94"/>
          <p:cNvSpPr/>
          <p:nvPr/>
        </p:nvSpPr>
        <p:spPr>
          <a:xfrm>
            <a:off x="5600700" y="2967157"/>
            <a:ext cx="3520440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3" b="1" spc="-9" kern="0" dirty="0">
                <a:solidFill>
                  <a:srgbClr val="14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对比 MIT / BSD</a:t>
            </a:r>
            <a:pPr algn="l" indent="0" marL="0">
              <a:buNone/>
            </a:pPr>
            <a:r>
              <a:rPr lang="en-US" sz="428" b="1" spc="-9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非 COPYLEFT</a:t>
            </a:r>
            <a:endParaRPr lang="en-US" sz="653" dirty="0"/>
          </a:p>
        </p:txBody>
      </p:sp>
      <p:sp>
        <p:nvSpPr>
          <p:cNvPr id="97" name="Shape 95"/>
          <p:cNvSpPr/>
          <p:nvPr/>
        </p:nvSpPr>
        <p:spPr>
          <a:xfrm>
            <a:off x="6209973" y="2978587"/>
            <a:ext cx="457200" cy="102870"/>
          </a:xfrm>
          <a:prstGeom prst="roundRect">
            <a:avLst>
              <a:gd name="adj" fmla="val 11111"/>
            </a:avLst>
          </a:prstGeom>
          <a:solidFill>
            <a:srgbClr val="EEF0F3"/>
          </a:solidFill>
          <a:ln/>
        </p:spPr>
      </p:sp>
      <p:sp>
        <p:nvSpPr>
          <p:cNvPr id="98" name="Text 96"/>
          <p:cNvSpPr/>
          <p:nvPr/>
        </p:nvSpPr>
        <p:spPr>
          <a:xfrm>
            <a:off x="6209973" y="2978587"/>
            <a:ext cx="512064" cy="102870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buNone/>
            </a:pPr>
            <a:r>
              <a:rPr lang="en-US" sz="428" b="1" spc="27" kern="0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非 COPYLEFT</a:t>
            </a:r>
            <a:endParaRPr lang="en-US" sz="428" dirty="0"/>
          </a:p>
        </p:txBody>
      </p:sp>
      <p:sp>
        <p:nvSpPr>
          <p:cNvPr id="99" name="Text 97"/>
          <p:cNvSpPr/>
          <p:nvPr/>
        </p:nvSpPr>
        <p:spPr>
          <a:xfrm>
            <a:off x="5600700" y="3104317"/>
            <a:ext cx="3520440" cy="98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非 Copyleft 宽松许可，</a:t>
            </a:r>
            <a:pPr algn="l" indent="0" marL="0">
              <a:lnSpc>
                <a:spcPct val="150000"/>
              </a:lnSpc>
              <a:buNone/>
            </a:pPr>
            <a:r>
              <a:rPr lang="en-US" sz="518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仅保留版权声明</a:t>
            </a:r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4A50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，使用门槛最低；Redis、Express、Ruby 采用。</a:t>
            </a:r>
            <a:endParaRPr lang="en-US" sz="518" dirty="0"/>
          </a:p>
        </p:txBody>
      </p:sp>
      <p:sp>
        <p:nvSpPr>
          <p:cNvPr id="100" name="Shape 98"/>
          <p:cNvSpPr/>
          <p:nvPr/>
        </p:nvSpPr>
        <p:spPr>
          <a:xfrm>
            <a:off x="342900" y="4315897"/>
            <a:ext cx="8458200" cy="712589"/>
          </a:xfrm>
          <a:prstGeom prst="roundRect">
            <a:avLst>
              <a:gd name="adj" fmla="val 3208"/>
            </a:avLst>
          </a:prstGeom>
          <a:solidFill>
            <a:srgbClr val="F5F5F5"/>
          </a:solidFill>
          <a:ln/>
        </p:spPr>
      </p:sp>
      <p:sp>
        <p:nvSpPr>
          <p:cNvPr id="101" name="Shape 99"/>
          <p:cNvSpPr/>
          <p:nvPr/>
        </p:nvSpPr>
        <p:spPr>
          <a:xfrm>
            <a:off x="685800" y="4510207"/>
            <a:ext cx="7772400" cy="5715"/>
          </a:xfrm>
          <a:prstGeom prst="rect">
            <a:avLst/>
          </a:prstGeom>
          <a:solidFill>
            <a:srgbClr val="D9DDE5"/>
          </a:solidFill>
          <a:ln/>
        </p:spPr>
      </p:sp>
      <p:sp>
        <p:nvSpPr>
          <p:cNvPr id="102" name="Text 100"/>
          <p:cNvSpPr/>
          <p:nvPr/>
        </p:nvSpPr>
        <p:spPr>
          <a:xfrm>
            <a:off x="1700748" y="4407337"/>
            <a:ext cx="477774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9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1989</a:t>
            </a:r>
            <a:endParaRPr lang="en-US" sz="990" dirty="0"/>
          </a:p>
        </p:txBody>
      </p:sp>
      <p:sp>
        <p:nvSpPr>
          <p:cNvPr id="103" name="Text 101"/>
          <p:cNvSpPr/>
          <p:nvPr/>
        </p:nvSpPr>
        <p:spPr>
          <a:xfrm>
            <a:off x="1632704" y="4733092"/>
            <a:ext cx="50640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9" kern="0" dirty="0">
                <a:solidFill>
                  <a:srgbClr val="14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首次发布</a:t>
            </a:r>
            <a:endParaRPr lang="en-US" sz="540" dirty="0"/>
          </a:p>
        </p:txBody>
      </p:sp>
      <p:sp>
        <p:nvSpPr>
          <p:cNvPr id="104" name="Text 102"/>
          <p:cNvSpPr/>
          <p:nvPr/>
        </p:nvSpPr>
        <p:spPr>
          <a:xfrm>
            <a:off x="1557338" y="4864537"/>
            <a:ext cx="659282" cy="839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73" dirty="0">
                <a:solidFill>
                  <a:srgbClr val="8A92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版本 1 · GNU 项目奠基</a:t>
            </a:r>
            <a:endParaRPr lang="en-US" sz="473" dirty="0"/>
          </a:p>
        </p:txBody>
      </p:sp>
      <p:sp>
        <p:nvSpPr>
          <p:cNvPr id="105" name="Shape 103"/>
          <p:cNvSpPr/>
          <p:nvPr/>
        </p:nvSpPr>
        <p:spPr>
          <a:xfrm>
            <a:off x="1811655" y="4607362"/>
            <a:ext cx="80010" cy="8001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2FA7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421088" y="4407337"/>
            <a:ext cx="477774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9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1991</a:t>
            </a:r>
            <a:endParaRPr lang="en-US" sz="990" dirty="0"/>
          </a:p>
        </p:txBody>
      </p:sp>
      <p:sp>
        <p:nvSpPr>
          <p:cNvPr id="107" name="Text 105"/>
          <p:cNvSpPr/>
          <p:nvPr/>
        </p:nvSpPr>
        <p:spPr>
          <a:xfrm>
            <a:off x="4384477" y="4733092"/>
            <a:ext cx="44353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9" kern="0" dirty="0">
                <a:solidFill>
                  <a:srgbClr val="14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GPLv2 发布</a:t>
            </a:r>
            <a:endParaRPr lang="en-US" sz="540" dirty="0"/>
          </a:p>
        </p:txBody>
      </p:sp>
      <p:sp>
        <p:nvSpPr>
          <p:cNvPr id="108" name="Text 106"/>
          <p:cNvSpPr/>
          <p:nvPr/>
        </p:nvSpPr>
        <p:spPr>
          <a:xfrm>
            <a:off x="4146233" y="4864537"/>
            <a:ext cx="953719" cy="839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73" dirty="0">
                <a:solidFill>
                  <a:srgbClr val="8A92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最广泛使用版本 · Linux 内核采用</a:t>
            </a:r>
            <a:endParaRPr lang="en-US" sz="473" dirty="0"/>
          </a:p>
        </p:txBody>
      </p:sp>
      <p:sp>
        <p:nvSpPr>
          <p:cNvPr id="109" name="Shape 107"/>
          <p:cNvSpPr/>
          <p:nvPr/>
        </p:nvSpPr>
        <p:spPr>
          <a:xfrm>
            <a:off x="4531995" y="4607362"/>
            <a:ext cx="80010" cy="8001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2FA7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141428" y="4407337"/>
            <a:ext cx="477774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9" kern="0" dirty="0">
                <a:solidFill>
                  <a:srgbClr val="FF7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2007</a:t>
            </a:r>
            <a:endParaRPr lang="en-US" sz="990" dirty="0"/>
          </a:p>
        </p:txBody>
      </p:sp>
      <p:sp>
        <p:nvSpPr>
          <p:cNvPr id="111" name="Text 109"/>
          <p:cNvSpPr/>
          <p:nvPr/>
        </p:nvSpPr>
        <p:spPr>
          <a:xfrm>
            <a:off x="7009983" y="4733092"/>
            <a:ext cx="63329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9" kern="0" dirty="0">
                <a:solidFill>
                  <a:srgbClr val="141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GPLv3 / AGPLv3</a:t>
            </a:r>
            <a:endParaRPr lang="en-US" sz="540" dirty="0"/>
          </a:p>
        </p:txBody>
      </p:sp>
      <p:sp>
        <p:nvSpPr>
          <p:cNvPr id="112" name="Text 110"/>
          <p:cNvSpPr/>
          <p:nvPr/>
        </p:nvSpPr>
        <p:spPr>
          <a:xfrm>
            <a:off x="7000875" y="4853107"/>
            <a:ext cx="652882" cy="839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73" dirty="0">
                <a:solidFill>
                  <a:srgbClr val="8A92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引入专利与 SaaS 条款</a:t>
            </a:r>
            <a:endParaRPr lang="en-US" sz="473" dirty="0"/>
          </a:p>
        </p:txBody>
      </p:sp>
      <p:sp>
        <p:nvSpPr>
          <p:cNvPr id="113" name="Shape 111"/>
          <p:cNvSpPr/>
          <p:nvPr/>
        </p:nvSpPr>
        <p:spPr>
          <a:xfrm>
            <a:off x="7252335" y="4607362"/>
            <a:ext cx="80010" cy="8001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FF7043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42900" y="4989195"/>
            <a:ext cx="887211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7" kern="0" dirty="0">
                <a:solidFill>
                  <a:srgbClr val="8A92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SOURCE LICENSING</a:t>
            </a:r>
            <a:endParaRPr lang="en-US" sz="450" dirty="0"/>
          </a:p>
        </p:txBody>
      </p:sp>
      <p:sp>
        <p:nvSpPr>
          <p:cNvPr id="115" name="Text 113"/>
          <p:cNvSpPr/>
          <p:nvPr/>
        </p:nvSpPr>
        <p:spPr>
          <a:xfrm>
            <a:off x="1215063" y="4989195"/>
            <a:ext cx="9715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7" kern="0" dirty="0">
                <a:solidFill>
                  <a:srgbClr val="D9DDE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</a:t>
            </a:r>
            <a:endParaRPr lang="en-US" sz="450" dirty="0"/>
          </a:p>
        </p:txBody>
      </p:sp>
      <p:sp>
        <p:nvSpPr>
          <p:cNvPr id="116" name="Text 114"/>
          <p:cNvSpPr/>
          <p:nvPr/>
        </p:nvSpPr>
        <p:spPr>
          <a:xfrm>
            <a:off x="1332845" y="4989195"/>
            <a:ext cx="633679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7" kern="0" dirty="0">
                <a:solidFill>
                  <a:srgbClr val="8A92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COPILEFT FAMILY</a:t>
            </a:r>
            <a:endParaRPr lang="en-US" sz="450" dirty="0"/>
          </a:p>
        </p:txBody>
      </p:sp>
      <p:sp>
        <p:nvSpPr>
          <p:cNvPr id="117" name="Text 115"/>
          <p:cNvSpPr/>
          <p:nvPr/>
        </p:nvSpPr>
        <p:spPr>
          <a:xfrm>
            <a:off x="7811155" y="4989195"/>
            <a:ext cx="24574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7" kern="0" dirty="0">
                <a:solidFill>
                  <a:srgbClr val="8A92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 06</a:t>
            </a:r>
            <a:endParaRPr lang="en-US" sz="450" dirty="0"/>
          </a:p>
        </p:txBody>
      </p:sp>
      <p:sp>
        <p:nvSpPr>
          <p:cNvPr id="118" name="Text 116"/>
          <p:cNvSpPr/>
          <p:nvPr/>
        </p:nvSpPr>
        <p:spPr>
          <a:xfrm>
            <a:off x="8079760" y="4989195"/>
            <a:ext cx="9715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7" kern="0" dirty="0">
                <a:solidFill>
                  <a:srgbClr val="D9DDE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</a:t>
            </a:r>
            <a:endParaRPr lang="en-US" sz="450" dirty="0"/>
          </a:p>
        </p:txBody>
      </p:sp>
      <p:sp>
        <p:nvSpPr>
          <p:cNvPr id="119" name="Text 117"/>
          <p:cNvSpPr/>
          <p:nvPr/>
        </p:nvSpPr>
        <p:spPr>
          <a:xfrm>
            <a:off x="8197542" y="4989195"/>
            <a:ext cx="67598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7" kern="0" dirty="0">
                <a:solidFill>
                  <a:srgbClr val="8A92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SCALE OF FREEDOM</a:t>
            </a:r>
            <a:endParaRPr lang="en-US" sz="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F5F5"/>
              </a:gs>
              <a:gs pos="100000">
                <a:srgbClr val="EEF1F8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365760" y="377190"/>
            <a:ext cx="205740" cy="1143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40043"/>
            <a:ext cx="179992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1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· OSS LICENSING 2014–2024</a:t>
            </a:r>
            <a:endParaRPr lang="en-US" sz="540" dirty="0"/>
          </a:p>
        </p:txBody>
      </p:sp>
      <p:sp>
        <p:nvSpPr>
          <p:cNvPr id="5" name="Text 3"/>
          <p:cNvSpPr/>
          <p:nvPr/>
        </p:nvSpPr>
        <p:spPr>
          <a:xfrm>
            <a:off x="365760" y="505778"/>
            <a:ext cx="9421978" cy="2891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80" b="1" spc="-40" kern="0" dirty="0">
                <a:solidFill>
                  <a:srgbClr val="0A14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开源许可证使用分布</a:t>
            </a:r>
            <a:endParaRPr lang="en-US" sz="1980" dirty="0"/>
          </a:p>
        </p:txBody>
      </p:sp>
      <p:sp>
        <p:nvSpPr>
          <p:cNvPr id="6" name="Text 4"/>
          <p:cNvSpPr/>
          <p:nvPr/>
        </p:nvSpPr>
        <p:spPr>
          <a:xfrm>
            <a:off x="365760" y="874931"/>
            <a:ext cx="8193024" cy="300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从近十年 GitHub 与 Google Code 的抽样数据看，宽松许可与 Copyleft 各占半壁——开发者追求低门槛分发，核心基础设施则依赖强 Copyleft 防止闭源化；AI 模型的出现，使这一格局开始出现新的裂隙。</a:t>
            </a:r>
            <a:endParaRPr lang="en-US" sz="675" dirty="0"/>
          </a:p>
        </p:txBody>
      </p:sp>
      <p:sp>
        <p:nvSpPr>
          <p:cNvPr id="7" name="Shape 5"/>
          <p:cNvSpPr/>
          <p:nvPr/>
        </p:nvSpPr>
        <p:spPr>
          <a:xfrm>
            <a:off x="365760" y="1357848"/>
            <a:ext cx="4000500" cy="3265497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5715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76200" dir="16200000">
              <a:srgbClr val="002FA7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2925" y="1546443"/>
            <a:ext cx="768132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-3" kern="0" dirty="0">
                <a:solidFill>
                  <a:srgbClr val="0A14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五大类许可证占比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2922419" y="1569303"/>
            <a:ext cx="141867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0" kern="0" dirty="0">
                <a:solidFill>
                  <a:srgbClr val="859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&amp; Google Code 抽样 · 近十年估算</a:t>
            </a:r>
            <a:endParaRPr lang="en-US" sz="495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1508760" y="1735038"/>
          <a:ext cx="1714500" cy="1714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42925" y="3529548"/>
            <a:ext cx="3646170" cy="436572"/>
          </a:xfrm>
          <a:prstGeom prst="rect">
            <a:avLst/>
          </a:prstGeom>
          <a:noFill/>
          <a:ln/>
        </p:spPr>
      </p:sp>
      <p:sp>
        <p:nvSpPr>
          <p:cNvPr id="12" name="Shape 9"/>
          <p:cNvSpPr/>
          <p:nvPr/>
        </p:nvSpPr>
        <p:spPr>
          <a:xfrm>
            <a:off x="542925" y="3529548"/>
            <a:ext cx="3646170" cy="0"/>
          </a:xfrm>
          <a:prstGeom prst="line">
            <a:avLst/>
          </a:prstGeom>
          <a:noFill/>
          <a:ln w="5715">
            <a:solidFill>
              <a:srgbClr val="EEF0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83503" y="3615273"/>
            <a:ext cx="57150" cy="57150"/>
          </a:xfrm>
          <a:prstGeom prst="roundRect">
            <a:avLst>
              <a:gd name="adj" fmla="val 20000"/>
            </a:avLst>
          </a:prstGeom>
          <a:solidFill>
            <a:srgbClr val="002FA7"/>
          </a:solidFill>
          <a:ln/>
        </p:spPr>
      </p:sp>
      <p:sp>
        <p:nvSpPr>
          <p:cNvPr id="14" name="Text 11"/>
          <p:cNvSpPr/>
          <p:nvPr/>
        </p:nvSpPr>
        <p:spPr>
          <a:xfrm>
            <a:off x="849213" y="3706713"/>
            <a:ext cx="212598" cy="822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0A14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</a:t>
            </a:r>
            <a:endParaRPr lang="en-US" sz="540" dirty="0"/>
          </a:p>
        </p:txBody>
      </p:sp>
      <p:sp>
        <p:nvSpPr>
          <p:cNvPr id="15" name="Text 12"/>
          <p:cNvSpPr/>
          <p:nvPr/>
        </p:nvSpPr>
        <p:spPr>
          <a:xfrm>
            <a:off x="809744" y="3823246"/>
            <a:ext cx="26467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73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43%</a:t>
            </a:r>
            <a:endParaRPr lang="en-US" sz="473" dirty="0"/>
          </a:p>
        </p:txBody>
      </p:sp>
      <p:sp>
        <p:nvSpPr>
          <p:cNvPr id="16" name="Shape 13"/>
          <p:cNvSpPr/>
          <p:nvPr/>
        </p:nvSpPr>
        <p:spPr>
          <a:xfrm>
            <a:off x="1610380" y="3615273"/>
            <a:ext cx="57150" cy="57150"/>
          </a:xfrm>
          <a:prstGeom prst="roundRect">
            <a:avLst>
              <a:gd name="adj" fmla="val 20000"/>
            </a:avLst>
          </a:prstGeom>
          <a:solidFill>
            <a:srgbClr val="1A4FB8"/>
          </a:solidFill>
          <a:ln/>
        </p:spPr>
      </p:sp>
      <p:sp>
        <p:nvSpPr>
          <p:cNvPr id="17" name="Text 14"/>
          <p:cNvSpPr/>
          <p:nvPr/>
        </p:nvSpPr>
        <p:spPr>
          <a:xfrm>
            <a:off x="1444645" y="3706713"/>
            <a:ext cx="457200" cy="822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0A14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2.0</a:t>
            </a:r>
            <a:endParaRPr lang="en-US" sz="540" dirty="0"/>
          </a:p>
        </p:txBody>
      </p:sp>
      <p:sp>
        <p:nvSpPr>
          <p:cNvPr id="18" name="Text 15"/>
          <p:cNvSpPr/>
          <p:nvPr/>
        </p:nvSpPr>
        <p:spPr>
          <a:xfrm>
            <a:off x="1545193" y="3823246"/>
            <a:ext cx="247531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73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19%</a:t>
            </a:r>
            <a:endParaRPr lang="en-US" sz="473" dirty="0"/>
          </a:p>
        </p:txBody>
      </p:sp>
      <p:sp>
        <p:nvSpPr>
          <p:cNvPr id="19" name="Shape 16"/>
          <p:cNvSpPr/>
          <p:nvPr/>
        </p:nvSpPr>
        <p:spPr>
          <a:xfrm>
            <a:off x="2337346" y="3615273"/>
            <a:ext cx="57150" cy="57150"/>
          </a:xfrm>
          <a:prstGeom prst="roundRect">
            <a:avLst>
              <a:gd name="adj" fmla="val 20000"/>
            </a:avLst>
          </a:prstGeom>
          <a:solidFill>
            <a:srgbClr val="3E7BC0"/>
          </a:solidFill>
          <a:ln/>
        </p:spPr>
      </p:sp>
      <p:sp>
        <p:nvSpPr>
          <p:cNvPr id="20" name="Text 17"/>
          <p:cNvSpPr/>
          <p:nvPr/>
        </p:nvSpPr>
        <p:spPr>
          <a:xfrm>
            <a:off x="2174468" y="3706713"/>
            <a:ext cx="451485" cy="822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0A14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/ AGPL</a:t>
            </a:r>
            <a:endParaRPr lang="en-US" sz="540" dirty="0"/>
          </a:p>
        </p:txBody>
      </p:sp>
      <p:sp>
        <p:nvSpPr>
          <p:cNvPr id="21" name="Text 18"/>
          <p:cNvSpPr/>
          <p:nvPr/>
        </p:nvSpPr>
        <p:spPr>
          <a:xfrm>
            <a:off x="2280731" y="3823246"/>
            <a:ext cx="23038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73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11%</a:t>
            </a:r>
            <a:endParaRPr lang="en-US" sz="473" dirty="0"/>
          </a:p>
        </p:txBody>
      </p:sp>
      <p:sp>
        <p:nvSpPr>
          <p:cNvPr id="22" name="Shape 19"/>
          <p:cNvSpPr/>
          <p:nvPr/>
        </p:nvSpPr>
        <p:spPr>
          <a:xfrm>
            <a:off x="3064312" y="3615273"/>
            <a:ext cx="57150" cy="57150"/>
          </a:xfrm>
          <a:prstGeom prst="roundRect">
            <a:avLst>
              <a:gd name="adj" fmla="val 20000"/>
            </a:avLst>
          </a:prstGeom>
          <a:solidFill>
            <a:srgbClr val="7FA5D0"/>
          </a:solidFill>
          <a:ln/>
        </p:spPr>
      </p:sp>
      <p:sp>
        <p:nvSpPr>
          <p:cNvPr id="23" name="Text 20"/>
          <p:cNvSpPr/>
          <p:nvPr/>
        </p:nvSpPr>
        <p:spPr>
          <a:xfrm>
            <a:off x="2944297" y="3706713"/>
            <a:ext cx="365760" cy="822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0A14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BSD 家族</a:t>
            </a:r>
            <a:endParaRPr lang="en-US" sz="540" dirty="0"/>
          </a:p>
        </p:txBody>
      </p:sp>
      <p:sp>
        <p:nvSpPr>
          <p:cNvPr id="24" name="Text 21"/>
          <p:cNvSpPr/>
          <p:nvPr/>
        </p:nvSpPr>
        <p:spPr>
          <a:xfrm>
            <a:off x="3010555" y="3823246"/>
            <a:ext cx="228029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73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8%</a:t>
            </a:r>
            <a:endParaRPr lang="en-US" sz="473" dirty="0"/>
          </a:p>
        </p:txBody>
      </p:sp>
      <p:sp>
        <p:nvSpPr>
          <p:cNvPr id="25" name="Shape 22"/>
          <p:cNvSpPr/>
          <p:nvPr/>
        </p:nvSpPr>
        <p:spPr>
          <a:xfrm>
            <a:off x="3791277" y="3615273"/>
            <a:ext cx="57150" cy="57150"/>
          </a:xfrm>
          <a:prstGeom prst="roundRect">
            <a:avLst>
              <a:gd name="adj" fmla="val 20000"/>
            </a:avLst>
          </a:prstGeom>
          <a:solidFill>
            <a:srgbClr val="B0C4D8"/>
          </a:solidFill>
          <a:ln/>
        </p:spPr>
      </p:sp>
      <p:sp>
        <p:nvSpPr>
          <p:cNvPr id="26" name="Text 23"/>
          <p:cNvSpPr/>
          <p:nvPr/>
        </p:nvSpPr>
        <p:spPr>
          <a:xfrm>
            <a:off x="3731270" y="3706713"/>
            <a:ext cx="260604" cy="822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" b="1" dirty="0">
                <a:solidFill>
                  <a:srgbClr val="0A14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LGPL</a:t>
            </a:r>
            <a:endParaRPr lang="en-US" sz="540" dirty="0"/>
          </a:p>
        </p:txBody>
      </p:sp>
      <p:sp>
        <p:nvSpPr>
          <p:cNvPr id="27" name="Text 24"/>
          <p:cNvSpPr/>
          <p:nvPr/>
        </p:nvSpPr>
        <p:spPr>
          <a:xfrm>
            <a:off x="3737521" y="3823246"/>
            <a:ext cx="228029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73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3%</a:t>
            </a:r>
            <a:endParaRPr lang="en-US" sz="473" dirty="0"/>
          </a:p>
        </p:txBody>
      </p:sp>
      <p:sp>
        <p:nvSpPr>
          <p:cNvPr id="28" name="Shape 25"/>
          <p:cNvSpPr/>
          <p:nvPr/>
        </p:nvSpPr>
        <p:spPr>
          <a:xfrm>
            <a:off x="542925" y="4034701"/>
            <a:ext cx="3646170" cy="434340"/>
          </a:xfrm>
          <a:prstGeom prst="roundRect">
            <a:avLst>
              <a:gd name="adj" fmla="val 10526"/>
            </a:avLst>
          </a:prstGeom>
          <a:solidFill>
            <a:srgbClr val="FFF4EC"/>
          </a:solidFill>
          <a:ln/>
        </p:spPr>
      </p:sp>
      <p:sp>
        <p:nvSpPr>
          <p:cNvPr id="29" name="Shape 26"/>
          <p:cNvSpPr/>
          <p:nvPr/>
        </p:nvSpPr>
        <p:spPr>
          <a:xfrm>
            <a:off x="542925" y="4034701"/>
            <a:ext cx="0" cy="434340"/>
          </a:xfrm>
          <a:prstGeom prst="line">
            <a:avLst/>
          </a:prstGeom>
          <a:noFill/>
          <a:ln w="22860">
            <a:solidFill>
              <a:srgbClr val="FF704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80085" y="4126141"/>
            <a:ext cx="251460" cy="251460"/>
          </a:xfrm>
          <a:prstGeom prst="roundRect">
            <a:avLst>
              <a:gd name="adj" fmla="val 22727"/>
            </a:avLst>
          </a:prstGeom>
          <a:solidFill>
            <a:srgbClr val="FF7043"/>
          </a:solidFill>
          <a:ln/>
          <a:effectLst>
            <a:outerShdw sx="100000" sy="100000" kx="0" ky="0" algn="bl" rotWithShape="0" blurRad="114300" dist="38100" dir="16200000">
              <a:srgbClr val="FF7043">
                <a:alpha val="3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80085" y="4126141"/>
            <a:ext cx="365760" cy="2514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-1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34415" y="4127927"/>
            <a:ext cx="3405226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-3" kern="0" dirty="0">
                <a:solidFill>
                  <a:srgbClr val="B04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模型非标准条款 · 2023 年激增</a:t>
            </a:r>
            <a:endParaRPr lang="en-US" sz="630" dirty="0"/>
          </a:p>
        </p:txBody>
      </p:sp>
      <p:sp>
        <p:nvSpPr>
          <p:cNvPr id="33" name="Text 30"/>
          <p:cNvSpPr/>
          <p:nvPr/>
        </p:nvSpPr>
        <p:spPr>
          <a:xfrm>
            <a:off x="1034415" y="4265087"/>
            <a:ext cx="3405226" cy="1107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8B5A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 3 / Mistral 等模型引入"非开源"许可，作为新变量正在撕开格局。</a:t>
            </a:r>
            <a:endParaRPr lang="en-US" sz="563" dirty="0"/>
          </a:p>
        </p:txBody>
      </p:sp>
      <p:sp>
        <p:nvSpPr>
          <p:cNvPr id="34" name="Shape 31"/>
          <p:cNvSpPr/>
          <p:nvPr/>
        </p:nvSpPr>
        <p:spPr>
          <a:xfrm>
            <a:off x="4663440" y="1357848"/>
            <a:ext cx="2005965" cy="1072991"/>
          </a:xfrm>
          <a:prstGeom prst="roundRect">
            <a:avLst>
              <a:gd name="adj" fmla="val 7457"/>
            </a:avLst>
          </a:prstGeom>
          <a:solidFill>
            <a:srgbClr val="FFFFFF"/>
          </a:solidFill>
          <a:ln w="22860">
            <a:solidFill>
              <a:srgbClr val="002FA7"/>
            </a:solidFill>
            <a:prstDash val="solid"/>
          </a:ln>
          <a:effectLst>
            <a:outerShdw sx="100000" sy="100000" kx="0" ky="0" algn="bl" rotWithShape="0" blurRad="152400" dist="38100" dir="16200000">
              <a:srgbClr val="002FA7">
                <a:alpha val="4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4817745" y="1529298"/>
            <a:ext cx="190103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41" kern="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宽松许可合计</a:t>
            </a:r>
            <a:endParaRPr lang="en-US" sz="518" dirty="0"/>
          </a:p>
        </p:txBody>
      </p:sp>
      <p:sp>
        <p:nvSpPr>
          <p:cNvPr id="36" name="Text 33"/>
          <p:cNvSpPr/>
          <p:nvPr/>
        </p:nvSpPr>
        <p:spPr>
          <a:xfrm>
            <a:off x="4817745" y="1677888"/>
            <a:ext cx="2143125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10" b="1" spc="-17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pPr algn="l" indent="0" marL="0">
              <a:lnSpc>
                <a:spcPct val="100000"/>
              </a:lnSpc>
              <a:buNone/>
            </a:pPr>
            <a:r>
              <a:rPr lang="en-US" sz="1350" b="1" spc="-17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510" dirty="0"/>
          </a:p>
        </p:txBody>
      </p:sp>
      <p:sp>
        <p:nvSpPr>
          <p:cNvPr id="37" name="Text 34"/>
          <p:cNvSpPr/>
          <p:nvPr/>
        </p:nvSpPr>
        <p:spPr>
          <a:xfrm>
            <a:off x="4817745" y="2180808"/>
            <a:ext cx="1901038" cy="1071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· Apache 2.0 · BSD</a:t>
            </a:r>
            <a:endParaRPr lang="en-US" sz="563" dirty="0"/>
          </a:p>
        </p:txBody>
      </p:sp>
      <p:sp>
        <p:nvSpPr>
          <p:cNvPr id="38" name="Shape 35"/>
          <p:cNvSpPr/>
          <p:nvPr/>
        </p:nvSpPr>
        <p:spPr>
          <a:xfrm>
            <a:off x="6772275" y="1357848"/>
            <a:ext cx="2005965" cy="1072991"/>
          </a:xfrm>
          <a:prstGeom prst="roundRect">
            <a:avLst>
              <a:gd name="adj" fmla="val 7457"/>
            </a:avLst>
          </a:prstGeom>
          <a:solidFill>
            <a:srgbClr val="FFFFFF"/>
          </a:solidFill>
          <a:ln w="22860">
            <a:solidFill>
              <a:srgbClr val="FF7043"/>
            </a:solidFill>
            <a:prstDash val="solid"/>
          </a:ln>
          <a:effectLst>
            <a:outerShdw sx="100000" sy="100000" kx="0" ky="0" algn="bl" rotWithShape="0" blurRad="152400" dist="38100" dir="16200000">
              <a:srgbClr val="002FA7">
                <a:alpha val="4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6926580" y="1529298"/>
            <a:ext cx="190103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41" kern="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新条款</a:t>
            </a:r>
            <a:endParaRPr lang="en-US" sz="518" dirty="0"/>
          </a:p>
        </p:txBody>
      </p:sp>
      <p:sp>
        <p:nvSpPr>
          <p:cNvPr id="40" name="Text 37"/>
          <p:cNvSpPr/>
          <p:nvPr/>
        </p:nvSpPr>
        <p:spPr>
          <a:xfrm>
            <a:off x="6926580" y="1677888"/>
            <a:ext cx="2143125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10" b="1" spc="-17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</a:t>
            </a:r>
            <a:endParaRPr lang="en-US" sz="3510" dirty="0"/>
          </a:p>
        </p:txBody>
      </p:sp>
      <p:sp>
        <p:nvSpPr>
          <p:cNvPr id="41" name="Text 38"/>
          <p:cNvSpPr/>
          <p:nvPr/>
        </p:nvSpPr>
        <p:spPr>
          <a:xfrm>
            <a:off x="6926580" y="2180808"/>
            <a:ext cx="1901038" cy="1071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63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激增的"非开源"许可</a:t>
            </a:r>
            <a:endParaRPr lang="en-US" sz="563" dirty="0"/>
          </a:p>
        </p:txBody>
      </p:sp>
      <p:sp>
        <p:nvSpPr>
          <p:cNvPr id="42" name="Shape 39"/>
          <p:cNvSpPr/>
          <p:nvPr/>
        </p:nvSpPr>
        <p:spPr>
          <a:xfrm>
            <a:off x="4663440" y="2556570"/>
            <a:ext cx="2023110" cy="999053"/>
          </a:xfrm>
          <a:prstGeom prst="roundRect">
            <a:avLst>
              <a:gd name="adj" fmla="val 6865"/>
            </a:avLst>
          </a:prstGeom>
          <a:solidFill>
            <a:srgbClr val="FFFFFF"/>
          </a:solidFill>
          <a:ln w="17145">
            <a:solidFill>
              <a:srgbClr val="002FA7"/>
            </a:solidFill>
            <a:prstDash val="solid"/>
          </a:ln>
          <a:effectLst>
            <a:outerShdw sx="100000" sy="100000" kx="0" ky="0" algn="bl" rotWithShape="0" blurRad="95250" dist="19050" dir="16200000">
              <a:srgbClr val="002FA7">
                <a:alpha val="3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4783455" y="2666583"/>
            <a:ext cx="14546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b="1" spc="66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73" dirty="0"/>
          </a:p>
        </p:txBody>
      </p:sp>
      <p:sp>
        <p:nvSpPr>
          <p:cNvPr id="44" name="Text 41"/>
          <p:cNvSpPr/>
          <p:nvPr/>
        </p:nvSpPr>
        <p:spPr>
          <a:xfrm>
            <a:off x="4914632" y="2653725"/>
            <a:ext cx="637312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30" b="1" spc="-3" kern="0" dirty="0">
                <a:solidFill>
                  <a:srgbClr val="0A14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宽松许可占多数</a:t>
            </a:r>
            <a:endParaRPr lang="en-US" sz="630" dirty="0"/>
          </a:p>
        </p:txBody>
      </p:sp>
      <p:sp>
        <p:nvSpPr>
          <p:cNvPr id="45" name="Text 42"/>
          <p:cNvSpPr/>
          <p:nvPr/>
        </p:nvSpPr>
        <p:spPr>
          <a:xfrm>
            <a:off x="4783455" y="2793742"/>
            <a:ext cx="2009851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MIT、Apache 2.0、BSD 长期占据 GitHub 热门仓库前 3 位。</a:t>
            </a:r>
            <a:endParaRPr lang="en-US" sz="563" dirty="0"/>
          </a:p>
        </p:txBody>
      </p:sp>
      <p:sp>
        <p:nvSpPr>
          <p:cNvPr id="46" name="Shape 43"/>
          <p:cNvSpPr/>
          <p:nvPr/>
        </p:nvSpPr>
        <p:spPr>
          <a:xfrm>
            <a:off x="4783455" y="3066633"/>
            <a:ext cx="220831" cy="108585"/>
          </a:xfrm>
          <a:prstGeom prst="roundRect">
            <a:avLst>
              <a:gd name="adj" fmla="val 52632"/>
            </a:avLst>
          </a:prstGeom>
          <a:solidFill>
            <a:srgbClr val="EEF1F8"/>
          </a:solidFill>
          <a:ln/>
        </p:spPr>
      </p:sp>
      <p:sp>
        <p:nvSpPr>
          <p:cNvPr id="47" name="Text 44"/>
          <p:cNvSpPr/>
          <p:nvPr/>
        </p:nvSpPr>
        <p:spPr>
          <a:xfrm>
            <a:off x="4783455" y="3066633"/>
            <a:ext cx="280839" cy="10858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</a:t>
            </a:r>
            <a:endParaRPr lang="en-US" sz="473" dirty="0"/>
          </a:p>
        </p:txBody>
      </p:sp>
      <p:sp>
        <p:nvSpPr>
          <p:cNvPr id="48" name="Shape 45"/>
          <p:cNvSpPr/>
          <p:nvPr/>
        </p:nvSpPr>
        <p:spPr>
          <a:xfrm>
            <a:off x="5038576" y="3066633"/>
            <a:ext cx="452110" cy="108585"/>
          </a:xfrm>
          <a:prstGeom prst="roundRect">
            <a:avLst>
              <a:gd name="adj" fmla="val 52632"/>
            </a:avLst>
          </a:prstGeom>
          <a:solidFill>
            <a:srgbClr val="EEF1F8"/>
          </a:solidFill>
          <a:ln/>
        </p:spPr>
      </p:sp>
      <p:sp>
        <p:nvSpPr>
          <p:cNvPr id="49" name="Text 46"/>
          <p:cNvSpPr/>
          <p:nvPr/>
        </p:nvSpPr>
        <p:spPr>
          <a:xfrm>
            <a:off x="5038576" y="3066633"/>
            <a:ext cx="512118" cy="10858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2.0</a:t>
            </a:r>
            <a:endParaRPr lang="en-US" sz="473" dirty="0"/>
          </a:p>
        </p:txBody>
      </p:sp>
      <p:sp>
        <p:nvSpPr>
          <p:cNvPr id="50" name="Shape 47"/>
          <p:cNvSpPr/>
          <p:nvPr/>
        </p:nvSpPr>
        <p:spPr>
          <a:xfrm>
            <a:off x="5524976" y="3066633"/>
            <a:ext cx="505956" cy="108585"/>
          </a:xfrm>
          <a:prstGeom prst="roundRect">
            <a:avLst>
              <a:gd name="adj" fmla="val 52632"/>
            </a:avLst>
          </a:prstGeom>
          <a:solidFill>
            <a:srgbClr val="EEF1F8"/>
          </a:solidFill>
          <a:ln/>
        </p:spPr>
      </p:sp>
      <p:sp>
        <p:nvSpPr>
          <p:cNvPr id="51" name="Text 48"/>
          <p:cNvSpPr/>
          <p:nvPr/>
        </p:nvSpPr>
        <p:spPr>
          <a:xfrm>
            <a:off x="5524976" y="3066633"/>
            <a:ext cx="566671" cy="10858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Top 3</a:t>
            </a:r>
            <a:endParaRPr lang="en-US" sz="473" dirty="0"/>
          </a:p>
        </p:txBody>
      </p:sp>
      <p:sp>
        <p:nvSpPr>
          <p:cNvPr id="52" name="Shape 49"/>
          <p:cNvSpPr/>
          <p:nvPr/>
        </p:nvSpPr>
        <p:spPr>
          <a:xfrm>
            <a:off x="6755130" y="2556570"/>
            <a:ext cx="2023110" cy="999053"/>
          </a:xfrm>
          <a:prstGeom prst="roundRect">
            <a:avLst>
              <a:gd name="adj" fmla="val 6865"/>
            </a:avLst>
          </a:prstGeom>
          <a:solidFill>
            <a:srgbClr val="FFFFFF"/>
          </a:solidFill>
          <a:ln w="17145">
            <a:solidFill>
              <a:srgbClr val="002FA7"/>
            </a:solidFill>
            <a:prstDash val="solid"/>
          </a:ln>
          <a:effectLst>
            <a:outerShdw sx="100000" sy="100000" kx="0" ky="0" algn="bl" rotWithShape="0" blurRad="95250" dist="19050" dir="16200000">
              <a:srgbClr val="002FA7">
                <a:alpha val="3000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6875145" y="2666583"/>
            <a:ext cx="15689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b="1" spc="66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73" dirty="0"/>
          </a:p>
        </p:txBody>
      </p:sp>
      <p:sp>
        <p:nvSpPr>
          <p:cNvPr id="54" name="Text 51"/>
          <p:cNvSpPr/>
          <p:nvPr/>
        </p:nvSpPr>
        <p:spPr>
          <a:xfrm>
            <a:off x="7017752" y="2653725"/>
            <a:ext cx="574090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30" b="1" spc="-3" kern="0" dirty="0">
                <a:solidFill>
                  <a:srgbClr val="0A14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阵营稳固</a:t>
            </a:r>
            <a:endParaRPr lang="en-US" sz="630" dirty="0"/>
          </a:p>
        </p:txBody>
      </p:sp>
      <p:sp>
        <p:nvSpPr>
          <p:cNvPr id="55" name="Text 52"/>
          <p:cNvSpPr/>
          <p:nvPr/>
        </p:nvSpPr>
        <p:spPr>
          <a:xfrm>
            <a:off x="6875145" y="2793742"/>
            <a:ext cx="2009851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Linux、WordPress、Git、GIMP 等基石项目仍以 GPL/AGPL 为底线。</a:t>
            </a:r>
            <a:endParaRPr lang="en-US" sz="563" dirty="0"/>
          </a:p>
        </p:txBody>
      </p:sp>
      <p:sp>
        <p:nvSpPr>
          <p:cNvPr id="56" name="Shape 53"/>
          <p:cNvSpPr/>
          <p:nvPr/>
        </p:nvSpPr>
        <p:spPr>
          <a:xfrm>
            <a:off x="6875145" y="3066633"/>
            <a:ext cx="263247" cy="108585"/>
          </a:xfrm>
          <a:prstGeom prst="roundRect">
            <a:avLst>
              <a:gd name="adj" fmla="val 52632"/>
            </a:avLst>
          </a:prstGeom>
          <a:solidFill>
            <a:srgbClr val="EEF1F8"/>
          </a:solidFill>
          <a:ln/>
        </p:spPr>
      </p:sp>
      <p:sp>
        <p:nvSpPr>
          <p:cNvPr id="57" name="Text 54"/>
          <p:cNvSpPr/>
          <p:nvPr/>
        </p:nvSpPr>
        <p:spPr>
          <a:xfrm>
            <a:off x="6875145" y="3066633"/>
            <a:ext cx="323255" cy="10858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</a:t>
            </a:r>
            <a:endParaRPr lang="en-US" sz="473" dirty="0"/>
          </a:p>
        </p:txBody>
      </p:sp>
      <p:sp>
        <p:nvSpPr>
          <p:cNvPr id="58" name="Shape 55"/>
          <p:cNvSpPr/>
          <p:nvPr/>
        </p:nvSpPr>
        <p:spPr>
          <a:xfrm>
            <a:off x="7172682" y="3066633"/>
            <a:ext cx="433715" cy="108585"/>
          </a:xfrm>
          <a:prstGeom prst="roundRect">
            <a:avLst>
              <a:gd name="adj" fmla="val 52632"/>
            </a:avLst>
          </a:prstGeom>
          <a:solidFill>
            <a:srgbClr val="EEF1F8"/>
          </a:solidFill>
          <a:ln/>
        </p:spPr>
      </p:sp>
      <p:sp>
        <p:nvSpPr>
          <p:cNvPr id="59" name="Text 56"/>
          <p:cNvSpPr/>
          <p:nvPr/>
        </p:nvSpPr>
        <p:spPr>
          <a:xfrm>
            <a:off x="7172682" y="3066633"/>
            <a:ext cx="493722" cy="10858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WordPress</a:t>
            </a:r>
            <a:endParaRPr lang="en-US" sz="473" dirty="0"/>
          </a:p>
        </p:txBody>
      </p:sp>
      <p:sp>
        <p:nvSpPr>
          <p:cNvPr id="60" name="Shape 57"/>
          <p:cNvSpPr/>
          <p:nvPr/>
        </p:nvSpPr>
        <p:spPr>
          <a:xfrm>
            <a:off x="7640687" y="3066633"/>
            <a:ext cx="192256" cy="108585"/>
          </a:xfrm>
          <a:prstGeom prst="roundRect">
            <a:avLst>
              <a:gd name="adj" fmla="val 52632"/>
            </a:avLst>
          </a:prstGeom>
          <a:solidFill>
            <a:srgbClr val="EEF1F8"/>
          </a:solidFill>
          <a:ln/>
        </p:spPr>
      </p:sp>
      <p:sp>
        <p:nvSpPr>
          <p:cNvPr id="61" name="Text 58"/>
          <p:cNvSpPr/>
          <p:nvPr/>
        </p:nvSpPr>
        <p:spPr>
          <a:xfrm>
            <a:off x="7640687" y="3066633"/>
            <a:ext cx="252264" cy="10858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</a:t>
            </a:r>
            <a:endParaRPr lang="en-US" sz="473" dirty="0"/>
          </a:p>
        </p:txBody>
      </p:sp>
      <p:sp>
        <p:nvSpPr>
          <p:cNvPr id="62" name="Shape 59"/>
          <p:cNvSpPr/>
          <p:nvPr/>
        </p:nvSpPr>
        <p:spPr>
          <a:xfrm>
            <a:off x="7867233" y="3066633"/>
            <a:ext cx="267712" cy="108585"/>
          </a:xfrm>
          <a:prstGeom prst="roundRect">
            <a:avLst>
              <a:gd name="adj" fmla="val 52632"/>
            </a:avLst>
          </a:prstGeom>
          <a:solidFill>
            <a:srgbClr val="EEF1F8"/>
          </a:solidFill>
          <a:ln/>
        </p:spPr>
      </p:sp>
      <p:sp>
        <p:nvSpPr>
          <p:cNvPr id="63" name="Text 60"/>
          <p:cNvSpPr/>
          <p:nvPr/>
        </p:nvSpPr>
        <p:spPr>
          <a:xfrm>
            <a:off x="7867233" y="3066633"/>
            <a:ext cx="327720" cy="10858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GIMP</a:t>
            </a:r>
            <a:endParaRPr lang="en-US" sz="473" dirty="0"/>
          </a:p>
        </p:txBody>
      </p:sp>
      <p:sp>
        <p:nvSpPr>
          <p:cNvPr id="64" name="Shape 61"/>
          <p:cNvSpPr/>
          <p:nvPr/>
        </p:nvSpPr>
        <p:spPr>
          <a:xfrm>
            <a:off x="4663440" y="3624203"/>
            <a:ext cx="2023110" cy="999143"/>
          </a:xfrm>
          <a:prstGeom prst="roundRect">
            <a:avLst>
              <a:gd name="adj" fmla="val 6864"/>
            </a:avLst>
          </a:prstGeom>
          <a:solidFill>
            <a:srgbClr val="FFFFFF"/>
          </a:solidFill>
          <a:ln w="17145">
            <a:solidFill>
              <a:srgbClr val="002FA7"/>
            </a:solidFill>
            <a:prstDash val="solid"/>
          </a:ln>
          <a:effectLst>
            <a:outerShdw sx="100000" sy="100000" kx="0" ky="0" algn="bl" rotWithShape="0" blurRad="95250" dist="19050" dir="16200000">
              <a:srgbClr val="002FA7">
                <a:alpha val="3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4783455" y="3734217"/>
            <a:ext cx="15689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b="1" spc="66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73" dirty="0"/>
          </a:p>
        </p:txBody>
      </p:sp>
      <p:sp>
        <p:nvSpPr>
          <p:cNvPr id="66" name="Text 63"/>
          <p:cNvSpPr/>
          <p:nvPr/>
        </p:nvSpPr>
        <p:spPr>
          <a:xfrm>
            <a:off x="4926062" y="3721358"/>
            <a:ext cx="709999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30" b="1" spc="-3" kern="0" dirty="0">
                <a:solidFill>
                  <a:srgbClr val="0A14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企业偏好 Apache</a:t>
            </a:r>
            <a:endParaRPr lang="en-US" sz="630" dirty="0"/>
          </a:p>
        </p:txBody>
      </p:sp>
      <p:sp>
        <p:nvSpPr>
          <p:cNvPr id="67" name="Text 64"/>
          <p:cNvSpPr/>
          <p:nvPr/>
        </p:nvSpPr>
        <p:spPr>
          <a:xfrm>
            <a:off x="4783455" y="3861375"/>
            <a:ext cx="2009851" cy="1107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专利授权条款让 Apache 2.0 成为科技公司默认选择。</a:t>
            </a:r>
            <a:endParaRPr lang="en-US" sz="563" dirty="0"/>
          </a:p>
        </p:txBody>
      </p:sp>
      <p:sp>
        <p:nvSpPr>
          <p:cNvPr id="68" name="Shape 65"/>
          <p:cNvSpPr/>
          <p:nvPr/>
        </p:nvSpPr>
        <p:spPr>
          <a:xfrm>
            <a:off x="4783455" y="4023539"/>
            <a:ext cx="336292" cy="120015"/>
          </a:xfrm>
          <a:prstGeom prst="roundRect">
            <a:avLst>
              <a:gd name="adj" fmla="val 47619"/>
            </a:avLst>
          </a:prstGeom>
          <a:solidFill>
            <a:srgbClr val="EEF1F8"/>
          </a:solidFill>
          <a:ln/>
        </p:spPr>
      </p:sp>
      <p:sp>
        <p:nvSpPr>
          <p:cNvPr id="69" name="Text 66"/>
          <p:cNvSpPr/>
          <p:nvPr/>
        </p:nvSpPr>
        <p:spPr>
          <a:xfrm>
            <a:off x="4783455" y="4023539"/>
            <a:ext cx="396300" cy="12001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专利授权</a:t>
            </a:r>
            <a:endParaRPr lang="en-US" sz="473" dirty="0"/>
          </a:p>
        </p:txBody>
      </p:sp>
      <p:sp>
        <p:nvSpPr>
          <p:cNvPr id="70" name="Shape 67"/>
          <p:cNvSpPr/>
          <p:nvPr/>
        </p:nvSpPr>
        <p:spPr>
          <a:xfrm>
            <a:off x="5154037" y="4023539"/>
            <a:ext cx="336292" cy="120015"/>
          </a:xfrm>
          <a:prstGeom prst="roundRect">
            <a:avLst>
              <a:gd name="adj" fmla="val 47619"/>
            </a:avLst>
          </a:prstGeom>
          <a:solidFill>
            <a:srgbClr val="EEF1F8"/>
          </a:solidFill>
          <a:ln/>
        </p:spPr>
      </p:sp>
      <p:sp>
        <p:nvSpPr>
          <p:cNvPr id="71" name="Text 68"/>
          <p:cNvSpPr/>
          <p:nvPr/>
        </p:nvSpPr>
        <p:spPr>
          <a:xfrm>
            <a:off x="5154037" y="4023539"/>
            <a:ext cx="396300" cy="12001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企业首选</a:t>
            </a:r>
            <a:endParaRPr lang="en-US" sz="473" dirty="0"/>
          </a:p>
        </p:txBody>
      </p:sp>
      <p:sp>
        <p:nvSpPr>
          <p:cNvPr id="72" name="Shape 69"/>
          <p:cNvSpPr/>
          <p:nvPr/>
        </p:nvSpPr>
        <p:spPr>
          <a:xfrm>
            <a:off x="6755130" y="3624203"/>
            <a:ext cx="2023110" cy="999143"/>
          </a:xfrm>
          <a:prstGeom prst="roundRect">
            <a:avLst>
              <a:gd name="adj" fmla="val 6864"/>
            </a:avLst>
          </a:prstGeom>
          <a:solidFill>
            <a:srgbClr val="FFFFFF"/>
          </a:solidFill>
          <a:ln w="17145">
            <a:solidFill>
              <a:srgbClr val="FF7043"/>
            </a:solidFill>
            <a:prstDash val="solid"/>
          </a:ln>
          <a:effectLst>
            <a:outerShdw sx="100000" sy="100000" kx="0" ky="0" algn="bl" rotWithShape="0" blurRad="95250" dist="19050" dir="16200000">
              <a:srgbClr val="002FA7">
                <a:alpha val="3000"/>
              </a:srgbClr>
            </a:outerShdw>
          </a:effectLst>
        </p:spPr>
      </p:sp>
      <p:sp>
        <p:nvSpPr>
          <p:cNvPr id="73" name="Text 70"/>
          <p:cNvSpPr/>
          <p:nvPr/>
        </p:nvSpPr>
        <p:spPr>
          <a:xfrm>
            <a:off x="6875145" y="3734217"/>
            <a:ext cx="15689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b="1" spc="66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473" dirty="0"/>
          </a:p>
        </p:txBody>
      </p:sp>
      <p:sp>
        <p:nvSpPr>
          <p:cNvPr id="74" name="Text 71"/>
          <p:cNvSpPr/>
          <p:nvPr/>
        </p:nvSpPr>
        <p:spPr>
          <a:xfrm>
            <a:off x="7017752" y="3721358"/>
            <a:ext cx="494437" cy="1000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30" b="1" spc="-3" kern="0" dirty="0">
                <a:solidFill>
                  <a:srgbClr val="0A14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时代分化</a:t>
            </a:r>
            <a:endParaRPr lang="en-US" sz="630" dirty="0"/>
          </a:p>
        </p:txBody>
      </p:sp>
      <p:sp>
        <p:nvSpPr>
          <p:cNvPr id="75" name="Text 72"/>
          <p:cNvSpPr/>
          <p:nvPr/>
        </p:nvSpPr>
        <p:spPr>
          <a:xfrm>
            <a:off x="6875145" y="3861375"/>
            <a:ext cx="2009851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LLaMA、Mistral 等新模型引入非标准"开源"条款，Copyleft 面临新争议。</a:t>
            </a:r>
            <a:endParaRPr lang="en-US" sz="563" dirty="0"/>
          </a:p>
        </p:txBody>
      </p:sp>
      <p:sp>
        <p:nvSpPr>
          <p:cNvPr id="76" name="Shape 73"/>
          <p:cNvSpPr/>
          <p:nvPr/>
        </p:nvSpPr>
        <p:spPr>
          <a:xfrm>
            <a:off x="6875145" y="4134267"/>
            <a:ext cx="374243" cy="108585"/>
          </a:xfrm>
          <a:prstGeom prst="roundRect">
            <a:avLst>
              <a:gd name="adj" fmla="val 52632"/>
            </a:avLst>
          </a:prstGeom>
          <a:solidFill>
            <a:srgbClr val="FFE0D1"/>
          </a:solidFill>
          <a:ln/>
        </p:spPr>
      </p:sp>
      <p:sp>
        <p:nvSpPr>
          <p:cNvPr id="77" name="Text 74"/>
          <p:cNvSpPr/>
          <p:nvPr/>
        </p:nvSpPr>
        <p:spPr>
          <a:xfrm>
            <a:off x="6875145" y="4134267"/>
            <a:ext cx="434251" cy="10858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9" kern="0" dirty="0">
                <a:solidFill>
                  <a:srgbClr val="B04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 3</a:t>
            </a:r>
            <a:endParaRPr lang="en-US" sz="473" dirty="0"/>
          </a:p>
        </p:txBody>
      </p:sp>
      <p:sp>
        <p:nvSpPr>
          <p:cNvPr id="78" name="Shape 75"/>
          <p:cNvSpPr/>
          <p:nvPr/>
        </p:nvSpPr>
        <p:spPr>
          <a:xfrm>
            <a:off x="7283678" y="4134267"/>
            <a:ext cx="317093" cy="108585"/>
          </a:xfrm>
          <a:prstGeom prst="roundRect">
            <a:avLst>
              <a:gd name="adj" fmla="val 52632"/>
            </a:avLst>
          </a:prstGeom>
          <a:solidFill>
            <a:srgbClr val="FFE0D1"/>
          </a:solidFill>
          <a:ln/>
        </p:spPr>
      </p:sp>
      <p:sp>
        <p:nvSpPr>
          <p:cNvPr id="79" name="Text 76"/>
          <p:cNvSpPr/>
          <p:nvPr/>
        </p:nvSpPr>
        <p:spPr>
          <a:xfrm>
            <a:off x="7283678" y="4134267"/>
            <a:ext cx="377101" cy="10858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9" kern="0" dirty="0">
                <a:solidFill>
                  <a:srgbClr val="B04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Mistral</a:t>
            </a:r>
            <a:endParaRPr lang="en-US" sz="473" dirty="0"/>
          </a:p>
        </p:txBody>
      </p:sp>
      <p:sp>
        <p:nvSpPr>
          <p:cNvPr id="80" name="Shape 77"/>
          <p:cNvSpPr/>
          <p:nvPr/>
        </p:nvSpPr>
        <p:spPr>
          <a:xfrm>
            <a:off x="7635061" y="4134267"/>
            <a:ext cx="267712" cy="108585"/>
          </a:xfrm>
          <a:prstGeom prst="roundRect">
            <a:avLst>
              <a:gd name="adj" fmla="val 52632"/>
            </a:avLst>
          </a:prstGeom>
          <a:solidFill>
            <a:srgbClr val="FFE0D1"/>
          </a:solidFill>
          <a:ln/>
        </p:spPr>
      </p:sp>
      <p:sp>
        <p:nvSpPr>
          <p:cNvPr id="81" name="Text 78"/>
          <p:cNvSpPr/>
          <p:nvPr/>
        </p:nvSpPr>
        <p:spPr>
          <a:xfrm>
            <a:off x="7635061" y="4134267"/>
            <a:ext cx="327720" cy="10858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spc="9" kern="0" dirty="0">
                <a:solidFill>
                  <a:srgbClr val="B04A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</a:t>
            </a:r>
            <a:endParaRPr lang="en-US" sz="473" dirty="0"/>
          </a:p>
        </p:txBody>
      </p:sp>
      <p:sp>
        <p:nvSpPr>
          <p:cNvPr id="82" name="Shape 79"/>
          <p:cNvSpPr/>
          <p:nvPr/>
        </p:nvSpPr>
        <p:spPr>
          <a:xfrm>
            <a:off x="365760" y="4771936"/>
            <a:ext cx="8412480" cy="302895"/>
          </a:xfrm>
          <a:prstGeom prst="roundRect">
            <a:avLst>
              <a:gd name="adj" fmla="val 22642"/>
            </a:avLst>
          </a:prstGeom>
          <a:solidFill>
            <a:srgbClr val="002FA7"/>
          </a:solidFill>
          <a:ln/>
          <a:effectLst>
            <a:outerShdw sx="100000" sy="100000" kx="0" ky="0" algn="bl" rotWithShape="0" blurRad="190500" dist="57150" dir="16200000">
              <a:srgbClr val="002FA7">
                <a:alpha val="22000"/>
              </a:srgbClr>
            </a:outerShdw>
          </a:effectLst>
        </p:spPr>
      </p:sp>
      <p:sp>
        <p:nvSpPr>
          <p:cNvPr id="83" name="Text 80"/>
          <p:cNvSpPr/>
          <p:nvPr/>
        </p:nvSpPr>
        <p:spPr>
          <a:xfrm>
            <a:off x="502920" y="4880521"/>
            <a:ext cx="1127841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53" b="1" spc="-1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+ Apache 合计约 62%</a:t>
            </a:r>
            <a:endParaRPr lang="en-US" sz="653" dirty="0"/>
          </a:p>
        </p:txBody>
      </p:sp>
      <p:sp>
        <p:nvSpPr>
          <p:cNvPr id="84" name="Shape 81"/>
          <p:cNvSpPr/>
          <p:nvPr/>
        </p:nvSpPr>
        <p:spPr>
          <a:xfrm>
            <a:off x="1590824" y="4920794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85" name="Text 82"/>
          <p:cNvSpPr/>
          <p:nvPr/>
        </p:nvSpPr>
        <p:spPr>
          <a:xfrm>
            <a:off x="1706017" y="4880521"/>
            <a:ext cx="96062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53" b="1" spc="-1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 系合计约 14%</a:t>
            </a:r>
            <a:endParaRPr lang="en-US" sz="653" dirty="0"/>
          </a:p>
        </p:txBody>
      </p:sp>
      <p:sp>
        <p:nvSpPr>
          <p:cNvPr id="86" name="Shape 83"/>
          <p:cNvSpPr/>
          <p:nvPr/>
        </p:nvSpPr>
        <p:spPr>
          <a:xfrm>
            <a:off x="2644616" y="4920794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87" name="Text 84"/>
          <p:cNvSpPr/>
          <p:nvPr/>
        </p:nvSpPr>
        <p:spPr>
          <a:xfrm>
            <a:off x="2759809" y="4880521"/>
            <a:ext cx="1140543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3" spc="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剩余空间正被</a:t>
            </a:r>
            <a:pPr algn="l" indent="0" marL="0">
              <a:buNone/>
            </a:pPr>
            <a:r>
              <a:rPr lang="en-US" sz="653" b="1" spc="7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新条款</a:t>
            </a:r>
            <a:pPr algn="l" indent="0" marL="0">
              <a:buNone/>
            </a:pPr>
            <a:r>
              <a:rPr lang="en-US" sz="653" spc="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占据</a:t>
            </a:r>
            <a:endParaRPr lang="en-US" sz="653" dirty="0"/>
          </a:p>
        </p:txBody>
      </p:sp>
      <p:sp>
        <p:nvSpPr>
          <p:cNvPr id="88" name="Text 85"/>
          <p:cNvSpPr/>
          <p:nvPr/>
        </p:nvSpPr>
        <p:spPr>
          <a:xfrm>
            <a:off x="7902684" y="4880521"/>
            <a:ext cx="82700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76" kern="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SENSENOVA · 数据页</a:t>
            </a:r>
            <a:endParaRPr lang="en-US" sz="47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00300" y="742950"/>
            <a:ext cx="5257800" cy="2971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62990"/>
            <a:ext cx="4864626" cy="14401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600" b="1" spc="252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包容</a:t>
            </a:r>
            <a:endParaRPr lang="en-US" sz="12600" dirty="0"/>
          </a:p>
        </p:txBody>
      </p:sp>
      <p:sp>
        <p:nvSpPr>
          <p:cNvPr id="4" name="Shape 1"/>
          <p:cNvSpPr/>
          <p:nvPr/>
        </p:nvSpPr>
        <p:spPr>
          <a:xfrm>
            <a:off x="457200" y="371475"/>
            <a:ext cx="194310" cy="8573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320040"/>
            <a:ext cx="192256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b="1" spc="82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85" dirty="0"/>
          </a:p>
        </p:txBody>
      </p:sp>
      <p:sp>
        <p:nvSpPr>
          <p:cNvPr id="6" name="Text 3"/>
          <p:cNvSpPr/>
          <p:nvPr/>
        </p:nvSpPr>
        <p:spPr>
          <a:xfrm>
            <a:off x="929491" y="324326"/>
            <a:ext cx="486757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130" kern="0" dirty="0">
                <a:solidFill>
                  <a:srgbClr val="7A7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</a:t>
            </a:r>
            <a:endParaRPr lang="en-US" sz="540" dirty="0"/>
          </a:p>
        </p:txBody>
      </p:sp>
      <p:sp>
        <p:nvSpPr>
          <p:cNvPr id="7" name="Text 4"/>
          <p:cNvSpPr/>
          <p:nvPr/>
        </p:nvSpPr>
        <p:spPr>
          <a:xfrm>
            <a:off x="7071241" y="328613"/>
            <a:ext cx="855707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89" kern="0" dirty="0">
                <a:solidFill>
                  <a:srgbClr val="7A7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TO INCLUDE</a:t>
            </a:r>
            <a:endParaRPr lang="en-US" sz="495" dirty="0"/>
          </a:p>
        </p:txBody>
      </p:sp>
      <p:sp>
        <p:nvSpPr>
          <p:cNvPr id="8" name="Shape 5"/>
          <p:cNvSpPr/>
          <p:nvPr/>
        </p:nvSpPr>
        <p:spPr>
          <a:xfrm>
            <a:off x="7915275" y="372904"/>
            <a:ext cx="194310" cy="5715"/>
          </a:xfrm>
          <a:prstGeom prst="rect">
            <a:avLst/>
          </a:prstGeom>
          <a:solidFill>
            <a:srgbClr val="7A7A85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189595" y="328613"/>
            <a:ext cx="560070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89" kern="0" dirty="0">
                <a:solidFill>
                  <a:srgbClr val="7A7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2018 → 2021</a:t>
            </a:r>
            <a:endParaRPr lang="en-US" sz="495" dirty="0"/>
          </a:p>
        </p:txBody>
      </p:sp>
      <p:sp>
        <p:nvSpPr>
          <p:cNvPr id="10" name="Text 7"/>
          <p:cNvSpPr/>
          <p:nvPr/>
        </p:nvSpPr>
        <p:spPr>
          <a:xfrm>
            <a:off x="457200" y="628650"/>
            <a:ext cx="1905738" cy="17823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70" spc="23" kern="0" dirty="0">
                <a:solidFill>
                  <a:srgbClr val="0F0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包容权的兴起</a:t>
            </a:r>
            <a:endParaRPr lang="en-US" sz="1170" dirty="0"/>
          </a:p>
        </p:txBody>
      </p:sp>
      <p:sp>
        <p:nvSpPr>
          <p:cNvPr id="11" name="Text 8"/>
          <p:cNvSpPr/>
          <p:nvPr/>
        </p:nvSpPr>
        <p:spPr>
          <a:xfrm>
            <a:off x="457200" y="864037"/>
            <a:ext cx="190573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spc="5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to Include · 把"谁被包含"写进许可证</a:t>
            </a:r>
            <a:endParaRPr lang="en-US" sz="630" dirty="0"/>
          </a:p>
        </p:txBody>
      </p:sp>
      <p:sp>
        <p:nvSpPr>
          <p:cNvPr id="12" name="Shape 9"/>
          <p:cNvSpPr/>
          <p:nvPr/>
        </p:nvSpPr>
        <p:spPr>
          <a:xfrm>
            <a:off x="457200" y="1075492"/>
            <a:ext cx="320040" cy="14288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3" name="Text 10"/>
          <p:cNvSpPr/>
          <p:nvPr/>
        </p:nvSpPr>
        <p:spPr>
          <a:xfrm>
            <a:off x="2971800" y="2731770"/>
            <a:ext cx="3584448" cy="2921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698" spc="14" kern="0" dirty="0">
                <a:solidFill>
                  <a:srgbClr val="0F0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如果说</a:t>
            </a:r>
            <a:pPr algn="ctr" indent="0" marL="0">
              <a:lnSpc>
                <a:spcPct val="165000"/>
              </a:lnSpc>
              <a:buNone/>
            </a:pPr>
            <a:r>
              <a:rPr lang="en-US" sz="698" b="1" spc="14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</a:t>
            </a:r>
            <a:pPr algn="ctr" indent="0" marL="0">
              <a:lnSpc>
                <a:spcPct val="165000"/>
              </a:lnSpc>
              <a:buNone/>
            </a:pPr>
            <a:r>
              <a:rPr lang="en-US" sz="698" spc="14" kern="0" dirty="0">
                <a:solidFill>
                  <a:srgbClr val="0F0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回答了</a:t>
            </a:r>
            <a:pPr algn="ctr" indent="0" marL="0">
              <a:lnSpc>
                <a:spcPct val="165000"/>
              </a:lnSpc>
              <a:buNone/>
            </a:pPr>
            <a:r>
              <a:rPr lang="en-US" sz="698" b="1" spc="14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"代码如何保持自由"</a:t>
            </a:r>
            <a:pPr algn="ctr" indent="0" marL="0">
              <a:lnSpc>
                <a:spcPct val="165000"/>
              </a:lnSpc>
              <a:buNone/>
            </a:pPr>
            <a:r>
              <a:rPr lang="en-US" sz="698" spc="14" kern="0" dirty="0">
                <a:solidFill>
                  <a:srgbClr val="0F0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，R2I 则进一步追问</a:t>
            </a:r>
            <a:pPr algn="ctr" indent="0" marL="0">
              <a:lnSpc>
                <a:spcPct val="165000"/>
              </a:lnSpc>
              <a:buNone/>
            </a:pPr>
            <a:r>
              <a:rPr lang="en-US" sz="698" b="1" spc="14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"人如何被公平地包含"</a:t>
            </a:r>
            <a:pPr algn="ctr" indent="0" marL="0">
              <a:lnSpc>
                <a:spcPct val="165000"/>
              </a:lnSpc>
              <a:buNone/>
            </a:pPr>
            <a:r>
              <a:rPr lang="en-US" sz="698" spc="14" kern="0" dirty="0">
                <a:solidFill>
                  <a:srgbClr val="0F0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98" dirty="0"/>
          </a:p>
        </p:txBody>
      </p:sp>
      <p:sp>
        <p:nvSpPr>
          <p:cNvPr id="14" name="Text 11"/>
          <p:cNvSpPr/>
          <p:nvPr/>
        </p:nvSpPr>
        <p:spPr>
          <a:xfrm>
            <a:off x="1371600" y="3314700"/>
            <a:ext cx="825246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10" b="1" spc="34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2018</a:t>
            </a:r>
            <a:endParaRPr lang="en-US" sz="1710" dirty="0"/>
          </a:p>
        </p:txBody>
      </p:sp>
      <p:sp>
        <p:nvSpPr>
          <p:cNvPr id="15" name="Shape 12"/>
          <p:cNvSpPr/>
          <p:nvPr/>
        </p:nvSpPr>
        <p:spPr>
          <a:xfrm>
            <a:off x="1394460" y="3600450"/>
            <a:ext cx="40005" cy="4000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6" name="Text 13"/>
          <p:cNvSpPr/>
          <p:nvPr/>
        </p:nvSpPr>
        <p:spPr>
          <a:xfrm>
            <a:off x="1371600" y="3697605"/>
            <a:ext cx="377458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spc="12" kern="0" dirty="0">
                <a:solidFill>
                  <a:srgbClr val="0F0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提案发起</a:t>
            </a:r>
            <a:endParaRPr lang="en-US" sz="585" dirty="0"/>
          </a:p>
        </p:txBody>
      </p:sp>
      <p:sp>
        <p:nvSpPr>
          <p:cNvPr id="17" name="Text 14"/>
          <p:cNvSpPr/>
          <p:nvPr/>
        </p:nvSpPr>
        <p:spPr>
          <a:xfrm>
            <a:off x="1371600" y="3831908"/>
            <a:ext cx="1807426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11" kern="0" dirty="0">
                <a:solidFill>
                  <a:srgbClr val="7A7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Ethan Marcotte 团队发布《Right to Include》初稿</a:t>
            </a:r>
            <a:endParaRPr lang="en-US" sz="540" dirty="0"/>
          </a:p>
        </p:txBody>
      </p:sp>
      <p:sp>
        <p:nvSpPr>
          <p:cNvPr id="18" name="Text 15"/>
          <p:cNvSpPr/>
          <p:nvPr/>
        </p:nvSpPr>
        <p:spPr>
          <a:xfrm>
            <a:off x="5829300" y="3314700"/>
            <a:ext cx="825246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10" b="1" spc="34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</a:t>
            </a:r>
            <a:endParaRPr lang="en-US" sz="1710" dirty="0"/>
          </a:p>
        </p:txBody>
      </p:sp>
      <p:sp>
        <p:nvSpPr>
          <p:cNvPr id="19" name="Shape 16"/>
          <p:cNvSpPr/>
          <p:nvPr/>
        </p:nvSpPr>
        <p:spPr>
          <a:xfrm>
            <a:off x="5852160" y="3600450"/>
            <a:ext cx="40005" cy="4000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20" name="Text 17"/>
          <p:cNvSpPr/>
          <p:nvPr/>
        </p:nvSpPr>
        <p:spPr>
          <a:xfrm>
            <a:off x="5829300" y="3697605"/>
            <a:ext cx="497741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spc="12" kern="0" dirty="0">
                <a:solidFill>
                  <a:srgbClr val="0F0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规范 v1 发布</a:t>
            </a:r>
            <a:endParaRPr lang="en-US" sz="585" dirty="0"/>
          </a:p>
        </p:txBody>
      </p:sp>
      <p:sp>
        <p:nvSpPr>
          <p:cNvPr id="21" name="Text 18"/>
          <p:cNvSpPr/>
          <p:nvPr/>
        </p:nvSpPr>
        <p:spPr>
          <a:xfrm>
            <a:off x="5829300" y="3831908"/>
            <a:ext cx="1628704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11" kern="0" dirty="0">
                <a:solidFill>
                  <a:srgbClr val="7A7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righttoinclude.org 上线，多家基金会加入试点</a:t>
            </a:r>
            <a:endParaRPr lang="en-US" sz="540" dirty="0"/>
          </a:p>
        </p:txBody>
      </p:sp>
      <p:sp>
        <p:nvSpPr>
          <p:cNvPr id="22" name="Shape 19"/>
          <p:cNvSpPr/>
          <p:nvPr/>
        </p:nvSpPr>
        <p:spPr>
          <a:xfrm>
            <a:off x="457200" y="3947100"/>
            <a:ext cx="2659350" cy="830640"/>
          </a:xfrm>
          <a:prstGeom prst="rect">
            <a:avLst/>
          </a:prstGeom>
          <a:solidFill>
            <a:srgbClr val="FFFFFF"/>
          </a:solidFill>
          <a:ln w="5715">
            <a:solidFill>
              <a:srgbClr val="E3E3E8"/>
            </a:solidFill>
            <a:prstDash val="solid"/>
          </a:ln>
          <a:effectLst>
            <a:outerShdw sx="100000" sy="100000" kx="0" ky="0" algn="bl" rotWithShape="0" blurRad="101600" dist="9525" dir="16200000">
              <a:srgbClr val="002FA7">
                <a:alpha val="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3947100"/>
            <a:ext cx="194310" cy="14288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24" name="Shape 21"/>
          <p:cNvSpPr/>
          <p:nvPr/>
        </p:nvSpPr>
        <p:spPr>
          <a:xfrm>
            <a:off x="600075" y="4078545"/>
            <a:ext cx="102870" cy="102870"/>
          </a:xfrm>
          <a:prstGeom prst="roundRect">
            <a:avLst>
              <a:gd name="adj" fmla="val 11111"/>
            </a:avLst>
          </a:prstGeom>
          <a:solidFill>
            <a:srgbClr val="002FA7"/>
          </a:solidFill>
          <a:ln/>
        </p:spPr>
      </p:sp>
      <p:sp>
        <p:nvSpPr>
          <p:cNvPr id="25" name="Text 22"/>
          <p:cNvSpPr/>
          <p:nvPr/>
        </p:nvSpPr>
        <p:spPr>
          <a:xfrm>
            <a:off x="600075" y="4078545"/>
            <a:ext cx="15430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0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05" dirty="0"/>
          </a:p>
        </p:txBody>
      </p:sp>
      <p:sp>
        <p:nvSpPr>
          <p:cNvPr id="26" name="Text 23"/>
          <p:cNvSpPr/>
          <p:nvPr/>
        </p:nvSpPr>
        <p:spPr>
          <a:xfrm>
            <a:off x="748665" y="4084975"/>
            <a:ext cx="947118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b="1" spc="104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新议程 / NEW AGENDA</a:t>
            </a:r>
            <a:endParaRPr lang="en-US" sz="473" dirty="0"/>
          </a:p>
        </p:txBody>
      </p:sp>
      <p:sp>
        <p:nvSpPr>
          <p:cNvPr id="27" name="Text 24"/>
          <p:cNvSpPr/>
          <p:nvPr/>
        </p:nvSpPr>
        <p:spPr>
          <a:xfrm>
            <a:off x="600075" y="4238565"/>
            <a:ext cx="2658432" cy="126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65" b="1" spc="1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2018</a:t>
            </a:r>
            <a:pPr algn="l" indent="0" marL="0">
              <a:lnSpc>
                <a:spcPct val="130000"/>
              </a:lnSpc>
              <a:buNone/>
            </a:pPr>
            <a:r>
              <a:rPr lang="en-US" sz="765" b="1" spc="15" kern="0" dirty="0">
                <a:solidFill>
                  <a:srgbClr val="0F0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挑战 Copyleft 的局限</a:t>
            </a:r>
            <a:endParaRPr lang="en-US" sz="765" dirty="0"/>
          </a:p>
        </p:txBody>
      </p:sp>
      <p:sp>
        <p:nvSpPr>
          <p:cNvPr id="28" name="Text 25"/>
          <p:cNvSpPr/>
          <p:nvPr/>
        </p:nvSpPr>
        <p:spPr>
          <a:xfrm>
            <a:off x="600075" y="4410551"/>
            <a:ext cx="2658432" cy="235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63" spc="11" kern="0" dirty="0">
                <a:solidFill>
                  <a:srgbClr val="4A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Ethan Marcotte 等人发起 R2I 提案，指出 Copyleft 只关心"代码"本身，却忽略"人如何参与"。</a:t>
            </a:r>
            <a:endParaRPr lang="en-US" sz="563" dirty="0"/>
          </a:p>
        </p:txBody>
      </p:sp>
      <p:sp>
        <p:nvSpPr>
          <p:cNvPr id="29" name="Shape 26"/>
          <p:cNvSpPr/>
          <p:nvPr/>
        </p:nvSpPr>
        <p:spPr>
          <a:xfrm>
            <a:off x="3242280" y="3947100"/>
            <a:ext cx="2659350" cy="830640"/>
          </a:xfrm>
          <a:prstGeom prst="rect">
            <a:avLst/>
          </a:prstGeom>
          <a:solidFill>
            <a:srgbClr val="FFFFFF"/>
          </a:solidFill>
          <a:ln w="5715">
            <a:solidFill>
              <a:srgbClr val="E3E3E8"/>
            </a:solidFill>
            <a:prstDash val="solid"/>
          </a:ln>
          <a:effectLst>
            <a:outerShdw sx="100000" sy="100000" kx="0" ky="0" algn="bl" rotWithShape="0" blurRad="101600" dist="9525" dir="16200000">
              <a:srgbClr val="002FA7">
                <a:alpha val="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242280" y="3947100"/>
            <a:ext cx="194310" cy="14288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31" name="Shape 28"/>
          <p:cNvSpPr/>
          <p:nvPr/>
        </p:nvSpPr>
        <p:spPr>
          <a:xfrm>
            <a:off x="3385155" y="4078545"/>
            <a:ext cx="102870" cy="102870"/>
          </a:xfrm>
          <a:prstGeom prst="roundRect">
            <a:avLst>
              <a:gd name="adj" fmla="val 11111"/>
            </a:avLst>
          </a:prstGeom>
          <a:solidFill>
            <a:srgbClr val="002FA7"/>
          </a:solidFill>
          <a:ln/>
        </p:spPr>
      </p:sp>
      <p:sp>
        <p:nvSpPr>
          <p:cNvPr id="32" name="Text 29"/>
          <p:cNvSpPr/>
          <p:nvPr/>
        </p:nvSpPr>
        <p:spPr>
          <a:xfrm>
            <a:off x="3385155" y="4078545"/>
            <a:ext cx="15430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0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05" dirty="0"/>
          </a:p>
        </p:txBody>
      </p:sp>
      <p:sp>
        <p:nvSpPr>
          <p:cNvPr id="33" name="Text 30"/>
          <p:cNvSpPr/>
          <p:nvPr/>
        </p:nvSpPr>
        <p:spPr>
          <a:xfrm>
            <a:off x="3533745" y="4084975"/>
            <a:ext cx="1015127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b="1" spc="104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核心命题 / CORE THESIS</a:t>
            </a:r>
            <a:endParaRPr lang="en-US" sz="473" dirty="0"/>
          </a:p>
        </p:txBody>
      </p:sp>
      <p:sp>
        <p:nvSpPr>
          <p:cNvPr id="34" name="Text 31"/>
          <p:cNvSpPr/>
          <p:nvPr/>
        </p:nvSpPr>
        <p:spPr>
          <a:xfrm>
            <a:off x="3385155" y="4238565"/>
            <a:ext cx="2658432" cy="12626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65" spc="15" kern="0" dirty="0">
                <a:solidFill>
                  <a:srgbClr val="0F0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共享代码，也要共享责任</a:t>
            </a:r>
            <a:endParaRPr lang="en-US" sz="765" dirty="0"/>
          </a:p>
        </p:txBody>
      </p:sp>
      <p:sp>
        <p:nvSpPr>
          <p:cNvPr id="35" name="Text 32"/>
          <p:cNvSpPr/>
          <p:nvPr/>
        </p:nvSpPr>
        <p:spPr>
          <a:xfrm>
            <a:off x="3385155" y="4410551"/>
            <a:ext cx="2658432" cy="235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63" spc="11" kern="0" dirty="0">
                <a:solidFill>
                  <a:srgbClr val="4A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开源不只共享代码，更要共享对可访问、可持续、跨地域社区的责任——"谁被包含"必须写进许可证。</a:t>
            </a:r>
            <a:endParaRPr lang="en-US" sz="563" dirty="0"/>
          </a:p>
        </p:txBody>
      </p:sp>
      <p:sp>
        <p:nvSpPr>
          <p:cNvPr id="36" name="Shape 33"/>
          <p:cNvSpPr/>
          <p:nvPr/>
        </p:nvSpPr>
        <p:spPr>
          <a:xfrm>
            <a:off x="6027360" y="3947100"/>
            <a:ext cx="2659440" cy="830640"/>
          </a:xfrm>
          <a:prstGeom prst="rect">
            <a:avLst/>
          </a:prstGeom>
          <a:solidFill>
            <a:srgbClr val="FFFFFF"/>
          </a:solidFill>
          <a:ln w="5715">
            <a:solidFill>
              <a:srgbClr val="E3E3E8"/>
            </a:solidFill>
            <a:prstDash val="solid"/>
          </a:ln>
          <a:effectLst>
            <a:outerShdw sx="100000" sy="100000" kx="0" ky="0" algn="bl" rotWithShape="0" blurRad="101600" dist="9525" dir="16200000">
              <a:srgbClr val="002FA7">
                <a:alpha val="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027360" y="3947100"/>
            <a:ext cx="194310" cy="14288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38" name="Shape 35"/>
          <p:cNvSpPr/>
          <p:nvPr/>
        </p:nvSpPr>
        <p:spPr>
          <a:xfrm>
            <a:off x="6170235" y="4078545"/>
            <a:ext cx="102870" cy="102870"/>
          </a:xfrm>
          <a:prstGeom prst="roundRect">
            <a:avLst>
              <a:gd name="adj" fmla="val 11111"/>
            </a:avLst>
          </a:prstGeom>
          <a:solidFill>
            <a:srgbClr val="002FA7"/>
          </a:solidFill>
          <a:ln/>
        </p:spPr>
      </p:sp>
      <p:sp>
        <p:nvSpPr>
          <p:cNvPr id="39" name="Text 36"/>
          <p:cNvSpPr/>
          <p:nvPr/>
        </p:nvSpPr>
        <p:spPr>
          <a:xfrm>
            <a:off x="6170235" y="4078545"/>
            <a:ext cx="15430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0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05" dirty="0"/>
          </a:p>
        </p:txBody>
      </p:sp>
      <p:sp>
        <p:nvSpPr>
          <p:cNvPr id="40" name="Text 37"/>
          <p:cNvSpPr/>
          <p:nvPr/>
        </p:nvSpPr>
        <p:spPr>
          <a:xfrm>
            <a:off x="6318825" y="4084975"/>
            <a:ext cx="861908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b="1" spc="104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落地时间 / DELIVERY</a:t>
            </a:r>
            <a:endParaRPr lang="en-US" sz="473" dirty="0"/>
          </a:p>
        </p:txBody>
      </p:sp>
      <p:sp>
        <p:nvSpPr>
          <p:cNvPr id="41" name="Text 38"/>
          <p:cNvSpPr/>
          <p:nvPr/>
        </p:nvSpPr>
        <p:spPr>
          <a:xfrm>
            <a:off x="6170235" y="4238565"/>
            <a:ext cx="2658532" cy="126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65" b="1" spc="15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</a:t>
            </a:r>
            <a:pPr algn="l" indent="0" marL="0">
              <a:lnSpc>
                <a:spcPct val="130000"/>
              </a:lnSpc>
              <a:buNone/>
            </a:pPr>
            <a:r>
              <a:rPr lang="en-US" sz="765" b="1" spc="15" kern="0" dirty="0">
                <a:solidFill>
                  <a:srgbClr val="0F0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官网与规范草案上线</a:t>
            </a:r>
            <a:endParaRPr lang="en-US" sz="765" dirty="0"/>
          </a:p>
        </p:txBody>
      </p:sp>
      <p:sp>
        <p:nvSpPr>
          <p:cNvPr id="42" name="Text 39"/>
          <p:cNvSpPr/>
          <p:nvPr/>
        </p:nvSpPr>
        <p:spPr>
          <a:xfrm>
            <a:off x="6170235" y="4410551"/>
            <a:ext cx="2658532" cy="235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63" spc="11" kern="0" dirty="0">
                <a:solidFill>
                  <a:srgbClr val="4A4A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R2I 官网与规范 v1 草案正式开放，多家基金会与项目加入试点，"包容"从理念走进条款。</a:t>
            </a:r>
            <a:endParaRPr lang="en-US" sz="563" dirty="0"/>
          </a:p>
        </p:txBody>
      </p:sp>
      <p:sp>
        <p:nvSpPr>
          <p:cNvPr id="43" name="Shape 40"/>
          <p:cNvSpPr/>
          <p:nvPr/>
        </p:nvSpPr>
        <p:spPr>
          <a:xfrm>
            <a:off x="457200" y="4972050"/>
            <a:ext cx="125730" cy="5715"/>
          </a:xfrm>
          <a:prstGeom prst="rect">
            <a:avLst/>
          </a:prstGeom>
          <a:solidFill>
            <a:srgbClr val="7A7A85">
              <a:alpha val="60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640080" y="4932045"/>
            <a:ext cx="122385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spc="108" kern="0" dirty="0">
                <a:solidFill>
                  <a:srgbClr val="7A7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INCLUSION</a:t>
            </a:r>
            <a:endParaRPr lang="en-US" sz="450" dirty="0"/>
          </a:p>
        </p:txBody>
      </p:sp>
      <p:sp>
        <p:nvSpPr>
          <p:cNvPr id="45" name="Text 42"/>
          <p:cNvSpPr/>
          <p:nvPr/>
        </p:nvSpPr>
        <p:spPr>
          <a:xfrm>
            <a:off x="7252156" y="4932045"/>
            <a:ext cx="41040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spc="108" kern="0" dirty="0">
                <a:solidFill>
                  <a:srgbClr val="7A7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</a:t>
            </a:r>
            <a:endParaRPr lang="en-US" sz="450" dirty="0"/>
          </a:p>
        </p:txBody>
      </p:sp>
      <p:sp>
        <p:nvSpPr>
          <p:cNvPr id="46" name="Text 43"/>
          <p:cNvSpPr/>
          <p:nvPr/>
        </p:nvSpPr>
        <p:spPr>
          <a:xfrm>
            <a:off x="7673995" y="4932045"/>
            <a:ext cx="15323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spc="108" kern="0" dirty="0">
                <a:solidFill>
                  <a:srgbClr val="7A7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50" dirty="0"/>
          </a:p>
        </p:txBody>
      </p:sp>
      <p:sp>
        <p:nvSpPr>
          <p:cNvPr id="47" name="Shape 44"/>
          <p:cNvSpPr/>
          <p:nvPr/>
        </p:nvSpPr>
        <p:spPr>
          <a:xfrm>
            <a:off x="7838658" y="4960620"/>
            <a:ext cx="28575" cy="2857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48" name="Text 45"/>
          <p:cNvSpPr/>
          <p:nvPr/>
        </p:nvSpPr>
        <p:spPr>
          <a:xfrm>
            <a:off x="7935813" y="4932045"/>
            <a:ext cx="8411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spc="108" kern="0" dirty="0">
                <a:solidFill>
                  <a:srgbClr val="7A7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TO INCLUDE</a:t>
            </a:r>
            <a:endParaRPr lang="en-US" sz="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7680" y="228600"/>
            <a:ext cx="137160" cy="5715"/>
          </a:xfrm>
          <a:prstGeom prst="rect">
            <a:avLst/>
          </a:prstGeom>
          <a:solidFill>
            <a:srgbClr val="9AA0A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073420" y="234315"/>
            <a:ext cx="815002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158" kern="0" dirty="0">
                <a:solidFill>
                  <a:srgbClr val="9AA0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R2I · CONTENT</a:t>
            </a:r>
            <a:endParaRPr lang="en-US" sz="495" dirty="0"/>
          </a:p>
        </p:txBody>
      </p:sp>
      <p:sp>
        <p:nvSpPr>
          <p:cNvPr id="4" name="Shape 2"/>
          <p:cNvSpPr/>
          <p:nvPr/>
        </p:nvSpPr>
        <p:spPr>
          <a:xfrm>
            <a:off x="342900" y="4972050"/>
            <a:ext cx="34290" cy="34290"/>
          </a:xfrm>
          <a:prstGeom prst="ellipse">
            <a:avLst/>
          </a:prstGeom>
          <a:solidFill>
            <a:srgbClr val="002FA7">
              <a:alpha val="6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262890"/>
            <a:ext cx="2198075" cy="2914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30" b="1" spc="1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包容权运动的四大原则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8129677" y="417195"/>
            <a:ext cx="75199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149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CONTENT</a:t>
            </a:r>
            <a:endParaRPr lang="en-US" sz="495" dirty="0"/>
          </a:p>
        </p:txBody>
      </p:sp>
      <p:sp>
        <p:nvSpPr>
          <p:cNvPr id="7" name="Text 5"/>
          <p:cNvSpPr/>
          <p:nvPr/>
        </p:nvSpPr>
        <p:spPr>
          <a:xfrm>
            <a:off x="342900" y="611505"/>
            <a:ext cx="8705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72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R2I 把"开源"重新定义为一种</a:t>
            </a:r>
            <a:pPr algn="l" indent="0" marL="0">
              <a:lnSpc>
                <a:spcPct val="175000"/>
              </a:lnSpc>
              <a:buNone/>
            </a:pPr>
            <a:r>
              <a:rPr lang="en-US" sz="72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社会承诺</a:t>
            </a:r>
            <a:pPr algn="l" indent="0" marL="0">
              <a:lnSpc>
                <a:spcPct val="175000"/>
              </a:lnSpc>
              <a:buNone/>
            </a:pPr>
            <a:r>
              <a:rPr lang="en-US" sz="72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：不只是任何人都能读代码，而是</a:t>
            </a:r>
            <a:pPr algn="l" indent="0" marL="0">
              <a:lnSpc>
                <a:spcPct val="175000"/>
              </a:lnSpc>
              <a:buNone/>
            </a:pPr>
            <a:r>
              <a:rPr lang="en-US" sz="72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任何人都能用代码、都能参与代码、都不会因为身份被排除</a:t>
            </a:r>
            <a:pPr algn="l" indent="0" marL="0">
              <a:lnSpc>
                <a:spcPct val="175000"/>
              </a:lnSpc>
              <a:buNone/>
            </a:pPr>
            <a:r>
              <a:rPr lang="en-US" sz="72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。四大原则——</a:t>
            </a:r>
            <a:pPr algn="l" indent="0" marL="0">
              <a:lnSpc>
                <a:spcPct val="175000"/>
              </a:lnSpc>
              <a:buNone/>
            </a:pPr>
            <a:r>
              <a:rPr lang="en-US" sz="72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可访问、多样化、可持续、公正</a:t>
            </a:r>
            <a:pPr algn="l" indent="0" marL="0">
              <a:lnSpc>
                <a:spcPct val="175000"/>
              </a:lnSpc>
              <a:buNone/>
            </a:pPr>
            <a:r>
              <a:rPr lang="en-US" sz="72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——是许可证化的起点。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342900" y="1045845"/>
            <a:ext cx="4177665" cy="1491615"/>
          </a:xfrm>
          <a:prstGeom prst="rect">
            <a:avLst/>
          </a:prstGeom>
          <a:solidFill>
            <a:srgbClr val="FFFFFF"/>
          </a:solidFill>
          <a:ln w="5715">
            <a:solidFill>
              <a:srgbClr val="002FA7">
                <a:alpha val="1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7205" y="116586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8675" y="1182112"/>
            <a:ext cx="702288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spc="126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 01</a:t>
            </a:r>
            <a:endParaRPr lang="en-US" sz="450" dirty="0"/>
          </a:p>
        </p:txBody>
      </p:sp>
      <p:sp>
        <p:nvSpPr>
          <p:cNvPr id="11" name="Text 8"/>
          <p:cNvSpPr/>
          <p:nvPr/>
        </p:nvSpPr>
        <p:spPr>
          <a:xfrm>
            <a:off x="828675" y="1267837"/>
            <a:ext cx="1417177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90" b="1" spc="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可访问 · Accessible</a:t>
            </a:r>
            <a:endParaRPr lang="en-US" sz="990" dirty="0"/>
          </a:p>
        </p:txBody>
      </p:sp>
      <p:sp>
        <p:nvSpPr>
          <p:cNvPr id="12" name="Text 9"/>
          <p:cNvSpPr/>
          <p:nvPr/>
        </p:nvSpPr>
        <p:spPr>
          <a:xfrm>
            <a:off x="497205" y="1463040"/>
            <a:ext cx="4333342" cy="131088"/>
          </a:xfrm>
          <a:prstGeom prst="rect">
            <a:avLst/>
          </a:prstGeom>
          <a:noFill/>
          <a:ln/>
        </p:spPr>
        <p:txBody>
          <a:bodyPr wrap="none" lIns="0" tIns="331470" rIns="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产品与文档必须遵循 WCAG 等无障碍标准，让残障用户平等使用。</a:t>
            </a:r>
            <a:endParaRPr lang="en-US" sz="608" dirty="0"/>
          </a:p>
        </p:txBody>
      </p:sp>
      <p:sp>
        <p:nvSpPr>
          <p:cNvPr id="13" name="Shape 10"/>
          <p:cNvSpPr/>
          <p:nvPr/>
        </p:nvSpPr>
        <p:spPr>
          <a:xfrm>
            <a:off x="4623435" y="1045845"/>
            <a:ext cx="4177665" cy="1491615"/>
          </a:xfrm>
          <a:prstGeom prst="rect">
            <a:avLst/>
          </a:prstGeom>
          <a:solidFill>
            <a:srgbClr val="FFFFFF"/>
          </a:solidFill>
          <a:ln w="5715">
            <a:solidFill>
              <a:srgbClr val="002FA7">
                <a:alpha val="10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7740" y="116586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09210" y="1182112"/>
            <a:ext cx="702288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spc="126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 02</a:t>
            </a:r>
            <a:endParaRPr lang="en-US" sz="450" dirty="0"/>
          </a:p>
        </p:txBody>
      </p:sp>
      <p:sp>
        <p:nvSpPr>
          <p:cNvPr id="16" name="Text 12"/>
          <p:cNvSpPr/>
          <p:nvPr/>
        </p:nvSpPr>
        <p:spPr>
          <a:xfrm>
            <a:off x="5109210" y="1267837"/>
            <a:ext cx="1288661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90" b="1" spc="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多样化 · Inclusive</a:t>
            </a:r>
            <a:endParaRPr lang="en-US" sz="990" dirty="0"/>
          </a:p>
        </p:txBody>
      </p:sp>
      <p:sp>
        <p:nvSpPr>
          <p:cNvPr id="17" name="Text 13"/>
          <p:cNvSpPr/>
          <p:nvPr/>
        </p:nvSpPr>
        <p:spPr>
          <a:xfrm>
            <a:off x="4777740" y="1463040"/>
            <a:ext cx="4333342" cy="131088"/>
          </a:xfrm>
          <a:prstGeom prst="rect">
            <a:avLst/>
          </a:prstGeom>
          <a:noFill/>
          <a:ln/>
        </p:spPr>
        <p:txBody>
          <a:bodyPr wrap="none" lIns="0" tIns="331470" rIns="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贡献者、语言、地区多元化，反对单一文化与英文中心主义。</a:t>
            </a:r>
            <a:endParaRPr lang="en-US" sz="608" dirty="0"/>
          </a:p>
        </p:txBody>
      </p:sp>
      <p:sp>
        <p:nvSpPr>
          <p:cNvPr id="18" name="Shape 14"/>
          <p:cNvSpPr/>
          <p:nvPr/>
        </p:nvSpPr>
        <p:spPr>
          <a:xfrm>
            <a:off x="342900" y="2640330"/>
            <a:ext cx="4177665" cy="1491615"/>
          </a:xfrm>
          <a:prstGeom prst="rect">
            <a:avLst/>
          </a:prstGeom>
          <a:solidFill>
            <a:srgbClr val="FFFFFF"/>
          </a:solidFill>
          <a:ln w="5715">
            <a:solidFill>
              <a:srgbClr val="002FA7">
                <a:alpha val="10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7205" y="2760345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8675" y="2776597"/>
            <a:ext cx="702288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spc="126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 03</a:t>
            </a:r>
            <a:endParaRPr lang="en-US" sz="450" dirty="0"/>
          </a:p>
        </p:txBody>
      </p:sp>
      <p:sp>
        <p:nvSpPr>
          <p:cNvPr id="21" name="Text 16"/>
          <p:cNvSpPr/>
          <p:nvPr/>
        </p:nvSpPr>
        <p:spPr>
          <a:xfrm>
            <a:off x="828675" y="2862322"/>
            <a:ext cx="152199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90" b="1" spc="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可持续 · Sustainable</a:t>
            </a:r>
            <a:endParaRPr lang="en-US" sz="990" dirty="0"/>
          </a:p>
        </p:txBody>
      </p:sp>
      <p:sp>
        <p:nvSpPr>
          <p:cNvPr id="22" name="Text 17"/>
          <p:cNvSpPr/>
          <p:nvPr/>
        </p:nvSpPr>
        <p:spPr>
          <a:xfrm>
            <a:off x="497205" y="3057525"/>
            <a:ext cx="4333342" cy="131088"/>
          </a:xfrm>
          <a:prstGeom prst="rect">
            <a:avLst/>
          </a:prstGeom>
          <a:noFill/>
          <a:ln/>
        </p:spPr>
        <p:txBody>
          <a:bodyPr wrap="none" lIns="0" tIns="331470" rIns="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为贡献者提供可持续的资金与心理支持，避免"烧尽"型志愿者。</a:t>
            </a:r>
            <a:endParaRPr lang="en-US" sz="608" dirty="0"/>
          </a:p>
        </p:txBody>
      </p:sp>
      <p:sp>
        <p:nvSpPr>
          <p:cNvPr id="23" name="Shape 18"/>
          <p:cNvSpPr/>
          <p:nvPr/>
        </p:nvSpPr>
        <p:spPr>
          <a:xfrm>
            <a:off x="4623435" y="2640330"/>
            <a:ext cx="4177665" cy="1491615"/>
          </a:xfrm>
          <a:prstGeom prst="rect">
            <a:avLst/>
          </a:prstGeom>
          <a:solidFill>
            <a:srgbClr val="FFFFFF"/>
          </a:solidFill>
          <a:ln w="5715">
            <a:solidFill>
              <a:srgbClr val="002FA7">
                <a:alpha val="10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77740" y="2760345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09210" y="2776597"/>
            <a:ext cx="702288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50" spc="126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 04</a:t>
            </a:r>
            <a:endParaRPr lang="en-US" sz="450" dirty="0"/>
          </a:p>
        </p:txBody>
      </p:sp>
      <p:sp>
        <p:nvSpPr>
          <p:cNvPr id="26" name="Text 20"/>
          <p:cNvSpPr/>
          <p:nvPr/>
        </p:nvSpPr>
        <p:spPr>
          <a:xfrm>
            <a:off x="5109210" y="2862322"/>
            <a:ext cx="789384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90" b="1" spc="5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公正 · Just</a:t>
            </a:r>
            <a:endParaRPr lang="en-US" sz="990" dirty="0"/>
          </a:p>
        </p:txBody>
      </p:sp>
      <p:sp>
        <p:nvSpPr>
          <p:cNvPr id="27" name="Text 21"/>
          <p:cNvSpPr/>
          <p:nvPr/>
        </p:nvSpPr>
        <p:spPr>
          <a:xfrm>
            <a:off x="4777740" y="3057525"/>
            <a:ext cx="4333342" cy="131088"/>
          </a:xfrm>
          <a:prstGeom prst="rect">
            <a:avLst/>
          </a:prstGeom>
          <a:noFill/>
          <a:ln/>
        </p:spPr>
        <p:txBody>
          <a:bodyPr wrap="none" lIns="0" tIns="331470" rIns="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决策过程公开透明，尊重不同文化下的伦理与法律边界。</a:t>
            </a:r>
            <a:endParaRPr lang="en-US" sz="608" dirty="0"/>
          </a:p>
        </p:txBody>
      </p:sp>
      <p:sp>
        <p:nvSpPr>
          <p:cNvPr id="28" name="Shape 22"/>
          <p:cNvSpPr/>
          <p:nvPr/>
        </p:nvSpPr>
        <p:spPr>
          <a:xfrm>
            <a:off x="4337685" y="2354580"/>
            <a:ext cx="468630" cy="46863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02FA7"/>
            </a:solidFill>
            <a:prstDash val="solid"/>
          </a:ln>
          <a:effectLst>
            <a:outerShdw sx="100000" sy="100000" kx="0" ky="0" algn="bl" rotWithShape="0" blurRad="101600" dist="50800" dir="16200000">
              <a:srgbClr val="F5F5F5">
                <a:alpha val="10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749165" y="2331720"/>
            <a:ext cx="57150" cy="57150"/>
          </a:xfrm>
          <a:prstGeom prst="ellipse">
            <a:avLst/>
          </a:prstGeom>
          <a:solidFill>
            <a:srgbClr val="FF7043"/>
          </a:solidFill>
          <a:ln/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4445109" y="2494598"/>
            <a:ext cx="389763" cy="1885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90" b="1" spc="5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R2I</a:t>
            </a:r>
            <a:endParaRPr lang="en-US" sz="990" dirty="0"/>
          </a:p>
        </p:txBody>
      </p:sp>
      <p:sp>
        <p:nvSpPr>
          <p:cNvPr id="31" name="Shape 25"/>
          <p:cNvSpPr/>
          <p:nvPr/>
        </p:nvSpPr>
        <p:spPr>
          <a:xfrm>
            <a:off x="342900" y="4246245"/>
            <a:ext cx="8458200" cy="412194"/>
          </a:xfrm>
          <a:prstGeom prst="rect">
            <a:avLst/>
          </a:prstGeom>
          <a:solidFill>
            <a:srgbClr val="FFFFFF"/>
          </a:solidFill>
          <a:ln w="22860">
            <a:solidFill>
              <a:srgbClr val="002FA7">
                <a:alpha val="1000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91490" y="4390370"/>
            <a:ext cx="5315164" cy="123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R2I 将这</a:t>
            </a:r>
            <a:pPr algn="l" indent="0" marL="0">
              <a:lnSpc>
                <a:spcPct val="155000"/>
              </a:lnSpc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四大原则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转化为可执行的</a:t>
            </a:r>
            <a:pPr algn="l" indent="0" marL="0">
              <a:lnSpc>
                <a:spcPct val="155000"/>
              </a:lnSpc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许可证条款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，供项目直接采用。</a:t>
            </a:r>
            <a:endParaRPr lang="en-US" sz="630" dirty="0"/>
          </a:p>
        </p:txBody>
      </p:sp>
      <p:sp>
        <p:nvSpPr>
          <p:cNvPr id="33" name="Shape 27"/>
          <p:cNvSpPr/>
          <p:nvPr/>
        </p:nvSpPr>
        <p:spPr>
          <a:xfrm>
            <a:off x="5408622" y="4331970"/>
            <a:ext cx="5715" cy="240744"/>
          </a:xfrm>
          <a:prstGeom prst="rect">
            <a:avLst/>
          </a:prstGeom>
          <a:solidFill>
            <a:srgbClr val="111111">
              <a:alpha val="14000"/>
            </a:srgbClr>
          </a:solidFill>
          <a:ln/>
        </p:spPr>
      </p:sp>
      <p:sp>
        <p:nvSpPr>
          <p:cNvPr id="34" name="Shape 28"/>
          <p:cNvSpPr/>
          <p:nvPr/>
        </p:nvSpPr>
        <p:spPr>
          <a:xfrm>
            <a:off x="5585787" y="4331970"/>
            <a:ext cx="1904881" cy="240744"/>
          </a:xfrm>
          <a:prstGeom prst="rect">
            <a:avLst/>
          </a:prstGeom>
          <a:noFill/>
          <a:ln/>
        </p:spPr>
      </p:sp>
      <p:sp>
        <p:nvSpPr>
          <p:cNvPr id="35" name="Shape 29"/>
          <p:cNvSpPr/>
          <p:nvPr/>
        </p:nvSpPr>
        <p:spPr>
          <a:xfrm>
            <a:off x="5585787" y="4331970"/>
            <a:ext cx="0" cy="240744"/>
          </a:xfrm>
          <a:prstGeom prst="line">
            <a:avLst/>
          </a:prstGeom>
          <a:noFill/>
          <a:ln w="17145">
            <a:solidFill>
              <a:srgbClr val="002FA7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660082" y="4326255"/>
            <a:ext cx="389763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9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项</a:t>
            </a:r>
            <a:endParaRPr lang="en-US" sz="990" dirty="0"/>
          </a:p>
        </p:txBody>
      </p:sp>
      <p:sp>
        <p:nvSpPr>
          <p:cNvPr id="37" name="Text 31"/>
          <p:cNvSpPr/>
          <p:nvPr/>
        </p:nvSpPr>
        <p:spPr>
          <a:xfrm>
            <a:off x="5660082" y="4487347"/>
            <a:ext cx="1986248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495" spc="1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R2I 四大原则 · Accessible / Inclusive / Sustainable / Just</a:t>
            </a:r>
            <a:endParaRPr lang="en-US" sz="495" dirty="0"/>
          </a:p>
        </p:txBody>
      </p:sp>
      <p:sp>
        <p:nvSpPr>
          <p:cNvPr id="38" name="Shape 32"/>
          <p:cNvSpPr/>
          <p:nvPr/>
        </p:nvSpPr>
        <p:spPr>
          <a:xfrm>
            <a:off x="7662118" y="4331970"/>
            <a:ext cx="1007537" cy="240744"/>
          </a:xfrm>
          <a:prstGeom prst="rect">
            <a:avLst/>
          </a:prstGeom>
          <a:noFill/>
          <a:ln/>
        </p:spPr>
      </p:sp>
      <p:sp>
        <p:nvSpPr>
          <p:cNvPr id="39" name="Shape 33"/>
          <p:cNvSpPr/>
          <p:nvPr/>
        </p:nvSpPr>
        <p:spPr>
          <a:xfrm>
            <a:off x="7662118" y="4331970"/>
            <a:ext cx="0" cy="240744"/>
          </a:xfrm>
          <a:prstGeom prst="line">
            <a:avLst/>
          </a:prstGeom>
          <a:noFill/>
          <a:ln w="17145">
            <a:solidFill>
              <a:srgbClr val="FF7043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736413" y="4326255"/>
            <a:ext cx="823764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9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WCAG 2.1</a:t>
            </a:r>
            <a:endParaRPr lang="en-US" sz="990" dirty="0"/>
          </a:p>
        </p:txBody>
      </p:sp>
      <p:sp>
        <p:nvSpPr>
          <p:cNvPr id="41" name="Text 35"/>
          <p:cNvSpPr/>
          <p:nvPr/>
        </p:nvSpPr>
        <p:spPr>
          <a:xfrm>
            <a:off x="7736413" y="4487347"/>
            <a:ext cx="981223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495" spc="10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参考标准 · W3C 可访问性基准</a:t>
            </a:r>
            <a:endParaRPr lang="en-US" sz="49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60045"/>
            <a:ext cx="160020" cy="5715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3" name="Text 1"/>
          <p:cNvSpPr/>
          <p:nvPr/>
        </p:nvSpPr>
        <p:spPr>
          <a:xfrm>
            <a:off x="560070" y="314325"/>
            <a:ext cx="163860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7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COMPARISON · 内容对照</a:t>
            </a:r>
            <a:endParaRPr lang="en-US" sz="540" dirty="0"/>
          </a:p>
        </p:txBody>
      </p:sp>
      <p:sp>
        <p:nvSpPr>
          <p:cNvPr id="4" name="Shape 2"/>
          <p:cNvSpPr/>
          <p:nvPr/>
        </p:nvSpPr>
        <p:spPr>
          <a:xfrm>
            <a:off x="2080260" y="345758"/>
            <a:ext cx="34290" cy="3429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468630"/>
            <a:ext cx="3290011" cy="249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10" b="1" spc="-17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</a:t>
            </a:r>
            <a:pPr algn="l" indent="0" marL="0">
              <a:lnSpc>
                <a:spcPct val="115000"/>
              </a:lnSpc>
              <a:buNone/>
            </a:pPr>
            <a:r>
              <a:rPr lang="en-US" sz="1710" b="1" spc="-17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 </a:t>
            </a:r>
            <a:pPr algn="l" indent="0" marL="0">
              <a:lnSpc>
                <a:spcPct val="115000"/>
              </a:lnSpc>
              <a:buNone/>
            </a:pPr>
            <a:r>
              <a:rPr lang="en-US" sz="1710" b="1" spc="-17" kern="0" dirty="0">
                <a:solidFill>
                  <a:srgbClr val="C8C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到 </a:t>
            </a:r>
            <a:pPr algn="l" indent="0" marL="0">
              <a:lnSpc>
                <a:spcPct val="115000"/>
              </a:lnSpc>
              <a:buNone/>
            </a:pPr>
            <a:r>
              <a:rPr lang="en-US" sz="1710" b="1" spc="-17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R2I</a:t>
            </a:r>
            <a:pPr algn="l" indent="0" marL="0">
              <a:lnSpc>
                <a:spcPct val="115000"/>
              </a:lnSpc>
              <a:buNone/>
            </a:pPr>
            <a:r>
              <a:rPr lang="en-US" sz="1710" b="1" spc="-17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的对照</a:t>
            </a:r>
            <a:endParaRPr lang="en-US" sz="1710" dirty="0"/>
          </a:p>
        </p:txBody>
      </p:sp>
      <p:sp>
        <p:nvSpPr>
          <p:cNvPr id="6" name="Text 4"/>
          <p:cNvSpPr/>
          <p:nvPr/>
        </p:nvSpPr>
        <p:spPr>
          <a:xfrm>
            <a:off x="342900" y="775454"/>
            <a:ext cx="3290011" cy="1279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3A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 保护代码的自由，R2I 保护人的完整参与 —— 同一价值体系的两次延伸。</a:t>
            </a:r>
            <a:endParaRPr lang="en-US" sz="630" dirty="0"/>
          </a:p>
        </p:txBody>
      </p:sp>
      <p:sp>
        <p:nvSpPr>
          <p:cNvPr id="7" name="Shape 5"/>
          <p:cNvSpPr/>
          <p:nvPr/>
        </p:nvSpPr>
        <p:spPr>
          <a:xfrm>
            <a:off x="6223635" y="531941"/>
            <a:ext cx="1548765" cy="371475"/>
          </a:xfrm>
          <a:prstGeom prst="rect">
            <a:avLst/>
          </a:prstGeom>
          <a:solidFill>
            <a:srgbClr val="FFFFFF"/>
          </a:solidFill>
          <a:ln w="5715">
            <a:solidFill>
              <a:srgbClr val="E6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2220" y="606236"/>
            <a:ext cx="149138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72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对照维度</a:t>
            </a:r>
            <a:endParaRPr lang="en-US" sz="450" dirty="0"/>
          </a:p>
        </p:txBody>
      </p:sp>
      <p:sp>
        <p:nvSpPr>
          <p:cNvPr id="9" name="Text 7"/>
          <p:cNvSpPr/>
          <p:nvPr/>
        </p:nvSpPr>
        <p:spPr>
          <a:xfrm>
            <a:off x="6332220" y="714821"/>
            <a:ext cx="1491386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项</a:t>
            </a:r>
            <a:endParaRPr lang="en-US" sz="630" dirty="0"/>
          </a:p>
          <a:p>
            <a:pPr algn="l" indent="0" marL="0">
              <a:buNone/>
            </a:pPr>
            <a:r>
              <a:rPr lang="en-US" sz="63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对象 / 方式 / 场景 / 代表 / 关系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7886700" y="531941"/>
            <a:ext cx="914400" cy="371475"/>
          </a:xfrm>
          <a:prstGeom prst="rect">
            <a:avLst/>
          </a:prstGeom>
          <a:solidFill>
            <a:srgbClr val="FFFFFF"/>
          </a:solidFill>
          <a:ln w="5715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95285" y="606236"/>
            <a:ext cx="78089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72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扩展方向</a:t>
            </a:r>
            <a:endParaRPr lang="en-US" sz="450" dirty="0"/>
          </a:p>
        </p:txBody>
      </p:sp>
      <p:sp>
        <p:nvSpPr>
          <p:cNvPr id="12" name="Text 10"/>
          <p:cNvSpPr/>
          <p:nvPr/>
        </p:nvSpPr>
        <p:spPr>
          <a:xfrm>
            <a:off x="7995285" y="714821"/>
            <a:ext cx="24003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</a:t>
            </a:r>
            <a:endParaRPr lang="en-US" sz="630" dirty="0"/>
          </a:p>
        </p:txBody>
      </p:sp>
      <p:sp>
        <p:nvSpPr>
          <p:cNvPr id="13" name="Text 11"/>
          <p:cNvSpPr/>
          <p:nvPr/>
        </p:nvSpPr>
        <p:spPr>
          <a:xfrm>
            <a:off x="8189595" y="723394"/>
            <a:ext cx="14707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30" dirty="0"/>
          </a:p>
        </p:txBody>
      </p:sp>
      <p:sp>
        <p:nvSpPr>
          <p:cNvPr id="14" name="Text 12"/>
          <p:cNvSpPr/>
          <p:nvPr/>
        </p:nvSpPr>
        <p:spPr>
          <a:xfrm>
            <a:off x="8290947" y="714821"/>
            <a:ext cx="16002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</a:t>
            </a:r>
            <a:endParaRPr lang="en-US" sz="630" dirty="0"/>
          </a:p>
        </p:txBody>
      </p:sp>
      <p:sp>
        <p:nvSpPr>
          <p:cNvPr id="15" name="Shape 13"/>
          <p:cNvSpPr/>
          <p:nvPr/>
        </p:nvSpPr>
        <p:spPr>
          <a:xfrm>
            <a:off x="342900" y="1029146"/>
            <a:ext cx="8458200" cy="2432358"/>
          </a:xfrm>
          <a:prstGeom prst="rect">
            <a:avLst/>
          </a:prstGeom>
          <a:solidFill>
            <a:srgbClr val="FFFFFF"/>
          </a:solidFill>
          <a:ln w="5715">
            <a:solidFill>
              <a:srgbClr val="E6E6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8615" y="1034861"/>
            <a:ext cx="4051935" cy="2420928"/>
          </a:xfrm>
          <a:prstGeom prst="rect">
            <a:avLst/>
          </a:prstGeom>
          <a:gradFill rotWithShape="1">
            <a:gsLst>
              <a:gs pos="0">
                <a:srgbClr val="002FA7">
                  <a:alpha val="3000"/>
                </a:srgbClr>
              </a:gs>
              <a:gs pos="100000">
                <a:srgbClr val="002FA7">
                  <a:alpha val="1000"/>
                </a:srgbClr>
              </a:gs>
            </a:gsLst>
            <a:lin ang="5400000" scaled="0"/>
          </a:gradFill>
          <a:ln/>
        </p:spPr>
      </p:sp>
      <p:sp>
        <p:nvSpPr>
          <p:cNvPr id="17" name="Shape 15"/>
          <p:cNvSpPr/>
          <p:nvPr/>
        </p:nvSpPr>
        <p:spPr>
          <a:xfrm>
            <a:off x="508635" y="1160591"/>
            <a:ext cx="3731895" cy="234315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508635" y="1394906"/>
            <a:ext cx="3731895" cy="0"/>
          </a:xfrm>
          <a:prstGeom prst="line">
            <a:avLst/>
          </a:prstGeom>
          <a:noFill/>
          <a:ln w="5715">
            <a:solidFill>
              <a:srgbClr val="E6E6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635" y="1160591"/>
            <a:ext cx="767239" cy="148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90" b="1" spc="-1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</a:t>
            </a:r>
            <a:endParaRPr lang="en-US" sz="990" dirty="0"/>
          </a:p>
        </p:txBody>
      </p:sp>
      <p:sp>
        <p:nvSpPr>
          <p:cNvPr id="20" name="Shape 18"/>
          <p:cNvSpPr/>
          <p:nvPr/>
        </p:nvSpPr>
        <p:spPr>
          <a:xfrm>
            <a:off x="508635" y="1200596"/>
            <a:ext cx="68580" cy="6858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21" name="Text 19"/>
          <p:cNvSpPr/>
          <p:nvPr/>
        </p:nvSpPr>
        <p:spPr>
          <a:xfrm>
            <a:off x="3182987" y="1189166"/>
            <a:ext cx="118444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59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LICENSE-DRIVEN · 许可证驱动</a:t>
            </a:r>
            <a:endParaRPr lang="en-US" sz="495" dirty="0"/>
          </a:p>
        </p:txBody>
      </p:sp>
      <p:sp>
        <p:nvSpPr>
          <p:cNvPr id="22" name="Shape 20"/>
          <p:cNvSpPr/>
          <p:nvPr/>
        </p:nvSpPr>
        <p:spPr>
          <a:xfrm>
            <a:off x="508635" y="1429196"/>
            <a:ext cx="3731895" cy="393889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508635" y="1823085"/>
            <a:ext cx="3731895" cy="0"/>
          </a:xfrm>
          <a:prstGeom prst="line">
            <a:avLst/>
          </a:prstGeom>
          <a:noFill/>
          <a:ln w="5715">
            <a:solidFill>
              <a:srgbClr val="F0F0F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08635" y="1503491"/>
            <a:ext cx="417972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5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关注对象</a:t>
            </a:r>
            <a:endParaRPr lang="en-US" sz="495" dirty="0"/>
          </a:p>
        </p:txBody>
      </p:sp>
      <p:sp>
        <p:nvSpPr>
          <p:cNvPr id="25" name="Shape 23"/>
          <p:cNvSpPr/>
          <p:nvPr/>
        </p:nvSpPr>
        <p:spPr>
          <a:xfrm>
            <a:off x="508635" y="1663511"/>
            <a:ext cx="34290" cy="3429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26" name="Text 24"/>
          <p:cNvSpPr/>
          <p:nvPr/>
        </p:nvSpPr>
        <p:spPr>
          <a:xfrm>
            <a:off x="600075" y="1623506"/>
            <a:ext cx="2771546" cy="119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保护</a:t>
            </a:r>
            <a:pPr algn="l" indent="0" marL="0">
              <a:lnSpc>
                <a:spcPct val="155000"/>
              </a:lnSpc>
              <a:buNone/>
            </a:pPr>
            <a:r>
              <a:rPr lang="en-US" sz="608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代码的自由</a:t>
            </a:r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：源码可读、可改、可再分发，且衍生作品继承相同约束。</a:t>
            </a:r>
            <a:endParaRPr lang="en-US" sz="608" dirty="0"/>
          </a:p>
        </p:txBody>
      </p:sp>
      <p:sp>
        <p:nvSpPr>
          <p:cNvPr id="27" name="Shape 25"/>
          <p:cNvSpPr/>
          <p:nvPr/>
        </p:nvSpPr>
        <p:spPr>
          <a:xfrm>
            <a:off x="508635" y="1823085"/>
            <a:ext cx="3731895" cy="393889"/>
          </a:xfrm>
          <a:prstGeom prst="rect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>
            <a:off x="508635" y="2216974"/>
            <a:ext cx="3731895" cy="0"/>
          </a:xfrm>
          <a:prstGeom prst="line">
            <a:avLst/>
          </a:prstGeom>
          <a:noFill/>
          <a:ln w="5715">
            <a:solidFill>
              <a:srgbClr val="F0F0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508635" y="1897380"/>
            <a:ext cx="417972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5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强制方式</a:t>
            </a:r>
            <a:endParaRPr lang="en-US" sz="495" dirty="0"/>
          </a:p>
        </p:txBody>
      </p:sp>
      <p:sp>
        <p:nvSpPr>
          <p:cNvPr id="30" name="Shape 28"/>
          <p:cNvSpPr/>
          <p:nvPr/>
        </p:nvSpPr>
        <p:spPr>
          <a:xfrm>
            <a:off x="508635" y="2057400"/>
            <a:ext cx="34290" cy="3429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31" name="Text 29"/>
          <p:cNvSpPr/>
          <p:nvPr/>
        </p:nvSpPr>
        <p:spPr>
          <a:xfrm>
            <a:off x="600075" y="2017395"/>
            <a:ext cx="2809951" cy="119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依赖</a:t>
            </a:r>
            <a:pPr algn="l" indent="0" marL="0">
              <a:lnSpc>
                <a:spcPct val="155000"/>
              </a:lnSpc>
              <a:buNone/>
            </a:pPr>
            <a:r>
              <a:rPr lang="en-US" sz="608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许可证传染性</a:t>
            </a:r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：Copyleft 条款以法律方式强制下游继承相同开放义务。</a:t>
            </a:r>
            <a:endParaRPr lang="en-US" sz="608" dirty="0"/>
          </a:p>
        </p:txBody>
      </p:sp>
      <p:sp>
        <p:nvSpPr>
          <p:cNvPr id="32" name="Shape 30"/>
          <p:cNvSpPr/>
          <p:nvPr/>
        </p:nvSpPr>
        <p:spPr>
          <a:xfrm>
            <a:off x="508635" y="2216974"/>
            <a:ext cx="3731895" cy="393889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508635" y="2610862"/>
            <a:ext cx="3731895" cy="0"/>
          </a:xfrm>
          <a:prstGeom prst="line">
            <a:avLst/>
          </a:prstGeom>
          <a:noFill/>
          <a:ln w="5715">
            <a:solidFill>
              <a:srgbClr val="F0F0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08635" y="2291269"/>
            <a:ext cx="417972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5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适用场景</a:t>
            </a:r>
            <a:endParaRPr lang="en-US" sz="495" dirty="0"/>
          </a:p>
        </p:txBody>
      </p:sp>
      <p:sp>
        <p:nvSpPr>
          <p:cNvPr id="35" name="Shape 33"/>
          <p:cNvSpPr/>
          <p:nvPr/>
        </p:nvSpPr>
        <p:spPr>
          <a:xfrm>
            <a:off x="508635" y="2451289"/>
            <a:ext cx="34290" cy="3429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36" name="Text 34"/>
          <p:cNvSpPr/>
          <p:nvPr/>
        </p:nvSpPr>
        <p:spPr>
          <a:xfrm>
            <a:off x="600075" y="2411284"/>
            <a:ext cx="2688336" cy="119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</a:t>
            </a:r>
            <a:pPr algn="l" indent="0" marL="0">
              <a:lnSpc>
                <a:spcPct val="155000"/>
              </a:lnSpc>
              <a:buNone/>
            </a:pPr>
            <a:r>
              <a:rPr lang="en-US" sz="608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软件分发</a:t>
            </a:r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：以源代码许可证形式约束软件及其衍生版本的发布行为。</a:t>
            </a:r>
            <a:endParaRPr lang="en-US" sz="608" dirty="0"/>
          </a:p>
        </p:txBody>
      </p:sp>
      <p:sp>
        <p:nvSpPr>
          <p:cNvPr id="37" name="Shape 35"/>
          <p:cNvSpPr/>
          <p:nvPr/>
        </p:nvSpPr>
        <p:spPr>
          <a:xfrm>
            <a:off x="508635" y="2610862"/>
            <a:ext cx="3731895" cy="393889"/>
          </a:xfrm>
          <a:prstGeom prst="rect">
            <a:avLst/>
          </a:prstGeom>
          <a:noFill/>
          <a:ln/>
        </p:spPr>
      </p:sp>
      <p:sp>
        <p:nvSpPr>
          <p:cNvPr id="38" name="Shape 36"/>
          <p:cNvSpPr/>
          <p:nvPr/>
        </p:nvSpPr>
        <p:spPr>
          <a:xfrm>
            <a:off x="508635" y="3004751"/>
            <a:ext cx="3731895" cy="0"/>
          </a:xfrm>
          <a:prstGeom prst="line">
            <a:avLst/>
          </a:prstGeom>
          <a:noFill/>
          <a:ln w="5715">
            <a:solidFill>
              <a:srgbClr val="F0F0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508635" y="2685157"/>
            <a:ext cx="417972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5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典型代表</a:t>
            </a:r>
            <a:endParaRPr lang="en-US" sz="495" dirty="0"/>
          </a:p>
        </p:txBody>
      </p:sp>
      <p:sp>
        <p:nvSpPr>
          <p:cNvPr id="40" name="Shape 38"/>
          <p:cNvSpPr/>
          <p:nvPr/>
        </p:nvSpPr>
        <p:spPr>
          <a:xfrm>
            <a:off x="508635" y="2845177"/>
            <a:ext cx="34290" cy="3429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41" name="Text 39"/>
          <p:cNvSpPr/>
          <p:nvPr/>
        </p:nvSpPr>
        <p:spPr>
          <a:xfrm>
            <a:off x="600075" y="2805172"/>
            <a:ext cx="2713939" cy="119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08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/ AGPL</a:t>
            </a:r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：从 GNU 项目出发，成为自由软件生态的主流许可证体系。</a:t>
            </a:r>
            <a:endParaRPr lang="en-US" sz="608" dirty="0"/>
          </a:p>
        </p:txBody>
      </p:sp>
      <p:sp>
        <p:nvSpPr>
          <p:cNvPr id="42" name="Text 40"/>
          <p:cNvSpPr/>
          <p:nvPr/>
        </p:nvSpPr>
        <p:spPr>
          <a:xfrm>
            <a:off x="508635" y="3079046"/>
            <a:ext cx="417972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5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关系定位</a:t>
            </a:r>
            <a:endParaRPr lang="en-US" sz="495" dirty="0"/>
          </a:p>
        </p:txBody>
      </p:sp>
      <p:sp>
        <p:nvSpPr>
          <p:cNvPr id="43" name="Shape 41"/>
          <p:cNvSpPr/>
          <p:nvPr/>
        </p:nvSpPr>
        <p:spPr>
          <a:xfrm>
            <a:off x="508635" y="3239066"/>
            <a:ext cx="34290" cy="3429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44" name="Text 42"/>
          <p:cNvSpPr/>
          <p:nvPr/>
        </p:nvSpPr>
        <p:spPr>
          <a:xfrm>
            <a:off x="600075" y="3199061"/>
            <a:ext cx="2694737" cy="119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R2I</a:t>
            </a:r>
            <a:pPr algn="l" indent="0" marL="0">
              <a:lnSpc>
                <a:spcPct val="155000"/>
              </a:lnSpc>
              <a:buNone/>
            </a:pPr>
            <a:r>
              <a:rPr lang="en-US" sz="608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不否定 Copyleft</a:t>
            </a:r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，而是把「自由」扩展到自由软件之外的更多维度。</a:t>
            </a:r>
            <a:endParaRPr lang="en-US" sz="608" dirty="0"/>
          </a:p>
        </p:txBody>
      </p:sp>
      <p:sp>
        <p:nvSpPr>
          <p:cNvPr id="45" name="Shape 43"/>
          <p:cNvSpPr/>
          <p:nvPr/>
        </p:nvSpPr>
        <p:spPr>
          <a:xfrm>
            <a:off x="4572000" y="1034861"/>
            <a:ext cx="5715" cy="2420925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46" name="Shape 44"/>
          <p:cNvSpPr/>
          <p:nvPr/>
        </p:nvSpPr>
        <p:spPr>
          <a:xfrm>
            <a:off x="4469130" y="2182416"/>
            <a:ext cx="205740" cy="205740"/>
          </a:xfrm>
          <a:prstGeom prst="ellipse">
            <a:avLst/>
          </a:prstGeom>
          <a:solidFill>
            <a:srgbClr val="FFFFFF"/>
          </a:solidFill>
          <a:ln w="5715">
            <a:solidFill>
              <a:srgbClr val="E6E6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69130" y="2182416"/>
            <a:ext cx="27432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</a:t>
            </a:r>
            <a:endParaRPr lang="en-US" sz="540" dirty="0"/>
          </a:p>
        </p:txBody>
      </p:sp>
      <p:sp>
        <p:nvSpPr>
          <p:cNvPr id="48" name="Shape 46"/>
          <p:cNvSpPr/>
          <p:nvPr/>
        </p:nvSpPr>
        <p:spPr>
          <a:xfrm>
            <a:off x="4743450" y="1034861"/>
            <a:ext cx="4051935" cy="2420928"/>
          </a:xfrm>
          <a:prstGeom prst="rect">
            <a:avLst/>
          </a:prstGeom>
          <a:gradFill rotWithShape="1">
            <a:gsLst>
              <a:gs pos="0">
                <a:srgbClr val="FF7043">
                  <a:alpha val="4000"/>
                </a:srgbClr>
              </a:gs>
              <a:gs pos="100000">
                <a:srgbClr val="FF7043">
                  <a:alpha val="1000"/>
                </a:srgbClr>
              </a:gs>
            </a:gsLst>
            <a:lin ang="5400000" scaled="0"/>
          </a:gradFill>
          <a:ln/>
        </p:spPr>
      </p:sp>
      <p:sp>
        <p:nvSpPr>
          <p:cNvPr id="49" name="Shape 47"/>
          <p:cNvSpPr/>
          <p:nvPr/>
        </p:nvSpPr>
        <p:spPr>
          <a:xfrm>
            <a:off x="4903470" y="1160591"/>
            <a:ext cx="3731895" cy="234315"/>
          </a:xfrm>
          <a:prstGeom prst="rect">
            <a:avLst/>
          </a:prstGeom>
          <a:noFill/>
          <a:ln/>
        </p:spPr>
      </p:sp>
      <p:sp>
        <p:nvSpPr>
          <p:cNvPr id="50" name="Shape 48"/>
          <p:cNvSpPr/>
          <p:nvPr/>
        </p:nvSpPr>
        <p:spPr>
          <a:xfrm>
            <a:off x="4903470" y="1394906"/>
            <a:ext cx="3731895" cy="0"/>
          </a:xfrm>
          <a:prstGeom prst="line">
            <a:avLst/>
          </a:prstGeom>
          <a:noFill/>
          <a:ln w="5715">
            <a:solidFill>
              <a:srgbClr val="E6E6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03470" y="1160591"/>
            <a:ext cx="442020" cy="148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90" b="1" spc="-1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R2I</a:t>
            </a:r>
            <a:endParaRPr lang="en-US" sz="990" dirty="0"/>
          </a:p>
        </p:txBody>
      </p:sp>
      <p:sp>
        <p:nvSpPr>
          <p:cNvPr id="52" name="Shape 50"/>
          <p:cNvSpPr/>
          <p:nvPr/>
        </p:nvSpPr>
        <p:spPr>
          <a:xfrm>
            <a:off x="4903470" y="1200596"/>
            <a:ext cx="68580" cy="6858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53" name="Text 51"/>
          <p:cNvSpPr/>
          <p:nvPr/>
        </p:nvSpPr>
        <p:spPr>
          <a:xfrm>
            <a:off x="7446645" y="1189166"/>
            <a:ext cx="133136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59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RULE-TO-INCLUSION · 规则即参与</a:t>
            </a:r>
            <a:endParaRPr lang="en-US" sz="495" dirty="0"/>
          </a:p>
        </p:txBody>
      </p:sp>
      <p:sp>
        <p:nvSpPr>
          <p:cNvPr id="54" name="Shape 52"/>
          <p:cNvSpPr/>
          <p:nvPr/>
        </p:nvSpPr>
        <p:spPr>
          <a:xfrm>
            <a:off x="4903470" y="1429196"/>
            <a:ext cx="3731895" cy="393889"/>
          </a:xfrm>
          <a:prstGeom prst="rect">
            <a:avLst/>
          </a:prstGeom>
          <a:noFill/>
          <a:ln/>
        </p:spPr>
      </p:sp>
      <p:sp>
        <p:nvSpPr>
          <p:cNvPr id="55" name="Shape 53"/>
          <p:cNvSpPr/>
          <p:nvPr/>
        </p:nvSpPr>
        <p:spPr>
          <a:xfrm>
            <a:off x="4903470" y="1823085"/>
            <a:ext cx="3731895" cy="0"/>
          </a:xfrm>
          <a:prstGeom prst="line">
            <a:avLst/>
          </a:prstGeom>
          <a:noFill/>
          <a:ln w="5715">
            <a:solidFill>
              <a:srgbClr val="F0F0F0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4903470" y="1503491"/>
            <a:ext cx="417972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5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关注对象</a:t>
            </a:r>
            <a:endParaRPr lang="en-US" sz="495" dirty="0"/>
          </a:p>
        </p:txBody>
      </p:sp>
      <p:sp>
        <p:nvSpPr>
          <p:cNvPr id="57" name="Shape 55"/>
          <p:cNvSpPr/>
          <p:nvPr/>
        </p:nvSpPr>
        <p:spPr>
          <a:xfrm rot="2700000">
            <a:off x="4903470" y="1663511"/>
            <a:ext cx="34290" cy="3429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58" name="Text 56"/>
          <p:cNvSpPr/>
          <p:nvPr/>
        </p:nvSpPr>
        <p:spPr>
          <a:xfrm>
            <a:off x="4994910" y="1623506"/>
            <a:ext cx="2688336" cy="119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保护</a:t>
            </a:r>
            <a:pPr algn="l" indent="0" marL="0">
              <a:lnSpc>
                <a:spcPct val="155000"/>
              </a:lnSpc>
              <a:buNone/>
            </a:pPr>
            <a:r>
              <a:rPr lang="en-US" sz="608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人的完整参与</a:t>
            </a:r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：让贡献者、使用者与社区成员被平等地包含与可见。</a:t>
            </a:r>
            <a:endParaRPr lang="en-US" sz="608" dirty="0"/>
          </a:p>
        </p:txBody>
      </p:sp>
      <p:sp>
        <p:nvSpPr>
          <p:cNvPr id="59" name="Shape 57"/>
          <p:cNvSpPr/>
          <p:nvPr/>
        </p:nvSpPr>
        <p:spPr>
          <a:xfrm>
            <a:off x="4903470" y="1823085"/>
            <a:ext cx="3731895" cy="393889"/>
          </a:xfrm>
          <a:prstGeom prst="rect">
            <a:avLst/>
          </a:prstGeom>
          <a:noFill/>
          <a:ln/>
        </p:spPr>
      </p:sp>
      <p:sp>
        <p:nvSpPr>
          <p:cNvPr id="60" name="Shape 58"/>
          <p:cNvSpPr/>
          <p:nvPr/>
        </p:nvSpPr>
        <p:spPr>
          <a:xfrm>
            <a:off x="4903470" y="2216974"/>
            <a:ext cx="3731895" cy="0"/>
          </a:xfrm>
          <a:prstGeom prst="line">
            <a:avLst/>
          </a:prstGeom>
          <a:noFill/>
          <a:ln w="5715">
            <a:solidFill>
              <a:srgbClr val="F0F0F0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4903470" y="1897380"/>
            <a:ext cx="417972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5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强制方式</a:t>
            </a:r>
            <a:endParaRPr lang="en-US" sz="495" dirty="0"/>
          </a:p>
        </p:txBody>
      </p:sp>
      <p:sp>
        <p:nvSpPr>
          <p:cNvPr id="62" name="Shape 60"/>
          <p:cNvSpPr/>
          <p:nvPr/>
        </p:nvSpPr>
        <p:spPr>
          <a:xfrm rot="2700000">
            <a:off x="4903470" y="2057400"/>
            <a:ext cx="34290" cy="3429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63" name="Text 61"/>
          <p:cNvSpPr/>
          <p:nvPr/>
        </p:nvSpPr>
        <p:spPr>
          <a:xfrm>
            <a:off x="4994910" y="2017395"/>
            <a:ext cx="2771546" cy="119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依赖</a:t>
            </a:r>
            <a:pPr algn="l" indent="0" marL="0">
              <a:lnSpc>
                <a:spcPct val="155000"/>
              </a:lnSpc>
              <a:buNone/>
            </a:pPr>
            <a:r>
              <a:rPr lang="en-US" sz="608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条款化承诺与社区治理</a:t>
            </a:r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：以明示条款、行为规范与治理机制协同落地。</a:t>
            </a:r>
            <a:endParaRPr lang="en-US" sz="608" dirty="0"/>
          </a:p>
        </p:txBody>
      </p:sp>
      <p:sp>
        <p:nvSpPr>
          <p:cNvPr id="64" name="Shape 62"/>
          <p:cNvSpPr/>
          <p:nvPr/>
        </p:nvSpPr>
        <p:spPr>
          <a:xfrm>
            <a:off x="4903470" y="2216974"/>
            <a:ext cx="3731895" cy="393889"/>
          </a:xfrm>
          <a:prstGeom prst="rect">
            <a:avLst/>
          </a:prstGeom>
          <a:noFill/>
          <a:ln/>
        </p:spPr>
      </p:sp>
      <p:sp>
        <p:nvSpPr>
          <p:cNvPr id="65" name="Shape 63"/>
          <p:cNvSpPr/>
          <p:nvPr/>
        </p:nvSpPr>
        <p:spPr>
          <a:xfrm>
            <a:off x="4903470" y="2610862"/>
            <a:ext cx="3731895" cy="0"/>
          </a:xfrm>
          <a:prstGeom prst="line">
            <a:avLst/>
          </a:prstGeom>
          <a:noFill/>
          <a:ln w="5715">
            <a:solidFill>
              <a:srgbClr val="F0F0F0"/>
            </a:solidFill>
            <a:prstDash val="dash"/>
          </a:ln>
        </p:spPr>
      </p:sp>
      <p:sp>
        <p:nvSpPr>
          <p:cNvPr id="66" name="Text 64"/>
          <p:cNvSpPr/>
          <p:nvPr/>
        </p:nvSpPr>
        <p:spPr>
          <a:xfrm>
            <a:off x="4903470" y="2291269"/>
            <a:ext cx="417972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5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适用场景</a:t>
            </a:r>
            <a:endParaRPr lang="en-US" sz="495" dirty="0"/>
          </a:p>
        </p:txBody>
      </p:sp>
      <p:sp>
        <p:nvSpPr>
          <p:cNvPr id="67" name="Shape 65"/>
          <p:cNvSpPr/>
          <p:nvPr/>
        </p:nvSpPr>
        <p:spPr>
          <a:xfrm rot="2700000">
            <a:off x="4903470" y="2451289"/>
            <a:ext cx="34290" cy="3429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68" name="Text 66"/>
          <p:cNvSpPr/>
          <p:nvPr/>
        </p:nvSpPr>
        <p:spPr>
          <a:xfrm>
            <a:off x="4994910" y="2411284"/>
            <a:ext cx="3104388" cy="119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额外覆盖</a:t>
            </a:r>
            <a:pPr algn="l" indent="0" marL="0">
              <a:lnSpc>
                <a:spcPct val="155000"/>
              </a:lnSpc>
              <a:buNone/>
            </a:pPr>
            <a:r>
              <a:rPr lang="en-US" sz="608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内容、模型、服务与社区规则</a:t>
            </a:r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：超越软件边界，延伸到更广义的协作场景。</a:t>
            </a:r>
            <a:endParaRPr lang="en-US" sz="608" dirty="0"/>
          </a:p>
        </p:txBody>
      </p:sp>
      <p:sp>
        <p:nvSpPr>
          <p:cNvPr id="69" name="Shape 67"/>
          <p:cNvSpPr/>
          <p:nvPr/>
        </p:nvSpPr>
        <p:spPr>
          <a:xfrm>
            <a:off x="4903470" y="2610862"/>
            <a:ext cx="3731895" cy="393889"/>
          </a:xfrm>
          <a:prstGeom prst="rect">
            <a:avLst/>
          </a:prstGeom>
          <a:noFill/>
          <a:ln/>
        </p:spPr>
      </p:sp>
      <p:sp>
        <p:nvSpPr>
          <p:cNvPr id="70" name="Shape 68"/>
          <p:cNvSpPr/>
          <p:nvPr/>
        </p:nvSpPr>
        <p:spPr>
          <a:xfrm>
            <a:off x="4903470" y="3004751"/>
            <a:ext cx="3731895" cy="0"/>
          </a:xfrm>
          <a:prstGeom prst="line">
            <a:avLst/>
          </a:prstGeom>
          <a:noFill/>
          <a:ln w="5715">
            <a:solidFill>
              <a:srgbClr val="F0F0F0"/>
            </a:solidFill>
            <a:prstDash val="dash"/>
          </a:ln>
        </p:spPr>
      </p:sp>
      <p:sp>
        <p:nvSpPr>
          <p:cNvPr id="71" name="Text 69"/>
          <p:cNvSpPr/>
          <p:nvPr/>
        </p:nvSpPr>
        <p:spPr>
          <a:xfrm>
            <a:off x="4903470" y="2685157"/>
            <a:ext cx="417972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5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典型代表</a:t>
            </a:r>
            <a:endParaRPr lang="en-US" sz="495" dirty="0"/>
          </a:p>
        </p:txBody>
      </p:sp>
      <p:sp>
        <p:nvSpPr>
          <p:cNvPr id="72" name="Shape 70"/>
          <p:cNvSpPr/>
          <p:nvPr/>
        </p:nvSpPr>
        <p:spPr>
          <a:xfrm rot="2700000">
            <a:off x="4903470" y="2845177"/>
            <a:ext cx="34290" cy="3429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73" name="Text 71"/>
          <p:cNvSpPr/>
          <p:nvPr/>
        </p:nvSpPr>
        <p:spPr>
          <a:xfrm>
            <a:off x="4994910" y="2805172"/>
            <a:ext cx="2464308" cy="119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08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R2I / 可访问性条款 / AI 使用守则</a:t>
            </a:r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：面向人与技术的关系重构规则。</a:t>
            </a:r>
            <a:endParaRPr lang="en-US" sz="608" dirty="0"/>
          </a:p>
        </p:txBody>
      </p:sp>
      <p:sp>
        <p:nvSpPr>
          <p:cNvPr id="74" name="Text 72"/>
          <p:cNvSpPr/>
          <p:nvPr/>
        </p:nvSpPr>
        <p:spPr>
          <a:xfrm>
            <a:off x="4903470" y="3079046"/>
            <a:ext cx="417972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5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关系定位</a:t>
            </a:r>
            <a:endParaRPr lang="en-US" sz="495" dirty="0"/>
          </a:p>
        </p:txBody>
      </p:sp>
      <p:sp>
        <p:nvSpPr>
          <p:cNvPr id="75" name="Shape 73"/>
          <p:cNvSpPr/>
          <p:nvPr/>
        </p:nvSpPr>
        <p:spPr>
          <a:xfrm rot="2700000">
            <a:off x="4903470" y="3239066"/>
            <a:ext cx="34290" cy="3429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76" name="Text 74"/>
          <p:cNvSpPr/>
          <p:nvPr/>
        </p:nvSpPr>
        <p:spPr>
          <a:xfrm>
            <a:off x="4994910" y="3199061"/>
            <a:ext cx="3245206" cy="119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是 Copyleft 的</a:t>
            </a:r>
            <a:pPr algn="l" indent="0" marL="0">
              <a:lnSpc>
                <a:spcPct val="155000"/>
              </a:lnSpc>
              <a:buNone/>
            </a:pPr>
            <a:r>
              <a:rPr lang="en-US" sz="608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自然延伸</a:t>
            </a:r>
            <a:pPr algn="l" indent="0" marL="0">
              <a:lnSpc>
                <a:spcPct val="155000"/>
              </a:lnSpc>
              <a:buNone/>
            </a:pPr>
            <a:r>
              <a:rPr lang="en-US" sz="608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：在代码之外，把"自由"落到人身上，形成更完整的开源承诺。</a:t>
            </a:r>
            <a:endParaRPr lang="en-US" sz="608" dirty="0"/>
          </a:p>
        </p:txBody>
      </p:sp>
      <p:sp>
        <p:nvSpPr>
          <p:cNvPr id="77" name="Shape 75"/>
          <p:cNvSpPr/>
          <p:nvPr/>
        </p:nvSpPr>
        <p:spPr>
          <a:xfrm>
            <a:off x="342900" y="3564374"/>
            <a:ext cx="7063740" cy="89582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8" name="Shape 76"/>
          <p:cNvSpPr/>
          <p:nvPr/>
        </p:nvSpPr>
        <p:spPr>
          <a:xfrm>
            <a:off x="342900" y="3564374"/>
            <a:ext cx="22860" cy="895826"/>
          </a:xfrm>
          <a:prstGeom prst="rect">
            <a:avLst/>
          </a:prstGeom>
          <a:gradFill rotWithShape="1">
            <a:gsLst>
              <a:gs pos="0">
                <a:srgbClr val="002FA7"/>
              </a:gs>
              <a:gs pos="50000">
                <a:srgbClr val="002FA7"/>
              </a:gs>
              <a:gs pos="50000">
                <a:srgbClr val="FF7043"/>
              </a:gs>
              <a:gs pos="100000">
                <a:srgbClr val="FF7043"/>
              </a:gs>
            </a:gsLst>
            <a:lin ang="5400000" scaled="0"/>
          </a:gradFill>
          <a:ln/>
        </p:spPr>
      </p:sp>
      <p:sp>
        <p:nvSpPr>
          <p:cNvPr id="79" name="Text 77"/>
          <p:cNvSpPr/>
          <p:nvPr/>
        </p:nvSpPr>
        <p:spPr>
          <a:xfrm>
            <a:off x="525780" y="3678674"/>
            <a:ext cx="754014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叙事收束 · NARRATIVE</a:t>
            </a:r>
            <a:endParaRPr lang="en-US" sz="450" dirty="0"/>
          </a:p>
        </p:txBody>
      </p:sp>
      <p:sp>
        <p:nvSpPr>
          <p:cNvPr id="80" name="Text 78"/>
          <p:cNvSpPr/>
          <p:nvPr/>
        </p:nvSpPr>
        <p:spPr>
          <a:xfrm>
            <a:off x="525780" y="3798689"/>
            <a:ext cx="7540142" cy="126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两者并非</a:t>
            </a:r>
            <a:pPr algn="l" indent="0" marL="0">
              <a:lnSpc>
                <a:spcPct val="1700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替代关系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，而是同一价值体系的</a:t>
            </a:r>
            <a:pPr algn="l" indent="0" marL="0">
              <a:lnSpc>
                <a:spcPct val="1700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两次延伸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</a:t>
            </a:r>
            <a:pPr algn="l" indent="0" marL="0">
              <a:lnSpc>
                <a:spcPct val="170000"/>
              </a:lnSpc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让代码保持自由，</a:t>
            </a:r>
            <a:pPr algn="l" indent="0" marL="0">
              <a:lnSpc>
                <a:spcPct val="170000"/>
              </a:lnSpc>
              <a:buNone/>
            </a:pPr>
            <a:r>
              <a:rPr lang="en-US" sz="585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R2I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让人被平等地包含。在 AI、SaaS 与全球化协作的今天，把两者结合，才是完整的开源承诺。</a:t>
            </a:r>
            <a:endParaRPr lang="en-US" sz="585" dirty="0"/>
          </a:p>
        </p:txBody>
      </p:sp>
      <p:sp>
        <p:nvSpPr>
          <p:cNvPr id="81" name="Shape 79"/>
          <p:cNvSpPr/>
          <p:nvPr/>
        </p:nvSpPr>
        <p:spPr>
          <a:xfrm>
            <a:off x="7543800" y="3564374"/>
            <a:ext cx="1257300" cy="895826"/>
          </a:xfrm>
          <a:prstGeom prst="rect">
            <a:avLst/>
          </a:prstGeom>
          <a:solidFill>
            <a:srgbClr val="FFFFFF"/>
          </a:solidFill>
          <a:ln w="5715">
            <a:solidFill>
              <a:srgbClr val="E6E6E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652385" y="3661529"/>
            <a:ext cx="1164946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72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DIMENSIONS</a:t>
            </a:r>
            <a:endParaRPr lang="en-US" sz="450" dirty="0"/>
          </a:p>
        </p:txBody>
      </p:sp>
      <p:sp>
        <p:nvSpPr>
          <p:cNvPr id="83" name="Text 81"/>
          <p:cNvSpPr/>
          <p:nvPr/>
        </p:nvSpPr>
        <p:spPr>
          <a:xfrm>
            <a:off x="7652385" y="3752969"/>
            <a:ext cx="1164946" cy="207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85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pPr algn="l" indent="0" marL="0">
              <a:lnSpc>
                <a:spcPct val="140000"/>
              </a:lnSpc>
              <a:buNone/>
            </a:pPr>
            <a:r>
              <a:rPr lang="en-US" sz="585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对象 / 方式 / 场景 / 代表 / 关系</a:t>
            </a:r>
            <a:endParaRPr lang="en-US" sz="585" dirty="0"/>
          </a:p>
        </p:txBody>
      </p:sp>
      <p:sp>
        <p:nvSpPr>
          <p:cNvPr id="84" name="Shape 82"/>
          <p:cNvSpPr/>
          <p:nvPr/>
        </p:nvSpPr>
        <p:spPr>
          <a:xfrm>
            <a:off x="7652385" y="3960852"/>
            <a:ext cx="1040130" cy="5715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5" name="Text 83"/>
          <p:cNvSpPr/>
          <p:nvPr/>
        </p:nvSpPr>
        <p:spPr>
          <a:xfrm>
            <a:off x="7652385" y="3966567"/>
            <a:ext cx="1164946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72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</a:t>
            </a:r>
            <a:endParaRPr lang="en-US" sz="450" dirty="0"/>
          </a:p>
        </p:txBody>
      </p:sp>
      <p:sp>
        <p:nvSpPr>
          <p:cNvPr id="86" name="Text 84"/>
          <p:cNvSpPr/>
          <p:nvPr/>
        </p:nvSpPr>
        <p:spPr>
          <a:xfrm>
            <a:off x="7652385" y="4058007"/>
            <a:ext cx="1164946" cy="103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85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</a:t>
            </a:r>
            <a:pPr algn="l" indent="0" marL="0">
              <a:lnSpc>
                <a:spcPct val="140000"/>
              </a:lnSpc>
              <a:buNone/>
            </a:pPr>
            <a:r>
              <a:rPr lang="en-US" sz="585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pPr algn="l" indent="0" marL="0">
              <a:lnSpc>
                <a:spcPct val="140000"/>
              </a:lnSpc>
              <a:buNone/>
            </a:pPr>
            <a:r>
              <a:rPr lang="en-US" sz="585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</a:t>
            </a:r>
            <a:endParaRPr lang="en-US" sz="585" dirty="0"/>
          </a:p>
        </p:txBody>
      </p:sp>
      <p:sp>
        <p:nvSpPr>
          <p:cNvPr id="87" name="Shape 85"/>
          <p:cNvSpPr/>
          <p:nvPr/>
        </p:nvSpPr>
        <p:spPr>
          <a:xfrm>
            <a:off x="7652385" y="4161949"/>
            <a:ext cx="1040130" cy="5715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8" name="Text 86"/>
          <p:cNvSpPr/>
          <p:nvPr/>
        </p:nvSpPr>
        <p:spPr>
          <a:xfrm>
            <a:off x="7652385" y="4167664"/>
            <a:ext cx="1164946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72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RANGE</a:t>
            </a:r>
            <a:endParaRPr lang="en-US" sz="450" dirty="0"/>
          </a:p>
        </p:txBody>
      </p:sp>
      <p:sp>
        <p:nvSpPr>
          <p:cNvPr id="89" name="Text 87"/>
          <p:cNvSpPr/>
          <p:nvPr/>
        </p:nvSpPr>
        <p:spPr>
          <a:xfrm>
            <a:off x="7652385" y="4259104"/>
            <a:ext cx="1164946" cy="1039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85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从软件自由 → 社会包容</a:t>
            </a:r>
            <a:endParaRPr lang="en-US" sz="585" dirty="0"/>
          </a:p>
        </p:txBody>
      </p:sp>
      <p:sp>
        <p:nvSpPr>
          <p:cNvPr id="90" name="Shape 88"/>
          <p:cNvSpPr/>
          <p:nvPr/>
        </p:nvSpPr>
        <p:spPr>
          <a:xfrm>
            <a:off x="342900" y="5006340"/>
            <a:ext cx="137160" cy="5715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91" name="Text 89"/>
          <p:cNvSpPr/>
          <p:nvPr/>
        </p:nvSpPr>
        <p:spPr>
          <a:xfrm>
            <a:off x="537210" y="4974908"/>
            <a:ext cx="1246956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3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 × R2I · COMPARISON</a:t>
            </a:r>
            <a:endParaRPr lang="en-US" sz="450" dirty="0"/>
          </a:p>
        </p:txBody>
      </p:sp>
      <p:sp>
        <p:nvSpPr>
          <p:cNvPr id="92" name="Text 90"/>
          <p:cNvSpPr/>
          <p:nvPr/>
        </p:nvSpPr>
        <p:spPr>
          <a:xfrm>
            <a:off x="7511742" y="4966335"/>
            <a:ext cx="14440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3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 · TYPE · GEOMETRY — 极简对照页</a:t>
            </a:r>
            <a:endParaRPr lang="en-US" sz="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7772400" y="342900"/>
            <a:ext cx="1028700" cy="1028700"/>
          </a:xfrm>
          <a:prstGeom prst="ellipse">
            <a:avLst/>
          </a:prstGeom>
          <a:noFill/>
          <a:ln w="5715">
            <a:solidFill>
              <a:srgbClr val="E4E4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4629150"/>
            <a:ext cx="57150" cy="5715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685800"/>
            <a:ext cx="11430" cy="3429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6" name="Shape 4"/>
          <p:cNvSpPr/>
          <p:nvPr/>
        </p:nvSpPr>
        <p:spPr>
          <a:xfrm>
            <a:off x="342900" y="337185"/>
            <a:ext cx="160020" cy="5715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7" name="Text 5"/>
          <p:cNvSpPr/>
          <p:nvPr/>
        </p:nvSpPr>
        <p:spPr>
          <a:xfrm>
            <a:off x="560070" y="297180"/>
            <a:ext cx="238469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R2I · RESPECTIVE OPENSOURCE LANDSCAPE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2746415" y="317183"/>
            <a:ext cx="45720" cy="4572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" y="451485"/>
            <a:ext cx="7040880" cy="276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80" b="1" spc="-20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R2I</a:t>
            </a:r>
            <a:pPr algn="l" indent="0" marL="0">
              <a:lnSpc>
                <a:spcPct val="110000"/>
              </a:lnSpc>
              <a:buNone/>
            </a:pPr>
            <a:r>
              <a:rPr lang="en-US" sz="1980" b="1" spc="-20" kern="0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与相关项目</a:t>
            </a:r>
            <a:pPr algn="l" indent="0" marL="0">
              <a:lnSpc>
                <a:spcPct val="110000"/>
              </a:lnSpc>
              <a:buNone/>
            </a:pPr>
            <a:r>
              <a:rPr lang="en-US" sz="1980" b="1" spc="-20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全景</a:t>
            </a:r>
            <a:endParaRPr lang="en-US" sz="1980" dirty="0"/>
          </a:p>
        </p:txBody>
      </p:sp>
      <p:sp>
        <p:nvSpPr>
          <p:cNvPr id="10" name="Text 8"/>
          <p:cNvSpPr/>
          <p:nvPr/>
        </p:nvSpPr>
        <p:spPr>
          <a:xfrm>
            <a:off x="342900" y="796617"/>
            <a:ext cx="7040880" cy="280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R2I 的落地仍处于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早期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——一部分是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社区倡导者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的理念推广，一部分是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基金会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的制度试点，还有一部分是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开发者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对既有 Copyleft 许可证的补丁式扩展；它未必取代 GPL，但正在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改写"什么是开源"的边界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30" dirty="0"/>
          </a:p>
        </p:txBody>
      </p:sp>
      <p:sp>
        <p:nvSpPr>
          <p:cNvPr id="11" name="Shape 9"/>
          <p:cNvSpPr/>
          <p:nvPr/>
        </p:nvSpPr>
        <p:spPr>
          <a:xfrm>
            <a:off x="7785884" y="251460"/>
            <a:ext cx="1015216" cy="1600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5715">
            <a:solidFill>
              <a:srgbClr val="002F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85884" y="251460"/>
            <a:ext cx="1137042" cy="16002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algn="l" indent="0" marL="0">
              <a:buNone/>
            </a:pPr>
            <a:r>
              <a:rPr lang="en-US" sz="495" spc="8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DASHBOARD · 2024</a:t>
            </a:r>
            <a:endParaRPr lang="en-US" sz="495" dirty="0"/>
          </a:p>
        </p:txBody>
      </p:sp>
      <p:sp>
        <p:nvSpPr>
          <p:cNvPr id="13" name="Shape 11"/>
          <p:cNvSpPr/>
          <p:nvPr/>
        </p:nvSpPr>
        <p:spPr>
          <a:xfrm>
            <a:off x="7768917" y="445770"/>
            <a:ext cx="1032183" cy="14859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5715">
            <a:solidFill>
              <a:srgbClr val="D0D0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68917" y="445770"/>
            <a:ext cx="1156044" cy="14859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algn="l" indent="0" marL="0">
              <a:buNone/>
            </a:pPr>
            <a:r>
              <a:rPr lang="en-US" sz="495" spc="89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/ OVERVIEW · 01</a:t>
            </a:r>
            <a:endParaRPr lang="en-US" sz="495" dirty="0"/>
          </a:p>
        </p:txBody>
      </p:sp>
      <p:sp>
        <p:nvSpPr>
          <p:cNvPr id="15" name="Text 13"/>
          <p:cNvSpPr/>
          <p:nvPr/>
        </p:nvSpPr>
        <p:spPr>
          <a:xfrm>
            <a:off x="8270855" y="628650"/>
            <a:ext cx="59387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89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2018 — 2024</a:t>
            </a:r>
            <a:endParaRPr lang="en-US" sz="495" dirty="0"/>
          </a:p>
        </p:txBody>
      </p:sp>
      <p:sp>
        <p:nvSpPr>
          <p:cNvPr id="16" name="Text 14"/>
          <p:cNvSpPr/>
          <p:nvPr/>
        </p:nvSpPr>
        <p:spPr>
          <a:xfrm>
            <a:off x="342900" y="1216670"/>
            <a:ext cx="15087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74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95" dirty="0"/>
          </a:p>
        </p:txBody>
      </p:sp>
      <p:sp>
        <p:nvSpPr>
          <p:cNvPr id="17" name="Text 15"/>
          <p:cNvSpPr/>
          <p:nvPr/>
        </p:nvSpPr>
        <p:spPr>
          <a:xfrm>
            <a:off x="510421" y="1202382"/>
            <a:ext cx="748094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2" kern="0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核心指标 · 六维画像</a:t>
            </a:r>
            <a:endParaRPr lang="en-US" sz="585" dirty="0"/>
          </a:p>
        </p:txBody>
      </p:sp>
      <p:sp>
        <p:nvSpPr>
          <p:cNvPr id="18" name="Shape 16"/>
          <p:cNvSpPr/>
          <p:nvPr/>
        </p:nvSpPr>
        <p:spPr>
          <a:xfrm>
            <a:off x="1258372" y="1253817"/>
            <a:ext cx="7008197" cy="5715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19" name="Text 17"/>
          <p:cNvSpPr/>
          <p:nvPr/>
        </p:nvSpPr>
        <p:spPr>
          <a:xfrm>
            <a:off x="8346579" y="1216670"/>
            <a:ext cx="51738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59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PILLARS</a:t>
            </a:r>
            <a:endParaRPr lang="en-US" sz="495" dirty="0"/>
          </a:p>
        </p:txBody>
      </p:sp>
      <p:sp>
        <p:nvSpPr>
          <p:cNvPr id="20" name="Shape 18"/>
          <p:cNvSpPr/>
          <p:nvPr/>
        </p:nvSpPr>
        <p:spPr>
          <a:xfrm>
            <a:off x="342900" y="1379547"/>
            <a:ext cx="1352490" cy="857250"/>
          </a:xfrm>
          <a:prstGeom prst="rect">
            <a:avLst/>
          </a:prstGeom>
          <a:solidFill>
            <a:srgbClr val="FFFFFF"/>
          </a:solidFill>
          <a:ln w="5715">
            <a:solidFill>
              <a:srgbClr val="E4E4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21070" y="1442412"/>
            <a:ext cx="25717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· 01</a:t>
            </a:r>
            <a:endParaRPr lang="en-US" sz="450" dirty="0"/>
          </a:p>
        </p:txBody>
      </p:sp>
      <p:sp>
        <p:nvSpPr>
          <p:cNvPr id="22" name="Text 20"/>
          <p:cNvSpPr/>
          <p:nvPr/>
        </p:nvSpPr>
        <p:spPr>
          <a:xfrm>
            <a:off x="428625" y="1476702"/>
            <a:ext cx="132276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85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发起年份</a:t>
            </a:r>
            <a:endParaRPr lang="en-US" sz="473" dirty="0"/>
          </a:p>
        </p:txBody>
      </p:sp>
      <p:sp>
        <p:nvSpPr>
          <p:cNvPr id="23" name="Text 21"/>
          <p:cNvSpPr/>
          <p:nvPr/>
        </p:nvSpPr>
        <p:spPr>
          <a:xfrm>
            <a:off x="428625" y="1585287"/>
            <a:ext cx="136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spc="-2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2018</a:t>
            </a:r>
            <a:pPr algn="l" indent="0" marL="0">
              <a:lnSpc>
                <a:spcPct val="100000"/>
              </a:lnSpc>
              <a:buNone/>
            </a:pPr>
            <a:r>
              <a:rPr lang="en-US" sz="630" b="1" spc="-29" kern="0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</a:t>
            </a:r>
            <a:endParaRPr lang="en-US" sz="1440" dirty="0"/>
          </a:p>
        </p:txBody>
      </p:sp>
      <p:sp>
        <p:nvSpPr>
          <p:cNvPr id="24" name="Shape 22"/>
          <p:cNvSpPr/>
          <p:nvPr/>
        </p:nvSpPr>
        <p:spPr>
          <a:xfrm>
            <a:off x="428625" y="2019627"/>
            <a:ext cx="1181040" cy="131445"/>
          </a:xfrm>
          <a:prstGeom prst="rect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428625" y="2019627"/>
            <a:ext cx="1181040" cy="0"/>
          </a:xfrm>
          <a:prstGeom prst="line">
            <a:avLst/>
          </a:prstGeom>
          <a:noFill/>
          <a:ln w="5715">
            <a:solidFill>
              <a:srgbClr val="E4E4E7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28625" y="2071062"/>
            <a:ext cx="42978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28" spc="43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提案公开讨论</a:t>
            </a:r>
            <a:endParaRPr lang="en-US" sz="428" dirty="0"/>
          </a:p>
        </p:txBody>
      </p:sp>
      <p:sp>
        <p:nvSpPr>
          <p:cNvPr id="27" name="Shape 25"/>
          <p:cNvSpPr/>
          <p:nvPr/>
        </p:nvSpPr>
        <p:spPr>
          <a:xfrm>
            <a:off x="1575375" y="2093922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28" name="Shape 26"/>
          <p:cNvSpPr/>
          <p:nvPr/>
        </p:nvSpPr>
        <p:spPr>
          <a:xfrm>
            <a:off x="1763970" y="1379547"/>
            <a:ext cx="1352580" cy="8572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8FAFF"/>
              </a:gs>
            </a:gsLst>
            <a:lin ang="5400000" scaled="0"/>
          </a:gradFill>
          <a:ln w="5715">
            <a:solidFill>
              <a:srgbClr val="002F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0800" y="1442412"/>
            <a:ext cx="26860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· 02</a:t>
            </a:r>
            <a:endParaRPr lang="en-US" sz="450" dirty="0"/>
          </a:p>
        </p:txBody>
      </p:sp>
      <p:sp>
        <p:nvSpPr>
          <p:cNvPr id="30" name="Text 28"/>
          <p:cNvSpPr/>
          <p:nvPr/>
        </p:nvSpPr>
        <p:spPr>
          <a:xfrm>
            <a:off x="1849695" y="1476702"/>
            <a:ext cx="132286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85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官网上线</a:t>
            </a:r>
            <a:endParaRPr lang="en-US" sz="473" dirty="0"/>
          </a:p>
        </p:txBody>
      </p:sp>
      <p:sp>
        <p:nvSpPr>
          <p:cNvPr id="31" name="Text 29"/>
          <p:cNvSpPr/>
          <p:nvPr/>
        </p:nvSpPr>
        <p:spPr>
          <a:xfrm>
            <a:off x="1849695" y="1585287"/>
            <a:ext cx="136401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spc="-2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</a:t>
            </a:r>
            <a:pPr algn="l" indent="0" marL="0">
              <a:lnSpc>
                <a:spcPct val="100000"/>
              </a:lnSpc>
              <a:buNone/>
            </a:pPr>
            <a:r>
              <a:rPr lang="en-US" sz="630" b="1" spc="-29" kern="0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</a:t>
            </a:r>
            <a:endParaRPr lang="en-US" sz="1440" dirty="0"/>
          </a:p>
        </p:txBody>
      </p:sp>
      <p:sp>
        <p:nvSpPr>
          <p:cNvPr id="32" name="Shape 30"/>
          <p:cNvSpPr/>
          <p:nvPr/>
        </p:nvSpPr>
        <p:spPr>
          <a:xfrm>
            <a:off x="1849695" y="2019627"/>
            <a:ext cx="1181130" cy="131445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1849695" y="2019627"/>
            <a:ext cx="1181130" cy="0"/>
          </a:xfrm>
          <a:prstGeom prst="line">
            <a:avLst/>
          </a:prstGeom>
          <a:noFill/>
          <a:ln w="5715">
            <a:solidFill>
              <a:srgbClr val="E4E4E7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49695" y="2071062"/>
            <a:ext cx="41210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28" spc="43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规范 v1 发布</a:t>
            </a:r>
            <a:endParaRPr lang="en-US" sz="428" dirty="0"/>
          </a:p>
        </p:txBody>
      </p:sp>
      <p:sp>
        <p:nvSpPr>
          <p:cNvPr id="35" name="Shape 33"/>
          <p:cNvSpPr/>
          <p:nvPr/>
        </p:nvSpPr>
        <p:spPr>
          <a:xfrm>
            <a:off x="2996535" y="2093922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36" name="Shape 34"/>
          <p:cNvSpPr/>
          <p:nvPr/>
        </p:nvSpPr>
        <p:spPr>
          <a:xfrm>
            <a:off x="3185130" y="1379547"/>
            <a:ext cx="1352580" cy="857250"/>
          </a:xfrm>
          <a:prstGeom prst="rect">
            <a:avLst/>
          </a:prstGeom>
          <a:solidFill>
            <a:srgbClr val="FFFFFF"/>
          </a:solidFill>
          <a:ln w="5715">
            <a:solidFill>
              <a:srgbClr val="E4E4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1442412"/>
            <a:ext cx="26860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· 03</a:t>
            </a:r>
            <a:endParaRPr lang="en-US" sz="450" dirty="0"/>
          </a:p>
        </p:txBody>
      </p:sp>
      <p:sp>
        <p:nvSpPr>
          <p:cNvPr id="38" name="Text 36"/>
          <p:cNvSpPr/>
          <p:nvPr/>
        </p:nvSpPr>
        <p:spPr>
          <a:xfrm>
            <a:off x="3270855" y="1476702"/>
            <a:ext cx="132286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85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支持机构</a:t>
            </a:r>
            <a:endParaRPr lang="en-US" sz="473" dirty="0"/>
          </a:p>
        </p:txBody>
      </p:sp>
      <p:sp>
        <p:nvSpPr>
          <p:cNvPr id="39" name="Text 37"/>
          <p:cNvSpPr/>
          <p:nvPr/>
        </p:nvSpPr>
        <p:spPr>
          <a:xfrm>
            <a:off x="3270855" y="1585287"/>
            <a:ext cx="1322865" cy="107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b="1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Mozilla</a:t>
            </a:r>
            <a:pPr algn="l" indent="0" marL="0">
              <a:lnSpc>
                <a:spcPct val="125000"/>
              </a:lnSpc>
              <a:buNone/>
            </a:pPr>
            <a:r>
              <a:rPr lang="en-US" sz="675" b="1" dirty="0">
                <a:solidFill>
                  <a:srgbClr val="D0D0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pPr algn="l" indent="0" marL="0">
              <a:lnSpc>
                <a:spcPct val="125000"/>
              </a:lnSpc>
              <a:buNone/>
            </a:pPr>
            <a:r>
              <a:rPr lang="en-US" sz="675" b="1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Wikimedia</a:t>
            </a:r>
            <a:pPr algn="l" indent="0" marL="0">
              <a:lnSpc>
                <a:spcPct val="125000"/>
              </a:lnSpc>
              <a:buNone/>
            </a:pPr>
            <a:r>
              <a:rPr lang="en-US" sz="675" b="1" dirty="0">
                <a:solidFill>
                  <a:srgbClr val="D0D0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pPr algn="l" indent="0" marL="0">
              <a:lnSpc>
                <a:spcPct val="125000"/>
              </a:lnSpc>
              <a:buNone/>
            </a:pPr>
            <a:r>
              <a:rPr lang="en-US" sz="675" b="1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Drupal</a:t>
            </a:r>
            <a:endParaRPr lang="en-US" sz="675" dirty="0"/>
          </a:p>
        </p:txBody>
      </p:sp>
      <p:sp>
        <p:nvSpPr>
          <p:cNvPr id="40" name="Shape 38"/>
          <p:cNvSpPr/>
          <p:nvPr/>
        </p:nvSpPr>
        <p:spPr>
          <a:xfrm>
            <a:off x="3270855" y="2019627"/>
            <a:ext cx="1181130" cy="131445"/>
          </a:xfrm>
          <a:prstGeom prst="rect">
            <a:avLst/>
          </a:prstGeom>
          <a:noFill/>
          <a:ln/>
        </p:spPr>
      </p:sp>
      <p:sp>
        <p:nvSpPr>
          <p:cNvPr id="41" name="Shape 39"/>
          <p:cNvSpPr/>
          <p:nvPr/>
        </p:nvSpPr>
        <p:spPr>
          <a:xfrm>
            <a:off x="3270855" y="2019627"/>
            <a:ext cx="1181130" cy="0"/>
          </a:xfrm>
          <a:prstGeom prst="line">
            <a:avLst/>
          </a:prstGeom>
          <a:noFill/>
          <a:ln w="5715">
            <a:solidFill>
              <a:srgbClr val="E4E4E7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3270855" y="2071062"/>
            <a:ext cx="36718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28" spc="43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头部基金会</a:t>
            </a:r>
            <a:endParaRPr lang="en-US" sz="428" dirty="0"/>
          </a:p>
        </p:txBody>
      </p:sp>
      <p:sp>
        <p:nvSpPr>
          <p:cNvPr id="43" name="Shape 41"/>
          <p:cNvSpPr/>
          <p:nvPr/>
        </p:nvSpPr>
        <p:spPr>
          <a:xfrm>
            <a:off x="4417695" y="2093922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44" name="Shape 42"/>
          <p:cNvSpPr/>
          <p:nvPr/>
        </p:nvSpPr>
        <p:spPr>
          <a:xfrm>
            <a:off x="4606290" y="1379547"/>
            <a:ext cx="1352490" cy="857250"/>
          </a:xfrm>
          <a:prstGeom prst="rect">
            <a:avLst/>
          </a:prstGeom>
          <a:solidFill>
            <a:srgbClr val="FFFFFF"/>
          </a:solidFill>
          <a:ln w="5715">
            <a:solidFill>
              <a:srgbClr val="E4E4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7315" y="1442412"/>
            <a:ext cx="27432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· 04</a:t>
            </a:r>
            <a:endParaRPr lang="en-US" sz="450" dirty="0"/>
          </a:p>
        </p:txBody>
      </p:sp>
      <p:sp>
        <p:nvSpPr>
          <p:cNvPr id="46" name="Text 44"/>
          <p:cNvSpPr/>
          <p:nvPr/>
        </p:nvSpPr>
        <p:spPr>
          <a:xfrm>
            <a:off x="4692015" y="1476702"/>
            <a:ext cx="132276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85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参考标准</a:t>
            </a:r>
            <a:endParaRPr lang="en-US" sz="473" dirty="0"/>
          </a:p>
        </p:txBody>
      </p:sp>
      <p:sp>
        <p:nvSpPr>
          <p:cNvPr id="47" name="Text 45"/>
          <p:cNvSpPr/>
          <p:nvPr/>
        </p:nvSpPr>
        <p:spPr>
          <a:xfrm>
            <a:off x="4692015" y="1585287"/>
            <a:ext cx="1322765" cy="107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b="1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WCAG 2.1</a:t>
            </a:r>
            <a:pPr algn="l" indent="0" marL="0">
              <a:lnSpc>
                <a:spcPct val="125000"/>
              </a:lnSpc>
              <a:buNone/>
            </a:pPr>
            <a:r>
              <a:rPr lang="en-US" sz="675" b="1" dirty="0">
                <a:solidFill>
                  <a:srgbClr val="D0D0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pPr algn="l" indent="0" marL="0">
              <a:lnSpc>
                <a:spcPct val="125000"/>
              </a:lnSpc>
              <a:buNone/>
            </a:pPr>
            <a:r>
              <a:rPr lang="en-US" sz="675" b="1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W3C</a:t>
            </a:r>
            <a:endParaRPr lang="en-US" sz="675" dirty="0"/>
          </a:p>
        </p:txBody>
      </p:sp>
      <p:sp>
        <p:nvSpPr>
          <p:cNvPr id="48" name="Shape 46"/>
          <p:cNvSpPr/>
          <p:nvPr/>
        </p:nvSpPr>
        <p:spPr>
          <a:xfrm>
            <a:off x="4692015" y="2019627"/>
            <a:ext cx="1181040" cy="131445"/>
          </a:xfrm>
          <a:prstGeom prst="rect">
            <a:avLst/>
          </a:prstGeom>
          <a:noFill/>
          <a:ln/>
        </p:spPr>
      </p:sp>
      <p:sp>
        <p:nvSpPr>
          <p:cNvPr id="49" name="Shape 47"/>
          <p:cNvSpPr/>
          <p:nvPr/>
        </p:nvSpPr>
        <p:spPr>
          <a:xfrm>
            <a:off x="4692015" y="2019627"/>
            <a:ext cx="1181040" cy="0"/>
          </a:xfrm>
          <a:prstGeom prst="line">
            <a:avLst/>
          </a:prstGeom>
          <a:noFill/>
          <a:ln w="5715">
            <a:solidFill>
              <a:srgbClr val="E4E4E7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4692015" y="2071062"/>
            <a:ext cx="42978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28" spc="43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可访问性基准</a:t>
            </a:r>
            <a:endParaRPr lang="en-US" sz="428" dirty="0"/>
          </a:p>
        </p:txBody>
      </p:sp>
      <p:sp>
        <p:nvSpPr>
          <p:cNvPr id="51" name="Shape 49"/>
          <p:cNvSpPr/>
          <p:nvPr/>
        </p:nvSpPr>
        <p:spPr>
          <a:xfrm>
            <a:off x="5838765" y="2093922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52" name="Shape 50"/>
          <p:cNvSpPr/>
          <p:nvPr/>
        </p:nvSpPr>
        <p:spPr>
          <a:xfrm>
            <a:off x="6027360" y="1379547"/>
            <a:ext cx="1352580" cy="857250"/>
          </a:xfrm>
          <a:prstGeom prst="rect">
            <a:avLst/>
          </a:prstGeom>
          <a:solidFill>
            <a:srgbClr val="FFFFFF"/>
          </a:solidFill>
          <a:ln w="5715">
            <a:solidFill>
              <a:srgbClr val="E4E4E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94190" y="1442412"/>
            <a:ext cx="26860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· 05</a:t>
            </a:r>
            <a:endParaRPr lang="en-US" sz="450" dirty="0"/>
          </a:p>
        </p:txBody>
      </p:sp>
      <p:sp>
        <p:nvSpPr>
          <p:cNvPr id="54" name="Text 52"/>
          <p:cNvSpPr/>
          <p:nvPr/>
        </p:nvSpPr>
        <p:spPr>
          <a:xfrm>
            <a:off x="6113085" y="1476702"/>
            <a:ext cx="132286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85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覆盖维度</a:t>
            </a:r>
            <a:endParaRPr lang="en-US" sz="473" dirty="0"/>
          </a:p>
        </p:txBody>
      </p:sp>
      <p:sp>
        <p:nvSpPr>
          <p:cNvPr id="55" name="Text 53"/>
          <p:cNvSpPr/>
          <p:nvPr/>
        </p:nvSpPr>
        <p:spPr>
          <a:xfrm>
            <a:off x="6113085" y="1585287"/>
            <a:ext cx="136401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spc="-2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pPr algn="l" indent="0" marL="0">
              <a:lnSpc>
                <a:spcPct val="100000"/>
              </a:lnSpc>
              <a:buNone/>
            </a:pPr>
            <a:r>
              <a:rPr lang="en-US" sz="630" b="1" spc="-29" kern="0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类</a:t>
            </a:r>
            <a:endParaRPr lang="en-US" sz="1440" dirty="0"/>
          </a:p>
        </p:txBody>
      </p:sp>
      <p:sp>
        <p:nvSpPr>
          <p:cNvPr id="56" name="Shape 54"/>
          <p:cNvSpPr/>
          <p:nvPr/>
        </p:nvSpPr>
        <p:spPr>
          <a:xfrm>
            <a:off x="6113085" y="2019627"/>
            <a:ext cx="1181130" cy="131445"/>
          </a:xfrm>
          <a:prstGeom prst="rect">
            <a:avLst/>
          </a:prstGeom>
          <a:noFill/>
          <a:ln/>
        </p:spPr>
      </p:sp>
      <p:sp>
        <p:nvSpPr>
          <p:cNvPr id="57" name="Shape 55"/>
          <p:cNvSpPr/>
          <p:nvPr/>
        </p:nvSpPr>
        <p:spPr>
          <a:xfrm>
            <a:off x="6113085" y="2019627"/>
            <a:ext cx="1181130" cy="0"/>
          </a:xfrm>
          <a:prstGeom prst="line">
            <a:avLst/>
          </a:prstGeom>
          <a:noFill/>
          <a:ln w="5715">
            <a:solidFill>
              <a:srgbClr val="E4E4E7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6113085" y="2071062"/>
            <a:ext cx="92851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28" spc="43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可访问 · 多样 · 可持续 · 公正</a:t>
            </a:r>
            <a:endParaRPr lang="en-US" sz="428" dirty="0"/>
          </a:p>
        </p:txBody>
      </p:sp>
      <p:sp>
        <p:nvSpPr>
          <p:cNvPr id="59" name="Shape 57"/>
          <p:cNvSpPr/>
          <p:nvPr/>
        </p:nvSpPr>
        <p:spPr>
          <a:xfrm>
            <a:off x="7259925" y="2093922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60" name="Shape 58"/>
          <p:cNvSpPr/>
          <p:nvPr/>
        </p:nvSpPr>
        <p:spPr>
          <a:xfrm>
            <a:off x="7448520" y="1379547"/>
            <a:ext cx="1352580" cy="857250"/>
          </a:xfrm>
          <a:prstGeom prst="rect">
            <a:avLst/>
          </a:prstGeom>
          <a:solidFill>
            <a:srgbClr val="FFFFFF"/>
          </a:solidFill>
          <a:ln w="5715">
            <a:solidFill>
              <a:srgbClr val="E4E4E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15350" y="1442412"/>
            <a:ext cx="26860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· 06</a:t>
            </a:r>
            <a:endParaRPr lang="en-US" sz="450" dirty="0"/>
          </a:p>
        </p:txBody>
      </p:sp>
      <p:sp>
        <p:nvSpPr>
          <p:cNvPr id="62" name="Text 60"/>
          <p:cNvSpPr/>
          <p:nvPr/>
        </p:nvSpPr>
        <p:spPr>
          <a:xfrm>
            <a:off x="7534245" y="1476702"/>
            <a:ext cx="132286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85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典型衍生守则</a:t>
            </a:r>
            <a:endParaRPr lang="en-US" sz="473" dirty="0"/>
          </a:p>
        </p:txBody>
      </p:sp>
      <p:sp>
        <p:nvSpPr>
          <p:cNvPr id="63" name="Text 61"/>
          <p:cNvSpPr/>
          <p:nvPr/>
        </p:nvSpPr>
        <p:spPr>
          <a:xfrm>
            <a:off x="7534245" y="1585287"/>
            <a:ext cx="1322865" cy="107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b="1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使用</a:t>
            </a:r>
            <a:pPr algn="l" indent="0" marL="0">
              <a:lnSpc>
                <a:spcPct val="125000"/>
              </a:lnSpc>
              <a:buNone/>
            </a:pPr>
            <a:r>
              <a:rPr lang="en-US" sz="675" b="1" dirty="0">
                <a:solidFill>
                  <a:srgbClr val="D0D0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pPr algn="l" indent="0" marL="0">
              <a:lnSpc>
                <a:spcPct val="125000"/>
              </a:lnSpc>
              <a:buNone/>
            </a:pPr>
            <a:r>
              <a:rPr lang="en-US" sz="675" b="1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贡献者</a:t>
            </a:r>
            <a:pPr algn="l" indent="0" marL="0">
              <a:lnSpc>
                <a:spcPct val="125000"/>
              </a:lnSpc>
              <a:buNone/>
            </a:pPr>
            <a:r>
              <a:rPr lang="en-US" sz="675" b="1" dirty="0">
                <a:solidFill>
                  <a:srgbClr val="D0D0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pPr algn="l" indent="0" marL="0">
              <a:lnSpc>
                <a:spcPct val="125000"/>
              </a:lnSpc>
              <a:buNone/>
            </a:pPr>
            <a:r>
              <a:rPr lang="en-US" sz="675" b="1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翻译</a:t>
            </a:r>
            <a:endParaRPr lang="en-US" sz="675" dirty="0"/>
          </a:p>
        </p:txBody>
      </p:sp>
      <p:sp>
        <p:nvSpPr>
          <p:cNvPr id="64" name="Shape 62"/>
          <p:cNvSpPr/>
          <p:nvPr/>
        </p:nvSpPr>
        <p:spPr>
          <a:xfrm>
            <a:off x="7534245" y="2019627"/>
            <a:ext cx="1181130" cy="131445"/>
          </a:xfrm>
          <a:prstGeom prst="rect">
            <a:avLst/>
          </a:prstGeom>
          <a:noFill/>
          <a:ln/>
        </p:spPr>
      </p:sp>
      <p:sp>
        <p:nvSpPr>
          <p:cNvPr id="65" name="Shape 63"/>
          <p:cNvSpPr/>
          <p:nvPr/>
        </p:nvSpPr>
        <p:spPr>
          <a:xfrm>
            <a:off x="7534245" y="2019627"/>
            <a:ext cx="1181130" cy="0"/>
          </a:xfrm>
          <a:prstGeom prst="line">
            <a:avLst/>
          </a:prstGeom>
          <a:noFill/>
          <a:ln w="5715">
            <a:solidFill>
              <a:srgbClr val="E4E4E7"/>
            </a:solidFill>
            <a:prstDash val="dash"/>
          </a:ln>
        </p:spPr>
      </p:sp>
      <p:sp>
        <p:nvSpPr>
          <p:cNvPr id="66" name="Text 64"/>
          <p:cNvSpPr/>
          <p:nvPr/>
        </p:nvSpPr>
        <p:spPr>
          <a:xfrm>
            <a:off x="7534245" y="2071062"/>
            <a:ext cx="30468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28" spc="43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社区衍生</a:t>
            </a:r>
            <a:endParaRPr lang="en-US" sz="428" dirty="0"/>
          </a:p>
        </p:txBody>
      </p:sp>
      <p:sp>
        <p:nvSpPr>
          <p:cNvPr id="67" name="Shape 65"/>
          <p:cNvSpPr/>
          <p:nvPr/>
        </p:nvSpPr>
        <p:spPr>
          <a:xfrm>
            <a:off x="8681085" y="2093922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68" name="Shape 66"/>
          <p:cNvSpPr/>
          <p:nvPr/>
        </p:nvSpPr>
        <p:spPr>
          <a:xfrm>
            <a:off x="342900" y="2362527"/>
            <a:ext cx="4171950" cy="1257300"/>
          </a:xfrm>
          <a:prstGeom prst="rect">
            <a:avLst/>
          </a:prstGeom>
          <a:solidFill>
            <a:srgbClr val="FFFFFF"/>
          </a:solidFill>
          <a:ln w="5715">
            <a:solidFill>
              <a:srgbClr val="E4E4E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1485" y="2508260"/>
            <a:ext cx="125730" cy="1143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70" name="Text 68"/>
          <p:cNvSpPr/>
          <p:nvPr/>
        </p:nvSpPr>
        <p:spPr>
          <a:xfrm>
            <a:off x="622935" y="2459682"/>
            <a:ext cx="67437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支持机构群像</a:t>
            </a:r>
            <a:endParaRPr lang="en-US" sz="585" dirty="0"/>
          </a:p>
        </p:txBody>
      </p:sp>
      <p:sp>
        <p:nvSpPr>
          <p:cNvPr id="71" name="Text 69"/>
          <p:cNvSpPr/>
          <p:nvPr/>
        </p:nvSpPr>
        <p:spPr>
          <a:xfrm>
            <a:off x="3531870" y="2473970"/>
            <a:ext cx="97932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50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GRAYSCALE · PARTNERS</a:t>
            </a:r>
            <a:endParaRPr lang="en-US" sz="495" dirty="0"/>
          </a:p>
        </p:txBody>
      </p:sp>
      <p:sp>
        <p:nvSpPr>
          <p:cNvPr id="72" name="Shape 70"/>
          <p:cNvSpPr/>
          <p:nvPr/>
        </p:nvSpPr>
        <p:spPr>
          <a:xfrm>
            <a:off x="451485" y="2648277"/>
            <a:ext cx="754380" cy="274320"/>
          </a:xfrm>
          <a:prstGeom prst="rect">
            <a:avLst/>
          </a:prstGeom>
          <a:solidFill>
            <a:srgbClr val="C4C4CB"/>
          </a:solidFill>
          <a:ln/>
        </p:spPr>
      </p:sp>
      <p:sp>
        <p:nvSpPr>
          <p:cNvPr id="73" name="Shape 71"/>
          <p:cNvSpPr/>
          <p:nvPr/>
        </p:nvSpPr>
        <p:spPr>
          <a:xfrm>
            <a:off x="1143000" y="2682567"/>
            <a:ext cx="28575" cy="28575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74" name="Text 72"/>
          <p:cNvSpPr/>
          <p:nvPr/>
        </p:nvSpPr>
        <p:spPr>
          <a:xfrm>
            <a:off x="485775" y="2842587"/>
            <a:ext cx="242352" cy="571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" spc="36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 · 21</a:t>
            </a:r>
            <a:endParaRPr lang="en-US" sz="360" dirty="0"/>
          </a:p>
        </p:txBody>
      </p:sp>
      <p:sp>
        <p:nvSpPr>
          <p:cNvPr id="75" name="Text 73"/>
          <p:cNvSpPr/>
          <p:nvPr/>
        </p:nvSpPr>
        <p:spPr>
          <a:xfrm>
            <a:off x="709017" y="2745432"/>
            <a:ext cx="30209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5" kern="0" dirty="0">
                <a:solidFill>
                  <a:srgbClr val="3A3A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Mozilla</a:t>
            </a:r>
            <a:endParaRPr lang="en-US" sz="495" dirty="0"/>
          </a:p>
        </p:txBody>
      </p:sp>
      <p:sp>
        <p:nvSpPr>
          <p:cNvPr id="76" name="Shape 74"/>
          <p:cNvSpPr/>
          <p:nvPr/>
        </p:nvSpPr>
        <p:spPr>
          <a:xfrm>
            <a:off x="1251585" y="2648277"/>
            <a:ext cx="754380" cy="274320"/>
          </a:xfrm>
          <a:prstGeom prst="rect">
            <a:avLst/>
          </a:prstGeom>
          <a:solidFill>
            <a:srgbClr val="C4C4CB"/>
          </a:solidFill>
          <a:ln/>
        </p:spPr>
      </p:sp>
      <p:sp>
        <p:nvSpPr>
          <p:cNvPr id="77" name="Text 75"/>
          <p:cNvSpPr/>
          <p:nvPr/>
        </p:nvSpPr>
        <p:spPr>
          <a:xfrm>
            <a:off x="1285875" y="2842587"/>
            <a:ext cx="242352" cy="571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" spc="36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 · 21</a:t>
            </a:r>
            <a:endParaRPr lang="en-US" sz="360" dirty="0"/>
          </a:p>
        </p:txBody>
      </p:sp>
      <p:sp>
        <p:nvSpPr>
          <p:cNvPr id="78" name="Text 76"/>
          <p:cNvSpPr/>
          <p:nvPr/>
        </p:nvSpPr>
        <p:spPr>
          <a:xfrm>
            <a:off x="1454557" y="2745432"/>
            <a:ext cx="41121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5" kern="0" dirty="0">
                <a:solidFill>
                  <a:srgbClr val="3A3A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Wikimedia</a:t>
            </a:r>
            <a:endParaRPr lang="en-US" sz="495" dirty="0"/>
          </a:p>
        </p:txBody>
      </p:sp>
      <p:sp>
        <p:nvSpPr>
          <p:cNvPr id="79" name="Shape 77"/>
          <p:cNvSpPr/>
          <p:nvPr/>
        </p:nvSpPr>
        <p:spPr>
          <a:xfrm>
            <a:off x="2051685" y="2648277"/>
            <a:ext cx="754380" cy="274320"/>
          </a:xfrm>
          <a:prstGeom prst="rect">
            <a:avLst/>
          </a:prstGeom>
          <a:solidFill>
            <a:srgbClr val="C4C4CB"/>
          </a:solidFill>
          <a:ln/>
        </p:spPr>
      </p:sp>
      <p:sp>
        <p:nvSpPr>
          <p:cNvPr id="80" name="Shape 78"/>
          <p:cNvSpPr/>
          <p:nvPr/>
        </p:nvSpPr>
        <p:spPr>
          <a:xfrm>
            <a:off x="2743200" y="2682567"/>
            <a:ext cx="28575" cy="28575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81" name="Text 79"/>
          <p:cNvSpPr/>
          <p:nvPr/>
        </p:nvSpPr>
        <p:spPr>
          <a:xfrm>
            <a:off x="2085975" y="2842587"/>
            <a:ext cx="242352" cy="571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" spc="36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 · 21</a:t>
            </a:r>
            <a:endParaRPr lang="en-US" sz="360" dirty="0"/>
          </a:p>
        </p:txBody>
      </p:sp>
      <p:sp>
        <p:nvSpPr>
          <p:cNvPr id="82" name="Text 80"/>
          <p:cNvSpPr/>
          <p:nvPr/>
        </p:nvSpPr>
        <p:spPr>
          <a:xfrm>
            <a:off x="2319397" y="2745432"/>
            <a:ext cx="28182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5" kern="0" dirty="0">
                <a:solidFill>
                  <a:srgbClr val="3A3A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Drupal</a:t>
            </a:r>
            <a:endParaRPr lang="en-US" sz="495" dirty="0"/>
          </a:p>
        </p:txBody>
      </p:sp>
      <p:sp>
        <p:nvSpPr>
          <p:cNvPr id="83" name="Shape 81"/>
          <p:cNvSpPr/>
          <p:nvPr/>
        </p:nvSpPr>
        <p:spPr>
          <a:xfrm>
            <a:off x="2851785" y="2648277"/>
            <a:ext cx="754380" cy="274320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84" name="Text 82"/>
          <p:cNvSpPr/>
          <p:nvPr/>
        </p:nvSpPr>
        <p:spPr>
          <a:xfrm>
            <a:off x="2886075" y="2842587"/>
            <a:ext cx="253782" cy="571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" spc="36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 · 22</a:t>
            </a:r>
            <a:endParaRPr lang="en-US" sz="360" dirty="0"/>
          </a:p>
        </p:txBody>
      </p:sp>
      <p:sp>
        <p:nvSpPr>
          <p:cNvPr id="85" name="Text 83"/>
          <p:cNvSpPr/>
          <p:nvPr/>
        </p:nvSpPr>
        <p:spPr>
          <a:xfrm>
            <a:off x="3122355" y="2745432"/>
            <a:ext cx="27610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5" kern="0" dirty="0">
                <a:solidFill>
                  <a:srgbClr val="6C6C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GitLab</a:t>
            </a:r>
            <a:endParaRPr lang="en-US" sz="495" dirty="0"/>
          </a:p>
        </p:txBody>
      </p:sp>
      <p:sp>
        <p:nvSpPr>
          <p:cNvPr id="86" name="Shape 84"/>
          <p:cNvSpPr/>
          <p:nvPr/>
        </p:nvSpPr>
        <p:spPr>
          <a:xfrm>
            <a:off x="3651885" y="2648277"/>
            <a:ext cx="754380" cy="274320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87" name="Text 85"/>
          <p:cNvSpPr/>
          <p:nvPr/>
        </p:nvSpPr>
        <p:spPr>
          <a:xfrm>
            <a:off x="3686175" y="2842587"/>
            <a:ext cx="253782" cy="571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" spc="36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 · 22</a:t>
            </a:r>
            <a:endParaRPr lang="en-US" sz="360" dirty="0"/>
          </a:p>
        </p:txBody>
      </p:sp>
      <p:sp>
        <p:nvSpPr>
          <p:cNvPr id="88" name="Text 86"/>
          <p:cNvSpPr/>
          <p:nvPr/>
        </p:nvSpPr>
        <p:spPr>
          <a:xfrm>
            <a:off x="3902452" y="2745432"/>
            <a:ext cx="31611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5" kern="0" dirty="0">
                <a:solidFill>
                  <a:srgbClr val="6C6C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</a:t>
            </a:r>
            <a:endParaRPr lang="en-US" sz="495" dirty="0"/>
          </a:p>
        </p:txBody>
      </p:sp>
      <p:sp>
        <p:nvSpPr>
          <p:cNvPr id="89" name="Shape 87"/>
          <p:cNvSpPr/>
          <p:nvPr/>
        </p:nvSpPr>
        <p:spPr>
          <a:xfrm>
            <a:off x="451485" y="2968317"/>
            <a:ext cx="754380" cy="274320"/>
          </a:xfrm>
          <a:prstGeom prst="rect">
            <a:avLst/>
          </a:prstGeom>
          <a:solidFill>
            <a:srgbClr val="E4E4E9"/>
          </a:solidFill>
          <a:ln/>
        </p:spPr>
      </p:sp>
      <p:sp>
        <p:nvSpPr>
          <p:cNvPr id="90" name="Text 88"/>
          <p:cNvSpPr/>
          <p:nvPr/>
        </p:nvSpPr>
        <p:spPr>
          <a:xfrm>
            <a:off x="485775" y="3162627"/>
            <a:ext cx="253782" cy="571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" spc="36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 · 23</a:t>
            </a:r>
            <a:endParaRPr lang="en-US" sz="360" dirty="0"/>
          </a:p>
        </p:txBody>
      </p:sp>
      <p:sp>
        <p:nvSpPr>
          <p:cNvPr id="91" name="Text 89"/>
          <p:cNvSpPr/>
          <p:nvPr/>
        </p:nvSpPr>
        <p:spPr>
          <a:xfrm>
            <a:off x="664637" y="3065472"/>
            <a:ext cx="39094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5" kern="0" dirty="0">
                <a:solidFill>
                  <a:srgbClr val="7A7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Ethereum</a:t>
            </a:r>
            <a:endParaRPr lang="en-US" sz="495" dirty="0"/>
          </a:p>
        </p:txBody>
      </p:sp>
      <p:sp>
        <p:nvSpPr>
          <p:cNvPr id="92" name="Shape 90"/>
          <p:cNvSpPr/>
          <p:nvPr/>
        </p:nvSpPr>
        <p:spPr>
          <a:xfrm>
            <a:off x="1251585" y="2968317"/>
            <a:ext cx="754380" cy="274320"/>
          </a:xfrm>
          <a:prstGeom prst="rect">
            <a:avLst/>
          </a:prstGeom>
          <a:solidFill>
            <a:srgbClr val="E4E4E9"/>
          </a:solidFill>
          <a:ln/>
        </p:spPr>
      </p:sp>
      <p:sp>
        <p:nvSpPr>
          <p:cNvPr id="93" name="Text 91"/>
          <p:cNvSpPr/>
          <p:nvPr/>
        </p:nvSpPr>
        <p:spPr>
          <a:xfrm>
            <a:off x="1285875" y="3162627"/>
            <a:ext cx="253782" cy="571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" spc="36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 · 23</a:t>
            </a:r>
            <a:endParaRPr lang="en-US" sz="360" dirty="0"/>
          </a:p>
        </p:txBody>
      </p:sp>
      <p:sp>
        <p:nvSpPr>
          <p:cNvPr id="94" name="Text 92"/>
          <p:cNvSpPr/>
          <p:nvPr/>
        </p:nvSpPr>
        <p:spPr>
          <a:xfrm>
            <a:off x="1558320" y="3065472"/>
            <a:ext cx="20377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5" kern="0" dirty="0">
                <a:solidFill>
                  <a:srgbClr val="7A7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KDE</a:t>
            </a:r>
            <a:endParaRPr lang="en-US" sz="495" dirty="0"/>
          </a:p>
        </p:txBody>
      </p:sp>
      <p:sp>
        <p:nvSpPr>
          <p:cNvPr id="95" name="Shape 93"/>
          <p:cNvSpPr/>
          <p:nvPr/>
        </p:nvSpPr>
        <p:spPr>
          <a:xfrm>
            <a:off x="2051685" y="2968317"/>
            <a:ext cx="754380" cy="274320"/>
          </a:xfrm>
          <a:prstGeom prst="rect">
            <a:avLst/>
          </a:prstGeom>
          <a:solidFill>
            <a:srgbClr val="E4E4E9"/>
          </a:solidFill>
          <a:ln/>
        </p:spPr>
      </p:sp>
      <p:sp>
        <p:nvSpPr>
          <p:cNvPr id="96" name="Text 94"/>
          <p:cNvSpPr/>
          <p:nvPr/>
        </p:nvSpPr>
        <p:spPr>
          <a:xfrm>
            <a:off x="2085975" y="3162627"/>
            <a:ext cx="253782" cy="571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" spc="36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 · 23</a:t>
            </a:r>
            <a:endParaRPr lang="en-US" sz="360" dirty="0"/>
          </a:p>
        </p:txBody>
      </p:sp>
      <p:sp>
        <p:nvSpPr>
          <p:cNvPr id="97" name="Text 95"/>
          <p:cNvSpPr/>
          <p:nvPr/>
        </p:nvSpPr>
        <p:spPr>
          <a:xfrm>
            <a:off x="2303859" y="3065472"/>
            <a:ext cx="31289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5" kern="0" dirty="0">
                <a:solidFill>
                  <a:srgbClr val="7A7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GNOME</a:t>
            </a:r>
            <a:endParaRPr lang="en-US" sz="495" dirty="0"/>
          </a:p>
        </p:txBody>
      </p:sp>
      <p:sp>
        <p:nvSpPr>
          <p:cNvPr id="98" name="Shape 96"/>
          <p:cNvSpPr/>
          <p:nvPr/>
        </p:nvSpPr>
        <p:spPr>
          <a:xfrm>
            <a:off x="2851785" y="2968317"/>
            <a:ext cx="754380" cy="274320"/>
          </a:xfrm>
          <a:prstGeom prst="rect">
            <a:avLst/>
          </a:prstGeom>
          <a:solidFill>
            <a:srgbClr val="D0D0D6"/>
          </a:solidFill>
          <a:ln/>
        </p:spPr>
      </p:sp>
      <p:sp>
        <p:nvSpPr>
          <p:cNvPr id="99" name="Text 97"/>
          <p:cNvSpPr/>
          <p:nvPr/>
        </p:nvSpPr>
        <p:spPr>
          <a:xfrm>
            <a:off x="2886075" y="3162627"/>
            <a:ext cx="253782" cy="571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" spc="36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 · 23</a:t>
            </a:r>
            <a:endParaRPr lang="en-US" sz="360" dirty="0"/>
          </a:p>
        </p:txBody>
      </p:sp>
      <p:sp>
        <p:nvSpPr>
          <p:cNvPr id="100" name="Text 98"/>
          <p:cNvSpPr/>
          <p:nvPr/>
        </p:nvSpPr>
        <p:spPr>
          <a:xfrm>
            <a:off x="3062079" y="3065472"/>
            <a:ext cx="39665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5" kern="0" dirty="0">
                <a:solidFill>
                  <a:srgbClr val="5A5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Mastodon</a:t>
            </a:r>
            <a:endParaRPr lang="en-US" sz="495" dirty="0"/>
          </a:p>
        </p:txBody>
      </p:sp>
      <p:sp>
        <p:nvSpPr>
          <p:cNvPr id="101" name="Shape 99"/>
          <p:cNvSpPr/>
          <p:nvPr/>
        </p:nvSpPr>
        <p:spPr>
          <a:xfrm>
            <a:off x="3651885" y="2968317"/>
            <a:ext cx="754380" cy="274320"/>
          </a:xfrm>
          <a:prstGeom prst="rect">
            <a:avLst/>
          </a:prstGeom>
          <a:solidFill>
            <a:srgbClr val="D0D0D6"/>
          </a:solidFill>
          <a:ln/>
        </p:spPr>
      </p:sp>
      <p:sp>
        <p:nvSpPr>
          <p:cNvPr id="102" name="Text 100"/>
          <p:cNvSpPr/>
          <p:nvPr/>
        </p:nvSpPr>
        <p:spPr>
          <a:xfrm>
            <a:off x="3686175" y="3162627"/>
            <a:ext cx="253782" cy="571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" spc="36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 · 23</a:t>
            </a:r>
            <a:endParaRPr lang="en-US" sz="360" dirty="0"/>
          </a:p>
        </p:txBody>
      </p:sp>
      <p:sp>
        <p:nvSpPr>
          <p:cNvPr id="103" name="Text 101"/>
          <p:cNvSpPr/>
          <p:nvPr/>
        </p:nvSpPr>
        <p:spPr>
          <a:xfrm>
            <a:off x="3831729" y="3065472"/>
            <a:ext cx="45755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5" kern="0" dirty="0">
                <a:solidFill>
                  <a:srgbClr val="5A5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GitGuardian</a:t>
            </a:r>
            <a:endParaRPr lang="en-US" sz="495" dirty="0"/>
          </a:p>
        </p:txBody>
      </p:sp>
      <p:sp>
        <p:nvSpPr>
          <p:cNvPr id="104" name="Shape 102"/>
          <p:cNvSpPr/>
          <p:nvPr/>
        </p:nvSpPr>
        <p:spPr>
          <a:xfrm>
            <a:off x="451485" y="3288357"/>
            <a:ext cx="754380" cy="274320"/>
          </a:xfrm>
          <a:prstGeom prst="rect">
            <a:avLst/>
          </a:prstGeom>
          <a:solidFill>
            <a:srgbClr val="D0D0D6"/>
          </a:solidFill>
          <a:ln/>
        </p:spPr>
      </p:sp>
      <p:sp>
        <p:nvSpPr>
          <p:cNvPr id="105" name="Text 103"/>
          <p:cNvSpPr/>
          <p:nvPr/>
        </p:nvSpPr>
        <p:spPr>
          <a:xfrm>
            <a:off x="485775" y="3482667"/>
            <a:ext cx="253782" cy="571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" spc="36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 · 24</a:t>
            </a:r>
            <a:endParaRPr lang="en-US" sz="360" dirty="0"/>
          </a:p>
        </p:txBody>
      </p:sp>
      <p:sp>
        <p:nvSpPr>
          <p:cNvPr id="106" name="Text 104"/>
          <p:cNvSpPr/>
          <p:nvPr/>
        </p:nvSpPr>
        <p:spPr>
          <a:xfrm>
            <a:off x="614184" y="3385512"/>
            <a:ext cx="49184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5" kern="0" dirty="0">
                <a:solidFill>
                  <a:srgbClr val="5A5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SourceForge</a:t>
            </a:r>
            <a:endParaRPr lang="en-US" sz="495" dirty="0"/>
          </a:p>
        </p:txBody>
      </p:sp>
      <p:sp>
        <p:nvSpPr>
          <p:cNvPr id="107" name="Shape 105"/>
          <p:cNvSpPr/>
          <p:nvPr/>
        </p:nvSpPr>
        <p:spPr>
          <a:xfrm>
            <a:off x="1251585" y="3288357"/>
            <a:ext cx="754380" cy="274320"/>
          </a:xfrm>
          <a:prstGeom prst="rect">
            <a:avLst/>
          </a:prstGeom>
          <a:solidFill>
            <a:srgbClr val="D0D0D6"/>
          </a:solidFill>
          <a:ln/>
        </p:spPr>
      </p:sp>
      <p:sp>
        <p:nvSpPr>
          <p:cNvPr id="108" name="Text 106"/>
          <p:cNvSpPr/>
          <p:nvPr/>
        </p:nvSpPr>
        <p:spPr>
          <a:xfrm>
            <a:off x="1285875" y="3482667"/>
            <a:ext cx="253782" cy="571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" spc="36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 · 24</a:t>
            </a:r>
            <a:endParaRPr lang="en-US" sz="360" dirty="0"/>
          </a:p>
        </p:txBody>
      </p:sp>
      <p:sp>
        <p:nvSpPr>
          <p:cNvPr id="109" name="Text 107"/>
          <p:cNvSpPr/>
          <p:nvPr/>
        </p:nvSpPr>
        <p:spPr>
          <a:xfrm>
            <a:off x="1448842" y="3385512"/>
            <a:ext cx="42264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5" kern="0" dirty="0">
                <a:solidFill>
                  <a:srgbClr val="5A5A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OpenStack</a:t>
            </a:r>
            <a:endParaRPr lang="en-US" sz="495" dirty="0"/>
          </a:p>
        </p:txBody>
      </p:sp>
      <p:sp>
        <p:nvSpPr>
          <p:cNvPr id="110" name="Shape 108"/>
          <p:cNvSpPr/>
          <p:nvPr/>
        </p:nvSpPr>
        <p:spPr>
          <a:xfrm>
            <a:off x="2051685" y="3288357"/>
            <a:ext cx="754380" cy="274320"/>
          </a:xfrm>
          <a:prstGeom prst="rect">
            <a:avLst/>
          </a:prstGeom>
          <a:solidFill>
            <a:srgbClr val="E4E4E9"/>
          </a:solidFill>
          <a:ln/>
        </p:spPr>
      </p:sp>
      <p:sp>
        <p:nvSpPr>
          <p:cNvPr id="111" name="Text 109"/>
          <p:cNvSpPr/>
          <p:nvPr/>
        </p:nvSpPr>
        <p:spPr>
          <a:xfrm>
            <a:off x="2085975" y="3482667"/>
            <a:ext cx="253782" cy="571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" spc="36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 · 24</a:t>
            </a:r>
            <a:endParaRPr lang="en-US" sz="360" dirty="0"/>
          </a:p>
        </p:txBody>
      </p:sp>
      <p:sp>
        <p:nvSpPr>
          <p:cNvPr id="112" name="Text 110"/>
          <p:cNvSpPr/>
          <p:nvPr/>
        </p:nvSpPr>
        <p:spPr>
          <a:xfrm>
            <a:off x="2297787" y="3385512"/>
            <a:ext cx="32495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5" kern="0" dirty="0">
                <a:solidFill>
                  <a:srgbClr val="7A7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Jenkins</a:t>
            </a:r>
            <a:endParaRPr lang="en-US" sz="495" dirty="0"/>
          </a:p>
        </p:txBody>
      </p:sp>
      <p:sp>
        <p:nvSpPr>
          <p:cNvPr id="113" name="Shape 111"/>
          <p:cNvSpPr/>
          <p:nvPr/>
        </p:nvSpPr>
        <p:spPr>
          <a:xfrm>
            <a:off x="2851785" y="3288357"/>
            <a:ext cx="754380" cy="274320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114" name="Text 112"/>
          <p:cNvSpPr/>
          <p:nvPr/>
        </p:nvSpPr>
        <p:spPr>
          <a:xfrm>
            <a:off x="2886075" y="3482667"/>
            <a:ext cx="253782" cy="571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" spc="36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 · 24</a:t>
            </a:r>
            <a:endParaRPr lang="en-US" sz="360" dirty="0"/>
          </a:p>
        </p:txBody>
      </p:sp>
      <p:sp>
        <p:nvSpPr>
          <p:cNvPr id="115" name="Text 113"/>
          <p:cNvSpPr/>
          <p:nvPr/>
        </p:nvSpPr>
        <p:spPr>
          <a:xfrm>
            <a:off x="3030379" y="3385512"/>
            <a:ext cx="46005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5" kern="0" dirty="0">
                <a:solidFill>
                  <a:srgbClr val="6C6C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495" dirty="0"/>
          </a:p>
        </p:txBody>
      </p:sp>
      <p:sp>
        <p:nvSpPr>
          <p:cNvPr id="116" name="Shape 114"/>
          <p:cNvSpPr/>
          <p:nvPr/>
        </p:nvSpPr>
        <p:spPr>
          <a:xfrm>
            <a:off x="3651885" y="3288357"/>
            <a:ext cx="754380" cy="274320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117" name="Text 115"/>
          <p:cNvSpPr/>
          <p:nvPr/>
        </p:nvSpPr>
        <p:spPr>
          <a:xfrm>
            <a:off x="3686175" y="3482667"/>
            <a:ext cx="253782" cy="571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60" spc="36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 · 24</a:t>
            </a:r>
            <a:endParaRPr lang="en-US" sz="360" dirty="0"/>
          </a:p>
        </p:txBody>
      </p:sp>
      <p:sp>
        <p:nvSpPr>
          <p:cNvPr id="118" name="Text 116"/>
          <p:cNvSpPr/>
          <p:nvPr/>
        </p:nvSpPr>
        <p:spPr>
          <a:xfrm>
            <a:off x="3875127" y="3385512"/>
            <a:ext cx="37067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5" kern="0" dirty="0">
                <a:solidFill>
                  <a:srgbClr val="6C6C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CouchDB</a:t>
            </a:r>
            <a:endParaRPr lang="en-US" sz="495" dirty="0"/>
          </a:p>
        </p:txBody>
      </p:sp>
      <p:sp>
        <p:nvSpPr>
          <p:cNvPr id="119" name="Shape 117"/>
          <p:cNvSpPr/>
          <p:nvPr/>
        </p:nvSpPr>
        <p:spPr>
          <a:xfrm>
            <a:off x="4629150" y="2362527"/>
            <a:ext cx="4171950" cy="1257300"/>
          </a:xfrm>
          <a:prstGeom prst="rect">
            <a:avLst/>
          </a:prstGeom>
          <a:solidFill>
            <a:srgbClr val="FFFFFF"/>
          </a:solidFill>
          <a:ln w="5715">
            <a:solidFill>
              <a:srgbClr val="E4E4E7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749165" y="2508260"/>
            <a:ext cx="125730" cy="1143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21" name="Text 119"/>
          <p:cNvSpPr/>
          <p:nvPr/>
        </p:nvSpPr>
        <p:spPr>
          <a:xfrm>
            <a:off x="4920615" y="2459682"/>
            <a:ext cx="755294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关键年份时间条</a:t>
            </a:r>
            <a:endParaRPr lang="en-US" sz="585" dirty="0"/>
          </a:p>
        </p:txBody>
      </p:sp>
      <p:sp>
        <p:nvSpPr>
          <p:cNvPr id="122" name="Text 120"/>
          <p:cNvSpPr/>
          <p:nvPr/>
        </p:nvSpPr>
        <p:spPr>
          <a:xfrm>
            <a:off x="7799814" y="2468255"/>
            <a:ext cx="98702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50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 · 2018 → 2024</a:t>
            </a:r>
            <a:endParaRPr lang="en-US" sz="495" dirty="0"/>
          </a:p>
        </p:txBody>
      </p:sp>
      <p:sp>
        <p:nvSpPr>
          <p:cNvPr id="123" name="Shape 121"/>
          <p:cNvSpPr/>
          <p:nvPr/>
        </p:nvSpPr>
        <p:spPr>
          <a:xfrm>
            <a:off x="4863465" y="2945457"/>
            <a:ext cx="3703320" cy="11430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124" name="Shape 122"/>
          <p:cNvSpPr/>
          <p:nvPr/>
        </p:nvSpPr>
        <p:spPr>
          <a:xfrm>
            <a:off x="4863465" y="2945457"/>
            <a:ext cx="3224153" cy="1143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25" name="Text 123"/>
          <p:cNvSpPr/>
          <p:nvPr/>
        </p:nvSpPr>
        <p:spPr>
          <a:xfrm>
            <a:off x="4863465" y="2648277"/>
            <a:ext cx="6629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-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2018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4863465" y="2968317"/>
            <a:ext cx="614477" cy="848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95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理念发起</a:t>
            </a:r>
            <a:endParaRPr lang="en-US" sz="495" dirty="0"/>
          </a:p>
        </p:txBody>
      </p:sp>
      <p:sp>
        <p:nvSpPr>
          <p:cNvPr id="127" name="Text 125"/>
          <p:cNvSpPr/>
          <p:nvPr/>
        </p:nvSpPr>
        <p:spPr>
          <a:xfrm>
            <a:off x="4863465" y="3070294"/>
            <a:ext cx="614477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23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R2I Draft v0</a:t>
            </a:r>
            <a:endParaRPr lang="en-US" sz="450" dirty="0"/>
          </a:p>
        </p:txBody>
      </p:sp>
      <p:sp>
        <p:nvSpPr>
          <p:cNvPr id="128" name="Shape 126"/>
          <p:cNvSpPr/>
          <p:nvPr/>
        </p:nvSpPr>
        <p:spPr>
          <a:xfrm>
            <a:off x="5097780" y="2819727"/>
            <a:ext cx="80010" cy="80010"/>
          </a:xfrm>
          <a:prstGeom prst="ellipse">
            <a:avLst/>
          </a:prstGeom>
          <a:solidFill>
            <a:srgbClr val="002FA7"/>
          </a:solidFill>
          <a:ln w="11430">
            <a:solidFill>
              <a:srgbClr val="002FA7"/>
            </a:solidFill>
            <a:prstDash val="solid"/>
          </a:ln>
          <a:effectLst>
            <a:outerShdw sx="100000" sy="100000" kx="0" ky="0" algn="bl" rotWithShape="0" blurRad="101600" dist="50800" dir="16200000">
              <a:srgbClr val="002FA7">
                <a:alpha val="12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5652135" y="2648277"/>
            <a:ext cx="6629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-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2019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5652135" y="2968317"/>
            <a:ext cx="614477" cy="848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95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社区讨论</a:t>
            </a:r>
            <a:endParaRPr lang="en-US" sz="495" dirty="0"/>
          </a:p>
        </p:txBody>
      </p:sp>
      <p:sp>
        <p:nvSpPr>
          <p:cNvPr id="131" name="Text 129"/>
          <p:cNvSpPr/>
          <p:nvPr/>
        </p:nvSpPr>
        <p:spPr>
          <a:xfrm>
            <a:off x="5652135" y="3070294"/>
            <a:ext cx="614477" cy="154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spc="23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公开 Call for Comments</a:t>
            </a:r>
            <a:endParaRPr lang="en-US" sz="450" dirty="0"/>
          </a:p>
        </p:txBody>
      </p:sp>
      <p:sp>
        <p:nvSpPr>
          <p:cNvPr id="132" name="Shape 130"/>
          <p:cNvSpPr/>
          <p:nvPr/>
        </p:nvSpPr>
        <p:spPr>
          <a:xfrm>
            <a:off x="5886450" y="2819727"/>
            <a:ext cx="80010" cy="80010"/>
          </a:xfrm>
          <a:prstGeom prst="ellipse">
            <a:avLst/>
          </a:prstGeom>
          <a:solidFill>
            <a:srgbClr val="002FA7"/>
          </a:solidFill>
          <a:ln w="11430">
            <a:solidFill>
              <a:srgbClr val="002FA7"/>
            </a:solidFill>
            <a:prstDash val="solid"/>
          </a:ln>
          <a:effectLst>
            <a:outerShdw sx="100000" sy="100000" kx="0" ky="0" algn="bl" rotWithShape="0" blurRad="101600" dist="50800" dir="16200000">
              <a:srgbClr val="002FA7">
                <a:alpha val="12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6440805" y="2648277"/>
            <a:ext cx="6629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-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6440805" y="2968317"/>
            <a:ext cx="614477" cy="848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95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规范 v1 上线</a:t>
            </a:r>
            <a:endParaRPr lang="en-US" sz="495" dirty="0"/>
          </a:p>
        </p:txBody>
      </p:sp>
      <p:sp>
        <p:nvSpPr>
          <p:cNvPr id="135" name="Text 133"/>
          <p:cNvSpPr/>
          <p:nvPr/>
        </p:nvSpPr>
        <p:spPr>
          <a:xfrm>
            <a:off x="6440805" y="3070294"/>
            <a:ext cx="61447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23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r2i.org 发布</a:t>
            </a:r>
            <a:endParaRPr lang="en-US" sz="450" dirty="0"/>
          </a:p>
        </p:txBody>
      </p:sp>
      <p:sp>
        <p:nvSpPr>
          <p:cNvPr id="136" name="Shape 134"/>
          <p:cNvSpPr/>
          <p:nvPr/>
        </p:nvSpPr>
        <p:spPr>
          <a:xfrm>
            <a:off x="6675120" y="2819727"/>
            <a:ext cx="80010" cy="80010"/>
          </a:xfrm>
          <a:prstGeom prst="ellipse">
            <a:avLst/>
          </a:prstGeom>
          <a:solidFill>
            <a:srgbClr val="002FA7"/>
          </a:solidFill>
          <a:ln w="11430">
            <a:solidFill>
              <a:srgbClr val="002FA7"/>
            </a:solidFill>
            <a:prstDash val="solid"/>
          </a:ln>
          <a:effectLst>
            <a:outerShdw sx="100000" sy="100000" kx="0" ky="0" algn="bl" rotWithShape="0" blurRad="101600" dist="50800" dir="16200000">
              <a:srgbClr val="002FA7">
                <a:alpha val="12000"/>
              </a:srgbClr>
            </a:outerShdw>
          </a:effectLst>
        </p:spPr>
      </p:sp>
      <p:sp>
        <p:nvSpPr>
          <p:cNvPr id="137" name="Text 135"/>
          <p:cNvSpPr/>
          <p:nvPr/>
        </p:nvSpPr>
        <p:spPr>
          <a:xfrm>
            <a:off x="7229475" y="2648277"/>
            <a:ext cx="6629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-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</a:t>
            </a:r>
            <a:endParaRPr lang="en-US" sz="900" dirty="0"/>
          </a:p>
        </p:txBody>
      </p:sp>
      <p:sp>
        <p:nvSpPr>
          <p:cNvPr id="138" name="Text 136"/>
          <p:cNvSpPr/>
          <p:nvPr/>
        </p:nvSpPr>
        <p:spPr>
          <a:xfrm>
            <a:off x="7229475" y="2968317"/>
            <a:ext cx="614477" cy="848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95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基金会群签</a:t>
            </a:r>
            <a:endParaRPr lang="en-US" sz="495" dirty="0"/>
          </a:p>
        </p:txBody>
      </p:sp>
      <p:sp>
        <p:nvSpPr>
          <p:cNvPr id="139" name="Text 137"/>
          <p:cNvSpPr/>
          <p:nvPr/>
        </p:nvSpPr>
        <p:spPr>
          <a:xfrm>
            <a:off x="7229475" y="3070294"/>
            <a:ext cx="61447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23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头部机构连续加入</a:t>
            </a:r>
            <a:endParaRPr lang="en-US" sz="450" dirty="0"/>
          </a:p>
        </p:txBody>
      </p:sp>
      <p:sp>
        <p:nvSpPr>
          <p:cNvPr id="140" name="Shape 138"/>
          <p:cNvSpPr/>
          <p:nvPr/>
        </p:nvSpPr>
        <p:spPr>
          <a:xfrm>
            <a:off x="7463790" y="2819727"/>
            <a:ext cx="80010" cy="80010"/>
          </a:xfrm>
          <a:prstGeom prst="ellipse">
            <a:avLst/>
          </a:prstGeom>
          <a:solidFill>
            <a:srgbClr val="002FA7"/>
          </a:solidFill>
          <a:ln w="11430">
            <a:solidFill>
              <a:srgbClr val="002FA7"/>
            </a:solidFill>
            <a:prstDash val="solid"/>
          </a:ln>
          <a:effectLst>
            <a:outerShdw sx="100000" sy="100000" kx="0" ky="0" algn="bl" rotWithShape="0" blurRad="101600" dist="50800" dir="16200000">
              <a:srgbClr val="002FA7">
                <a:alpha val="12000"/>
              </a:srgbClr>
            </a:outerShdw>
          </a:effectLst>
        </p:spPr>
      </p:sp>
      <p:sp>
        <p:nvSpPr>
          <p:cNvPr id="141" name="Text 139"/>
          <p:cNvSpPr/>
          <p:nvPr/>
        </p:nvSpPr>
        <p:spPr>
          <a:xfrm>
            <a:off x="8018145" y="2648277"/>
            <a:ext cx="66294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-9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8018145" y="2968317"/>
            <a:ext cx="614477" cy="848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95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使用守则落地</a:t>
            </a:r>
            <a:endParaRPr lang="en-US" sz="495" dirty="0"/>
          </a:p>
        </p:txBody>
      </p:sp>
      <p:sp>
        <p:nvSpPr>
          <p:cNvPr id="143" name="Text 141"/>
          <p:cNvSpPr/>
          <p:nvPr/>
        </p:nvSpPr>
        <p:spPr>
          <a:xfrm>
            <a:off x="8018145" y="3070294"/>
            <a:ext cx="61447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50" spc="23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衍生守则密集出现</a:t>
            </a:r>
            <a:endParaRPr lang="en-US" sz="450" dirty="0"/>
          </a:p>
        </p:txBody>
      </p:sp>
      <p:sp>
        <p:nvSpPr>
          <p:cNvPr id="144" name="Shape 142"/>
          <p:cNvSpPr/>
          <p:nvPr/>
        </p:nvSpPr>
        <p:spPr>
          <a:xfrm>
            <a:off x="8252460" y="2819727"/>
            <a:ext cx="80010" cy="80010"/>
          </a:xfrm>
          <a:prstGeom prst="ellipse">
            <a:avLst/>
          </a:prstGeom>
          <a:solidFill>
            <a:srgbClr val="FF7043"/>
          </a:solidFill>
          <a:ln w="11430">
            <a:solidFill>
              <a:srgbClr val="FF7043"/>
            </a:solidFill>
            <a:prstDash val="solid"/>
          </a:ln>
          <a:effectLst>
            <a:outerShdw sx="100000" sy="100000" kx="0" ky="0" algn="bl" rotWithShape="0" blurRad="101600" dist="50800" dir="16200000">
              <a:srgbClr val="FF7043">
                <a:alpha val="15000"/>
              </a:srgbClr>
            </a:outerShdw>
          </a:effectLst>
        </p:spPr>
      </p:sp>
      <p:sp>
        <p:nvSpPr>
          <p:cNvPr id="145" name="Shape 143"/>
          <p:cNvSpPr/>
          <p:nvPr/>
        </p:nvSpPr>
        <p:spPr>
          <a:xfrm>
            <a:off x="342900" y="3722697"/>
            <a:ext cx="8458200" cy="857964"/>
          </a:xfrm>
          <a:prstGeom prst="rect">
            <a:avLst/>
          </a:prstGeom>
          <a:solidFill>
            <a:srgbClr val="FFFFFF"/>
          </a:solidFill>
          <a:ln w="5715">
            <a:solidFill>
              <a:srgbClr val="E4E4E7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62915" y="3857000"/>
            <a:ext cx="125730" cy="1143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47" name="Text 145"/>
          <p:cNvSpPr/>
          <p:nvPr/>
        </p:nvSpPr>
        <p:spPr>
          <a:xfrm>
            <a:off x="634365" y="3808422"/>
            <a:ext cx="908914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收束要点 · 五条精炼</a:t>
            </a:r>
            <a:endParaRPr lang="en-US" sz="585" dirty="0"/>
          </a:p>
        </p:txBody>
      </p:sp>
      <p:sp>
        <p:nvSpPr>
          <p:cNvPr id="148" name="Text 146"/>
          <p:cNvSpPr/>
          <p:nvPr/>
        </p:nvSpPr>
        <p:spPr>
          <a:xfrm>
            <a:off x="7615773" y="3822710"/>
            <a:ext cx="1193149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50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 · FIVE TAKEAWAYS</a:t>
            </a:r>
            <a:endParaRPr lang="en-US" sz="495" dirty="0"/>
          </a:p>
        </p:txBody>
      </p:sp>
      <p:sp>
        <p:nvSpPr>
          <p:cNvPr id="149" name="Shape 147"/>
          <p:cNvSpPr/>
          <p:nvPr/>
        </p:nvSpPr>
        <p:spPr>
          <a:xfrm>
            <a:off x="462915" y="3985587"/>
            <a:ext cx="1588770" cy="509349"/>
          </a:xfrm>
          <a:prstGeom prst="rect">
            <a:avLst/>
          </a:prstGeom>
          <a:noFill/>
          <a:ln/>
        </p:spPr>
      </p:sp>
      <p:sp>
        <p:nvSpPr>
          <p:cNvPr id="150" name="Shape 148"/>
          <p:cNvSpPr/>
          <p:nvPr/>
        </p:nvSpPr>
        <p:spPr>
          <a:xfrm>
            <a:off x="462915" y="3985587"/>
            <a:ext cx="0" cy="509349"/>
          </a:xfrm>
          <a:prstGeom prst="line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542925" y="4042737"/>
            <a:ext cx="1613002" cy="68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b="1" spc="68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· 01</a:t>
            </a:r>
            <a:endParaRPr lang="en-US" sz="450" dirty="0"/>
          </a:p>
        </p:txBody>
      </p:sp>
      <p:sp>
        <p:nvSpPr>
          <p:cNvPr id="152" name="Shape 150"/>
          <p:cNvSpPr/>
          <p:nvPr/>
        </p:nvSpPr>
        <p:spPr>
          <a:xfrm>
            <a:off x="542925" y="4059882"/>
            <a:ext cx="34290" cy="3429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153" name="Text 151"/>
          <p:cNvSpPr/>
          <p:nvPr/>
        </p:nvSpPr>
        <p:spPr>
          <a:xfrm>
            <a:off x="542925" y="4134177"/>
            <a:ext cx="1613002" cy="8911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40" b="1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早期倡导者</a:t>
            </a:r>
            <a:endParaRPr lang="en-US" sz="540" dirty="0"/>
          </a:p>
        </p:txBody>
      </p:sp>
      <p:sp>
        <p:nvSpPr>
          <p:cNvPr id="154" name="Text 152"/>
          <p:cNvSpPr/>
          <p:nvPr/>
        </p:nvSpPr>
        <p:spPr>
          <a:xfrm>
            <a:off x="542925" y="4251871"/>
            <a:ext cx="1613002" cy="185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由</a:t>
            </a:r>
            <a:pPr algn="l" indent="0" marL="0">
              <a:lnSpc>
                <a:spcPct val="155000"/>
              </a:lnSpc>
              <a:buNone/>
            </a:pPr>
            <a:r>
              <a:rPr lang="en-US" sz="473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Ethan Marcotte</a:t>
            </a:r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55000"/>
              </a:lnSpc>
              <a:buNone/>
            </a:pPr>
            <a:r>
              <a:rPr lang="en-US" sz="473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Jeremy Keith</a:t>
            </a:r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55000"/>
              </a:lnSpc>
              <a:buNone/>
            </a:pPr>
            <a:r>
              <a:rPr lang="en-US" sz="473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Aline Chao</a:t>
            </a:r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等 Web 与设计界人物发起。</a:t>
            </a:r>
            <a:endParaRPr lang="en-US" sz="473" dirty="0"/>
          </a:p>
        </p:txBody>
      </p:sp>
      <p:sp>
        <p:nvSpPr>
          <p:cNvPr id="155" name="Shape 153"/>
          <p:cNvSpPr/>
          <p:nvPr/>
        </p:nvSpPr>
        <p:spPr>
          <a:xfrm>
            <a:off x="2120265" y="3985587"/>
            <a:ext cx="1588770" cy="509349"/>
          </a:xfrm>
          <a:prstGeom prst="rect">
            <a:avLst/>
          </a:prstGeom>
          <a:noFill/>
          <a:ln/>
        </p:spPr>
      </p:sp>
      <p:sp>
        <p:nvSpPr>
          <p:cNvPr id="156" name="Shape 154"/>
          <p:cNvSpPr/>
          <p:nvPr/>
        </p:nvSpPr>
        <p:spPr>
          <a:xfrm>
            <a:off x="2120265" y="3985587"/>
            <a:ext cx="0" cy="509349"/>
          </a:xfrm>
          <a:prstGeom prst="line">
            <a:avLst/>
          </a:prstGeom>
          <a:noFill/>
          <a:ln w="11430">
            <a:solidFill>
              <a:srgbClr val="002FA7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2200275" y="4042737"/>
            <a:ext cx="1613002" cy="68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b="1" spc="68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· 02</a:t>
            </a:r>
            <a:endParaRPr lang="en-US" sz="450" dirty="0"/>
          </a:p>
        </p:txBody>
      </p:sp>
      <p:sp>
        <p:nvSpPr>
          <p:cNvPr id="158" name="Shape 156"/>
          <p:cNvSpPr/>
          <p:nvPr/>
        </p:nvSpPr>
        <p:spPr>
          <a:xfrm>
            <a:off x="2200275" y="4059882"/>
            <a:ext cx="34290" cy="3429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159" name="Text 157"/>
          <p:cNvSpPr/>
          <p:nvPr/>
        </p:nvSpPr>
        <p:spPr>
          <a:xfrm>
            <a:off x="2200275" y="4134177"/>
            <a:ext cx="1613002" cy="8911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40" b="1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机构陆续加入</a:t>
            </a:r>
            <a:endParaRPr lang="en-US" sz="540" dirty="0"/>
          </a:p>
        </p:txBody>
      </p:sp>
      <p:sp>
        <p:nvSpPr>
          <p:cNvPr id="160" name="Text 158"/>
          <p:cNvSpPr/>
          <p:nvPr/>
        </p:nvSpPr>
        <p:spPr>
          <a:xfrm>
            <a:off x="2200275" y="4251871"/>
            <a:ext cx="1613002" cy="185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Mozilla / Wikimedia / Drupal / GitLab / Apache</a:t>
            </a:r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基金会等相继签署支持。</a:t>
            </a:r>
            <a:endParaRPr lang="en-US" sz="473" dirty="0"/>
          </a:p>
        </p:txBody>
      </p:sp>
      <p:sp>
        <p:nvSpPr>
          <p:cNvPr id="161" name="Shape 159"/>
          <p:cNvSpPr/>
          <p:nvPr/>
        </p:nvSpPr>
        <p:spPr>
          <a:xfrm>
            <a:off x="3777615" y="3985587"/>
            <a:ext cx="1588770" cy="509349"/>
          </a:xfrm>
          <a:prstGeom prst="rect">
            <a:avLst/>
          </a:prstGeom>
          <a:noFill/>
          <a:ln/>
        </p:spPr>
      </p:sp>
      <p:sp>
        <p:nvSpPr>
          <p:cNvPr id="162" name="Shape 160"/>
          <p:cNvSpPr/>
          <p:nvPr/>
        </p:nvSpPr>
        <p:spPr>
          <a:xfrm>
            <a:off x="3777615" y="3985587"/>
            <a:ext cx="0" cy="509349"/>
          </a:xfrm>
          <a:prstGeom prst="line">
            <a:avLst/>
          </a:prstGeom>
          <a:noFill/>
          <a:ln w="11430">
            <a:solidFill>
              <a:srgbClr val="D0D0D5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3857625" y="4042737"/>
            <a:ext cx="1613002" cy="68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b="1" spc="68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· 03</a:t>
            </a:r>
            <a:endParaRPr lang="en-US" sz="450" dirty="0"/>
          </a:p>
        </p:txBody>
      </p:sp>
      <p:sp>
        <p:nvSpPr>
          <p:cNvPr id="164" name="Shape 162"/>
          <p:cNvSpPr/>
          <p:nvPr/>
        </p:nvSpPr>
        <p:spPr>
          <a:xfrm>
            <a:off x="3857625" y="4059882"/>
            <a:ext cx="34290" cy="34290"/>
          </a:xfrm>
          <a:prstGeom prst="ellipse">
            <a:avLst/>
          </a:prstGeom>
          <a:solidFill>
            <a:srgbClr val="D0D0D5"/>
          </a:solidFill>
          <a:ln/>
        </p:spPr>
      </p:sp>
      <p:sp>
        <p:nvSpPr>
          <p:cNvPr id="165" name="Text 163"/>
          <p:cNvSpPr/>
          <p:nvPr/>
        </p:nvSpPr>
        <p:spPr>
          <a:xfrm>
            <a:off x="3857625" y="4134177"/>
            <a:ext cx="1613002" cy="8911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40" b="1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场景渗透</a:t>
            </a:r>
            <a:endParaRPr lang="en-US" sz="540" dirty="0"/>
          </a:p>
        </p:txBody>
      </p:sp>
      <p:sp>
        <p:nvSpPr>
          <p:cNvPr id="166" name="Text 164"/>
          <p:cNvSpPr/>
          <p:nvPr/>
        </p:nvSpPr>
        <p:spPr>
          <a:xfrm>
            <a:off x="3857625" y="4251871"/>
            <a:ext cx="1613002" cy="185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已渗透到</a:t>
            </a:r>
            <a:pPr algn="l" indent="0" marL="0">
              <a:lnSpc>
                <a:spcPct val="155000"/>
              </a:lnSpc>
              <a:buNone/>
            </a:pPr>
            <a:r>
              <a:rPr lang="en-US" sz="473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WCAG 条款</a:t>
            </a:r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55000"/>
              </a:lnSpc>
              <a:buNone/>
            </a:pPr>
            <a:r>
              <a:rPr lang="en-US" sz="473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贡献者守则</a:t>
            </a:r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55000"/>
              </a:lnSpc>
              <a:buNone/>
            </a:pPr>
            <a:r>
              <a:rPr lang="en-US" sz="473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翻译计划</a:t>
            </a:r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55000"/>
              </a:lnSpc>
              <a:buNone/>
            </a:pPr>
            <a:r>
              <a:rPr lang="en-US" sz="473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模型使用守则</a:t>
            </a:r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473" dirty="0"/>
          </a:p>
        </p:txBody>
      </p:sp>
      <p:sp>
        <p:nvSpPr>
          <p:cNvPr id="167" name="Shape 165"/>
          <p:cNvSpPr/>
          <p:nvPr/>
        </p:nvSpPr>
        <p:spPr>
          <a:xfrm>
            <a:off x="5434965" y="3985587"/>
            <a:ext cx="1588770" cy="509349"/>
          </a:xfrm>
          <a:prstGeom prst="rect">
            <a:avLst/>
          </a:prstGeom>
          <a:noFill/>
          <a:ln/>
        </p:spPr>
      </p:sp>
      <p:sp>
        <p:nvSpPr>
          <p:cNvPr id="168" name="Shape 166"/>
          <p:cNvSpPr/>
          <p:nvPr/>
        </p:nvSpPr>
        <p:spPr>
          <a:xfrm>
            <a:off x="5434965" y="3985587"/>
            <a:ext cx="0" cy="509349"/>
          </a:xfrm>
          <a:prstGeom prst="line">
            <a:avLst/>
          </a:prstGeom>
          <a:noFill/>
          <a:ln w="11430">
            <a:solidFill>
              <a:srgbClr val="D0D0D5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5514975" y="4042737"/>
            <a:ext cx="1613002" cy="68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b="1" spc="68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· 04</a:t>
            </a:r>
            <a:endParaRPr lang="en-US" sz="450" dirty="0"/>
          </a:p>
        </p:txBody>
      </p:sp>
      <p:sp>
        <p:nvSpPr>
          <p:cNvPr id="170" name="Shape 168"/>
          <p:cNvSpPr/>
          <p:nvPr/>
        </p:nvSpPr>
        <p:spPr>
          <a:xfrm>
            <a:off x="5514975" y="4059882"/>
            <a:ext cx="34290" cy="34290"/>
          </a:xfrm>
          <a:prstGeom prst="ellipse">
            <a:avLst/>
          </a:prstGeom>
          <a:solidFill>
            <a:srgbClr val="D0D0D5"/>
          </a:solidFill>
          <a:ln/>
        </p:spPr>
      </p:sp>
      <p:sp>
        <p:nvSpPr>
          <p:cNvPr id="171" name="Text 169"/>
          <p:cNvSpPr/>
          <p:nvPr/>
        </p:nvSpPr>
        <p:spPr>
          <a:xfrm>
            <a:off x="5514975" y="4134177"/>
            <a:ext cx="1613002" cy="8911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40" b="1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数据现状</a:t>
            </a:r>
            <a:endParaRPr lang="en-US" sz="540" dirty="0"/>
          </a:p>
        </p:txBody>
      </p:sp>
      <p:sp>
        <p:nvSpPr>
          <p:cNvPr id="172" name="Text 170"/>
          <p:cNvSpPr/>
          <p:nvPr/>
        </p:nvSpPr>
        <p:spPr>
          <a:xfrm>
            <a:off x="5514975" y="4251871"/>
            <a:ext cx="1613002" cy="185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R2I</a:t>
            </a:r>
            <a:pPr algn="l" indent="0" marL="0">
              <a:lnSpc>
                <a:spcPct val="155000"/>
              </a:lnSpc>
              <a:buNone/>
            </a:pPr>
            <a:r>
              <a:rPr lang="en-US" sz="473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尚未成为主流许可</a:t>
            </a:r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，但可作为 Copyleft 之上的</a:t>
            </a:r>
            <a:pPr algn="l" indent="0" marL="0">
              <a:lnSpc>
                <a:spcPct val="155000"/>
              </a:lnSpc>
              <a:buNone/>
            </a:pPr>
            <a:r>
              <a:rPr lang="en-US" sz="473" b="1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"包容性叠加层"</a:t>
            </a:r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473" dirty="0"/>
          </a:p>
        </p:txBody>
      </p:sp>
      <p:sp>
        <p:nvSpPr>
          <p:cNvPr id="173" name="Shape 171"/>
          <p:cNvSpPr/>
          <p:nvPr/>
        </p:nvSpPr>
        <p:spPr>
          <a:xfrm>
            <a:off x="7092315" y="3985587"/>
            <a:ext cx="1588770" cy="509349"/>
          </a:xfrm>
          <a:prstGeom prst="rect">
            <a:avLst/>
          </a:prstGeom>
          <a:noFill/>
          <a:ln/>
        </p:spPr>
      </p:sp>
      <p:sp>
        <p:nvSpPr>
          <p:cNvPr id="174" name="Shape 172"/>
          <p:cNvSpPr/>
          <p:nvPr/>
        </p:nvSpPr>
        <p:spPr>
          <a:xfrm>
            <a:off x="7092315" y="3985587"/>
            <a:ext cx="0" cy="509349"/>
          </a:xfrm>
          <a:prstGeom prst="line">
            <a:avLst/>
          </a:prstGeom>
          <a:noFill/>
          <a:ln w="11430">
            <a:solidFill>
              <a:srgbClr val="FF7043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7172325" y="4042737"/>
            <a:ext cx="1613002" cy="68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b="1" spc="68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· 05</a:t>
            </a:r>
            <a:endParaRPr lang="en-US" sz="450" dirty="0"/>
          </a:p>
        </p:txBody>
      </p:sp>
      <p:sp>
        <p:nvSpPr>
          <p:cNvPr id="176" name="Shape 174"/>
          <p:cNvSpPr/>
          <p:nvPr/>
        </p:nvSpPr>
        <p:spPr>
          <a:xfrm>
            <a:off x="7172325" y="4059882"/>
            <a:ext cx="34290" cy="34290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177" name="Text 175"/>
          <p:cNvSpPr/>
          <p:nvPr/>
        </p:nvSpPr>
        <p:spPr>
          <a:xfrm>
            <a:off x="7172325" y="4134177"/>
            <a:ext cx="1613002" cy="8911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40" b="1" dirty="0">
                <a:solidFill>
                  <a:srgbClr val="1A1A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社区反思</a:t>
            </a:r>
            <a:endParaRPr lang="en-US" sz="540" dirty="0"/>
          </a:p>
        </p:txBody>
      </p:sp>
      <p:sp>
        <p:nvSpPr>
          <p:cNvPr id="178" name="Text 176"/>
          <p:cNvSpPr/>
          <p:nvPr/>
        </p:nvSpPr>
        <p:spPr>
          <a:xfrm>
            <a:off x="7172325" y="4251871"/>
            <a:ext cx="1613002" cy="185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面临</a:t>
            </a:r>
            <a:pPr algn="l" indent="0" marL="0">
              <a:lnSpc>
                <a:spcPct val="155000"/>
              </a:lnSpc>
              <a:buNone/>
            </a:pPr>
            <a:r>
              <a:rPr lang="en-US" sz="473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"许可疲劳"</a:t>
            </a:r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pPr algn="l" indent="0" marL="0">
              <a:lnSpc>
                <a:spcPct val="155000"/>
              </a:lnSpc>
              <a:buNone/>
            </a:pPr>
            <a:r>
              <a:rPr lang="en-US" sz="473" b="1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"倡议泛化"</a:t>
            </a:r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的批评，仍在演进之中。</a:t>
            </a:r>
            <a:endParaRPr lang="en-US" sz="473" dirty="0"/>
          </a:p>
        </p:txBody>
      </p:sp>
      <p:sp>
        <p:nvSpPr>
          <p:cNvPr id="179" name="Shape 177"/>
          <p:cNvSpPr/>
          <p:nvPr/>
        </p:nvSpPr>
        <p:spPr>
          <a:xfrm>
            <a:off x="342900" y="5012055"/>
            <a:ext cx="34290" cy="3429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80" name="Text 178"/>
          <p:cNvSpPr/>
          <p:nvPr/>
        </p:nvSpPr>
        <p:spPr>
          <a:xfrm>
            <a:off x="457200" y="4994910"/>
            <a:ext cx="104013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 · 2024 · DASHBOARD</a:t>
            </a:r>
            <a:endParaRPr lang="en-US" sz="450" dirty="0"/>
          </a:p>
        </p:txBody>
      </p:sp>
      <p:sp>
        <p:nvSpPr>
          <p:cNvPr id="181" name="Shape 179"/>
          <p:cNvSpPr/>
          <p:nvPr/>
        </p:nvSpPr>
        <p:spPr>
          <a:xfrm>
            <a:off x="1465898" y="5012055"/>
            <a:ext cx="34290" cy="3429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82" name="Text 180"/>
          <p:cNvSpPr/>
          <p:nvPr/>
        </p:nvSpPr>
        <p:spPr>
          <a:xfrm>
            <a:off x="1580198" y="4994910"/>
            <a:ext cx="624078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8A8A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R2I LANDSCAPE</a:t>
            </a:r>
            <a:endParaRPr lang="en-US" sz="450" dirty="0"/>
          </a:p>
        </p:txBody>
      </p:sp>
      <p:sp>
        <p:nvSpPr>
          <p:cNvPr id="183" name="Text 181"/>
          <p:cNvSpPr/>
          <p:nvPr/>
        </p:nvSpPr>
        <p:spPr>
          <a:xfrm>
            <a:off x="7640955" y="4994910"/>
            <a:ext cx="1299362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4A4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· OVERVIEW · PAGE 01 / 01</a:t>
            </a:r>
            <a:endParaRPr lang="en-US" sz="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342900"/>
            <a:ext cx="228600" cy="5715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3" name="Shape 1"/>
          <p:cNvSpPr/>
          <p:nvPr/>
        </p:nvSpPr>
        <p:spPr>
          <a:xfrm>
            <a:off x="8343900" y="342900"/>
            <a:ext cx="228600" cy="5715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4" name="Text 2"/>
          <p:cNvSpPr/>
          <p:nvPr/>
        </p:nvSpPr>
        <p:spPr>
          <a:xfrm>
            <a:off x="3760961" y="274320"/>
            <a:ext cx="1816727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spc="198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FOSS READER CLUB</a:t>
            </a:r>
            <a:pPr algn="l" indent="0" marL="0">
              <a:buNone/>
            </a:pPr>
            <a:r>
              <a:rPr lang="en-US" sz="495" spc="198" kern="0" dirty="0">
                <a:solidFill>
                  <a:srgbClr val="FF7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l" indent="0" marL="0">
              <a:buNone/>
            </a:pPr>
            <a:r>
              <a:rPr lang="en-US" sz="495" spc="198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47</a:t>
            </a:r>
            <a:endParaRPr lang="en-US" sz="495" dirty="0"/>
          </a:p>
        </p:txBody>
      </p:sp>
      <p:sp>
        <p:nvSpPr>
          <p:cNvPr id="5" name="Text 3"/>
          <p:cNvSpPr/>
          <p:nvPr/>
        </p:nvSpPr>
        <p:spPr>
          <a:xfrm>
            <a:off x="4089083" y="971550"/>
            <a:ext cx="53149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27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 · 47</a:t>
            </a:r>
            <a:endParaRPr lang="en-US" sz="540" dirty="0"/>
          </a:p>
        </p:txBody>
      </p:sp>
      <p:sp>
        <p:nvSpPr>
          <p:cNvPr id="6" name="Shape 4"/>
          <p:cNvSpPr/>
          <p:nvPr/>
        </p:nvSpPr>
        <p:spPr>
          <a:xfrm>
            <a:off x="4632008" y="1009948"/>
            <a:ext cx="137160" cy="5715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7" name="Text 5"/>
          <p:cNvSpPr/>
          <p:nvPr/>
        </p:nvSpPr>
        <p:spPr>
          <a:xfrm>
            <a:off x="4849178" y="971550"/>
            <a:ext cx="27432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27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结语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0" y="1205865"/>
            <a:ext cx="10241280" cy="51256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510" spc="491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共享之路，行而不辍</a:t>
            </a:r>
            <a:endParaRPr lang="en-US" sz="3510" dirty="0"/>
          </a:p>
        </p:txBody>
      </p:sp>
      <p:sp>
        <p:nvSpPr>
          <p:cNvPr id="9" name="Shape 7"/>
          <p:cNvSpPr/>
          <p:nvPr/>
        </p:nvSpPr>
        <p:spPr>
          <a:xfrm>
            <a:off x="4131945" y="1927027"/>
            <a:ext cx="342900" cy="57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Shape 8"/>
          <p:cNvSpPr/>
          <p:nvPr/>
        </p:nvSpPr>
        <p:spPr>
          <a:xfrm rot="2700000">
            <a:off x="4554855" y="1912739"/>
            <a:ext cx="34290" cy="34290"/>
          </a:xfrm>
          <a:prstGeom prst="rect">
            <a:avLst/>
          </a:prstGeom>
          <a:noFill/>
          <a:ln w="5715">
            <a:solidFill>
              <a:srgbClr val="002F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9155" y="1927027"/>
            <a:ext cx="342900" cy="57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2072759"/>
            <a:ext cx="1024128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90" spc="277" kern="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从自由代码到包容社群</a:t>
            </a:r>
            <a:endParaRPr lang="en-US" sz="990" dirty="0"/>
          </a:p>
        </p:txBody>
      </p:sp>
      <p:sp>
        <p:nvSpPr>
          <p:cNvPr id="13" name="Text 11"/>
          <p:cNvSpPr/>
          <p:nvPr/>
        </p:nvSpPr>
        <p:spPr>
          <a:xfrm>
            <a:off x="571500" y="2857500"/>
            <a:ext cx="273094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98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  T H E S I S</a:t>
            </a:r>
            <a:endParaRPr lang="en-US" sz="495" dirty="0"/>
          </a:p>
        </p:txBody>
      </p:sp>
      <p:sp>
        <p:nvSpPr>
          <p:cNvPr id="14" name="Shape 12"/>
          <p:cNvSpPr/>
          <p:nvPr/>
        </p:nvSpPr>
        <p:spPr>
          <a:xfrm>
            <a:off x="571500" y="3006090"/>
            <a:ext cx="160020" cy="5715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" y="3103245"/>
            <a:ext cx="2730941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spc="61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两条主线合一</a:t>
            </a:r>
            <a:endParaRPr lang="en-US" sz="765" dirty="0"/>
          </a:p>
        </p:txBody>
      </p:sp>
      <p:sp>
        <p:nvSpPr>
          <p:cNvPr id="16" name="Text 14"/>
          <p:cNvSpPr/>
          <p:nvPr/>
        </p:nvSpPr>
        <p:spPr>
          <a:xfrm>
            <a:off x="571500" y="3303270"/>
            <a:ext cx="2730941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spc="17" kern="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 守住代码的自由，R2I 拓展人的包容，共同构成开源的完整承诺。</a:t>
            </a:r>
            <a:endParaRPr lang="en-US" sz="563" dirty="0"/>
          </a:p>
        </p:txBody>
      </p:sp>
      <p:sp>
        <p:nvSpPr>
          <p:cNvPr id="17" name="Text 15"/>
          <p:cNvSpPr/>
          <p:nvPr/>
        </p:nvSpPr>
        <p:spPr>
          <a:xfrm>
            <a:off x="3352740" y="2857500"/>
            <a:ext cx="273104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98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  I N V I T E</a:t>
            </a:r>
            <a:endParaRPr lang="en-US" sz="495" dirty="0"/>
          </a:p>
        </p:txBody>
      </p:sp>
      <p:sp>
        <p:nvSpPr>
          <p:cNvPr id="18" name="Shape 16"/>
          <p:cNvSpPr/>
          <p:nvPr/>
        </p:nvSpPr>
        <p:spPr>
          <a:xfrm>
            <a:off x="3352740" y="3006090"/>
            <a:ext cx="160020" cy="5715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9" name="Text 17"/>
          <p:cNvSpPr/>
          <p:nvPr/>
        </p:nvSpPr>
        <p:spPr>
          <a:xfrm>
            <a:off x="3352740" y="3103245"/>
            <a:ext cx="2731041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spc="61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对读者的邀请</a:t>
            </a:r>
            <a:endParaRPr lang="en-US" sz="765" dirty="0"/>
          </a:p>
        </p:txBody>
      </p:sp>
      <p:sp>
        <p:nvSpPr>
          <p:cNvPr id="20" name="Text 18"/>
          <p:cNvSpPr/>
          <p:nvPr/>
        </p:nvSpPr>
        <p:spPr>
          <a:xfrm>
            <a:off x="3352740" y="3303270"/>
            <a:ext cx="2731041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spc="17" kern="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请把可访问性与多样性条款，写入你的下一次开源贡献——从个人开始。</a:t>
            </a:r>
            <a:endParaRPr lang="en-US" sz="563" dirty="0"/>
          </a:p>
        </p:txBody>
      </p:sp>
      <p:sp>
        <p:nvSpPr>
          <p:cNvPr id="21" name="Text 19"/>
          <p:cNvSpPr/>
          <p:nvPr/>
        </p:nvSpPr>
        <p:spPr>
          <a:xfrm>
            <a:off x="6134070" y="2857500"/>
            <a:ext cx="273094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98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  N E X T</a:t>
            </a:r>
            <a:endParaRPr lang="en-US" sz="495" dirty="0"/>
          </a:p>
        </p:txBody>
      </p:sp>
      <p:sp>
        <p:nvSpPr>
          <p:cNvPr id="22" name="Shape 20"/>
          <p:cNvSpPr/>
          <p:nvPr/>
        </p:nvSpPr>
        <p:spPr>
          <a:xfrm>
            <a:off x="6134070" y="3006090"/>
            <a:ext cx="160020" cy="5715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23" name="Text 21"/>
          <p:cNvSpPr/>
          <p:nvPr/>
        </p:nvSpPr>
        <p:spPr>
          <a:xfrm>
            <a:off x="6134070" y="3103245"/>
            <a:ext cx="2730941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spc="61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下一次共读</a:t>
            </a:r>
            <a:endParaRPr lang="en-US" sz="765" dirty="0"/>
          </a:p>
        </p:txBody>
      </p:sp>
      <p:sp>
        <p:nvSpPr>
          <p:cNvPr id="24" name="Text 22"/>
          <p:cNvSpPr/>
          <p:nvPr/>
        </p:nvSpPr>
        <p:spPr>
          <a:xfrm>
            <a:off x="6134070" y="3303270"/>
            <a:ext cx="2730941" cy="12501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spc="17" kern="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关注 FOSS 治理、AI 与开源的交叉议题，与我们一同延伸阅读。</a:t>
            </a:r>
            <a:endParaRPr lang="en-US" sz="563" dirty="0"/>
          </a:p>
        </p:txBody>
      </p:sp>
      <p:sp>
        <p:nvSpPr>
          <p:cNvPr id="25" name="Shape 23"/>
          <p:cNvSpPr/>
          <p:nvPr/>
        </p:nvSpPr>
        <p:spPr>
          <a:xfrm>
            <a:off x="571500" y="4840605"/>
            <a:ext cx="8001000" cy="571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6" name="Shape 24"/>
          <p:cNvSpPr/>
          <p:nvPr/>
        </p:nvSpPr>
        <p:spPr>
          <a:xfrm>
            <a:off x="571500" y="4297680"/>
            <a:ext cx="445770" cy="445770"/>
          </a:xfrm>
          <a:prstGeom prst="rect">
            <a:avLst/>
          </a:prstGeom>
          <a:noFill/>
          <a:ln w="5715">
            <a:solidFill>
              <a:srgbClr val="8A8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2935" y="4589145"/>
            <a:ext cx="102870" cy="102870"/>
          </a:xfrm>
          <a:prstGeom prst="rect">
            <a:avLst/>
          </a:prstGeom>
          <a:noFill/>
          <a:ln w="5715">
            <a:solidFill>
              <a:srgbClr val="8A8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0140" y="4414838"/>
            <a:ext cx="99852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8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O M M U N I T Y</a:t>
            </a:r>
            <a:endParaRPr lang="en-US" sz="450" dirty="0"/>
          </a:p>
        </p:txBody>
      </p:sp>
      <p:sp>
        <p:nvSpPr>
          <p:cNvPr id="29" name="Text 27"/>
          <p:cNvSpPr/>
          <p:nvPr/>
        </p:nvSpPr>
        <p:spPr>
          <a:xfrm>
            <a:off x="1120140" y="4517708"/>
            <a:ext cx="99852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47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扫码加入读者社群</a:t>
            </a:r>
            <a:endParaRPr lang="en-US" sz="585" dirty="0"/>
          </a:p>
        </p:txBody>
      </p:sp>
      <p:sp>
        <p:nvSpPr>
          <p:cNvPr id="30" name="Shape 28"/>
          <p:cNvSpPr/>
          <p:nvPr/>
        </p:nvSpPr>
        <p:spPr>
          <a:xfrm>
            <a:off x="4111139" y="4368582"/>
            <a:ext cx="28575" cy="28575"/>
          </a:xfrm>
          <a:prstGeom prst="ellipse">
            <a:avLst/>
          </a:prstGeom>
          <a:solidFill>
            <a:srgbClr val="FF7043"/>
          </a:solidFill>
          <a:ln/>
        </p:spPr>
      </p:sp>
      <p:sp>
        <p:nvSpPr>
          <p:cNvPr id="31" name="Text 29"/>
          <p:cNvSpPr/>
          <p:nvPr/>
        </p:nvSpPr>
        <p:spPr>
          <a:xfrm>
            <a:off x="4185434" y="4340007"/>
            <a:ext cx="4972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8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 期 主 题</a:t>
            </a:r>
            <a:endParaRPr lang="en-US" sz="450" dirty="0"/>
          </a:p>
        </p:txBody>
      </p:sp>
      <p:sp>
        <p:nvSpPr>
          <p:cNvPr id="32" name="Text 30"/>
          <p:cNvSpPr/>
          <p:nvPr/>
        </p:nvSpPr>
        <p:spPr>
          <a:xfrm>
            <a:off x="4111139" y="4471452"/>
            <a:ext cx="735092" cy="271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spc="23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Copyleft + R2I</a:t>
            </a:r>
            <a:pPr algn="l" indent="0" marL="0">
              <a:lnSpc>
                <a:spcPct val="160000"/>
              </a:lnSpc>
              <a:buNone/>
            </a:pPr>
            <a:endParaRPr lang="en-US" sz="585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495" spc="23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两条主线的对照阅读</a:t>
            </a:r>
            <a:endParaRPr lang="en-US" sz="585" dirty="0"/>
          </a:p>
        </p:txBody>
      </p:sp>
      <p:sp>
        <p:nvSpPr>
          <p:cNvPr id="33" name="Shape 31"/>
          <p:cNvSpPr/>
          <p:nvPr/>
        </p:nvSpPr>
        <p:spPr>
          <a:xfrm>
            <a:off x="5018931" y="4368582"/>
            <a:ext cx="28575" cy="28575"/>
          </a:xfrm>
          <a:prstGeom prst="ellipse">
            <a:avLst/>
          </a:prstGeom>
          <a:noFill/>
          <a:ln w="5715">
            <a:solidFill>
              <a:srgbClr val="002F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93226" y="4340007"/>
            <a:ext cx="4972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8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 期 预 告</a:t>
            </a:r>
            <a:endParaRPr lang="en-US" sz="450" dirty="0"/>
          </a:p>
        </p:txBody>
      </p:sp>
      <p:sp>
        <p:nvSpPr>
          <p:cNvPr id="35" name="Text 33"/>
          <p:cNvSpPr/>
          <p:nvPr/>
        </p:nvSpPr>
        <p:spPr>
          <a:xfrm>
            <a:off x="5018931" y="4471452"/>
            <a:ext cx="836205" cy="271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spc="23" kern="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FOSS 治理</a:t>
            </a:r>
            <a:pPr algn="l" indent="0" marL="0">
              <a:lnSpc>
                <a:spcPct val="160000"/>
              </a:lnSpc>
              <a:buNone/>
            </a:pPr>
            <a:endParaRPr lang="en-US" sz="585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495" spc="23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开源读者会 · 第 48 期</a:t>
            </a:r>
            <a:endParaRPr lang="en-US" sz="585" dirty="0"/>
          </a:p>
        </p:txBody>
      </p:sp>
      <p:sp>
        <p:nvSpPr>
          <p:cNvPr id="36" name="Text 34"/>
          <p:cNvSpPr/>
          <p:nvPr/>
        </p:nvSpPr>
        <p:spPr>
          <a:xfrm>
            <a:off x="7864912" y="4451985"/>
            <a:ext cx="79249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540" spc="162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 收 束</a:t>
            </a:r>
            <a:endParaRPr lang="en-US" sz="540" dirty="0"/>
          </a:p>
        </p:txBody>
      </p:sp>
      <p:sp>
        <p:nvSpPr>
          <p:cNvPr id="37" name="Text 35"/>
          <p:cNvSpPr/>
          <p:nvPr/>
        </p:nvSpPr>
        <p:spPr>
          <a:xfrm>
            <a:off x="7864912" y="4606290"/>
            <a:ext cx="79249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630" spc="189" kern="0" dirty="0">
                <a:solidFill>
                  <a:srgbClr val="002F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 源 读 者 会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2026-08-29T01:08:07Z</dcterms:created>
  <dcterms:modified xsi:type="dcterms:W3CDTF">2026-08-29T01:08:07Z</dcterms:modified>
</cp:coreProperties>
</file>