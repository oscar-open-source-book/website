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6355"/>
            <a:ext cx="9144000" cy="17145"/>
          </a:xfrm>
          <a:prstGeom prst="rect">
            <a:avLst/>
          </a:prstGeom>
          <a:gradFill rotWithShape="1">
            <a:gsLst>
              <a:gs pos="0">
                <a:srgbClr val="002FA7"/>
              </a:gs>
              <a:gs pos="50000">
                <a:srgbClr val="FF7043"/>
              </a:gs>
              <a:gs pos="100000">
                <a:srgbClr val="002FA7"/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85800" cy="6858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42900" y="342900"/>
            <a:ext cx="68580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342900"/>
            <a:ext cx="0" cy="68580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" y="342900"/>
            <a:ext cx="80010" cy="8001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8" name="Shape 6"/>
          <p:cNvSpPr/>
          <p:nvPr/>
        </p:nvSpPr>
        <p:spPr>
          <a:xfrm>
            <a:off x="7795260" y="285750"/>
            <a:ext cx="217170" cy="217170"/>
          </a:xfrm>
          <a:prstGeom prst="ellips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92415" y="382905"/>
            <a:ext cx="57150" cy="5715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0" name="Shape 8"/>
          <p:cNvSpPr/>
          <p:nvPr/>
        </p:nvSpPr>
        <p:spPr>
          <a:xfrm>
            <a:off x="8058150" y="388620"/>
            <a:ext cx="80010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1371600"/>
            <a:ext cx="142875" cy="172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2023 · JULY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342900" y="4286250"/>
            <a:ext cx="514350" cy="514350"/>
          </a:xfrm>
          <a:prstGeom prst="ellips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4375" y="4329113"/>
            <a:ext cx="285750" cy="285750"/>
          </a:xfrm>
          <a:prstGeom prst="ellips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2975" y="4463415"/>
            <a:ext cx="102870" cy="10287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1005" y="4343400"/>
            <a:ext cx="7232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85" spc="135" kern="0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/ 01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8041005" y="4469130"/>
            <a:ext cx="920115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60" dirty="0"/>
          </a:p>
        </p:txBody>
      </p:sp>
      <p:sp>
        <p:nvSpPr>
          <p:cNvPr id="17" name="Shape 15"/>
          <p:cNvSpPr/>
          <p:nvPr/>
        </p:nvSpPr>
        <p:spPr>
          <a:xfrm>
            <a:off x="8441055" y="914400"/>
            <a:ext cx="17145" cy="17145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41055" y="1165860"/>
            <a:ext cx="17145" cy="28575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1055" y="1531620"/>
            <a:ext cx="17145" cy="10287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0" name="Shape 18"/>
          <p:cNvSpPr/>
          <p:nvPr/>
        </p:nvSpPr>
        <p:spPr>
          <a:xfrm>
            <a:off x="8441055" y="1714500"/>
            <a:ext cx="17145" cy="228600"/>
          </a:xfrm>
          <a:prstGeom prst="rect">
            <a:avLst/>
          </a:prstGeom>
          <a:solidFill>
            <a:srgbClr val="002FA7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41055" y="2023110"/>
            <a:ext cx="17145" cy="125730"/>
          </a:xfrm>
          <a:prstGeom prst="rect">
            <a:avLst/>
          </a:prstGeom>
          <a:solidFill>
            <a:srgbClr val="002FA7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800350"/>
            <a:ext cx="8229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D0D0D0"/>
              </a:gs>
              <a:gs pos="90000">
                <a:srgbClr val="D0D0D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3" name="Shape 21"/>
          <p:cNvSpPr/>
          <p:nvPr/>
        </p:nvSpPr>
        <p:spPr>
          <a:xfrm>
            <a:off x="4549140" y="2777490"/>
            <a:ext cx="45720" cy="45720"/>
          </a:xfrm>
          <a:prstGeom prst="ellipse">
            <a:avLst/>
          </a:prstGeom>
          <a:solidFill>
            <a:srgbClr val="FF7043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0"/>
            <a:ext cx="4000500" cy="51435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3371850" y="400050"/>
            <a:ext cx="1017270" cy="188595"/>
          </a:xfrm>
          <a:prstGeom prst="roundRect">
            <a:avLst>
              <a:gd name="adj" fmla="val 6061"/>
            </a:avLst>
          </a:prstGeom>
          <a:noFill/>
          <a:ln w="5715">
            <a:solidFill>
              <a:srgbClr val="002F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71850" y="400050"/>
            <a:ext cx="1139342" cy="188595"/>
          </a:xfrm>
          <a:prstGeom prst="rect">
            <a:avLst/>
          </a:prstGeom>
          <a:noFill/>
          <a:ln/>
        </p:spPr>
        <p:txBody>
          <a:bodyPr wrap="square" lIns="45720" tIns="102870" rIns="102870" bIns="45720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· READING</a:t>
            </a:r>
            <a:endParaRPr lang="en-US" sz="540" dirty="0"/>
          </a:p>
        </p:txBody>
      </p:sp>
      <p:sp>
        <p:nvSpPr>
          <p:cNvPr id="27" name="Shape 24"/>
          <p:cNvSpPr/>
          <p:nvPr/>
        </p:nvSpPr>
        <p:spPr>
          <a:xfrm>
            <a:off x="4503420" y="491490"/>
            <a:ext cx="342900" cy="5715"/>
          </a:xfrm>
          <a:prstGeom prst="rect">
            <a:avLst/>
          </a:prstGeom>
          <a:solidFill>
            <a:srgbClr val="002FA7">
              <a:alpha val="5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960620" y="400050"/>
            <a:ext cx="811530" cy="188595"/>
          </a:xfrm>
          <a:prstGeom prst="roundRect">
            <a:avLst>
              <a:gd name="adj" fmla="val 6061"/>
            </a:avLst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0620" y="400050"/>
            <a:ext cx="908914" cy="188595"/>
          </a:xfrm>
          <a:prstGeom prst="rect">
            <a:avLst/>
          </a:prstGeom>
          <a:noFill/>
          <a:ln/>
        </p:spPr>
        <p:txBody>
          <a:bodyPr wrap="square" lIns="45720" tIns="102870" rIns="102870" bIns="45720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· 2023</a:t>
            </a:r>
            <a:endParaRPr lang="en-US" sz="540" dirty="0"/>
          </a:p>
        </p:txBody>
      </p:sp>
      <p:sp>
        <p:nvSpPr>
          <p:cNvPr id="30" name="Text 27"/>
          <p:cNvSpPr/>
          <p:nvPr/>
        </p:nvSpPr>
        <p:spPr>
          <a:xfrm>
            <a:off x="2446020" y="720090"/>
            <a:ext cx="489204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040" b="1" spc="54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开源之书记录</a:t>
            </a:r>
            <a:endParaRPr lang="en-US" sz="5040" dirty="0"/>
          </a:p>
        </p:txBody>
      </p:sp>
      <p:sp>
        <p:nvSpPr>
          <p:cNvPr id="31" name="Text 28"/>
          <p:cNvSpPr/>
          <p:nvPr/>
        </p:nvSpPr>
        <p:spPr>
          <a:xfrm>
            <a:off x="2494598" y="1566982"/>
            <a:ext cx="465338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spc="630" kern="0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BOOK · CHRONICLES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2886075" y="1927027"/>
            <a:ext cx="27432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3" name="Text 30"/>
          <p:cNvSpPr/>
          <p:nvPr/>
        </p:nvSpPr>
        <p:spPr>
          <a:xfrm>
            <a:off x="3263265" y="1841302"/>
            <a:ext cx="2931566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180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2023年7月 · 发现开源三部曲阅读分享</a:t>
            </a:r>
            <a:endParaRPr lang="en-US" sz="990" dirty="0"/>
          </a:p>
        </p:txBody>
      </p:sp>
      <p:sp>
        <p:nvSpPr>
          <p:cNvPr id="34" name="Shape 31"/>
          <p:cNvSpPr/>
          <p:nvPr/>
        </p:nvSpPr>
        <p:spPr>
          <a:xfrm>
            <a:off x="5983605" y="1927027"/>
            <a:ext cx="27432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5" name="Shape 32"/>
          <p:cNvSpPr/>
          <p:nvPr/>
        </p:nvSpPr>
        <p:spPr>
          <a:xfrm>
            <a:off x="914400" y="2241352"/>
            <a:ext cx="233172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D0D0D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2241352"/>
            <a:ext cx="2320290" cy="228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7" name="Text 34"/>
          <p:cNvSpPr/>
          <p:nvPr/>
        </p:nvSpPr>
        <p:spPr>
          <a:xfrm>
            <a:off x="1045845" y="2384227"/>
            <a:ext cx="6229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主题聚焦</a:t>
            </a:r>
            <a:endParaRPr lang="en-US" sz="585" dirty="0"/>
          </a:p>
        </p:txBody>
      </p:sp>
      <p:sp>
        <p:nvSpPr>
          <p:cNvPr id="38" name="Text 35"/>
          <p:cNvSpPr/>
          <p:nvPr/>
        </p:nvSpPr>
        <p:spPr>
          <a:xfrm>
            <a:off x="1045845" y="2538532"/>
            <a:ext cx="54292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 · 路径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1045845" y="2709982"/>
            <a:ext cx="21634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围绕开源之道三部曲系列，梳理从认知到共建的完整路径。</a:t>
            </a:r>
            <a:endParaRPr lang="en-US" sz="585" dirty="0"/>
          </a:p>
        </p:txBody>
      </p:sp>
      <p:sp>
        <p:nvSpPr>
          <p:cNvPr id="40" name="Shape 37"/>
          <p:cNvSpPr/>
          <p:nvPr/>
        </p:nvSpPr>
        <p:spPr>
          <a:xfrm>
            <a:off x="3406140" y="2241352"/>
            <a:ext cx="233172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D0D0D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06140" y="2241352"/>
            <a:ext cx="2320290" cy="2286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2" name="Text 39"/>
          <p:cNvSpPr/>
          <p:nvPr/>
        </p:nvSpPr>
        <p:spPr>
          <a:xfrm>
            <a:off x="3537585" y="2384227"/>
            <a:ext cx="6343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分享形式</a:t>
            </a:r>
            <a:endParaRPr lang="en-US" sz="585" dirty="0"/>
          </a:p>
        </p:txBody>
      </p:sp>
      <p:sp>
        <p:nvSpPr>
          <p:cNvPr id="43" name="Text 40"/>
          <p:cNvSpPr/>
          <p:nvPr/>
        </p:nvSpPr>
        <p:spPr>
          <a:xfrm>
            <a:off x="3537585" y="2538532"/>
            <a:ext cx="8193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读书会 · 深度讨论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3537585" y="2709982"/>
            <a:ext cx="21634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以读书会形式逐篇解读，结合真实项目案例展开深度讨论。</a:t>
            </a:r>
            <a:endParaRPr lang="en-US" sz="585" dirty="0"/>
          </a:p>
        </p:txBody>
      </p:sp>
      <p:sp>
        <p:nvSpPr>
          <p:cNvPr id="45" name="Shape 42"/>
          <p:cNvSpPr/>
          <p:nvPr/>
        </p:nvSpPr>
        <p:spPr>
          <a:xfrm>
            <a:off x="5897880" y="2241352"/>
            <a:ext cx="233172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D0D0D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97880" y="2241352"/>
            <a:ext cx="2320290" cy="22860"/>
          </a:xfrm>
          <a:prstGeom prst="rect">
            <a:avLst/>
          </a:prstGeom>
          <a:solidFill>
            <a:srgbClr val="001F72"/>
          </a:solidFill>
          <a:ln/>
        </p:spPr>
      </p:sp>
      <p:sp>
        <p:nvSpPr>
          <p:cNvPr id="47" name="Text 44"/>
          <p:cNvSpPr/>
          <p:nvPr/>
        </p:nvSpPr>
        <p:spPr>
          <a:xfrm>
            <a:off x="6029325" y="2384227"/>
            <a:ext cx="6343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90" kern="0" dirty="0">
                <a:solidFill>
                  <a:srgbClr val="001F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面向对象</a:t>
            </a:r>
            <a:endParaRPr lang="en-US" sz="585" dirty="0"/>
          </a:p>
        </p:txBody>
      </p:sp>
      <p:sp>
        <p:nvSpPr>
          <p:cNvPr id="48" name="Text 45"/>
          <p:cNvSpPr/>
          <p:nvPr/>
        </p:nvSpPr>
        <p:spPr>
          <a:xfrm>
            <a:off x="6029325" y="2538532"/>
            <a:ext cx="112654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开源爱好者 · 技术从业者</a:t>
            </a:r>
            <a:endParaRPr lang="en-US" sz="675" dirty="0"/>
          </a:p>
        </p:txBody>
      </p:sp>
      <p:sp>
        <p:nvSpPr>
          <p:cNvPr id="49" name="Text 46"/>
          <p:cNvSpPr/>
          <p:nvPr/>
        </p:nvSpPr>
        <p:spPr>
          <a:xfrm>
            <a:off x="6029325" y="2709982"/>
            <a:ext cx="21634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开源爱好者、技术从业者及对开源文化感兴趣的读者群体。</a:t>
            </a:r>
            <a:endParaRPr lang="en-US" sz="585" dirty="0"/>
          </a:p>
        </p:txBody>
      </p:sp>
      <p:sp>
        <p:nvSpPr>
          <p:cNvPr id="50" name="Text 47"/>
          <p:cNvSpPr/>
          <p:nvPr/>
        </p:nvSpPr>
        <p:spPr>
          <a:xfrm>
            <a:off x="3577590" y="3258622"/>
            <a:ext cx="79369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· THEME</a:t>
            </a:r>
            <a:endParaRPr lang="en-US" sz="495" dirty="0"/>
          </a:p>
        </p:txBody>
      </p:sp>
      <p:sp>
        <p:nvSpPr>
          <p:cNvPr id="51" name="Text 48"/>
          <p:cNvSpPr/>
          <p:nvPr/>
        </p:nvSpPr>
        <p:spPr>
          <a:xfrm>
            <a:off x="3577590" y="3384352"/>
            <a:ext cx="8572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发现开源三部曲</a:t>
            </a:r>
            <a:endParaRPr lang="en-US" sz="765" dirty="0"/>
          </a:p>
        </p:txBody>
      </p:sp>
      <p:sp>
        <p:nvSpPr>
          <p:cNvPr id="52" name="Shape 49"/>
          <p:cNvSpPr/>
          <p:nvPr/>
        </p:nvSpPr>
        <p:spPr>
          <a:xfrm>
            <a:off x="4566285" y="3258622"/>
            <a:ext cx="1228725" cy="245745"/>
          </a:xfrm>
          <a:prstGeom prst="rect">
            <a:avLst/>
          </a:prstGeom>
          <a:noFill/>
          <a:ln/>
        </p:spPr>
      </p:sp>
      <p:sp>
        <p:nvSpPr>
          <p:cNvPr id="53" name="Shape 50"/>
          <p:cNvSpPr/>
          <p:nvPr/>
        </p:nvSpPr>
        <p:spPr>
          <a:xfrm>
            <a:off x="4566285" y="3258622"/>
            <a:ext cx="0" cy="245745"/>
          </a:xfrm>
          <a:prstGeom prst="line">
            <a:avLst/>
          </a:prstGeom>
          <a:noFill/>
          <a:ln w="5715">
            <a:solidFill>
              <a:srgbClr val="D0D0D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00600" y="3258622"/>
            <a:ext cx="64008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· ROLE</a:t>
            </a:r>
            <a:endParaRPr lang="en-US" sz="495" dirty="0"/>
          </a:p>
        </p:txBody>
      </p:sp>
      <p:sp>
        <p:nvSpPr>
          <p:cNvPr id="55" name="Text 52"/>
          <p:cNvSpPr/>
          <p:nvPr/>
        </p:nvSpPr>
        <p:spPr>
          <a:xfrm>
            <a:off x="4800600" y="3384352"/>
            <a:ext cx="86296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9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 · 适兕</a:t>
            </a:r>
            <a:endParaRPr lang="en-US" sz="765" dirty="0"/>
          </a:p>
        </p:txBody>
      </p:sp>
      <p:sp>
        <p:nvSpPr>
          <p:cNvPr id="56" name="Shape 53"/>
          <p:cNvSpPr/>
          <p:nvPr/>
        </p:nvSpPr>
        <p:spPr>
          <a:xfrm>
            <a:off x="1925955" y="3765381"/>
            <a:ext cx="13716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7" name="Text 54"/>
          <p:cNvSpPr/>
          <p:nvPr/>
        </p:nvSpPr>
        <p:spPr>
          <a:xfrm>
            <a:off x="2171700" y="3710107"/>
            <a:ext cx="53766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55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本期聚焦发现开源三部曲系列，以阅读分享会方式带领参与者重新审视开源精神与社区实践，串联认知、实践与共建三段旅程。</a:t>
            </a:r>
            <a:endParaRPr lang="en-US" sz="630" dirty="0"/>
          </a:p>
        </p:txBody>
      </p:sp>
      <p:sp>
        <p:nvSpPr>
          <p:cNvPr id="58" name="Shape 55"/>
          <p:cNvSpPr/>
          <p:nvPr/>
        </p:nvSpPr>
        <p:spPr>
          <a:xfrm>
            <a:off x="7080885" y="3765381"/>
            <a:ext cx="137160" cy="5715"/>
          </a:xfrm>
          <a:prstGeom prst="rect">
            <a:avLst/>
          </a:prstGeom>
          <a:solidFill>
            <a:srgbClr val="FF70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42900"/>
            <a:ext cx="8343900" cy="2286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00050" y="571500"/>
            <a:ext cx="8343900" cy="0"/>
          </a:xfrm>
          <a:prstGeom prst="line">
            <a:avLst/>
          </a:prstGeom>
          <a:noFill/>
          <a:ln w="5715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8650" y="382369"/>
            <a:ext cx="45720" cy="4572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2900"/>
            <a:ext cx="144658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 SOURCE MONTHLY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7778115" y="354330"/>
            <a:ext cx="108173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· 02 / 过渡章节</a:t>
            </a:r>
            <a:endParaRPr lang="en-US" sz="585" dirty="0"/>
          </a:p>
        </p:txBody>
      </p:sp>
      <p:sp>
        <p:nvSpPr>
          <p:cNvPr id="7" name="Shape 5"/>
          <p:cNvSpPr/>
          <p:nvPr/>
        </p:nvSpPr>
        <p:spPr>
          <a:xfrm>
            <a:off x="502920" y="800100"/>
            <a:ext cx="22860" cy="40005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8" name="Shape 6"/>
          <p:cNvSpPr/>
          <p:nvPr/>
        </p:nvSpPr>
        <p:spPr>
          <a:xfrm>
            <a:off x="468630" y="1200150"/>
            <a:ext cx="9144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9" name="Shape 7"/>
          <p:cNvSpPr/>
          <p:nvPr/>
        </p:nvSpPr>
        <p:spPr>
          <a:xfrm>
            <a:off x="468630" y="2914650"/>
            <a:ext cx="9144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0" name="Shape 8"/>
          <p:cNvSpPr/>
          <p:nvPr/>
        </p:nvSpPr>
        <p:spPr>
          <a:xfrm>
            <a:off x="468630" y="4629150"/>
            <a:ext cx="9144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422910" y="1085850"/>
            <a:ext cx="1543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422910" y="2800350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13" name="Text 11"/>
          <p:cNvSpPr/>
          <p:nvPr/>
        </p:nvSpPr>
        <p:spPr>
          <a:xfrm>
            <a:off x="422910" y="4514850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914400" y="577215"/>
            <a:ext cx="2194560" cy="11087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2091690" y="771525"/>
            <a:ext cx="1417320" cy="5543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spc="-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/08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006090" y="868680"/>
            <a:ext cx="11521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开源之声</a:t>
            </a:r>
            <a:endParaRPr lang="en-US" sz="585" dirty="0"/>
          </a:p>
        </p:txBody>
      </p:sp>
      <p:sp>
        <p:nvSpPr>
          <p:cNvPr id="17" name="Text 15"/>
          <p:cNvSpPr/>
          <p:nvPr/>
        </p:nvSpPr>
        <p:spPr>
          <a:xfrm>
            <a:off x="3006090" y="1011555"/>
            <a:ext cx="2377440" cy="3886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20" b="1" spc="180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开源之道月刊</a:t>
            </a:r>
            <a:endParaRPr lang="en-US" sz="2520" dirty="0"/>
          </a:p>
        </p:txBody>
      </p:sp>
      <p:sp>
        <p:nvSpPr>
          <p:cNvPr id="18" name="Text 16"/>
          <p:cNvSpPr/>
          <p:nvPr/>
        </p:nvSpPr>
        <p:spPr>
          <a:xfrm>
            <a:off x="3006090" y="1489293"/>
            <a:ext cx="218907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65" spc="45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中国开源社区最具影响力的技术出版物之一</a:t>
            </a:r>
            <a:endParaRPr lang="en-US" sz="765" dirty="0"/>
          </a:p>
        </p:txBody>
      </p:sp>
      <p:sp>
        <p:nvSpPr>
          <p:cNvPr id="19" name="Shape 17"/>
          <p:cNvSpPr/>
          <p:nvPr/>
        </p:nvSpPr>
        <p:spPr>
          <a:xfrm>
            <a:off x="914400" y="1860143"/>
            <a:ext cx="2533620" cy="1028700"/>
          </a:xfrm>
          <a:prstGeom prst="rect">
            <a:avLst/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7275" y="2014448"/>
            <a:ext cx="62293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创刊初衷</a:t>
            </a:r>
            <a:endParaRPr lang="en-US" sz="540" dirty="0"/>
          </a:p>
        </p:txBody>
      </p:sp>
      <p:sp>
        <p:nvSpPr>
          <p:cNvPr id="21" name="Text 19"/>
          <p:cNvSpPr/>
          <p:nvPr/>
        </p:nvSpPr>
        <p:spPr>
          <a:xfrm>
            <a:off x="1057275" y="2180183"/>
            <a:ext cx="83439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记录技术脉络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7275" y="2408783"/>
            <a:ext cx="222747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23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致力于记录开源技术发展脉络，推动国内开源文化普及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3562320" y="1860143"/>
            <a:ext cx="2533710" cy="1028700"/>
          </a:xfrm>
          <a:prstGeom prst="rect">
            <a:avLst/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5195" y="2014448"/>
            <a:ext cx="6343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内容特色</a:t>
            </a:r>
            <a:endParaRPr lang="en-US" sz="540" dirty="0"/>
          </a:p>
        </p:txBody>
      </p:sp>
      <p:sp>
        <p:nvSpPr>
          <p:cNvPr id="25" name="Text 23"/>
          <p:cNvSpPr/>
          <p:nvPr/>
        </p:nvSpPr>
        <p:spPr>
          <a:xfrm>
            <a:off x="3705195" y="2180183"/>
            <a:ext cx="83439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深度长文为主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05195" y="2408783"/>
            <a:ext cx="222747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23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以深度长文为主，涵盖技术解读、人物访谈与社区观察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6210330" y="1860143"/>
            <a:ext cx="2533620" cy="1028700"/>
          </a:xfrm>
          <a:prstGeom prst="rect">
            <a:avLst/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3205" y="2014448"/>
            <a:ext cx="5600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影响力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6353205" y="2180183"/>
            <a:ext cx="83439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权威开源读物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3205" y="2408783"/>
            <a:ext cx="241310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23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被广泛视为国内开源领域的权威读物，读者覆盖开发者群体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914400" y="4196060"/>
            <a:ext cx="7829550" cy="66169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914400" y="4196060"/>
            <a:ext cx="7829550" cy="0"/>
          </a:xfrm>
          <a:prstGeom prst="line">
            <a:avLst/>
          </a:prstGeom>
          <a:noFill/>
          <a:ln w="5715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373225"/>
            <a:ext cx="3829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出版形式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1314450" y="4350365"/>
            <a:ext cx="26860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月刊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1783080" y="4373225"/>
            <a:ext cx="3829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内容类型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2183130" y="4350365"/>
            <a:ext cx="4514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技术解读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2583180" y="4350365"/>
            <a:ext cx="14573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2646045" y="4350365"/>
            <a:ext cx="4514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人物访谈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3046095" y="4350365"/>
            <a:ext cx="14573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3108960" y="4350365"/>
            <a:ext cx="45148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社区观察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914400" y="4561820"/>
            <a:ext cx="5715000" cy="295930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914400" y="4561820"/>
            <a:ext cx="0" cy="295930"/>
          </a:xfrm>
          <a:prstGeom prst="line">
            <a:avLst/>
          </a:prstGeom>
          <a:noFill/>
          <a:ln w="17145">
            <a:solidFill>
              <a:srgbClr val="FF70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5845" y="4584680"/>
            <a:ext cx="6125566" cy="24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spc="23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开源之道是国内开源领域最具影响力的月刊之一，自创办以来始终坚持以深度内容记录开源生态的演进，成为开发者了解开源文化与前沿技术的重要窗口。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142875" y="142875"/>
            <a:ext cx="137160" cy="137160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142875" y="142875"/>
            <a:ext cx="13716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2875" y="142875"/>
            <a:ext cx="0" cy="13716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3965" y="4863465"/>
            <a:ext cx="137160" cy="137160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9001125" y="4863465"/>
            <a:ext cx="0" cy="13716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3965" y="5000625"/>
            <a:ext cx="13716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86750" y="434340"/>
            <a:ext cx="34290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1" name="Shape 49"/>
          <p:cNvSpPr/>
          <p:nvPr/>
        </p:nvSpPr>
        <p:spPr>
          <a:xfrm>
            <a:off x="8663940" y="400050"/>
            <a:ext cx="80010" cy="8001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2" name="Shape 50"/>
          <p:cNvSpPr/>
          <p:nvPr/>
        </p:nvSpPr>
        <p:spPr>
          <a:xfrm>
            <a:off x="400050" y="4920615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3" name="Shape 51"/>
          <p:cNvSpPr/>
          <p:nvPr/>
        </p:nvSpPr>
        <p:spPr>
          <a:xfrm>
            <a:off x="468630" y="4920615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4" name="Shape 52"/>
          <p:cNvSpPr/>
          <p:nvPr/>
        </p:nvSpPr>
        <p:spPr>
          <a:xfrm>
            <a:off x="537210" y="4920615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5" name="Shape 53"/>
          <p:cNvSpPr/>
          <p:nvPr/>
        </p:nvSpPr>
        <p:spPr>
          <a:xfrm>
            <a:off x="605790" y="4920615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6" name="Shape 54"/>
          <p:cNvSpPr/>
          <p:nvPr/>
        </p:nvSpPr>
        <p:spPr>
          <a:xfrm>
            <a:off x="674370" y="4920615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" y="4903470"/>
            <a:ext cx="56967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450" dirty="0"/>
          </a:p>
        </p:txBody>
      </p:sp>
      <p:sp>
        <p:nvSpPr>
          <p:cNvPr id="58" name="Text 56"/>
          <p:cNvSpPr/>
          <p:nvPr/>
        </p:nvSpPr>
        <p:spPr>
          <a:xfrm>
            <a:off x="7566660" y="4903470"/>
            <a:ext cx="131856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MONTHLY · 02</a:t>
            </a:r>
            <a:endParaRPr lang="en-US" sz="4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205740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002FA7">
                  <a:alpha val="4000"/>
                </a:srgbClr>
              </a:gs>
              <a:gs pos="100000">
                <a:srgbClr val="002FA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3200400" y="3343275"/>
            <a:ext cx="6400800" cy="3600450"/>
          </a:xfrm>
          <a:prstGeom prst="ellipse">
            <a:avLst/>
          </a:prstGeom>
          <a:gradFill rotWithShape="1">
            <a:gsLst>
              <a:gs pos="0">
                <a:srgbClr val="FF7043">
                  <a:alpha val="3200"/>
                </a:srgbClr>
              </a:gs>
              <a:gs pos="100000">
                <a:srgbClr val="FF704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65760" y="351473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期刊概览</a:t>
            </a:r>
            <a:endParaRPr lang="en-US" sz="540" dirty="0"/>
          </a:p>
        </p:txBody>
      </p:sp>
      <p:sp>
        <p:nvSpPr>
          <p:cNvPr id="6" name="Shape 4"/>
          <p:cNvSpPr/>
          <p:nvPr/>
        </p:nvSpPr>
        <p:spPr>
          <a:xfrm>
            <a:off x="857250" y="365760"/>
            <a:ext cx="228600" cy="5715"/>
          </a:xfrm>
          <a:prstGeom prst="rect">
            <a:avLst/>
          </a:prstGeom>
          <a:solidFill>
            <a:srgbClr val="002FA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5755"/>
            <a:ext cx="98572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2FA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OVERVIEW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65760" y="497205"/>
            <a:ext cx="9421978" cy="287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90" b="1" spc="45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期刊</a:t>
            </a:r>
            <a:pPr algn="l" indent="0" marL="0">
              <a:lnSpc>
                <a:spcPct val="120000"/>
              </a:lnSpc>
              <a:buNone/>
            </a:pPr>
            <a:r>
              <a:rPr lang="en-US" sz="1890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历史与定位</a:t>
            </a:r>
            <a:endParaRPr lang="en-US" sz="1890" dirty="0"/>
          </a:p>
        </p:txBody>
      </p:sp>
      <p:sp>
        <p:nvSpPr>
          <p:cNvPr id="9" name="Text 7"/>
          <p:cNvSpPr/>
          <p:nvPr/>
        </p:nvSpPr>
        <p:spPr>
          <a:xfrm>
            <a:off x="365760" y="865197"/>
            <a:ext cx="8833104" cy="1479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spc="14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开源之道从创立之初便确立了内容深度优先的编辑原则，通过系统化的专栏架构和多元传播渠道，在开发者群体中建立了稳固的阅读习惯和社区认同。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365760" y="1218902"/>
            <a:ext cx="8412480" cy="5715"/>
          </a:xfrm>
          <a:prstGeom prst="rect">
            <a:avLst/>
          </a:prstGeom>
          <a:solidFill>
            <a:srgbClr val="D8DEE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218902"/>
            <a:ext cx="68580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2" name="Shape 10"/>
          <p:cNvSpPr/>
          <p:nvPr/>
        </p:nvSpPr>
        <p:spPr>
          <a:xfrm>
            <a:off x="3850750" y="1675924"/>
            <a:ext cx="5715" cy="2604788"/>
          </a:xfrm>
          <a:prstGeom prst="rect">
            <a:avLst/>
          </a:prstGeom>
          <a:solidFill>
            <a:srgbClr val="002FA7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00659"/>
            <a:ext cx="371756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核心专栏</a:t>
            </a:r>
            <a:pPr algn="l" indent="0" marL="0">
              <a:buNone/>
            </a:pPr>
            <a:r>
              <a:rPr lang="en-US" sz="405" spc="9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708660" y="1714946"/>
            <a:ext cx="257175" cy="85725"/>
          </a:xfrm>
          <a:prstGeom prst="roundRect">
            <a:avLst>
              <a:gd name="adj" fmla="val 13333"/>
            </a:avLst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" y="1714946"/>
            <a:ext cx="308610" cy="8572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405" dirty="0"/>
          </a:p>
        </p:txBody>
      </p:sp>
      <p:sp>
        <p:nvSpPr>
          <p:cNvPr id="16" name="Text 14"/>
          <p:cNvSpPr/>
          <p:nvPr/>
        </p:nvSpPr>
        <p:spPr>
          <a:xfrm>
            <a:off x="365760" y="1869251"/>
            <a:ext cx="37175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pPr algn="l" indent="0" marL="0">
              <a:lnSpc>
                <a:spcPct val="100000"/>
              </a:lnSpc>
              <a:buNone/>
            </a:pPr>
            <a:r>
              <a:rPr lang="en-US" sz="990" b="1" spc="-45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大专栏</a:t>
            </a:r>
            <a:endParaRPr lang="en-US" sz="2880" dirty="0"/>
          </a:p>
        </p:txBody>
      </p:sp>
      <p:sp>
        <p:nvSpPr>
          <p:cNvPr id="17" name="Text 15"/>
          <p:cNvSpPr/>
          <p:nvPr/>
        </p:nvSpPr>
        <p:spPr>
          <a:xfrm>
            <a:off x="365760" y="2303591"/>
            <a:ext cx="3717565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1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主题专栏 · 技术深度报道</a:t>
            </a:r>
            <a:pPr algn="l" indent="0" marL="0">
              <a:lnSpc>
                <a:spcPct val="140000"/>
              </a:lnSpc>
              <a:buNone/>
            </a:pPr>
            <a:endParaRPr lang="en-US" sz="81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81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社区动态 · 读者来信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65760" y="2637205"/>
            <a:ext cx="2304288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每期围绕前沿开源议题策划专题，从技术剖析到生态洞察，构建系统化的知识阅读体系。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365760" y="3064579"/>
            <a:ext cx="3319254" cy="1225689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365760" y="3064579"/>
            <a:ext cx="3319254" cy="0"/>
          </a:xfrm>
          <a:prstGeom prst="line">
            <a:avLst/>
          </a:prstGeom>
          <a:noFill/>
          <a:ln w="5715">
            <a:solidFill>
              <a:srgbClr val="D8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30314"/>
            <a:ext cx="371756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传播矩阵</a:t>
            </a:r>
            <a:pPr algn="l" indent="0" marL="0">
              <a:buNone/>
            </a:pPr>
            <a:r>
              <a:rPr lang="en-US" sz="405" spc="9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708660" y="3244602"/>
            <a:ext cx="422910" cy="85725"/>
          </a:xfrm>
          <a:prstGeom prst="roundRect">
            <a:avLst>
              <a:gd name="adj" fmla="val 13333"/>
            </a:avLst>
          </a:prstGeom>
          <a:solidFill>
            <a:srgbClr val="002FA7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" y="3244602"/>
            <a:ext cx="474345" cy="8572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405" dirty="0"/>
          </a:p>
        </p:txBody>
      </p:sp>
      <p:sp>
        <p:nvSpPr>
          <p:cNvPr id="24" name="Text 22"/>
          <p:cNvSpPr/>
          <p:nvPr/>
        </p:nvSpPr>
        <p:spPr>
          <a:xfrm>
            <a:off x="365760" y="3398907"/>
            <a:ext cx="37175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8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1440" b="1" spc="-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2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90" b="1" spc="-45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维度触达</a:t>
            </a:r>
            <a:endParaRPr lang="en-US" sz="2880" dirty="0"/>
          </a:p>
        </p:txBody>
      </p:sp>
      <p:sp>
        <p:nvSpPr>
          <p:cNvPr id="25" name="Text 23"/>
          <p:cNvSpPr/>
          <p:nvPr/>
        </p:nvSpPr>
        <p:spPr>
          <a:xfrm>
            <a:off x="365760" y="3833247"/>
            <a:ext cx="3717565" cy="143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1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电子书</a:t>
            </a:r>
            <a:pPr algn="l" indent="0" marL="0">
              <a:lnSpc>
                <a:spcPct val="140000"/>
              </a:lnSpc>
              <a:buNone/>
            </a:pPr>
            <a:r>
              <a:rPr lang="en-US" sz="81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lnSpc>
                <a:spcPct val="140000"/>
              </a:lnSpc>
              <a:buNone/>
            </a:pPr>
            <a:r>
              <a:rPr lang="en-US" sz="81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纸质版</a:t>
            </a:r>
            <a:pPr algn="l" indent="0" marL="0">
              <a:lnSpc>
                <a:spcPct val="140000"/>
              </a:lnSpc>
              <a:buNone/>
            </a:pPr>
            <a:r>
              <a:rPr lang="en-US" sz="81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lnSpc>
                <a:spcPct val="140000"/>
              </a:lnSpc>
              <a:buNone/>
            </a:pPr>
            <a:r>
              <a:rPr lang="en-US" sz="81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线下分享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365760" y="4022914"/>
            <a:ext cx="2304288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线上电子刊与实体纸质刊并行发行，结合线下技术分享会，形成立体化内容触达网络。</a:t>
            </a:r>
            <a:endParaRPr lang="en-US" sz="540" dirty="0"/>
          </a:p>
        </p:txBody>
      </p:sp>
      <p:sp>
        <p:nvSpPr>
          <p:cNvPr id="27" name="Shape 25"/>
          <p:cNvSpPr/>
          <p:nvPr/>
        </p:nvSpPr>
        <p:spPr>
          <a:xfrm>
            <a:off x="3982194" y="1350347"/>
            <a:ext cx="2346543" cy="1576536"/>
          </a:xfrm>
          <a:prstGeom prst="roundRect">
            <a:avLst>
              <a:gd name="adj" fmla="val 1450"/>
            </a:avLst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4410" y="1453217"/>
            <a:ext cx="27717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8" kern="0" dirty="0">
                <a:solidFill>
                  <a:srgbClr val="002FA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04</a:t>
            </a:r>
            <a:endParaRPr lang="en-US" sz="405" dirty="0"/>
          </a:p>
        </p:txBody>
      </p:sp>
      <p:sp>
        <p:nvSpPr>
          <p:cNvPr id="29" name="Shape 27"/>
          <p:cNvSpPr/>
          <p:nvPr/>
        </p:nvSpPr>
        <p:spPr>
          <a:xfrm>
            <a:off x="4113639" y="1476077"/>
            <a:ext cx="217170" cy="217170"/>
          </a:xfrm>
          <a:prstGeom prst="roundRect">
            <a:avLst>
              <a:gd name="adj" fmla="val 10526"/>
            </a:avLst>
          </a:prstGeom>
          <a:solidFill>
            <a:srgbClr val="E8ECFA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65074" y="1527512"/>
            <a:ext cx="114300" cy="1143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399389" y="1550372"/>
            <a:ext cx="62087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2FA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 01</a:t>
            </a:r>
            <a:endParaRPr lang="en-US" sz="450" dirty="0"/>
          </a:p>
        </p:txBody>
      </p:sp>
      <p:sp>
        <p:nvSpPr>
          <p:cNvPr id="32" name="Text 29"/>
          <p:cNvSpPr/>
          <p:nvPr/>
        </p:nvSpPr>
        <p:spPr>
          <a:xfrm>
            <a:off x="4113639" y="1761827"/>
            <a:ext cx="233369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spc="23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创立背景</a:t>
            </a:r>
            <a:endParaRPr lang="en-US" sz="765" dirty="0"/>
          </a:p>
        </p:txBody>
      </p:sp>
      <p:sp>
        <p:nvSpPr>
          <p:cNvPr id="33" name="Shape 30"/>
          <p:cNvSpPr/>
          <p:nvPr/>
        </p:nvSpPr>
        <p:spPr>
          <a:xfrm>
            <a:off x="4113639" y="1943546"/>
            <a:ext cx="16002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4" name="Text 31"/>
          <p:cNvSpPr/>
          <p:nvPr/>
        </p:nvSpPr>
        <p:spPr>
          <a:xfrm>
            <a:off x="4113639" y="2006411"/>
            <a:ext cx="2333692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9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由国内开源技术社区发起，响应开发者对高质量开源内容的需求，立志打造中文世界最具深度的开源技术期刊。</a:t>
            </a:r>
            <a:endParaRPr lang="en-US" sz="563" dirty="0"/>
          </a:p>
        </p:txBody>
      </p:sp>
      <p:sp>
        <p:nvSpPr>
          <p:cNvPr id="35" name="Shape 32"/>
          <p:cNvSpPr/>
          <p:nvPr/>
        </p:nvSpPr>
        <p:spPr>
          <a:xfrm>
            <a:off x="6431607" y="1350347"/>
            <a:ext cx="2346633" cy="1576536"/>
          </a:xfrm>
          <a:prstGeom prst="roundRect">
            <a:avLst>
              <a:gd name="adj" fmla="val 1450"/>
            </a:avLst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32483" y="1453217"/>
            <a:ext cx="28860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8" kern="0" dirty="0">
                <a:solidFill>
                  <a:srgbClr val="002FA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04</a:t>
            </a:r>
            <a:endParaRPr lang="en-US" sz="405" dirty="0"/>
          </a:p>
        </p:txBody>
      </p:sp>
      <p:sp>
        <p:nvSpPr>
          <p:cNvPr id="37" name="Shape 34"/>
          <p:cNvSpPr/>
          <p:nvPr/>
        </p:nvSpPr>
        <p:spPr>
          <a:xfrm>
            <a:off x="6563052" y="1476077"/>
            <a:ext cx="217170" cy="217170"/>
          </a:xfrm>
          <a:prstGeom prst="roundRect">
            <a:avLst>
              <a:gd name="adj" fmla="val 10526"/>
            </a:avLst>
          </a:prstGeom>
          <a:solidFill>
            <a:srgbClr val="E8ECFA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487" y="1527512"/>
            <a:ext cx="114300" cy="1143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848802" y="1550372"/>
            <a:ext cx="63367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2FA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 02</a:t>
            </a:r>
            <a:endParaRPr lang="en-US" sz="450" dirty="0"/>
          </a:p>
        </p:txBody>
      </p:sp>
      <p:sp>
        <p:nvSpPr>
          <p:cNvPr id="40" name="Text 36"/>
          <p:cNvSpPr/>
          <p:nvPr/>
        </p:nvSpPr>
        <p:spPr>
          <a:xfrm>
            <a:off x="6563052" y="1761827"/>
            <a:ext cx="233379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spc="23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内容架构</a:t>
            </a:r>
            <a:endParaRPr lang="en-US" sz="765" dirty="0"/>
          </a:p>
        </p:txBody>
      </p:sp>
      <p:sp>
        <p:nvSpPr>
          <p:cNvPr id="41" name="Shape 37"/>
          <p:cNvSpPr/>
          <p:nvPr/>
        </p:nvSpPr>
        <p:spPr>
          <a:xfrm>
            <a:off x="6563052" y="1943546"/>
            <a:ext cx="16002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2" name="Text 38"/>
          <p:cNvSpPr/>
          <p:nvPr/>
        </p:nvSpPr>
        <p:spPr>
          <a:xfrm>
            <a:off x="6563052" y="2006411"/>
            <a:ext cx="2333792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9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每期设置主题专栏、技术深度报道、社区动态与读者来信四大板块，兼顾纵深解读与广度覆盖。</a:t>
            </a:r>
            <a:endParaRPr lang="en-US" sz="563" dirty="0"/>
          </a:p>
        </p:txBody>
      </p:sp>
      <p:sp>
        <p:nvSpPr>
          <p:cNvPr id="43" name="Shape 39"/>
          <p:cNvSpPr/>
          <p:nvPr/>
        </p:nvSpPr>
        <p:spPr>
          <a:xfrm>
            <a:off x="3982194" y="3029754"/>
            <a:ext cx="2346543" cy="1576536"/>
          </a:xfrm>
          <a:prstGeom prst="roundRect">
            <a:avLst>
              <a:gd name="adj" fmla="val 1450"/>
            </a:avLst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982980" y="3132624"/>
            <a:ext cx="28860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8" kern="0" dirty="0">
                <a:solidFill>
                  <a:srgbClr val="002FA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04</a:t>
            </a:r>
            <a:endParaRPr lang="en-US" sz="405" dirty="0"/>
          </a:p>
        </p:txBody>
      </p:sp>
      <p:sp>
        <p:nvSpPr>
          <p:cNvPr id="45" name="Shape 41"/>
          <p:cNvSpPr/>
          <p:nvPr/>
        </p:nvSpPr>
        <p:spPr>
          <a:xfrm>
            <a:off x="4113639" y="3155484"/>
            <a:ext cx="217170" cy="217170"/>
          </a:xfrm>
          <a:prstGeom prst="roundRect">
            <a:avLst>
              <a:gd name="adj" fmla="val 10526"/>
            </a:avLst>
          </a:prstGeom>
          <a:solidFill>
            <a:srgbClr val="E8ECFA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5074" y="3206919"/>
            <a:ext cx="114300" cy="1143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4399389" y="3229779"/>
            <a:ext cx="633679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2FA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 03</a:t>
            </a:r>
            <a:endParaRPr lang="en-US" sz="450" dirty="0"/>
          </a:p>
        </p:txBody>
      </p:sp>
      <p:sp>
        <p:nvSpPr>
          <p:cNvPr id="48" name="Text 43"/>
          <p:cNvSpPr/>
          <p:nvPr/>
        </p:nvSpPr>
        <p:spPr>
          <a:xfrm>
            <a:off x="4113639" y="3441234"/>
            <a:ext cx="233369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spc="23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读者构成</a:t>
            </a:r>
            <a:endParaRPr lang="en-US" sz="765" dirty="0"/>
          </a:p>
        </p:txBody>
      </p:sp>
      <p:sp>
        <p:nvSpPr>
          <p:cNvPr id="49" name="Shape 44"/>
          <p:cNvSpPr/>
          <p:nvPr/>
        </p:nvSpPr>
        <p:spPr>
          <a:xfrm>
            <a:off x="4113639" y="3622953"/>
            <a:ext cx="16002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0" name="Text 45"/>
          <p:cNvSpPr/>
          <p:nvPr/>
        </p:nvSpPr>
        <p:spPr>
          <a:xfrm>
            <a:off x="4113639" y="3685818"/>
            <a:ext cx="2333692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9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以一线工程师、技术管理者为主，同时吸引高校学生群体订阅，覆盖从实践到研究的全链条读者。</a:t>
            </a:r>
            <a:endParaRPr lang="en-US" sz="563" dirty="0"/>
          </a:p>
        </p:txBody>
      </p:sp>
      <p:sp>
        <p:nvSpPr>
          <p:cNvPr id="51" name="Shape 46"/>
          <p:cNvSpPr/>
          <p:nvPr/>
        </p:nvSpPr>
        <p:spPr>
          <a:xfrm>
            <a:off x="6431607" y="3029754"/>
            <a:ext cx="2346633" cy="1576536"/>
          </a:xfrm>
          <a:prstGeom prst="roundRect">
            <a:avLst>
              <a:gd name="adj" fmla="val 1450"/>
            </a:avLst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32483" y="3132624"/>
            <a:ext cx="28860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68" kern="0" dirty="0">
                <a:solidFill>
                  <a:srgbClr val="002FA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04</a:t>
            </a:r>
            <a:endParaRPr lang="en-US" sz="405" dirty="0"/>
          </a:p>
        </p:txBody>
      </p:sp>
      <p:sp>
        <p:nvSpPr>
          <p:cNvPr id="53" name="Shape 48"/>
          <p:cNvSpPr/>
          <p:nvPr/>
        </p:nvSpPr>
        <p:spPr>
          <a:xfrm>
            <a:off x="6563052" y="3155484"/>
            <a:ext cx="217170" cy="217170"/>
          </a:xfrm>
          <a:prstGeom prst="roundRect">
            <a:avLst>
              <a:gd name="adj" fmla="val 10526"/>
            </a:avLst>
          </a:prstGeom>
          <a:solidFill>
            <a:srgbClr val="E8ECFA"/>
          </a:solidFill>
          <a:ln/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487" y="3206919"/>
            <a:ext cx="114300" cy="11430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6848802" y="3229779"/>
            <a:ext cx="64008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2FA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 04</a:t>
            </a:r>
            <a:endParaRPr lang="en-US" sz="450" dirty="0"/>
          </a:p>
        </p:txBody>
      </p:sp>
      <p:sp>
        <p:nvSpPr>
          <p:cNvPr id="56" name="Text 50"/>
          <p:cNvSpPr/>
          <p:nvPr/>
        </p:nvSpPr>
        <p:spPr>
          <a:xfrm>
            <a:off x="6563052" y="3441234"/>
            <a:ext cx="2333792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65" spc="23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传播渠道</a:t>
            </a:r>
            <a:endParaRPr lang="en-US" sz="765" dirty="0"/>
          </a:p>
        </p:txBody>
      </p:sp>
      <p:sp>
        <p:nvSpPr>
          <p:cNvPr id="57" name="Shape 51"/>
          <p:cNvSpPr/>
          <p:nvPr/>
        </p:nvSpPr>
        <p:spPr>
          <a:xfrm>
            <a:off x="6563052" y="3622953"/>
            <a:ext cx="16002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8" name="Text 52"/>
          <p:cNvSpPr/>
          <p:nvPr/>
        </p:nvSpPr>
        <p:spPr>
          <a:xfrm>
            <a:off x="6563052" y="3685818"/>
            <a:ext cx="2333792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9" kern="0" dirty="0">
                <a:solidFill>
                  <a:srgbClr val="4A4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线上电子书与线下纸质版并行，配合线下分享会扩大影响力，实现数字与物理场景的双重渗透。</a:t>
            </a:r>
            <a:endParaRPr lang="en-US" sz="563" dirty="0"/>
          </a:p>
        </p:txBody>
      </p:sp>
      <p:sp>
        <p:nvSpPr>
          <p:cNvPr id="59" name="Shape 53"/>
          <p:cNvSpPr/>
          <p:nvPr/>
        </p:nvSpPr>
        <p:spPr>
          <a:xfrm>
            <a:off x="365760" y="4720590"/>
            <a:ext cx="8412480" cy="194310"/>
          </a:xfrm>
          <a:prstGeom prst="rect">
            <a:avLst/>
          </a:prstGeom>
          <a:noFill/>
          <a:ln/>
        </p:spPr>
      </p:sp>
      <p:sp>
        <p:nvSpPr>
          <p:cNvPr id="60" name="Shape 54"/>
          <p:cNvSpPr/>
          <p:nvPr/>
        </p:nvSpPr>
        <p:spPr>
          <a:xfrm>
            <a:off x="365760" y="4720590"/>
            <a:ext cx="8412480" cy="0"/>
          </a:xfrm>
          <a:prstGeom prst="line">
            <a:avLst/>
          </a:prstGeom>
          <a:noFill/>
          <a:ln w="5715">
            <a:solidFill>
              <a:srgbClr val="D8DEEA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365760" y="4817745"/>
            <a:ext cx="200345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深度优先</a:t>
            </a:r>
            <a:pPr algn="l" indent="0" marL="0">
              <a:buNone/>
            </a:pPr>
            <a:r>
              <a:rPr lang="en-US" sz="540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40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系统架构</a:t>
            </a:r>
            <a:pPr algn="l" indent="0" marL="0">
              <a:buNone/>
            </a:pPr>
            <a:r>
              <a:rPr lang="en-US" sz="540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40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多元触达</a:t>
            </a:r>
            <a:pPr algn="l" indent="0" marL="0">
              <a:buNone/>
            </a:pPr>
            <a:r>
              <a:rPr lang="en-US" sz="540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40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稳固认同</a:t>
            </a:r>
            <a:endParaRPr lang="en-US" sz="540" dirty="0"/>
          </a:p>
        </p:txBody>
      </p:sp>
      <p:sp>
        <p:nvSpPr>
          <p:cNvPr id="62" name="Text 56"/>
          <p:cNvSpPr/>
          <p:nvPr/>
        </p:nvSpPr>
        <p:spPr>
          <a:xfrm>
            <a:off x="7412355" y="4832033"/>
            <a:ext cx="1529791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· SOURCE</a:t>
            </a:r>
            <a:pPr algn="l" indent="0" marL="0">
              <a:buNone/>
            </a:pPr>
            <a:r>
              <a:rPr lang="en-US" sz="450" spc="90" kern="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· 2024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635" y="-342900"/>
            <a:ext cx="7680960" cy="3200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200" b="1" spc="-900" kern="0" dirty="0">
                <a:solidFill>
                  <a:srgbClr val="002FA7">
                    <a:alpha val="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5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290" cy="51435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Shape 2"/>
          <p:cNvSpPr/>
          <p:nvPr/>
        </p:nvSpPr>
        <p:spPr>
          <a:xfrm>
            <a:off x="8743950" y="308610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" name="Shape 3"/>
          <p:cNvSpPr/>
          <p:nvPr/>
        </p:nvSpPr>
        <p:spPr>
          <a:xfrm>
            <a:off x="8743950" y="422910"/>
            <a:ext cx="57150" cy="57150"/>
          </a:xfrm>
          <a:prstGeom prst="ellipse">
            <a:avLst/>
          </a:prstGeom>
          <a:solidFill>
            <a:srgbClr val="FF704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25755"/>
            <a:ext cx="44005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CH·04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851535" y="368618"/>
            <a:ext cx="20574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8" name="Text 6"/>
          <p:cNvSpPr/>
          <p:nvPr/>
        </p:nvSpPr>
        <p:spPr>
          <a:xfrm>
            <a:off x="1137285" y="320040"/>
            <a:ext cx="14017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4A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章节过渡 / SECTION DIVIDER</a:t>
            </a:r>
            <a:endParaRPr lang="en-US" sz="585" dirty="0"/>
          </a:p>
        </p:txBody>
      </p:sp>
      <p:sp>
        <p:nvSpPr>
          <p:cNvPr id="9" name="Text 7"/>
          <p:cNvSpPr/>
          <p:nvPr/>
        </p:nvSpPr>
        <p:spPr>
          <a:xfrm>
            <a:off x="8241030" y="320040"/>
            <a:ext cx="651510" cy="28798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126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241030" y="625167"/>
            <a:ext cx="5600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540" spc="135" kern="0" dirty="0">
                <a:solidFill>
                  <a:srgbClr val="8A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总页数 / 04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411480" y="834301"/>
            <a:ext cx="93195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· OPEN · SOURCE</a:t>
            </a:r>
            <a:endParaRPr lang="en-US" sz="585" dirty="0"/>
          </a:p>
        </p:txBody>
      </p:sp>
      <p:sp>
        <p:nvSpPr>
          <p:cNvPr id="12" name="Text 10"/>
          <p:cNvSpPr/>
          <p:nvPr/>
        </p:nvSpPr>
        <p:spPr>
          <a:xfrm>
            <a:off x="411480" y="994321"/>
            <a:ext cx="9319565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发现开源</a:t>
            </a:r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</a:t>
            </a:r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部曲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11480" y="1565821"/>
            <a:ext cx="93195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90" kern="0" dirty="0">
                <a:solidFill>
                  <a:srgbClr val="4A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从认知到实践的三段式阅读旅程 </a:t>
            </a:r>
            <a:pPr algn="l" indent="0" marL="0">
              <a:lnSpc>
                <a:spcPct val="150000"/>
              </a:lnSpc>
              <a:buNone/>
            </a:pPr>
            <a:r>
              <a:rPr lang="en-US" sz="900" spc="90" kern="0" dirty="0">
                <a:solidFill>
                  <a:srgbClr val="4A5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Three-Part Journey from Understanding to Building 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51710" y="1657529"/>
            <a:ext cx="102870" cy="5715"/>
          </a:xfrm>
          <a:prstGeom prst="rect">
            <a:avLst/>
          </a:prstGeom>
          <a:solidFill>
            <a:srgbClr val="8A9AC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1885861"/>
            <a:ext cx="3827621" cy="453628"/>
          </a:xfrm>
          <a:prstGeom prst="roundRect">
            <a:avLst>
              <a:gd name="adj" fmla="val 5039"/>
            </a:avLst>
          </a:prstGeom>
          <a:gradFill rotWithShape="1">
            <a:gsLst>
              <a:gs pos="0">
                <a:srgbClr val="001F73"/>
              </a:gs>
              <a:gs pos="100000">
                <a:srgbClr val="002FA7"/>
              </a:gs>
            </a:gsLst>
            <a:lin ang="0" scaled="0"/>
          </a:gradFill>
          <a:ln/>
          <a:effectLst>
            <a:outerShdw sx="100000" sy="100000" kx="0" ky="0" algn="bl" rotWithShape="0" blurRad="171450" dist="38100" dir="16200000">
              <a:srgbClr val="002FA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16241" y="1885861"/>
            <a:ext cx="22860" cy="453628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" y="1995517"/>
            <a:ext cx="537210" cy="2343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-45" kern="0" dirty="0">
                <a:solidFill>
                  <a:srgbClr val="FFFFFF">
                    <a:alpha val="2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30" dirty="0"/>
          </a:p>
        </p:txBody>
      </p:sp>
      <p:sp>
        <p:nvSpPr>
          <p:cNvPr id="18" name="Shape 16"/>
          <p:cNvSpPr/>
          <p:nvPr/>
        </p:nvSpPr>
        <p:spPr>
          <a:xfrm>
            <a:off x="914400" y="2018377"/>
            <a:ext cx="788670" cy="188595"/>
          </a:xfrm>
          <a:prstGeom prst="roundRect">
            <a:avLst>
              <a:gd name="adj" fmla="val 6061"/>
            </a:avLst>
          </a:prstGeom>
          <a:noFill/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018377"/>
            <a:ext cx="883310" cy="188595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67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第一辑 · 初识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1828800" y="1988731"/>
            <a:ext cx="2372497" cy="247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spc="23" kern="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回答开源是什么 —— 理解许可证、协作模式与社区文化的底层逻辑，建立对开源世界的第一层系统认知。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3947100" y="2052667"/>
            <a:ext cx="234851" cy="120015"/>
          </a:xfrm>
          <a:prstGeom prst="rect">
            <a:avLst/>
          </a:prstGeom>
          <a:noFill/>
          <a:ln/>
        </p:spPr>
        <p:txBody>
          <a:bodyPr wrap="none" lIns="0" tIns="4572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411480" y="2408069"/>
            <a:ext cx="5824657" cy="440055"/>
          </a:xfrm>
          <a:prstGeom prst="roundRect">
            <a:avLst>
              <a:gd name="adj" fmla="val 5195"/>
            </a:avLst>
          </a:prstGeom>
          <a:gradFill rotWithShape="1">
            <a:gsLst>
              <a:gs pos="0">
                <a:srgbClr val="002FA7"/>
              </a:gs>
              <a:gs pos="100000">
                <a:srgbClr val="2A45C0"/>
              </a:gs>
            </a:gsLst>
            <a:lin ang="0" scaled="0"/>
          </a:gradFill>
          <a:ln/>
          <a:effectLst>
            <a:outerShdw sx="100000" sy="100000" kx="0" ky="0" algn="bl" rotWithShape="0" blurRad="171450" dist="38100" dir="16200000">
              <a:srgbClr val="002FA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3291" y="2408069"/>
            <a:ext cx="22860" cy="44005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" y="2510939"/>
            <a:ext cx="537210" cy="2343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-45" kern="0" dirty="0">
                <a:solidFill>
                  <a:srgbClr val="FFFFFF">
                    <a:alpha val="2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30" dirty="0"/>
          </a:p>
        </p:txBody>
      </p:sp>
      <p:sp>
        <p:nvSpPr>
          <p:cNvPr id="25" name="Shape 23"/>
          <p:cNvSpPr/>
          <p:nvPr/>
        </p:nvSpPr>
        <p:spPr>
          <a:xfrm>
            <a:off x="914400" y="2533799"/>
            <a:ext cx="788670" cy="188595"/>
          </a:xfrm>
          <a:prstGeom prst="roundRect">
            <a:avLst>
              <a:gd name="adj" fmla="val 6061"/>
            </a:avLst>
          </a:prstGeom>
          <a:noFill/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533799"/>
            <a:ext cx="883310" cy="188595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67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第二辑 · 实践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1828800" y="2566124"/>
            <a:ext cx="4141318" cy="1239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spc="23" kern="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聚焦如何选择项目、参与贡献 —— 把开源思想真正融入日常工作，从旁观者转变为有产出的参与者。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5944136" y="2568089"/>
            <a:ext cx="234851" cy="120015"/>
          </a:xfrm>
          <a:prstGeom prst="rect">
            <a:avLst/>
          </a:prstGeom>
          <a:noFill/>
          <a:ln/>
        </p:spPr>
        <p:txBody>
          <a:bodyPr wrap="none" lIns="0" tIns="4572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11480" y="2916704"/>
            <a:ext cx="7988141" cy="440055"/>
          </a:xfrm>
          <a:prstGeom prst="roundRect">
            <a:avLst>
              <a:gd name="adj" fmla="val 5195"/>
            </a:avLst>
          </a:prstGeom>
          <a:gradFill rotWithShape="1">
            <a:gsLst>
              <a:gs pos="0">
                <a:srgbClr val="002FA7"/>
              </a:gs>
              <a:gs pos="60000">
                <a:srgbClr val="3B5BC9"/>
              </a:gs>
              <a:gs pos="100000">
                <a:srgbClr val="5A78DD"/>
              </a:gs>
            </a:gsLst>
            <a:lin ang="0" scaled="0"/>
          </a:gradFill>
          <a:ln/>
          <a:effectLst>
            <a:outerShdw sx="100000" sy="100000" kx="0" ky="0" algn="bl" rotWithShape="0" blurRad="171450" dist="38100" dir="16200000">
              <a:srgbClr val="002FA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6761" y="2916704"/>
            <a:ext cx="22860" cy="44005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3019574"/>
            <a:ext cx="537210" cy="2343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-45" kern="0" dirty="0">
                <a:solidFill>
                  <a:srgbClr val="FFFFFF">
                    <a:alpha val="2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30" dirty="0"/>
          </a:p>
        </p:txBody>
      </p:sp>
      <p:sp>
        <p:nvSpPr>
          <p:cNvPr id="32" name="Shape 30"/>
          <p:cNvSpPr/>
          <p:nvPr/>
        </p:nvSpPr>
        <p:spPr>
          <a:xfrm>
            <a:off x="914400" y="3042434"/>
            <a:ext cx="788670" cy="188595"/>
          </a:xfrm>
          <a:prstGeom prst="roundRect">
            <a:avLst>
              <a:gd name="adj" fmla="val 6061"/>
            </a:avLst>
          </a:prstGeom>
          <a:noFill/>
          <a:ln w="5715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042434"/>
            <a:ext cx="883310" cy="188595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67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第三辑 · 共建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1828800" y="3074759"/>
            <a:ext cx="3677260" cy="1239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spc="23" kern="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探讨如何主导开源项目 —— 构建可持续的社区治理体系，从贡献者走向建设者与引领者。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411480" y="3703320"/>
            <a:ext cx="65608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3703320"/>
            <a:ext cx="0" cy="960120"/>
          </a:xfrm>
          <a:prstGeom prst="line">
            <a:avLst/>
          </a:prstGeom>
          <a:noFill/>
          <a:ln w="17145">
            <a:solidFill>
              <a:srgbClr val="002F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785" y="3817620"/>
            <a:ext cx="70216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NARRATIVE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565785" y="3943350"/>
            <a:ext cx="7021678" cy="140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spc="14" kern="0" dirty="0">
                <a:solidFill>
                  <a:srgbClr val="0A1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发现开源三部曲构成了一个完整的</a:t>
            </a:r>
            <a:pPr algn="l" indent="0" marL="0">
              <a:lnSpc>
                <a:spcPct val="175000"/>
              </a:lnSpc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认知进阶体系</a:t>
            </a:r>
            <a:pPr algn="l" indent="0" marL="0">
              <a:lnSpc>
                <a:spcPct val="175000"/>
              </a:lnSpc>
              <a:buNone/>
            </a:pPr>
            <a:r>
              <a:rPr lang="en-US" sz="630" spc="14" kern="0" dirty="0">
                <a:solidFill>
                  <a:srgbClr val="0A1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：从理解开源理念出发，经由亲身参与实践，最终走向</a:t>
            </a:r>
            <a:pPr algn="l" indent="0" marL="0">
              <a:lnSpc>
                <a:spcPct val="175000"/>
              </a:lnSpc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社区治理与共建</a:t>
            </a:r>
            <a:pPr algn="l" indent="0" marL="0">
              <a:lnSpc>
                <a:spcPct val="175000"/>
              </a:lnSpc>
              <a:buNone/>
            </a:pPr>
            <a:r>
              <a:rPr lang="en-US" sz="630" spc="14" kern="0" dirty="0">
                <a:solidFill>
                  <a:srgbClr val="0A1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，为读者提供了一条可复制的开源成长路径。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7132320" y="3703320"/>
            <a:ext cx="1600200" cy="4457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246620" y="3794760"/>
            <a:ext cx="3886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A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阅读阶段</a:t>
            </a:r>
            <a:endParaRPr lang="en-US" sz="495" dirty="0"/>
          </a:p>
        </p:txBody>
      </p:sp>
      <p:sp>
        <p:nvSpPr>
          <p:cNvPr id="41" name="Text 39"/>
          <p:cNvSpPr/>
          <p:nvPr/>
        </p:nvSpPr>
        <p:spPr>
          <a:xfrm>
            <a:off x="7246620" y="3909060"/>
            <a:ext cx="4286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三段式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8456146" y="3823335"/>
            <a:ext cx="333524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2FA7">
                    <a:alpha val="1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Ⅲ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132320" y="3703320"/>
            <a:ext cx="17145" cy="44577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4" name="Shape 42"/>
          <p:cNvSpPr/>
          <p:nvPr/>
        </p:nvSpPr>
        <p:spPr>
          <a:xfrm>
            <a:off x="7132320" y="4217670"/>
            <a:ext cx="1600200" cy="4457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246620" y="4309110"/>
            <a:ext cx="106363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A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核心路径</a:t>
            </a:r>
            <a:endParaRPr lang="en-US" sz="495" dirty="0"/>
          </a:p>
        </p:txBody>
      </p:sp>
      <p:sp>
        <p:nvSpPr>
          <p:cNvPr id="46" name="Text 44"/>
          <p:cNvSpPr/>
          <p:nvPr/>
        </p:nvSpPr>
        <p:spPr>
          <a:xfrm>
            <a:off x="7246620" y="4423410"/>
            <a:ext cx="106363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 → 实践 → 共建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8474541" y="4337685"/>
            <a:ext cx="315129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2FA7">
                    <a:alpha val="1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132320" y="4217670"/>
            <a:ext cx="17145" cy="44577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9" name="Shape 47"/>
          <p:cNvSpPr/>
          <p:nvPr/>
        </p:nvSpPr>
        <p:spPr>
          <a:xfrm>
            <a:off x="411480" y="4780598"/>
            <a:ext cx="3034665" cy="5715"/>
          </a:xfrm>
          <a:prstGeom prst="rect">
            <a:avLst/>
          </a:prstGeom>
          <a:gradFill rotWithShape="1">
            <a:gsLst>
              <a:gs pos="0">
                <a:srgbClr val="002FA7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0" name="Shape 48"/>
          <p:cNvSpPr/>
          <p:nvPr/>
        </p:nvSpPr>
        <p:spPr>
          <a:xfrm>
            <a:off x="3514725" y="476631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1" name="Text 49"/>
          <p:cNvSpPr/>
          <p:nvPr/>
        </p:nvSpPr>
        <p:spPr>
          <a:xfrm>
            <a:off x="3617595" y="4743450"/>
            <a:ext cx="213786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8A9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04 · OPEN SOURCE TRILOGY</a:t>
            </a:r>
            <a:endParaRPr lang="en-US" sz="495" dirty="0"/>
          </a:p>
        </p:txBody>
      </p:sp>
      <p:sp>
        <p:nvSpPr>
          <p:cNvPr id="52" name="Shape 50"/>
          <p:cNvSpPr/>
          <p:nvPr/>
        </p:nvSpPr>
        <p:spPr>
          <a:xfrm>
            <a:off x="5594985" y="476631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3" name="Shape 51"/>
          <p:cNvSpPr/>
          <p:nvPr/>
        </p:nvSpPr>
        <p:spPr>
          <a:xfrm>
            <a:off x="5697855" y="4780598"/>
            <a:ext cx="303466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2FA7"/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85750"/>
            <a:ext cx="8458200" cy="21717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42900" y="502920"/>
            <a:ext cx="8458200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" y="311468"/>
            <a:ext cx="57150" cy="57150"/>
          </a:xfrm>
          <a:prstGeom prst="roundRect">
            <a:avLst>
              <a:gd name="adj" fmla="val 20000"/>
            </a:avLst>
          </a:prstGeom>
          <a:solidFill>
            <a:srgbClr val="FF7043"/>
          </a:solidFill>
          <a:ln/>
        </p:spPr>
      </p:sp>
      <p:sp>
        <p:nvSpPr>
          <p:cNvPr id="5" name="Text 3"/>
          <p:cNvSpPr/>
          <p:nvPr/>
        </p:nvSpPr>
        <p:spPr>
          <a:xfrm>
            <a:off x="468630" y="285750"/>
            <a:ext cx="122255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开源系列</a:t>
            </a:r>
            <a:endParaRPr lang="en-US" sz="585" dirty="0"/>
          </a:p>
        </p:txBody>
      </p:sp>
      <p:sp>
        <p:nvSpPr>
          <p:cNvPr id="6" name="Text 4"/>
          <p:cNvSpPr/>
          <p:nvPr/>
        </p:nvSpPr>
        <p:spPr>
          <a:xfrm>
            <a:off x="7680960" y="291465"/>
            <a:ext cx="125455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ONE · 第一辑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342900" y="685800"/>
            <a:ext cx="2743200" cy="34290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086100" y="685800"/>
            <a:ext cx="0" cy="3429000"/>
          </a:xfrm>
          <a:prstGeom prst="line">
            <a:avLst/>
          </a:prstGeom>
          <a:noFill/>
          <a:ln w="5715">
            <a:solidFill>
              <a:srgbClr val="E0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" y="685800"/>
            <a:ext cx="293796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NUMBER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342900" y="822960"/>
            <a:ext cx="3880485" cy="11063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900" b="1" spc="-36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0" dirty="0"/>
          </a:p>
        </p:txBody>
      </p:sp>
      <p:sp>
        <p:nvSpPr>
          <p:cNvPr id="11" name="Shape 9"/>
          <p:cNvSpPr/>
          <p:nvPr/>
        </p:nvSpPr>
        <p:spPr>
          <a:xfrm>
            <a:off x="342900" y="1940780"/>
            <a:ext cx="457200" cy="34290"/>
          </a:xfrm>
          <a:prstGeom prst="roundRect">
            <a:avLst>
              <a:gd name="adj" fmla="val 50000"/>
            </a:avLst>
          </a:prstGeom>
          <a:solidFill>
            <a:srgbClr val="FF704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" y="2157948"/>
            <a:ext cx="2937967" cy="2605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10" b="1" spc="-22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初识开源</a:t>
            </a:r>
            <a:endParaRPr lang="en-US" sz="1710" dirty="0"/>
          </a:p>
        </p:txBody>
      </p:sp>
      <p:sp>
        <p:nvSpPr>
          <p:cNvPr id="13" name="Text 11"/>
          <p:cNvSpPr/>
          <p:nvPr/>
        </p:nvSpPr>
        <p:spPr>
          <a:xfrm>
            <a:off x="342900" y="2498527"/>
            <a:ext cx="2432304" cy="27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第一辑从概念层面解构开源的本质内涵，强调许可证认知与社区文化理解的重要性，为后续参与实践奠定思想基础。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342900" y="2884825"/>
            <a:ext cx="411480" cy="148590"/>
          </a:xfrm>
          <a:prstGeom prst="roundRect">
            <a:avLst>
              <a:gd name="adj" fmla="val 15385"/>
            </a:avLst>
          </a:prstGeom>
          <a:solidFill>
            <a:srgbClr val="E8ED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2884825"/>
            <a:ext cx="474345" cy="148590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概念奠基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800100" y="2884825"/>
            <a:ext cx="411480" cy="148590"/>
          </a:xfrm>
          <a:prstGeom prst="roundRect">
            <a:avLst>
              <a:gd name="adj" fmla="val 15385"/>
            </a:avLst>
          </a:prstGeom>
          <a:solidFill>
            <a:srgbClr val="E8E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2884825"/>
            <a:ext cx="474345" cy="148590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认知入门</a:t>
            </a:r>
            <a:endParaRPr lang="en-US" sz="495" dirty="0"/>
          </a:p>
        </p:txBody>
      </p:sp>
      <p:sp>
        <p:nvSpPr>
          <p:cNvPr id="18" name="Shape 16"/>
          <p:cNvSpPr/>
          <p:nvPr/>
        </p:nvSpPr>
        <p:spPr>
          <a:xfrm>
            <a:off x="1257300" y="2884825"/>
            <a:ext cx="411480" cy="148590"/>
          </a:xfrm>
          <a:prstGeom prst="roundRect">
            <a:avLst>
              <a:gd name="adj" fmla="val 15385"/>
            </a:avLst>
          </a:prstGeom>
          <a:solidFill>
            <a:srgbClr val="FFF0EA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2884825"/>
            <a:ext cx="474345" cy="148590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思想铺垫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3314700" y="685800"/>
            <a:ext cx="2691765" cy="166306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5715">
            <a:solidFill>
              <a:srgbClr val="E0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685800"/>
            <a:ext cx="22860" cy="165163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2" name="Shape 20"/>
          <p:cNvSpPr/>
          <p:nvPr/>
        </p:nvSpPr>
        <p:spPr>
          <a:xfrm>
            <a:off x="3457575" y="828675"/>
            <a:ext cx="171450" cy="171450"/>
          </a:xfrm>
          <a:prstGeom prst="roundRect">
            <a:avLst>
              <a:gd name="adj" fmla="val 26667"/>
            </a:avLst>
          </a:prstGeom>
          <a:solidFill>
            <a:srgbClr val="E8ED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57575" y="828675"/>
            <a:ext cx="24003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3697605" y="842963"/>
            <a:ext cx="49720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开源本质</a:t>
            </a:r>
            <a:endParaRPr lang="en-US" sz="765" dirty="0"/>
          </a:p>
        </p:txBody>
      </p:sp>
      <p:sp>
        <p:nvSpPr>
          <p:cNvPr id="25" name="Shape 23"/>
          <p:cNvSpPr/>
          <p:nvPr/>
        </p:nvSpPr>
        <p:spPr>
          <a:xfrm>
            <a:off x="3457575" y="1080135"/>
            <a:ext cx="205740" cy="1143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/>
        </p:spPr>
      </p:sp>
      <p:sp>
        <p:nvSpPr>
          <p:cNvPr id="26" name="Text 24"/>
          <p:cNvSpPr/>
          <p:nvPr/>
        </p:nvSpPr>
        <p:spPr>
          <a:xfrm>
            <a:off x="3457575" y="1160145"/>
            <a:ext cx="2694737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开源不仅是代码公开，更是一套开放协作、透明治理的软件开发哲学，承载着共享与进步的核心价值观。</a:t>
            </a:r>
            <a:endParaRPr lang="en-US" sz="585" dirty="0"/>
          </a:p>
        </p:txBody>
      </p:sp>
      <p:sp>
        <p:nvSpPr>
          <p:cNvPr id="27" name="Shape 25"/>
          <p:cNvSpPr/>
          <p:nvPr/>
        </p:nvSpPr>
        <p:spPr>
          <a:xfrm>
            <a:off x="3457575" y="2051685"/>
            <a:ext cx="2406015" cy="165735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3457575" y="2051685"/>
            <a:ext cx="2406015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457575" y="2137410"/>
            <a:ext cx="26289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450" dirty="0"/>
          </a:p>
        </p:txBody>
      </p:sp>
      <p:sp>
        <p:nvSpPr>
          <p:cNvPr id="30" name="Shape 28"/>
          <p:cNvSpPr/>
          <p:nvPr/>
        </p:nvSpPr>
        <p:spPr>
          <a:xfrm>
            <a:off x="3709035" y="2160270"/>
            <a:ext cx="22860" cy="2286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31" name="Text 29"/>
          <p:cNvSpPr/>
          <p:nvPr/>
        </p:nvSpPr>
        <p:spPr>
          <a:xfrm>
            <a:off x="3777615" y="2125980"/>
            <a:ext cx="62727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哲学层面 · 协作基因</a:t>
            </a:r>
            <a:endParaRPr lang="en-US" sz="495" dirty="0"/>
          </a:p>
        </p:txBody>
      </p:sp>
      <p:sp>
        <p:nvSpPr>
          <p:cNvPr id="32" name="Shape 30"/>
          <p:cNvSpPr/>
          <p:nvPr/>
        </p:nvSpPr>
        <p:spPr>
          <a:xfrm>
            <a:off x="6109335" y="685800"/>
            <a:ext cx="2691765" cy="166306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5715">
            <a:solidFill>
              <a:srgbClr val="E0E0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09335" y="685800"/>
            <a:ext cx="22860" cy="165163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4" name="Shape 32"/>
          <p:cNvSpPr/>
          <p:nvPr/>
        </p:nvSpPr>
        <p:spPr>
          <a:xfrm>
            <a:off x="6252210" y="828675"/>
            <a:ext cx="171450" cy="171450"/>
          </a:xfrm>
          <a:prstGeom prst="roundRect">
            <a:avLst>
              <a:gd name="adj" fmla="val 26667"/>
            </a:avLst>
          </a:prstGeom>
          <a:solidFill>
            <a:srgbClr val="E8ED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52210" y="828675"/>
            <a:ext cx="24003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6492240" y="842963"/>
            <a:ext cx="59721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许可证认知</a:t>
            </a:r>
            <a:endParaRPr lang="en-US" sz="765" dirty="0"/>
          </a:p>
        </p:txBody>
      </p:sp>
      <p:sp>
        <p:nvSpPr>
          <p:cNvPr id="37" name="Shape 35"/>
          <p:cNvSpPr/>
          <p:nvPr/>
        </p:nvSpPr>
        <p:spPr>
          <a:xfrm>
            <a:off x="6252210" y="1080135"/>
            <a:ext cx="205740" cy="1143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/>
        </p:spPr>
      </p:sp>
      <p:sp>
        <p:nvSpPr>
          <p:cNvPr id="38" name="Text 36"/>
          <p:cNvSpPr/>
          <p:nvPr/>
        </p:nvSpPr>
        <p:spPr>
          <a:xfrm>
            <a:off x="6252210" y="1160145"/>
            <a:ext cx="269473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GPL、MIT、Apache 2.0 等主流许可证的选择直接影响项目生态走向与商用边界，是参与开源必须理解的第一道门槛。</a:t>
            </a:r>
            <a:endParaRPr lang="en-US" sz="585" dirty="0"/>
          </a:p>
        </p:txBody>
      </p:sp>
      <p:sp>
        <p:nvSpPr>
          <p:cNvPr id="39" name="Shape 37"/>
          <p:cNvSpPr/>
          <p:nvPr/>
        </p:nvSpPr>
        <p:spPr>
          <a:xfrm>
            <a:off x="6252210" y="2063115"/>
            <a:ext cx="2406015" cy="154305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6252210" y="2063115"/>
            <a:ext cx="2406015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252210" y="2143125"/>
            <a:ext cx="3829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</a:t>
            </a:r>
            <a:endParaRPr lang="en-US" sz="450" dirty="0"/>
          </a:p>
        </p:txBody>
      </p:sp>
      <p:sp>
        <p:nvSpPr>
          <p:cNvPr id="42" name="Shape 40"/>
          <p:cNvSpPr/>
          <p:nvPr/>
        </p:nvSpPr>
        <p:spPr>
          <a:xfrm>
            <a:off x="6623685" y="2165985"/>
            <a:ext cx="22860" cy="2286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43" name="Text 41"/>
          <p:cNvSpPr/>
          <p:nvPr/>
        </p:nvSpPr>
        <p:spPr>
          <a:xfrm>
            <a:off x="6692265" y="2137410"/>
            <a:ext cx="78729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· MIT · Apache 2.0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3314700" y="2451735"/>
            <a:ext cx="2691765" cy="166306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5715">
            <a:solidFill>
              <a:srgbClr val="E0E0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14700" y="2451735"/>
            <a:ext cx="22860" cy="165163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6" name="Shape 44"/>
          <p:cNvSpPr/>
          <p:nvPr/>
        </p:nvSpPr>
        <p:spPr>
          <a:xfrm>
            <a:off x="3457575" y="2594610"/>
            <a:ext cx="171450" cy="171450"/>
          </a:xfrm>
          <a:prstGeom prst="roundRect">
            <a:avLst>
              <a:gd name="adj" fmla="val 26667"/>
            </a:avLst>
          </a:prstGeom>
          <a:solidFill>
            <a:srgbClr val="E8EDFF"/>
          </a:solidFill>
          <a:ln/>
        </p:spPr>
      </p:sp>
      <p:sp>
        <p:nvSpPr>
          <p:cNvPr id="47" name="Text 45"/>
          <p:cNvSpPr/>
          <p:nvPr/>
        </p:nvSpPr>
        <p:spPr>
          <a:xfrm>
            <a:off x="3457575" y="2594610"/>
            <a:ext cx="24003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3697605" y="2608898"/>
            <a:ext cx="49720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社区文化</a:t>
            </a:r>
            <a:endParaRPr lang="en-US" sz="765" dirty="0"/>
          </a:p>
        </p:txBody>
      </p:sp>
      <p:sp>
        <p:nvSpPr>
          <p:cNvPr id="49" name="Shape 47"/>
          <p:cNvSpPr/>
          <p:nvPr/>
        </p:nvSpPr>
        <p:spPr>
          <a:xfrm>
            <a:off x="3457575" y="2846070"/>
            <a:ext cx="205740" cy="1143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/>
        </p:spPr>
      </p:sp>
      <p:sp>
        <p:nvSpPr>
          <p:cNvPr id="50" name="Text 48"/>
          <p:cNvSpPr/>
          <p:nvPr/>
        </p:nvSpPr>
        <p:spPr>
          <a:xfrm>
            <a:off x="3457575" y="2926080"/>
            <a:ext cx="2694737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Merit-based 贡献机制、公开讨论与知识共享构成开源社区的核心价值，塑造了一种独特的分布式协作文化。</a:t>
            </a:r>
            <a:endParaRPr lang="en-US" sz="585" dirty="0"/>
          </a:p>
        </p:txBody>
      </p:sp>
      <p:sp>
        <p:nvSpPr>
          <p:cNvPr id="51" name="Shape 49"/>
          <p:cNvSpPr/>
          <p:nvPr/>
        </p:nvSpPr>
        <p:spPr>
          <a:xfrm>
            <a:off x="3457575" y="3817620"/>
            <a:ext cx="2406015" cy="165735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3457575" y="3817620"/>
            <a:ext cx="2406015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457575" y="3903345"/>
            <a:ext cx="53149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450" dirty="0"/>
          </a:p>
        </p:txBody>
      </p:sp>
      <p:sp>
        <p:nvSpPr>
          <p:cNvPr id="54" name="Shape 52"/>
          <p:cNvSpPr/>
          <p:nvPr/>
        </p:nvSpPr>
        <p:spPr>
          <a:xfrm>
            <a:off x="3977640" y="3926205"/>
            <a:ext cx="22860" cy="2286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5" name="Text 53"/>
          <p:cNvSpPr/>
          <p:nvPr/>
        </p:nvSpPr>
        <p:spPr>
          <a:xfrm>
            <a:off x="4046220" y="3891915"/>
            <a:ext cx="58887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Merit · 公开 · 共享</a:t>
            </a:r>
            <a:endParaRPr lang="en-US" sz="495" dirty="0"/>
          </a:p>
        </p:txBody>
      </p:sp>
      <p:sp>
        <p:nvSpPr>
          <p:cNvPr id="56" name="Shape 54"/>
          <p:cNvSpPr/>
          <p:nvPr/>
        </p:nvSpPr>
        <p:spPr>
          <a:xfrm>
            <a:off x="6109335" y="2451735"/>
            <a:ext cx="2691765" cy="166306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5715">
            <a:solidFill>
              <a:srgbClr val="E0E0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09335" y="2451735"/>
            <a:ext cx="22860" cy="165163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8" name="Shape 56"/>
          <p:cNvSpPr/>
          <p:nvPr/>
        </p:nvSpPr>
        <p:spPr>
          <a:xfrm>
            <a:off x="6252210" y="2594610"/>
            <a:ext cx="171450" cy="171450"/>
          </a:xfrm>
          <a:prstGeom prst="roundRect">
            <a:avLst>
              <a:gd name="adj" fmla="val 26667"/>
            </a:avLst>
          </a:prstGeom>
          <a:solidFill>
            <a:srgbClr val="FFF0EA"/>
          </a:solidFill>
          <a:ln/>
        </p:spPr>
      </p:sp>
      <p:sp>
        <p:nvSpPr>
          <p:cNvPr id="59" name="Text 57"/>
          <p:cNvSpPr/>
          <p:nvPr/>
        </p:nvSpPr>
        <p:spPr>
          <a:xfrm>
            <a:off x="6252210" y="2594610"/>
            <a:ext cx="24003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40" dirty="0"/>
          </a:p>
        </p:txBody>
      </p:sp>
      <p:sp>
        <p:nvSpPr>
          <p:cNvPr id="60" name="Text 58"/>
          <p:cNvSpPr/>
          <p:nvPr/>
        </p:nvSpPr>
        <p:spPr>
          <a:xfrm>
            <a:off x="6492240" y="2608898"/>
            <a:ext cx="49720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阅读启示</a:t>
            </a:r>
            <a:endParaRPr lang="en-US" sz="765" dirty="0"/>
          </a:p>
        </p:txBody>
      </p:sp>
      <p:sp>
        <p:nvSpPr>
          <p:cNvPr id="61" name="Shape 59"/>
          <p:cNvSpPr/>
          <p:nvPr/>
        </p:nvSpPr>
        <p:spPr>
          <a:xfrm>
            <a:off x="6252210" y="2846070"/>
            <a:ext cx="205740" cy="11430"/>
          </a:xfrm>
          <a:prstGeom prst="roundRect">
            <a:avLst>
              <a:gd name="adj" fmla="val 50000"/>
            </a:avLst>
          </a:prstGeom>
          <a:solidFill>
            <a:srgbClr val="FF7043"/>
          </a:solidFill>
          <a:ln/>
        </p:spPr>
      </p:sp>
      <p:sp>
        <p:nvSpPr>
          <p:cNvPr id="62" name="Text 60"/>
          <p:cNvSpPr/>
          <p:nvPr/>
        </p:nvSpPr>
        <p:spPr>
          <a:xfrm>
            <a:off x="6252210" y="2926080"/>
            <a:ext cx="2694737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理解开源文化是参与任何开源项目的前置条件，避免陷入工具主义误区，建立正确认知方能真正融入生态。</a:t>
            </a:r>
            <a:endParaRPr lang="en-US" sz="585" dirty="0"/>
          </a:p>
        </p:txBody>
      </p:sp>
      <p:sp>
        <p:nvSpPr>
          <p:cNvPr id="63" name="Shape 61"/>
          <p:cNvSpPr/>
          <p:nvPr/>
        </p:nvSpPr>
        <p:spPr>
          <a:xfrm>
            <a:off x="6252210" y="3817620"/>
            <a:ext cx="2406015" cy="165735"/>
          </a:xfrm>
          <a:prstGeom prst="rect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6252210" y="3817620"/>
            <a:ext cx="2406015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6252210" y="3903345"/>
            <a:ext cx="37719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450" dirty="0"/>
          </a:p>
        </p:txBody>
      </p:sp>
      <p:sp>
        <p:nvSpPr>
          <p:cNvPr id="66" name="Shape 64"/>
          <p:cNvSpPr/>
          <p:nvPr/>
        </p:nvSpPr>
        <p:spPr>
          <a:xfrm>
            <a:off x="6617970" y="3926205"/>
            <a:ext cx="22860" cy="2286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67" name="Text 65"/>
          <p:cNvSpPr/>
          <p:nvPr/>
        </p:nvSpPr>
        <p:spPr>
          <a:xfrm>
            <a:off x="6686550" y="3891915"/>
            <a:ext cx="62727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认知先行 · 文化优先</a:t>
            </a:r>
            <a:endParaRPr lang="en-US" sz="495" dirty="0"/>
          </a:p>
        </p:txBody>
      </p:sp>
      <p:sp>
        <p:nvSpPr>
          <p:cNvPr id="68" name="Shape 66"/>
          <p:cNvSpPr/>
          <p:nvPr/>
        </p:nvSpPr>
        <p:spPr>
          <a:xfrm>
            <a:off x="342900" y="4240530"/>
            <a:ext cx="8458200" cy="314325"/>
          </a:xfrm>
          <a:prstGeom prst="rect">
            <a:avLst/>
          </a:prstGeom>
          <a:noFill/>
          <a:ln/>
        </p:spPr>
      </p:sp>
      <p:sp>
        <p:nvSpPr>
          <p:cNvPr id="69" name="Shape 67"/>
          <p:cNvSpPr/>
          <p:nvPr/>
        </p:nvSpPr>
        <p:spPr>
          <a:xfrm>
            <a:off x="342900" y="4240530"/>
            <a:ext cx="8458200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2900" y="4371975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002FA7"/>
          </a:solidFill>
          <a:ln/>
        </p:spPr>
      </p:sp>
      <p:sp>
        <p:nvSpPr>
          <p:cNvPr id="71" name="Text 69"/>
          <p:cNvSpPr/>
          <p:nvPr/>
        </p:nvSpPr>
        <p:spPr>
          <a:xfrm>
            <a:off x="342900" y="4371975"/>
            <a:ext cx="22860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560070" y="4349115"/>
            <a:ext cx="109773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核心议题</a:t>
            </a:r>
            <a:endParaRPr lang="en-US" sz="450" dirty="0"/>
          </a:p>
        </p:txBody>
      </p:sp>
      <p:sp>
        <p:nvSpPr>
          <p:cNvPr id="73" name="Text 71"/>
          <p:cNvSpPr/>
          <p:nvPr/>
        </p:nvSpPr>
        <p:spPr>
          <a:xfrm>
            <a:off x="560070" y="4446270"/>
            <a:ext cx="109773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 · 社区文化 · 协作哲学</a:t>
            </a:r>
            <a:endParaRPr lang="en-US" sz="585" dirty="0"/>
          </a:p>
        </p:txBody>
      </p:sp>
      <p:sp>
        <p:nvSpPr>
          <p:cNvPr id="74" name="Shape 72"/>
          <p:cNvSpPr/>
          <p:nvPr/>
        </p:nvSpPr>
        <p:spPr>
          <a:xfrm>
            <a:off x="1711643" y="4371975"/>
            <a:ext cx="160020" cy="160020"/>
          </a:xfrm>
          <a:prstGeom prst="roundRect">
            <a:avLst>
              <a:gd name="adj" fmla="val 21429"/>
            </a:avLst>
          </a:prstGeom>
          <a:solidFill>
            <a:srgbClr val="FF7043"/>
          </a:solidFill>
          <a:ln/>
        </p:spPr>
      </p:sp>
      <p:sp>
        <p:nvSpPr>
          <p:cNvPr id="75" name="Text 73"/>
          <p:cNvSpPr/>
          <p:nvPr/>
        </p:nvSpPr>
        <p:spPr>
          <a:xfrm>
            <a:off x="1711643" y="4371975"/>
            <a:ext cx="228600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◈</a:t>
            </a:r>
            <a:endParaRPr lang="en-US" sz="540" dirty="0"/>
          </a:p>
        </p:txBody>
      </p:sp>
      <p:sp>
        <p:nvSpPr>
          <p:cNvPr id="76" name="Text 74"/>
          <p:cNvSpPr/>
          <p:nvPr/>
        </p:nvSpPr>
        <p:spPr>
          <a:xfrm>
            <a:off x="1928813" y="4349115"/>
            <a:ext cx="5200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阅读定位</a:t>
            </a:r>
            <a:endParaRPr lang="en-US" sz="450" dirty="0"/>
          </a:p>
        </p:txBody>
      </p:sp>
      <p:sp>
        <p:nvSpPr>
          <p:cNvPr id="77" name="Text 75"/>
          <p:cNvSpPr/>
          <p:nvPr/>
        </p:nvSpPr>
        <p:spPr>
          <a:xfrm>
            <a:off x="1928813" y="4446270"/>
            <a:ext cx="53721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认知奠基阶段</a:t>
            </a:r>
            <a:endParaRPr lang="en-US" sz="585" dirty="0"/>
          </a:p>
        </p:txBody>
      </p:sp>
      <p:sp>
        <p:nvSpPr>
          <p:cNvPr id="78" name="Text 76"/>
          <p:cNvSpPr/>
          <p:nvPr/>
        </p:nvSpPr>
        <p:spPr>
          <a:xfrm>
            <a:off x="7543800" y="4401711"/>
            <a:ext cx="1408176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495" i="1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建立正确开源观念，为后续实践奠定思想基础</a:t>
            </a:r>
            <a:endParaRPr lang="en-US" sz="49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9FD"/>
              </a:gs>
              <a:gs pos="100000">
                <a:srgbClr val="F0F1F7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65760" y="251460"/>
            <a:ext cx="8412480" cy="821799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65760" y="1073259"/>
            <a:ext cx="8412480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51460"/>
            <a:ext cx="628650" cy="131445"/>
          </a:xfrm>
          <a:prstGeom prst="roundRect">
            <a:avLst>
              <a:gd name="adj" fmla="val 17391"/>
            </a:avLst>
          </a:prstGeom>
          <a:solidFill>
            <a:srgbClr val="E6E9F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1460"/>
            <a:ext cx="704088" cy="131445"/>
          </a:xfrm>
          <a:prstGeom prst="rect">
            <a:avLst/>
          </a:prstGeom>
          <a:noFill/>
          <a:ln/>
        </p:spPr>
        <p:txBody>
          <a:bodyPr wrap="none" lIns="22860" tIns="68580" rIns="68580" bIns="22860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02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365760" y="451485"/>
            <a:ext cx="5107838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spc="9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第二辑 · 深入实践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365760" y="805815"/>
            <a:ext cx="5107838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本辑聚焦开源实践环节，通过具体案例和可操作建议，帮助读者从旁观者转变为参与者，掌握从理解项目到贡献代码的完整路径。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8412480" y="274320"/>
            <a:ext cx="658368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8263890" y="594360"/>
            <a:ext cx="5772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VOL. II / 深入</a:t>
            </a:r>
            <a:endParaRPr lang="en-US" sz="495" dirty="0"/>
          </a:p>
        </p:txBody>
      </p:sp>
      <p:sp>
        <p:nvSpPr>
          <p:cNvPr id="11" name="Shape 9"/>
          <p:cNvSpPr/>
          <p:nvPr/>
        </p:nvSpPr>
        <p:spPr>
          <a:xfrm>
            <a:off x="365760" y="1198989"/>
            <a:ext cx="8412480" cy="86868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5715">
            <a:solidFill>
              <a:srgbClr val="E0E0E8"/>
            </a:solidFill>
            <a:prstDash val="solid"/>
          </a:ln>
          <a:effectLst>
            <a:outerShdw sx="100000" sy="100000" kx="0" ky="0" algn="bl" rotWithShape="0" blurRad="114300" dist="19050" dir="16200000">
              <a:srgbClr val="002FA7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4355" y="1330434"/>
            <a:ext cx="22860" cy="80010"/>
          </a:xfrm>
          <a:prstGeom prst="roundRect">
            <a:avLst>
              <a:gd name="adj" fmla="val 50000"/>
            </a:avLst>
          </a:prstGeom>
          <a:solidFill>
            <a:srgbClr val="FF7043"/>
          </a:solidFill>
          <a:ln/>
        </p:spPr>
      </p:sp>
      <p:sp>
        <p:nvSpPr>
          <p:cNvPr id="13" name="Text 11"/>
          <p:cNvSpPr/>
          <p:nvPr/>
        </p:nvSpPr>
        <p:spPr>
          <a:xfrm>
            <a:off x="622935" y="1330434"/>
            <a:ext cx="69128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新人典型起步路径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1337310" y="1507599"/>
            <a:ext cx="1943100" cy="428625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002FA7"/>
              </a:gs>
              <a:gs pos="100000">
                <a:srgbClr val="0040CC"/>
              </a:gs>
            </a:gsLst>
            <a:lin ang="27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451610" y="1641902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737360" y="1599039"/>
            <a:ext cx="84010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修文档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737360" y="1753344"/>
            <a:ext cx="83850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修正错别字 / 补充缺失说明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3360420" y="1507599"/>
            <a:ext cx="297180" cy="4286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➜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600450" y="1507599"/>
            <a:ext cx="1943100" cy="428625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002FA7"/>
              </a:gs>
              <a:gs pos="100000">
                <a:srgbClr val="0040CC"/>
              </a:gs>
            </a:gsLst>
            <a:lin ang="27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3714750" y="1641902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4006215" y="1599039"/>
            <a:ext cx="78867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 Issue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006215" y="1753344"/>
            <a:ext cx="78089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 Bug / 提出改进建议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5623560" y="1507599"/>
            <a:ext cx="297180" cy="4286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➜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863590" y="1507599"/>
            <a:ext cx="1943100" cy="428625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002FA7"/>
              </a:gs>
              <a:gs pos="100000">
                <a:srgbClr val="0040CC"/>
              </a:gs>
            </a:gsLst>
            <a:lin ang="27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5977890" y="1641902"/>
            <a:ext cx="384048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6269355" y="1599039"/>
            <a:ext cx="88331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 PR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269355" y="1753344"/>
            <a:ext cx="8833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提交代码变更 / 等待 Review</a:t>
            </a:r>
            <a:endParaRPr lang="en-US" sz="495" dirty="0"/>
          </a:p>
        </p:txBody>
      </p:sp>
      <p:sp>
        <p:nvSpPr>
          <p:cNvPr id="28" name="Shape 26"/>
          <p:cNvSpPr/>
          <p:nvPr/>
        </p:nvSpPr>
        <p:spPr>
          <a:xfrm>
            <a:off x="365760" y="2170539"/>
            <a:ext cx="2043113" cy="867430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76200" dist="19050" dir="16200000">
              <a:srgbClr val="002FA7">
                <a:alpha val="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4345" y="229055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E9F5"/>
          </a:solidFill>
          <a:ln/>
        </p:spPr>
      </p:sp>
      <p:sp>
        <p:nvSpPr>
          <p:cNvPr id="30" name="Text 28"/>
          <p:cNvSpPr/>
          <p:nvPr/>
        </p:nvSpPr>
        <p:spPr>
          <a:xfrm>
            <a:off x="474345" y="2290554"/>
            <a:ext cx="26860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714375" y="2324844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选项目策略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474345" y="2530584"/>
            <a:ext cx="2045056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从个人兴趣出发，结合技能匹配度，优先选择文档完善、社区活跃、维护良好的成熟开源项目作为切入。</a:t>
            </a:r>
            <a:endParaRPr lang="en-US" sz="540" dirty="0"/>
          </a:p>
        </p:txBody>
      </p:sp>
      <p:sp>
        <p:nvSpPr>
          <p:cNvPr id="33" name="Shape 31"/>
          <p:cNvSpPr/>
          <p:nvPr/>
        </p:nvSpPr>
        <p:spPr>
          <a:xfrm>
            <a:off x="474345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34" name="Text 32"/>
          <p:cNvSpPr/>
          <p:nvPr/>
        </p:nvSpPr>
        <p:spPr>
          <a:xfrm>
            <a:off x="474345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兴趣驱动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822960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技能匹配</a:t>
            </a:r>
            <a:endParaRPr lang="en-US" sz="450" dirty="0"/>
          </a:p>
        </p:txBody>
      </p:sp>
      <p:sp>
        <p:nvSpPr>
          <p:cNvPr id="37" name="Shape 35"/>
          <p:cNvSpPr/>
          <p:nvPr/>
        </p:nvSpPr>
        <p:spPr>
          <a:xfrm>
            <a:off x="1171575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FFEBE0"/>
          </a:solidFill>
          <a:ln/>
        </p:spPr>
      </p:sp>
      <p:sp>
        <p:nvSpPr>
          <p:cNvPr id="38" name="Text 36"/>
          <p:cNvSpPr/>
          <p:nvPr/>
        </p:nvSpPr>
        <p:spPr>
          <a:xfrm>
            <a:off x="1171575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成熟项目</a:t>
            </a:r>
            <a:endParaRPr lang="en-US" sz="450" dirty="0"/>
          </a:p>
        </p:txBody>
      </p:sp>
      <p:sp>
        <p:nvSpPr>
          <p:cNvPr id="39" name="Shape 37"/>
          <p:cNvSpPr/>
          <p:nvPr/>
        </p:nvSpPr>
        <p:spPr>
          <a:xfrm>
            <a:off x="2488883" y="2170539"/>
            <a:ext cx="2043113" cy="867430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76200" dist="19050" dir="16200000">
              <a:srgbClr val="002FA7">
                <a:alpha val="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7468" y="229055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E9F5"/>
          </a:solidFill>
          <a:ln/>
        </p:spPr>
      </p:sp>
      <p:sp>
        <p:nvSpPr>
          <p:cNvPr id="41" name="Text 39"/>
          <p:cNvSpPr/>
          <p:nvPr/>
        </p:nvSpPr>
        <p:spPr>
          <a:xfrm>
            <a:off x="2597468" y="2290554"/>
            <a:ext cx="26860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2837498" y="2324844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贡献路径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2597468" y="2530584"/>
            <a:ext cx="2045056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从修复文档错别字、提交 Issue 反馈开始，逐步过渡到功能代码贡献，完成从外沿到核心的能力升级。</a:t>
            </a:r>
            <a:endParaRPr lang="en-US" sz="540" dirty="0"/>
          </a:p>
        </p:txBody>
      </p:sp>
      <p:sp>
        <p:nvSpPr>
          <p:cNvPr id="44" name="Shape 42"/>
          <p:cNvSpPr/>
          <p:nvPr/>
        </p:nvSpPr>
        <p:spPr>
          <a:xfrm>
            <a:off x="2597468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45" name="Text 43"/>
          <p:cNvSpPr/>
          <p:nvPr/>
        </p:nvSpPr>
        <p:spPr>
          <a:xfrm>
            <a:off x="2597468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文档修正</a:t>
            </a:r>
            <a:endParaRPr lang="en-US" sz="450" dirty="0"/>
          </a:p>
        </p:txBody>
      </p:sp>
      <p:sp>
        <p:nvSpPr>
          <p:cNvPr id="46" name="Shape 44"/>
          <p:cNvSpPr/>
          <p:nvPr/>
        </p:nvSpPr>
        <p:spPr>
          <a:xfrm>
            <a:off x="2946083" y="2820799"/>
            <a:ext cx="36576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47" name="Text 45"/>
          <p:cNvSpPr/>
          <p:nvPr/>
        </p:nvSpPr>
        <p:spPr>
          <a:xfrm>
            <a:off x="2946083" y="2820799"/>
            <a:ext cx="42291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反馈</a:t>
            </a:r>
            <a:endParaRPr lang="en-US" sz="450" dirty="0"/>
          </a:p>
        </p:txBody>
      </p:sp>
      <p:sp>
        <p:nvSpPr>
          <p:cNvPr id="48" name="Shape 46"/>
          <p:cNvSpPr/>
          <p:nvPr/>
        </p:nvSpPr>
        <p:spPr>
          <a:xfrm>
            <a:off x="3340418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FFEBE0"/>
          </a:solidFill>
          <a:ln/>
        </p:spPr>
      </p:sp>
      <p:sp>
        <p:nvSpPr>
          <p:cNvPr id="49" name="Text 47"/>
          <p:cNvSpPr/>
          <p:nvPr/>
        </p:nvSpPr>
        <p:spPr>
          <a:xfrm>
            <a:off x="3340418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代码贡献</a:t>
            </a:r>
            <a:endParaRPr lang="en-US" sz="450" dirty="0"/>
          </a:p>
        </p:txBody>
      </p:sp>
      <p:sp>
        <p:nvSpPr>
          <p:cNvPr id="50" name="Shape 48"/>
          <p:cNvSpPr/>
          <p:nvPr/>
        </p:nvSpPr>
        <p:spPr>
          <a:xfrm>
            <a:off x="4612005" y="2170539"/>
            <a:ext cx="2043113" cy="867430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76200" dist="19050" dir="16200000">
              <a:srgbClr val="002FA7">
                <a:alpha val="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20590" y="229055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E9F5"/>
          </a:solidFill>
          <a:ln/>
        </p:spPr>
      </p:sp>
      <p:sp>
        <p:nvSpPr>
          <p:cNvPr id="52" name="Text 50"/>
          <p:cNvSpPr/>
          <p:nvPr/>
        </p:nvSpPr>
        <p:spPr>
          <a:xfrm>
            <a:off x="4720590" y="2290554"/>
            <a:ext cx="26860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4960620" y="2324844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沟通技巧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4720590" y="2530584"/>
            <a:ext cx="2045056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在邮件列表与 Issue 区保持专业、清晰的表达，尊重社区既定流程与行为规范，建立可信赖的合作者形象。</a:t>
            </a:r>
            <a:endParaRPr lang="en-US" sz="540" dirty="0"/>
          </a:p>
        </p:txBody>
      </p:sp>
      <p:sp>
        <p:nvSpPr>
          <p:cNvPr id="55" name="Shape 53"/>
          <p:cNvSpPr/>
          <p:nvPr/>
        </p:nvSpPr>
        <p:spPr>
          <a:xfrm>
            <a:off x="4720590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56" name="Text 54"/>
          <p:cNvSpPr/>
          <p:nvPr/>
        </p:nvSpPr>
        <p:spPr>
          <a:xfrm>
            <a:off x="4720590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专业表达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5069205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58" name="Text 56"/>
          <p:cNvSpPr/>
          <p:nvPr/>
        </p:nvSpPr>
        <p:spPr>
          <a:xfrm>
            <a:off x="5069205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社区流程</a:t>
            </a:r>
            <a:endParaRPr lang="en-US" sz="450" dirty="0"/>
          </a:p>
        </p:txBody>
      </p:sp>
      <p:sp>
        <p:nvSpPr>
          <p:cNvPr id="59" name="Shape 57"/>
          <p:cNvSpPr/>
          <p:nvPr/>
        </p:nvSpPr>
        <p:spPr>
          <a:xfrm>
            <a:off x="5417820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FFEBE0"/>
          </a:solidFill>
          <a:ln/>
        </p:spPr>
      </p:sp>
      <p:sp>
        <p:nvSpPr>
          <p:cNvPr id="60" name="Text 58"/>
          <p:cNvSpPr/>
          <p:nvPr/>
        </p:nvSpPr>
        <p:spPr>
          <a:xfrm>
            <a:off x="5417820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行为规范</a:t>
            </a:r>
            <a:endParaRPr lang="en-US" sz="450" dirty="0"/>
          </a:p>
        </p:txBody>
      </p:sp>
      <p:sp>
        <p:nvSpPr>
          <p:cNvPr id="61" name="Shape 59"/>
          <p:cNvSpPr/>
          <p:nvPr/>
        </p:nvSpPr>
        <p:spPr>
          <a:xfrm>
            <a:off x="6735128" y="2170539"/>
            <a:ext cx="2043113" cy="867430"/>
          </a:xfrm>
          <a:prstGeom prst="roundRect">
            <a:avLst>
              <a:gd name="adj" fmla="val 7906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76200" dist="19050" dir="16200000">
              <a:srgbClr val="002FA7">
                <a:alpha val="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43713" y="229055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E9F5"/>
          </a:solidFill>
          <a:ln/>
        </p:spPr>
      </p:sp>
      <p:sp>
        <p:nvSpPr>
          <p:cNvPr id="63" name="Text 61"/>
          <p:cNvSpPr/>
          <p:nvPr/>
        </p:nvSpPr>
        <p:spPr>
          <a:xfrm>
            <a:off x="6843713" y="2290554"/>
            <a:ext cx="268605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7083743" y="2324844"/>
            <a:ext cx="4000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实践经验</a:t>
            </a:r>
            <a:endParaRPr lang="en-US" sz="630" dirty="0"/>
          </a:p>
        </p:txBody>
      </p:sp>
      <p:sp>
        <p:nvSpPr>
          <p:cNvPr id="65" name="Text 63"/>
          <p:cNvSpPr/>
          <p:nvPr/>
        </p:nvSpPr>
        <p:spPr>
          <a:xfrm>
            <a:off x="6843713" y="2530584"/>
            <a:ext cx="2045056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真实案例揭示：从第一次 PR 合并到成为核心贡献者，通常需要 6 至 12 个月的持续投入与不断积累。</a:t>
            </a:r>
            <a:endParaRPr lang="en-US" sz="540" dirty="0"/>
          </a:p>
        </p:txBody>
      </p:sp>
      <p:sp>
        <p:nvSpPr>
          <p:cNvPr id="66" name="Shape 64"/>
          <p:cNvSpPr/>
          <p:nvPr/>
        </p:nvSpPr>
        <p:spPr>
          <a:xfrm>
            <a:off x="6843713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67" name="Text 65"/>
          <p:cNvSpPr/>
          <p:nvPr/>
        </p:nvSpPr>
        <p:spPr>
          <a:xfrm>
            <a:off x="6843713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持续投入</a:t>
            </a:r>
            <a:endParaRPr lang="en-US" sz="450" dirty="0"/>
          </a:p>
        </p:txBody>
      </p:sp>
      <p:sp>
        <p:nvSpPr>
          <p:cNvPr id="68" name="Shape 66"/>
          <p:cNvSpPr/>
          <p:nvPr/>
        </p:nvSpPr>
        <p:spPr>
          <a:xfrm>
            <a:off x="7192328" y="2820799"/>
            <a:ext cx="320040" cy="120015"/>
          </a:xfrm>
          <a:prstGeom prst="roundRect">
            <a:avLst>
              <a:gd name="adj" fmla="val 14286"/>
            </a:avLst>
          </a:prstGeom>
          <a:solidFill>
            <a:srgbClr val="E6E9F5"/>
          </a:solidFill>
          <a:ln/>
        </p:spPr>
      </p:sp>
      <p:sp>
        <p:nvSpPr>
          <p:cNvPr id="69" name="Text 67"/>
          <p:cNvSpPr/>
          <p:nvPr/>
        </p:nvSpPr>
        <p:spPr>
          <a:xfrm>
            <a:off x="7192328" y="2820799"/>
            <a:ext cx="377190" cy="12001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真实案例</a:t>
            </a:r>
            <a:endParaRPr lang="en-US" sz="450" dirty="0"/>
          </a:p>
        </p:txBody>
      </p:sp>
      <p:sp>
        <p:nvSpPr>
          <p:cNvPr id="70" name="Shape 68"/>
          <p:cNvSpPr/>
          <p:nvPr/>
        </p:nvSpPr>
        <p:spPr>
          <a:xfrm>
            <a:off x="7540943" y="2820799"/>
            <a:ext cx="354330" cy="120015"/>
          </a:xfrm>
          <a:prstGeom prst="roundRect">
            <a:avLst>
              <a:gd name="adj" fmla="val 14286"/>
            </a:avLst>
          </a:prstGeom>
          <a:solidFill>
            <a:srgbClr val="FFEBE0"/>
          </a:solidFill>
          <a:ln/>
        </p:spPr>
      </p:sp>
      <p:sp>
        <p:nvSpPr>
          <p:cNvPr id="71" name="Text 69"/>
          <p:cNvSpPr/>
          <p:nvPr/>
        </p:nvSpPr>
        <p:spPr>
          <a:xfrm>
            <a:off x="7540943" y="2820799"/>
            <a:ext cx="411480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6~12 个月</a:t>
            </a:r>
            <a:endParaRPr lang="en-US" sz="450" dirty="0"/>
          </a:p>
        </p:txBody>
      </p:sp>
      <p:sp>
        <p:nvSpPr>
          <p:cNvPr id="72" name="Shape 70"/>
          <p:cNvSpPr/>
          <p:nvPr/>
        </p:nvSpPr>
        <p:spPr>
          <a:xfrm>
            <a:off x="365760" y="3129409"/>
            <a:ext cx="4166235" cy="51435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002FA7"/>
              </a:gs>
              <a:gs pos="100000">
                <a:srgbClr val="0038CC"/>
              </a:gs>
            </a:gsLst>
            <a:lin ang="2700000" scaled="0"/>
          </a:gradFill>
          <a:ln/>
        </p:spPr>
      </p:sp>
      <p:sp>
        <p:nvSpPr>
          <p:cNvPr id="73" name="Text 71"/>
          <p:cNvSpPr/>
          <p:nvPr/>
        </p:nvSpPr>
        <p:spPr>
          <a:xfrm>
            <a:off x="502920" y="3237994"/>
            <a:ext cx="82296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STEP</a:t>
            </a:r>
            <a:endParaRPr lang="en-US" sz="1440" dirty="0"/>
          </a:p>
        </p:txBody>
      </p:sp>
      <p:sp>
        <p:nvSpPr>
          <p:cNvPr id="74" name="Text 72"/>
          <p:cNvSpPr/>
          <p:nvPr/>
        </p:nvSpPr>
        <p:spPr>
          <a:xfrm>
            <a:off x="502920" y="3443734"/>
            <a:ext cx="7168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新人起步</a:t>
            </a:r>
            <a:endParaRPr lang="en-US" sz="495" dirty="0"/>
          </a:p>
        </p:txBody>
      </p:sp>
      <p:sp>
        <p:nvSpPr>
          <p:cNvPr id="75" name="Shape 73"/>
          <p:cNvSpPr/>
          <p:nvPr/>
        </p:nvSpPr>
        <p:spPr>
          <a:xfrm>
            <a:off x="1257300" y="3255139"/>
            <a:ext cx="5715" cy="26289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377315" y="3257461"/>
            <a:ext cx="337962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修文档 → 提 Issue → 发 PR</a:t>
            </a:r>
            <a:endParaRPr lang="en-US" sz="630" dirty="0"/>
          </a:p>
        </p:txBody>
      </p:sp>
      <p:sp>
        <p:nvSpPr>
          <p:cNvPr id="77" name="Text 75"/>
          <p:cNvSpPr/>
          <p:nvPr/>
        </p:nvSpPr>
        <p:spPr>
          <a:xfrm>
            <a:off x="1377315" y="3406051"/>
            <a:ext cx="3379622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三步走是最典型的新人入圈路径，低门槛、可复用、见效快</a:t>
            </a:r>
            <a:endParaRPr lang="en-US" sz="540" dirty="0"/>
          </a:p>
        </p:txBody>
      </p:sp>
      <p:sp>
        <p:nvSpPr>
          <p:cNvPr id="78" name="Shape 76"/>
          <p:cNvSpPr/>
          <p:nvPr/>
        </p:nvSpPr>
        <p:spPr>
          <a:xfrm>
            <a:off x="4612005" y="3129409"/>
            <a:ext cx="4166235" cy="5143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860">
            <a:solidFill>
              <a:srgbClr val="FF704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2025" y="3237994"/>
            <a:ext cx="8115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6~12</a:t>
            </a:r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个月</a:t>
            </a:r>
            <a:endParaRPr lang="en-US" sz="1440" dirty="0"/>
          </a:p>
        </p:txBody>
      </p:sp>
      <p:sp>
        <p:nvSpPr>
          <p:cNvPr id="80" name="Text 78"/>
          <p:cNvSpPr/>
          <p:nvPr/>
        </p:nvSpPr>
        <p:spPr>
          <a:xfrm>
            <a:off x="4772025" y="3443734"/>
            <a:ext cx="70408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1A1A2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成长周期</a:t>
            </a:r>
            <a:endParaRPr lang="en-US" sz="495" dirty="0"/>
          </a:p>
        </p:txBody>
      </p:sp>
      <p:sp>
        <p:nvSpPr>
          <p:cNvPr id="81" name="Shape 79"/>
          <p:cNvSpPr/>
          <p:nvPr/>
        </p:nvSpPr>
        <p:spPr>
          <a:xfrm>
            <a:off x="5514975" y="3255139"/>
            <a:ext cx="5715" cy="262890"/>
          </a:xfrm>
          <a:prstGeom prst="rect">
            <a:avLst/>
          </a:prstGeom>
          <a:solidFill>
            <a:srgbClr val="E0E0E8"/>
          </a:solidFill>
          <a:ln/>
        </p:spPr>
      </p:sp>
      <p:sp>
        <p:nvSpPr>
          <p:cNvPr id="82" name="Text 80"/>
          <p:cNvSpPr/>
          <p:nvPr/>
        </p:nvSpPr>
        <p:spPr>
          <a:xfrm>
            <a:off x="5634990" y="3257461"/>
            <a:ext cx="33604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成为核心贡献者</a:t>
            </a:r>
            <a:endParaRPr lang="en-US" sz="630" dirty="0"/>
          </a:p>
        </p:txBody>
      </p:sp>
      <p:sp>
        <p:nvSpPr>
          <p:cNvPr id="83" name="Text 81"/>
          <p:cNvSpPr/>
          <p:nvPr/>
        </p:nvSpPr>
        <p:spPr>
          <a:xfrm>
            <a:off x="5634990" y="3406051"/>
            <a:ext cx="336042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5A5A72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持续参与、稳定输出，是新人进阶为社区核心成员的时间基准</a:t>
            </a:r>
            <a:endParaRPr lang="en-US" sz="540" dirty="0"/>
          </a:p>
        </p:txBody>
      </p:sp>
      <p:sp>
        <p:nvSpPr>
          <p:cNvPr id="84" name="Shape 82"/>
          <p:cNvSpPr/>
          <p:nvPr/>
        </p:nvSpPr>
        <p:spPr>
          <a:xfrm>
            <a:off x="365760" y="3723769"/>
            <a:ext cx="8412480" cy="154305"/>
          </a:xfrm>
          <a:prstGeom prst="rect">
            <a:avLst/>
          </a:prstGeom>
          <a:noFill/>
          <a:ln/>
        </p:spPr>
      </p:sp>
      <p:sp>
        <p:nvSpPr>
          <p:cNvPr id="85" name="Shape 83"/>
          <p:cNvSpPr/>
          <p:nvPr/>
        </p:nvSpPr>
        <p:spPr>
          <a:xfrm>
            <a:off x="365760" y="3723769"/>
            <a:ext cx="8412480" cy="0"/>
          </a:xfrm>
          <a:prstGeom prst="line">
            <a:avLst/>
          </a:prstGeom>
          <a:noFill/>
          <a:ln w="5715">
            <a:solidFill>
              <a:srgbClr val="E0E0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3798064"/>
            <a:ext cx="128656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DEEP PRACTICE</a:t>
            </a:r>
            <a:endParaRPr lang="en-US" sz="495" dirty="0"/>
          </a:p>
        </p:txBody>
      </p:sp>
      <p:sp>
        <p:nvSpPr>
          <p:cNvPr id="87" name="Shape 85"/>
          <p:cNvSpPr/>
          <p:nvPr/>
        </p:nvSpPr>
        <p:spPr>
          <a:xfrm>
            <a:off x="4752023" y="3820924"/>
            <a:ext cx="114300" cy="34290"/>
          </a:xfrm>
          <a:prstGeom prst="roundRect">
            <a:avLst>
              <a:gd name="adj" fmla="val 50000"/>
            </a:avLst>
          </a:prstGeom>
          <a:solidFill>
            <a:srgbClr val="FF7043"/>
          </a:solidFill>
          <a:ln/>
        </p:spPr>
      </p:sp>
      <p:sp>
        <p:nvSpPr>
          <p:cNvPr id="88" name="Shape 86"/>
          <p:cNvSpPr/>
          <p:nvPr/>
        </p:nvSpPr>
        <p:spPr>
          <a:xfrm>
            <a:off x="4900613" y="3820924"/>
            <a:ext cx="34290" cy="34290"/>
          </a:xfrm>
          <a:prstGeom prst="ellipse">
            <a:avLst/>
          </a:prstGeom>
          <a:solidFill>
            <a:srgbClr val="E0E0E8"/>
          </a:solidFill>
          <a:ln/>
        </p:spPr>
      </p:sp>
      <p:sp>
        <p:nvSpPr>
          <p:cNvPr id="89" name="Shape 87"/>
          <p:cNvSpPr/>
          <p:nvPr/>
        </p:nvSpPr>
        <p:spPr>
          <a:xfrm>
            <a:off x="4969193" y="3820924"/>
            <a:ext cx="34290" cy="34290"/>
          </a:xfrm>
          <a:prstGeom prst="ellipse">
            <a:avLst/>
          </a:prstGeom>
          <a:solidFill>
            <a:srgbClr val="E0E0E8"/>
          </a:solidFill>
          <a:ln/>
        </p:spPr>
      </p:sp>
      <p:sp>
        <p:nvSpPr>
          <p:cNvPr id="90" name="Shape 88"/>
          <p:cNvSpPr/>
          <p:nvPr/>
        </p:nvSpPr>
        <p:spPr>
          <a:xfrm>
            <a:off x="5037773" y="3820924"/>
            <a:ext cx="34290" cy="34290"/>
          </a:xfrm>
          <a:prstGeom prst="ellipse">
            <a:avLst/>
          </a:prstGeom>
          <a:solidFill>
            <a:srgbClr val="E0E0E8"/>
          </a:solidFill>
          <a:ln/>
        </p:spPr>
      </p:sp>
      <p:sp>
        <p:nvSpPr>
          <p:cNvPr id="91" name="Text 89"/>
          <p:cNvSpPr/>
          <p:nvPr/>
        </p:nvSpPr>
        <p:spPr>
          <a:xfrm>
            <a:off x="8309610" y="3798064"/>
            <a:ext cx="5314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02 / 04</a:t>
            </a:r>
            <a:endParaRPr lang="en-US" sz="49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1143000"/>
            <a:ext cx="2857500" cy="2857500"/>
          </a:xfrm>
          <a:prstGeom prst="ellipse">
            <a:avLst/>
          </a:prstGeom>
          <a:solidFill>
            <a:srgbClr val="E6EBF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71500" y="4000500"/>
            <a:ext cx="2000250" cy="2000250"/>
          </a:xfrm>
          <a:prstGeom prst="ellipse">
            <a:avLst/>
          </a:prstGeom>
          <a:solidFill>
            <a:srgbClr val="FFE3D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42900"/>
            <a:ext cx="45720" cy="4572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" name="Text 3"/>
          <p:cNvSpPr/>
          <p:nvPr/>
        </p:nvSpPr>
        <p:spPr>
          <a:xfrm>
            <a:off x="525780" y="320040"/>
            <a:ext cx="78089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03</a:t>
            </a:r>
            <a:endParaRPr lang="en-US" sz="585" dirty="0"/>
          </a:p>
        </p:txBody>
      </p:sp>
      <p:sp>
        <p:nvSpPr>
          <p:cNvPr id="6" name="Shape 4"/>
          <p:cNvSpPr/>
          <p:nvPr/>
        </p:nvSpPr>
        <p:spPr>
          <a:xfrm>
            <a:off x="1291590" y="361474"/>
            <a:ext cx="228600" cy="8573"/>
          </a:xfrm>
          <a:prstGeom prst="rect">
            <a:avLst/>
          </a:prstGeom>
          <a:solidFill>
            <a:srgbClr val="002FA7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88770" y="320040"/>
            <a:ext cx="78089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411480" y="491490"/>
            <a:ext cx="6080760" cy="315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60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第三辑·社区共建</a:t>
            </a:r>
            <a:endParaRPr lang="en-US" sz="2160" dirty="0"/>
          </a:p>
        </p:txBody>
      </p:sp>
      <p:sp>
        <p:nvSpPr>
          <p:cNvPr id="9" name="Shape 7"/>
          <p:cNvSpPr/>
          <p:nvPr/>
        </p:nvSpPr>
        <p:spPr>
          <a:xfrm>
            <a:off x="411480" y="622310"/>
            <a:ext cx="57150" cy="5715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86897"/>
            <a:ext cx="608076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75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当视角从个人实践转向社区治理，开源的可持续运营成为核心命题——面对商业化、基金会化与 AI 技术冲击的多重变革，开源社区正在经历深刻的结构调整。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8361045" y="365760"/>
            <a:ext cx="768096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20" i="1" dirty="0">
                <a:solidFill>
                  <a:srgbClr val="002FA7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8281035" y="731520"/>
            <a:ext cx="5143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/ 07</a:t>
            </a:r>
            <a:endParaRPr lang="en-US" sz="495" dirty="0"/>
          </a:p>
        </p:txBody>
      </p:sp>
      <p:sp>
        <p:nvSpPr>
          <p:cNvPr id="13" name="Shape 11"/>
          <p:cNvSpPr/>
          <p:nvPr/>
        </p:nvSpPr>
        <p:spPr>
          <a:xfrm>
            <a:off x="411480" y="1361242"/>
            <a:ext cx="8321040" cy="5715"/>
          </a:xfrm>
          <a:prstGeom prst="rect">
            <a:avLst/>
          </a:prstGeom>
          <a:solidFill>
            <a:srgbClr val="E8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1361242"/>
            <a:ext cx="45720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1549837"/>
            <a:ext cx="2682210" cy="1721644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5715">
            <a:solidFill>
              <a:srgbClr val="E8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549837"/>
            <a:ext cx="22860" cy="274320"/>
          </a:xfrm>
          <a:prstGeom prst="roundRect">
            <a:avLst>
              <a:gd name="adj" fmla="val 100000"/>
            </a:avLst>
          </a:prstGeom>
          <a:solidFill>
            <a:srgbClr val="002FA7"/>
          </a:solidFill>
          <a:ln/>
        </p:spPr>
      </p:sp>
      <p:sp>
        <p:nvSpPr>
          <p:cNvPr id="17" name="Text 15"/>
          <p:cNvSpPr/>
          <p:nvPr/>
        </p:nvSpPr>
        <p:spPr>
          <a:xfrm>
            <a:off x="2870805" y="1669852"/>
            <a:ext cx="1543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18" name="Shape 16"/>
          <p:cNvSpPr/>
          <p:nvPr/>
        </p:nvSpPr>
        <p:spPr>
          <a:xfrm>
            <a:off x="565785" y="1715572"/>
            <a:ext cx="365760" cy="365760"/>
          </a:xfrm>
          <a:prstGeom prst="ellipse">
            <a:avLst/>
          </a:prstGeom>
          <a:solidFill>
            <a:srgbClr val="E6EBF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" y="1812727"/>
            <a:ext cx="171450" cy="1714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5785" y="2195632"/>
            <a:ext cx="265843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495" dirty="0"/>
          </a:p>
        </p:txBody>
      </p:sp>
      <p:sp>
        <p:nvSpPr>
          <p:cNvPr id="21" name="Text 18"/>
          <p:cNvSpPr/>
          <p:nvPr/>
        </p:nvSpPr>
        <p:spPr>
          <a:xfrm>
            <a:off x="565785" y="2367082"/>
            <a:ext cx="265843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治理模式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5785" y="2618542"/>
            <a:ext cx="2658432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从委员会制到 BDFL 模式，不同治理结构决定了社区的发展节奏与方向。权力集中与分散的取舍，直接影响项目决策效率与参与者积极性。</a:t>
            </a:r>
            <a:endParaRPr lang="en-US" sz="608" dirty="0"/>
          </a:p>
        </p:txBody>
      </p:sp>
      <p:sp>
        <p:nvSpPr>
          <p:cNvPr id="23" name="Shape 20"/>
          <p:cNvSpPr/>
          <p:nvPr/>
        </p:nvSpPr>
        <p:spPr>
          <a:xfrm>
            <a:off x="565785" y="2980015"/>
            <a:ext cx="377190" cy="13716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/>
        </p:spPr>
      </p:sp>
      <p:sp>
        <p:nvSpPr>
          <p:cNvPr id="24" name="Text 21"/>
          <p:cNvSpPr/>
          <p:nvPr/>
        </p:nvSpPr>
        <p:spPr>
          <a:xfrm>
            <a:off x="565785" y="2980015"/>
            <a:ext cx="440055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委员会制</a:t>
            </a:r>
            <a:endParaRPr lang="en-US" sz="495" dirty="0"/>
          </a:p>
        </p:txBody>
      </p:sp>
      <p:sp>
        <p:nvSpPr>
          <p:cNvPr id="25" name="Shape 22"/>
          <p:cNvSpPr/>
          <p:nvPr/>
        </p:nvSpPr>
        <p:spPr>
          <a:xfrm>
            <a:off x="977265" y="2980015"/>
            <a:ext cx="431483" cy="13716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/>
        </p:spPr>
      </p:sp>
      <p:sp>
        <p:nvSpPr>
          <p:cNvPr id="26" name="Text 23"/>
          <p:cNvSpPr/>
          <p:nvPr/>
        </p:nvSpPr>
        <p:spPr>
          <a:xfrm>
            <a:off x="977265" y="2980015"/>
            <a:ext cx="494348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BDFL 模式</a:t>
            </a:r>
            <a:endParaRPr lang="en-US" sz="495" dirty="0"/>
          </a:p>
        </p:txBody>
      </p:sp>
      <p:sp>
        <p:nvSpPr>
          <p:cNvPr id="27" name="Shape 24"/>
          <p:cNvSpPr/>
          <p:nvPr/>
        </p:nvSpPr>
        <p:spPr>
          <a:xfrm>
            <a:off x="1443038" y="2980015"/>
            <a:ext cx="377190" cy="137160"/>
          </a:xfrm>
          <a:prstGeom prst="roundRect">
            <a:avLst>
              <a:gd name="adj" fmla="val 50000"/>
            </a:avLst>
          </a:prstGeom>
          <a:solidFill>
            <a:srgbClr val="FFE3DA"/>
          </a:solidFill>
          <a:ln/>
        </p:spPr>
      </p:sp>
      <p:sp>
        <p:nvSpPr>
          <p:cNvPr id="28" name="Text 25"/>
          <p:cNvSpPr/>
          <p:nvPr/>
        </p:nvSpPr>
        <p:spPr>
          <a:xfrm>
            <a:off x="1443038" y="2980015"/>
            <a:ext cx="440055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决策结构</a:t>
            </a:r>
            <a:endParaRPr lang="en-US" sz="495" dirty="0"/>
          </a:p>
        </p:txBody>
      </p:sp>
      <p:sp>
        <p:nvSpPr>
          <p:cNvPr id="29" name="Shape 26"/>
          <p:cNvSpPr/>
          <p:nvPr/>
        </p:nvSpPr>
        <p:spPr>
          <a:xfrm>
            <a:off x="3230850" y="1549837"/>
            <a:ext cx="2682210" cy="1721644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5715">
            <a:solidFill>
              <a:srgbClr val="E8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30850" y="1549837"/>
            <a:ext cx="22860" cy="274320"/>
          </a:xfrm>
          <a:prstGeom prst="roundRect">
            <a:avLst>
              <a:gd name="adj" fmla="val 100000"/>
            </a:avLst>
          </a:prstGeom>
          <a:solidFill>
            <a:srgbClr val="002FA7"/>
          </a:solidFill>
          <a:ln/>
        </p:spPr>
      </p:sp>
      <p:sp>
        <p:nvSpPr>
          <p:cNvPr id="31" name="Text 28"/>
          <p:cNvSpPr/>
          <p:nvPr/>
        </p:nvSpPr>
        <p:spPr>
          <a:xfrm>
            <a:off x="5678745" y="1669852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32" name="Shape 29"/>
          <p:cNvSpPr/>
          <p:nvPr/>
        </p:nvSpPr>
        <p:spPr>
          <a:xfrm>
            <a:off x="3385155" y="1715572"/>
            <a:ext cx="365760" cy="365760"/>
          </a:xfrm>
          <a:prstGeom prst="ellipse">
            <a:avLst/>
          </a:prstGeom>
          <a:solidFill>
            <a:srgbClr val="E6EBFF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2310" y="1812727"/>
            <a:ext cx="171450" cy="1714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385155" y="2195632"/>
            <a:ext cx="265843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</a:t>
            </a:r>
            <a:endParaRPr lang="en-US" sz="495" dirty="0"/>
          </a:p>
        </p:txBody>
      </p:sp>
      <p:sp>
        <p:nvSpPr>
          <p:cNvPr id="35" name="Text 31"/>
          <p:cNvSpPr/>
          <p:nvPr/>
        </p:nvSpPr>
        <p:spPr>
          <a:xfrm>
            <a:off x="3385155" y="2367082"/>
            <a:ext cx="265843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可持续性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385155" y="2618542"/>
            <a:ext cx="2658432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健康社区需要资金、人才、治理三要素协同运作，避免过度依赖单一贡献者。长期主义要求建立资源补给与人员更替的制度化通道。</a:t>
            </a:r>
            <a:endParaRPr lang="en-US" sz="608" dirty="0"/>
          </a:p>
        </p:txBody>
      </p:sp>
      <p:sp>
        <p:nvSpPr>
          <p:cNvPr id="37" name="Shape 33"/>
          <p:cNvSpPr/>
          <p:nvPr/>
        </p:nvSpPr>
        <p:spPr>
          <a:xfrm>
            <a:off x="3385155" y="2980015"/>
            <a:ext cx="245745" cy="13716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/>
        </p:spPr>
      </p:sp>
      <p:sp>
        <p:nvSpPr>
          <p:cNvPr id="38" name="Text 34"/>
          <p:cNvSpPr/>
          <p:nvPr/>
        </p:nvSpPr>
        <p:spPr>
          <a:xfrm>
            <a:off x="3385155" y="2980015"/>
            <a:ext cx="308610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资金</a:t>
            </a:r>
            <a:endParaRPr lang="en-US" sz="495" dirty="0"/>
          </a:p>
        </p:txBody>
      </p:sp>
      <p:sp>
        <p:nvSpPr>
          <p:cNvPr id="39" name="Shape 35"/>
          <p:cNvSpPr/>
          <p:nvPr/>
        </p:nvSpPr>
        <p:spPr>
          <a:xfrm>
            <a:off x="3665190" y="2980015"/>
            <a:ext cx="245745" cy="13716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/>
        </p:spPr>
      </p:sp>
      <p:sp>
        <p:nvSpPr>
          <p:cNvPr id="40" name="Text 36"/>
          <p:cNvSpPr/>
          <p:nvPr/>
        </p:nvSpPr>
        <p:spPr>
          <a:xfrm>
            <a:off x="3665190" y="2980015"/>
            <a:ext cx="308610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人才</a:t>
            </a:r>
            <a:endParaRPr lang="en-US" sz="495" dirty="0"/>
          </a:p>
        </p:txBody>
      </p:sp>
      <p:sp>
        <p:nvSpPr>
          <p:cNvPr id="41" name="Shape 37"/>
          <p:cNvSpPr/>
          <p:nvPr/>
        </p:nvSpPr>
        <p:spPr>
          <a:xfrm>
            <a:off x="3945225" y="2980015"/>
            <a:ext cx="377190" cy="137160"/>
          </a:xfrm>
          <a:prstGeom prst="roundRect">
            <a:avLst>
              <a:gd name="adj" fmla="val 50000"/>
            </a:avLst>
          </a:prstGeom>
          <a:solidFill>
            <a:srgbClr val="FFE3DA"/>
          </a:solidFill>
          <a:ln/>
        </p:spPr>
      </p:sp>
      <p:sp>
        <p:nvSpPr>
          <p:cNvPr id="42" name="Text 38"/>
          <p:cNvSpPr/>
          <p:nvPr/>
        </p:nvSpPr>
        <p:spPr>
          <a:xfrm>
            <a:off x="3945225" y="2980015"/>
            <a:ext cx="440055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治理协同</a:t>
            </a:r>
            <a:endParaRPr lang="en-US" sz="495" dirty="0"/>
          </a:p>
        </p:txBody>
      </p:sp>
      <p:sp>
        <p:nvSpPr>
          <p:cNvPr id="43" name="Shape 39"/>
          <p:cNvSpPr/>
          <p:nvPr/>
        </p:nvSpPr>
        <p:spPr>
          <a:xfrm>
            <a:off x="6050220" y="1549837"/>
            <a:ext cx="2682300" cy="1721644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 w="5715">
            <a:solidFill>
              <a:srgbClr val="E8E8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050220" y="1549837"/>
            <a:ext cx="22860" cy="274320"/>
          </a:xfrm>
          <a:prstGeom prst="roundRect">
            <a:avLst>
              <a:gd name="adj" fmla="val 100000"/>
            </a:avLst>
          </a:prstGeom>
          <a:solidFill>
            <a:srgbClr val="002FA7"/>
          </a:solidFill>
          <a:ln/>
        </p:spPr>
      </p:sp>
      <p:sp>
        <p:nvSpPr>
          <p:cNvPr id="45" name="Text 41"/>
          <p:cNvSpPr/>
          <p:nvPr/>
        </p:nvSpPr>
        <p:spPr>
          <a:xfrm>
            <a:off x="8498205" y="1669852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90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46" name="Shape 42"/>
          <p:cNvSpPr/>
          <p:nvPr/>
        </p:nvSpPr>
        <p:spPr>
          <a:xfrm>
            <a:off x="6204525" y="1715572"/>
            <a:ext cx="365760" cy="365760"/>
          </a:xfrm>
          <a:prstGeom prst="ellipse">
            <a:avLst/>
          </a:prstGeom>
          <a:solidFill>
            <a:srgbClr val="E6EBFF"/>
          </a:solidFill>
          <a:ln/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1680" y="1812727"/>
            <a:ext cx="171450" cy="17145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204525" y="2195632"/>
            <a:ext cx="265853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</a:t>
            </a:r>
            <a:endParaRPr lang="en-US" sz="495" dirty="0"/>
          </a:p>
        </p:txBody>
      </p:sp>
      <p:sp>
        <p:nvSpPr>
          <p:cNvPr id="49" name="Text 44"/>
          <p:cNvSpPr/>
          <p:nvPr/>
        </p:nvSpPr>
        <p:spPr>
          <a:xfrm>
            <a:off x="6204525" y="2367082"/>
            <a:ext cx="265853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商业关系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6204525" y="2618542"/>
            <a:ext cx="2658532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开源与商业并非对立，基金会化与托管模式成为主流融合路径。企业投入与社区自治之间的边界，正在被新的治理工具与法律框架重新定义。</a:t>
            </a:r>
            <a:endParaRPr lang="en-US" sz="608" dirty="0"/>
          </a:p>
        </p:txBody>
      </p:sp>
      <p:sp>
        <p:nvSpPr>
          <p:cNvPr id="51" name="Shape 46"/>
          <p:cNvSpPr/>
          <p:nvPr/>
        </p:nvSpPr>
        <p:spPr>
          <a:xfrm>
            <a:off x="6204525" y="2980015"/>
            <a:ext cx="377190" cy="13716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/>
        </p:spPr>
      </p:sp>
      <p:sp>
        <p:nvSpPr>
          <p:cNvPr id="52" name="Text 47"/>
          <p:cNvSpPr/>
          <p:nvPr/>
        </p:nvSpPr>
        <p:spPr>
          <a:xfrm>
            <a:off x="6204525" y="2980015"/>
            <a:ext cx="440055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基金会化</a:t>
            </a:r>
            <a:endParaRPr lang="en-US" sz="495" dirty="0"/>
          </a:p>
        </p:txBody>
      </p:sp>
      <p:sp>
        <p:nvSpPr>
          <p:cNvPr id="53" name="Shape 48"/>
          <p:cNvSpPr/>
          <p:nvPr/>
        </p:nvSpPr>
        <p:spPr>
          <a:xfrm>
            <a:off x="6616005" y="2980015"/>
            <a:ext cx="377190" cy="137160"/>
          </a:xfrm>
          <a:prstGeom prst="roundRect">
            <a:avLst>
              <a:gd name="adj" fmla="val 50000"/>
            </a:avLst>
          </a:prstGeom>
          <a:solidFill>
            <a:srgbClr val="E6EBFF"/>
          </a:solidFill>
          <a:ln/>
        </p:spPr>
      </p:sp>
      <p:sp>
        <p:nvSpPr>
          <p:cNvPr id="54" name="Text 49"/>
          <p:cNvSpPr/>
          <p:nvPr/>
        </p:nvSpPr>
        <p:spPr>
          <a:xfrm>
            <a:off x="6616005" y="2980015"/>
            <a:ext cx="440055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商业托管</a:t>
            </a:r>
            <a:endParaRPr lang="en-US" sz="495" dirty="0"/>
          </a:p>
        </p:txBody>
      </p:sp>
      <p:sp>
        <p:nvSpPr>
          <p:cNvPr id="55" name="Shape 50"/>
          <p:cNvSpPr/>
          <p:nvPr/>
        </p:nvSpPr>
        <p:spPr>
          <a:xfrm>
            <a:off x="7027485" y="2980015"/>
            <a:ext cx="377190" cy="137160"/>
          </a:xfrm>
          <a:prstGeom prst="roundRect">
            <a:avLst>
              <a:gd name="adj" fmla="val 50000"/>
            </a:avLst>
          </a:prstGeom>
          <a:solidFill>
            <a:srgbClr val="FFE3DA"/>
          </a:solidFill>
          <a:ln/>
        </p:spPr>
      </p:sp>
      <p:sp>
        <p:nvSpPr>
          <p:cNvPr id="56" name="Text 51"/>
          <p:cNvSpPr/>
          <p:nvPr/>
        </p:nvSpPr>
        <p:spPr>
          <a:xfrm>
            <a:off x="7027485" y="2980015"/>
            <a:ext cx="440055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融合路径</a:t>
            </a:r>
            <a:endParaRPr lang="en-US" sz="495" dirty="0"/>
          </a:p>
        </p:txBody>
      </p:sp>
      <p:sp>
        <p:nvSpPr>
          <p:cNvPr id="57" name="Shape 52"/>
          <p:cNvSpPr/>
          <p:nvPr/>
        </p:nvSpPr>
        <p:spPr>
          <a:xfrm>
            <a:off x="411480" y="3420070"/>
            <a:ext cx="8321040" cy="525780"/>
          </a:xfrm>
          <a:prstGeom prst="roundRect">
            <a:avLst>
              <a:gd name="adj" fmla="val 15217"/>
            </a:avLst>
          </a:prstGeom>
          <a:solidFill>
            <a:srgbClr val="002FA7"/>
          </a:solidFill>
          <a:ln/>
        </p:spPr>
      </p:sp>
      <p:sp>
        <p:nvSpPr>
          <p:cNvPr id="58" name="Shape 53"/>
          <p:cNvSpPr/>
          <p:nvPr/>
        </p:nvSpPr>
        <p:spPr>
          <a:xfrm>
            <a:off x="8161020" y="3191470"/>
            <a:ext cx="800100" cy="8001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9" name="Shape 54"/>
          <p:cNvSpPr/>
          <p:nvPr/>
        </p:nvSpPr>
        <p:spPr>
          <a:xfrm>
            <a:off x="582930" y="3534370"/>
            <a:ext cx="297180" cy="2971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25" y="3608665"/>
            <a:ext cx="148590" cy="148590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17270" y="3552944"/>
            <a:ext cx="776917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· 未来方向</a:t>
            </a:r>
            <a:endParaRPr lang="en-US" sz="495" dirty="0"/>
          </a:p>
        </p:txBody>
      </p:sp>
      <p:sp>
        <p:nvSpPr>
          <p:cNvPr id="62" name="Text 56"/>
          <p:cNvSpPr/>
          <p:nvPr/>
        </p:nvSpPr>
        <p:spPr>
          <a:xfrm>
            <a:off x="1017270" y="3667244"/>
            <a:ext cx="7769171" cy="14573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时代下的开源协作将重塑传统贡献模式，社区治理面临全新挑战。</a:t>
            </a:r>
            <a:endParaRPr lang="en-US" sz="765" dirty="0"/>
          </a:p>
        </p:txBody>
      </p:sp>
      <p:sp>
        <p:nvSpPr>
          <p:cNvPr id="63" name="Shape 57"/>
          <p:cNvSpPr/>
          <p:nvPr/>
        </p:nvSpPr>
        <p:spPr>
          <a:xfrm>
            <a:off x="8091190" y="3602950"/>
            <a:ext cx="469880" cy="160020"/>
          </a:xfrm>
          <a:prstGeom prst="roundRect">
            <a:avLst>
              <a:gd name="adj" fmla="val 71429"/>
            </a:avLst>
          </a:prstGeom>
          <a:noFill/>
          <a:ln w="571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8091190" y="3602950"/>
            <a:ext cx="532745" cy="160020"/>
          </a:xfrm>
          <a:prstGeom prst="rect">
            <a:avLst/>
          </a:prstGeom>
          <a:noFill/>
          <a:ln/>
        </p:spPr>
        <p:txBody>
          <a:bodyPr wrap="square" lIns="34290" tIns="80010" rIns="80010" bIns="34290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→</a:t>
            </a:r>
            <a:endParaRPr lang="en-US" sz="495" dirty="0"/>
          </a:p>
        </p:txBody>
      </p:sp>
      <p:sp>
        <p:nvSpPr>
          <p:cNvPr id="65" name="Shape 59"/>
          <p:cNvSpPr/>
          <p:nvPr/>
        </p:nvSpPr>
        <p:spPr>
          <a:xfrm>
            <a:off x="411480" y="4083010"/>
            <a:ext cx="4091940" cy="46863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5715">
            <a:solidFill>
              <a:srgbClr val="E8E8F0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554355" y="4191595"/>
            <a:ext cx="251460" cy="251460"/>
          </a:xfrm>
          <a:prstGeom prst="ellipse">
            <a:avLst/>
          </a:prstGeom>
          <a:solidFill>
            <a:srgbClr val="E6EBFF"/>
          </a:solidFill>
          <a:ln/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220" y="4254460"/>
            <a:ext cx="125730" cy="125730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920115" y="4194453"/>
            <a:ext cx="85770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治理核心 · CORE</a:t>
            </a:r>
            <a:endParaRPr lang="en-US" sz="450" dirty="0"/>
          </a:p>
        </p:txBody>
      </p:sp>
      <p:sp>
        <p:nvSpPr>
          <p:cNvPr id="69" name="Text 62"/>
          <p:cNvSpPr/>
          <p:nvPr/>
        </p:nvSpPr>
        <p:spPr>
          <a:xfrm>
            <a:off x="920115" y="4303038"/>
            <a:ext cx="85770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资金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人才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制度</a:t>
            </a:r>
            <a:endParaRPr lang="en-US" sz="720" dirty="0"/>
          </a:p>
        </p:txBody>
      </p:sp>
      <p:sp>
        <p:nvSpPr>
          <p:cNvPr id="70" name="Shape 63"/>
          <p:cNvSpPr/>
          <p:nvPr/>
        </p:nvSpPr>
        <p:spPr>
          <a:xfrm>
            <a:off x="4640580" y="4083010"/>
            <a:ext cx="4091940" cy="46863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5715">
            <a:solidFill>
              <a:srgbClr val="E8E8F0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4783455" y="4191595"/>
            <a:ext cx="251460" cy="251460"/>
          </a:xfrm>
          <a:prstGeom prst="ellipse">
            <a:avLst/>
          </a:prstGeom>
          <a:solidFill>
            <a:srgbClr val="FFE3DA"/>
          </a:solidFill>
          <a:ln/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46320" y="4254460"/>
            <a:ext cx="125730" cy="125730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5149215" y="4194453"/>
            <a:ext cx="99532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融合趋势 · TREND</a:t>
            </a:r>
            <a:endParaRPr lang="en-US" sz="450" dirty="0"/>
          </a:p>
        </p:txBody>
      </p:sp>
      <p:sp>
        <p:nvSpPr>
          <p:cNvPr id="74" name="Text 66"/>
          <p:cNvSpPr/>
          <p:nvPr/>
        </p:nvSpPr>
        <p:spPr>
          <a:xfrm>
            <a:off x="5149215" y="4303038"/>
            <a:ext cx="99532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基金会化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buNone/>
            </a:pPr>
            <a:r>
              <a:rPr lang="en-US" sz="720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商业托管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5F5F5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411480" y="274320"/>
            <a:ext cx="34290" cy="320040"/>
          </a:xfrm>
          <a:prstGeom prst="roundRect">
            <a:avLst>
              <a:gd name="adj" fmla="val 33333"/>
            </a:avLst>
          </a:prstGeom>
          <a:solidFill>
            <a:srgbClr val="002FA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5214"/>
            <a:ext cx="2183130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90" b="1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开源生态数据速览</a:t>
            </a:r>
            <a:endParaRPr lang="en-US" sz="1890" dirty="0"/>
          </a:p>
        </p:txBody>
      </p:sp>
      <p:sp>
        <p:nvSpPr>
          <p:cNvPr id="5" name="Shape 3"/>
          <p:cNvSpPr/>
          <p:nvPr/>
        </p:nvSpPr>
        <p:spPr>
          <a:xfrm>
            <a:off x="8469630" y="405765"/>
            <a:ext cx="57150" cy="5715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8572500" y="405765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7" name="Shape 5"/>
          <p:cNvSpPr/>
          <p:nvPr/>
        </p:nvSpPr>
        <p:spPr>
          <a:xfrm>
            <a:off x="8675370" y="405765"/>
            <a:ext cx="57150" cy="57150"/>
          </a:xfrm>
          <a:prstGeom prst="ellipse">
            <a:avLst/>
          </a:prstGeom>
          <a:solidFill>
            <a:srgbClr val="E6E8EE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74370"/>
            <a:ext cx="266273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ECOSYSTEM AT A GLANCE · 2024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770656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开源已从边缘实验成长为数字世界的</a:t>
            </a:r>
            <a:pPr algn="l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基石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，无论是用户规模、项目数量还是商业渗透率，数据都指向同一个趋势——</a:t>
            </a:r>
            <a:pPr algn="l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开源不再是选择而是默认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。理解这些数字，有助于我们在阅读中锚定</a:t>
            </a:r>
            <a:pPr algn="l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现实坐标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411480" y="1113264"/>
            <a:ext cx="2689800" cy="120015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113264"/>
            <a:ext cx="22860" cy="11887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2" name="Text 10"/>
          <p:cNvSpPr/>
          <p:nvPr/>
        </p:nvSpPr>
        <p:spPr>
          <a:xfrm>
            <a:off x="565785" y="1270427"/>
            <a:ext cx="113294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GLOBAL DEVELOPERS</a:t>
            </a:r>
            <a:endParaRPr lang="en-US" sz="540" dirty="0"/>
          </a:p>
        </p:txBody>
      </p:sp>
      <p:sp>
        <p:nvSpPr>
          <p:cNvPr id="13" name="Shape 11"/>
          <p:cNvSpPr/>
          <p:nvPr/>
        </p:nvSpPr>
        <p:spPr>
          <a:xfrm>
            <a:off x="2504063" y="1244709"/>
            <a:ext cx="442913" cy="137160"/>
          </a:xfrm>
          <a:prstGeom prst="roundRect">
            <a:avLst>
              <a:gd name="adj" fmla="val 41667"/>
            </a:avLst>
          </a:prstGeom>
          <a:solidFill>
            <a:srgbClr val="FF7043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61213" y="1278999"/>
            <a:ext cx="3914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开发者规模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565785" y="1416159"/>
            <a:ext cx="602361" cy="3543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9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790" dirty="0"/>
          </a:p>
        </p:txBody>
      </p:sp>
      <p:sp>
        <p:nvSpPr>
          <p:cNvPr id="16" name="Text 14"/>
          <p:cNvSpPr/>
          <p:nvPr/>
        </p:nvSpPr>
        <p:spPr>
          <a:xfrm>
            <a:off x="754380" y="1570464"/>
            <a:ext cx="45148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亿+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5785" y="1839069"/>
            <a:ext cx="51435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414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全球开发者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565785" y="1993374"/>
            <a:ext cx="2381190" cy="5715"/>
          </a:xfrm>
          <a:prstGeom prst="rect">
            <a:avLst/>
          </a:prstGeom>
          <a:solidFill>
            <a:srgbClr val="DDE0E8"/>
          </a:solidFill>
          <a:ln/>
        </p:spPr>
      </p:sp>
      <p:sp>
        <p:nvSpPr>
          <p:cNvPr id="19" name="Text 17"/>
          <p:cNvSpPr/>
          <p:nvPr/>
        </p:nvSpPr>
        <p:spPr>
          <a:xfrm>
            <a:off x="565785" y="2044809"/>
            <a:ext cx="190103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对应 GitHub 全球活跃开发者规模，中文区增长最快速。</a:t>
            </a:r>
            <a:endParaRPr lang="en-US" sz="540" dirty="0"/>
          </a:p>
        </p:txBody>
      </p:sp>
      <p:sp>
        <p:nvSpPr>
          <p:cNvPr id="20" name="Shape 18"/>
          <p:cNvSpPr/>
          <p:nvPr/>
        </p:nvSpPr>
        <p:spPr>
          <a:xfrm>
            <a:off x="3227010" y="1113264"/>
            <a:ext cx="2689890" cy="120015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010" y="1113264"/>
            <a:ext cx="22860" cy="11887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2" name="Text 20"/>
          <p:cNvSpPr/>
          <p:nvPr/>
        </p:nvSpPr>
        <p:spPr>
          <a:xfrm>
            <a:off x="3381315" y="1270427"/>
            <a:ext cx="108813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OPEN REPOSITORIES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5385405" y="1244709"/>
            <a:ext cx="377190" cy="137160"/>
          </a:xfrm>
          <a:prstGeom prst="roundRect">
            <a:avLst>
              <a:gd name="adj" fmla="val 41667"/>
            </a:avLst>
          </a:prstGeom>
          <a:solidFill>
            <a:srgbClr val="FF7043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42555" y="1278999"/>
            <a:ext cx="3257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项目生态</a:t>
            </a:r>
            <a:endParaRPr lang="en-US" sz="495" dirty="0"/>
          </a:p>
        </p:txBody>
      </p:sp>
      <p:sp>
        <p:nvSpPr>
          <p:cNvPr id="25" name="Text 23"/>
          <p:cNvSpPr/>
          <p:nvPr/>
        </p:nvSpPr>
        <p:spPr>
          <a:xfrm>
            <a:off x="3381315" y="1416159"/>
            <a:ext cx="602361" cy="3543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9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90" dirty="0"/>
          </a:p>
        </p:txBody>
      </p:sp>
      <p:sp>
        <p:nvSpPr>
          <p:cNvPr id="26" name="Text 24"/>
          <p:cNvSpPr/>
          <p:nvPr/>
        </p:nvSpPr>
        <p:spPr>
          <a:xfrm>
            <a:off x="3661350" y="1570464"/>
            <a:ext cx="451485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亿+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81315" y="1839069"/>
            <a:ext cx="60007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414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开源仓库总数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3381315" y="1993374"/>
            <a:ext cx="2381280" cy="5715"/>
          </a:xfrm>
          <a:prstGeom prst="rect">
            <a:avLst/>
          </a:prstGeom>
          <a:solidFill>
            <a:srgbClr val="DDE0E8"/>
          </a:solidFill>
          <a:ln/>
        </p:spPr>
      </p:sp>
      <p:sp>
        <p:nvSpPr>
          <p:cNvPr id="29" name="Text 27"/>
          <p:cNvSpPr/>
          <p:nvPr/>
        </p:nvSpPr>
        <p:spPr>
          <a:xfrm>
            <a:off x="3381315" y="2044809"/>
            <a:ext cx="19778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GitHub 平台累计，覆盖所有主流编程语言与技术栈。</a:t>
            </a:r>
            <a:endParaRPr lang="en-US" sz="540" dirty="0"/>
          </a:p>
        </p:txBody>
      </p:sp>
      <p:sp>
        <p:nvSpPr>
          <p:cNvPr id="30" name="Shape 28"/>
          <p:cNvSpPr/>
          <p:nvPr/>
        </p:nvSpPr>
        <p:spPr>
          <a:xfrm>
            <a:off x="6042630" y="1113264"/>
            <a:ext cx="2689800" cy="120015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2630" y="1113264"/>
            <a:ext cx="22860" cy="11887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2" name="Text 30"/>
          <p:cNvSpPr/>
          <p:nvPr/>
        </p:nvSpPr>
        <p:spPr>
          <a:xfrm>
            <a:off x="6196935" y="1270427"/>
            <a:ext cx="122255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ENTERPRISE ADOPTION</a:t>
            </a:r>
            <a:endParaRPr lang="en-US" sz="540" dirty="0"/>
          </a:p>
        </p:txBody>
      </p:sp>
      <p:sp>
        <p:nvSpPr>
          <p:cNvPr id="33" name="Shape 31"/>
          <p:cNvSpPr/>
          <p:nvPr/>
        </p:nvSpPr>
        <p:spPr>
          <a:xfrm>
            <a:off x="8200936" y="1244709"/>
            <a:ext cx="377190" cy="137160"/>
          </a:xfrm>
          <a:prstGeom prst="roundRect">
            <a:avLst>
              <a:gd name="adj" fmla="val 41667"/>
            </a:avLst>
          </a:prstGeom>
          <a:solidFill>
            <a:srgbClr val="FF7043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58086" y="1278999"/>
            <a:ext cx="3257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23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商业渗透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6196935" y="1416159"/>
            <a:ext cx="850392" cy="3543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9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2790" dirty="0"/>
          </a:p>
        </p:txBody>
      </p:sp>
      <p:sp>
        <p:nvSpPr>
          <p:cNvPr id="36" name="Text 34"/>
          <p:cNvSpPr/>
          <p:nvPr/>
        </p:nvSpPr>
        <p:spPr>
          <a:xfrm>
            <a:off x="6688425" y="1570464"/>
            <a:ext cx="457200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%+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196935" y="1839069"/>
            <a:ext cx="51435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414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企业采用率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6196935" y="1993374"/>
            <a:ext cx="2381190" cy="5715"/>
          </a:xfrm>
          <a:prstGeom prst="rect">
            <a:avLst/>
          </a:prstGeom>
          <a:solidFill>
            <a:srgbClr val="DDE0E8"/>
          </a:solidFill>
          <a:ln/>
        </p:spPr>
      </p:sp>
      <p:sp>
        <p:nvSpPr>
          <p:cNvPr id="39" name="Text 37"/>
          <p:cNvSpPr/>
          <p:nvPr/>
        </p:nvSpPr>
        <p:spPr>
          <a:xfrm>
            <a:off x="6196935" y="2044809"/>
            <a:ext cx="18434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技术栈含开源组件的企业比例，开源已成为事实标准。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411480" y="2439144"/>
            <a:ext cx="4091940" cy="49149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2925" y="2587734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2FA7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2636312"/>
            <a:ext cx="192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828675" y="2577465"/>
            <a:ext cx="4069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用户规模</a:t>
            </a:r>
            <a:endParaRPr lang="en-US" sz="630" dirty="0"/>
          </a:p>
        </p:txBody>
      </p:sp>
      <p:sp>
        <p:nvSpPr>
          <p:cNvPr id="44" name="Text 42"/>
          <p:cNvSpPr/>
          <p:nvPr/>
        </p:nvSpPr>
        <p:spPr>
          <a:xfrm>
            <a:off x="828675" y="2703195"/>
            <a:ext cx="305318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 GitHub 活跃开发者已突破一亿，中文区活跃用户持续增长，社区参与深度不断扩展。</a:t>
            </a:r>
            <a:endParaRPr lang="en-US" sz="540" dirty="0"/>
          </a:p>
        </p:txBody>
      </p:sp>
      <p:sp>
        <p:nvSpPr>
          <p:cNvPr id="45" name="Shape 43"/>
          <p:cNvSpPr/>
          <p:nvPr/>
        </p:nvSpPr>
        <p:spPr>
          <a:xfrm>
            <a:off x="4074795" y="2524869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002FA7">
              <a:alpha val="8000"/>
            </a:srgbClr>
          </a:solidFill>
          <a:ln w="5715">
            <a:solidFill>
              <a:srgbClr val="002FA7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37660" y="2604879"/>
            <a:ext cx="2857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1亿+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157663" y="2713464"/>
            <a:ext cx="205740" cy="514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" spc="23" kern="0" dirty="0">
                <a:solidFill>
                  <a:srgbClr val="002FA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DEVS</a:t>
            </a:r>
            <a:endParaRPr lang="en-US" sz="405" dirty="0"/>
          </a:p>
        </p:txBody>
      </p:sp>
      <p:sp>
        <p:nvSpPr>
          <p:cNvPr id="48" name="Shape 46"/>
          <p:cNvSpPr/>
          <p:nvPr/>
        </p:nvSpPr>
        <p:spPr>
          <a:xfrm>
            <a:off x="4640580" y="2439144"/>
            <a:ext cx="4091940" cy="49149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2025" y="2587734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2FA7"/>
          </a:solidFill>
          <a:ln/>
        </p:spPr>
      </p:sp>
      <p:sp>
        <p:nvSpPr>
          <p:cNvPr id="50" name="Text 48"/>
          <p:cNvSpPr/>
          <p:nvPr/>
        </p:nvSpPr>
        <p:spPr>
          <a:xfrm>
            <a:off x="4814888" y="2636312"/>
            <a:ext cx="192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5057775" y="2577465"/>
            <a:ext cx="4069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项目生态</a:t>
            </a:r>
            <a:endParaRPr lang="en-US" sz="630" dirty="0"/>
          </a:p>
        </p:txBody>
      </p:sp>
      <p:sp>
        <p:nvSpPr>
          <p:cNvPr id="52" name="Text 50"/>
          <p:cNvSpPr/>
          <p:nvPr/>
        </p:nvSpPr>
        <p:spPr>
          <a:xfrm>
            <a:off x="5057775" y="2703195"/>
            <a:ext cx="33412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上开源仓库总数超过四亿，涵盖所有主流编程语言与技术栈，成为开发者首选的代码家园。</a:t>
            </a:r>
            <a:endParaRPr lang="en-US" sz="540" dirty="0"/>
          </a:p>
        </p:txBody>
      </p:sp>
      <p:sp>
        <p:nvSpPr>
          <p:cNvPr id="53" name="Shape 51"/>
          <p:cNvSpPr/>
          <p:nvPr/>
        </p:nvSpPr>
        <p:spPr>
          <a:xfrm>
            <a:off x="8303895" y="2524869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002FA7">
              <a:alpha val="8000"/>
            </a:srgbClr>
          </a:solidFill>
          <a:ln w="5715">
            <a:solidFill>
              <a:srgbClr val="002FA7">
                <a:alpha val="3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55330" y="2604879"/>
            <a:ext cx="3086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4亿+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8371046" y="2713464"/>
            <a:ext cx="237173" cy="514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" spc="23" kern="0" dirty="0">
                <a:solidFill>
                  <a:srgbClr val="002FA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</a:t>
            </a:r>
            <a:endParaRPr lang="en-US" sz="405" dirty="0"/>
          </a:p>
        </p:txBody>
      </p:sp>
      <p:sp>
        <p:nvSpPr>
          <p:cNvPr id="56" name="Shape 54"/>
          <p:cNvSpPr/>
          <p:nvPr/>
        </p:nvSpPr>
        <p:spPr>
          <a:xfrm>
            <a:off x="411480" y="2999214"/>
            <a:ext cx="4091940" cy="49149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2925" y="3147804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2FA7"/>
          </a:solidFill>
          <a:ln/>
        </p:spPr>
      </p:sp>
      <p:sp>
        <p:nvSpPr>
          <p:cNvPr id="58" name="Text 56"/>
          <p:cNvSpPr/>
          <p:nvPr/>
        </p:nvSpPr>
        <p:spPr>
          <a:xfrm>
            <a:off x="585788" y="3196382"/>
            <a:ext cx="192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59" name="Text 57"/>
          <p:cNvSpPr/>
          <p:nvPr/>
        </p:nvSpPr>
        <p:spPr>
          <a:xfrm>
            <a:off x="828675" y="3137535"/>
            <a:ext cx="4069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许可分布</a:t>
            </a:r>
            <a:endParaRPr lang="en-US" sz="630" dirty="0"/>
          </a:p>
        </p:txBody>
      </p:sp>
      <p:sp>
        <p:nvSpPr>
          <p:cNvPr id="60" name="Text 58"/>
          <p:cNvSpPr/>
          <p:nvPr/>
        </p:nvSpPr>
        <p:spPr>
          <a:xfrm>
            <a:off x="828675" y="3263265"/>
            <a:ext cx="298917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与 Apache 2.0 合计占据开源许可证选择总量的半壁江山，成为事实上的许可标准。</a:t>
            </a:r>
            <a:endParaRPr lang="en-US" sz="540" dirty="0"/>
          </a:p>
        </p:txBody>
      </p:sp>
      <p:sp>
        <p:nvSpPr>
          <p:cNvPr id="61" name="Shape 59"/>
          <p:cNvSpPr/>
          <p:nvPr/>
        </p:nvSpPr>
        <p:spPr>
          <a:xfrm>
            <a:off x="4074795" y="3084939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FF7043">
              <a:alpha val="10000"/>
            </a:srgbClr>
          </a:solidFill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26230" y="3164949"/>
            <a:ext cx="30861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4139089" y="3273534"/>
            <a:ext cx="242888" cy="514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" spc="23" kern="0" dirty="0">
                <a:solidFill>
                  <a:srgbClr val="FF7043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</a:t>
            </a:r>
            <a:endParaRPr lang="en-US" sz="405" dirty="0"/>
          </a:p>
        </p:txBody>
      </p:sp>
      <p:sp>
        <p:nvSpPr>
          <p:cNvPr id="64" name="Shape 62"/>
          <p:cNvSpPr/>
          <p:nvPr/>
        </p:nvSpPr>
        <p:spPr>
          <a:xfrm>
            <a:off x="4640580" y="2999214"/>
            <a:ext cx="4091940" cy="49149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72025" y="3147804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2FA7"/>
          </a:solidFill>
          <a:ln/>
        </p:spPr>
      </p:sp>
      <p:sp>
        <p:nvSpPr>
          <p:cNvPr id="66" name="Text 64"/>
          <p:cNvSpPr/>
          <p:nvPr/>
        </p:nvSpPr>
        <p:spPr>
          <a:xfrm>
            <a:off x="4812030" y="3196382"/>
            <a:ext cx="19431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30" dirty="0"/>
          </a:p>
        </p:txBody>
      </p:sp>
      <p:sp>
        <p:nvSpPr>
          <p:cNvPr id="67" name="Text 65"/>
          <p:cNvSpPr/>
          <p:nvPr/>
        </p:nvSpPr>
        <p:spPr>
          <a:xfrm>
            <a:off x="5057775" y="3137535"/>
            <a:ext cx="4069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商业认可</a:t>
            </a:r>
            <a:endParaRPr lang="en-US" sz="630" dirty="0"/>
          </a:p>
        </p:txBody>
      </p:sp>
      <p:sp>
        <p:nvSpPr>
          <p:cNvPr id="68" name="Text 66"/>
          <p:cNvSpPr/>
          <p:nvPr/>
        </p:nvSpPr>
        <p:spPr>
          <a:xfrm>
            <a:off x="5057775" y="3263265"/>
            <a:ext cx="289316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超过 95% 的企业技术栈包含至少一个开源组件，开源已成为数字时代的基础设施层。</a:t>
            </a:r>
            <a:endParaRPr lang="en-US" sz="540" dirty="0"/>
          </a:p>
        </p:txBody>
      </p:sp>
      <p:sp>
        <p:nvSpPr>
          <p:cNvPr id="69" name="Shape 67"/>
          <p:cNvSpPr/>
          <p:nvPr/>
        </p:nvSpPr>
        <p:spPr>
          <a:xfrm>
            <a:off x="8303895" y="3084939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FF7043">
              <a:alpha val="10000"/>
            </a:srgbClr>
          </a:solidFill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3898" y="3164949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95%+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8362474" y="3273534"/>
            <a:ext cx="254318" cy="514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" spc="23" kern="0" dirty="0">
                <a:solidFill>
                  <a:srgbClr val="FF7043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</a:t>
            </a:r>
            <a:endParaRPr lang="en-US" sz="405" dirty="0"/>
          </a:p>
        </p:txBody>
      </p:sp>
      <p:sp>
        <p:nvSpPr>
          <p:cNvPr id="72" name="Shape 70"/>
          <p:cNvSpPr/>
          <p:nvPr/>
        </p:nvSpPr>
        <p:spPr>
          <a:xfrm>
            <a:off x="411480" y="3559284"/>
            <a:ext cx="4091940" cy="49149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2925" y="3707874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2FA7"/>
          </a:solidFill>
          <a:ln/>
        </p:spPr>
      </p:sp>
      <p:sp>
        <p:nvSpPr>
          <p:cNvPr id="74" name="Text 72"/>
          <p:cNvSpPr/>
          <p:nvPr/>
        </p:nvSpPr>
        <p:spPr>
          <a:xfrm>
            <a:off x="585788" y="3756452"/>
            <a:ext cx="192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30" dirty="0"/>
          </a:p>
        </p:txBody>
      </p:sp>
      <p:sp>
        <p:nvSpPr>
          <p:cNvPr id="75" name="Text 73"/>
          <p:cNvSpPr/>
          <p:nvPr/>
        </p:nvSpPr>
        <p:spPr>
          <a:xfrm>
            <a:off x="828675" y="3697605"/>
            <a:ext cx="4069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贡献结构</a:t>
            </a:r>
            <a:endParaRPr lang="en-US" sz="630" dirty="0"/>
          </a:p>
        </p:txBody>
      </p:sp>
      <p:sp>
        <p:nvSpPr>
          <p:cNvPr id="76" name="Text 74"/>
          <p:cNvSpPr/>
          <p:nvPr/>
        </p:nvSpPr>
        <p:spPr>
          <a:xfrm>
            <a:off x="828675" y="3823335"/>
            <a:ext cx="31491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头部项目贡献高度集中，少数核心贡献者支撑了绝大部分代码产出，社区治理面临长尾失衡。</a:t>
            </a:r>
            <a:endParaRPr lang="en-US" sz="540" dirty="0"/>
          </a:p>
        </p:txBody>
      </p:sp>
      <p:sp>
        <p:nvSpPr>
          <p:cNvPr id="77" name="Shape 75"/>
          <p:cNvSpPr/>
          <p:nvPr/>
        </p:nvSpPr>
        <p:spPr>
          <a:xfrm>
            <a:off x="4074795" y="3645009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FF7043">
              <a:alpha val="10000"/>
            </a:srgbClr>
          </a:solidFill>
          <a:ln w="5715">
            <a:solidFill>
              <a:srgbClr val="FF7043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57663" y="3725019"/>
            <a:ext cx="2457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4157663" y="3833604"/>
            <a:ext cx="205740" cy="514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" spc="23" kern="0" dirty="0">
                <a:solidFill>
                  <a:srgbClr val="FF7043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405" dirty="0"/>
          </a:p>
        </p:txBody>
      </p:sp>
      <p:sp>
        <p:nvSpPr>
          <p:cNvPr id="80" name="Shape 78"/>
          <p:cNvSpPr/>
          <p:nvPr/>
        </p:nvSpPr>
        <p:spPr>
          <a:xfrm>
            <a:off x="4640580" y="3559284"/>
            <a:ext cx="4091940" cy="49149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5715">
            <a:solidFill>
              <a:srgbClr val="DDE0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72025" y="3707874"/>
            <a:ext cx="194310" cy="194310"/>
          </a:xfrm>
          <a:prstGeom prst="roundRect">
            <a:avLst>
              <a:gd name="adj" fmla="val 23529"/>
            </a:avLst>
          </a:prstGeom>
          <a:solidFill>
            <a:srgbClr val="002FA7"/>
          </a:solidFill>
          <a:ln/>
        </p:spPr>
      </p:sp>
      <p:sp>
        <p:nvSpPr>
          <p:cNvPr id="82" name="Text 80"/>
          <p:cNvSpPr/>
          <p:nvPr/>
        </p:nvSpPr>
        <p:spPr>
          <a:xfrm>
            <a:off x="4814888" y="3756452"/>
            <a:ext cx="1920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30" dirty="0"/>
          </a:p>
        </p:txBody>
      </p:sp>
      <p:sp>
        <p:nvSpPr>
          <p:cNvPr id="83" name="Text 81"/>
          <p:cNvSpPr/>
          <p:nvPr/>
        </p:nvSpPr>
        <p:spPr>
          <a:xfrm>
            <a:off x="5057775" y="3697605"/>
            <a:ext cx="40692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人才趋势</a:t>
            </a:r>
            <a:endParaRPr lang="en-US" sz="630" dirty="0"/>
          </a:p>
        </p:txBody>
      </p:sp>
      <p:sp>
        <p:nvSpPr>
          <p:cNvPr id="84" name="Text 82"/>
          <p:cNvSpPr/>
          <p:nvPr/>
        </p:nvSpPr>
        <p:spPr>
          <a:xfrm>
            <a:off x="5057775" y="3823335"/>
            <a:ext cx="31491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开源经历已成为技术招聘中的高权重加分项，企业越来越看重候选人的社区活跃度与影响力。</a:t>
            </a:r>
            <a:endParaRPr lang="en-US" sz="540" dirty="0"/>
          </a:p>
        </p:txBody>
      </p:sp>
      <p:sp>
        <p:nvSpPr>
          <p:cNvPr id="85" name="Shape 83"/>
          <p:cNvSpPr/>
          <p:nvPr/>
        </p:nvSpPr>
        <p:spPr>
          <a:xfrm>
            <a:off x="8303895" y="3645009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002FA7">
              <a:alpha val="8000"/>
            </a:srgbClr>
          </a:solidFill>
          <a:ln w="5715">
            <a:solidFill>
              <a:srgbClr val="002FA7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66760" y="3725019"/>
            <a:ext cx="2857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HR+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8352473" y="3833604"/>
            <a:ext cx="274320" cy="514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" spc="23" kern="0" dirty="0">
                <a:solidFill>
                  <a:srgbClr val="002FA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</a:t>
            </a:r>
            <a:endParaRPr lang="en-US" sz="405" dirty="0"/>
          </a:p>
        </p:txBody>
      </p:sp>
      <p:sp>
        <p:nvSpPr>
          <p:cNvPr id="88" name="Text 86"/>
          <p:cNvSpPr/>
          <p:nvPr/>
        </p:nvSpPr>
        <p:spPr>
          <a:xfrm>
            <a:off x="434340" y="4142214"/>
            <a:ext cx="174421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· GITHUB / CHAOS MESH / CNCF</a:t>
            </a:r>
            <a:endParaRPr lang="en-US" sz="495" dirty="0"/>
          </a:p>
        </p:txBody>
      </p:sp>
      <p:sp>
        <p:nvSpPr>
          <p:cNvPr id="89" name="Shape 87"/>
          <p:cNvSpPr/>
          <p:nvPr/>
        </p:nvSpPr>
        <p:spPr>
          <a:xfrm>
            <a:off x="2094548" y="4176504"/>
            <a:ext cx="5561231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2FA7"/>
              </a:gs>
              <a:gs pos="40000">
                <a:srgbClr val="0A4ED9"/>
              </a:gs>
              <a:gs pos="100000">
                <a:srgbClr val="FF7043"/>
              </a:gs>
            </a:gsLst>
            <a:lin ang="0" scaled="0"/>
          </a:gradFill>
          <a:ln/>
        </p:spPr>
      </p:sp>
      <p:sp>
        <p:nvSpPr>
          <p:cNvPr id="90" name="Text 88"/>
          <p:cNvSpPr/>
          <p:nvPr/>
        </p:nvSpPr>
        <p:spPr>
          <a:xfrm>
            <a:off x="7758648" y="4142214"/>
            <a:ext cx="13090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495" dirty="0"/>
          </a:p>
        </p:txBody>
      </p:sp>
      <p:sp>
        <p:nvSpPr>
          <p:cNvPr id="91" name="Text 89"/>
          <p:cNvSpPr/>
          <p:nvPr/>
        </p:nvSpPr>
        <p:spPr>
          <a:xfrm>
            <a:off x="7826693" y="4142214"/>
            <a:ext cx="98892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5B5B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2024 DATA SNAPSHOT</a:t>
            </a:r>
            <a:endParaRPr lang="en-US" sz="49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" cy="51435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Shape 1"/>
          <p:cNvSpPr/>
          <p:nvPr/>
        </p:nvSpPr>
        <p:spPr>
          <a:xfrm>
            <a:off x="8858250" y="0"/>
            <a:ext cx="11430" cy="5143500"/>
          </a:xfrm>
          <a:prstGeom prst="rect">
            <a:avLst/>
          </a:prstGeom>
          <a:solidFill>
            <a:srgbClr val="002FA7">
              <a:alpha val="2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12530" y="685800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537710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200400"/>
            <a:ext cx="8321040" cy="5715"/>
          </a:xfrm>
          <a:prstGeom prst="rect">
            <a:avLst/>
          </a:prstGeom>
          <a:solidFill>
            <a:srgbClr val="002FA7">
              <a:alpha val="2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471488"/>
            <a:ext cx="240030" cy="2400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" y="591503"/>
            <a:ext cx="57150" cy="5715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" y="365760"/>
            <a:ext cx="2508885" cy="4514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430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阅读思考与启示</a:t>
            </a:r>
            <a:endParaRPr lang="en-US" sz="2430" dirty="0"/>
          </a:p>
        </p:txBody>
      </p:sp>
      <p:sp>
        <p:nvSpPr>
          <p:cNvPr id="10" name="Shape 8"/>
          <p:cNvSpPr/>
          <p:nvPr/>
        </p:nvSpPr>
        <p:spPr>
          <a:xfrm>
            <a:off x="411480" y="920115"/>
            <a:ext cx="80010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045845"/>
            <a:ext cx="8833104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1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通过系统阅读三部曲，参与者获得的不只是知识增量，更是</a:t>
            </a:r>
            <a:pPr algn="l" indent="0" marL="0">
              <a:lnSpc>
                <a:spcPct val="175000"/>
              </a:lnSpc>
              <a:buNone/>
            </a:pPr>
            <a:r>
              <a:rPr lang="en-US" sz="81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一次对技术价值观的重新审视</a:t>
            </a:r>
            <a:pPr algn="l" indent="0" marL="0">
              <a:lnSpc>
                <a:spcPct val="175000"/>
              </a:lnSpc>
              <a:buNone/>
            </a:pPr>
            <a:r>
              <a:rPr lang="en-US" sz="81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。真正有价值的阅读最终要落到行动——</a:t>
            </a:r>
            <a:pPr algn="l" indent="0" marL="0">
              <a:lnSpc>
                <a:spcPct val="175000"/>
              </a:lnSpc>
              <a:buNone/>
            </a:pPr>
            <a:r>
              <a:rPr lang="en-US" sz="81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选一个社区、发一个 PR、做一点贡献</a:t>
            </a:r>
            <a:pPr algn="l" indent="0" marL="0">
              <a:lnSpc>
                <a:spcPct val="175000"/>
              </a:lnSpc>
              <a:buNone/>
            </a:pPr>
            <a:r>
              <a:rPr lang="en-US" sz="81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411480" y="1468755"/>
            <a:ext cx="20574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420178"/>
            <a:ext cx="6229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四维思考框架</a:t>
            </a:r>
            <a:endParaRPr lang="en-US" sz="585" dirty="0"/>
          </a:p>
        </p:txBody>
      </p:sp>
      <p:sp>
        <p:nvSpPr>
          <p:cNvPr id="14" name="Shape 12"/>
          <p:cNvSpPr/>
          <p:nvPr/>
        </p:nvSpPr>
        <p:spPr>
          <a:xfrm>
            <a:off x="411480" y="1643063"/>
            <a:ext cx="4229100" cy="473988"/>
          </a:xfrm>
          <a:prstGeom prst="rect">
            <a:avLst/>
          </a:prstGeom>
          <a:solidFill>
            <a:srgbClr val="FFFFFF"/>
          </a:solidFill>
          <a:ln w="22860">
            <a:solidFill>
              <a:srgbClr val="002FA7">
                <a:alpha val="2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350" y="1763078"/>
            <a:ext cx="80010" cy="8001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" y="1760220"/>
            <a:ext cx="16459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840105" y="1728788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认知升级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697230" y="1900238"/>
            <a:ext cx="4294937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三部曲阅读过程本身就是对开源认知的系统性重建，从模糊到清晰。</a:t>
            </a:r>
            <a:endParaRPr lang="en-US" sz="608" dirty="0"/>
          </a:p>
        </p:txBody>
      </p:sp>
      <p:sp>
        <p:nvSpPr>
          <p:cNvPr id="19" name="Shape 17"/>
          <p:cNvSpPr/>
          <p:nvPr/>
        </p:nvSpPr>
        <p:spPr>
          <a:xfrm>
            <a:off x="411480" y="2219920"/>
            <a:ext cx="4229100" cy="473988"/>
          </a:xfrm>
          <a:prstGeom prst="rect">
            <a:avLst/>
          </a:prstGeom>
          <a:solidFill>
            <a:srgbClr val="FFFFFF"/>
          </a:solidFill>
          <a:ln w="22860">
            <a:solidFill>
              <a:srgbClr val="FF7043">
                <a:alpha val="2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" y="2339935"/>
            <a:ext cx="80010" cy="8001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1" name="Text 19"/>
          <p:cNvSpPr/>
          <p:nvPr/>
        </p:nvSpPr>
        <p:spPr>
          <a:xfrm>
            <a:off x="697230" y="2337078"/>
            <a:ext cx="171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" dirty="0"/>
          </a:p>
        </p:txBody>
      </p:sp>
      <p:sp>
        <p:nvSpPr>
          <p:cNvPr id="22" name="Text 20"/>
          <p:cNvSpPr/>
          <p:nvPr/>
        </p:nvSpPr>
        <p:spPr>
          <a:xfrm>
            <a:off x="857250" y="2305645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行动指南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97230" y="2477095"/>
            <a:ext cx="4294937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读完不应止步于理解，而应将书中方法映射到自身技术实践与项目参与中。</a:t>
            </a:r>
            <a:endParaRPr lang="en-US" sz="608" dirty="0"/>
          </a:p>
        </p:txBody>
      </p:sp>
      <p:sp>
        <p:nvSpPr>
          <p:cNvPr id="24" name="Shape 22"/>
          <p:cNvSpPr/>
          <p:nvPr/>
        </p:nvSpPr>
        <p:spPr>
          <a:xfrm>
            <a:off x="411480" y="2796778"/>
            <a:ext cx="4229100" cy="473988"/>
          </a:xfrm>
          <a:prstGeom prst="rect">
            <a:avLst/>
          </a:prstGeom>
          <a:solidFill>
            <a:srgbClr val="FFFFFF"/>
          </a:solidFill>
          <a:ln w="22860">
            <a:solidFill>
              <a:srgbClr val="002FA7">
                <a:alpha val="2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2916793"/>
            <a:ext cx="80010" cy="8001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6" name="Text 24"/>
          <p:cNvSpPr/>
          <p:nvPr/>
        </p:nvSpPr>
        <p:spPr>
          <a:xfrm>
            <a:off x="697230" y="2913936"/>
            <a:ext cx="171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857250" y="2882503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社区归属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697230" y="3053953"/>
            <a:ext cx="4294937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找到与自己技术方向匹配的目标社区，从观察者逐步过渡到贡献者与共建者。</a:t>
            </a:r>
            <a:endParaRPr lang="en-US" sz="608" dirty="0"/>
          </a:p>
        </p:txBody>
      </p:sp>
      <p:sp>
        <p:nvSpPr>
          <p:cNvPr id="29" name="Shape 27"/>
          <p:cNvSpPr/>
          <p:nvPr/>
        </p:nvSpPr>
        <p:spPr>
          <a:xfrm>
            <a:off x="411480" y="3373636"/>
            <a:ext cx="4229100" cy="473988"/>
          </a:xfrm>
          <a:prstGeom prst="rect">
            <a:avLst/>
          </a:prstGeom>
          <a:solidFill>
            <a:srgbClr val="FFFFFF"/>
          </a:solidFill>
          <a:ln w="22860">
            <a:solidFill>
              <a:srgbClr val="FF7043">
                <a:alpha val="2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350" y="3493651"/>
            <a:ext cx="80010" cy="8001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1" name="Text 29"/>
          <p:cNvSpPr/>
          <p:nvPr/>
        </p:nvSpPr>
        <p:spPr>
          <a:xfrm>
            <a:off x="697230" y="3490793"/>
            <a:ext cx="1714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857250" y="3459361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长期主义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97230" y="3630811"/>
            <a:ext cx="4294937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开源不是短期热点而是长期事业，持续参与才能积累真正的社区影响力。</a:t>
            </a:r>
            <a:endParaRPr lang="en-US" sz="608" dirty="0"/>
          </a:p>
        </p:txBody>
      </p:sp>
      <p:sp>
        <p:nvSpPr>
          <p:cNvPr id="34" name="Shape 32"/>
          <p:cNvSpPr/>
          <p:nvPr/>
        </p:nvSpPr>
        <p:spPr>
          <a:xfrm>
            <a:off x="4914900" y="1420178"/>
            <a:ext cx="3817620" cy="2130445"/>
          </a:xfrm>
          <a:prstGeom prst="rect">
            <a:avLst/>
          </a:prstGeom>
          <a:solidFill>
            <a:srgbClr val="FFFFFF"/>
          </a:solidFill>
          <a:ln w="5715">
            <a:solidFill>
              <a:srgbClr val="002F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9185" y="1414463"/>
            <a:ext cx="342900" cy="2286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6" name="Text 34"/>
          <p:cNvSpPr/>
          <p:nvPr/>
        </p:nvSpPr>
        <p:spPr>
          <a:xfrm>
            <a:off x="5080635" y="1585913"/>
            <a:ext cx="390448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3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5080635" y="1705928"/>
            <a:ext cx="3904488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从阅读到贡献的关键落点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80635" y="1951673"/>
            <a:ext cx="3486150" cy="5715"/>
          </a:xfrm>
          <a:prstGeom prst="rect">
            <a:avLst/>
          </a:prstGeom>
          <a:solidFill>
            <a:srgbClr val="002FA7">
              <a:alpha val="27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080635" y="2105978"/>
            <a:ext cx="6743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617845" y="2128838"/>
            <a:ext cx="330281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阅读产出</a:t>
            </a:r>
            <a:endParaRPr lang="en-US" sz="495" dirty="0"/>
          </a:p>
        </p:txBody>
      </p:sp>
      <p:sp>
        <p:nvSpPr>
          <p:cNvPr id="41" name="Text 39"/>
          <p:cNvSpPr/>
          <p:nvPr/>
        </p:nvSpPr>
        <p:spPr>
          <a:xfrm>
            <a:off x="5617845" y="2248853"/>
            <a:ext cx="3302813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认知升级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行动清单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5617845" y="2411105"/>
            <a:ext cx="411480" cy="160020"/>
          </a:xfrm>
          <a:prstGeom prst="rect">
            <a:avLst/>
          </a:prstGeom>
          <a:noFill/>
          <a:ln w="5715">
            <a:solidFill>
              <a:srgbClr val="002FA7">
                <a:alpha val="27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7845" y="2411105"/>
            <a:ext cx="474345" cy="160020"/>
          </a:xfrm>
          <a:prstGeom prst="rect">
            <a:avLst/>
          </a:prstGeom>
          <a:noFill/>
          <a:ln/>
        </p:spPr>
        <p:txBody>
          <a:bodyPr wrap="none" lIns="28575" tIns="62865" rIns="62865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认知升级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6075045" y="2411105"/>
            <a:ext cx="411480" cy="160020"/>
          </a:xfrm>
          <a:prstGeom prst="rect">
            <a:avLst/>
          </a:prstGeom>
          <a:noFill/>
          <a:ln w="5715">
            <a:solidFill>
              <a:srgbClr val="002FA7">
                <a:alpha val="27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5045" y="2411105"/>
            <a:ext cx="474345" cy="160020"/>
          </a:xfrm>
          <a:prstGeom prst="rect">
            <a:avLst/>
          </a:prstGeom>
          <a:noFill/>
          <a:ln/>
        </p:spPr>
        <p:txBody>
          <a:bodyPr wrap="none" lIns="28575" tIns="62865" rIns="62865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行动清单</a:t>
            </a:r>
            <a:endParaRPr lang="en-US" sz="495" dirty="0"/>
          </a:p>
        </p:txBody>
      </p:sp>
      <p:sp>
        <p:nvSpPr>
          <p:cNvPr id="46" name="Shape 44"/>
          <p:cNvSpPr/>
          <p:nvPr/>
        </p:nvSpPr>
        <p:spPr>
          <a:xfrm>
            <a:off x="6532245" y="2411105"/>
            <a:ext cx="411480" cy="160020"/>
          </a:xfrm>
          <a:prstGeom prst="rect">
            <a:avLst/>
          </a:prstGeom>
          <a:noFill/>
          <a:ln w="5715">
            <a:solidFill>
              <a:srgbClr val="002FA7">
                <a:alpha val="27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2245" y="2411105"/>
            <a:ext cx="474345" cy="160020"/>
          </a:xfrm>
          <a:prstGeom prst="rect">
            <a:avLst/>
          </a:prstGeom>
          <a:noFill/>
          <a:ln/>
        </p:spPr>
        <p:txBody>
          <a:bodyPr wrap="none" lIns="28575" tIns="62865" rIns="62865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技术实践</a:t>
            </a:r>
            <a:endParaRPr lang="en-US" sz="495" dirty="0"/>
          </a:p>
        </p:txBody>
      </p:sp>
      <p:sp>
        <p:nvSpPr>
          <p:cNvPr id="48" name="Shape 46"/>
          <p:cNvSpPr/>
          <p:nvPr/>
        </p:nvSpPr>
        <p:spPr>
          <a:xfrm>
            <a:off x="5080635" y="2719715"/>
            <a:ext cx="3486150" cy="5715"/>
          </a:xfrm>
          <a:prstGeom prst="rect">
            <a:avLst/>
          </a:prstGeom>
          <a:solidFill>
            <a:srgbClr val="002FA7">
              <a:alpha val="27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080635" y="2874020"/>
            <a:ext cx="6743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617845" y="2896880"/>
            <a:ext cx="330281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后续建议</a:t>
            </a:r>
            <a:endParaRPr lang="en-US" sz="495" dirty="0"/>
          </a:p>
        </p:txBody>
      </p:sp>
      <p:sp>
        <p:nvSpPr>
          <p:cNvPr id="51" name="Text 49"/>
          <p:cNvSpPr/>
          <p:nvPr/>
        </p:nvSpPr>
        <p:spPr>
          <a:xfrm>
            <a:off x="5617845" y="3016895"/>
            <a:ext cx="3302813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选定目标社区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启动首次贡献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5617845" y="3179147"/>
            <a:ext cx="411480" cy="160020"/>
          </a:xfrm>
          <a:prstGeom prst="rect">
            <a:avLst/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17845" y="3179147"/>
            <a:ext cx="474345" cy="160020"/>
          </a:xfrm>
          <a:prstGeom prst="rect">
            <a:avLst/>
          </a:prstGeom>
          <a:noFill/>
          <a:ln/>
        </p:spPr>
        <p:txBody>
          <a:bodyPr wrap="none" lIns="28575" tIns="62865" rIns="62865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目标社区</a:t>
            </a:r>
            <a:endParaRPr lang="en-US" sz="495" dirty="0"/>
          </a:p>
        </p:txBody>
      </p:sp>
      <p:sp>
        <p:nvSpPr>
          <p:cNvPr id="54" name="Shape 52"/>
          <p:cNvSpPr/>
          <p:nvPr/>
        </p:nvSpPr>
        <p:spPr>
          <a:xfrm>
            <a:off x="6075045" y="3179147"/>
            <a:ext cx="411480" cy="160020"/>
          </a:xfrm>
          <a:prstGeom prst="rect">
            <a:avLst/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75045" y="3179147"/>
            <a:ext cx="474345" cy="160020"/>
          </a:xfrm>
          <a:prstGeom prst="rect">
            <a:avLst/>
          </a:prstGeom>
          <a:noFill/>
          <a:ln/>
        </p:spPr>
        <p:txBody>
          <a:bodyPr wrap="none" lIns="28575" tIns="62865" rIns="62865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首次贡献</a:t>
            </a:r>
            <a:endParaRPr lang="en-US" sz="495" dirty="0"/>
          </a:p>
        </p:txBody>
      </p:sp>
      <p:sp>
        <p:nvSpPr>
          <p:cNvPr id="56" name="Shape 54"/>
          <p:cNvSpPr/>
          <p:nvPr/>
        </p:nvSpPr>
        <p:spPr>
          <a:xfrm>
            <a:off x="6532245" y="3179147"/>
            <a:ext cx="388620" cy="160020"/>
          </a:xfrm>
          <a:prstGeom prst="rect">
            <a:avLst/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2245" y="3179147"/>
            <a:ext cx="451485" cy="160020"/>
          </a:xfrm>
          <a:prstGeom prst="rect">
            <a:avLst/>
          </a:prstGeom>
          <a:noFill/>
          <a:ln/>
        </p:spPr>
        <p:txBody>
          <a:bodyPr wrap="square" lIns="28575" tIns="62865" rIns="62865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提交</a:t>
            </a:r>
            <a:endParaRPr lang="en-US" sz="495" dirty="0"/>
          </a:p>
        </p:txBody>
      </p:sp>
      <p:sp>
        <p:nvSpPr>
          <p:cNvPr id="58" name="Shape 56"/>
          <p:cNvSpPr/>
          <p:nvPr/>
        </p:nvSpPr>
        <p:spPr>
          <a:xfrm>
            <a:off x="4914900" y="3653492"/>
            <a:ext cx="3817620" cy="285750"/>
          </a:xfrm>
          <a:prstGeom prst="rect">
            <a:avLst/>
          </a:prstGeom>
          <a:noFill/>
          <a:ln w="5715">
            <a:solidFill>
              <a:srgbClr val="002FA7">
                <a:alpha val="27000"/>
              </a:srgbClr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5012055" y="3773507"/>
            <a:ext cx="45720" cy="457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0" name="Text 58"/>
          <p:cNvSpPr/>
          <p:nvPr/>
        </p:nvSpPr>
        <p:spPr>
          <a:xfrm>
            <a:off x="5126355" y="3739217"/>
            <a:ext cx="3494837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阅读是入口，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贡献才是答案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。知识的价值不在占有，而在流动——从一个读者，到一名贡献者。</a:t>
            </a:r>
            <a:endParaRPr lang="en-US" sz="563" dirty="0"/>
          </a:p>
        </p:txBody>
      </p:sp>
      <p:sp>
        <p:nvSpPr>
          <p:cNvPr id="61" name="Shape 59"/>
          <p:cNvSpPr/>
          <p:nvPr/>
        </p:nvSpPr>
        <p:spPr>
          <a:xfrm>
            <a:off x="411480" y="4560570"/>
            <a:ext cx="8321040" cy="217170"/>
          </a:xfrm>
          <a:prstGeom prst="rect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411480" y="4560570"/>
            <a:ext cx="8321040" cy="0"/>
          </a:xfrm>
          <a:prstGeom prst="line">
            <a:avLst/>
          </a:prstGeom>
          <a:noFill/>
          <a:ln w="5715">
            <a:solidFill>
              <a:srgbClr val="002FA7">
                <a:alpha val="27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657725"/>
            <a:ext cx="60007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阅读只是起点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1005840" y="4657725"/>
            <a:ext cx="18913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10" dirty="0"/>
          </a:p>
        </p:txBody>
      </p:sp>
      <p:sp>
        <p:nvSpPr>
          <p:cNvPr id="65" name="Text 63"/>
          <p:cNvSpPr/>
          <p:nvPr/>
        </p:nvSpPr>
        <p:spPr>
          <a:xfrm>
            <a:off x="1172111" y="4669155"/>
            <a:ext cx="96012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行动，让知识真正发生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7572375" y="4677728"/>
            <a:ext cx="129936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5A5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· ACTION · IMPACT</a:t>
            </a:r>
            <a:endParaRPr lang="en-US" sz="4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FA7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69055" y="34290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4" name="Text 2"/>
          <p:cNvSpPr/>
          <p:nvPr/>
        </p:nvSpPr>
        <p:spPr>
          <a:xfrm>
            <a:off x="3949065" y="317183"/>
            <a:ext cx="139537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10 · CLOSING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5240655" y="34290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6" name="Text 4"/>
          <p:cNvSpPr/>
          <p:nvPr/>
        </p:nvSpPr>
        <p:spPr>
          <a:xfrm>
            <a:off x="400050" y="494348"/>
            <a:ext cx="9345168" cy="315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70" b="1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继续阅读</a:t>
            </a:r>
            <a:pPr algn="ctr" indent="0" marL="0">
              <a:lnSpc>
                <a:spcPct val="120000"/>
              </a:lnSpc>
              <a:buNone/>
            </a:pPr>
            <a:r>
              <a:rPr lang="en-US" sz="2070" b="1" spc="18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ctr" indent="0" marL="0">
              <a:lnSpc>
                <a:spcPct val="120000"/>
              </a:lnSpc>
              <a:buNone/>
            </a:pPr>
            <a:r>
              <a:rPr lang="en-US" sz="2070" b="1" spc="18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传递开源</a:t>
            </a:r>
            <a:endParaRPr lang="en-US" sz="2070" dirty="0"/>
          </a:p>
        </p:txBody>
      </p:sp>
      <p:sp>
        <p:nvSpPr>
          <p:cNvPr id="7" name="Text 5"/>
          <p:cNvSpPr/>
          <p:nvPr/>
        </p:nvSpPr>
        <p:spPr>
          <a:xfrm>
            <a:off x="400050" y="866894"/>
            <a:ext cx="934516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spc="90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让开源精神在更多社区生根发芽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400550" y="1072634"/>
            <a:ext cx="342900" cy="17145"/>
          </a:xfrm>
          <a:prstGeom prst="roundRect">
            <a:avLst>
              <a:gd name="adj" fmla="val 66667"/>
            </a:avLst>
          </a:prstGeom>
          <a:solidFill>
            <a:srgbClr val="FF7043"/>
          </a:solidFill>
          <a:ln/>
        </p:spPr>
      </p:sp>
      <p:sp>
        <p:nvSpPr>
          <p:cNvPr id="9" name="Shape 7"/>
          <p:cNvSpPr/>
          <p:nvPr/>
        </p:nvSpPr>
        <p:spPr>
          <a:xfrm>
            <a:off x="2754630" y="1272659"/>
            <a:ext cx="363474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002FA7"/>
              </a:gs>
              <a:gs pos="100000">
                <a:srgbClr val="1A4FD6"/>
              </a:gs>
            </a:gsLst>
            <a:lin ang="2700000" scaled="0"/>
          </a:gradFill>
          <a:ln/>
          <a:effectLst>
            <a:outerShdw sx="100000" sy="100000" kx="0" ky="0" algn="bl" rotWithShape="0" blurRad="304800" dist="76200" dir="16200000">
              <a:srgbClr val="002FA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986909"/>
            <a:ext cx="1143000" cy="1143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83180" y="1466969"/>
            <a:ext cx="571500" cy="571500"/>
          </a:xfrm>
          <a:prstGeom prst="ellipse">
            <a:avLst/>
          </a:prstGeom>
          <a:solidFill>
            <a:srgbClr val="FF7043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983230" y="1409819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3240" y="1489829"/>
            <a:ext cx="160020" cy="1600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440430" y="1419820"/>
            <a:ext cx="2534717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每一个阅读者，都是开源文化的传播节点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40430" y="1608415"/>
            <a:ext cx="2534717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85" spc="45" kern="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分享你的阅读笔记与心得，让知识的火种在更多角落点亮</a:t>
            </a:r>
            <a:endParaRPr lang="en-US" sz="585" dirty="0"/>
          </a:p>
        </p:txBody>
      </p:sp>
      <p:sp>
        <p:nvSpPr>
          <p:cNvPr id="16" name="Shape 13"/>
          <p:cNvSpPr/>
          <p:nvPr/>
        </p:nvSpPr>
        <p:spPr>
          <a:xfrm>
            <a:off x="5840730" y="1409819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0740" y="1489829"/>
            <a:ext cx="160020" cy="1600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143000" y="1958459"/>
            <a:ext cx="2217420" cy="873145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5715">
            <a:solidFill>
              <a:srgbClr val="002FA7">
                <a:alpha val="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43000" y="1958459"/>
            <a:ext cx="22860" cy="861713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0" name="Shape 16"/>
          <p:cNvSpPr/>
          <p:nvPr/>
        </p:nvSpPr>
        <p:spPr>
          <a:xfrm>
            <a:off x="1263015" y="2101334"/>
            <a:ext cx="171450" cy="114300"/>
          </a:xfrm>
          <a:prstGeom prst="roundRect">
            <a:avLst>
              <a:gd name="adj" fmla="val 20000"/>
            </a:avLst>
          </a:prstGeom>
          <a:solidFill>
            <a:srgbClr val="002FA7">
              <a:alpha val="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1263015" y="2101334"/>
            <a:ext cx="23431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22" name="Shape 18"/>
          <p:cNvSpPr/>
          <p:nvPr/>
        </p:nvSpPr>
        <p:spPr>
          <a:xfrm>
            <a:off x="1491615" y="206704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2FA7">
              <a:alpha val="8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7335" y="2112764"/>
            <a:ext cx="91440" cy="914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1645" y="2098477"/>
            <a:ext cx="4514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行动呼吁</a:t>
            </a:r>
            <a:endParaRPr lang="en-US" sz="675" dirty="0"/>
          </a:p>
        </p:txBody>
      </p:sp>
      <p:sp>
        <p:nvSpPr>
          <p:cNvPr id="25" name="Text 20"/>
          <p:cNvSpPr/>
          <p:nvPr/>
        </p:nvSpPr>
        <p:spPr>
          <a:xfrm>
            <a:off x="1263015" y="2307074"/>
            <a:ext cx="221467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每位阅读者都是开源文化的传播节点，分享你的阅读笔记与心得，让开源精神在传递中不断延续。</a:t>
            </a:r>
            <a:endParaRPr lang="en-US" sz="540" dirty="0"/>
          </a:p>
        </p:txBody>
      </p:sp>
      <p:sp>
        <p:nvSpPr>
          <p:cNvPr id="26" name="Shape 21"/>
          <p:cNvSpPr/>
          <p:nvPr/>
        </p:nvSpPr>
        <p:spPr>
          <a:xfrm>
            <a:off x="1263015" y="2597289"/>
            <a:ext cx="937260" cy="125730"/>
          </a:xfrm>
          <a:prstGeom prst="roundRect">
            <a:avLst>
              <a:gd name="adj" fmla="val 18182"/>
            </a:avLst>
          </a:prstGeom>
          <a:solidFill>
            <a:srgbClr val="002FA7">
              <a:alpha val="6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1263015" y="2597289"/>
            <a:ext cx="1049731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YOUR INSIGHTS</a:t>
            </a:r>
            <a:endParaRPr lang="en-US" sz="495" dirty="0"/>
          </a:p>
        </p:txBody>
      </p:sp>
      <p:sp>
        <p:nvSpPr>
          <p:cNvPr id="28" name="Shape 23"/>
          <p:cNvSpPr/>
          <p:nvPr/>
        </p:nvSpPr>
        <p:spPr>
          <a:xfrm>
            <a:off x="3463290" y="1958459"/>
            <a:ext cx="2217420" cy="873145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5715">
            <a:solidFill>
              <a:srgbClr val="002FA7">
                <a:alpha val="8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463290" y="1958459"/>
            <a:ext cx="22860" cy="861713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0" name="Shape 25"/>
          <p:cNvSpPr/>
          <p:nvPr/>
        </p:nvSpPr>
        <p:spPr>
          <a:xfrm>
            <a:off x="3583305" y="2101334"/>
            <a:ext cx="182880" cy="114300"/>
          </a:xfrm>
          <a:prstGeom prst="roundRect">
            <a:avLst>
              <a:gd name="adj" fmla="val 20000"/>
            </a:avLst>
          </a:prstGeom>
          <a:solidFill>
            <a:srgbClr val="FF7043">
              <a:alpha val="1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3583305" y="2101334"/>
            <a:ext cx="24574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32" name="Shape 27"/>
          <p:cNvSpPr/>
          <p:nvPr/>
        </p:nvSpPr>
        <p:spPr>
          <a:xfrm>
            <a:off x="3823335" y="206704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F7043">
              <a:alpha val="10000"/>
            </a:srgb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9055" y="2112764"/>
            <a:ext cx="91440" cy="914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063365" y="2098477"/>
            <a:ext cx="4514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下期预告</a:t>
            </a:r>
            <a:endParaRPr lang="en-US" sz="675" dirty="0"/>
          </a:p>
        </p:txBody>
      </p:sp>
      <p:sp>
        <p:nvSpPr>
          <p:cNvPr id="35" name="Text 29"/>
          <p:cNvSpPr/>
          <p:nvPr/>
        </p:nvSpPr>
        <p:spPr>
          <a:xfrm>
            <a:off x="3583305" y="2307074"/>
            <a:ext cx="221467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下期将聚焦 AI 时代的开源治理变革，欢迎提前准备讨论议题，一起探索开源与人工智能的交汇点。</a:t>
            </a:r>
            <a:endParaRPr lang="en-US" sz="540" dirty="0"/>
          </a:p>
        </p:txBody>
      </p:sp>
      <p:sp>
        <p:nvSpPr>
          <p:cNvPr id="36" name="Shape 30"/>
          <p:cNvSpPr/>
          <p:nvPr/>
        </p:nvSpPr>
        <p:spPr>
          <a:xfrm>
            <a:off x="3583305" y="2597289"/>
            <a:ext cx="788670" cy="125730"/>
          </a:xfrm>
          <a:prstGeom prst="roundRect">
            <a:avLst>
              <a:gd name="adj" fmla="val 18182"/>
            </a:avLst>
          </a:prstGeom>
          <a:solidFill>
            <a:srgbClr val="FF7043">
              <a:alpha val="8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3583305" y="2597289"/>
            <a:ext cx="883310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× OPEN SOURCE</a:t>
            </a:r>
            <a:endParaRPr lang="en-US" sz="495" dirty="0"/>
          </a:p>
        </p:txBody>
      </p:sp>
      <p:sp>
        <p:nvSpPr>
          <p:cNvPr id="38" name="Shape 32"/>
          <p:cNvSpPr/>
          <p:nvPr/>
        </p:nvSpPr>
        <p:spPr>
          <a:xfrm>
            <a:off x="5783580" y="1958459"/>
            <a:ext cx="2217420" cy="873145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5715">
            <a:solidFill>
              <a:srgbClr val="002FA7">
                <a:alpha val="8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783580" y="1958459"/>
            <a:ext cx="22860" cy="861713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0" name="Shape 34"/>
          <p:cNvSpPr/>
          <p:nvPr/>
        </p:nvSpPr>
        <p:spPr>
          <a:xfrm>
            <a:off x="5903595" y="2101334"/>
            <a:ext cx="182880" cy="114300"/>
          </a:xfrm>
          <a:prstGeom prst="roundRect">
            <a:avLst>
              <a:gd name="adj" fmla="val 20000"/>
            </a:avLst>
          </a:prstGeom>
          <a:solidFill>
            <a:srgbClr val="002FA7">
              <a:alpha val="8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5903595" y="2101334"/>
            <a:ext cx="24574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42" name="Shape 36"/>
          <p:cNvSpPr/>
          <p:nvPr/>
        </p:nvSpPr>
        <p:spPr>
          <a:xfrm>
            <a:off x="6143625" y="206704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2FA7">
              <a:alpha val="8000"/>
            </a:srgbClr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9345" y="2112764"/>
            <a:ext cx="91440" cy="9144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383655" y="2098477"/>
            <a:ext cx="4514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联系我们</a:t>
            </a:r>
            <a:endParaRPr lang="en-US" sz="675" dirty="0"/>
          </a:p>
        </p:txBody>
      </p:sp>
      <p:sp>
        <p:nvSpPr>
          <p:cNvPr id="45" name="Text 38"/>
          <p:cNvSpPr/>
          <p:nvPr/>
        </p:nvSpPr>
        <p:spPr>
          <a:xfrm>
            <a:off x="5903595" y="2307074"/>
            <a:ext cx="2214677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加入开源之友社区，与同好一起持续阅读与共同成长，在开放的对话中碰撞出更多的灵感火花。</a:t>
            </a:r>
            <a:endParaRPr lang="en-US" sz="540" dirty="0"/>
          </a:p>
        </p:txBody>
      </p:sp>
      <p:sp>
        <p:nvSpPr>
          <p:cNvPr id="46" name="Shape 39"/>
          <p:cNvSpPr/>
          <p:nvPr/>
        </p:nvSpPr>
        <p:spPr>
          <a:xfrm>
            <a:off x="5903595" y="2597289"/>
            <a:ext cx="920115" cy="125730"/>
          </a:xfrm>
          <a:prstGeom prst="roundRect">
            <a:avLst>
              <a:gd name="adj" fmla="val 18182"/>
            </a:avLst>
          </a:prstGeom>
          <a:solidFill>
            <a:srgbClr val="002FA7">
              <a:alpha val="6000"/>
            </a:srgbClr>
          </a:solidFill>
          <a:ln/>
        </p:spPr>
      </p:sp>
      <p:sp>
        <p:nvSpPr>
          <p:cNvPr id="47" name="Text 40"/>
          <p:cNvSpPr/>
          <p:nvPr/>
        </p:nvSpPr>
        <p:spPr>
          <a:xfrm>
            <a:off x="5903595" y="2597289"/>
            <a:ext cx="1030529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COMMUNITY</a:t>
            </a:r>
            <a:endParaRPr lang="en-US" sz="495" dirty="0"/>
          </a:p>
        </p:txBody>
      </p:sp>
      <p:sp>
        <p:nvSpPr>
          <p:cNvPr id="48" name="Shape 41"/>
          <p:cNvSpPr/>
          <p:nvPr/>
        </p:nvSpPr>
        <p:spPr>
          <a:xfrm>
            <a:off x="2994660" y="2923044"/>
            <a:ext cx="1583055" cy="257175"/>
          </a:xfrm>
          <a:prstGeom prst="roundRect">
            <a:avLst>
              <a:gd name="adj" fmla="val 88889"/>
            </a:avLst>
          </a:prstGeom>
          <a:solidFill>
            <a:srgbClr val="FFFFFF"/>
          </a:solidFill>
          <a:ln w="5715">
            <a:solidFill>
              <a:srgbClr val="002FA7">
                <a:alpha val="10000"/>
              </a:srgbClr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137535" y="3005911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下期主题</a:t>
            </a:r>
            <a:endParaRPr lang="en-US" sz="495" dirty="0"/>
          </a:p>
        </p:txBody>
      </p:sp>
      <p:sp>
        <p:nvSpPr>
          <p:cNvPr id="50" name="Shape 43"/>
          <p:cNvSpPr/>
          <p:nvPr/>
        </p:nvSpPr>
        <p:spPr>
          <a:xfrm>
            <a:off x="3514725" y="3000196"/>
            <a:ext cx="5715" cy="102870"/>
          </a:xfrm>
          <a:prstGeom prst="rect">
            <a:avLst/>
          </a:prstGeom>
          <a:solidFill>
            <a:srgbClr val="002FA7">
              <a:alpha val="15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3600450" y="2997339"/>
            <a:ext cx="934517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时代的开源治理变革</a:t>
            </a:r>
            <a:endParaRPr lang="en-US" sz="585" dirty="0"/>
          </a:p>
        </p:txBody>
      </p:sp>
      <p:sp>
        <p:nvSpPr>
          <p:cNvPr id="52" name="Shape 45"/>
          <p:cNvSpPr/>
          <p:nvPr/>
        </p:nvSpPr>
        <p:spPr>
          <a:xfrm>
            <a:off x="4920615" y="2923044"/>
            <a:ext cx="1228725" cy="257175"/>
          </a:xfrm>
          <a:prstGeom prst="roundRect">
            <a:avLst>
              <a:gd name="adj" fmla="val 88889"/>
            </a:avLst>
          </a:prstGeom>
          <a:solidFill>
            <a:srgbClr val="FFFFFF"/>
          </a:solidFill>
          <a:ln w="5715">
            <a:solidFill>
              <a:srgbClr val="002FA7">
                <a:alpha val="10000"/>
              </a:srgbClr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5063490" y="3005911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社区入口</a:t>
            </a:r>
            <a:endParaRPr lang="en-US" sz="495" dirty="0"/>
          </a:p>
        </p:txBody>
      </p:sp>
      <p:sp>
        <p:nvSpPr>
          <p:cNvPr id="54" name="Shape 47"/>
          <p:cNvSpPr/>
          <p:nvPr/>
        </p:nvSpPr>
        <p:spPr>
          <a:xfrm>
            <a:off x="5440680" y="3000196"/>
            <a:ext cx="5715" cy="102870"/>
          </a:xfrm>
          <a:prstGeom prst="rect">
            <a:avLst/>
          </a:prstGeom>
          <a:solidFill>
            <a:srgbClr val="002FA7">
              <a:alpha val="15000"/>
            </a:srgbClr>
          </a:solidFill>
          <a:ln/>
        </p:spPr>
      </p:sp>
      <p:sp>
        <p:nvSpPr>
          <p:cNvPr id="55" name="Text 48"/>
          <p:cNvSpPr/>
          <p:nvPr/>
        </p:nvSpPr>
        <p:spPr>
          <a:xfrm>
            <a:off x="5526405" y="2997339"/>
            <a:ext cx="55435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开源之友社区</a:t>
            </a:r>
            <a:endParaRPr lang="en-US" sz="585" dirty="0"/>
          </a:p>
        </p:txBody>
      </p:sp>
      <p:sp>
        <p:nvSpPr>
          <p:cNvPr id="56" name="Shape 49"/>
          <p:cNvSpPr/>
          <p:nvPr/>
        </p:nvSpPr>
        <p:spPr>
          <a:xfrm>
            <a:off x="4457700" y="3260229"/>
            <a:ext cx="228600" cy="5715"/>
          </a:xfrm>
          <a:prstGeom prst="rect">
            <a:avLst/>
          </a:prstGeom>
          <a:solidFill>
            <a:srgbClr val="002FA7">
              <a:alpha val="20000"/>
            </a:srgbClr>
          </a:solidFill>
          <a:ln/>
        </p:spPr>
      </p:sp>
      <p:sp>
        <p:nvSpPr>
          <p:cNvPr id="57" name="Text 50"/>
          <p:cNvSpPr/>
          <p:nvPr/>
        </p:nvSpPr>
        <p:spPr>
          <a:xfrm>
            <a:off x="2000250" y="3334524"/>
            <a:ext cx="5760720" cy="1234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540" spc="45" kern="0" dirty="0">
                <a:solidFill>
                  <a:srgbClr val="4A4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开源之道的阅读旅程没有终点。每一次分享都是一次精神的传递，愿今天的讨论能成为更多人踏入开源世界的第一块基石。期待在下期分享中与你重逢。</a:t>
            </a:r>
            <a:endParaRPr lang="en-US" sz="540" dirty="0"/>
          </a:p>
        </p:txBody>
      </p:sp>
      <p:sp>
        <p:nvSpPr>
          <p:cNvPr id="58" name="Text 51"/>
          <p:cNvSpPr/>
          <p:nvPr/>
        </p:nvSpPr>
        <p:spPr>
          <a:xfrm>
            <a:off x="3348990" y="3523655"/>
            <a:ext cx="56327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35" kern="0" dirty="0">
                <a:solidFill>
                  <a:srgbClr val="002FA7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50" dirty="0"/>
          </a:p>
        </p:txBody>
      </p:sp>
      <p:sp>
        <p:nvSpPr>
          <p:cNvPr id="59" name="Shape 52"/>
          <p:cNvSpPr/>
          <p:nvPr/>
        </p:nvSpPr>
        <p:spPr>
          <a:xfrm>
            <a:off x="3943350" y="3546515"/>
            <a:ext cx="22860" cy="22860"/>
          </a:xfrm>
          <a:prstGeom prst="ellipse">
            <a:avLst/>
          </a:prstGeom>
          <a:solidFill>
            <a:srgbClr val="002FA7">
              <a:alpha val="30000"/>
            </a:srgbClr>
          </a:solidFill>
          <a:ln/>
        </p:spPr>
      </p:sp>
      <p:sp>
        <p:nvSpPr>
          <p:cNvPr id="60" name="Text 53"/>
          <p:cNvSpPr/>
          <p:nvPr/>
        </p:nvSpPr>
        <p:spPr>
          <a:xfrm>
            <a:off x="4057650" y="3515082"/>
            <a:ext cx="72969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35" kern="0" dirty="0">
                <a:solidFill>
                  <a:srgbClr val="002FA7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· 共享 · 共创</a:t>
            </a:r>
            <a:endParaRPr lang="en-US" sz="450" dirty="0"/>
          </a:p>
        </p:txBody>
      </p:sp>
      <p:sp>
        <p:nvSpPr>
          <p:cNvPr id="61" name="Shape 54"/>
          <p:cNvSpPr/>
          <p:nvPr/>
        </p:nvSpPr>
        <p:spPr>
          <a:xfrm>
            <a:off x="4800600" y="3546515"/>
            <a:ext cx="22860" cy="22860"/>
          </a:xfrm>
          <a:prstGeom prst="ellipse">
            <a:avLst/>
          </a:prstGeom>
          <a:solidFill>
            <a:srgbClr val="002FA7">
              <a:alpha val="30000"/>
            </a:srgbClr>
          </a:solidFill>
          <a:ln/>
        </p:spPr>
      </p:sp>
      <p:sp>
        <p:nvSpPr>
          <p:cNvPr id="62" name="Text 55"/>
          <p:cNvSpPr/>
          <p:nvPr/>
        </p:nvSpPr>
        <p:spPr>
          <a:xfrm>
            <a:off x="4914900" y="3523655"/>
            <a:ext cx="98572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135" kern="0" dirty="0">
                <a:solidFill>
                  <a:srgbClr val="002FA7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YOU NEXT TIME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2026-08-28T04:57:58Z</dcterms:created>
  <dcterms:modified xsi:type="dcterms:W3CDTF">2026-08-28T04:57:58Z</dcterms:modified>
</cp:coreProperties>
</file>