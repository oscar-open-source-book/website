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借阅量</c:v>
                </c:pt>
              </c:strCache>
            </c:strRef>
          </c:tx>
          <c:spPr>
            <a:solidFill>
              <a:srgbClr val="5470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96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70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1CC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AC85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E66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3C0D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第1月</c:v>
                  </c:pt>
                  <c:pt idx="1">
                    <c:v>第2月</c:v>
                  </c:pt>
                  <c:pt idx="2">
                    <c:v>第3月</c:v>
                  </c:pt>
                  <c:pt idx="3">
                    <c:v>第4月</c:v>
                  </c:pt>
                  <c:pt idx="4">
                    <c:v>第5月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180</c:v>
                </c:pt>
                <c:pt idx="2">
                  <c:v>240</c:v>
                </c:pt>
                <c:pt idx="3">
                  <c:v>210</c:v>
                </c:pt>
                <c:pt idx="4">
                  <c:v>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96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A4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2A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6E707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Pt>
            <c:idx val="2"/>
            <c:bubble3D val="0"/>
            <c:spPr>
              <a:solidFill>
                <a:srgbClr val="4FC3F7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0E0E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0E0E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0E0E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在校学生</c:v>
                </c:pt>
                <c:pt idx="1">
                  <c:v>一线工程师</c:v>
                </c:pt>
                <c:pt idx="2">
                  <c:v>开源项目维护者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</c:ser>
        <c:firstSliceAng val="0"/>
        <c:holeSize val="4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E0E0E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457450" y="342900"/>
            <a:ext cx="4229100" cy="765810"/>
          </a:xfrm>
          <a:prstGeom prst="roundRect">
            <a:avLst>
              <a:gd name="adj" fmla="val 5970"/>
            </a:avLst>
          </a:prstGeom>
          <a:solidFill>
            <a:srgbClr val="2196F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86050" y="377190"/>
            <a:ext cx="4343400" cy="691515"/>
          </a:xfrm>
          <a:prstGeom prst="rect">
            <a:avLst/>
          </a:prstGeom>
          <a:noFill/>
          <a:ln/>
          <a:effectLst>
            <a:outerShdw sx="100000" sy="100000" kx="0" ky="0" algn="bl" rotWithShape="0" blurRad="137160" dist="50800" dir="5400000">
              <a:srgbClr val="2196F3">
                <a:alpha val="10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500" b="1" spc="45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开源之书记录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2471738" y="1337310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2928938" y="1325880"/>
            <a:ext cx="3680460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spc="135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2023年02月 · The Fascinating OS Author 阅读分享</a:t>
            </a:r>
            <a:endParaRPr lang="en-US" sz="765" dirty="0"/>
          </a:p>
        </p:txBody>
      </p:sp>
      <p:sp>
        <p:nvSpPr>
          <p:cNvPr id="7" name="Shape 5"/>
          <p:cNvSpPr/>
          <p:nvPr/>
        </p:nvSpPr>
        <p:spPr>
          <a:xfrm>
            <a:off x="6329363" y="1337310"/>
            <a:ext cx="3429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342900" y="2048649"/>
            <a:ext cx="2823210" cy="876627"/>
          </a:xfrm>
          <a:prstGeom prst="roundRect">
            <a:avLst>
              <a:gd name="adj" fmla="val 7823"/>
            </a:avLst>
          </a:prstGeom>
          <a:solidFill>
            <a:srgbClr val="0A1628">
              <a:alpha val="72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" y="2048649"/>
            <a:ext cx="28117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497205" y="2191524"/>
            <a:ext cx="64648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TOPIC</a:t>
            </a:r>
            <a:endParaRPr lang="en-US" sz="540" dirty="0"/>
          </a:p>
        </p:txBody>
      </p:sp>
      <p:sp>
        <p:nvSpPr>
          <p:cNvPr id="11" name="Shape 9"/>
          <p:cNvSpPr/>
          <p:nvPr/>
        </p:nvSpPr>
        <p:spPr>
          <a:xfrm>
            <a:off x="497205" y="2334399"/>
            <a:ext cx="2514600" cy="234315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497205" y="2568714"/>
            <a:ext cx="251460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205" y="2357259"/>
            <a:ext cx="60007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分享主题</a:t>
            </a:r>
            <a:endParaRPr lang="en-US" sz="945" dirty="0"/>
          </a:p>
        </p:txBody>
      </p:sp>
      <p:sp>
        <p:nvSpPr>
          <p:cNvPr id="14" name="Text 12"/>
          <p:cNvSpPr/>
          <p:nvPr/>
        </p:nvSpPr>
        <p:spPr>
          <a:xfrm>
            <a:off x="497205" y="2660154"/>
            <a:ext cx="2329891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围绕开源布道精神与阅读分享，探索优秀开源作者的写作世界。</a:t>
            </a:r>
            <a:endParaRPr lang="en-US" sz="585" dirty="0"/>
          </a:p>
        </p:txBody>
      </p:sp>
      <p:sp>
        <p:nvSpPr>
          <p:cNvPr id="15" name="Shape 13"/>
          <p:cNvSpPr/>
          <p:nvPr/>
        </p:nvSpPr>
        <p:spPr>
          <a:xfrm>
            <a:off x="3291840" y="2048649"/>
            <a:ext cx="2823210" cy="876627"/>
          </a:xfrm>
          <a:prstGeom prst="roundRect">
            <a:avLst>
              <a:gd name="adj" fmla="val 7823"/>
            </a:avLst>
          </a:prstGeom>
          <a:solidFill>
            <a:srgbClr val="0A1628">
              <a:alpha val="72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048649"/>
            <a:ext cx="28117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3446145" y="2191524"/>
            <a:ext cx="6057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ROLE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3446145" y="2334399"/>
            <a:ext cx="2514600" cy="234315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3446145" y="2568714"/>
            <a:ext cx="251460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6145" y="2357259"/>
            <a:ext cx="60007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分享角色</a:t>
            </a:r>
            <a:endParaRPr lang="en-US" sz="945" dirty="0"/>
          </a:p>
        </p:txBody>
      </p:sp>
      <p:sp>
        <p:nvSpPr>
          <p:cNvPr id="21" name="Text 19"/>
          <p:cNvSpPr/>
          <p:nvPr/>
        </p:nvSpPr>
        <p:spPr>
          <a:xfrm>
            <a:off x="3446145" y="2660154"/>
            <a:ext cx="2381098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由开源之道·适兕担任本期主讲，聚焦英文技术原著与译作推荐。</a:t>
            </a:r>
            <a:endParaRPr lang="en-US" sz="585" dirty="0"/>
          </a:p>
        </p:txBody>
      </p:sp>
      <p:sp>
        <p:nvSpPr>
          <p:cNvPr id="22" name="Shape 20"/>
          <p:cNvSpPr/>
          <p:nvPr/>
        </p:nvSpPr>
        <p:spPr>
          <a:xfrm>
            <a:off x="6240780" y="2048649"/>
            <a:ext cx="2823210" cy="876627"/>
          </a:xfrm>
          <a:prstGeom prst="roundRect">
            <a:avLst>
              <a:gd name="adj" fmla="val 7823"/>
            </a:avLst>
          </a:prstGeom>
          <a:solidFill>
            <a:srgbClr val="0A1628">
              <a:alpha val="72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40780" y="2048649"/>
            <a:ext cx="281178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Text 22"/>
          <p:cNvSpPr/>
          <p:nvPr/>
        </p:nvSpPr>
        <p:spPr>
          <a:xfrm>
            <a:off x="6395085" y="2191524"/>
            <a:ext cx="78089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FORMAT</a:t>
            </a:r>
            <a:endParaRPr lang="en-US" sz="540" dirty="0"/>
          </a:p>
        </p:txBody>
      </p:sp>
      <p:sp>
        <p:nvSpPr>
          <p:cNvPr id="25" name="Shape 23"/>
          <p:cNvSpPr/>
          <p:nvPr/>
        </p:nvSpPr>
        <p:spPr>
          <a:xfrm>
            <a:off x="6395085" y="2334399"/>
            <a:ext cx="2514600" cy="234315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395085" y="2568714"/>
            <a:ext cx="2514600" cy="0"/>
          </a:xfrm>
          <a:prstGeom prst="line">
            <a:avLst/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5085" y="2357259"/>
            <a:ext cx="60007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分享形式</a:t>
            </a:r>
            <a:endParaRPr lang="en-US" sz="945" dirty="0"/>
          </a:p>
        </p:txBody>
      </p:sp>
      <p:sp>
        <p:nvSpPr>
          <p:cNvPr id="28" name="Text 26"/>
          <p:cNvSpPr/>
          <p:nvPr/>
        </p:nvSpPr>
        <p:spPr>
          <a:xfrm>
            <a:off x="6395085" y="2660154"/>
            <a:ext cx="2496312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结合书籍摘要、作者背景、社区影响与个人阅读笔记进行深度拆解。</a:t>
            </a:r>
            <a:endParaRPr lang="en-US" sz="585" dirty="0"/>
          </a:p>
        </p:txBody>
      </p:sp>
      <p:sp>
        <p:nvSpPr>
          <p:cNvPr id="29" name="Text 27"/>
          <p:cNvSpPr/>
          <p:nvPr/>
        </p:nvSpPr>
        <p:spPr>
          <a:xfrm>
            <a:off x="342900" y="3848160"/>
            <a:ext cx="3600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分享期次</a:t>
            </a:r>
            <a:endParaRPr lang="en-US" sz="495" dirty="0"/>
          </a:p>
        </p:txBody>
      </p:sp>
      <p:sp>
        <p:nvSpPr>
          <p:cNvPr id="30" name="Text 28"/>
          <p:cNvSpPr/>
          <p:nvPr/>
        </p:nvSpPr>
        <p:spPr>
          <a:xfrm>
            <a:off x="342900" y="3951030"/>
            <a:ext cx="49149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2023-02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925830" y="3848160"/>
            <a:ext cx="36004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分享平台</a:t>
            </a:r>
            <a:endParaRPr lang="en-US" sz="495" dirty="0"/>
          </a:p>
        </p:txBody>
      </p:sp>
      <p:sp>
        <p:nvSpPr>
          <p:cNvPr id="32" name="Text 30"/>
          <p:cNvSpPr/>
          <p:nvPr/>
        </p:nvSpPr>
        <p:spPr>
          <a:xfrm>
            <a:off x="925830" y="3962460"/>
            <a:ext cx="45720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474470" y="3848160"/>
            <a:ext cx="2857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主讲人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1474470" y="3962460"/>
            <a:ext cx="27432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7943850" y="3796725"/>
            <a:ext cx="8572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36" name="Shape 34"/>
          <p:cNvSpPr/>
          <p:nvPr/>
        </p:nvSpPr>
        <p:spPr>
          <a:xfrm>
            <a:off x="8201025" y="3939600"/>
            <a:ext cx="600075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7" name="Shape 35"/>
          <p:cNvSpPr/>
          <p:nvPr/>
        </p:nvSpPr>
        <p:spPr>
          <a:xfrm>
            <a:off x="8218170" y="3505260"/>
            <a:ext cx="582930" cy="582930"/>
          </a:xfrm>
          <a:prstGeom prst="ellipse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2470" y="3619560"/>
            <a:ext cx="354330" cy="354330"/>
          </a:xfrm>
          <a:prstGeom prst="ellipse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41055" y="3728145"/>
            <a:ext cx="148590" cy="148590"/>
          </a:xfrm>
          <a:prstGeom prst="ellipse">
            <a:avLst/>
          </a:prstGeom>
          <a:solidFill>
            <a:srgbClr val="00BCD4">
              <a:alpha val="85000"/>
            </a:srgbClr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43850" y="3562410"/>
            <a:ext cx="22860" cy="228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26730" y="3791010"/>
            <a:ext cx="22860" cy="228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55330" y="3619560"/>
            <a:ext cx="22860" cy="2286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78894" y="4753808"/>
            <a:ext cx="446455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68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本期聚焦 2023 年 2 月开源之道社区阅读记录，旨在通过开源经典阅读让开发者感受开源文化的魅力与思想力量。</a:t>
            </a:r>
            <a:endParaRPr lang="en-US" sz="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F1C">
                  <a:alpha val="45000"/>
                </a:srgbClr>
              </a:gs>
              <a:gs pos="40000">
                <a:srgbClr val="060F1C">
                  <a:alpha val="25000"/>
                </a:srgbClr>
              </a:gs>
              <a:gs pos="100000">
                <a:srgbClr val="2196F3">
                  <a:alpha val="8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371475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45770" y="342900"/>
            <a:ext cx="10369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4A6A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TRANSITION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440180" y="385763"/>
            <a:ext cx="3429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851660" y="342900"/>
            <a:ext cx="27432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4A6A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8441055" y="342900"/>
            <a:ext cx="4286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4A6A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07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342900" y="1571625"/>
            <a:ext cx="22860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628650" y="1523048"/>
            <a:ext cx="634365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</a:t>
            </a:r>
            <a:endParaRPr lang="en-US" sz="585" dirty="0"/>
          </a:p>
        </p:txBody>
      </p:sp>
      <p:sp>
        <p:nvSpPr>
          <p:cNvPr id="10" name="Text 8"/>
          <p:cNvSpPr/>
          <p:nvPr/>
        </p:nvSpPr>
        <p:spPr>
          <a:xfrm>
            <a:off x="342900" y="1717358"/>
            <a:ext cx="2743200" cy="10287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000" b="1" spc="-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42900" y="2848928"/>
            <a:ext cx="153619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4A6A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OPEN SOURCE × READING</a:t>
            </a:r>
            <a:endParaRPr lang="en-US" sz="495" dirty="0"/>
          </a:p>
        </p:txBody>
      </p:sp>
      <p:sp>
        <p:nvSpPr>
          <p:cNvPr id="12" name="Text 10"/>
          <p:cNvSpPr/>
          <p:nvPr/>
        </p:nvSpPr>
        <p:spPr>
          <a:xfrm>
            <a:off x="2514600" y="1481971"/>
            <a:ext cx="7040880" cy="4525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40" b="1" spc="90" kern="0" dirty="0">
                <a:solidFill>
                  <a:srgbClr val="E8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开源与阅读</a:t>
            </a:r>
            <a:endParaRPr lang="en-US" sz="3240" dirty="0"/>
          </a:p>
        </p:txBody>
      </p:sp>
      <p:sp>
        <p:nvSpPr>
          <p:cNvPr id="13" name="Shape 11"/>
          <p:cNvSpPr/>
          <p:nvPr/>
        </p:nvSpPr>
        <p:spPr>
          <a:xfrm>
            <a:off x="2514600" y="1997393"/>
            <a:ext cx="4572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4" name="Text 12"/>
          <p:cNvSpPr/>
          <p:nvPr/>
        </p:nvSpPr>
        <p:spPr>
          <a:xfrm>
            <a:off x="2514600" y="2140268"/>
            <a:ext cx="3968496" cy="369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55" spc="45" kern="0" dirty="0">
                <a:solidFill>
                  <a:srgbClr val="8B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为什么开源社区需要持续阅读与分享</a:t>
            </a:r>
            <a:pPr algn="l" indent="0" marL="0">
              <a:lnSpc>
                <a:spcPct val="170000"/>
              </a:lnSpc>
              <a:buNone/>
            </a:pPr>
            <a:endParaRPr lang="en-US" sz="855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855" spc="45" kern="0" dirty="0">
                <a:solidFill>
                  <a:srgbClr val="8B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在代码与人之间，阅读架起理解与传承的桥梁</a:t>
            </a:r>
            <a:endParaRPr lang="en-US" sz="855" dirty="0"/>
          </a:p>
        </p:txBody>
      </p:sp>
      <p:sp>
        <p:nvSpPr>
          <p:cNvPr id="15" name="Shape 13"/>
          <p:cNvSpPr/>
          <p:nvPr/>
        </p:nvSpPr>
        <p:spPr>
          <a:xfrm>
            <a:off x="2514600" y="2715161"/>
            <a:ext cx="11430" cy="23770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2617470" y="2692301"/>
            <a:ext cx="845820" cy="1634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1,400万+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2617470" y="2878574"/>
            <a:ext cx="78089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4A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全球开源贡献者</a:t>
            </a:r>
            <a:endParaRPr lang="en-US" sz="540" dirty="0"/>
          </a:p>
        </p:txBody>
      </p:sp>
      <p:sp>
        <p:nvSpPr>
          <p:cNvPr id="18" name="Shape 16"/>
          <p:cNvSpPr/>
          <p:nvPr/>
        </p:nvSpPr>
        <p:spPr>
          <a:xfrm>
            <a:off x="3543300" y="2715161"/>
            <a:ext cx="11430" cy="23770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3646170" y="2692301"/>
            <a:ext cx="742950" cy="16341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100万+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3646170" y="2878574"/>
            <a:ext cx="66568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4A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年度新增开源项目</a:t>
            </a:r>
            <a:endParaRPr lang="en-US" sz="540" dirty="0"/>
          </a:p>
        </p:txBody>
      </p:sp>
      <p:sp>
        <p:nvSpPr>
          <p:cNvPr id="21" name="Shape 19"/>
          <p:cNvSpPr/>
          <p:nvPr/>
        </p:nvSpPr>
        <p:spPr>
          <a:xfrm>
            <a:off x="342900" y="3841909"/>
            <a:ext cx="358902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4011930" y="3799046"/>
            <a:ext cx="1254557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4A6A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KEY PILLARS · 三大核心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5212080" y="3841909"/>
            <a:ext cx="358902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342900" y="4004786"/>
            <a:ext cx="2727930" cy="795814"/>
          </a:xfrm>
          <a:prstGeom prst="roundRect">
            <a:avLst>
              <a:gd name="adj" fmla="val 5745"/>
            </a:avLst>
          </a:prstGeom>
          <a:solidFill>
            <a:srgbClr val="0A1628">
              <a:alpha val="55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" y="4004786"/>
            <a:ext cx="17145" cy="78438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2716500" y="4004786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5775" y="4124801"/>
            <a:ext cx="27480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— ITERATION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485775" y="4256246"/>
            <a:ext cx="2748043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E8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知识迭代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485775" y="4444841"/>
            <a:ext cx="2748043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8B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开源生态每年涌现大量新框架与工具，阅读是保持技术视野的必要手段，持续输入才能不被时代淘汰。</a:t>
            </a:r>
            <a:endParaRPr lang="en-US" sz="563" dirty="0"/>
          </a:p>
        </p:txBody>
      </p:sp>
      <p:sp>
        <p:nvSpPr>
          <p:cNvPr id="30" name="Shape 28"/>
          <p:cNvSpPr/>
          <p:nvPr/>
        </p:nvSpPr>
        <p:spPr>
          <a:xfrm>
            <a:off x="3207990" y="4004786"/>
            <a:ext cx="2727930" cy="795814"/>
          </a:xfrm>
          <a:prstGeom prst="roundRect">
            <a:avLst>
              <a:gd name="adj" fmla="val 5745"/>
            </a:avLst>
          </a:prstGeom>
          <a:solidFill>
            <a:srgbClr val="0A1628">
              <a:alpha val="55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7990" y="4004786"/>
            <a:ext cx="17145" cy="78438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5581590" y="4004786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350865" y="4124801"/>
            <a:ext cx="27480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— HERITAGE</a:t>
            </a:r>
            <a:endParaRPr lang="en-US" sz="495" dirty="0"/>
          </a:p>
        </p:txBody>
      </p:sp>
      <p:sp>
        <p:nvSpPr>
          <p:cNvPr id="34" name="Text 32"/>
          <p:cNvSpPr/>
          <p:nvPr/>
        </p:nvSpPr>
        <p:spPr>
          <a:xfrm>
            <a:off x="3350865" y="4256246"/>
            <a:ext cx="2748043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E8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文化传承</a:t>
            </a:r>
            <a:endParaRPr lang="en-US" sz="765" dirty="0"/>
          </a:p>
        </p:txBody>
      </p:sp>
      <p:sp>
        <p:nvSpPr>
          <p:cNvPr id="35" name="Text 33"/>
          <p:cNvSpPr/>
          <p:nvPr/>
        </p:nvSpPr>
        <p:spPr>
          <a:xfrm>
            <a:off x="3350865" y="4444841"/>
            <a:ext cx="2748043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8B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开源精神需要书籍、文章与布道者来传播，让后来者理解其价值与历史，让理念薪火相传。</a:t>
            </a:r>
            <a:endParaRPr lang="en-US" sz="563" dirty="0"/>
          </a:p>
        </p:txBody>
      </p:sp>
      <p:sp>
        <p:nvSpPr>
          <p:cNvPr id="36" name="Shape 34"/>
          <p:cNvSpPr/>
          <p:nvPr/>
        </p:nvSpPr>
        <p:spPr>
          <a:xfrm>
            <a:off x="6073080" y="4004786"/>
            <a:ext cx="2728020" cy="795814"/>
          </a:xfrm>
          <a:prstGeom prst="roundRect">
            <a:avLst>
              <a:gd name="adj" fmla="val 5745"/>
            </a:avLst>
          </a:prstGeom>
          <a:solidFill>
            <a:srgbClr val="0A1628">
              <a:alpha val="55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73080" y="4004786"/>
            <a:ext cx="17145" cy="78438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8446771" y="4004786"/>
            <a:ext cx="342900" cy="342900"/>
          </a:xfrm>
          <a:prstGeom prst="rect">
            <a:avLst/>
          </a:prstGeom>
          <a:solidFill>
            <a:srgbClr val="2196F3">
              <a:alpha val="1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15955" y="4124801"/>
            <a:ext cx="27481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— CONNECTION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6215955" y="4256246"/>
            <a:ext cx="2748143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spc="45" kern="0" dirty="0">
                <a:solidFill>
                  <a:srgbClr val="E8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社区连接</a:t>
            </a:r>
            <a:endParaRPr lang="en-US" sz="765" dirty="0"/>
          </a:p>
        </p:txBody>
      </p:sp>
      <p:sp>
        <p:nvSpPr>
          <p:cNvPr id="41" name="Text 39"/>
          <p:cNvSpPr/>
          <p:nvPr/>
        </p:nvSpPr>
        <p:spPr>
          <a:xfrm>
            <a:off x="6215955" y="4444841"/>
            <a:ext cx="2748143" cy="235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dirty="0">
                <a:solidFill>
                  <a:srgbClr val="8BB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阅读分享活动是开发者社区维系情感与知识纽带的重要场景，让个体成长与群体进步同步发生。</a:t>
            </a:r>
            <a:endParaRPr lang="en-US" sz="563" dirty="0"/>
          </a:p>
        </p:txBody>
      </p:sp>
      <p:sp>
        <p:nvSpPr>
          <p:cNvPr id="42" name="Shape 40"/>
          <p:cNvSpPr/>
          <p:nvPr/>
        </p:nvSpPr>
        <p:spPr>
          <a:xfrm>
            <a:off x="0" y="5132070"/>
            <a:ext cx="91440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2196F3"/>
              </a:gs>
              <a:gs pos="30000">
                <a:srgbClr val="00BCD4"/>
              </a:gs>
              <a:gs pos="50000">
                <a:srgbClr val="2196F3"/>
              </a:gs>
              <a:gs pos="70000">
                <a:srgbClr val="00BCD4"/>
              </a:gs>
              <a:gs pos="85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3" name="Shape 41"/>
          <p:cNvSpPr/>
          <p:nvPr/>
        </p:nvSpPr>
        <p:spPr>
          <a:xfrm>
            <a:off x="0" y="5103495"/>
            <a:ext cx="9144000" cy="5715"/>
          </a:xfrm>
          <a:prstGeom prst="rect">
            <a:avLst/>
          </a:prstGeom>
          <a:solidFill>
            <a:srgbClr val="2196F3">
              <a:alpha val="25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F22"/>
              </a:gs>
              <a:gs pos="100000">
                <a:srgbClr val="040915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560320" y="-5143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28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-4754880" y="-246888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96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20040" y="274320"/>
            <a:ext cx="6906463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COMMUNITY · NETWORK</a:t>
            </a:r>
            <a:endParaRPr lang="en-US" sz="540" dirty="0"/>
          </a:p>
        </p:txBody>
      </p:sp>
      <p:sp>
        <p:nvSpPr>
          <p:cNvPr id="7" name="Text 5"/>
          <p:cNvSpPr/>
          <p:nvPr/>
        </p:nvSpPr>
        <p:spPr>
          <a:xfrm>
            <a:off x="320040" y="437733"/>
            <a:ext cx="6906463" cy="276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7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</a:t>
            </a:r>
            <a:pPr algn="l" indent="0" marL="0">
              <a:lnSpc>
                <a:spcPct val="105000"/>
              </a:lnSpc>
              <a:buNone/>
            </a:pPr>
            <a:r>
              <a:rPr lang="en-US" sz="207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320040" y="793760"/>
            <a:ext cx="6906463" cy="122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开源之道平台汇聚了国内大量开源爱好者，通过线上线下结合的分享方式，让开源书籍不再局限于个人阅读，而是成为</a:t>
            </a:r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社区共同成长的燃料</a:t>
            </a:r>
            <a:pPr algn="l" indent="0" marL="0">
              <a:lnSpc>
                <a:spcPct val="165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，适兕在其中扮演着组织者与领读者的关键角色。</a:t>
            </a:r>
            <a:endParaRPr lang="en-US" sz="585" dirty="0"/>
          </a:p>
        </p:txBody>
      </p:sp>
      <p:sp>
        <p:nvSpPr>
          <p:cNvPr id="9" name="Shape 7"/>
          <p:cNvSpPr/>
          <p:nvPr/>
        </p:nvSpPr>
        <p:spPr>
          <a:xfrm>
            <a:off x="7955280" y="707142"/>
            <a:ext cx="868680" cy="209133"/>
          </a:xfrm>
          <a:prstGeom prst="roundRect">
            <a:avLst>
              <a:gd name="adj" fmla="val 109308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52435" y="788849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5305" y="758577"/>
            <a:ext cx="640080" cy="10626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spc="45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OSD / 社区网络</a:t>
            </a:r>
            <a:endParaRPr lang="en-US" sz="540" dirty="0"/>
          </a:p>
        </p:txBody>
      </p:sp>
      <p:sp>
        <p:nvSpPr>
          <p:cNvPr id="12" name="Shape 10"/>
          <p:cNvSpPr/>
          <p:nvPr/>
        </p:nvSpPr>
        <p:spPr>
          <a:xfrm>
            <a:off x="320040" y="1042005"/>
            <a:ext cx="4526280" cy="563731"/>
          </a:xfrm>
          <a:prstGeom prst="roundRect">
            <a:avLst>
              <a:gd name="adj" fmla="val 10138"/>
            </a:avLst>
          </a:prstGeom>
          <a:solidFill>
            <a:srgbClr val="FFFFFF">
              <a:alpha val="4000"/>
            </a:srgbClr>
          </a:solidFill>
          <a:ln w="17145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485" y="1139160"/>
            <a:ext cx="4787798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平台概述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451485" y="1270873"/>
            <a:ext cx="4787798" cy="2377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开源之道（OpenSource Domain）作为国内颇具影响力的开源文化布道社区，以书籍分享为核心纽带，构建起跨越线上与线下的协作阅读生态，持续激发个体参与、推动知识在群体中流动。</a:t>
            </a:r>
            <a:endParaRPr lang="en-US" sz="585" dirty="0"/>
          </a:p>
        </p:txBody>
      </p:sp>
      <p:sp>
        <p:nvSpPr>
          <p:cNvPr id="15" name="Shape 13"/>
          <p:cNvSpPr/>
          <p:nvPr/>
        </p:nvSpPr>
        <p:spPr>
          <a:xfrm>
            <a:off x="320040" y="1708606"/>
            <a:ext cx="2223135" cy="680174"/>
          </a:xfrm>
          <a:prstGeom prst="roundRect">
            <a:avLst>
              <a:gd name="adj" fmla="val 8402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708606"/>
            <a:ext cx="205740" cy="171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417195" y="1794331"/>
            <a:ext cx="227228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平台定位</a:t>
            </a:r>
            <a:endParaRPr lang="en-US" sz="495" dirty="0"/>
          </a:p>
        </p:txBody>
      </p:sp>
      <p:sp>
        <p:nvSpPr>
          <p:cNvPr id="18" name="Text 16"/>
          <p:cNvSpPr/>
          <p:nvPr/>
        </p:nvSpPr>
        <p:spPr>
          <a:xfrm>
            <a:off x="417195" y="1914614"/>
            <a:ext cx="2272284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开源文化布道平台</a:t>
            </a:r>
            <a:endParaRPr lang="en-US" sz="765" dirty="0"/>
          </a:p>
        </p:txBody>
      </p:sp>
      <p:sp>
        <p:nvSpPr>
          <p:cNvPr id="19" name="Text 17"/>
          <p:cNvSpPr/>
          <p:nvPr/>
        </p:nvSpPr>
        <p:spPr>
          <a:xfrm>
            <a:off x="417195" y="2099459"/>
            <a:ext cx="2272284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开源之道是国内知名的开源文化布道平台，聚合书籍、新闻与社区活动。</a:t>
            </a:r>
            <a:endParaRPr lang="en-US" sz="518" dirty="0"/>
          </a:p>
        </p:txBody>
      </p:sp>
      <p:sp>
        <p:nvSpPr>
          <p:cNvPr id="20" name="Shape 18"/>
          <p:cNvSpPr/>
          <p:nvPr/>
        </p:nvSpPr>
        <p:spPr>
          <a:xfrm>
            <a:off x="2623185" y="1708606"/>
            <a:ext cx="2223135" cy="680174"/>
          </a:xfrm>
          <a:prstGeom prst="roundRect">
            <a:avLst>
              <a:gd name="adj" fmla="val 8402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3185" y="1708606"/>
            <a:ext cx="205740" cy="171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2720340" y="1794331"/>
            <a:ext cx="227228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内容体系</a:t>
            </a:r>
            <a:endParaRPr lang="en-US" sz="495" dirty="0"/>
          </a:p>
        </p:txBody>
      </p:sp>
      <p:sp>
        <p:nvSpPr>
          <p:cNvPr id="23" name="Text 21"/>
          <p:cNvSpPr/>
          <p:nvPr/>
        </p:nvSpPr>
        <p:spPr>
          <a:xfrm>
            <a:off x="2720340" y="1914614"/>
            <a:ext cx="2272284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多元栏目矩阵</a:t>
            </a:r>
            <a:endParaRPr lang="en-US" sz="765" dirty="0"/>
          </a:p>
        </p:txBody>
      </p:sp>
      <p:sp>
        <p:nvSpPr>
          <p:cNvPr id="24" name="Text 22"/>
          <p:cNvSpPr/>
          <p:nvPr/>
        </p:nvSpPr>
        <p:spPr>
          <a:xfrm>
            <a:off x="2720340" y="2099459"/>
            <a:ext cx="2272284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涵盖开源书籍推荐、经典译作、技术文章、人物专访与开源日历等多元栏目。</a:t>
            </a:r>
            <a:endParaRPr lang="en-US" sz="518" dirty="0"/>
          </a:p>
        </p:txBody>
      </p:sp>
      <p:sp>
        <p:nvSpPr>
          <p:cNvPr id="25" name="Shape 23"/>
          <p:cNvSpPr/>
          <p:nvPr/>
        </p:nvSpPr>
        <p:spPr>
          <a:xfrm>
            <a:off x="320040" y="2468791"/>
            <a:ext cx="2223135" cy="680174"/>
          </a:xfrm>
          <a:prstGeom prst="roundRect">
            <a:avLst>
              <a:gd name="adj" fmla="val 8402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68791"/>
            <a:ext cx="205740" cy="171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7" name="Text 25"/>
          <p:cNvSpPr/>
          <p:nvPr/>
        </p:nvSpPr>
        <p:spPr>
          <a:xfrm>
            <a:off x="417195" y="2554516"/>
            <a:ext cx="227228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分享机制</a:t>
            </a:r>
            <a:endParaRPr lang="en-US" sz="495" dirty="0"/>
          </a:p>
        </p:txBody>
      </p:sp>
      <p:sp>
        <p:nvSpPr>
          <p:cNvPr id="28" name="Text 26"/>
          <p:cNvSpPr/>
          <p:nvPr/>
        </p:nvSpPr>
        <p:spPr>
          <a:xfrm>
            <a:off x="417195" y="2674799"/>
            <a:ext cx="2272284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轮流主讲共读</a:t>
            </a:r>
            <a:endParaRPr lang="en-US" sz="765" dirty="0"/>
          </a:p>
        </p:txBody>
      </p:sp>
      <p:sp>
        <p:nvSpPr>
          <p:cNvPr id="29" name="Text 27"/>
          <p:cNvSpPr/>
          <p:nvPr/>
        </p:nvSpPr>
        <p:spPr>
          <a:xfrm>
            <a:off x="417195" y="2859643"/>
            <a:ext cx="2272284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每月由社区成员轮流担任主讲，围绕特定书目进行深度阅读分享与交流。</a:t>
            </a:r>
            <a:endParaRPr lang="en-US" sz="518" dirty="0"/>
          </a:p>
        </p:txBody>
      </p:sp>
      <p:sp>
        <p:nvSpPr>
          <p:cNvPr id="30" name="Shape 28"/>
          <p:cNvSpPr/>
          <p:nvPr/>
        </p:nvSpPr>
        <p:spPr>
          <a:xfrm>
            <a:off x="2623185" y="2468791"/>
            <a:ext cx="2223135" cy="680174"/>
          </a:xfrm>
          <a:prstGeom prst="roundRect">
            <a:avLst>
              <a:gd name="adj" fmla="val 8402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3185" y="2468791"/>
            <a:ext cx="205740" cy="1714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2" name="Text 30"/>
          <p:cNvSpPr/>
          <p:nvPr/>
        </p:nvSpPr>
        <p:spPr>
          <a:xfrm>
            <a:off x="2720340" y="2554516"/>
            <a:ext cx="2272284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适兕的角色</a:t>
            </a:r>
            <a:endParaRPr lang="en-US" sz="495" dirty="0"/>
          </a:p>
        </p:txBody>
      </p:sp>
      <p:sp>
        <p:nvSpPr>
          <p:cNvPr id="33" name="Text 31"/>
          <p:cNvSpPr/>
          <p:nvPr/>
        </p:nvSpPr>
        <p:spPr>
          <a:xfrm>
            <a:off x="2720340" y="2674799"/>
            <a:ext cx="2272284" cy="1505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6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核心布道者</a:t>
            </a:r>
            <a:endParaRPr lang="en-US" sz="765" dirty="0"/>
          </a:p>
        </p:txBody>
      </p:sp>
      <p:sp>
        <p:nvSpPr>
          <p:cNvPr id="34" name="Text 32"/>
          <p:cNvSpPr/>
          <p:nvPr/>
        </p:nvSpPr>
        <p:spPr>
          <a:xfrm>
            <a:off x="2720340" y="2859643"/>
            <a:ext cx="2272284" cy="20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18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适兕作为社区核心布道者，长期致力于开源书籍推广与阅读习惯培养。</a:t>
            </a:r>
            <a:endParaRPr lang="en-US" sz="518" dirty="0"/>
          </a:p>
        </p:txBody>
      </p:sp>
      <p:sp>
        <p:nvSpPr>
          <p:cNvPr id="35" name="Shape 33"/>
          <p:cNvSpPr/>
          <p:nvPr/>
        </p:nvSpPr>
        <p:spPr>
          <a:xfrm>
            <a:off x="320040" y="3251835"/>
            <a:ext cx="2223135" cy="40005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8625" y="3337560"/>
            <a:ext cx="67437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65835" y="3342114"/>
            <a:ext cx="640080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社区成员规模</a:t>
            </a:r>
            <a:endParaRPr lang="en-US" sz="585" dirty="0"/>
          </a:p>
        </p:txBody>
      </p:sp>
      <p:sp>
        <p:nvSpPr>
          <p:cNvPr id="38" name="Text 36"/>
          <p:cNvSpPr/>
          <p:nvPr/>
        </p:nvSpPr>
        <p:spPr>
          <a:xfrm>
            <a:off x="965835" y="3468648"/>
            <a:ext cx="633679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覆盖全国开源爱好者</a:t>
            </a:r>
            <a:endParaRPr lang="en-US" sz="473" dirty="0"/>
          </a:p>
        </p:txBody>
      </p:sp>
      <p:sp>
        <p:nvSpPr>
          <p:cNvPr id="39" name="Shape 37"/>
          <p:cNvSpPr/>
          <p:nvPr/>
        </p:nvSpPr>
        <p:spPr>
          <a:xfrm>
            <a:off x="2623185" y="3251835"/>
            <a:ext cx="2223135" cy="40005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2196F3">
                  <a:alpha val="14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31770" y="33375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场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188970" y="3342114"/>
            <a:ext cx="577215" cy="11510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月均分享场次</a:t>
            </a:r>
            <a:endParaRPr lang="en-US" sz="585" dirty="0"/>
          </a:p>
        </p:txBody>
      </p:sp>
      <p:sp>
        <p:nvSpPr>
          <p:cNvPr id="42" name="Text 40"/>
          <p:cNvSpPr/>
          <p:nvPr/>
        </p:nvSpPr>
        <p:spPr>
          <a:xfrm>
            <a:off x="3188970" y="3468648"/>
            <a:ext cx="563270" cy="9295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持续阅读分享活动</a:t>
            </a:r>
            <a:endParaRPr lang="en-US" sz="473" dirty="0"/>
          </a:p>
        </p:txBody>
      </p:sp>
      <p:sp>
        <p:nvSpPr>
          <p:cNvPr id="43" name="Shape 41"/>
          <p:cNvSpPr/>
          <p:nvPr/>
        </p:nvSpPr>
        <p:spPr>
          <a:xfrm>
            <a:off x="5052060" y="1042005"/>
            <a:ext cx="3771900" cy="2628900"/>
          </a:xfrm>
          <a:prstGeom prst="roundRect">
            <a:avLst>
              <a:gd name="adj" fmla="val 3043"/>
            </a:avLst>
          </a:prstGeom>
          <a:noFill/>
          <a:ln w="5715">
            <a:solidFill>
              <a:srgbClr val="2196F3">
                <a:alpha val="22000"/>
              </a:srgbClr>
            </a:solidFill>
            <a:prstDash val="solid"/>
          </a:ln>
          <a:effectLst>
            <a:outerShdw sx="100000" sy="100000" kx="0" ky="0" algn="bl" rotWithShape="0" blurRad="381000" dist="50800" dir="16200000">
              <a:srgbClr val="2196F3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103495" y="1093440"/>
            <a:ext cx="125730" cy="125730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5103495" y="109344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03495" y="109344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46795" y="1093440"/>
            <a:ext cx="125730" cy="125730"/>
          </a:xfrm>
          <a:prstGeom prst="rect">
            <a:avLst/>
          </a:prstGeom>
          <a:noFill/>
          <a:ln/>
        </p:spPr>
      </p:sp>
      <p:sp>
        <p:nvSpPr>
          <p:cNvPr id="48" name="Shape 46"/>
          <p:cNvSpPr/>
          <p:nvPr/>
        </p:nvSpPr>
        <p:spPr>
          <a:xfrm>
            <a:off x="8646795" y="109344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72525" y="109344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3495" y="3493740"/>
            <a:ext cx="125730" cy="125730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5103495" y="361947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03495" y="349374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46795" y="3493740"/>
            <a:ext cx="125730" cy="125730"/>
          </a:xfrm>
          <a:prstGeom prst="rect">
            <a:avLst/>
          </a:prstGeom>
          <a:noFill/>
          <a:ln/>
        </p:spPr>
      </p:sp>
      <p:sp>
        <p:nvSpPr>
          <p:cNvPr id="54" name="Shape 52"/>
          <p:cNvSpPr/>
          <p:nvPr/>
        </p:nvSpPr>
        <p:spPr>
          <a:xfrm>
            <a:off x="8772525" y="3493740"/>
            <a:ext cx="0" cy="12573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46795" y="3619470"/>
            <a:ext cx="12573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pic>
        <p:nvPicPr>
          <p:cNvPr id="56" name="Image 0" descr="/home/lee/developing/oscar-open-source-book/website/slides-src/2023-02-the-fascinating-os-author/images/page_003_illu.png">    </p:cNvPr>
          <p:cNvPicPr>
            <a:picLocks noChangeAspect="1"/>
          </p:cNvPicPr>
          <p:nvPr/>
        </p:nvPicPr>
        <p:blipFill>
          <a:blip r:embed="rId1"/>
          <a:srcRect l="0" r="0" t="3175" b="3175"/>
          <a:stretch/>
        </p:blipFill>
        <p:spPr>
          <a:xfrm>
            <a:off x="5057775" y="1047720"/>
            <a:ext cx="3760470" cy="2617470"/>
          </a:xfrm>
          <a:prstGeom prst="rect">
            <a:avLst/>
          </a:prstGeom>
        </p:spPr>
      </p:pic>
      <p:sp>
        <p:nvSpPr>
          <p:cNvPr id="57" name="Shape 54"/>
          <p:cNvSpPr/>
          <p:nvPr/>
        </p:nvSpPr>
        <p:spPr>
          <a:xfrm>
            <a:off x="5137785" y="1127730"/>
            <a:ext cx="742950" cy="150108"/>
          </a:xfrm>
          <a:prstGeom prst="roundRect">
            <a:avLst>
              <a:gd name="adj" fmla="val 15229"/>
            </a:avLst>
          </a:prstGeom>
          <a:solidFill>
            <a:srgbClr val="050B1A">
              <a:alpha val="70000"/>
            </a:srgbClr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137785" y="1127730"/>
            <a:ext cx="832104" cy="150108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 NETWORK</a:t>
            </a:r>
            <a:endParaRPr lang="en-US" sz="473" dirty="0"/>
          </a:p>
        </p:txBody>
      </p:sp>
      <p:sp>
        <p:nvSpPr>
          <p:cNvPr id="59" name="Shape 56"/>
          <p:cNvSpPr/>
          <p:nvPr/>
        </p:nvSpPr>
        <p:spPr>
          <a:xfrm>
            <a:off x="7926705" y="3435072"/>
            <a:ext cx="811530" cy="150108"/>
          </a:xfrm>
          <a:prstGeom prst="roundRect">
            <a:avLst>
              <a:gd name="adj" fmla="val 15229"/>
            </a:avLst>
          </a:prstGeom>
          <a:solidFill>
            <a:srgbClr val="050B1A">
              <a:alpha val="70000"/>
            </a:srgbClr>
          </a:solidFill>
          <a:ln w="5715">
            <a:solidFill>
              <a:srgbClr val="2196F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926705" y="3435072"/>
            <a:ext cx="908914" cy="150108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73" spc="45" kern="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 · 社区图谱</a:t>
            </a:r>
            <a:endParaRPr lang="en-US" sz="473" dirty="0"/>
          </a:p>
        </p:txBody>
      </p:sp>
      <p:sp>
        <p:nvSpPr>
          <p:cNvPr id="61" name="Shape 58"/>
          <p:cNvSpPr/>
          <p:nvPr/>
        </p:nvSpPr>
        <p:spPr>
          <a:xfrm>
            <a:off x="5052060" y="3750915"/>
            <a:ext cx="3771900" cy="338257"/>
          </a:xfrm>
          <a:prstGeom prst="roundRect">
            <a:avLst>
              <a:gd name="adj" fmla="val 13516"/>
            </a:avLst>
          </a:prstGeom>
          <a:solidFill>
            <a:srgbClr val="FFFFFF">
              <a:alpha val="4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149215" y="3822889"/>
            <a:ext cx="194310" cy="194310"/>
          </a:xfrm>
          <a:prstGeom prst="ellipse">
            <a:avLst/>
          </a:prstGeom>
          <a:solidFill>
            <a:srgbClr val="2196F3">
              <a:alpha val="18000"/>
            </a:srgbClr>
          </a:solidFill>
          <a:ln w="5715">
            <a:solidFill>
              <a:srgbClr val="00BCD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49215" y="3822889"/>
            <a:ext cx="26860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8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⬡</a:t>
            </a:r>
            <a:endParaRPr lang="en-US" sz="585" dirty="0"/>
          </a:p>
        </p:txBody>
      </p:sp>
      <p:sp>
        <p:nvSpPr>
          <p:cNvPr id="64" name="Text 61"/>
          <p:cNvSpPr/>
          <p:nvPr/>
        </p:nvSpPr>
        <p:spPr>
          <a:xfrm>
            <a:off x="5412105" y="3813780"/>
            <a:ext cx="3712464" cy="21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节点互联、知识流动</a:t>
            </a:r>
            <a:pPr algn="l" indent="0" marL="0">
              <a:lnSpc>
                <a:spcPct val="155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——众多发光节点以蓝色与青色光束彼此连接，在深海军蓝背景上编织出有机的协作网络，象征着开源社区中思想的汇聚与共享。</a:t>
            </a:r>
            <a:endParaRPr lang="en-US" sz="540" dirty="0"/>
          </a:p>
        </p:txBody>
      </p:sp>
      <p:sp>
        <p:nvSpPr>
          <p:cNvPr id="65" name="Shape 62"/>
          <p:cNvSpPr/>
          <p:nvPr/>
        </p:nvSpPr>
        <p:spPr>
          <a:xfrm>
            <a:off x="320040" y="4253835"/>
            <a:ext cx="8503920" cy="257175"/>
          </a:xfrm>
          <a:prstGeom prst="rect">
            <a:avLst/>
          </a:prstGeom>
          <a:noFill/>
          <a:ln/>
        </p:spPr>
      </p:sp>
      <p:sp>
        <p:nvSpPr>
          <p:cNvPr id="66" name="Shape 63"/>
          <p:cNvSpPr/>
          <p:nvPr/>
        </p:nvSpPr>
        <p:spPr>
          <a:xfrm>
            <a:off x="320040" y="4253835"/>
            <a:ext cx="8503920" cy="0"/>
          </a:xfrm>
          <a:prstGeom prst="line">
            <a:avLst/>
          </a:prstGeom>
          <a:noFill/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320040" y="4339560"/>
            <a:ext cx="22860" cy="1714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8" name="Text 65"/>
          <p:cNvSpPr/>
          <p:nvPr/>
        </p:nvSpPr>
        <p:spPr>
          <a:xfrm>
            <a:off x="422910" y="4354384"/>
            <a:ext cx="1414577" cy="14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20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从个体阅读，到</a:t>
            </a:r>
            <a:pPr algn="l" indent="0" marL="0">
              <a:lnSpc>
                <a:spcPct val="155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社区共同成长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7452360" y="4376529"/>
            <a:ext cx="1536192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spc="45" kern="0" dirty="0">
                <a:solidFill>
                  <a:srgbClr val="E0E0E0">
                    <a:alpha val="7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· TOGETHER WE GROW</a:t>
            </a:r>
            <a:endParaRPr lang="en-US" sz="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50B1A"/>
              </a:gs>
              <a:gs pos="60000">
                <a:srgbClr val="0A1430"/>
              </a:gs>
              <a:gs pos="100000">
                <a:srgbClr val="060D22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468880" y="-1183005"/>
            <a:ext cx="8229600" cy="4629150"/>
          </a:xfrm>
          <a:prstGeom prst="ellipse">
            <a:avLst/>
          </a:prstGeom>
          <a:gradFill rotWithShape="1">
            <a:gsLst>
              <a:gs pos="0">
                <a:srgbClr val="2196F3">
                  <a:alpha val="144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2926080" y="144018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128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-1828800" y="-1028700"/>
            <a:ext cx="12801600" cy="7200900"/>
          </a:xfrm>
          <a:prstGeom prst="ellipse">
            <a:avLst/>
          </a:prstGeom>
          <a:gradFill rotWithShape="1">
            <a:gsLst>
              <a:gs pos="0">
                <a:srgbClr val="0A1228">
                  <a:alpha val="32000"/>
                </a:srgbClr>
              </a:gs>
              <a:gs pos="100000">
                <a:srgbClr val="0A12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342900" y="231458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" y="231458"/>
            <a:ext cx="57150" cy="5715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" y="217170"/>
            <a:ext cx="134416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 · INSIGHT · 2022</a:t>
            </a:r>
            <a:endParaRPr lang="en-US" sz="495" dirty="0"/>
          </a:p>
        </p:txBody>
      </p:sp>
      <p:sp>
        <p:nvSpPr>
          <p:cNvPr id="10" name="Text 8"/>
          <p:cNvSpPr/>
          <p:nvPr/>
        </p:nvSpPr>
        <p:spPr>
          <a:xfrm>
            <a:off x="342900" y="337185"/>
            <a:ext cx="6400800" cy="42862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2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340" b="1" spc="45" kern="0" dirty="0">
                <a:solidFill>
                  <a:srgbClr val="E6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开源阅读数据</a:t>
            </a:r>
            <a:endParaRPr lang="en-US" sz="2340" dirty="0"/>
          </a:p>
        </p:txBody>
      </p:sp>
      <p:sp>
        <p:nvSpPr>
          <p:cNvPr id="11" name="Text 9"/>
          <p:cNvSpPr/>
          <p:nvPr/>
        </p:nvSpPr>
        <p:spPr>
          <a:xfrm>
            <a:off x="342900" y="822960"/>
            <a:ext cx="6400800" cy="2719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30" dirty="0">
                <a:solidFill>
                  <a:srgbClr val="B0C7E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从数据来看，开源之道平台的阅读分享活动呈现出持续增长态势，特别是2022年以来开源书籍的借阅与分享热情显著上升，说明开发者群体对系统性知识的需求在不断增加。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342900" y="1129248"/>
            <a:ext cx="51435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18095" y="923508"/>
            <a:ext cx="132496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OSRD.READING.DATASET</a:t>
            </a:r>
            <a:endParaRPr lang="en-US" sz="495" dirty="0"/>
          </a:p>
        </p:txBody>
      </p:sp>
      <p:sp>
        <p:nvSpPr>
          <p:cNvPr id="14" name="Text 12"/>
          <p:cNvSpPr/>
          <p:nvPr/>
        </p:nvSpPr>
        <p:spPr>
          <a:xfrm>
            <a:off x="7729538" y="1043523"/>
            <a:ext cx="12001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5A7AA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SINCE 2015 · UPDATED 2022</a:t>
            </a:r>
            <a:endParaRPr lang="en-US" sz="450" dirty="0"/>
          </a:p>
        </p:txBody>
      </p:sp>
      <p:sp>
        <p:nvSpPr>
          <p:cNvPr id="15" name="Shape 13"/>
          <p:cNvSpPr/>
          <p:nvPr/>
        </p:nvSpPr>
        <p:spPr>
          <a:xfrm>
            <a:off x="342900" y="1232118"/>
            <a:ext cx="1627614" cy="611505"/>
          </a:xfrm>
          <a:prstGeom prst="roundRect">
            <a:avLst>
              <a:gd name="adj" fmla="val 9346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" y="1232118"/>
            <a:ext cx="16161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1673335" y="1060668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8" name="Text 16"/>
          <p:cNvSpPr/>
          <p:nvPr/>
        </p:nvSpPr>
        <p:spPr>
          <a:xfrm>
            <a:off x="1564749" y="1283553"/>
            <a:ext cx="3943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BOOKS</a:t>
            </a:r>
            <a:endParaRPr lang="en-US" sz="405" dirty="0"/>
          </a:p>
        </p:txBody>
      </p:sp>
      <p:sp>
        <p:nvSpPr>
          <p:cNvPr id="19" name="Text 17"/>
          <p:cNvSpPr/>
          <p:nvPr/>
        </p:nvSpPr>
        <p:spPr>
          <a:xfrm>
            <a:off x="417195" y="1294983"/>
            <a:ext cx="648653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871538" y="1414998"/>
            <a:ext cx="1371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417195" y="1569303"/>
            <a:ext cx="165650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▣</a:t>
            </a:r>
            <a:pPr algn="l" indent="0" marL="0">
              <a:buNone/>
            </a:pPr>
            <a:r>
              <a:rPr lang="en-US" sz="495" spc="45" kern="0" dirty="0">
                <a:solidFill>
                  <a:srgbClr val="9BB6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收录书籍总数</a:t>
            </a:r>
            <a:endParaRPr lang="en-US" sz="495" dirty="0"/>
          </a:p>
        </p:txBody>
      </p:sp>
      <p:sp>
        <p:nvSpPr>
          <p:cNvPr id="22" name="Text 20"/>
          <p:cNvSpPr/>
          <p:nvPr/>
        </p:nvSpPr>
        <p:spPr>
          <a:xfrm>
            <a:off x="417195" y="1695033"/>
            <a:ext cx="165650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6F8D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OPEN SOURCE LIBRARY</a:t>
            </a:r>
            <a:endParaRPr lang="en-US" sz="405" dirty="0"/>
          </a:p>
        </p:txBody>
      </p:sp>
      <p:sp>
        <p:nvSpPr>
          <p:cNvPr id="23" name="Shape 21"/>
          <p:cNvSpPr/>
          <p:nvPr/>
        </p:nvSpPr>
        <p:spPr>
          <a:xfrm>
            <a:off x="2050524" y="1232118"/>
            <a:ext cx="1627614" cy="611505"/>
          </a:xfrm>
          <a:prstGeom prst="roundRect">
            <a:avLst>
              <a:gd name="adj" fmla="val 9346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50524" y="1232118"/>
            <a:ext cx="16161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5" name="Shape 23"/>
          <p:cNvSpPr/>
          <p:nvPr/>
        </p:nvSpPr>
        <p:spPr>
          <a:xfrm>
            <a:off x="3380959" y="1060668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6" name="Text 24"/>
          <p:cNvSpPr/>
          <p:nvPr/>
        </p:nvSpPr>
        <p:spPr>
          <a:xfrm>
            <a:off x="3135213" y="1283553"/>
            <a:ext cx="53766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TRANSLATE</a:t>
            </a:r>
            <a:endParaRPr lang="en-US" sz="405" dirty="0"/>
          </a:p>
        </p:txBody>
      </p:sp>
      <p:sp>
        <p:nvSpPr>
          <p:cNvPr id="27" name="Text 25"/>
          <p:cNvSpPr/>
          <p:nvPr/>
        </p:nvSpPr>
        <p:spPr>
          <a:xfrm>
            <a:off x="2124819" y="1294983"/>
            <a:ext cx="493776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2421999" y="1414998"/>
            <a:ext cx="1371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2124819" y="1569303"/>
            <a:ext cx="165650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</a:t>
            </a:r>
            <a:pPr algn="l" indent="0" marL="0">
              <a:buNone/>
            </a:pPr>
            <a:r>
              <a:rPr lang="en-US" sz="495" spc="45" kern="0" dirty="0">
                <a:solidFill>
                  <a:srgbClr val="9BB6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完成译作数</a:t>
            </a:r>
            <a:endParaRPr lang="en-US" sz="495" dirty="0"/>
          </a:p>
        </p:txBody>
      </p:sp>
      <p:sp>
        <p:nvSpPr>
          <p:cNvPr id="30" name="Text 28"/>
          <p:cNvSpPr/>
          <p:nvPr/>
        </p:nvSpPr>
        <p:spPr>
          <a:xfrm>
            <a:off x="2124819" y="1695033"/>
            <a:ext cx="165650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6F8D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CHINESE TRANSLATION</a:t>
            </a:r>
            <a:endParaRPr lang="en-US" sz="405" dirty="0"/>
          </a:p>
        </p:txBody>
      </p:sp>
      <p:sp>
        <p:nvSpPr>
          <p:cNvPr id="31" name="Shape 29"/>
          <p:cNvSpPr/>
          <p:nvPr/>
        </p:nvSpPr>
        <p:spPr>
          <a:xfrm>
            <a:off x="3758148" y="1232118"/>
            <a:ext cx="1627614" cy="611505"/>
          </a:xfrm>
          <a:prstGeom prst="roundRect">
            <a:avLst>
              <a:gd name="adj" fmla="val 9346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58148" y="1232118"/>
            <a:ext cx="16161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5088583" y="1060668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4" name="Text 32"/>
          <p:cNvSpPr/>
          <p:nvPr/>
        </p:nvSpPr>
        <p:spPr>
          <a:xfrm>
            <a:off x="4979997" y="1283553"/>
            <a:ext cx="3943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SHARE</a:t>
            </a:r>
            <a:endParaRPr lang="en-US" sz="405" dirty="0"/>
          </a:p>
        </p:txBody>
      </p:sp>
      <p:sp>
        <p:nvSpPr>
          <p:cNvPr id="35" name="Text 33"/>
          <p:cNvSpPr/>
          <p:nvPr/>
        </p:nvSpPr>
        <p:spPr>
          <a:xfrm>
            <a:off x="3832443" y="1294983"/>
            <a:ext cx="648653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endParaRPr lang="en-US" sz="1620" dirty="0"/>
          </a:p>
        </p:txBody>
      </p:sp>
      <p:sp>
        <p:nvSpPr>
          <p:cNvPr id="36" name="Text 34"/>
          <p:cNvSpPr/>
          <p:nvPr/>
        </p:nvSpPr>
        <p:spPr>
          <a:xfrm>
            <a:off x="4286786" y="1414998"/>
            <a:ext cx="1371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3832443" y="1569303"/>
            <a:ext cx="165650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◈</a:t>
            </a:r>
            <a:pPr algn="l" indent="0" marL="0">
              <a:buNone/>
            </a:pPr>
            <a:r>
              <a:rPr lang="en-US" sz="495" spc="45" kern="0" dirty="0">
                <a:solidFill>
                  <a:srgbClr val="9BB6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累计分享场次</a:t>
            </a:r>
            <a:endParaRPr lang="en-US" sz="495" dirty="0"/>
          </a:p>
        </p:txBody>
      </p:sp>
      <p:sp>
        <p:nvSpPr>
          <p:cNvPr id="38" name="Text 36"/>
          <p:cNvSpPr/>
          <p:nvPr/>
        </p:nvSpPr>
        <p:spPr>
          <a:xfrm>
            <a:off x="3832443" y="1695033"/>
            <a:ext cx="165650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6F8D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READING SESSIONS</a:t>
            </a:r>
            <a:endParaRPr lang="en-US" sz="405" dirty="0"/>
          </a:p>
        </p:txBody>
      </p:sp>
      <p:sp>
        <p:nvSpPr>
          <p:cNvPr id="39" name="Shape 37"/>
          <p:cNvSpPr/>
          <p:nvPr/>
        </p:nvSpPr>
        <p:spPr>
          <a:xfrm>
            <a:off x="5465772" y="1232118"/>
            <a:ext cx="1627614" cy="611505"/>
          </a:xfrm>
          <a:prstGeom prst="roundRect">
            <a:avLst>
              <a:gd name="adj" fmla="val 9346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65772" y="1232118"/>
            <a:ext cx="16161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1" name="Shape 39"/>
          <p:cNvSpPr/>
          <p:nvPr/>
        </p:nvSpPr>
        <p:spPr>
          <a:xfrm>
            <a:off x="6796207" y="1060668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2" name="Text 40"/>
          <p:cNvSpPr/>
          <p:nvPr/>
        </p:nvSpPr>
        <p:spPr>
          <a:xfrm>
            <a:off x="6653332" y="1283553"/>
            <a:ext cx="42862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PEOPLE</a:t>
            </a:r>
            <a:endParaRPr lang="en-US" sz="405" dirty="0"/>
          </a:p>
        </p:txBody>
      </p:sp>
      <p:sp>
        <p:nvSpPr>
          <p:cNvPr id="43" name="Text 41"/>
          <p:cNvSpPr/>
          <p:nvPr/>
        </p:nvSpPr>
        <p:spPr>
          <a:xfrm>
            <a:off x="5540067" y="1294983"/>
            <a:ext cx="349758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20" dirty="0"/>
          </a:p>
        </p:txBody>
      </p:sp>
      <p:sp>
        <p:nvSpPr>
          <p:cNvPr id="44" name="Text 42"/>
          <p:cNvSpPr/>
          <p:nvPr/>
        </p:nvSpPr>
        <p:spPr>
          <a:xfrm>
            <a:off x="5685800" y="1414998"/>
            <a:ext cx="21717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万+</a:t>
            </a:r>
            <a:endParaRPr lang="en-US" sz="630" dirty="0"/>
          </a:p>
        </p:txBody>
      </p:sp>
      <p:sp>
        <p:nvSpPr>
          <p:cNvPr id="45" name="Text 43"/>
          <p:cNvSpPr/>
          <p:nvPr/>
        </p:nvSpPr>
        <p:spPr>
          <a:xfrm>
            <a:off x="5540067" y="1569303"/>
            <a:ext cx="165650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▲</a:t>
            </a:r>
            <a:pPr algn="l" indent="0" marL="0">
              <a:buNone/>
            </a:pPr>
            <a:r>
              <a:rPr lang="en-US" sz="495" spc="45" kern="0" dirty="0">
                <a:solidFill>
                  <a:srgbClr val="9BB6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累计参与人次</a:t>
            </a:r>
            <a:endParaRPr lang="en-US" sz="495" dirty="0"/>
          </a:p>
        </p:txBody>
      </p:sp>
      <p:sp>
        <p:nvSpPr>
          <p:cNvPr id="46" name="Text 44"/>
          <p:cNvSpPr/>
          <p:nvPr/>
        </p:nvSpPr>
        <p:spPr>
          <a:xfrm>
            <a:off x="5540067" y="1695033"/>
            <a:ext cx="165650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6F8D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TOTAL PARTICIPANTS</a:t>
            </a:r>
            <a:endParaRPr lang="en-US" sz="405" dirty="0"/>
          </a:p>
        </p:txBody>
      </p:sp>
      <p:sp>
        <p:nvSpPr>
          <p:cNvPr id="47" name="Shape 45"/>
          <p:cNvSpPr/>
          <p:nvPr/>
        </p:nvSpPr>
        <p:spPr>
          <a:xfrm>
            <a:off x="7173397" y="1232118"/>
            <a:ext cx="1627614" cy="611505"/>
          </a:xfrm>
          <a:prstGeom prst="roundRect">
            <a:avLst>
              <a:gd name="adj" fmla="val 9346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50800" dir="16200000">
              <a:srgbClr val="2196F3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173397" y="1232118"/>
            <a:ext cx="1616185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9" name="Shape 47"/>
          <p:cNvSpPr/>
          <p:nvPr/>
        </p:nvSpPr>
        <p:spPr>
          <a:xfrm>
            <a:off x="8503831" y="1060668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0" name="Text 48"/>
          <p:cNvSpPr/>
          <p:nvPr/>
        </p:nvSpPr>
        <p:spPr>
          <a:xfrm>
            <a:off x="8463826" y="1283553"/>
            <a:ext cx="32575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 / YoY</a:t>
            </a:r>
            <a:endParaRPr lang="en-US" sz="405" dirty="0"/>
          </a:p>
        </p:txBody>
      </p:sp>
      <p:sp>
        <p:nvSpPr>
          <p:cNvPr id="51" name="Text 49"/>
          <p:cNvSpPr/>
          <p:nvPr/>
        </p:nvSpPr>
        <p:spPr>
          <a:xfrm>
            <a:off x="7247692" y="1294983"/>
            <a:ext cx="637794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2196F3">
                <a:alpha val="5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</a:t>
            </a:r>
            <a:endParaRPr lang="en-US" sz="1620" dirty="0"/>
          </a:p>
        </p:txBody>
      </p:sp>
      <p:sp>
        <p:nvSpPr>
          <p:cNvPr id="52" name="Text 50"/>
          <p:cNvSpPr/>
          <p:nvPr/>
        </p:nvSpPr>
        <p:spPr>
          <a:xfrm>
            <a:off x="7679174" y="1414998"/>
            <a:ext cx="16002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630" dirty="0"/>
          </a:p>
        </p:txBody>
      </p:sp>
      <p:sp>
        <p:nvSpPr>
          <p:cNvPr id="53" name="Text 51"/>
          <p:cNvSpPr/>
          <p:nvPr/>
        </p:nvSpPr>
        <p:spPr>
          <a:xfrm>
            <a:off x="7247692" y="1569303"/>
            <a:ext cx="1656507" cy="108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▴</a:t>
            </a:r>
            <a:pPr algn="l" indent="0" marL="0">
              <a:buNone/>
            </a:pPr>
            <a:r>
              <a:rPr lang="en-US" sz="495" spc="45" kern="0" dirty="0">
                <a:solidFill>
                  <a:srgbClr val="9BB6D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2022借阅增长率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7247692" y="1695033"/>
            <a:ext cx="165650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23" kern="0" dirty="0">
                <a:solidFill>
                  <a:srgbClr val="6F8D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相比2021年</a:t>
            </a:r>
            <a:endParaRPr lang="en-US" sz="405" dirty="0"/>
          </a:p>
        </p:txBody>
      </p:sp>
      <p:sp>
        <p:nvSpPr>
          <p:cNvPr id="55" name="Shape 53"/>
          <p:cNvSpPr/>
          <p:nvPr/>
        </p:nvSpPr>
        <p:spPr>
          <a:xfrm>
            <a:off x="342900" y="1935063"/>
            <a:ext cx="2773650" cy="1327041"/>
          </a:xfrm>
          <a:prstGeom prst="roundRect">
            <a:avLst>
              <a:gd name="adj" fmla="val 3445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2900" y="1935063"/>
            <a:ext cx="17145" cy="13156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948494" y="1975068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 01</a:t>
            </a:r>
            <a:endParaRPr lang="en-US" sz="405" dirty="0"/>
          </a:p>
        </p:txBody>
      </p:sp>
      <p:sp>
        <p:nvSpPr>
          <p:cNvPr id="58" name="Shape 56"/>
          <p:cNvSpPr/>
          <p:nvPr/>
        </p:nvSpPr>
        <p:spPr>
          <a:xfrm>
            <a:off x="440055" y="2003643"/>
            <a:ext cx="137160" cy="13716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2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40055" y="2003643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📚</a:t>
            </a:r>
            <a:endParaRPr lang="en-US" sz="540" dirty="0"/>
          </a:p>
        </p:txBody>
      </p:sp>
      <p:sp>
        <p:nvSpPr>
          <p:cNvPr id="60" name="Text 58"/>
          <p:cNvSpPr/>
          <p:nvPr/>
        </p:nvSpPr>
        <p:spPr>
          <a:xfrm>
            <a:off x="622935" y="2015073"/>
            <a:ext cx="4114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书籍总量</a:t>
            </a:r>
            <a:endParaRPr lang="en-US" sz="630" dirty="0"/>
          </a:p>
        </p:txBody>
      </p:sp>
      <p:sp>
        <p:nvSpPr>
          <p:cNvPr id="61" name="Text 59"/>
          <p:cNvSpPr/>
          <p:nvPr/>
        </p:nvSpPr>
        <p:spPr>
          <a:xfrm>
            <a:off x="440055" y="2169378"/>
            <a:ext cx="434340" cy="13716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88670" y="2203668"/>
            <a:ext cx="1257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</a:t>
            </a:r>
            <a:endParaRPr lang="en-US" sz="495" dirty="0"/>
          </a:p>
        </p:txBody>
      </p:sp>
      <p:sp>
        <p:nvSpPr>
          <p:cNvPr id="63" name="Text 61"/>
          <p:cNvSpPr/>
          <p:nvPr/>
        </p:nvSpPr>
        <p:spPr>
          <a:xfrm>
            <a:off x="440055" y="2335113"/>
            <a:ext cx="2901663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A9C3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开源之道累计收录开源相关书籍超过300本，涵盖入门到专家级别。</a:t>
            </a:r>
            <a:endParaRPr lang="en-US" sz="495" dirty="0"/>
          </a:p>
        </p:txBody>
      </p:sp>
      <p:sp>
        <p:nvSpPr>
          <p:cNvPr id="64" name="Shape 62"/>
          <p:cNvSpPr/>
          <p:nvPr/>
        </p:nvSpPr>
        <p:spPr>
          <a:xfrm>
            <a:off x="3185130" y="1935063"/>
            <a:ext cx="2773650" cy="1327041"/>
          </a:xfrm>
          <a:prstGeom prst="roundRect">
            <a:avLst>
              <a:gd name="adj" fmla="val 3445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85130" y="1935063"/>
            <a:ext cx="17145" cy="13156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790724" y="1975068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 02</a:t>
            </a:r>
            <a:endParaRPr lang="en-US" sz="405" dirty="0"/>
          </a:p>
        </p:txBody>
      </p:sp>
      <p:sp>
        <p:nvSpPr>
          <p:cNvPr id="67" name="Shape 65"/>
          <p:cNvSpPr/>
          <p:nvPr/>
        </p:nvSpPr>
        <p:spPr>
          <a:xfrm>
            <a:off x="3282285" y="2003643"/>
            <a:ext cx="137160" cy="13716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2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282285" y="2003643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🌐</a:t>
            </a:r>
            <a:endParaRPr lang="en-US" sz="540" dirty="0"/>
          </a:p>
        </p:txBody>
      </p:sp>
      <p:sp>
        <p:nvSpPr>
          <p:cNvPr id="69" name="Text 67"/>
          <p:cNvSpPr/>
          <p:nvPr/>
        </p:nvSpPr>
        <p:spPr>
          <a:xfrm>
            <a:off x="3465165" y="2015073"/>
            <a:ext cx="4114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译作数量</a:t>
            </a:r>
            <a:endParaRPr lang="en-US" sz="630" dirty="0"/>
          </a:p>
        </p:txBody>
      </p:sp>
      <p:sp>
        <p:nvSpPr>
          <p:cNvPr id="70" name="Text 68"/>
          <p:cNvSpPr/>
          <p:nvPr/>
        </p:nvSpPr>
        <p:spPr>
          <a:xfrm>
            <a:off x="3282285" y="2169378"/>
            <a:ext cx="354330" cy="13716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550890" y="2203668"/>
            <a:ext cx="1257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</a:t>
            </a:r>
            <a:endParaRPr lang="en-US" sz="495" dirty="0"/>
          </a:p>
        </p:txBody>
      </p:sp>
      <p:sp>
        <p:nvSpPr>
          <p:cNvPr id="72" name="Text 70"/>
          <p:cNvSpPr/>
          <p:nvPr/>
        </p:nvSpPr>
        <p:spPr>
          <a:xfrm>
            <a:off x="3282285" y="2335113"/>
            <a:ext cx="2901663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A9C3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社区推动完成中译开源技术书籍超过50本，覆盖Linux、Go、Kubernetes等领域。</a:t>
            </a:r>
            <a:endParaRPr lang="en-US" sz="495" dirty="0"/>
          </a:p>
        </p:txBody>
      </p:sp>
      <p:sp>
        <p:nvSpPr>
          <p:cNvPr id="73" name="Shape 71"/>
          <p:cNvSpPr/>
          <p:nvPr/>
        </p:nvSpPr>
        <p:spPr>
          <a:xfrm>
            <a:off x="6027360" y="1935063"/>
            <a:ext cx="2773740" cy="1327041"/>
          </a:xfrm>
          <a:prstGeom prst="roundRect">
            <a:avLst>
              <a:gd name="adj" fmla="val 3445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27360" y="1935063"/>
            <a:ext cx="17145" cy="13156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633043" y="1975068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 03</a:t>
            </a:r>
            <a:endParaRPr lang="en-US" sz="405" dirty="0"/>
          </a:p>
        </p:txBody>
      </p:sp>
      <p:sp>
        <p:nvSpPr>
          <p:cNvPr id="76" name="Shape 74"/>
          <p:cNvSpPr/>
          <p:nvPr/>
        </p:nvSpPr>
        <p:spPr>
          <a:xfrm>
            <a:off x="6124515" y="2003643"/>
            <a:ext cx="137160" cy="13716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2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124515" y="2003643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📡</a:t>
            </a:r>
            <a:endParaRPr lang="en-US" sz="540" dirty="0"/>
          </a:p>
        </p:txBody>
      </p:sp>
      <p:sp>
        <p:nvSpPr>
          <p:cNvPr id="78" name="Text 76"/>
          <p:cNvSpPr/>
          <p:nvPr/>
        </p:nvSpPr>
        <p:spPr>
          <a:xfrm>
            <a:off x="6307395" y="2015073"/>
            <a:ext cx="4114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分享记录</a:t>
            </a:r>
            <a:endParaRPr lang="en-US" sz="630" dirty="0"/>
          </a:p>
        </p:txBody>
      </p:sp>
      <p:sp>
        <p:nvSpPr>
          <p:cNvPr id="79" name="Text 77"/>
          <p:cNvSpPr/>
          <p:nvPr/>
        </p:nvSpPr>
        <p:spPr>
          <a:xfrm>
            <a:off x="6124515" y="2169378"/>
            <a:ext cx="434340" cy="13716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473130" y="2203668"/>
            <a:ext cx="5143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场 / 2万+人次</a:t>
            </a:r>
            <a:endParaRPr lang="en-US" sz="495" dirty="0"/>
          </a:p>
        </p:txBody>
      </p:sp>
      <p:sp>
        <p:nvSpPr>
          <p:cNvPr id="81" name="Text 79"/>
          <p:cNvSpPr/>
          <p:nvPr/>
        </p:nvSpPr>
        <p:spPr>
          <a:xfrm>
            <a:off x="6124515" y="2335113"/>
            <a:ext cx="2901763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A9C3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自2015年启动以来累计完成300余场阅读分享，参与者超过2万人次。</a:t>
            </a:r>
            <a:endParaRPr lang="en-US" sz="495" dirty="0"/>
          </a:p>
        </p:txBody>
      </p:sp>
      <p:sp>
        <p:nvSpPr>
          <p:cNvPr id="82" name="Shape 80"/>
          <p:cNvSpPr/>
          <p:nvPr/>
        </p:nvSpPr>
        <p:spPr>
          <a:xfrm>
            <a:off x="342900" y="3330684"/>
            <a:ext cx="2773650" cy="1327041"/>
          </a:xfrm>
          <a:prstGeom prst="roundRect">
            <a:avLst>
              <a:gd name="adj" fmla="val 3445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2900" y="3330684"/>
            <a:ext cx="17145" cy="13156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948494" y="3370689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 04</a:t>
            </a:r>
            <a:endParaRPr lang="en-US" sz="405" dirty="0"/>
          </a:p>
        </p:txBody>
      </p:sp>
      <p:sp>
        <p:nvSpPr>
          <p:cNvPr id="85" name="Shape 83"/>
          <p:cNvSpPr/>
          <p:nvPr/>
        </p:nvSpPr>
        <p:spPr>
          <a:xfrm>
            <a:off x="440055" y="3399264"/>
            <a:ext cx="137160" cy="13716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2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440055" y="3399264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🏆</a:t>
            </a:r>
            <a:endParaRPr lang="en-US" sz="540" dirty="0"/>
          </a:p>
        </p:txBody>
      </p:sp>
      <p:sp>
        <p:nvSpPr>
          <p:cNvPr id="87" name="Text 85"/>
          <p:cNvSpPr/>
          <p:nvPr/>
        </p:nvSpPr>
        <p:spPr>
          <a:xfrm>
            <a:off x="622935" y="3410694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最受欢迎类别</a:t>
            </a:r>
            <a:endParaRPr lang="en-US" sz="630" dirty="0"/>
          </a:p>
        </p:txBody>
      </p:sp>
      <p:sp>
        <p:nvSpPr>
          <p:cNvPr id="88" name="Text 86"/>
          <p:cNvSpPr/>
          <p:nvPr/>
        </p:nvSpPr>
        <p:spPr>
          <a:xfrm>
            <a:off x="440055" y="3564999"/>
            <a:ext cx="422910" cy="13716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3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82955" y="3599289"/>
            <a:ext cx="3143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长期榜首</a:t>
            </a:r>
            <a:endParaRPr lang="en-US" sz="495" dirty="0"/>
          </a:p>
        </p:txBody>
      </p:sp>
      <p:sp>
        <p:nvSpPr>
          <p:cNvPr id="90" name="Text 88"/>
          <p:cNvSpPr/>
          <p:nvPr/>
        </p:nvSpPr>
        <p:spPr>
          <a:xfrm>
            <a:off x="440055" y="3730734"/>
            <a:ext cx="2901663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A9C3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操作系统、分布式系统与开源组织管理类书籍长期位居借阅榜单前三。</a:t>
            </a:r>
            <a:endParaRPr lang="en-US" sz="495" dirty="0"/>
          </a:p>
        </p:txBody>
      </p:sp>
      <p:sp>
        <p:nvSpPr>
          <p:cNvPr id="91" name="Shape 89"/>
          <p:cNvSpPr/>
          <p:nvPr/>
        </p:nvSpPr>
        <p:spPr>
          <a:xfrm>
            <a:off x="3185130" y="3330684"/>
            <a:ext cx="2773650" cy="1327041"/>
          </a:xfrm>
          <a:prstGeom prst="roundRect">
            <a:avLst>
              <a:gd name="adj" fmla="val 3445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5130" y="3330684"/>
            <a:ext cx="17145" cy="13156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5790724" y="3370689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 05</a:t>
            </a:r>
            <a:endParaRPr lang="en-US" sz="405" dirty="0"/>
          </a:p>
        </p:txBody>
      </p:sp>
      <p:sp>
        <p:nvSpPr>
          <p:cNvPr id="94" name="Shape 92"/>
          <p:cNvSpPr/>
          <p:nvPr/>
        </p:nvSpPr>
        <p:spPr>
          <a:xfrm>
            <a:off x="3282285" y="3399264"/>
            <a:ext cx="137160" cy="13716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2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3282285" y="3399264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📈</a:t>
            </a:r>
            <a:endParaRPr lang="en-US" sz="540" dirty="0"/>
          </a:p>
        </p:txBody>
      </p:sp>
      <p:sp>
        <p:nvSpPr>
          <p:cNvPr id="96" name="Text 94"/>
          <p:cNvSpPr/>
          <p:nvPr/>
        </p:nvSpPr>
        <p:spPr>
          <a:xfrm>
            <a:off x="3465165" y="3410694"/>
            <a:ext cx="41148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年度趋势</a:t>
            </a:r>
            <a:endParaRPr lang="en-US" sz="630" dirty="0"/>
          </a:p>
        </p:txBody>
      </p:sp>
      <p:sp>
        <p:nvSpPr>
          <p:cNvPr id="97" name="Text 95"/>
          <p:cNvSpPr/>
          <p:nvPr/>
        </p:nvSpPr>
        <p:spPr>
          <a:xfrm>
            <a:off x="3282285" y="3564999"/>
            <a:ext cx="462915" cy="13716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+35%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665190" y="3605004"/>
            <a:ext cx="54292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 vs 2021</a:t>
            </a:r>
            <a:endParaRPr lang="en-US" sz="495" dirty="0"/>
          </a:p>
        </p:txBody>
      </p:sp>
      <p:sp>
        <p:nvSpPr>
          <p:cNvPr id="99" name="Text 97"/>
          <p:cNvSpPr/>
          <p:nvPr/>
        </p:nvSpPr>
        <p:spPr>
          <a:xfrm>
            <a:off x="3282285" y="3730734"/>
            <a:ext cx="2901663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A9C3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2022年相比2021年，开源书籍借阅量增长约35%，AI类书籍增速最为显著。</a:t>
            </a:r>
            <a:endParaRPr lang="en-US" sz="495" dirty="0"/>
          </a:p>
        </p:txBody>
      </p:sp>
      <p:sp>
        <p:nvSpPr>
          <p:cNvPr id="100" name="Shape 98"/>
          <p:cNvSpPr/>
          <p:nvPr/>
        </p:nvSpPr>
        <p:spPr>
          <a:xfrm>
            <a:off x="6027360" y="3330684"/>
            <a:ext cx="2773740" cy="1327041"/>
          </a:xfrm>
          <a:prstGeom prst="roundRect">
            <a:avLst>
              <a:gd name="adj" fmla="val 3445"/>
            </a:avLst>
          </a:prstGeom>
          <a:solidFill>
            <a:srgbClr val="0F1C37">
              <a:alpha val="72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27360" y="3330684"/>
            <a:ext cx="17145" cy="131561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102" name="Text 100"/>
          <p:cNvSpPr/>
          <p:nvPr/>
        </p:nvSpPr>
        <p:spPr>
          <a:xfrm>
            <a:off x="8633043" y="3370689"/>
            <a:ext cx="195453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dirty="0">
                <a:solidFill>
                  <a:srgbClr val="3A588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 06</a:t>
            </a:r>
            <a:endParaRPr lang="en-US" sz="405" dirty="0"/>
          </a:p>
        </p:txBody>
      </p:sp>
      <p:sp>
        <p:nvSpPr>
          <p:cNvPr id="103" name="Shape 101"/>
          <p:cNvSpPr/>
          <p:nvPr/>
        </p:nvSpPr>
        <p:spPr>
          <a:xfrm>
            <a:off x="6124515" y="3399264"/>
            <a:ext cx="137160" cy="137160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2196F3">
                  <a:alpha val="25000"/>
                </a:srgbClr>
              </a:gs>
              <a:gs pos="100000">
                <a:srgbClr val="00BCD4">
                  <a:alpha val="2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6124515" y="3399264"/>
            <a:ext cx="20574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🎙</a:t>
            </a:r>
            <a:endParaRPr lang="en-US" sz="540" dirty="0"/>
          </a:p>
        </p:txBody>
      </p:sp>
      <p:sp>
        <p:nvSpPr>
          <p:cNvPr id="105" name="Text 103"/>
          <p:cNvSpPr/>
          <p:nvPr/>
        </p:nvSpPr>
        <p:spPr>
          <a:xfrm>
            <a:off x="6307395" y="3410694"/>
            <a:ext cx="57721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spc="23" kern="0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分享形式拓展</a:t>
            </a:r>
            <a:endParaRPr lang="en-US" sz="630" dirty="0"/>
          </a:p>
        </p:txBody>
      </p:sp>
      <p:sp>
        <p:nvSpPr>
          <p:cNvPr id="106" name="Text 104"/>
          <p:cNvSpPr/>
          <p:nvPr/>
        </p:nvSpPr>
        <p:spPr>
          <a:xfrm>
            <a:off x="6124515" y="3564999"/>
            <a:ext cx="274320" cy="13716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AF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4+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6318825" y="3599289"/>
            <a:ext cx="3143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渠道触达</a:t>
            </a:r>
            <a:endParaRPr lang="en-US" sz="495" dirty="0"/>
          </a:p>
        </p:txBody>
      </p:sp>
      <p:sp>
        <p:nvSpPr>
          <p:cNvPr id="108" name="Text 106"/>
          <p:cNvSpPr/>
          <p:nvPr/>
        </p:nvSpPr>
        <p:spPr>
          <a:xfrm>
            <a:off x="6124515" y="3730734"/>
            <a:ext cx="2901763" cy="9742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95" dirty="0">
                <a:solidFill>
                  <a:srgbClr val="A9C3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除线下面谈外，已拓展至直播、短视频、播客等多种形式触达更广泛受众。</a:t>
            </a:r>
            <a:endParaRPr lang="en-US" sz="495" dirty="0"/>
          </a:p>
        </p:txBody>
      </p:sp>
      <p:sp>
        <p:nvSpPr>
          <p:cNvPr id="109" name="Shape 107"/>
          <p:cNvSpPr/>
          <p:nvPr/>
        </p:nvSpPr>
        <p:spPr>
          <a:xfrm>
            <a:off x="342900" y="4726305"/>
            <a:ext cx="8458200" cy="245745"/>
          </a:xfrm>
          <a:prstGeom prst="roundRect">
            <a:avLst>
              <a:gd name="adj" fmla="val 13953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12000"/>
                </a:srgbClr>
              </a:gs>
            </a:gsLst>
            <a:lin ang="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895148" y="4806315"/>
            <a:ext cx="1043330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FA0C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 SOURCE · 开源之道</a:t>
            </a:r>
            <a:endParaRPr lang="en-US" sz="450" dirty="0"/>
          </a:p>
        </p:txBody>
      </p:sp>
      <p:sp>
        <p:nvSpPr>
          <p:cNvPr id="111" name="Shape 109"/>
          <p:cNvSpPr/>
          <p:nvPr/>
        </p:nvSpPr>
        <p:spPr>
          <a:xfrm>
            <a:off x="6895148" y="484265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5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7906703" y="4806315"/>
            <a:ext cx="892912" cy="85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7FA0C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SCOPE · 2015–2022</a:t>
            </a:r>
            <a:endParaRPr lang="en-US" sz="450" dirty="0"/>
          </a:p>
        </p:txBody>
      </p:sp>
      <p:sp>
        <p:nvSpPr>
          <p:cNvPr id="113" name="Shape 111"/>
          <p:cNvSpPr/>
          <p:nvPr/>
        </p:nvSpPr>
        <p:spPr>
          <a:xfrm>
            <a:off x="7906703" y="4831229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55000"/>
              </a:srgbClr>
            </a:outerShdw>
          </a:effectLst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A1A"/>
              </a:gs>
              <a:gs pos="45000">
                <a:srgbClr val="0A1030"/>
              </a:gs>
              <a:gs pos="100000">
                <a:srgbClr val="0D1A3A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0" y="1143000"/>
            <a:ext cx="1714500" cy="1714500"/>
          </a:xfrm>
          <a:prstGeom prst="ellipse">
            <a:avLst/>
          </a:prstGeom>
          <a:solidFill>
            <a:srgbClr val="AB0038">
              <a:alpha val="50000"/>
            </a:srgbClr>
          </a:solidFill>
          <a:ln/>
          <a:effectLst>
            <a:outerShdw sx="100000" sy="100000" kx="0" ky="0" algn="bl" rotWithShape="0" blurRad="85725" dist="50800" dir="16200000">
              <a:srgbClr val="AB0038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342900"/>
            <a:ext cx="8229600" cy="18288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457200" y="525780"/>
            <a:ext cx="822960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348615"/>
            <a:ext cx="1222553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CHAPTER · 过渡页</a:t>
            </a:r>
            <a:endParaRPr lang="en-US" sz="585" dirty="0"/>
          </a:p>
        </p:txBody>
      </p:sp>
      <p:sp>
        <p:nvSpPr>
          <p:cNvPr id="7" name="Text 5"/>
          <p:cNvSpPr/>
          <p:nvPr/>
        </p:nvSpPr>
        <p:spPr>
          <a:xfrm>
            <a:off x="6875145" y="351473"/>
            <a:ext cx="190103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SYS.AUTHOR &gt; 2023.02 &gt; LOADING...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3143250" y="2684889"/>
            <a:ext cx="28575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687747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850624"/>
            <a:ext cx="2499330" cy="1058704"/>
          </a:xfrm>
          <a:prstGeom prst="roundRect">
            <a:avLst>
              <a:gd name="adj" fmla="val 323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3000"/>
                </a:srgbClr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850624"/>
            <a:ext cx="17145" cy="20574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10810" y="2913489"/>
            <a:ext cx="25717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01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828675" y="3016359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828675" y="3322112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0115" y="3256389"/>
            <a:ext cx="61722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本期聚焦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8675" y="3507849"/>
            <a:ext cx="2419502" cy="223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23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以一本关于操作系统作者的书籍为核心，追溯其写作历程与思想脉络。</a:t>
            </a:r>
            <a:endParaRPr lang="en-US" sz="563" dirty="0"/>
          </a:p>
        </p:txBody>
      </p:sp>
      <p:sp>
        <p:nvSpPr>
          <p:cNvPr id="17" name="Shape 15"/>
          <p:cNvSpPr/>
          <p:nvPr/>
        </p:nvSpPr>
        <p:spPr>
          <a:xfrm>
            <a:off x="3322290" y="2850624"/>
            <a:ext cx="2499330" cy="1058704"/>
          </a:xfrm>
          <a:prstGeom prst="roundRect">
            <a:avLst>
              <a:gd name="adj" fmla="val 323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3000"/>
                </a:srgbClr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22290" y="2850624"/>
            <a:ext cx="17145" cy="20574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47300" y="2913489"/>
            <a:ext cx="25717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02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3465165" y="3016359"/>
            <a:ext cx="39433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3465165" y="3322112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56605" y="3256389"/>
            <a:ext cx="61722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阅读视角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65165" y="3507849"/>
            <a:ext cx="2419502" cy="223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23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既关注作者的学术贡献，也关注其作为写作者的叙事风格与读者影响力。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5958780" y="2850624"/>
            <a:ext cx="2499420" cy="1058704"/>
          </a:xfrm>
          <a:prstGeom prst="roundRect">
            <a:avLst>
              <a:gd name="adj" fmla="val 3239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3000"/>
                </a:srgbClr>
              </a:gs>
            </a:gsLst>
            <a:lin ang="42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58780" y="2850624"/>
            <a:ext cx="17145" cy="20574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83880" y="2913489"/>
            <a:ext cx="257175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>
                    <a:alpha val="4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03</a:t>
            </a:r>
            <a:endParaRPr lang="en-US" sz="450" dirty="0"/>
          </a:p>
        </p:txBody>
      </p:sp>
      <p:sp>
        <p:nvSpPr>
          <p:cNvPr id="27" name="Text 25"/>
          <p:cNvSpPr/>
          <p:nvPr/>
        </p:nvSpPr>
        <p:spPr>
          <a:xfrm>
            <a:off x="6101655" y="3016359"/>
            <a:ext cx="394335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6101655" y="3322112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5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93095" y="3256389"/>
            <a:ext cx="61722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分享价值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01655" y="3507849"/>
            <a:ext cx="2419502" cy="223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23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通过解读一位优秀开源作者，激励更多开发者拿起笔、写代码也写文字。</a:t>
            </a:r>
            <a:endParaRPr lang="en-US" sz="563" dirty="0"/>
          </a:p>
        </p:txBody>
      </p:sp>
      <p:sp>
        <p:nvSpPr>
          <p:cNvPr id="31" name="Shape 29"/>
          <p:cNvSpPr/>
          <p:nvPr/>
        </p:nvSpPr>
        <p:spPr>
          <a:xfrm>
            <a:off x="2286000" y="1136660"/>
            <a:ext cx="4572000" cy="1028700"/>
          </a:xfrm>
          <a:prstGeom prst="rect">
            <a:avLst/>
          </a:prstGeom>
          <a:solidFill>
            <a:srgbClr val="2196F3">
              <a:alpha val="25000"/>
            </a:srgbClr>
          </a:solidFill>
          <a:ln/>
          <a:effectLst>
            <a:outerShdw sx="100000" sy="100000" kx="0" ky="0" algn="bl" rotWithShape="0" blurRad="171450" dist="50800" dir="16200000">
              <a:srgbClr val="2196F3">
                <a:alpha val="6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60420" y="800100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3" name="Shape 31"/>
          <p:cNvSpPr/>
          <p:nvPr/>
        </p:nvSpPr>
        <p:spPr>
          <a:xfrm>
            <a:off x="3360420" y="800100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3783330" y="800100"/>
            <a:ext cx="176662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PROTAGONIST · 主角登场</a:t>
            </a:r>
            <a:endParaRPr lang="en-US" sz="630" dirty="0"/>
          </a:p>
        </p:txBody>
      </p:sp>
      <p:sp>
        <p:nvSpPr>
          <p:cNvPr id="35" name="Text 33"/>
          <p:cNvSpPr/>
          <p:nvPr/>
        </p:nvSpPr>
        <p:spPr>
          <a:xfrm>
            <a:off x="3177540" y="977265"/>
            <a:ext cx="3406140" cy="748665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60" b="1" spc="63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本期主角</a:t>
            </a:r>
            <a:endParaRPr lang="en-US" sz="4860" dirty="0"/>
          </a:p>
        </p:txBody>
      </p:sp>
      <p:sp>
        <p:nvSpPr>
          <p:cNvPr id="36" name="Text 34"/>
          <p:cNvSpPr/>
          <p:nvPr/>
        </p:nvSpPr>
        <p:spPr>
          <a:xfrm>
            <a:off x="3531870" y="1827639"/>
            <a:ext cx="2329891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80" spc="180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一位引人入胜的操作系统作者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3857625" y="2044809"/>
            <a:ext cx="160020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Fascinating OS Author</a:t>
            </a:r>
            <a:endParaRPr lang="en-US" sz="630" dirty="0"/>
          </a:p>
        </p:txBody>
      </p:sp>
      <p:sp>
        <p:nvSpPr>
          <p:cNvPr id="38" name="Shape 36"/>
          <p:cNvSpPr/>
          <p:nvPr/>
        </p:nvSpPr>
        <p:spPr>
          <a:xfrm>
            <a:off x="3354705" y="2290554"/>
            <a:ext cx="1034415" cy="211455"/>
          </a:xfrm>
          <a:prstGeom prst="roundRect">
            <a:avLst>
              <a:gd name="adj" fmla="val 1081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63290" y="2373422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4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566160" y="2347704"/>
            <a:ext cx="3657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分享期次</a:t>
            </a:r>
            <a:endParaRPr lang="en-US" sz="540" dirty="0"/>
          </a:p>
        </p:txBody>
      </p:sp>
      <p:sp>
        <p:nvSpPr>
          <p:cNvPr id="41" name="Text 39"/>
          <p:cNvSpPr/>
          <p:nvPr/>
        </p:nvSpPr>
        <p:spPr>
          <a:xfrm>
            <a:off x="3920490" y="2344847"/>
            <a:ext cx="434340" cy="10287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2023-02</a:t>
            </a:r>
            <a:endParaRPr lang="en-US" sz="585" dirty="0"/>
          </a:p>
        </p:txBody>
      </p:sp>
      <p:sp>
        <p:nvSpPr>
          <p:cNvPr id="42" name="Shape 40"/>
          <p:cNvSpPr/>
          <p:nvPr/>
        </p:nvSpPr>
        <p:spPr>
          <a:xfrm>
            <a:off x="4480560" y="2290554"/>
            <a:ext cx="1308735" cy="211455"/>
          </a:xfrm>
          <a:prstGeom prst="roundRect">
            <a:avLst>
              <a:gd name="adj" fmla="val 1081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89145" y="2373422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4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92015" y="2347704"/>
            <a:ext cx="3657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4A3C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阅读类型</a:t>
            </a:r>
            <a:endParaRPr lang="en-US" sz="540" dirty="0"/>
          </a:p>
        </p:txBody>
      </p:sp>
      <p:sp>
        <p:nvSpPr>
          <p:cNvPr id="45" name="Text 43"/>
          <p:cNvSpPr/>
          <p:nvPr/>
        </p:nvSpPr>
        <p:spPr>
          <a:xfrm>
            <a:off x="5046345" y="2341989"/>
            <a:ext cx="710489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操作系统 · 人物</a:t>
            </a:r>
            <a:endParaRPr lang="en-US" sz="585" dirty="0"/>
          </a:p>
        </p:txBody>
      </p:sp>
      <p:sp>
        <p:nvSpPr>
          <p:cNvPr id="46" name="Shape 44"/>
          <p:cNvSpPr/>
          <p:nvPr/>
        </p:nvSpPr>
        <p:spPr>
          <a:xfrm>
            <a:off x="2886075" y="4646295"/>
            <a:ext cx="3371850" cy="314325"/>
          </a:xfrm>
          <a:prstGeom prst="rect">
            <a:avLst/>
          </a:prstGeom>
          <a:noFill/>
          <a:ln/>
        </p:spPr>
      </p:sp>
      <p:sp>
        <p:nvSpPr>
          <p:cNvPr id="47" name="Shape 45"/>
          <p:cNvSpPr/>
          <p:nvPr/>
        </p:nvSpPr>
        <p:spPr>
          <a:xfrm>
            <a:off x="2886075" y="4646295"/>
            <a:ext cx="3371850" cy="0"/>
          </a:xfrm>
          <a:prstGeom prst="line">
            <a:avLst/>
          </a:prstGeom>
          <a:noFill/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6075" y="4960620"/>
            <a:ext cx="3371850" cy="0"/>
          </a:xfrm>
          <a:prstGeom prst="line">
            <a:avLst/>
          </a:prstGeom>
          <a:noFill/>
          <a:ln w="5715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37535" y="4743450"/>
            <a:ext cx="24574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spc="13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37560" y="4766310"/>
            <a:ext cx="28803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spc="135" kern="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从研究者到写作者，他的文字影响了几代操作系统学习者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5909310" y="4766310"/>
            <a:ext cx="25146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。」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100000">
                <a:srgbClr val="060E1C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3200400" y="-128587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3200400" y="1285875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342900" y="251460"/>
            <a:ext cx="8458200" cy="58293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342900" y="834390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" y="351473"/>
            <a:ext cx="274320" cy="274320"/>
          </a:xfrm>
          <a:prstGeom prst="roundRect">
            <a:avLst>
              <a:gd name="adj" fmla="val 20833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5765" y="428625"/>
            <a:ext cx="25146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720090" y="251460"/>
            <a:ext cx="1748790" cy="34861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5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作者背景探析</a:t>
            </a:r>
            <a:endParaRPr lang="en-US" sz="1890" dirty="0"/>
          </a:p>
        </p:txBody>
      </p:sp>
      <p:sp>
        <p:nvSpPr>
          <p:cNvPr id="10" name="Text 8"/>
          <p:cNvSpPr/>
          <p:nvPr/>
        </p:nvSpPr>
        <p:spPr>
          <a:xfrm>
            <a:off x="720090" y="634365"/>
            <a:ext cx="168981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AUTHOR BACKGROUND ANALYSIS</a:t>
            </a:r>
            <a:endParaRPr lang="en-US" sz="540" dirty="0"/>
          </a:p>
        </p:txBody>
      </p:sp>
      <p:sp>
        <p:nvSpPr>
          <p:cNvPr id="11" name="Shape 9"/>
          <p:cNvSpPr/>
          <p:nvPr/>
        </p:nvSpPr>
        <p:spPr>
          <a:xfrm>
            <a:off x="8218170" y="451485"/>
            <a:ext cx="582930" cy="137160"/>
          </a:xfrm>
          <a:prstGeom prst="roundRect">
            <a:avLst>
              <a:gd name="adj" fmla="val 83333"/>
            </a:avLst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8170" y="451485"/>
            <a:ext cx="652882" cy="13716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 02</a:t>
            </a:r>
            <a:endParaRPr lang="en-US" sz="495" dirty="0"/>
          </a:p>
        </p:txBody>
      </p:sp>
      <p:sp>
        <p:nvSpPr>
          <p:cNvPr id="13" name="Text 11"/>
          <p:cNvSpPr/>
          <p:nvPr/>
        </p:nvSpPr>
        <p:spPr>
          <a:xfrm>
            <a:off x="8081010" y="634365"/>
            <a:ext cx="806501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68" kern="0" dirty="0">
                <a:solidFill>
                  <a:srgbClr val="E0E0E0">
                    <a:alpha val="5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学术 · 社区 · 桥梁</a:t>
            </a:r>
            <a:endParaRPr lang="en-US" sz="495" dirty="0"/>
          </a:p>
        </p:txBody>
      </p:sp>
      <p:sp>
        <p:nvSpPr>
          <p:cNvPr id="14" name="Shape 12"/>
          <p:cNvSpPr/>
          <p:nvPr/>
        </p:nvSpPr>
        <p:spPr>
          <a:xfrm>
            <a:off x="342900" y="960120"/>
            <a:ext cx="7086600" cy="135017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342900" y="960120"/>
            <a:ext cx="0" cy="135017"/>
          </a:xfrm>
          <a:prstGeom prst="line">
            <a:avLst/>
          </a:prstGeom>
          <a:noFill/>
          <a:ln w="11430">
            <a:solidFill>
              <a:srgbClr val="00BCD4">
                <a:alpha val="7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" y="960120"/>
            <a:ext cx="7936992" cy="135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E0E0E0">
                    <a:alpha val="7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一位出色的操作系统作者，往往既是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学术尖兵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E0E0E0">
                    <a:alpha val="7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又是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社区骨干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E0E0E0">
                    <a:alpha val="7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。本节将剖析作者的成长轨迹，揭示他为何能成为连接学术界与开源社区的桥梁人物，以及他的作品为何具有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持久的生命力</a:t>
            </a:r>
            <a:pPr algn="l" indent="0" marL="0">
              <a:lnSpc>
                <a:spcPct val="175000"/>
              </a:lnSpc>
              <a:buNone/>
            </a:pPr>
            <a:r>
              <a:rPr lang="en-US" sz="608" dirty="0">
                <a:solidFill>
                  <a:srgbClr val="E0E0E0">
                    <a:alpha val="78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608" dirty="0"/>
          </a:p>
        </p:txBody>
      </p:sp>
      <p:sp>
        <p:nvSpPr>
          <p:cNvPr id="17" name="Shape 15"/>
          <p:cNvSpPr/>
          <p:nvPr/>
        </p:nvSpPr>
        <p:spPr>
          <a:xfrm>
            <a:off x="342900" y="1220867"/>
            <a:ext cx="2743200" cy="3322558"/>
          </a:xfrm>
          <a:prstGeom prst="roundRect">
            <a:avLst>
              <a:gd name="adj" fmla="val 2500"/>
            </a:avLst>
          </a:prstGeom>
          <a:gradFill rotWithShape="1">
            <a:gsLst>
              <a:gs pos="0">
                <a:srgbClr val="0F2038">
                  <a:alpha val="55000"/>
                </a:srgbClr>
              </a:gs>
              <a:gs pos="100000">
                <a:srgbClr val="0A1628">
                  <a:alpha val="35000"/>
                </a:srgbClr>
              </a:gs>
            </a:gsLst>
            <a:lin ang="54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" y="1220867"/>
            <a:ext cx="2731770" cy="3311128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0285" y="1306592"/>
            <a:ext cx="685800" cy="9144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08635" y="1355169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1505" y="1306592"/>
            <a:ext cx="947318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6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成长轨迹 · 时间线</a:t>
            </a:r>
            <a:endParaRPr lang="en-US" sz="765" dirty="0"/>
          </a:p>
        </p:txBody>
      </p:sp>
      <p:sp>
        <p:nvSpPr>
          <p:cNvPr id="22" name="Text 19"/>
          <p:cNvSpPr/>
          <p:nvPr/>
        </p:nvSpPr>
        <p:spPr>
          <a:xfrm>
            <a:off x="508635" y="1483757"/>
            <a:ext cx="273954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E0E0E0">
                    <a:alpha val="5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GROWTH TIMELINE</a:t>
            </a:r>
            <a:endParaRPr lang="en-US" sz="495" dirty="0"/>
          </a:p>
        </p:txBody>
      </p:sp>
      <p:sp>
        <p:nvSpPr>
          <p:cNvPr id="23" name="Shape 20"/>
          <p:cNvSpPr/>
          <p:nvPr/>
        </p:nvSpPr>
        <p:spPr>
          <a:xfrm>
            <a:off x="600075" y="1718072"/>
            <a:ext cx="11430" cy="3059668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5000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6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2915" y="1775222"/>
            <a:ext cx="137160" cy="11430"/>
          </a:xfrm>
          <a:prstGeom prst="rect">
            <a:avLst/>
          </a:prstGeom>
          <a:solidFill>
            <a:srgbClr val="2196F3">
              <a:alpha val="60000"/>
            </a:srgbClr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2915" y="2358152"/>
            <a:ext cx="137160" cy="11430"/>
          </a:xfrm>
          <a:prstGeom prst="rect">
            <a:avLst/>
          </a:prstGeom>
          <a:solidFill>
            <a:srgbClr val="2196F3">
              <a:alpha val="60000"/>
            </a:srgbClr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2915" y="2929652"/>
            <a:ext cx="137160" cy="11430"/>
          </a:xfrm>
          <a:prstGeom prst="rect">
            <a:avLst/>
          </a:prstGeom>
          <a:solidFill>
            <a:srgbClr val="2196F3">
              <a:alpha val="60000"/>
            </a:srgbClr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8635" y="1683782"/>
            <a:ext cx="137160" cy="13716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8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08635" y="1683782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71525" y="1700927"/>
            <a:ext cx="4629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 01</a:t>
            </a:r>
            <a:endParaRPr lang="en-US" sz="540" dirty="0"/>
          </a:p>
        </p:txBody>
      </p:sp>
      <p:sp>
        <p:nvSpPr>
          <p:cNvPr id="30" name="Text 27"/>
          <p:cNvSpPr/>
          <p:nvPr/>
        </p:nvSpPr>
        <p:spPr>
          <a:xfrm>
            <a:off x="771525" y="1809512"/>
            <a:ext cx="24451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学术奠基期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771525" y="1952387"/>
            <a:ext cx="2445106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E0E0E0">
                    <a:alpha val="7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在计算机体系结构领域深耕，系统学习操作系统内核原理与系统编程方法论，奠定扎实的理论与工程基础。</a:t>
            </a:r>
            <a:endParaRPr lang="en-US" sz="540" dirty="0"/>
          </a:p>
        </p:txBody>
      </p:sp>
      <p:sp>
        <p:nvSpPr>
          <p:cNvPr id="32" name="Text 29"/>
          <p:cNvSpPr/>
          <p:nvPr/>
        </p:nvSpPr>
        <p:spPr>
          <a:xfrm>
            <a:off x="771525" y="2212955"/>
            <a:ext cx="24451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主要研究方向：OS 内核 / 系统编程</a:t>
            </a:r>
            <a:endParaRPr lang="en-US" sz="495" dirty="0"/>
          </a:p>
        </p:txBody>
      </p:sp>
      <p:sp>
        <p:nvSpPr>
          <p:cNvPr id="33" name="Shape 30"/>
          <p:cNvSpPr/>
          <p:nvPr/>
        </p:nvSpPr>
        <p:spPr>
          <a:xfrm>
            <a:off x="508635" y="2452985"/>
            <a:ext cx="137160" cy="13716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8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08635" y="2452985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71525" y="2470130"/>
            <a:ext cx="4743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 02</a:t>
            </a:r>
            <a:endParaRPr lang="en-US" sz="540" dirty="0"/>
          </a:p>
        </p:txBody>
      </p:sp>
      <p:sp>
        <p:nvSpPr>
          <p:cNvPr id="36" name="Text 33"/>
          <p:cNvSpPr/>
          <p:nvPr/>
        </p:nvSpPr>
        <p:spPr>
          <a:xfrm>
            <a:off x="771525" y="2578715"/>
            <a:ext cx="24451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社区参与期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771525" y="2721590"/>
            <a:ext cx="2445106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E0E0E0">
                    <a:alpha val="7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投身 Linux 与 BSD 开源社区，亲历项目协作与治理模式，对开源生态的组织方式形成深刻洞察与一手经验。</a:t>
            </a:r>
            <a:endParaRPr lang="en-US" sz="540" dirty="0"/>
          </a:p>
        </p:txBody>
      </p:sp>
      <p:sp>
        <p:nvSpPr>
          <p:cNvPr id="38" name="Text 35"/>
          <p:cNvSpPr/>
          <p:nvPr/>
        </p:nvSpPr>
        <p:spPr>
          <a:xfrm>
            <a:off x="771525" y="2982158"/>
            <a:ext cx="24451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代表作出版年份：2000s – 2010s</a:t>
            </a:r>
            <a:endParaRPr lang="en-US" sz="495" dirty="0"/>
          </a:p>
        </p:txBody>
      </p:sp>
      <p:sp>
        <p:nvSpPr>
          <p:cNvPr id="39" name="Shape 36"/>
          <p:cNvSpPr/>
          <p:nvPr/>
        </p:nvSpPr>
        <p:spPr>
          <a:xfrm>
            <a:off x="508635" y="3222188"/>
            <a:ext cx="137160" cy="137160"/>
          </a:xfrm>
          <a:prstGeom prst="ellipse">
            <a:avLst/>
          </a:prstGeom>
          <a:solidFill>
            <a:srgbClr val="0A1628"/>
          </a:solidFill>
          <a:ln w="11430">
            <a:solidFill>
              <a:srgbClr val="2196F3"/>
            </a:solidFill>
            <a:prstDash val="solid"/>
          </a:ln>
          <a:effectLst>
            <a:outerShdw sx="100000" sy="100000" kx="0" ky="0" algn="bl" rotWithShape="0" blurRad="95250" dist="50800" dir="16200000">
              <a:srgbClr val="2196F3">
                <a:alpha val="8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08635" y="3222188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71525" y="3239333"/>
            <a:ext cx="48006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6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 03</a:t>
            </a:r>
            <a:endParaRPr lang="en-US" sz="540" dirty="0"/>
          </a:p>
        </p:txBody>
      </p:sp>
      <p:sp>
        <p:nvSpPr>
          <p:cNvPr id="42" name="Text 39"/>
          <p:cNvSpPr/>
          <p:nvPr/>
        </p:nvSpPr>
        <p:spPr>
          <a:xfrm>
            <a:off x="771525" y="3347918"/>
            <a:ext cx="244510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著书立作期</a:t>
            </a:r>
            <a:endParaRPr lang="en-US" sz="675" dirty="0"/>
          </a:p>
        </p:txBody>
      </p:sp>
      <p:sp>
        <p:nvSpPr>
          <p:cNvPr id="43" name="Text 40"/>
          <p:cNvSpPr/>
          <p:nvPr/>
        </p:nvSpPr>
        <p:spPr>
          <a:xfrm>
            <a:off x="771525" y="3490793"/>
            <a:ext cx="2445106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dirty="0">
                <a:solidFill>
                  <a:srgbClr val="E0E0E0">
                    <a:alpha val="7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将学术积累与社区实战融合，以通俗语言和叙事化表达面向初学者，打造兼具深度与可读性的操作系统经典读物。</a:t>
            </a:r>
            <a:endParaRPr lang="en-US" sz="540" dirty="0"/>
          </a:p>
        </p:txBody>
      </p:sp>
      <p:sp>
        <p:nvSpPr>
          <p:cNvPr id="44" name="Text 41"/>
          <p:cNvSpPr/>
          <p:nvPr/>
        </p:nvSpPr>
        <p:spPr>
          <a:xfrm>
            <a:off x="771525" y="3751362"/>
            <a:ext cx="24451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连接学术界 ↔ 开源社区</a:t>
            </a:r>
            <a:endParaRPr lang="en-US" sz="495" dirty="0"/>
          </a:p>
        </p:txBody>
      </p:sp>
      <p:sp>
        <p:nvSpPr>
          <p:cNvPr id="45" name="Shape 42"/>
          <p:cNvSpPr/>
          <p:nvPr/>
        </p:nvSpPr>
        <p:spPr>
          <a:xfrm>
            <a:off x="3268980" y="1220867"/>
            <a:ext cx="2720340" cy="1615559"/>
          </a:xfrm>
          <a:prstGeom prst="roundRect">
            <a:avLst>
              <a:gd name="adj" fmla="val 3537"/>
            </a:avLst>
          </a:prstGeom>
          <a:gradFill rotWithShape="1">
            <a:gsLst>
              <a:gs pos="0">
                <a:srgbClr val="0F2038">
                  <a:alpha val="85000"/>
                </a:srgbClr>
              </a:gs>
              <a:gs pos="100000">
                <a:srgbClr val="081222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268980" y="1220867"/>
            <a:ext cx="22860" cy="160413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692140" y="1049417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8" name="Text 45"/>
          <p:cNvSpPr/>
          <p:nvPr/>
        </p:nvSpPr>
        <p:spPr>
          <a:xfrm>
            <a:off x="5726430" y="1283732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49" name="Shape 46"/>
          <p:cNvSpPr/>
          <p:nvPr/>
        </p:nvSpPr>
        <p:spPr>
          <a:xfrm>
            <a:off x="5709285" y="1306592"/>
            <a:ext cx="182880" cy="182880"/>
          </a:xfrm>
          <a:prstGeom prst="roundRect">
            <a:avLst>
              <a:gd name="adj" fmla="val 18750"/>
            </a:avLst>
          </a:prstGeom>
          <a:solidFill>
            <a:srgbClr val="00BCD4">
              <a:alpha val="5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764828" y="1349454"/>
            <a:ext cx="15180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❖</a:t>
            </a:r>
            <a:endParaRPr lang="en-US" sz="630" dirty="0"/>
          </a:p>
        </p:txBody>
      </p:sp>
      <p:sp>
        <p:nvSpPr>
          <p:cNvPr id="51" name="Text 48"/>
          <p:cNvSpPr/>
          <p:nvPr/>
        </p:nvSpPr>
        <p:spPr>
          <a:xfrm>
            <a:off x="3388995" y="1329452"/>
            <a:ext cx="27779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 ONE</a:t>
            </a:r>
            <a:endParaRPr lang="en-US" sz="495" dirty="0"/>
          </a:p>
        </p:txBody>
      </p:sp>
      <p:sp>
        <p:nvSpPr>
          <p:cNvPr id="52" name="Text 49"/>
          <p:cNvSpPr/>
          <p:nvPr/>
        </p:nvSpPr>
        <p:spPr>
          <a:xfrm>
            <a:off x="3388995" y="1443752"/>
            <a:ext cx="2777947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学术渊源</a:t>
            </a:r>
            <a:endParaRPr lang="en-US" sz="855" dirty="0"/>
          </a:p>
        </p:txBody>
      </p:sp>
      <p:sp>
        <p:nvSpPr>
          <p:cNvPr id="53" name="Shape 50"/>
          <p:cNvSpPr/>
          <p:nvPr/>
        </p:nvSpPr>
        <p:spPr>
          <a:xfrm>
            <a:off x="3388995" y="1666637"/>
            <a:ext cx="20574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4" name="Text 51"/>
          <p:cNvSpPr/>
          <p:nvPr/>
        </p:nvSpPr>
        <p:spPr>
          <a:xfrm>
            <a:off x="3388995" y="1735217"/>
            <a:ext cx="2777947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作者拥有深厚的计算机体系结构学术背景，长期从事操作系统内核与系统编程研究，具备从理论到实现的完整知识链条。</a:t>
            </a:r>
            <a:endParaRPr lang="en-US" sz="563" dirty="0"/>
          </a:p>
        </p:txBody>
      </p:sp>
      <p:sp>
        <p:nvSpPr>
          <p:cNvPr id="55" name="Shape 52"/>
          <p:cNvSpPr/>
          <p:nvPr/>
        </p:nvSpPr>
        <p:spPr>
          <a:xfrm>
            <a:off x="3388995" y="2619256"/>
            <a:ext cx="382905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388995" y="2619256"/>
            <a:ext cx="440055" cy="120015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架构</a:t>
            </a:r>
            <a:endParaRPr lang="en-US" sz="450" dirty="0"/>
          </a:p>
        </p:txBody>
      </p:sp>
      <p:sp>
        <p:nvSpPr>
          <p:cNvPr id="57" name="Shape 54"/>
          <p:cNvSpPr/>
          <p:nvPr/>
        </p:nvSpPr>
        <p:spPr>
          <a:xfrm>
            <a:off x="3806190" y="2619256"/>
            <a:ext cx="35433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806190" y="2619256"/>
            <a:ext cx="411480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内核设计</a:t>
            </a:r>
            <a:endParaRPr lang="en-US" sz="450" dirty="0"/>
          </a:p>
        </p:txBody>
      </p:sp>
      <p:sp>
        <p:nvSpPr>
          <p:cNvPr id="59" name="Shape 56"/>
          <p:cNvSpPr/>
          <p:nvPr/>
        </p:nvSpPr>
        <p:spPr>
          <a:xfrm>
            <a:off x="4194810" y="2619256"/>
            <a:ext cx="35433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194810" y="2619256"/>
            <a:ext cx="411480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系统编程</a:t>
            </a:r>
            <a:endParaRPr lang="en-US" sz="450" dirty="0"/>
          </a:p>
        </p:txBody>
      </p:sp>
      <p:sp>
        <p:nvSpPr>
          <p:cNvPr id="61" name="Shape 58"/>
          <p:cNvSpPr/>
          <p:nvPr/>
        </p:nvSpPr>
        <p:spPr>
          <a:xfrm>
            <a:off x="6080760" y="1220867"/>
            <a:ext cx="2720340" cy="1615559"/>
          </a:xfrm>
          <a:prstGeom prst="roundRect">
            <a:avLst>
              <a:gd name="adj" fmla="val 3537"/>
            </a:avLst>
          </a:prstGeom>
          <a:gradFill rotWithShape="1">
            <a:gsLst>
              <a:gs pos="0">
                <a:srgbClr val="0F2038">
                  <a:alpha val="85000"/>
                </a:srgbClr>
              </a:gs>
              <a:gs pos="100000">
                <a:srgbClr val="081222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080760" y="1220867"/>
            <a:ext cx="22860" cy="160413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8503920" y="1049417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4" name="Text 61"/>
          <p:cNvSpPr/>
          <p:nvPr/>
        </p:nvSpPr>
        <p:spPr>
          <a:xfrm>
            <a:off x="8503920" y="1283732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65" name="Shape 62"/>
          <p:cNvSpPr/>
          <p:nvPr/>
        </p:nvSpPr>
        <p:spPr>
          <a:xfrm>
            <a:off x="8521065" y="1306592"/>
            <a:ext cx="182880" cy="182880"/>
          </a:xfrm>
          <a:prstGeom prst="roundRect">
            <a:avLst>
              <a:gd name="adj" fmla="val 18750"/>
            </a:avLst>
          </a:prstGeom>
          <a:solidFill>
            <a:srgbClr val="00BCD4">
              <a:alpha val="5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576608" y="1349454"/>
            <a:ext cx="15180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</a:t>
            </a:r>
            <a:endParaRPr lang="en-US" sz="630" dirty="0"/>
          </a:p>
        </p:txBody>
      </p:sp>
      <p:sp>
        <p:nvSpPr>
          <p:cNvPr id="67" name="Text 64"/>
          <p:cNvSpPr/>
          <p:nvPr/>
        </p:nvSpPr>
        <p:spPr>
          <a:xfrm>
            <a:off x="6200775" y="1329452"/>
            <a:ext cx="27779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 TWO</a:t>
            </a:r>
            <a:endParaRPr lang="en-US" sz="495" dirty="0"/>
          </a:p>
        </p:txBody>
      </p:sp>
      <p:sp>
        <p:nvSpPr>
          <p:cNvPr id="68" name="Text 65"/>
          <p:cNvSpPr/>
          <p:nvPr/>
        </p:nvSpPr>
        <p:spPr>
          <a:xfrm>
            <a:off x="6200775" y="1443752"/>
            <a:ext cx="2777947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开源实践</a:t>
            </a:r>
            <a:endParaRPr lang="en-US" sz="855" dirty="0"/>
          </a:p>
        </p:txBody>
      </p:sp>
      <p:sp>
        <p:nvSpPr>
          <p:cNvPr id="69" name="Shape 66"/>
          <p:cNvSpPr/>
          <p:nvPr/>
        </p:nvSpPr>
        <p:spPr>
          <a:xfrm>
            <a:off x="6200775" y="1666637"/>
            <a:ext cx="20574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70" name="Text 67"/>
          <p:cNvSpPr/>
          <p:nvPr/>
        </p:nvSpPr>
        <p:spPr>
          <a:xfrm>
            <a:off x="6200775" y="1735217"/>
            <a:ext cx="2777947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在学术界之外积极投身 Linux 与 BSD 社区，对开源组织的协作方式与治理机制有亲身参与和深刻洞察。</a:t>
            </a:r>
            <a:endParaRPr lang="en-US" sz="563" dirty="0"/>
          </a:p>
        </p:txBody>
      </p:sp>
      <p:sp>
        <p:nvSpPr>
          <p:cNvPr id="71" name="Shape 68"/>
          <p:cNvSpPr/>
          <p:nvPr/>
        </p:nvSpPr>
        <p:spPr>
          <a:xfrm>
            <a:off x="6200775" y="2619256"/>
            <a:ext cx="27432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200775" y="2619256"/>
            <a:ext cx="331470" cy="120015"/>
          </a:xfrm>
          <a:prstGeom prst="rect">
            <a:avLst/>
          </a:prstGeom>
          <a:noFill/>
          <a:ln/>
        </p:spPr>
        <p:txBody>
          <a:bodyPr wrap="squar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endParaRPr lang="en-US" sz="450" dirty="0"/>
          </a:p>
        </p:txBody>
      </p:sp>
      <p:sp>
        <p:nvSpPr>
          <p:cNvPr id="73" name="Shape 70"/>
          <p:cNvSpPr/>
          <p:nvPr/>
        </p:nvSpPr>
        <p:spPr>
          <a:xfrm>
            <a:off x="6509385" y="2619256"/>
            <a:ext cx="234315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509385" y="2619256"/>
            <a:ext cx="29146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BSD</a:t>
            </a:r>
            <a:endParaRPr lang="en-US" sz="450" dirty="0"/>
          </a:p>
        </p:txBody>
      </p:sp>
      <p:sp>
        <p:nvSpPr>
          <p:cNvPr id="75" name="Shape 72"/>
          <p:cNvSpPr/>
          <p:nvPr/>
        </p:nvSpPr>
        <p:spPr>
          <a:xfrm>
            <a:off x="6777990" y="2619256"/>
            <a:ext cx="35433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777990" y="2619256"/>
            <a:ext cx="411480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社区治理</a:t>
            </a:r>
            <a:endParaRPr lang="en-US" sz="450" dirty="0"/>
          </a:p>
        </p:txBody>
      </p:sp>
      <p:sp>
        <p:nvSpPr>
          <p:cNvPr id="77" name="Shape 74"/>
          <p:cNvSpPr/>
          <p:nvPr/>
        </p:nvSpPr>
        <p:spPr>
          <a:xfrm>
            <a:off x="3268980" y="2927866"/>
            <a:ext cx="2720340" cy="1615559"/>
          </a:xfrm>
          <a:prstGeom prst="roundRect">
            <a:avLst>
              <a:gd name="adj" fmla="val 3537"/>
            </a:avLst>
          </a:prstGeom>
          <a:gradFill rotWithShape="1">
            <a:gsLst>
              <a:gs pos="0">
                <a:srgbClr val="0F2038">
                  <a:alpha val="85000"/>
                </a:srgbClr>
              </a:gs>
              <a:gs pos="100000">
                <a:srgbClr val="081222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268980" y="2927866"/>
            <a:ext cx="22860" cy="160413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92140" y="2756416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0" name="Text 77"/>
          <p:cNvSpPr/>
          <p:nvPr/>
        </p:nvSpPr>
        <p:spPr>
          <a:xfrm>
            <a:off x="5692140" y="2990731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81" name="Shape 78"/>
          <p:cNvSpPr/>
          <p:nvPr/>
        </p:nvSpPr>
        <p:spPr>
          <a:xfrm>
            <a:off x="5709285" y="3013591"/>
            <a:ext cx="182880" cy="182880"/>
          </a:xfrm>
          <a:prstGeom prst="roundRect">
            <a:avLst>
              <a:gd name="adj" fmla="val 18750"/>
            </a:avLst>
          </a:prstGeom>
          <a:solidFill>
            <a:srgbClr val="00BCD4">
              <a:alpha val="5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767149" y="3056453"/>
            <a:ext cx="147072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✎</a:t>
            </a:r>
            <a:endParaRPr lang="en-US" sz="630" dirty="0"/>
          </a:p>
        </p:txBody>
      </p:sp>
      <p:sp>
        <p:nvSpPr>
          <p:cNvPr id="83" name="Text 80"/>
          <p:cNvSpPr/>
          <p:nvPr/>
        </p:nvSpPr>
        <p:spPr>
          <a:xfrm>
            <a:off x="3388995" y="3036451"/>
            <a:ext cx="27779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 THREE</a:t>
            </a:r>
            <a:endParaRPr lang="en-US" sz="495" dirty="0"/>
          </a:p>
        </p:txBody>
      </p:sp>
      <p:sp>
        <p:nvSpPr>
          <p:cNvPr id="84" name="Text 81"/>
          <p:cNvSpPr/>
          <p:nvPr/>
        </p:nvSpPr>
        <p:spPr>
          <a:xfrm>
            <a:off x="3388995" y="3150751"/>
            <a:ext cx="2777947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写作动机</a:t>
            </a:r>
            <a:endParaRPr lang="en-US" sz="855" dirty="0"/>
          </a:p>
        </p:txBody>
      </p:sp>
      <p:sp>
        <p:nvSpPr>
          <p:cNvPr id="85" name="Shape 82"/>
          <p:cNvSpPr/>
          <p:nvPr/>
        </p:nvSpPr>
        <p:spPr>
          <a:xfrm>
            <a:off x="3388995" y="3373636"/>
            <a:ext cx="20574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6" name="Text 83"/>
          <p:cNvSpPr/>
          <p:nvPr/>
        </p:nvSpPr>
        <p:spPr>
          <a:xfrm>
            <a:off x="3388995" y="3442216"/>
            <a:ext cx="2777947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认为操作系统领域缺乏面向初学者的通俗读物，决心用更有趣、更亲和的语言降低理解门槛，让更多人走近系统底层。</a:t>
            </a:r>
            <a:endParaRPr lang="en-US" sz="563" dirty="0"/>
          </a:p>
        </p:txBody>
      </p:sp>
      <p:sp>
        <p:nvSpPr>
          <p:cNvPr id="87" name="Shape 84"/>
          <p:cNvSpPr/>
          <p:nvPr/>
        </p:nvSpPr>
        <p:spPr>
          <a:xfrm>
            <a:off x="3388995" y="4326255"/>
            <a:ext cx="291465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388995" y="4326255"/>
            <a:ext cx="34861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通俗化</a:t>
            </a:r>
            <a:endParaRPr lang="en-US" sz="450" dirty="0"/>
          </a:p>
        </p:txBody>
      </p:sp>
      <p:sp>
        <p:nvSpPr>
          <p:cNvPr id="89" name="Shape 86"/>
          <p:cNvSpPr/>
          <p:nvPr/>
        </p:nvSpPr>
        <p:spPr>
          <a:xfrm>
            <a:off x="3714750" y="4326255"/>
            <a:ext cx="291465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714750" y="4326255"/>
            <a:ext cx="34861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降门槛</a:t>
            </a:r>
            <a:endParaRPr lang="en-US" sz="450" dirty="0"/>
          </a:p>
        </p:txBody>
      </p:sp>
      <p:sp>
        <p:nvSpPr>
          <p:cNvPr id="91" name="Shape 88"/>
          <p:cNvSpPr/>
          <p:nvPr/>
        </p:nvSpPr>
        <p:spPr>
          <a:xfrm>
            <a:off x="4040505" y="4326255"/>
            <a:ext cx="35433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040505" y="4326255"/>
            <a:ext cx="411480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教学导向</a:t>
            </a:r>
            <a:endParaRPr lang="en-US" sz="450" dirty="0"/>
          </a:p>
        </p:txBody>
      </p:sp>
      <p:sp>
        <p:nvSpPr>
          <p:cNvPr id="93" name="Shape 90"/>
          <p:cNvSpPr/>
          <p:nvPr/>
        </p:nvSpPr>
        <p:spPr>
          <a:xfrm>
            <a:off x="6080760" y="2927866"/>
            <a:ext cx="2720340" cy="1615559"/>
          </a:xfrm>
          <a:prstGeom prst="roundRect">
            <a:avLst>
              <a:gd name="adj" fmla="val 3537"/>
            </a:avLst>
          </a:prstGeom>
          <a:gradFill rotWithShape="1">
            <a:gsLst>
              <a:gs pos="0">
                <a:srgbClr val="0F2038">
                  <a:alpha val="85000"/>
                </a:srgbClr>
              </a:gs>
              <a:gs pos="100000">
                <a:srgbClr val="081222">
                  <a:alpha val="90000"/>
                </a:srgbClr>
              </a:gs>
            </a:gsLst>
            <a:lin ang="4200000" scaled="0"/>
          </a:gra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080760" y="2927866"/>
            <a:ext cx="22860" cy="1604132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2196F3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55000"/>
              </a:srgbClr>
            </a:outerShdw>
          </a:effectLst>
        </p:spPr>
      </p:sp>
      <p:sp>
        <p:nvSpPr>
          <p:cNvPr id="95" name="Shape 92"/>
          <p:cNvSpPr/>
          <p:nvPr/>
        </p:nvSpPr>
        <p:spPr>
          <a:xfrm>
            <a:off x="8503920" y="2756416"/>
            <a:ext cx="457200" cy="4572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6" name="Text 93"/>
          <p:cNvSpPr/>
          <p:nvPr/>
        </p:nvSpPr>
        <p:spPr>
          <a:xfrm>
            <a:off x="8498205" y="2990731"/>
            <a:ext cx="388620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60" dirty="0"/>
          </a:p>
        </p:txBody>
      </p:sp>
      <p:sp>
        <p:nvSpPr>
          <p:cNvPr id="97" name="Shape 94"/>
          <p:cNvSpPr/>
          <p:nvPr/>
        </p:nvSpPr>
        <p:spPr>
          <a:xfrm>
            <a:off x="8521065" y="3013591"/>
            <a:ext cx="182880" cy="182880"/>
          </a:xfrm>
          <a:prstGeom prst="roundRect">
            <a:avLst>
              <a:gd name="adj" fmla="val 18750"/>
            </a:avLst>
          </a:prstGeom>
          <a:solidFill>
            <a:srgbClr val="00BCD4">
              <a:alpha val="5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581698" y="3056453"/>
            <a:ext cx="141625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630" dirty="0"/>
          </a:p>
        </p:txBody>
      </p:sp>
      <p:sp>
        <p:nvSpPr>
          <p:cNvPr id="99" name="Text 96"/>
          <p:cNvSpPr/>
          <p:nvPr/>
        </p:nvSpPr>
        <p:spPr>
          <a:xfrm>
            <a:off x="6200775" y="3036451"/>
            <a:ext cx="2777947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b="1" spc="11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 FOUR</a:t>
            </a:r>
            <a:endParaRPr lang="en-US" sz="495" dirty="0"/>
          </a:p>
        </p:txBody>
      </p:sp>
      <p:sp>
        <p:nvSpPr>
          <p:cNvPr id="100" name="Text 97"/>
          <p:cNvSpPr/>
          <p:nvPr/>
        </p:nvSpPr>
        <p:spPr>
          <a:xfrm>
            <a:off x="6200775" y="3150751"/>
            <a:ext cx="2777947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叙事特色</a:t>
            </a:r>
            <a:endParaRPr lang="en-US" sz="855" dirty="0"/>
          </a:p>
        </p:txBody>
      </p:sp>
      <p:sp>
        <p:nvSpPr>
          <p:cNvPr id="101" name="Shape 98"/>
          <p:cNvSpPr/>
          <p:nvPr/>
        </p:nvSpPr>
        <p:spPr>
          <a:xfrm>
            <a:off x="6200775" y="3373636"/>
            <a:ext cx="20574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02" name="Text 99"/>
          <p:cNvSpPr/>
          <p:nvPr/>
        </p:nvSpPr>
        <p:spPr>
          <a:xfrm>
            <a:off x="6200775" y="3442216"/>
            <a:ext cx="2777947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善于将复杂技术概念与真实历史故事结合，让读者在故事中掌握操作系统设计精髓，实现知识传递与阅读愉悦的双重目标。</a:t>
            </a:r>
            <a:endParaRPr lang="en-US" sz="563" dirty="0"/>
          </a:p>
        </p:txBody>
      </p:sp>
      <p:sp>
        <p:nvSpPr>
          <p:cNvPr id="103" name="Shape 100"/>
          <p:cNvSpPr/>
          <p:nvPr/>
        </p:nvSpPr>
        <p:spPr>
          <a:xfrm>
            <a:off x="6200775" y="4326255"/>
            <a:ext cx="291465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6200775" y="4326255"/>
            <a:ext cx="348615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故事化</a:t>
            </a:r>
            <a:endParaRPr lang="en-US" sz="450" dirty="0"/>
          </a:p>
        </p:txBody>
      </p:sp>
      <p:sp>
        <p:nvSpPr>
          <p:cNvPr id="105" name="Shape 102"/>
          <p:cNvSpPr/>
          <p:nvPr/>
        </p:nvSpPr>
        <p:spPr>
          <a:xfrm>
            <a:off x="6526530" y="4326255"/>
            <a:ext cx="35433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6526530" y="4326255"/>
            <a:ext cx="411480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历史脉络</a:t>
            </a:r>
            <a:endParaRPr lang="en-US" sz="450" dirty="0"/>
          </a:p>
        </p:txBody>
      </p:sp>
      <p:sp>
        <p:nvSpPr>
          <p:cNvPr id="107" name="Shape 104"/>
          <p:cNvSpPr/>
          <p:nvPr/>
        </p:nvSpPr>
        <p:spPr>
          <a:xfrm>
            <a:off x="6915150" y="4326255"/>
            <a:ext cx="354330" cy="120015"/>
          </a:xfrm>
          <a:prstGeom prst="roundRect">
            <a:avLst>
              <a:gd name="adj" fmla="val 47619"/>
            </a:avLst>
          </a:prstGeom>
          <a:noFill/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6915150" y="4326255"/>
            <a:ext cx="411480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深入浅出</a:t>
            </a:r>
            <a:endParaRPr lang="en-US" sz="450" dirty="0"/>
          </a:p>
        </p:txBody>
      </p:sp>
      <p:sp>
        <p:nvSpPr>
          <p:cNvPr id="109" name="Shape 106"/>
          <p:cNvSpPr/>
          <p:nvPr/>
        </p:nvSpPr>
        <p:spPr>
          <a:xfrm>
            <a:off x="342900" y="4646295"/>
            <a:ext cx="8458200" cy="26860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10" name="Shape 107"/>
          <p:cNvSpPr/>
          <p:nvPr/>
        </p:nvSpPr>
        <p:spPr>
          <a:xfrm>
            <a:off x="342900" y="4646295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342900" y="4914900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3183255" y="476345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113" name="Text 110"/>
          <p:cNvSpPr/>
          <p:nvPr/>
        </p:nvSpPr>
        <p:spPr>
          <a:xfrm>
            <a:off x="3308985" y="4720590"/>
            <a:ext cx="2829154" cy="12001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2196F3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75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学术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，从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内核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笔尖</a:t>
            </a:r>
            <a:pPr algn="ctr" indent="0" marL="0">
              <a:buNone/>
            </a:pPr>
            <a:r>
              <a:rPr lang="en-US" sz="675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——一位跨界作者的成长缩影</a:t>
            </a:r>
            <a:endParaRPr lang="en-US" sz="675" dirty="0"/>
          </a:p>
        </p:txBody>
      </p:sp>
      <p:sp>
        <p:nvSpPr>
          <p:cNvPr id="114" name="Shape 111"/>
          <p:cNvSpPr/>
          <p:nvPr/>
        </p:nvSpPr>
        <p:spPr>
          <a:xfrm>
            <a:off x="5926455" y="476345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A14"/>
              </a:gs>
              <a:gs pos="50000">
                <a:srgbClr val="0A1226"/>
              </a:gs>
              <a:gs pos="100000">
                <a:srgbClr val="060A1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2900" y="29432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68630" y="274320"/>
            <a:ext cx="1209751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 · REVIEW · 01</a:t>
            </a:r>
            <a:endParaRPr lang="en-US" sz="495" dirty="0"/>
          </a:p>
        </p:txBody>
      </p:sp>
      <p:sp>
        <p:nvSpPr>
          <p:cNvPr id="5" name="Shape 3"/>
          <p:cNvSpPr/>
          <p:nvPr/>
        </p:nvSpPr>
        <p:spPr>
          <a:xfrm>
            <a:off x="1628775" y="314325"/>
            <a:ext cx="7046595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8755380" y="29432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" y="462915"/>
            <a:ext cx="9473184" cy="400050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16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书籍亮点拆解</a:t>
            </a:r>
            <a:endParaRPr lang="en-US" sz="2160" dirty="0"/>
          </a:p>
        </p:txBody>
      </p:sp>
      <p:sp>
        <p:nvSpPr>
          <p:cNvPr id="8" name="Shape 6"/>
          <p:cNvSpPr/>
          <p:nvPr/>
        </p:nvSpPr>
        <p:spPr>
          <a:xfrm>
            <a:off x="342900" y="942975"/>
            <a:ext cx="8001000" cy="140018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342900" y="942975"/>
            <a:ext cx="0" cy="140018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" y="942975"/>
            <a:ext cx="8961120" cy="1400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它不采用教科书式堆砌，而是以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讲故事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的方式带读者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穿越操作系统世界</a:t>
            </a:r>
            <a:pPr algn="l" indent="0" marL="0">
              <a:lnSpc>
                <a:spcPct val="175000"/>
              </a:lnSpc>
              <a:buNone/>
            </a:pPr>
            <a:r>
              <a:rPr lang="en-US" sz="63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 每一章都像一次技术探险，既传递知识也传递热情。</a:t>
            </a:r>
            <a:endParaRPr lang="en-US" sz="630" dirty="0"/>
          </a:p>
        </p:txBody>
      </p:sp>
      <p:sp>
        <p:nvSpPr>
          <p:cNvPr id="11" name="Shape 9"/>
          <p:cNvSpPr/>
          <p:nvPr/>
        </p:nvSpPr>
        <p:spPr>
          <a:xfrm>
            <a:off x="171450" y="1403033"/>
            <a:ext cx="308610" cy="160020"/>
          </a:xfrm>
          <a:prstGeom prst="roundRect">
            <a:avLst>
              <a:gd name="adj" fmla="val 10714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1450" y="1403033"/>
            <a:ext cx="382905" cy="16002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UNIX</a:t>
            </a:r>
            <a:endParaRPr lang="en-US" sz="585" dirty="0"/>
          </a:p>
        </p:txBody>
      </p:sp>
      <p:sp>
        <p:nvSpPr>
          <p:cNvPr id="13" name="Shape 11"/>
          <p:cNvSpPr/>
          <p:nvPr/>
        </p:nvSpPr>
        <p:spPr>
          <a:xfrm>
            <a:off x="2703195" y="1288733"/>
            <a:ext cx="325755" cy="148590"/>
          </a:xfrm>
          <a:prstGeom prst="roundRect">
            <a:avLst>
              <a:gd name="adj" fmla="val 11538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03195" y="1288733"/>
            <a:ext cx="394335" cy="14859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</a:t>
            </a:r>
            <a:endParaRPr lang="en-US" sz="540" dirty="0"/>
          </a:p>
        </p:txBody>
      </p:sp>
      <p:sp>
        <p:nvSpPr>
          <p:cNvPr id="15" name="Shape 13"/>
          <p:cNvSpPr/>
          <p:nvPr/>
        </p:nvSpPr>
        <p:spPr>
          <a:xfrm>
            <a:off x="57150" y="2260283"/>
            <a:ext cx="251460" cy="148590"/>
          </a:xfrm>
          <a:prstGeom prst="roundRect">
            <a:avLst>
              <a:gd name="adj" fmla="val 11538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8899A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" y="2260283"/>
            <a:ext cx="314325" cy="14859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进程</a:t>
            </a:r>
            <a:endParaRPr lang="en-US" sz="495" dirty="0"/>
          </a:p>
        </p:txBody>
      </p:sp>
      <p:sp>
        <p:nvSpPr>
          <p:cNvPr id="17" name="Shape 15"/>
          <p:cNvSpPr/>
          <p:nvPr/>
        </p:nvSpPr>
        <p:spPr>
          <a:xfrm>
            <a:off x="2708910" y="2374583"/>
            <a:ext cx="262890" cy="154305"/>
          </a:xfrm>
          <a:prstGeom prst="roundRect">
            <a:avLst>
              <a:gd name="adj" fmla="val 11111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08910" y="2374583"/>
            <a:ext cx="331470" cy="15430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内存</a:t>
            </a:r>
            <a:endParaRPr lang="en-US" sz="540" dirty="0"/>
          </a:p>
        </p:txBody>
      </p:sp>
      <p:sp>
        <p:nvSpPr>
          <p:cNvPr id="19" name="Shape 17"/>
          <p:cNvSpPr/>
          <p:nvPr/>
        </p:nvSpPr>
        <p:spPr>
          <a:xfrm>
            <a:off x="457200" y="3463290"/>
            <a:ext cx="377190" cy="148590"/>
          </a:xfrm>
          <a:prstGeom prst="roundRect">
            <a:avLst>
              <a:gd name="adj" fmla="val 11538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463290"/>
            <a:ext cx="440055" cy="14859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文件系统</a:t>
            </a:r>
            <a:endParaRPr lang="en-US" sz="495" dirty="0"/>
          </a:p>
        </p:txBody>
      </p:sp>
      <p:sp>
        <p:nvSpPr>
          <p:cNvPr id="21" name="Shape 19"/>
          <p:cNvSpPr/>
          <p:nvPr/>
        </p:nvSpPr>
        <p:spPr>
          <a:xfrm>
            <a:off x="2594610" y="3286125"/>
            <a:ext cx="262890" cy="154305"/>
          </a:xfrm>
          <a:prstGeom prst="roundRect">
            <a:avLst>
              <a:gd name="adj" fmla="val 11111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8899A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94610" y="3286125"/>
            <a:ext cx="331470" cy="15430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网络</a:t>
            </a:r>
            <a:endParaRPr lang="en-US" sz="540" dirty="0"/>
          </a:p>
        </p:txBody>
      </p:sp>
      <p:sp>
        <p:nvSpPr>
          <p:cNvPr id="23" name="Shape 21"/>
          <p:cNvSpPr/>
          <p:nvPr/>
        </p:nvSpPr>
        <p:spPr>
          <a:xfrm>
            <a:off x="228600" y="3789045"/>
            <a:ext cx="348615" cy="165735"/>
          </a:xfrm>
          <a:prstGeom prst="roundRect">
            <a:avLst>
              <a:gd name="adj" fmla="val 10345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" y="3789045"/>
            <a:ext cx="422910" cy="16573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分布式</a:t>
            </a:r>
            <a:endParaRPr lang="en-US" sz="585" dirty="0"/>
          </a:p>
        </p:txBody>
      </p:sp>
      <p:sp>
        <p:nvSpPr>
          <p:cNvPr id="25" name="Shape 23"/>
          <p:cNvSpPr/>
          <p:nvPr/>
        </p:nvSpPr>
        <p:spPr>
          <a:xfrm>
            <a:off x="2377440" y="3754755"/>
            <a:ext cx="365760" cy="142875"/>
          </a:xfrm>
          <a:prstGeom prst="roundRect">
            <a:avLst>
              <a:gd name="adj" fmla="val 12000"/>
            </a:avLst>
          </a:prstGeom>
          <a:solidFill>
            <a:srgbClr val="0A0E1A">
              <a:alpha val="70000"/>
            </a:srgbClr>
          </a:solidFill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50800" dir="16200000">
              <a:srgbClr val="00BCD4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77440" y="3754755"/>
            <a:ext cx="428625" cy="142875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Kernel</a:t>
            </a:r>
            <a:endParaRPr lang="en-US" sz="495" dirty="0"/>
          </a:p>
        </p:txBody>
      </p:sp>
      <p:sp>
        <p:nvSpPr>
          <p:cNvPr id="27" name="Shape 25"/>
          <p:cNvSpPr/>
          <p:nvPr/>
        </p:nvSpPr>
        <p:spPr>
          <a:xfrm>
            <a:off x="714375" y="1507331"/>
            <a:ext cx="1714500" cy="2286000"/>
          </a:xfrm>
          <a:prstGeom prst="roundRect">
            <a:avLst>
              <a:gd name="adj" fmla="val 2000"/>
            </a:avLst>
          </a:prstGeom>
          <a:gradFill rotWithShape="1">
            <a:gsLst>
              <a:gs pos="0">
                <a:srgbClr val="0A1A3A"/>
              </a:gs>
              <a:gs pos="40000">
                <a:srgbClr val="0D2550"/>
              </a:gs>
              <a:gs pos="100000">
                <a:srgbClr val="091A3A"/>
              </a:gs>
            </a:gsLst>
            <a:lin ang="42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285750" dist="50800" dir="16200000">
              <a:srgbClr val="2196F3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4375" y="1507331"/>
            <a:ext cx="80010" cy="2274570"/>
          </a:xfrm>
          <a:prstGeom prst="rect">
            <a:avLst/>
          </a:prstGeom>
          <a:gradFill rotWithShape="1">
            <a:gsLst>
              <a:gs pos="0">
                <a:srgbClr val="2196F3">
                  <a:alpha val="35000"/>
                </a:srgbClr>
              </a:gs>
              <a:gs pos="100000">
                <a:srgbClr val="2196F3">
                  <a:alpha val="5000"/>
                </a:srgbClr>
              </a:gs>
            </a:gsLst>
            <a:lin ang="0" scaled="0"/>
          </a:gradFill>
          <a:ln/>
        </p:spPr>
      </p:sp>
      <p:sp>
        <p:nvSpPr>
          <p:cNvPr id="29" name="Shape 27"/>
          <p:cNvSpPr/>
          <p:nvPr/>
        </p:nvSpPr>
        <p:spPr>
          <a:xfrm>
            <a:off x="708660" y="1570196"/>
            <a:ext cx="45720" cy="2160270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1707356"/>
            <a:ext cx="1574597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13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SYSTEM.SPINUP();</a:t>
            </a:r>
            <a:endParaRPr lang="en-US" sz="405" dirty="0"/>
          </a:p>
        </p:txBody>
      </p:sp>
      <p:sp>
        <p:nvSpPr>
          <p:cNvPr id="31" name="Text 29"/>
          <p:cNvSpPr/>
          <p:nvPr/>
        </p:nvSpPr>
        <p:spPr>
          <a:xfrm>
            <a:off x="868680" y="1815941"/>
            <a:ext cx="1574597" cy="370225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2196F3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操作系统</a:t>
            </a:r>
            <a:pPr algn="l" indent="0" marL="0">
              <a:lnSpc>
                <a:spcPct val="135000"/>
              </a:lnSpc>
              <a:buNone/>
            </a:pPr>
            <a:endParaRPr lang="en-US" sz="108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漫游指南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68680" y="2220456"/>
            <a:ext cx="157459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68" kern="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JOURNEY THROUGH OS</a:t>
            </a:r>
            <a:endParaRPr lang="en-US" sz="450" dirty="0"/>
          </a:p>
        </p:txBody>
      </p:sp>
      <p:sp>
        <p:nvSpPr>
          <p:cNvPr id="33" name="Shape 31"/>
          <p:cNvSpPr/>
          <p:nvPr/>
        </p:nvSpPr>
        <p:spPr>
          <a:xfrm>
            <a:off x="868680" y="2397621"/>
            <a:ext cx="28575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2500491"/>
            <a:ext cx="1574597" cy="6800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546E8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boot the kernel</a:t>
            </a:r>
            <a:pPr algn="l" indent="0" marL="0">
              <a:lnSpc>
                <a:spcPct val="170000"/>
              </a:lnSpc>
              <a:buNone/>
            </a:pPr>
            <a:endParaRPr lang="en-US" sz="4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FF79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fn 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boot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() {</a:t>
            </a:r>
            <a:pPr algn="l" indent="0" marL="0">
              <a:lnSpc>
                <a:spcPct val="170000"/>
              </a:lnSpc>
              <a:buNone/>
            </a:pPr>
            <a:endParaRPr lang="en-US" sz="4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FF79C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let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world =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OS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::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();</a:t>
            </a:r>
            <a:pPr algn="l" indent="0" marL="0">
              <a:lnSpc>
                <a:spcPct val="170000"/>
              </a:lnSpc>
              <a:buNone/>
            </a:pPr>
            <a:endParaRPr lang="en-US" sz="4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process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::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spawn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F1FA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adventure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F1FA8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</a:t>
            </a:r>
            <a:pPr algn="l" indent="0" marL="0">
              <a:lnSpc>
                <a:spcPct val="170000"/>
              </a:lnSpc>
              <a:buNone/>
            </a:pPr>
            <a:endParaRPr lang="en-US" sz="4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memory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::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map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0x1FF0</a:t>
            </a:r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);</a:t>
            </a:r>
            <a:pPr algn="l" indent="0" marL="0">
              <a:lnSpc>
                <a:spcPct val="170000"/>
              </a:lnSpc>
              <a:buNone/>
            </a:pPr>
            <a:endParaRPr lang="en-US" sz="4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pPr algn="l" indent="0" marL="0">
              <a:lnSpc>
                <a:spcPct val="170000"/>
              </a:lnSpc>
              <a:buNone/>
            </a:pPr>
            <a:endParaRPr lang="en-US" sz="45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450" dirty="0">
                <a:solidFill>
                  <a:srgbClr val="546E8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→ ready to explore </a:t>
            </a:r>
            <a:endParaRPr lang="en-US" sz="450" dirty="0"/>
          </a:p>
        </p:txBody>
      </p:sp>
      <p:sp>
        <p:nvSpPr>
          <p:cNvPr id="35" name="Shape 33"/>
          <p:cNvSpPr/>
          <p:nvPr/>
        </p:nvSpPr>
        <p:spPr>
          <a:xfrm>
            <a:off x="868680" y="3283446"/>
            <a:ext cx="617220" cy="131445"/>
          </a:xfrm>
          <a:prstGeom prst="roundRect">
            <a:avLst>
              <a:gd name="adj" fmla="val 13043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6" name="Text 34"/>
          <p:cNvSpPr/>
          <p:nvPr/>
        </p:nvSpPr>
        <p:spPr>
          <a:xfrm>
            <a:off x="868680" y="3283446"/>
            <a:ext cx="691286" cy="131445"/>
          </a:xfrm>
          <a:prstGeom prst="rect">
            <a:avLst/>
          </a:prstGeom>
          <a:noFill/>
          <a:ln/>
        </p:spPr>
        <p:txBody>
          <a:bodyPr wrap="square" lIns="28575" tIns="68580" rIns="68580" bIns="28575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A0E1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v.1.0 / CORE</a:t>
            </a:r>
            <a:endParaRPr lang="en-US" sz="450" dirty="0"/>
          </a:p>
        </p:txBody>
      </p:sp>
      <p:sp>
        <p:nvSpPr>
          <p:cNvPr id="37" name="Shape 35"/>
          <p:cNvSpPr/>
          <p:nvPr/>
        </p:nvSpPr>
        <p:spPr>
          <a:xfrm>
            <a:off x="868680" y="3494901"/>
            <a:ext cx="1405890" cy="12001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868680" y="3494901"/>
            <a:ext cx="1405890" cy="0"/>
          </a:xfrm>
          <a:prstGeom prst="line">
            <a:avLst/>
          </a:prstGeom>
          <a:noFill/>
          <a:ln w="5715">
            <a:solidFill>
              <a:srgbClr val="E0E0E0">
                <a:alpha val="1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494901"/>
            <a:ext cx="1574597" cy="120015"/>
          </a:xfrm>
          <a:prstGeom prst="rect">
            <a:avLst/>
          </a:prstGeom>
          <a:noFill/>
          <a:ln/>
        </p:spPr>
        <p:txBody>
          <a:bodyPr wrap="square" lIns="57150" tIns="0" rIns="0" bIns="0" rtlCol="0" anchor="ctr"/>
          <a:lstStyle/>
          <a:p>
            <a:pPr algn="l" indent="0" marL="0">
              <a:buNone/>
            </a:pPr>
            <a:r>
              <a:rPr lang="en-US" sz="360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 READ · CODE · REPEAT —</a:t>
            </a:r>
            <a:endParaRPr lang="en-US" sz="360" dirty="0"/>
          </a:p>
        </p:txBody>
      </p:sp>
      <p:sp>
        <p:nvSpPr>
          <p:cNvPr id="40" name="Shape 38"/>
          <p:cNvSpPr/>
          <p:nvPr/>
        </p:nvSpPr>
        <p:spPr>
          <a:xfrm>
            <a:off x="3006090" y="1231583"/>
            <a:ext cx="2846070" cy="1367314"/>
          </a:xfrm>
          <a:prstGeom prst="roundRect">
            <a:avLst>
              <a:gd name="adj" fmla="val 3344"/>
            </a:avLst>
          </a:prstGeom>
          <a:solidFill>
            <a:srgbClr val="0F192D">
              <a:alpha val="7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06090" y="1311593"/>
            <a:ext cx="17145" cy="119586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97830" y="1231583"/>
            <a:ext cx="342900" cy="34290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57825" y="1317308"/>
            <a:ext cx="36004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 / CORE</a:t>
            </a:r>
            <a:endParaRPr lang="en-US" sz="405" dirty="0"/>
          </a:p>
        </p:txBody>
      </p:sp>
      <p:sp>
        <p:nvSpPr>
          <p:cNvPr id="44" name="Text 42"/>
          <p:cNvSpPr/>
          <p:nvPr/>
        </p:nvSpPr>
        <p:spPr>
          <a:xfrm>
            <a:off x="3137535" y="1340168"/>
            <a:ext cx="30861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" dirty="0"/>
          </a:p>
        </p:txBody>
      </p:sp>
      <p:sp>
        <p:nvSpPr>
          <p:cNvPr id="45" name="Text 43"/>
          <p:cNvSpPr/>
          <p:nvPr/>
        </p:nvSpPr>
        <p:spPr>
          <a:xfrm>
            <a:off x="3377565" y="1343025"/>
            <a:ext cx="50863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核心议题</a:t>
            </a:r>
            <a:endParaRPr lang="en-US" sz="765" dirty="0"/>
          </a:p>
        </p:txBody>
      </p:sp>
      <p:sp>
        <p:nvSpPr>
          <p:cNvPr id="46" name="Text 44"/>
          <p:cNvSpPr/>
          <p:nvPr/>
        </p:nvSpPr>
        <p:spPr>
          <a:xfrm>
            <a:off x="3137535" y="1534478"/>
            <a:ext cx="2905963" cy="233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书籍围绕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操作系统演进史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展开，从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UNIX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到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，从单核到分布式系统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全景串联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540" dirty="0"/>
          </a:p>
        </p:txBody>
      </p:sp>
      <p:sp>
        <p:nvSpPr>
          <p:cNvPr id="47" name="Shape 45"/>
          <p:cNvSpPr/>
          <p:nvPr/>
        </p:nvSpPr>
        <p:spPr>
          <a:xfrm>
            <a:off x="5955030" y="1231583"/>
            <a:ext cx="2846070" cy="1367314"/>
          </a:xfrm>
          <a:prstGeom prst="roundRect">
            <a:avLst>
              <a:gd name="adj" fmla="val 3344"/>
            </a:avLst>
          </a:prstGeom>
          <a:solidFill>
            <a:srgbClr val="0F192D">
              <a:alpha val="7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55030" y="1311593"/>
            <a:ext cx="17145" cy="119586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446770" y="1231583"/>
            <a:ext cx="342900" cy="34290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372475" y="1317308"/>
            <a:ext cx="39433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 / STYLE</a:t>
            </a:r>
            <a:endParaRPr lang="en-US" sz="405" dirty="0"/>
          </a:p>
        </p:txBody>
      </p:sp>
      <p:sp>
        <p:nvSpPr>
          <p:cNvPr id="51" name="Text 49"/>
          <p:cNvSpPr/>
          <p:nvPr/>
        </p:nvSpPr>
        <p:spPr>
          <a:xfrm>
            <a:off x="6086475" y="1340168"/>
            <a:ext cx="30861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90" dirty="0"/>
          </a:p>
        </p:txBody>
      </p:sp>
      <p:sp>
        <p:nvSpPr>
          <p:cNvPr id="52" name="Text 50"/>
          <p:cNvSpPr/>
          <p:nvPr/>
        </p:nvSpPr>
        <p:spPr>
          <a:xfrm>
            <a:off x="6326505" y="1343025"/>
            <a:ext cx="50863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写作风格</a:t>
            </a:r>
            <a:endParaRPr lang="en-US" sz="765" dirty="0"/>
          </a:p>
        </p:txBody>
      </p:sp>
      <p:sp>
        <p:nvSpPr>
          <p:cNvPr id="53" name="Text 51"/>
          <p:cNvSpPr/>
          <p:nvPr/>
        </p:nvSpPr>
        <p:spPr>
          <a:xfrm>
            <a:off x="6086475" y="1534478"/>
            <a:ext cx="2905963" cy="116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融合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技术严谨性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文学可读性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，用对话和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场景化叙述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让抽象概念变得鲜活有趣。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3006090" y="2701766"/>
            <a:ext cx="2846070" cy="1367314"/>
          </a:xfrm>
          <a:prstGeom prst="roundRect">
            <a:avLst>
              <a:gd name="adj" fmla="val 3344"/>
            </a:avLst>
          </a:prstGeom>
          <a:solidFill>
            <a:srgbClr val="0F192D">
              <a:alpha val="7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06090" y="2781776"/>
            <a:ext cx="17145" cy="119586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97830" y="2701766"/>
            <a:ext cx="342900" cy="34290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457825" y="2787491"/>
            <a:ext cx="360045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 / ARCH</a:t>
            </a:r>
            <a:endParaRPr lang="en-US" sz="405" dirty="0"/>
          </a:p>
        </p:txBody>
      </p:sp>
      <p:sp>
        <p:nvSpPr>
          <p:cNvPr id="58" name="Text 56"/>
          <p:cNvSpPr/>
          <p:nvPr/>
        </p:nvSpPr>
        <p:spPr>
          <a:xfrm>
            <a:off x="3137535" y="2810351"/>
            <a:ext cx="30861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90" dirty="0"/>
          </a:p>
        </p:txBody>
      </p:sp>
      <p:sp>
        <p:nvSpPr>
          <p:cNvPr id="59" name="Text 57"/>
          <p:cNvSpPr/>
          <p:nvPr/>
        </p:nvSpPr>
        <p:spPr>
          <a:xfrm>
            <a:off x="3377565" y="2813209"/>
            <a:ext cx="50863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知识架构</a:t>
            </a:r>
            <a:endParaRPr lang="en-US" sz="765" dirty="0"/>
          </a:p>
        </p:txBody>
      </p:sp>
      <p:sp>
        <p:nvSpPr>
          <p:cNvPr id="60" name="Text 58"/>
          <p:cNvSpPr/>
          <p:nvPr/>
        </p:nvSpPr>
        <p:spPr>
          <a:xfrm>
            <a:off x="3137535" y="3004661"/>
            <a:ext cx="2905963" cy="116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按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进程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内存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文件系统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网络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等核心模块逐层深入，逻辑清晰递进。</a:t>
            </a:r>
            <a:endParaRPr lang="en-US" sz="540" dirty="0"/>
          </a:p>
        </p:txBody>
      </p:sp>
      <p:sp>
        <p:nvSpPr>
          <p:cNvPr id="61" name="Shape 59"/>
          <p:cNvSpPr/>
          <p:nvPr/>
        </p:nvSpPr>
        <p:spPr>
          <a:xfrm>
            <a:off x="5955030" y="2701766"/>
            <a:ext cx="2846070" cy="1367314"/>
          </a:xfrm>
          <a:prstGeom prst="roundRect">
            <a:avLst>
              <a:gd name="adj" fmla="val 3344"/>
            </a:avLst>
          </a:prstGeom>
          <a:solidFill>
            <a:srgbClr val="0F192D">
              <a:alpha val="75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55030" y="2781776"/>
            <a:ext cx="17145" cy="1195864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446770" y="2701766"/>
            <a:ext cx="342900" cy="34290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269605" y="2787491"/>
            <a:ext cx="499262" cy="6286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05" spc="45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 / FEEDBACK</a:t>
            </a:r>
            <a:endParaRPr lang="en-US" sz="405" dirty="0"/>
          </a:p>
        </p:txBody>
      </p:sp>
      <p:sp>
        <p:nvSpPr>
          <p:cNvPr id="65" name="Text 63"/>
          <p:cNvSpPr/>
          <p:nvPr/>
        </p:nvSpPr>
        <p:spPr>
          <a:xfrm>
            <a:off x="6086475" y="2810351"/>
            <a:ext cx="308610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90" dirty="0"/>
          </a:p>
        </p:txBody>
      </p:sp>
      <p:sp>
        <p:nvSpPr>
          <p:cNvPr id="66" name="Text 64"/>
          <p:cNvSpPr/>
          <p:nvPr/>
        </p:nvSpPr>
        <p:spPr>
          <a:xfrm>
            <a:off x="6326505" y="2813209"/>
            <a:ext cx="508635" cy="14287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6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读者反馈</a:t>
            </a:r>
            <a:endParaRPr lang="en-US" sz="765" dirty="0"/>
          </a:p>
        </p:txBody>
      </p:sp>
      <p:sp>
        <p:nvSpPr>
          <p:cNvPr id="67" name="Text 65"/>
          <p:cNvSpPr/>
          <p:nvPr/>
        </p:nvSpPr>
        <p:spPr>
          <a:xfrm>
            <a:off x="6086475" y="3004661"/>
            <a:ext cx="2905963" cy="116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被众多开发者评价为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"读完就想写代码"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的启发式读物，常被推荐为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入门首选</a:t>
            </a:r>
            <a:pPr algn="l" indent="0" marL="0">
              <a:lnSpc>
                <a:spcPct val="170000"/>
              </a:lnSpc>
              <a:buNone/>
            </a:pPr>
            <a:r>
              <a:rPr lang="en-US" sz="54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。</a:t>
            </a:r>
            <a:endParaRPr lang="en-US" sz="540" dirty="0"/>
          </a:p>
        </p:txBody>
      </p:sp>
      <p:sp>
        <p:nvSpPr>
          <p:cNvPr id="68" name="Shape 66"/>
          <p:cNvSpPr/>
          <p:nvPr/>
        </p:nvSpPr>
        <p:spPr>
          <a:xfrm>
            <a:off x="342900" y="4206240"/>
            <a:ext cx="4160520" cy="542925"/>
          </a:xfrm>
          <a:prstGeom prst="roundRect">
            <a:avLst>
              <a:gd name="adj" fmla="val 8421"/>
            </a:avLst>
          </a:prstGeom>
          <a:solidFill>
            <a:srgbClr val="0F192D">
              <a:alpha val="7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2900" y="4206240"/>
            <a:ext cx="17145" cy="53149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97205" y="4371975"/>
            <a:ext cx="819302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书籍章节数</a:t>
            </a:r>
            <a:pPr algn="l" indent="0" marL="0">
              <a:lnSpc>
                <a:spcPct val="150000"/>
              </a:lnSpc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CHAPTERS · TOTAL</a:t>
            </a:r>
            <a:endParaRPr lang="en-US" sz="540" dirty="0"/>
          </a:p>
        </p:txBody>
      </p:sp>
      <p:sp>
        <p:nvSpPr>
          <p:cNvPr id="71" name="Shape 69"/>
          <p:cNvSpPr/>
          <p:nvPr/>
        </p:nvSpPr>
        <p:spPr>
          <a:xfrm>
            <a:off x="1354455" y="4323398"/>
            <a:ext cx="5715" cy="308610"/>
          </a:xfrm>
          <a:prstGeom prst="rect">
            <a:avLst/>
          </a:prstGeom>
          <a:solidFill>
            <a:srgbClr val="E0E0E0">
              <a:alpha val="1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485900" y="4303395"/>
            <a:ext cx="1120140" cy="3486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约 15 章</a:t>
            </a:r>
            <a:endParaRPr lang="en-US" sz="1890" dirty="0"/>
          </a:p>
        </p:txBody>
      </p:sp>
      <p:sp>
        <p:nvSpPr>
          <p:cNvPr id="73" name="Shape 71"/>
          <p:cNvSpPr/>
          <p:nvPr/>
        </p:nvSpPr>
        <p:spPr>
          <a:xfrm>
            <a:off x="4640580" y="4206240"/>
            <a:ext cx="4160520" cy="542925"/>
          </a:xfrm>
          <a:prstGeom prst="roundRect">
            <a:avLst>
              <a:gd name="adj" fmla="val 8421"/>
            </a:avLst>
          </a:prstGeom>
          <a:solidFill>
            <a:srgbClr val="0F192D">
              <a:alpha val="7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40580" y="4206240"/>
            <a:ext cx="17145" cy="531495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794885" y="4371975"/>
            <a:ext cx="819302" cy="211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540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社区综合评分</a:t>
            </a:r>
            <a:pPr algn="l" indent="0" marL="0">
              <a:lnSpc>
                <a:spcPct val="150000"/>
              </a:lnSpc>
              <a:buNone/>
            </a:pPr>
            <a:r>
              <a:rPr lang="en-US" sz="450" spc="9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COMMUNITY RATING</a:t>
            </a:r>
            <a:endParaRPr lang="en-US" sz="540" dirty="0"/>
          </a:p>
        </p:txBody>
      </p:sp>
      <p:sp>
        <p:nvSpPr>
          <p:cNvPr id="76" name="Shape 74"/>
          <p:cNvSpPr/>
          <p:nvPr/>
        </p:nvSpPr>
        <p:spPr>
          <a:xfrm>
            <a:off x="5652135" y="4323398"/>
            <a:ext cx="5715" cy="308610"/>
          </a:xfrm>
          <a:prstGeom prst="rect">
            <a:avLst/>
          </a:prstGeom>
          <a:solidFill>
            <a:srgbClr val="E0E0E0">
              <a:alpha val="1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783580" y="4366260"/>
            <a:ext cx="1088350" cy="222885"/>
          </a:xfrm>
          <a:prstGeom prst="rect">
            <a:avLst/>
          </a:prstGeom>
          <a:noFill/>
          <a:ln/>
          <a:effectLst>
            <a:outerShdw sx="100000" sy="100000" kx="0" ky="0" algn="bl" rotWithShape="0" blurRad="85725" dist="50800" dir="5400000">
              <a:srgbClr val="FFD700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440" spc="135" kern="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★★★★★</a:t>
            </a:r>
            <a:endParaRPr lang="en-US" sz="1440" dirty="0"/>
          </a:p>
        </p:txBody>
      </p:sp>
      <p:sp>
        <p:nvSpPr>
          <p:cNvPr id="78" name="Text 76"/>
          <p:cNvSpPr/>
          <p:nvPr/>
        </p:nvSpPr>
        <p:spPr>
          <a:xfrm>
            <a:off x="342900" y="4840605"/>
            <a:ext cx="128016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// OS.JOURNEY — DEEP DIVE</a:t>
            </a:r>
            <a:endParaRPr lang="en-US" sz="450" dirty="0"/>
          </a:p>
        </p:txBody>
      </p:sp>
      <p:sp>
        <p:nvSpPr>
          <p:cNvPr id="79" name="Shape 77"/>
          <p:cNvSpPr/>
          <p:nvPr/>
        </p:nvSpPr>
        <p:spPr>
          <a:xfrm>
            <a:off x="1565910" y="4874895"/>
            <a:ext cx="646938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0" name="Text 78"/>
          <p:cNvSpPr/>
          <p:nvPr/>
        </p:nvSpPr>
        <p:spPr>
          <a:xfrm>
            <a:off x="8115300" y="4840605"/>
            <a:ext cx="768096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· OF · PAGE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20040" y="274320"/>
            <a:ext cx="34290" cy="19431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434340" y="274320"/>
            <a:ext cx="1757363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23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社区影响与反响</a:t>
            </a:r>
            <a:endParaRPr lang="en-US" sz="1710" dirty="0"/>
          </a:p>
        </p:txBody>
      </p:sp>
      <p:sp>
        <p:nvSpPr>
          <p:cNvPr id="5" name="Shape 3"/>
          <p:cNvSpPr/>
          <p:nvPr/>
        </p:nvSpPr>
        <p:spPr>
          <a:xfrm>
            <a:off x="2054543" y="365760"/>
            <a:ext cx="720090" cy="131445"/>
          </a:xfrm>
          <a:prstGeom prst="roundRect">
            <a:avLst>
              <a:gd name="adj" fmla="val 86957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4543" y="365760"/>
            <a:ext cx="806501" cy="131445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IMPACT · DATA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320040" y="645795"/>
            <a:ext cx="5184648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75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从社区数据可以清晰看到，一期有质量的阅读分享不仅能推动单本书的阅读，更能产生涟漪效应，带动整类书籍的关注度。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320040" y="897255"/>
            <a:ext cx="2057400" cy="622935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111A2E"/>
              </a:gs>
              <a:gs pos="100000">
                <a:srgbClr val="16213A"/>
              </a:gs>
            </a:gsLst>
            <a:lin ang="270000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897255"/>
            <a:ext cx="17145" cy="61150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440055" y="994410"/>
            <a:ext cx="203545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连续上榜月数</a:t>
            </a:r>
            <a:endParaRPr lang="en-US" sz="495" dirty="0"/>
          </a:p>
        </p:txBody>
      </p:sp>
      <p:sp>
        <p:nvSpPr>
          <p:cNvPr id="11" name="Text 9"/>
          <p:cNvSpPr/>
          <p:nvPr/>
        </p:nvSpPr>
        <p:spPr>
          <a:xfrm>
            <a:off x="440055" y="1120140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个月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440055" y="1337310"/>
            <a:ext cx="203545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TOP5 · 借阅榜单</a:t>
            </a:r>
            <a:endParaRPr lang="en-US" sz="450" dirty="0"/>
          </a:p>
        </p:txBody>
      </p:sp>
      <p:sp>
        <p:nvSpPr>
          <p:cNvPr id="13" name="Shape 11"/>
          <p:cNvSpPr/>
          <p:nvPr/>
        </p:nvSpPr>
        <p:spPr>
          <a:xfrm>
            <a:off x="2468880" y="897255"/>
            <a:ext cx="2057400" cy="622935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111A2E"/>
              </a:gs>
              <a:gs pos="100000">
                <a:srgbClr val="16213A"/>
              </a:gs>
            </a:gsLst>
            <a:lin ang="270000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897255"/>
            <a:ext cx="17145" cy="61150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5" name="Text 13"/>
          <p:cNvSpPr/>
          <p:nvPr/>
        </p:nvSpPr>
        <p:spPr>
          <a:xfrm>
            <a:off x="2588895" y="994410"/>
            <a:ext cx="203545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评论数量</a:t>
            </a:r>
            <a:endParaRPr lang="en-US" sz="495" dirty="0"/>
          </a:p>
        </p:txBody>
      </p:sp>
      <p:sp>
        <p:nvSpPr>
          <p:cNvPr id="16" name="Text 14"/>
          <p:cNvSpPr/>
          <p:nvPr/>
        </p:nvSpPr>
        <p:spPr>
          <a:xfrm>
            <a:off x="2588895" y="1120140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条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2588895" y="1337310"/>
            <a:ext cx="203545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深度评论 · 持续讨论</a:t>
            </a:r>
            <a:endParaRPr lang="en-US" sz="450" dirty="0"/>
          </a:p>
        </p:txBody>
      </p:sp>
      <p:sp>
        <p:nvSpPr>
          <p:cNvPr id="18" name="Shape 16"/>
          <p:cNvSpPr/>
          <p:nvPr/>
        </p:nvSpPr>
        <p:spPr>
          <a:xfrm>
            <a:off x="4617720" y="897255"/>
            <a:ext cx="2057400" cy="622935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111A2E"/>
              </a:gs>
              <a:gs pos="100000">
                <a:srgbClr val="16213A"/>
              </a:gs>
            </a:gsLst>
            <a:lin ang="270000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897255"/>
            <a:ext cx="17145" cy="61150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4737735" y="994410"/>
            <a:ext cx="203545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讨论参与人次</a:t>
            </a:r>
            <a:endParaRPr lang="en-US" sz="495" dirty="0"/>
          </a:p>
        </p:txBody>
      </p:sp>
      <p:sp>
        <p:nvSpPr>
          <p:cNvPr id="21" name="Text 19"/>
          <p:cNvSpPr/>
          <p:nvPr/>
        </p:nvSpPr>
        <p:spPr>
          <a:xfrm>
            <a:off x="4737735" y="1120140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1500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+ 人次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4737735" y="1337310"/>
            <a:ext cx="203545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两周以上 · 高活跃</a:t>
            </a:r>
            <a:endParaRPr lang="en-US" sz="450" dirty="0"/>
          </a:p>
        </p:txBody>
      </p:sp>
      <p:sp>
        <p:nvSpPr>
          <p:cNvPr id="23" name="Shape 21"/>
          <p:cNvSpPr/>
          <p:nvPr/>
        </p:nvSpPr>
        <p:spPr>
          <a:xfrm>
            <a:off x="6766560" y="897255"/>
            <a:ext cx="2057400" cy="622935"/>
          </a:xfrm>
          <a:prstGeom prst="roundRect">
            <a:avLst>
              <a:gd name="adj" fmla="val 11009"/>
            </a:avLst>
          </a:prstGeom>
          <a:gradFill rotWithShape="1">
            <a:gsLst>
              <a:gs pos="0">
                <a:srgbClr val="111A2E"/>
              </a:gs>
              <a:gs pos="100000">
                <a:srgbClr val="16213A"/>
              </a:gs>
            </a:gsLst>
            <a:lin ang="270000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897255"/>
            <a:ext cx="17145" cy="61150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6886575" y="994410"/>
            <a:ext cx="203545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相关书借阅增幅</a:t>
            </a:r>
            <a:endParaRPr lang="en-US" sz="495" dirty="0"/>
          </a:p>
        </p:txBody>
      </p:sp>
      <p:sp>
        <p:nvSpPr>
          <p:cNvPr id="26" name="Text 24"/>
          <p:cNvSpPr/>
          <p:nvPr/>
        </p:nvSpPr>
        <p:spPr>
          <a:xfrm>
            <a:off x="6886575" y="1120140"/>
            <a:ext cx="20354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</a:t>
            </a:r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%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6886575" y="1337310"/>
            <a:ext cx="203545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Linux / BSD 等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320040" y="1623060"/>
            <a:ext cx="4499670" cy="17145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11A2E"/>
              </a:gs>
              <a:gs pos="100000">
                <a:srgbClr val="16213A"/>
              </a:gs>
            </a:gsLst>
            <a:lin ang="270000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8625" y="1708785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0065" y="1708785"/>
            <a:ext cx="56007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阅读热度趋势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3802440" y="1723073"/>
            <a:ext cx="1017727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MONTHLY · TOP5 持续 3 个月</a:t>
            </a:r>
            <a:endParaRPr lang="en-US" sz="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28625" y="1857375"/>
          <a:ext cx="4282500" cy="13944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4911150" y="1623060"/>
            <a:ext cx="3912721" cy="17145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11A2E"/>
              </a:gs>
              <a:gs pos="100000">
                <a:srgbClr val="16213A"/>
              </a:gs>
            </a:gsLst>
            <a:lin ang="270000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19735" y="1708785"/>
            <a:ext cx="45720" cy="4572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111175" y="1708785"/>
            <a:ext cx="56007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读者画像分布</a:t>
            </a:r>
            <a:endParaRPr lang="en-US" sz="630" dirty="0"/>
          </a:p>
        </p:txBody>
      </p:sp>
      <p:sp>
        <p:nvSpPr>
          <p:cNvPr id="36" name="Text 33"/>
          <p:cNvSpPr/>
          <p:nvPr/>
        </p:nvSpPr>
        <p:spPr>
          <a:xfrm>
            <a:off x="8195221" y="1728788"/>
            <a:ext cx="582473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23" kern="0" dirty="0">
                <a:solidFill>
                  <a:srgbClr val="8A9BB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READER PROFILE</a:t>
            </a:r>
            <a:endParaRPr lang="en-US" sz="450" dirty="0"/>
          </a:p>
        </p:txBody>
      </p:sp>
      <p:graphicFrame>
        <p:nvGraphicFramePr>
          <p:cNvPr id="37" name="Chart 1" descr=""/>
          <p:cNvGraphicFramePr/>
          <p:nvPr/>
        </p:nvGraphicFramePr>
        <p:xfrm>
          <a:off x="5019735" y="1857375"/>
          <a:ext cx="3695551" cy="13944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8" name="Shape 34"/>
          <p:cNvSpPr/>
          <p:nvPr/>
        </p:nvSpPr>
        <p:spPr>
          <a:xfrm>
            <a:off x="320040" y="3429000"/>
            <a:ext cx="1655028" cy="574358"/>
          </a:xfrm>
          <a:prstGeom prst="roundRect">
            <a:avLst>
              <a:gd name="adj" fmla="val 9950"/>
            </a:avLst>
          </a:prstGeom>
          <a:solidFill>
            <a:srgbClr val="111A2E"/>
          </a:solidFill>
          <a:ln w="5715">
            <a:solidFill>
              <a:srgbClr val="1E2A45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94335" y="3503295"/>
            <a:ext cx="182880" cy="18288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40" name="Text 36"/>
          <p:cNvSpPr/>
          <p:nvPr/>
        </p:nvSpPr>
        <p:spPr>
          <a:xfrm>
            <a:off x="394335" y="3503295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🔥</a:t>
            </a:r>
            <a:endParaRPr lang="en-US" sz="630" dirty="0"/>
          </a:p>
        </p:txBody>
      </p:sp>
      <p:sp>
        <p:nvSpPr>
          <p:cNvPr id="41" name="Text 37"/>
          <p:cNvSpPr/>
          <p:nvPr/>
        </p:nvSpPr>
        <p:spPr>
          <a:xfrm>
            <a:off x="394335" y="3731895"/>
            <a:ext cx="168721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阅读热度</a:t>
            </a:r>
            <a:endParaRPr lang="en-US" sz="540" dirty="0"/>
          </a:p>
        </p:txBody>
      </p:sp>
      <p:sp>
        <p:nvSpPr>
          <p:cNvPr id="42" name="Text 38"/>
          <p:cNvSpPr/>
          <p:nvPr/>
        </p:nvSpPr>
        <p:spPr>
          <a:xfrm>
            <a:off x="394335" y="3851910"/>
            <a:ext cx="1687211" cy="88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连续三个月借阅榜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TOP5</a:t>
            </a:r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，评论超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200</a:t>
            </a:r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条</a:t>
            </a:r>
            <a:endParaRPr lang="en-US" sz="450" dirty="0"/>
          </a:p>
        </p:txBody>
      </p:sp>
      <p:sp>
        <p:nvSpPr>
          <p:cNvPr id="43" name="Shape 39"/>
          <p:cNvSpPr/>
          <p:nvPr/>
        </p:nvSpPr>
        <p:spPr>
          <a:xfrm>
            <a:off x="2032218" y="3429000"/>
            <a:ext cx="1655028" cy="574358"/>
          </a:xfrm>
          <a:prstGeom prst="roundRect">
            <a:avLst>
              <a:gd name="adj" fmla="val 9950"/>
            </a:avLst>
          </a:prstGeom>
          <a:solidFill>
            <a:srgbClr val="111A2E"/>
          </a:solidFill>
          <a:ln w="5715">
            <a:solidFill>
              <a:srgbClr val="1E2A45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106513" y="3503295"/>
            <a:ext cx="182880" cy="18288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45" name="Text 41"/>
          <p:cNvSpPr/>
          <p:nvPr/>
        </p:nvSpPr>
        <p:spPr>
          <a:xfrm>
            <a:off x="2106513" y="3503295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endParaRPr lang="en-US" sz="630" dirty="0"/>
          </a:p>
        </p:txBody>
      </p:sp>
      <p:sp>
        <p:nvSpPr>
          <p:cNvPr id="46" name="Text 42"/>
          <p:cNvSpPr/>
          <p:nvPr/>
        </p:nvSpPr>
        <p:spPr>
          <a:xfrm>
            <a:off x="2106513" y="3731895"/>
            <a:ext cx="168721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讨论活跃度</a:t>
            </a:r>
            <a:endParaRPr lang="en-US" sz="540" dirty="0"/>
          </a:p>
        </p:txBody>
      </p:sp>
      <p:sp>
        <p:nvSpPr>
          <p:cNvPr id="47" name="Text 43"/>
          <p:cNvSpPr/>
          <p:nvPr/>
        </p:nvSpPr>
        <p:spPr>
          <a:xfrm>
            <a:off x="2106513" y="3851910"/>
            <a:ext cx="1687211" cy="88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覆盖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1500</a:t>
            </a:r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余人次，讨论持续两周以上</a:t>
            </a:r>
            <a:endParaRPr lang="en-US" sz="450" dirty="0"/>
          </a:p>
        </p:txBody>
      </p:sp>
      <p:sp>
        <p:nvSpPr>
          <p:cNvPr id="48" name="Shape 44"/>
          <p:cNvSpPr/>
          <p:nvPr/>
        </p:nvSpPr>
        <p:spPr>
          <a:xfrm>
            <a:off x="3744397" y="3429000"/>
            <a:ext cx="1655118" cy="574358"/>
          </a:xfrm>
          <a:prstGeom prst="roundRect">
            <a:avLst>
              <a:gd name="adj" fmla="val 9950"/>
            </a:avLst>
          </a:prstGeom>
          <a:solidFill>
            <a:srgbClr val="111A2E"/>
          </a:solidFill>
          <a:ln w="5715">
            <a:solidFill>
              <a:srgbClr val="1E2A45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3818692" y="3503295"/>
            <a:ext cx="182880" cy="18288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50" name="Text 46"/>
          <p:cNvSpPr/>
          <p:nvPr/>
        </p:nvSpPr>
        <p:spPr>
          <a:xfrm>
            <a:off x="3818692" y="3503295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endParaRPr lang="en-US" sz="630" dirty="0"/>
          </a:p>
        </p:txBody>
      </p:sp>
      <p:sp>
        <p:nvSpPr>
          <p:cNvPr id="51" name="Text 47"/>
          <p:cNvSpPr/>
          <p:nvPr/>
        </p:nvSpPr>
        <p:spPr>
          <a:xfrm>
            <a:off x="3818692" y="3731895"/>
            <a:ext cx="168731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译介推动</a:t>
            </a:r>
            <a:endParaRPr lang="en-US" sz="540" dirty="0"/>
          </a:p>
        </p:txBody>
      </p:sp>
      <p:sp>
        <p:nvSpPr>
          <p:cNvPr id="52" name="Text 48"/>
          <p:cNvSpPr/>
          <p:nvPr/>
        </p:nvSpPr>
        <p:spPr>
          <a:xfrm>
            <a:off x="3818692" y="3851910"/>
            <a:ext cx="1687311" cy="88583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社区成员发起译介倡议，目标系统引进优秀作品</a:t>
            </a:r>
            <a:endParaRPr lang="en-US" sz="450" dirty="0"/>
          </a:p>
        </p:txBody>
      </p:sp>
      <p:sp>
        <p:nvSpPr>
          <p:cNvPr id="53" name="Shape 49"/>
          <p:cNvSpPr/>
          <p:nvPr/>
        </p:nvSpPr>
        <p:spPr>
          <a:xfrm>
            <a:off x="5456664" y="3429000"/>
            <a:ext cx="1655028" cy="574358"/>
          </a:xfrm>
          <a:prstGeom prst="roundRect">
            <a:avLst>
              <a:gd name="adj" fmla="val 9950"/>
            </a:avLst>
          </a:prstGeom>
          <a:solidFill>
            <a:srgbClr val="111A2E"/>
          </a:solidFill>
          <a:ln w="5715">
            <a:solidFill>
              <a:srgbClr val="1E2A4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530959" y="3503295"/>
            <a:ext cx="182880" cy="18288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55" name="Text 51"/>
          <p:cNvSpPr/>
          <p:nvPr/>
        </p:nvSpPr>
        <p:spPr>
          <a:xfrm>
            <a:off x="5530959" y="3503295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630" dirty="0"/>
          </a:p>
        </p:txBody>
      </p:sp>
      <p:sp>
        <p:nvSpPr>
          <p:cNvPr id="56" name="Text 52"/>
          <p:cNvSpPr/>
          <p:nvPr/>
        </p:nvSpPr>
        <p:spPr>
          <a:xfrm>
            <a:off x="5530959" y="3731895"/>
            <a:ext cx="168721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联动效应</a:t>
            </a:r>
            <a:endParaRPr lang="en-US" sz="540" dirty="0"/>
          </a:p>
        </p:txBody>
      </p:sp>
      <p:sp>
        <p:nvSpPr>
          <p:cNvPr id="57" name="Text 53"/>
          <p:cNvSpPr/>
          <p:nvPr/>
        </p:nvSpPr>
        <p:spPr>
          <a:xfrm>
            <a:off x="5530959" y="3851910"/>
            <a:ext cx="1687211" cy="88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带动同期 Linux、BSD 等相关书籍借阅量上升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20%</a:t>
            </a:r>
            <a:endParaRPr lang="en-US" sz="450" dirty="0"/>
          </a:p>
        </p:txBody>
      </p:sp>
      <p:sp>
        <p:nvSpPr>
          <p:cNvPr id="58" name="Shape 54"/>
          <p:cNvSpPr/>
          <p:nvPr/>
        </p:nvSpPr>
        <p:spPr>
          <a:xfrm>
            <a:off x="7168842" y="3429000"/>
            <a:ext cx="1655118" cy="574358"/>
          </a:xfrm>
          <a:prstGeom prst="roundRect">
            <a:avLst>
              <a:gd name="adj" fmla="val 9950"/>
            </a:avLst>
          </a:prstGeom>
          <a:solidFill>
            <a:srgbClr val="111A2E"/>
          </a:solidFill>
          <a:ln w="5715">
            <a:solidFill>
              <a:srgbClr val="1E2A45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243137" y="3503295"/>
            <a:ext cx="182880" cy="18288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60" name="Text 56"/>
          <p:cNvSpPr/>
          <p:nvPr/>
        </p:nvSpPr>
        <p:spPr>
          <a:xfrm>
            <a:off x="7243137" y="3503295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</a:t>
            </a:r>
            <a:endParaRPr lang="en-US" sz="630" dirty="0"/>
          </a:p>
        </p:txBody>
      </p:sp>
      <p:sp>
        <p:nvSpPr>
          <p:cNvPr id="61" name="Text 57"/>
          <p:cNvSpPr/>
          <p:nvPr/>
        </p:nvSpPr>
        <p:spPr>
          <a:xfrm>
            <a:off x="7243137" y="3731895"/>
            <a:ext cx="168731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读者画像</a:t>
            </a:r>
            <a:endParaRPr lang="en-US" sz="540" dirty="0"/>
          </a:p>
        </p:txBody>
      </p:sp>
      <p:sp>
        <p:nvSpPr>
          <p:cNvPr id="62" name="Text 58"/>
          <p:cNvSpPr/>
          <p:nvPr/>
        </p:nvSpPr>
        <p:spPr>
          <a:xfrm>
            <a:off x="7243137" y="3851910"/>
            <a:ext cx="1687311" cy="885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在校学生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45%</a:t>
            </a:r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、工程师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35%</a:t>
            </a:r>
            <a:pPr algn="l" indent="0" marL="0">
              <a:lnSpc>
                <a:spcPct val="155000"/>
              </a:lnSpc>
              <a:buNone/>
            </a:pPr>
            <a:r>
              <a:rPr lang="en-US" sz="45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、维护者</a:t>
            </a:r>
            <a:pPr algn="l" indent="0" marL="0">
              <a:lnSpc>
                <a:spcPct val="155000"/>
              </a:lnSpc>
              <a:buNone/>
            </a:pPr>
            <a:r>
              <a:rPr lang="en-US" sz="450" b="1" dirty="0">
                <a:solidFill>
                  <a:srgbClr val="2196F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20%</a:t>
            </a:r>
            <a:endParaRPr lang="en-US" sz="450" dirty="0"/>
          </a:p>
        </p:txBody>
      </p:sp>
      <p:sp>
        <p:nvSpPr>
          <p:cNvPr id="63" name="Shape 59"/>
          <p:cNvSpPr/>
          <p:nvPr/>
        </p:nvSpPr>
        <p:spPr>
          <a:xfrm>
            <a:off x="320040" y="4094798"/>
            <a:ext cx="8503920" cy="268605"/>
          </a:xfrm>
          <a:prstGeom prst="roundRect">
            <a:avLst>
              <a:gd name="adj" fmla="val 21277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8000"/>
                </a:srgbClr>
              </a:gs>
            </a:gsLst>
            <a:lin ang="0" scaled="0"/>
          </a:gradFill>
          <a:ln w="5715">
            <a:solidFill>
              <a:srgbClr val="1E2A45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40055" y="4200525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5" name="Text 61"/>
          <p:cNvSpPr/>
          <p:nvPr/>
        </p:nvSpPr>
        <p:spPr>
          <a:xfrm>
            <a:off x="577215" y="4169093"/>
            <a:ext cx="3874484" cy="120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75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这本书的分享成果充分验证了</a:t>
            </a:r>
            <a:pPr algn="l" indent="0" marL="0">
              <a:buNone/>
            </a:pPr>
            <a:r>
              <a:rPr lang="en-US" sz="675" b="1" spc="14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深度布道</a:t>
            </a:r>
            <a:pPr algn="l" indent="0" marL="0">
              <a:buNone/>
            </a:pPr>
            <a:r>
              <a:rPr lang="en-US" sz="675" b="1" spc="14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的价值 —— 一期阅读分享，一场持续的社区涟漪。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05740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3657600" y="2314575"/>
            <a:ext cx="8229600" cy="4629150"/>
          </a:xfrm>
          <a:prstGeom prst="ellipse">
            <a:avLst/>
          </a:prstGeom>
          <a:gradFill rotWithShape="1">
            <a:gsLst>
              <a:gs pos="0">
                <a:srgbClr val="00BCD4">
                  <a:alpha val="96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3691890" y="228600"/>
            <a:ext cx="2000250" cy="34861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89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阅读启示与行动</a:t>
            </a:r>
            <a:endParaRPr lang="en-US" sz="1890" dirty="0"/>
          </a:p>
        </p:txBody>
      </p:sp>
      <p:sp>
        <p:nvSpPr>
          <p:cNvPr id="6" name="Text 4"/>
          <p:cNvSpPr/>
          <p:nvPr/>
        </p:nvSpPr>
        <p:spPr>
          <a:xfrm>
            <a:off x="4131945" y="611505"/>
            <a:ext cx="985723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27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把知识变成行动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3071813" y="874395"/>
            <a:ext cx="1537335" cy="302895"/>
          </a:xfrm>
          <a:prstGeom prst="roundRect">
            <a:avLst>
              <a:gd name="adj" fmla="val 18868"/>
            </a:avLst>
          </a:prstGeom>
          <a:gradFill rotWithShape="1">
            <a:gsLst>
              <a:gs pos="0">
                <a:srgbClr val="0D1F3D"/>
              </a:gs>
              <a:gs pos="100000">
                <a:srgbClr val="13294B"/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71813" y="874395"/>
            <a:ext cx="22860" cy="29146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3260408" y="977265"/>
            <a:ext cx="48006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建议周阅读量</a:t>
            </a:r>
            <a:endParaRPr lang="en-US" sz="540" dirty="0"/>
          </a:p>
        </p:txBody>
      </p:sp>
      <p:sp>
        <p:nvSpPr>
          <p:cNvPr id="10" name="Text 8"/>
          <p:cNvSpPr/>
          <p:nvPr/>
        </p:nvSpPr>
        <p:spPr>
          <a:xfrm>
            <a:off x="3751898" y="937260"/>
            <a:ext cx="460629" cy="17716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30+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4134803" y="971550"/>
            <a:ext cx="3600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0E0E0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页 / 周</a:t>
            </a:r>
            <a:endParaRPr lang="en-US" sz="585" dirty="0"/>
          </a:p>
        </p:txBody>
      </p:sp>
      <p:sp>
        <p:nvSpPr>
          <p:cNvPr id="12" name="Shape 10"/>
          <p:cNvSpPr/>
          <p:nvPr/>
        </p:nvSpPr>
        <p:spPr>
          <a:xfrm>
            <a:off x="4746308" y="874395"/>
            <a:ext cx="1325880" cy="302895"/>
          </a:xfrm>
          <a:prstGeom prst="roundRect">
            <a:avLst>
              <a:gd name="adj" fmla="val 18868"/>
            </a:avLst>
          </a:prstGeom>
          <a:gradFill rotWithShape="1">
            <a:gsLst>
              <a:gs pos="0">
                <a:srgbClr val="0D1F3D"/>
              </a:gs>
              <a:gs pos="100000">
                <a:srgbClr val="13294B"/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71450" dist="50800" dir="16200000">
              <a:srgbClr val="2196F3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6308" y="874395"/>
            <a:ext cx="22860" cy="29146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4903" y="977265"/>
            <a:ext cx="41148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0E0E0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年阅读目标</a:t>
            </a:r>
            <a:endParaRPr lang="en-US" sz="540" dirty="0"/>
          </a:p>
        </p:txBody>
      </p:sp>
      <p:sp>
        <p:nvSpPr>
          <p:cNvPr id="15" name="Text 13"/>
          <p:cNvSpPr/>
          <p:nvPr/>
        </p:nvSpPr>
        <p:spPr>
          <a:xfrm>
            <a:off x="5357813" y="937260"/>
            <a:ext cx="356616" cy="177165"/>
          </a:xfrm>
          <a:prstGeom prst="rect">
            <a:avLst/>
          </a:prstGeom>
          <a:noFill/>
          <a:ln/>
          <a:effectLst>
            <a:outerShdw sx="100000" sy="100000" kx="0" ky="0" algn="bl" rotWithShape="0" blurRad="68580" dist="50800" dir="5400000">
              <a:srgbClr val="00BCD4">
                <a:alpha val="6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5597843" y="971550"/>
            <a:ext cx="36004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dirty="0">
                <a:solidFill>
                  <a:srgbClr val="E0E0E0">
                    <a:alpha val="85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本 / 年</a:t>
            </a:r>
            <a:endParaRPr lang="en-US" sz="585" dirty="0"/>
          </a:p>
        </p:txBody>
      </p:sp>
      <p:sp>
        <p:nvSpPr>
          <p:cNvPr id="17" name="Shape 15"/>
          <p:cNvSpPr/>
          <p:nvPr/>
        </p:nvSpPr>
        <p:spPr>
          <a:xfrm>
            <a:off x="4572000" y="1257300"/>
            <a:ext cx="11430" cy="3434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5750" y="2974658"/>
            <a:ext cx="85725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5750" y="1257300"/>
            <a:ext cx="4234815" cy="1665923"/>
          </a:xfrm>
          <a:prstGeom prst="roundRect">
            <a:avLst>
              <a:gd name="adj" fmla="val 4117"/>
            </a:avLst>
          </a:prstGeom>
          <a:gradFill rotWithShape="1">
            <a:gsLst>
              <a:gs pos="0">
                <a:srgbClr val="0D1F3D"/>
              </a:gs>
              <a:gs pos="100000">
                <a:srgbClr val="112A50"/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52400" dist="50800" dir="16200000">
              <a:srgbClr val="2196F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23385" y="1085850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1" name="Shape 19"/>
          <p:cNvSpPr/>
          <p:nvPr/>
        </p:nvSpPr>
        <p:spPr>
          <a:xfrm>
            <a:off x="417195" y="1365885"/>
            <a:ext cx="240030" cy="240030"/>
          </a:xfrm>
          <a:prstGeom prst="roundRect">
            <a:avLst>
              <a:gd name="adj" fmla="val 23810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8630" y="1417320"/>
            <a:ext cx="137160" cy="1371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5805" y="1408748"/>
            <a:ext cx="5657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坚持阅读</a:t>
            </a:r>
            <a:endParaRPr lang="en-US" sz="855" dirty="0"/>
          </a:p>
        </p:txBody>
      </p:sp>
      <p:sp>
        <p:nvSpPr>
          <p:cNvPr id="24" name="Text 21"/>
          <p:cNvSpPr/>
          <p:nvPr/>
        </p:nvSpPr>
        <p:spPr>
          <a:xfrm>
            <a:off x="417195" y="1651635"/>
            <a:ext cx="444855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9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系统性阅读是技术成长的基石。每周固定阅读时间与笔记习惯至关重要，让知识在积累中形成结构化的认知体系，从碎片走向系统，从输入走向内化。</a:t>
            </a:r>
            <a:endParaRPr lang="en-US" sz="563" dirty="0"/>
          </a:p>
        </p:txBody>
      </p:sp>
      <p:sp>
        <p:nvSpPr>
          <p:cNvPr id="25" name="Shape 22"/>
          <p:cNvSpPr/>
          <p:nvPr/>
        </p:nvSpPr>
        <p:spPr>
          <a:xfrm>
            <a:off x="4623435" y="1257300"/>
            <a:ext cx="4234815" cy="1665923"/>
          </a:xfrm>
          <a:prstGeom prst="roundRect">
            <a:avLst>
              <a:gd name="adj" fmla="val 4117"/>
            </a:avLst>
          </a:prstGeom>
          <a:gradFill rotWithShape="1">
            <a:gsLst>
              <a:gs pos="0">
                <a:srgbClr val="0D1F3D"/>
              </a:gs>
              <a:gs pos="100000">
                <a:srgbClr val="112A50"/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52400" dist="50800" dir="16200000">
              <a:srgbClr val="2196F3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561070" y="1085850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7" name="Shape 24"/>
          <p:cNvSpPr/>
          <p:nvPr/>
        </p:nvSpPr>
        <p:spPr>
          <a:xfrm>
            <a:off x="4754880" y="1365885"/>
            <a:ext cx="240030" cy="240030"/>
          </a:xfrm>
          <a:prstGeom prst="roundRect">
            <a:avLst>
              <a:gd name="adj" fmla="val 23810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6315" y="1417320"/>
            <a:ext cx="137160" cy="1371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63490" y="1408748"/>
            <a:ext cx="7943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分享放大价值</a:t>
            </a:r>
            <a:endParaRPr lang="en-US" sz="855" dirty="0"/>
          </a:p>
        </p:txBody>
      </p:sp>
      <p:sp>
        <p:nvSpPr>
          <p:cNvPr id="30" name="Text 26"/>
          <p:cNvSpPr/>
          <p:nvPr/>
        </p:nvSpPr>
        <p:spPr>
          <a:xfrm>
            <a:off x="4754880" y="1651635"/>
            <a:ext cx="444855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9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个人阅读收获通过分享影响更多人，形成知识传播的正向飞轮效应。每一次讲述、每一篇笔记、每一场技术分享，都在让知识网络不断扩展与增值。</a:t>
            </a:r>
            <a:endParaRPr lang="en-US" sz="563" dirty="0"/>
          </a:p>
        </p:txBody>
      </p:sp>
      <p:sp>
        <p:nvSpPr>
          <p:cNvPr id="31" name="Shape 27"/>
          <p:cNvSpPr/>
          <p:nvPr/>
        </p:nvSpPr>
        <p:spPr>
          <a:xfrm>
            <a:off x="285750" y="3026093"/>
            <a:ext cx="4234815" cy="1665923"/>
          </a:xfrm>
          <a:prstGeom prst="roundRect">
            <a:avLst>
              <a:gd name="adj" fmla="val 4117"/>
            </a:avLst>
          </a:prstGeom>
          <a:gradFill rotWithShape="1">
            <a:gsLst>
              <a:gs pos="0">
                <a:srgbClr val="0D1F3D"/>
              </a:gs>
              <a:gs pos="100000">
                <a:srgbClr val="112A50"/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52400" dist="50800" dir="16200000">
              <a:srgbClr val="2196F3">
                <a:alpha val="25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223385" y="2854643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3" name="Shape 29"/>
          <p:cNvSpPr/>
          <p:nvPr/>
        </p:nvSpPr>
        <p:spPr>
          <a:xfrm>
            <a:off x="417195" y="3134678"/>
            <a:ext cx="240030" cy="240030"/>
          </a:xfrm>
          <a:prstGeom prst="roundRect">
            <a:avLst>
              <a:gd name="adj" fmla="val 23810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630" y="3186113"/>
            <a:ext cx="137160" cy="1371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25805" y="3177540"/>
            <a:ext cx="5657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翻译桥梁</a:t>
            </a:r>
            <a:endParaRPr lang="en-US" sz="855" dirty="0"/>
          </a:p>
        </p:txBody>
      </p:sp>
      <p:sp>
        <p:nvSpPr>
          <p:cNvPr id="36" name="Text 31"/>
          <p:cNvSpPr/>
          <p:nvPr/>
        </p:nvSpPr>
        <p:spPr>
          <a:xfrm>
            <a:off x="417195" y="3420428"/>
            <a:ext cx="444855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9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开源社区需要更多高质量翻译，让中文读者无障碍获取国际优质内容。每一次翻译都是文化与技术之间的桥梁，连接不同语言背后的思想与智慧。</a:t>
            </a:r>
            <a:endParaRPr lang="en-US" sz="563" dirty="0"/>
          </a:p>
        </p:txBody>
      </p:sp>
      <p:sp>
        <p:nvSpPr>
          <p:cNvPr id="37" name="Shape 32"/>
          <p:cNvSpPr/>
          <p:nvPr/>
        </p:nvSpPr>
        <p:spPr>
          <a:xfrm>
            <a:off x="4623435" y="3026093"/>
            <a:ext cx="4234815" cy="1665923"/>
          </a:xfrm>
          <a:prstGeom prst="roundRect">
            <a:avLst>
              <a:gd name="adj" fmla="val 4117"/>
            </a:avLst>
          </a:prstGeom>
          <a:gradFill rotWithShape="1">
            <a:gsLst>
              <a:gs pos="0">
                <a:srgbClr val="0D1F3D"/>
              </a:gs>
              <a:gs pos="100000">
                <a:srgbClr val="112A50"/>
              </a:gs>
            </a:gsLst>
            <a:lin ang="2700000" scaled="0"/>
          </a:gra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52400" dist="50800" dir="16200000">
              <a:srgbClr val="2196F3">
                <a:alpha val="2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8561070" y="2854643"/>
            <a:ext cx="457200" cy="457200"/>
          </a:xfrm>
          <a:prstGeom prst="ellipse">
            <a:avLst/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9" name="Shape 34"/>
          <p:cNvSpPr/>
          <p:nvPr/>
        </p:nvSpPr>
        <p:spPr>
          <a:xfrm>
            <a:off x="4754880" y="3134678"/>
            <a:ext cx="240030" cy="240030"/>
          </a:xfrm>
          <a:prstGeom prst="roundRect">
            <a:avLst>
              <a:gd name="adj" fmla="val 23810"/>
            </a:avLst>
          </a:prstGeom>
          <a:noFill/>
          <a:ln w="5715">
            <a:solidFill>
              <a:srgbClr val="00BCD4"/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40000"/>
              </a:srgbClr>
            </a:outerShdw>
          </a:effectLst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6315" y="3186113"/>
            <a:ext cx="137160" cy="13716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063490" y="3177540"/>
            <a:ext cx="5657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持续布道</a:t>
            </a:r>
            <a:endParaRPr lang="en-US" sz="855" dirty="0"/>
          </a:p>
        </p:txBody>
      </p:sp>
      <p:sp>
        <p:nvSpPr>
          <p:cNvPr id="42" name="Text 36"/>
          <p:cNvSpPr/>
          <p:nvPr/>
        </p:nvSpPr>
        <p:spPr>
          <a:xfrm>
            <a:off x="4754880" y="3420428"/>
            <a:ext cx="4448556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563" dirty="0">
                <a:solidFill>
                  <a:srgbClr val="E0E0E0">
                    <a:alpha val="92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开源不仅是代码开源，更是知识、文化与精神的开源传播与接力传承。让开源的火种在每一代人手中延续，照亮更远的技术未来与更广阔的世界。</a:t>
            </a:r>
            <a:endParaRPr lang="en-US" sz="563" dirty="0"/>
          </a:p>
        </p:txBody>
      </p:sp>
      <p:sp>
        <p:nvSpPr>
          <p:cNvPr id="43" name="Text 37"/>
          <p:cNvSpPr/>
          <p:nvPr/>
        </p:nvSpPr>
        <p:spPr>
          <a:xfrm>
            <a:off x="285750" y="4772025"/>
            <a:ext cx="9601200" cy="142875"/>
          </a:xfrm>
          <a:prstGeom prst="rect">
            <a:avLst/>
          </a:prstGeom>
          <a:noFill/>
          <a:ln/>
          <a:effectLst>
            <a:outerShdw sx="100000" sy="100000" kx="0" ky="0" algn="bl" rotWithShape="0" blurRad="80010" dist="50800" dir="5400000">
              <a:srgbClr val="00BCD4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5" b="1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开源的火焰，需要每个人添柴。 </a:t>
            </a:r>
            <a:endParaRPr lang="en-US" sz="765" dirty="0"/>
          </a:p>
        </p:txBody>
      </p:sp>
      <p:sp>
        <p:nvSpPr>
          <p:cNvPr id="44" name="Shape 38"/>
          <p:cNvSpPr/>
          <p:nvPr/>
        </p:nvSpPr>
        <p:spPr>
          <a:xfrm>
            <a:off x="3308985" y="4856946"/>
            <a:ext cx="342900" cy="5715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5492115" y="4856946"/>
            <a:ext cx="342900" cy="5715"/>
          </a:xfrm>
          <a:prstGeom prst="rect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7429500" y="-571500"/>
            <a:ext cx="2286000" cy="2286000"/>
          </a:xfrm>
          <a:prstGeom prst="ellipse">
            <a:avLst/>
          </a:prstGeom>
          <a:solidFill>
            <a:srgbClr val="2196F3">
              <a:alpha val="21000"/>
            </a:srgbClr>
          </a:solidFill>
          <a:ln/>
          <a:effectLst>
            <a:outerShdw sx="100000" sy="100000" kx="0" ky="0" algn="bl" rotWithShape="0" blurRad="342900" dist="50800" dir="16200000">
              <a:srgbClr val="2196F3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-571500" y="3714750"/>
            <a:ext cx="2000250" cy="2000250"/>
          </a:xfrm>
          <a:prstGeom prst="ellipse">
            <a:avLst/>
          </a:prstGeom>
          <a:solidFill>
            <a:srgbClr val="00BCD4">
              <a:alpha val="21000"/>
            </a:srgbClr>
          </a:solidFill>
          <a:ln/>
          <a:effectLst>
            <a:outerShdw sx="100000" sy="100000" kx="0" ky="0" algn="bl" rotWithShape="0" blurRad="342900" dist="50800" dir="16200000">
              <a:srgbClr val="00BCD4">
                <a:alpha val="6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0" y="2571750"/>
            <a:ext cx="1428750" cy="1428750"/>
          </a:xfrm>
          <a:prstGeom prst="ellipse">
            <a:avLst/>
          </a:prstGeom>
          <a:solidFill>
            <a:srgbClr val="2196F3">
              <a:alpha val="21000"/>
            </a:srgbClr>
          </a:solidFill>
          <a:ln/>
          <a:effectLst>
            <a:outerShdw sx="100000" sy="100000" kx="0" ky="0" algn="bl" rotWithShape="0" blurRad="342900" dist="50800" dir="16200000">
              <a:srgbClr val="2196F3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240000">
            <a:off x="8001000" y="-571500"/>
            <a:ext cx="1600200" cy="1600200"/>
          </a:xfrm>
          <a:prstGeom prst="ellips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55998" y="-580903"/>
            <a:ext cx="36626" cy="36626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-300000">
            <a:off x="-285750" y="4343400"/>
            <a:ext cx="1143000" cy="1143000"/>
          </a:xfrm>
          <a:prstGeom prst="ellipse">
            <a:avLst/>
          </a:prstGeom>
          <a:noFill/>
          <a:ln w="5715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887" y="4331330"/>
            <a:ext cx="37365" cy="3736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0006" y="3047167"/>
            <a:ext cx="10984" cy="109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10348" y="3150126"/>
            <a:ext cx="7144" cy="71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8328" y="2576304"/>
            <a:ext cx="16609" cy="166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8082" y="1236672"/>
            <a:ext cx="11251" cy="112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67833" y="2031683"/>
            <a:ext cx="5715" cy="571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17574" y="4591199"/>
            <a:ext cx="12323" cy="123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314307" y="2481917"/>
            <a:ext cx="14288" cy="142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9855" y="1182380"/>
            <a:ext cx="9198" cy="91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58582" y="3409355"/>
            <a:ext cx="16252" cy="162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1696" y="2950242"/>
            <a:ext cx="10523" cy="10523"/>
          </a:xfrm>
          <a:prstGeom prst="ellipse">
            <a:avLst/>
          </a:prstGeom>
          <a:solidFill>
            <a:srgbClr val="FFFFFF">
              <a:alpha val="1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80278" y="4967317"/>
            <a:ext cx="8305" cy="83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089583" y="104745"/>
            <a:ext cx="9287" cy="92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290858" y="667226"/>
            <a:ext cx="17413" cy="174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018502" y="2874913"/>
            <a:ext cx="15806" cy="15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83557" y="4037485"/>
            <a:ext cx="10952" cy="109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92970" y="1163270"/>
            <a:ext cx="14020" cy="140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91451" y="2273945"/>
            <a:ext cx="9376" cy="93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731426" y="2956079"/>
            <a:ext cx="5814" cy="5814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43698" y="2653725"/>
            <a:ext cx="16163" cy="161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281606" y="1245208"/>
            <a:ext cx="11861" cy="11861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84450" y="2179022"/>
            <a:ext cx="15627" cy="156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2973765" y="3516064"/>
            <a:ext cx="14109" cy="141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3079224" y="3036"/>
            <a:ext cx="10448" cy="104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929741" y="5114211"/>
            <a:ext cx="9198" cy="919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650518" y="4327316"/>
            <a:ext cx="9218" cy="9218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988052" y="3215580"/>
            <a:ext cx="5358" cy="53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338774" y="2938046"/>
            <a:ext cx="6787" cy="67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2918043" y="4289733"/>
            <a:ext cx="13662" cy="136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675924" y="3602861"/>
            <a:ext cx="17859" cy="178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5692" y="4643973"/>
            <a:ext cx="11787" cy="117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8394710" y="3167360"/>
            <a:ext cx="13127" cy="131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7224921" y="4814709"/>
            <a:ext cx="6429" cy="642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14784" y="2107853"/>
            <a:ext cx="8215" cy="821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314271" y="749022"/>
            <a:ext cx="7769" cy="776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119872" y="1370082"/>
            <a:ext cx="7412" cy="74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2482721" y="1980873"/>
            <a:ext cx="16609" cy="1660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5649278" y="4780062"/>
            <a:ext cx="8305" cy="83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770400" y="865912"/>
            <a:ext cx="9555" cy="95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3293358" y="3492669"/>
            <a:ext cx="5536" cy="55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4699784" y="2033736"/>
            <a:ext cx="12680" cy="12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117729" y="3081457"/>
            <a:ext cx="10180" cy="101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2344489" y="1473666"/>
            <a:ext cx="8751" cy="87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3455164" y="2124283"/>
            <a:ext cx="10180" cy="101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1257032" y="2874288"/>
            <a:ext cx="11966" cy="1196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8162806" y="1345793"/>
            <a:ext cx="4911" cy="4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6119555" y="4020810"/>
            <a:ext cx="3939" cy="3939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462719" y="4376351"/>
            <a:ext cx="10180" cy="101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2160627" y="985123"/>
            <a:ext cx="14734" cy="147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292804" y="2883932"/>
            <a:ext cx="12323" cy="123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396835" y="4504670"/>
            <a:ext cx="11251" cy="112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3410337" y="430054"/>
            <a:ext cx="15270" cy="152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1782812" y="966817"/>
            <a:ext cx="17949" cy="179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Shape 60"/>
          <p:cNvSpPr/>
          <p:nvPr/>
        </p:nvSpPr>
        <p:spPr>
          <a:xfrm>
            <a:off x="2627650" y="3929241"/>
            <a:ext cx="4822" cy="482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8172361" y="2765078"/>
            <a:ext cx="13930" cy="1393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4766489" y="3026718"/>
            <a:ext cx="14823" cy="148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5581858" y="3188881"/>
            <a:ext cx="5179" cy="517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552212" y="3946297"/>
            <a:ext cx="12859" cy="128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799082" y="2945815"/>
            <a:ext cx="17859" cy="1785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Shape 66"/>
          <p:cNvSpPr/>
          <p:nvPr/>
        </p:nvSpPr>
        <p:spPr>
          <a:xfrm>
            <a:off x="3027521" y="2289125"/>
            <a:ext cx="18484" cy="184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7275909" y="1756023"/>
            <a:ext cx="17145" cy="1714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Shape 68"/>
          <p:cNvSpPr/>
          <p:nvPr/>
        </p:nvSpPr>
        <p:spPr>
          <a:xfrm>
            <a:off x="1416963" y="3371939"/>
            <a:ext cx="10180" cy="101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5416838" y="4810869"/>
            <a:ext cx="12323" cy="123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756746" y="2965022"/>
            <a:ext cx="8287" cy="8288"/>
          </a:xfrm>
          <a:prstGeom prst="ellipse">
            <a:avLst/>
          </a:prstGeom>
          <a:solidFill>
            <a:srgbClr val="FFFFFF">
              <a:alpha val="19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3869412" y="1034951"/>
            <a:ext cx="9465" cy="946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2857232" y="1135499"/>
            <a:ext cx="14913" cy="149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3801547" y="90011"/>
            <a:ext cx="12323" cy="123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Shape 74"/>
          <p:cNvSpPr/>
          <p:nvPr/>
        </p:nvSpPr>
        <p:spPr>
          <a:xfrm>
            <a:off x="6068169" y="3923883"/>
            <a:ext cx="16788" cy="167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7" name="Shape 75"/>
          <p:cNvSpPr/>
          <p:nvPr/>
        </p:nvSpPr>
        <p:spPr>
          <a:xfrm>
            <a:off x="6930777" y="3150930"/>
            <a:ext cx="6608" cy="6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8637151" y="2654350"/>
            <a:ext cx="9733" cy="97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9" name="Shape 77"/>
          <p:cNvSpPr/>
          <p:nvPr/>
        </p:nvSpPr>
        <p:spPr>
          <a:xfrm>
            <a:off x="6420713" y="3812977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Shape 78"/>
          <p:cNvSpPr/>
          <p:nvPr/>
        </p:nvSpPr>
        <p:spPr>
          <a:xfrm>
            <a:off x="29557" y="2490668"/>
            <a:ext cx="9287" cy="92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4775686" y="2783741"/>
            <a:ext cx="10626" cy="106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Shape 80"/>
          <p:cNvSpPr/>
          <p:nvPr/>
        </p:nvSpPr>
        <p:spPr>
          <a:xfrm>
            <a:off x="8725832" y="4260631"/>
            <a:ext cx="15074" cy="15073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2633365" y="955209"/>
            <a:ext cx="5894" cy="589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8947234" y="1813217"/>
            <a:ext cx="14646" cy="14646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157591" y="4153733"/>
            <a:ext cx="9555" cy="95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6692354" y="1968818"/>
            <a:ext cx="12234" cy="122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1615113" y="359688"/>
            <a:ext cx="13127" cy="1312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2627913" y="401384"/>
            <a:ext cx="9386" cy="938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642938" y="60633"/>
            <a:ext cx="9823" cy="98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Shape 88"/>
          <p:cNvSpPr/>
          <p:nvPr/>
        </p:nvSpPr>
        <p:spPr>
          <a:xfrm>
            <a:off x="1032093" y="4947672"/>
            <a:ext cx="17681" cy="17681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3889772" y="5093315"/>
            <a:ext cx="17056" cy="17056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520476" y="4886236"/>
            <a:ext cx="10716" cy="10716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662565" y="4954905"/>
            <a:ext cx="18306" cy="18306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2043202" y="5019467"/>
            <a:ext cx="20270" cy="2027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340864" y="4888557"/>
            <a:ext cx="17234" cy="17234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2405033" y="4930527"/>
            <a:ext cx="25003" cy="25003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2113478" y="5045363"/>
            <a:ext cx="16788" cy="16788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4942431" y="4853770"/>
            <a:ext cx="16163" cy="16163"/>
          </a:xfrm>
          <a:prstGeom prst="ellipse">
            <a:avLst/>
          </a:prstGeom>
          <a:solidFill>
            <a:srgbClr val="00BCD4">
              <a:alpha val="13000"/>
            </a:srgbClr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6466969" y="4869805"/>
            <a:ext cx="20449" cy="20449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7901970" y="5039469"/>
            <a:ext cx="16341" cy="16341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2985641" y="4987320"/>
            <a:ext cx="8573" cy="8573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6949797" y="4977854"/>
            <a:ext cx="12591" cy="12591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055596" y="4902041"/>
            <a:ext cx="8751" cy="8751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5708303" y="5057418"/>
            <a:ext cx="22056" cy="22056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726555" y="5059025"/>
            <a:ext cx="16073" cy="16073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6666190" y="4899094"/>
            <a:ext cx="17770" cy="1777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4214098" y="5162610"/>
            <a:ext cx="20181" cy="20181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4817924" y="4947761"/>
            <a:ext cx="24914" cy="24914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889736" y="5024735"/>
            <a:ext cx="12502" cy="12502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57150" dist="50800" dir="16200000">
              <a:srgbClr val="E0E0E0">
                <a:alpha val="100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14300" y="11430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11" name="Shape 109"/>
          <p:cNvSpPr/>
          <p:nvPr/>
        </p:nvSpPr>
        <p:spPr>
          <a:xfrm>
            <a:off x="114300" y="114300"/>
            <a:ext cx="45720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14300" y="114300"/>
            <a:ext cx="0" cy="45720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72500" y="11430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14" name="Shape 112"/>
          <p:cNvSpPr/>
          <p:nvPr/>
        </p:nvSpPr>
        <p:spPr>
          <a:xfrm>
            <a:off x="8572500" y="114300"/>
            <a:ext cx="45720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029700" y="114300"/>
            <a:ext cx="0" cy="45720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4300" y="457200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17" name="Shape 115"/>
          <p:cNvSpPr/>
          <p:nvPr/>
        </p:nvSpPr>
        <p:spPr>
          <a:xfrm>
            <a:off x="114300" y="5029200"/>
            <a:ext cx="45720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14300" y="4572000"/>
            <a:ext cx="0" cy="45720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72500" y="4572000"/>
            <a:ext cx="457200" cy="457200"/>
          </a:xfrm>
          <a:prstGeom prst="rect">
            <a:avLst/>
          </a:prstGeom>
          <a:noFill/>
          <a:ln/>
        </p:spPr>
      </p:sp>
      <p:sp>
        <p:nvSpPr>
          <p:cNvPr id="120" name="Shape 118"/>
          <p:cNvSpPr/>
          <p:nvPr/>
        </p:nvSpPr>
        <p:spPr>
          <a:xfrm>
            <a:off x="9029700" y="4572000"/>
            <a:ext cx="0" cy="45720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572500" y="5029200"/>
            <a:ext cx="45720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200400" y="308610"/>
            <a:ext cx="3074670" cy="48006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5400000">
              <a:srgbClr val="2196F3">
                <a:alpha val="4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610" b="1" spc="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 谢 与 展 望</a:t>
            </a:r>
            <a:endParaRPr lang="en-US" sz="2610" dirty="0"/>
          </a:p>
        </p:txBody>
      </p:sp>
      <p:sp>
        <p:nvSpPr>
          <p:cNvPr id="123" name="Text 121"/>
          <p:cNvSpPr/>
          <p:nvPr/>
        </p:nvSpPr>
        <p:spPr>
          <a:xfrm>
            <a:off x="3200400" y="845820"/>
            <a:ext cx="3072384" cy="14859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50800" dir="5400000">
              <a:srgbClr val="00BCD4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10" spc="180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 源 之 书 记 录 · 下 期 再 见</a:t>
            </a:r>
            <a:endParaRPr lang="en-US" sz="810" dirty="0"/>
          </a:p>
        </p:txBody>
      </p:sp>
      <p:sp>
        <p:nvSpPr>
          <p:cNvPr id="124" name="Shape 122"/>
          <p:cNvSpPr/>
          <p:nvPr/>
        </p:nvSpPr>
        <p:spPr>
          <a:xfrm>
            <a:off x="3200400" y="1074420"/>
            <a:ext cx="2743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2196F3"/>
              </a:gs>
              <a:gs pos="50000">
                <a:srgbClr val="00BCD4"/>
              </a:gs>
              <a:gs pos="75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100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3494723" y="1211580"/>
            <a:ext cx="2417445" cy="32004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70" b="1" spc="5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 </a:t>
            </a:r>
            <a:endParaRPr lang="en-US" sz="2070" dirty="0"/>
          </a:p>
        </p:txBody>
      </p:sp>
      <p:sp>
        <p:nvSpPr>
          <p:cNvPr id="126" name="Shape 124"/>
          <p:cNvSpPr/>
          <p:nvPr/>
        </p:nvSpPr>
        <p:spPr>
          <a:xfrm>
            <a:off x="3597593" y="1356955"/>
            <a:ext cx="80010" cy="80010"/>
          </a:xfrm>
          <a:prstGeom prst="ellipse">
            <a:avLst/>
          </a:prstGeom>
          <a:solidFill>
            <a:srgbClr val="00BCD4">
              <a:alpha val="64000"/>
            </a:srgbClr>
          </a:solidFill>
          <a:ln/>
          <a:effectLst>
            <a:outerShdw sx="100000" sy="100000" kx="0" ky="0" algn="bl" rotWithShape="0" blurRad="1905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5466398" y="1356955"/>
            <a:ext cx="80010" cy="80010"/>
          </a:xfrm>
          <a:prstGeom prst="ellipse">
            <a:avLst/>
          </a:prstGeom>
          <a:solidFill>
            <a:srgbClr val="00BCD4">
              <a:alpha val="64000"/>
            </a:srgbClr>
          </a:solidFill>
          <a:ln/>
          <a:effectLst>
            <a:outerShdw sx="100000" sy="100000" kx="0" ky="0" algn="bl" rotWithShape="0" blurRad="190500" dist="50800" dir="16200000">
              <a:srgbClr val="00BCD4">
                <a:alpha val="100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1371600" y="1634490"/>
            <a:ext cx="6400800" cy="463987"/>
          </a:xfrm>
          <a:prstGeom prst="rect">
            <a:avLst/>
          </a:prstGeom>
          <a:solidFill>
            <a:srgbClr val="2196F3">
              <a:alpha val="4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7772400" y="1634490"/>
            <a:ext cx="0" cy="463987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371600" y="1634490"/>
            <a:ext cx="0" cy="463987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371600" y="1634490"/>
            <a:ext cx="7168896" cy="463987"/>
          </a:xfrm>
          <a:prstGeom prst="rect">
            <a:avLst/>
          </a:prstGeom>
          <a:noFill/>
          <a:ln/>
        </p:spPr>
        <p:txBody>
          <a:bodyPr wrap="square" lIns="80010" tIns="160020" rIns="160020" bIns="80010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30" spc="45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 · 适兕 2023 年 2 月的阅读分享至此结束。愿每一次翻开书籍都成为思想碰撞的起点，愿每一位开发者都能在开源的星辰大海中找到属于自己的航向。我们下期再见！</a:t>
            </a:r>
            <a:endParaRPr lang="en-US" sz="630" dirty="0"/>
          </a:p>
        </p:txBody>
      </p:sp>
      <p:sp>
        <p:nvSpPr>
          <p:cNvPr id="132" name="Shape 130"/>
          <p:cNvSpPr/>
          <p:nvPr/>
        </p:nvSpPr>
        <p:spPr>
          <a:xfrm>
            <a:off x="342900" y="2235637"/>
            <a:ext cx="2727930" cy="1058704"/>
          </a:xfrm>
          <a:prstGeom prst="roundRect">
            <a:avLst>
              <a:gd name="adj" fmla="val 7557"/>
            </a:avLst>
          </a:prstGeom>
          <a:solidFill>
            <a:srgbClr val="0F1628">
              <a:alpha val="7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0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342900" y="2235637"/>
            <a:ext cx="271650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34" name="Shape 132"/>
          <p:cNvSpPr/>
          <p:nvPr/>
        </p:nvSpPr>
        <p:spPr>
          <a:xfrm>
            <a:off x="474345" y="2355652"/>
            <a:ext cx="262890" cy="262890"/>
          </a:xfrm>
          <a:prstGeom prst="ellipse">
            <a:avLst/>
          </a:prstGeom>
          <a:solidFill>
            <a:srgbClr val="2196F3">
              <a:alpha val="15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474345" y="2355652"/>
            <a:ext cx="38862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❤</a:t>
            </a:r>
            <a:endParaRPr lang="en-US" sz="990" dirty="0"/>
          </a:p>
        </p:txBody>
      </p:sp>
      <p:sp>
        <p:nvSpPr>
          <p:cNvPr id="136" name="Text 134"/>
          <p:cNvSpPr/>
          <p:nvPr/>
        </p:nvSpPr>
        <p:spPr>
          <a:xfrm>
            <a:off x="474345" y="2687122"/>
            <a:ext cx="2760845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感谢参与</a:t>
            </a:r>
            <a:pPr algn="l" indent="0" marL="0">
              <a:buNone/>
            </a:pPr>
            <a:r>
              <a:rPr lang="en-US" sz="495" b="1" spc="90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THANKS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1022985" y="2727394"/>
            <a:ext cx="354330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22985" y="2727394"/>
            <a:ext cx="417195" cy="12001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THANKS</a:t>
            </a:r>
            <a:endParaRPr lang="en-US" sz="495" dirty="0"/>
          </a:p>
        </p:txBody>
      </p:sp>
      <p:sp>
        <p:nvSpPr>
          <p:cNvPr id="139" name="Text 137"/>
          <p:cNvSpPr/>
          <p:nvPr/>
        </p:nvSpPr>
        <p:spPr>
          <a:xfrm>
            <a:off x="474345" y="2910007"/>
            <a:ext cx="2760845" cy="26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感谢所有参与本期分享与讨论的社区朋友，你们的反馈与热情是最大的动力，让每一次交流都充满意义。</a:t>
            </a:r>
            <a:endParaRPr lang="en-US" sz="563" dirty="0"/>
          </a:p>
        </p:txBody>
      </p:sp>
      <p:sp>
        <p:nvSpPr>
          <p:cNvPr id="140" name="Shape 138"/>
          <p:cNvSpPr/>
          <p:nvPr/>
        </p:nvSpPr>
        <p:spPr>
          <a:xfrm>
            <a:off x="3207990" y="2235637"/>
            <a:ext cx="2728020" cy="1058704"/>
          </a:xfrm>
          <a:prstGeom prst="roundRect">
            <a:avLst>
              <a:gd name="adj" fmla="val 7557"/>
            </a:avLst>
          </a:prstGeom>
          <a:solidFill>
            <a:srgbClr val="0F1628">
              <a:alpha val="7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0000"/>
              </a:srgbClr>
            </a:outerShdw>
          </a:effectLst>
        </p:spPr>
      </p:sp>
      <p:sp>
        <p:nvSpPr>
          <p:cNvPr id="141" name="Shape 139"/>
          <p:cNvSpPr/>
          <p:nvPr/>
        </p:nvSpPr>
        <p:spPr>
          <a:xfrm>
            <a:off x="3207990" y="2235637"/>
            <a:ext cx="2716591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42" name="Shape 140"/>
          <p:cNvSpPr/>
          <p:nvPr/>
        </p:nvSpPr>
        <p:spPr>
          <a:xfrm>
            <a:off x="3339435" y="2355652"/>
            <a:ext cx="262890" cy="262890"/>
          </a:xfrm>
          <a:prstGeom prst="ellipse">
            <a:avLst/>
          </a:prstGeom>
          <a:solidFill>
            <a:srgbClr val="2196F3">
              <a:alpha val="15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143" name="Text 141"/>
          <p:cNvSpPr/>
          <p:nvPr/>
        </p:nvSpPr>
        <p:spPr>
          <a:xfrm>
            <a:off x="3339435" y="2355652"/>
            <a:ext cx="38862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✦</a:t>
            </a:r>
            <a:endParaRPr lang="en-US" sz="990" dirty="0"/>
          </a:p>
        </p:txBody>
      </p:sp>
      <p:sp>
        <p:nvSpPr>
          <p:cNvPr id="144" name="Text 142"/>
          <p:cNvSpPr/>
          <p:nvPr/>
        </p:nvSpPr>
        <p:spPr>
          <a:xfrm>
            <a:off x="3339435" y="2687122"/>
            <a:ext cx="2760945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下期预告</a:t>
            </a:r>
            <a:pPr algn="l" indent="0" marL="0">
              <a:buNone/>
            </a:pPr>
            <a:r>
              <a:rPr lang="en-US" sz="495" b="1" spc="90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3888075" y="2727394"/>
            <a:ext cx="262890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888075" y="2727394"/>
            <a:ext cx="325755" cy="12001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NEXT</a:t>
            </a:r>
            <a:endParaRPr lang="en-US" sz="495" dirty="0"/>
          </a:p>
        </p:txBody>
      </p:sp>
      <p:sp>
        <p:nvSpPr>
          <p:cNvPr id="147" name="Text 145"/>
          <p:cNvSpPr/>
          <p:nvPr/>
        </p:nvSpPr>
        <p:spPr>
          <a:xfrm>
            <a:off x="3339435" y="2910007"/>
            <a:ext cx="2760945" cy="26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 年 3 月将继续推出新的开源阅读分享，敬请期待更多好书推荐与深度解读，带你走进技术的更多可能。</a:t>
            </a:r>
            <a:endParaRPr lang="en-US" sz="563" dirty="0"/>
          </a:p>
        </p:txBody>
      </p:sp>
      <p:sp>
        <p:nvSpPr>
          <p:cNvPr id="148" name="Shape 146"/>
          <p:cNvSpPr/>
          <p:nvPr/>
        </p:nvSpPr>
        <p:spPr>
          <a:xfrm>
            <a:off x="6073170" y="2235637"/>
            <a:ext cx="2727930" cy="1058704"/>
          </a:xfrm>
          <a:prstGeom prst="roundRect">
            <a:avLst>
              <a:gd name="adj" fmla="val 7557"/>
            </a:avLst>
          </a:prstGeom>
          <a:solidFill>
            <a:srgbClr val="0F1628">
              <a:alpha val="7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10000"/>
              </a:srgbClr>
            </a:outerShdw>
          </a:effectLst>
        </p:spPr>
      </p:sp>
      <p:sp>
        <p:nvSpPr>
          <p:cNvPr id="149" name="Shape 147"/>
          <p:cNvSpPr/>
          <p:nvPr/>
        </p:nvSpPr>
        <p:spPr>
          <a:xfrm>
            <a:off x="6073170" y="2235637"/>
            <a:ext cx="271650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50" name="Shape 148"/>
          <p:cNvSpPr/>
          <p:nvPr/>
        </p:nvSpPr>
        <p:spPr>
          <a:xfrm>
            <a:off x="6204615" y="2355652"/>
            <a:ext cx="262890" cy="262890"/>
          </a:xfrm>
          <a:prstGeom prst="ellipse">
            <a:avLst/>
          </a:prstGeom>
          <a:solidFill>
            <a:srgbClr val="2196F3">
              <a:alpha val="15000"/>
            </a:srgbClr>
          </a:solidFill>
          <a:ln w="5715">
            <a:solidFill>
              <a:srgbClr val="2196F3"/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6204615" y="2355652"/>
            <a:ext cx="38862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◆</a:t>
            </a:r>
            <a:endParaRPr lang="en-US" sz="990" dirty="0"/>
          </a:p>
        </p:txBody>
      </p:sp>
      <p:sp>
        <p:nvSpPr>
          <p:cNvPr id="152" name="Text 150"/>
          <p:cNvSpPr/>
          <p:nvPr/>
        </p:nvSpPr>
        <p:spPr>
          <a:xfrm>
            <a:off x="6204615" y="2687122"/>
            <a:ext cx="2760845" cy="165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加入我们</a:t>
            </a:r>
            <a:pPr algn="l" indent="0" marL="0">
              <a:buNone/>
            </a:pPr>
            <a:r>
              <a:rPr lang="en-US" sz="495" b="1" spc="90" kern="0" dirty="0">
                <a:solidFill>
                  <a:srgbClr val="000000">
                    <a:alpha val="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JOIN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6753255" y="2727394"/>
            <a:ext cx="262890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753255" y="2727394"/>
            <a:ext cx="325755" cy="120015"/>
          </a:xfrm>
          <a:prstGeom prst="rect">
            <a:avLst/>
          </a:prstGeom>
          <a:noFill/>
          <a:ln/>
        </p:spPr>
        <p:txBody>
          <a:bodyPr wrap="none" lIns="11430" tIns="34290" rIns="34290" bIns="11430" rtlCol="0" anchor="ctr"/>
          <a:lstStyle/>
          <a:p>
            <a:pPr algn="l" indent="0" marL="0">
              <a:buNone/>
            </a:pPr>
            <a:r>
              <a:rPr lang="en-US" sz="495" b="1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JOIN</a:t>
            </a:r>
            <a:endParaRPr lang="en-US" sz="495" dirty="0"/>
          </a:p>
        </p:txBody>
      </p:sp>
      <p:sp>
        <p:nvSpPr>
          <p:cNvPr id="155" name="Text 153"/>
          <p:cNvSpPr/>
          <p:nvPr/>
        </p:nvSpPr>
        <p:spPr>
          <a:xfrm>
            <a:off x="6204615" y="2910007"/>
            <a:ext cx="2760845" cy="264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563" spc="23" kern="0" dirty="0">
                <a:solidFill>
                  <a:srgbClr val="E0E0E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欢迎加入开源之道社区，成为下一期的分享者，让开源之火传递到更远的地方，与志同道合的人一起成长。</a:t>
            </a:r>
            <a:endParaRPr lang="en-US" sz="563" dirty="0"/>
          </a:p>
        </p:txBody>
      </p:sp>
      <p:sp>
        <p:nvSpPr>
          <p:cNvPr id="156" name="Shape 154"/>
          <p:cNvSpPr/>
          <p:nvPr/>
        </p:nvSpPr>
        <p:spPr>
          <a:xfrm>
            <a:off x="3437573" y="3451503"/>
            <a:ext cx="1000125" cy="371475"/>
          </a:xfrm>
          <a:prstGeom prst="roundRect">
            <a:avLst>
              <a:gd name="adj" fmla="val 61538"/>
            </a:avLst>
          </a:prstGeom>
          <a:solidFill>
            <a:srgbClr val="0F1628">
              <a:alpha val="80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8" dist="50800" dir="16200000">
              <a:srgbClr val="00BCD4">
                <a:alpha val="25000"/>
              </a:srgbClr>
            </a:outerShdw>
          </a:effectLst>
        </p:spPr>
      </p:sp>
      <p:sp>
        <p:nvSpPr>
          <p:cNvPr id="157" name="Shape 155"/>
          <p:cNvSpPr/>
          <p:nvPr/>
        </p:nvSpPr>
        <p:spPr>
          <a:xfrm>
            <a:off x="3580448" y="3545800"/>
            <a:ext cx="182880" cy="18288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58" name="Text 156"/>
          <p:cNvSpPr/>
          <p:nvPr/>
        </p:nvSpPr>
        <p:spPr>
          <a:xfrm>
            <a:off x="3580448" y="3545800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◷</a:t>
            </a:r>
            <a:endParaRPr lang="en-US" sz="630" dirty="0"/>
          </a:p>
        </p:txBody>
      </p:sp>
      <p:sp>
        <p:nvSpPr>
          <p:cNvPr id="159" name="Text 157"/>
          <p:cNvSpPr/>
          <p:nvPr/>
        </p:nvSpPr>
        <p:spPr>
          <a:xfrm>
            <a:off x="3843338" y="3525798"/>
            <a:ext cx="51435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 期 时 间</a:t>
            </a:r>
            <a:endParaRPr lang="en-US" sz="495" dirty="0"/>
          </a:p>
        </p:txBody>
      </p:sp>
      <p:sp>
        <p:nvSpPr>
          <p:cNvPr id="160" name="Text 158"/>
          <p:cNvSpPr/>
          <p:nvPr/>
        </p:nvSpPr>
        <p:spPr>
          <a:xfrm>
            <a:off x="3843338" y="3628668"/>
            <a:ext cx="54292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2023-03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4574858" y="3442930"/>
            <a:ext cx="1131570" cy="388620"/>
          </a:xfrm>
          <a:prstGeom prst="roundRect">
            <a:avLst>
              <a:gd name="adj" fmla="val 58824"/>
            </a:avLst>
          </a:prstGeom>
          <a:solidFill>
            <a:srgbClr val="0F1628">
              <a:alpha val="80000"/>
            </a:srgbClr>
          </a:solidFill>
          <a:ln w="5715">
            <a:solidFill>
              <a:srgbClr val="00BCD4">
                <a:alpha val="50000"/>
              </a:srgbClr>
            </a:solidFill>
            <a:prstDash val="solid"/>
          </a:ln>
          <a:effectLst>
            <a:outerShdw sx="100000" sy="100000" kx="0" ky="0" algn="bl" rotWithShape="0" blurRad="190508" dist="50800" dir="16200000">
              <a:srgbClr val="00BCD4">
                <a:alpha val="25000"/>
              </a:srgbClr>
            </a:outerShdw>
          </a:effectLst>
        </p:spPr>
      </p:sp>
      <p:sp>
        <p:nvSpPr>
          <p:cNvPr id="162" name="Shape 160"/>
          <p:cNvSpPr/>
          <p:nvPr/>
        </p:nvSpPr>
        <p:spPr>
          <a:xfrm>
            <a:off x="4717733" y="3545800"/>
            <a:ext cx="182880" cy="18288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163" name="Text 161"/>
          <p:cNvSpPr/>
          <p:nvPr/>
        </p:nvSpPr>
        <p:spPr>
          <a:xfrm>
            <a:off x="4717733" y="3545800"/>
            <a:ext cx="2628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⌖</a:t>
            </a:r>
            <a:endParaRPr lang="en-US" sz="630" dirty="0"/>
          </a:p>
        </p:txBody>
      </p:sp>
      <p:sp>
        <p:nvSpPr>
          <p:cNvPr id="164" name="Text 162"/>
          <p:cNvSpPr/>
          <p:nvPr/>
        </p:nvSpPr>
        <p:spPr>
          <a:xfrm>
            <a:off x="4980623" y="3517225"/>
            <a:ext cx="65288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社 区 入 口</a:t>
            </a:r>
            <a:endParaRPr lang="en-US" sz="495" dirty="0"/>
          </a:p>
        </p:txBody>
      </p:sp>
      <p:sp>
        <p:nvSpPr>
          <p:cNvPr id="165" name="Text 163"/>
          <p:cNvSpPr/>
          <p:nvPr/>
        </p:nvSpPr>
        <p:spPr>
          <a:xfrm>
            <a:off x="4980623" y="3620095"/>
            <a:ext cx="67437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5" kern="0" dirty="0">
                <a:solidFill>
                  <a:srgbClr val="00BCD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开源之道官网</a:t>
            </a:r>
            <a:endParaRPr lang="en-US" sz="720" dirty="0"/>
          </a:p>
        </p:txBody>
      </p:sp>
      <p:sp>
        <p:nvSpPr>
          <p:cNvPr id="166" name="Shape 164"/>
          <p:cNvSpPr/>
          <p:nvPr/>
        </p:nvSpPr>
        <p:spPr>
          <a:xfrm>
            <a:off x="342900" y="3968710"/>
            <a:ext cx="8458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2196F3"/>
              </a:gs>
              <a:gs pos="50000">
                <a:srgbClr val="00BCD4"/>
              </a:gs>
              <a:gs pos="8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2196F3">
                <a:alpha val="60000"/>
              </a:srgbClr>
            </a:outerShdw>
          </a:effectLst>
        </p:spPr>
      </p:sp>
      <p:sp>
        <p:nvSpPr>
          <p:cNvPr id="167" name="Shape 165"/>
          <p:cNvSpPr/>
          <p:nvPr/>
        </p:nvSpPr>
        <p:spPr>
          <a:xfrm>
            <a:off x="3388995" y="4145875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68" name="Shape 166"/>
          <p:cNvSpPr/>
          <p:nvPr/>
        </p:nvSpPr>
        <p:spPr>
          <a:xfrm>
            <a:off x="3800475" y="412587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3914775" y="4105870"/>
            <a:ext cx="147218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135" kern="0" dirty="0">
                <a:solidFill>
                  <a:srgbClr val="8899A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· SEE YOU NEXT TIME</a:t>
            </a:r>
            <a:endParaRPr lang="en-US" sz="495" dirty="0"/>
          </a:p>
        </p:txBody>
      </p:sp>
      <p:sp>
        <p:nvSpPr>
          <p:cNvPr id="170" name="Shape 168"/>
          <p:cNvSpPr/>
          <p:nvPr/>
        </p:nvSpPr>
        <p:spPr>
          <a:xfrm>
            <a:off x="5297805" y="4125873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114300" dist="50800" dir="16200000">
              <a:srgbClr val="00BCD4">
                <a:alpha val="100000"/>
              </a:srgbClr>
            </a:outerShdw>
          </a:effectLst>
        </p:spPr>
      </p:sp>
      <p:sp>
        <p:nvSpPr>
          <p:cNvPr id="171" name="Shape 169"/>
          <p:cNvSpPr/>
          <p:nvPr/>
        </p:nvSpPr>
        <p:spPr>
          <a:xfrm>
            <a:off x="5412105" y="4145875"/>
            <a:ext cx="342900" cy="571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72" name="Text 170"/>
          <p:cNvSpPr/>
          <p:nvPr/>
        </p:nvSpPr>
        <p:spPr>
          <a:xfrm>
            <a:off x="3388995" y="4225885"/>
            <a:ext cx="2649931" cy="114300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50800" dir="5400000">
              <a:srgbClr val="2196F3">
                <a:alpha val="50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b="1" spc="27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OSWOO · 开 源 之 道</a:t>
            </a:r>
            <a:endParaRPr lang="en-US" sz="6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2026-08-27T23:28:59Z</dcterms:created>
  <dcterms:modified xsi:type="dcterms:W3CDTF">2026-08-27T23:28:59Z</dcterms:modified>
</cp:coreProperties>
</file>