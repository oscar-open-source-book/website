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e/developing/oscar-open-source-book/website/slides-src/2022-12-2022-review-and-2023-planning/images/page_001_hero.png">    </p:cNvPr>
          <p:cNvPicPr>
            <a:picLocks noChangeAspect="1"/>
          </p:cNvPicPr>
          <p:nvPr/>
        </p:nvPicPr>
        <p:blipFill>
          <a:blip r:embed="rId2"/>
          <a:srcRect l="388" r="388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628">
                  <a:alpha val="82000"/>
                </a:srgbClr>
              </a:gs>
              <a:gs pos="35000">
                <a:srgbClr val="0A1628">
                  <a:alpha val="55000"/>
                </a:srgbClr>
              </a:gs>
              <a:gs pos="65000">
                <a:srgbClr val="0A1628">
                  <a:alpha val="15000"/>
                </a:srgbClr>
              </a:gs>
              <a:gs pos="100000">
                <a:srgbClr val="0A1628">
                  <a:alpha val="35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342900" y="280035"/>
            <a:ext cx="3246120" cy="52578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2196F3">
                <a:alpha val="10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20" b="1" spc="2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开源之书记录</a:t>
            </a:r>
            <a:endParaRPr lang="en-US" sz="3420" dirty="0"/>
          </a:p>
        </p:txBody>
      </p:sp>
      <p:sp>
        <p:nvSpPr>
          <p:cNvPr id="5" name="Shape 2"/>
          <p:cNvSpPr/>
          <p:nvPr/>
        </p:nvSpPr>
        <p:spPr>
          <a:xfrm>
            <a:off x="342900" y="987534"/>
            <a:ext cx="32004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5810" y="930384"/>
            <a:ext cx="232349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2022年度回顾与2023规划展望</a:t>
            </a:r>
            <a:endParaRPr lang="en-US" sz="990" dirty="0"/>
          </a:p>
        </p:txBody>
      </p:sp>
      <p:sp>
        <p:nvSpPr>
          <p:cNvPr id="7" name="Shape 4"/>
          <p:cNvSpPr/>
          <p:nvPr/>
        </p:nvSpPr>
        <p:spPr>
          <a:xfrm>
            <a:off x="342900" y="1233279"/>
            <a:ext cx="4229100" cy="457736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42900" y="1233279"/>
            <a:ext cx="0" cy="457736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630" y="1341864"/>
            <a:ext cx="4454957" cy="24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本报告是开源之道·适兕在2022年末完成的年度复盘与2023规划，涵盖开源阅读笔记、社区布道活动、个人成长复盘三大主线，以数据与思考驱动下一阶段行动。</a:t>
            </a:r>
            <a:endParaRPr lang="en-US" sz="585" dirty="0"/>
          </a:p>
        </p:txBody>
      </p:sp>
      <p:sp>
        <p:nvSpPr>
          <p:cNvPr id="10" name="Shape 7"/>
          <p:cNvSpPr/>
          <p:nvPr/>
        </p:nvSpPr>
        <p:spPr>
          <a:xfrm>
            <a:off x="342900" y="1873895"/>
            <a:ext cx="2735520" cy="773757"/>
          </a:xfrm>
          <a:prstGeom prst="roundRect">
            <a:avLst>
              <a:gd name="adj" fmla="val 5909"/>
            </a:avLst>
          </a:prstGeom>
          <a:solidFill>
            <a:srgbClr val="0A1628">
              <a:alpha val="6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" y="1873895"/>
            <a:ext cx="27432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915" y="2016770"/>
            <a:ext cx="4514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回溯</a:t>
            </a:r>
            <a:endParaRPr lang="en-US" sz="585" dirty="0"/>
          </a:p>
        </p:txBody>
      </p:sp>
      <p:sp>
        <p:nvSpPr>
          <p:cNvPr id="13" name="Text 10"/>
          <p:cNvSpPr/>
          <p:nvPr/>
        </p:nvSpPr>
        <p:spPr>
          <a:xfrm>
            <a:off x="462915" y="2199650"/>
            <a:ext cx="6515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回溯全年</a:t>
            </a:r>
            <a:endParaRPr lang="en-US" sz="990" dirty="0"/>
          </a:p>
        </p:txBody>
      </p:sp>
      <p:sp>
        <p:nvSpPr>
          <p:cNvPr id="14" name="Text 11"/>
          <p:cNvSpPr/>
          <p:nvPr/>
        </p:nvSpPr>
        <p:spPr>
          <a:xfrm>
            <a:off x="462915" y="2422535"/>
            <a:ext cx="156179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系统梳理2022年开源阅读与布道实践的得与失</a:t>
            </a:r>
            <a:endParaRPr lang="en-US" sz="540" dirty="0"/>
          </a:p>
        </p:txBody>
      </p:sp>
      <p:sp>
        <p:nvSpPr>
          <p:cNvPr id="15" name="Shape 12"/>
          <p:cNvSpPr/>
          <p:nvPr/>
        </p:nvSpPr>
        <p:spPr>
          <a:xfrm>
            <a:off x="3204150" y="1873895"/>
            <a:ext cx="2735610" cy="773757"/>
          </a:xfrm>
          <a:prstGeom prst="roundRect">
            <a:avLst>
              <a:gd name="adj" fmla="val 5909"/>
            </a:avLst>
          </a:prstGeom>
          <a:solidFill>
            <a:srgbClr val="0A1628">
              <a:alpha val="6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4150" y="1873895"/>
            <a:ext cx="27432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324165" y="2016770"/>
            <a:ext cx="4629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量化</a:t>
            </a:r>
            <a:endParaRPr lang="en-US" sz="585" dirty="0"/>
          </a:p>
        </p:txBody>
      </p:sp>
      <p:sp>
        <p:nvSpPr>
          <p:cNvPr id="18" name="Text 15"/>
          <p:cNvSpPr/>
          <p:nvPr/>
        </p:nvSpPr>
        <p:spPr>
          <a:xfrm>
            <a:off x="3324165" y="2199650"/>
            <a:ext cx="6515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数据说话</a:t>
            </a:r>
            <a:endParaRPr lang="en-US" sz="990" dirty="0"/>
          </a:p>
        </p:txBody>
      </p:sp>
      <p:sp>
        <p:nvSpPr>
          <p:cNvPr id="19" name="Text 16"/>
          <p:cNvSpPr/>
          <p:nvPr/>
        </p:nvSpPr>
        <p:spPr>
          <a:xfrm>
            <a:off x="3324165" y="2422535"/>
            <a:ext cx="145938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以量化指标呈现全年产出、影响与成长轨迹</a:t>
            </a:r>
            <a:endParaRPr lang="en-US" sz="540" dirty="0"/>
          </a:p>
        </p:txBody>
      </p:sp>
      <p:sp>
        <p:nvSpPr>
          <p:cNvPr id="20" name="Shape 17"/>
          <p:cNvSpPr/>
          <p:nvPr/>
        </p:nvSpPr>
        <p:spPr>
          <a:xfrm>
            <a:off x="6065490" y="1873895"/>
            <a:ext cx="2735520" cy="773757"/>
          </a:xfrm>
          <a:prstGeom prst="roundRect">
            <a:avLst>
              <a:gd name="adj" fmla="val 5909"/>
            </a:avLst>
          </a:prstGeom>
          <a:solidFill>
            <a:srgbClr val="0A1628">
              <a:alpha val="6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65490" y="1873895"/>
            <a:ext cx="27432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185505" y="2016770"/>
            <a:ext cx="4629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展望</a:t>
            </a:r>
            <a:endParaRPr lang="en-US" sz="585" dirty="0"/>
          </a:p>
        </p:txBody>
      </p:sp>
      <p:sp>
        <p:nvSpPr>
          <p:cNvPr id="23" name="Text 20"/>
          <p:cNvSpPr/>
          <p:nvPr/>
        </p:nvSpPr>
        <p:spPr>
          <a:xfrm>
            <a:off x="6185505" y="2199650"/>
            <a:ext cx="73723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前瞻2023</a:t>
            </a:r>
            <a:endParaRPr lang="en-US" sz="990" dirty="0"/>
          </a:p>
        </p:txBody>
      </p:sp>
      <p:sp>
        <p:nvSpPr>
          <p:cNvPr id="24" name="Text 21"/>
          <p:cNvSpPr/>
          <p:nvPr/>
        </p:nvSpPr>
        <p:spPr>
          <a:xfrm>
            <a:off x="6185505" y="2422535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基于年度反思制定下阶段开源学习与推广计划</a:t>
            </a:r>
            <a:endParaRPr lang="en-US" sz="540" dirty="0"/>
          </a:p>
        </p:txBody>
      </p:sp>
      <p:sp>
        <p:nvSpPr>
          <p:cNvPr id="25" name="Shape 22"/>
          <p:cNvSpPr/>
          <p:nvPr/>
        </p:nvSpPr>
        <p:spPr>
          <a:xfrm>
            <a:off x="342900" y="2819102"/>
            <a:ext cx="8458200" cy="228600"/>
          </a:xfrm>
          <a:prstGeom prst="rect">
            <a:avLst/>
          </a:prstGeom>
          <a:noFill/>
          <a:ln/>
        </p:spPr>
      </p:sp>
      <p:sp>
        <p:nvSpPr>
          <p:cNvPr id="26" name="Shape 23"/>
          <p:cNvSpPr/>
          <p:nvPr/>
        </p:nvSpPr>
        <p:spPr>
          <a:xfrm>
            <a:off x="342900" y="2819102"/>
            <a:ext cx="8458200" cy="0"/>
          </a:xfrm>
          <a:prstGeom prst="line">
            <a:avLst/>
          </a:prstGeom>
          <a:noFill/>
          <a:ln w="5715">
            <a:solidFill>
              <a:srgbClr val="B0BEC5">
                <a:alpha val="18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2900" y="2967692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40055" y="2941975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报告时间</a:t>
            </a:r>
            <a:endParaRPr lang="en-US" sz="495" dirty="0"/>
          </a:p>
        </p:txBody>
      </p:sp>
      <p:sp>
        <p:nvSpPr>
          <p:cNvPr id="29" name="Text 26"/>
          <p:cNvSpPr/>
          <p:nvPr/>
        </p:nvSpPr>
        <p:spPr>
          <a:xfrm>
            <a:off x="771525" y="2933402"/>
            <a:ext cx="42576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2022.12</a:t>
            </a:r>
            <a:endParaRPr lang="en-US" sz="675" dirty="0"/>
          </a:p>
        </p:txBody>
      </p:sp>
      <p:sp>
        <p:nvSpPr>
          <p:cNvPr id="30" name="Shape 27"/>
          <p:cNvSpPr/>
          <p:nvPr/>
        </p:nvSpPr>
        <p:spPr>
          <a:xfrm>
            <a:off x="1363028" y="2967692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460183" y="2941975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覆盖周期</a:t>
            </a:r>
            <a:endParaRPr lang="en-US" sz="495" dirty="0"/>
          </a:p>
        </p:txBody>
      </p:sp>
      <p:sp>
        <p:nvSpPr>
          <p:cNvPr id="32" name="Text 29"/>
          <p:cNvSpPr/>
          <p:nvPr/>
        </p:nvSpPr>
        <p:spPr>
          <a:xfrm>
            <a:off x="1791653" y="2927687"/>
            <a:ext cx="57435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2022全财年</a:t>
            </a:r>
            <a:endParaRPr lang="en-US" sz="675" dirty="0"/>
          </a:p>
        </p:txBody>
      </p:sp>
      <p:sp>
        <p:nvSpPr>
          <p:cNvPr id="33" name="Shape 30"/>
          <p:cNvSpPr/>
          <p:nvPr/>
        </p:nvSpPr>
        <p:spPr>
          <a:xfrm>
            <a:off x="2531745" y="2967692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2628900" y="2941975"/>
            <a:ext cx="4057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规划目标年</a:t>
            </a:r>
            <a:endParaRPr lang="en-US" sz="495" dirty="0"/>
          </a:p>
        </p:txBody>
      </p:sp>
      <p:sp>
        <p:nvSpPr>
          <p:cNvPr id="35" name="Text 32"/>
          <p:cNvSpPr/>
          <p:nvPr/>
        </p:nvSpPr>
        <p:spPr>
          <a:xfrm>
            <a:off x="3028950" y="2933402"/>
            <a:ext cx="3257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675" dirty="0"/>
          </a:p>
        </p:txBody>
      </p:sp>
      <p:sp>
        <p:nvSpPr>
          <p:cNvPr id="36" name="Shape 33"/>
          <p:cNvSpPr/>
          <p:nvPr/>
        </p:nvSpPr>
        <p:spPr>
          <a:xfrm>
            <a:off x="102870" y="102870"/>
            <a:ext cx="182880" cy="182880"/>
          </a:xfrm>
          <a:prstGeom prst="rect">
            <a:avLst/>
          </a:prstGeom>
          <a:noFill/>
          <a:ln/>
        </p:spPr>
      </p:sp>
      <p:sp>
        <p:nvSpPr>
          <p:cNvPr id="37" name="Shape 34"/>
          <p:cNvSpPr/>
          <p:nvPr/>
        </p:nvSpPr>
        <p:spPr>
          <a:xfrm>
            <a:off x="102870" y="102870"/>
            <a:ext cx="18288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2870" y="102870"/>
            <a:ext cx="0" cy="18288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858250" y="102870"/>
            <a:ext cx="182880" cy="182880"/>
          </a:xfrm>
          <a:prstGeom prst="rect">
            <a:avLst/>
          </a:prstGeom>
          <a:noFill/>
          <a:ln/>
        </p:spPr>
      </p:sp>
      <p:sp>
        <p:nvSpPr>
          <p:cNvPr id="40" name="Shape 37"/>
          <p:cNvSpPr/>
          <p:nvPr/>
        </p:nvSpPr>
        <p:spPr>
          <a:xfrm>
            <a:off x="8858250" y="102870"/>
            <a:ext cx="18288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41130" y="102870"/>
            <a:ext cx="0" cy="18288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2870" y="4857750"/>
            <a:ext cx="182880" cy="182880"/>
          </a:xfrm>
          <a:prstGeom prst="rect">
            <a:avLst/>
          </a:prstGeom>
          <a:noFill/>
          <a:ln/>
        </p:spPr>
      </p:sp>
      <p:sp>
        <p:nvSpPr>
          <p:cNvPr id="43" name="Shape 40"/>
          <p:cNvSpPr/>
          <p:nvPr/>
        </p:nvSpPr>
        <p:spPr>
          <a:xfrm>
            <a:off x="102870" y="5040630"/>
            <a:ext cx="18288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2870" y="4857750"/>
            <a:ext cx="0" cy="18288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58250" y="4857750"/>
            <a:ext cx="182880" cy="182880"/>
          </a:xfrm>
          <a:prstGeom prst="rect">
            <a:avLst/>
          </a:prstGeom>
          <a:noFill/>
          <a:ln/>
        </p:spPr>
      </p:sp>
      <p:sp>
        <p:nvSpPr>
          <p:cNvPr id="46" name="Shape 43"/>
          <p:cNvSpPr/>
          <p:nvPr/>
        </p:nvSpPr>
        <p:spPr>
          <a:xfrm>
            <a:off x="9041130" y="4857750"/>
            <a:ext cx="0" cy="18288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858250" y="5040630"/>
            <a:ext cx="18288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5430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828800" y="15430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457200"/>
            <a:ext cx="228600" cy="571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2935" y="457200"/>
            <a:ext cx="5715" cy="22860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14588"/>
            <a:ext cx="1920240" cy="100012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0" b="1" spc="27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0" dirty="0"/>
          </a:p>
        </p:txBody>
      </p:sp>
      <p:sp>
        <p:nvSpPr>
          <p:cNvPr id="8" name="Shape 6"/>
          <p:cNvSpPr/>
          <p:nvPr/>
        </p:nvSpPr>
        <p:spPr>
          <a:xfrm>
            <a:off x="457200" y="1628775"/>
            <a:ext cx="8229600" cy="18288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57200" y="1811655"/>
            <a:ext cx="8229600" cy="0"/>
          </a:xfrm>
          <a:prstGeom prst="line">
            <a:avLst/>
          </a:prstGeom>
          <a:noFill/>
          <a:ln w="5715">
            <a:solidFill>
              <a:srgbClr val="1A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5449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0070" y="1631633"/>
            <a:ext cx="18434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ANNUAL · OPEN SOURCE REPORT 2022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7286625" y="1628775"/>
            <a:ext cx="15681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TRANSITION · 章节过渡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2274570" y="1983105"/>
            <a:ext cx="5146243" cy="477738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2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</a:t>
            </a:r>
            <a:pPr algn="ctr" indent="0" marL="0">
              <a:lnSpc>
                <a:spcPct val="110000"/>
              </a:lnSpc>
              <a:buNone/>
            </a:pPr>
            <a:r>
              <a:rPr lang="en-US" sz="3420" b="1" spc="90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2022年度回顾</a:t>
            </a:r>
            <a:endParaRPr lang="en-US" sz="3420" dirty="0"/>
          </a:p>
        </p:txBody>
      </p:sp>
      <p:sp>
        <p:nvSpPr>
          <p:cNvPr id="14" name="Text 12"/>
          <p:cNvSpPr/>
          <p:nvPr/>
        </p:nvSpPr>
        <p:spPr>
          <a:xfrm>
            <a:off x="3491865" y="2563713"/>
            <a:ext cx="241950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一年走过的开源之路：阅读、实践与布道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229100" y="2826603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685800" y="3129498"/>
            <a:ext cx="77724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2196F3"/>
              </a:gs>
              <a:gs pos="85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5815" y="3035201"/>
            <a:ext cx="80010" cy="8001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14950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2022.01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1489025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63295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2022.02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2166521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40791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2022.03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2844016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18286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2022.04</a:t>
            </a:r>
            <a:endParaRPr lang="en-US" sz="495" dirty="0"/>
          </a:p>
        </p:txBody>
      </p:sp>
      <p:sp>
        <p:nvSpPr>
          <p:cNvPr id="25" name="Shape 23"/>
          <p:cNvSpPr/>
          <p:nvPr/>
        </p:nvSpPr>
        <p:spPr>
          <a:xfrm>
            <a:off x="3521512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95782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2022.05</a:t>
            </a:r>
            <a:endParaRPr lang="en-US" sz="495" dirty="0"/>
          </a:p>
        </p:txBody>
      </p:sp>
      <p:sp>
        <p:nvSpPr>
          <p:cNvPr id="27" name="Shape 25"/>
          <p:cNvSpPr/>
          <p:nvPr/>
        </p:nvSpPr>
        <p:spPr>
          <a:xfrm>
            <a:off x="4193292" y="3035201"/>
            <a:ext cx="80010" cy="8001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73277" y="314950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2022.06</a:t>
            </a:r>
            <a:endParaRPr lang="en-US" sz="495" dirty="0"/>
          </a:p>
        </p:txBody>
      </p:sp>
      <p:sp>
        <p:nvSpPr>
          <p:cNvPr id="29" name="Shape 27"/>
          <p:cNvSpPr/>
          <p:nvPr/>
        </p:nvSpPr>
        <p:spPr>
          <a:xfrm>
            <a:off x="4876413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0683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2022.07</a:t>
            </a:r>
            <a:endParaRPr lang="en-US" sz="495" dirty="0"/>
          </a:p>
        </p:txBody>
      </p:sp>
      <p:sp>
        <p:nvSpPr>
          <p:cNvPr id="31" name="Shape 29"/>
          <p:cNvSpPr/>
          <p:nvPr/>
        </p:nvSpPr>
        <p:spPr>
          <a:xfrm>
            <a:off x="5553908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28178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2022.08</a:t>
            </a:r>
            <a:endParaRPr lang="en-US" sz="495" dirty="0"/>
          </a:p>
        </p:txBody>
      </p:sp>
      <p:sp>
        <p:nvSpPr>
          <p:cNvPr id="33" name="Shape 31"/>
          <p:cNvSpPr/>
          <p:nvPr/>
        </p:nvSpPr>
        <p:spPr>
          <a:xfrm>
            <a:off x="6225689" y="3035201"/>
            <a:ext cx="80010" cy="8001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05674" y="314950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2022.09</a:t>
            </a:r>
            <a:endParaRPr lang="en-US" sz="495" dirty="0"/>
          </a:p>
        </p:txBody>
      </p:sp>
      <p:sp>
        <p:nvSpPr>
          <p:cNvPr id="35" name="Shape 33"/>
          <p:cNvSpPr/>
          <p:nvPr/>
        </p:nvSpPr>
        <p:spPr>
          <a:xfrm>
            <a:off x="6908899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83169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2022.10</a:t>
            </a:r>
            <a:endParaRPr lang="en-US" sz="495" dirty="0"/>
          </a:p>
        </p:txBody>
      </p:sp>
      <p:sp>
        <p:nvSpPr>
          <p:cNvPr id="37" name="Shape 35"/>
          <p:cNvSpPr/>
          <p:nvPr/>
        </p:nvSpPr>
        <p:spPr>
          <a:xfrm>
            <a:off x="7586395" y="3035201"/>
            <a:ext cx="68580" cy="6858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60665" y="313807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2022.11</a:t>
            </a:r>
            <a:endParaRPr lang="en-US" sz="495" dirty="0"/>
          </a:p>
        </p:txBody>
      </p:sp>
      <p:sp>
        <p:nvSpPr>
          <p:cNvPr id="39" name="Shape 37"/>
          <p:cNvSpPr/>
          <p:nvPr/>
        </p:nvSpPr>
        <p:spPr>
          <a:xfrm>
            <a:off x="8258175" y="3035201"/>
            <a:ext cx="80010" cy="8001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0A0E1A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138160" y="3149501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2022.12</a:t>
            </a:r>
            <a:endParaRPr lang="en-US" sz="495" dirty="0"/>
          </a:p>
        </p:txBody>
      </p:sp>
      <p:sp>
        <p:nvSpPr>
          <p:cNvPr id="41" name="Shape 39"/>
          <p:cNvSpPr/>
          <p:nvPr/>
        </p:nvSpPr>
        <p:spPr>
          <a:xfrm>
            <a:off x="457200" y="3472398"/>
            <a:ext cx="1980248" cy="924580"/>
          </a:xfrm>
          <a:prstGeom prst="roundRect">
            <a:avLst>
              <a:gd name="adj" fmla="val 3709"/>
            </a:avLst>
          </a:prstGeom>
          <a:solidFill>
            <a:srgbClr val="111626"/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472398"/>
            <a:ext cx="1968818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5785" y="3592413"/>
            <a:ext cx="19746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/ 01</a:t>
            </a:r>
            <a:endParaRPr lang="en-US" sz="540" dirty="0"/>
          </a:p>
        </p:txBody>
      </p:sp>
      <p:sp>
        <p:nvSpPr>
          <p:cNvPr id="44" name="Text 42"/>
          <p:cNvSpPr/>
          <p:nvPr/>
        </p:nvSpPr>
        <p:spPr>
          <a:xfrm>
            <a:off x="565785" y="3735288"/>
            <a:ext cx="1974647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阅读笔记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5785" y="3969603"/>
            <a:ext cx="205740" cy="571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65785" y="4043898"/>
            <a:ext cx="1974647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全年精读开源技术书籍与社区文档的数量与深度统计，梳理知识摄入的路径与质量。</a:t>
            </a:r>
            <a:endParaRPr lang="en-US" sz="540" dirty="0"/>
          </a:p>
        </p:txBody>
      </p:sp>
      <p:sp>
        <p:nvSpPr>
          <p:cNvPr id="47" name="Shape 45"/>
          <p:cNvSpPr/>
          <p:nvPr/>
        </p:nvSpPr>
        <p:spPr>
          <a:xfrm>
            <a:off x="2540318" y="3472398"/>
            <a:ext cx="1980248" cy="924580"/>
          </a:xfrm>
          <a:prstGeom prst="roundRect">
            <a:avLst>
              <a:gd name="adj" fmla="val 3709"/>
            </a:avLst>
          </a:prstGeom>
          <a:solidFill>
            <a:srgbClr val="111626"/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40318" y="3472398"/>
            <a:ext cx="1968818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648903" y="3592413"/>
            <a:ext cx="19746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/ 02</a:t>
            </a:r>
            <a:endParaRPr lang="en-US" sz="540" dirty="0"/>
          </a:p>
        </p:txBody>
      </p:sp>
      <p:sp>
        <p:nvSpPr>
          <p:cNvPr id="50" name="Text 48"/>
          <p:cNvSpPr/>
          <p:nvPr/>
        </p:nvSpPr>
        <p:spPr>
          <a:xfrm>
            <a:off x="2648903" y="3735288"/>
            <a:ext cx="1974647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布道活动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48903" y="3969603"/>
            <a:ext cx="205740" cy="571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648903" y="4043898"/>
            <a:ext cx="1974647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线上线下技术分享、社区参与及影响力的汇总，记录每一次输出与交流的价值。</a:t>
            </a:r>
            <a:endParaRPr lang="en-US" sz="540" dirty="0"/>
          </a:p>
        </p:txBody>
      </p:sp>
      <p:sp>
        <p:nvSpPr>
          <p:cNvPr id="53" name="Shape 51"/>
          <p:cNvSpPr/>
          <p:nvPr/>
        </p:nvSpPr>
        <p:spPr>
          <a:xfrm>
            <a:off x="4623435" y="3472398"/>
            <a:ext cx="1980248" cy="924580"/>
          </a:xfrm>
          <a:prstGeom prst="roundRect">
            <a:avLst>
              <a:gd name="adj" fmla="val 3709"/>
            </a:avLst>
          </a:prstGeom>
          <a:solidFill>
            <a:srgbClr val="111626"/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23435" y="3472398"/>
            <a:ext cx="1968818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32020" y="3592413"/>
            <a:ext cx="19746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/ 03</a:t>
            </a:r>
            <a:endParaRPr lang="en-US" sz="540" dirty="0"/>
          </a:p>
        </p:txBody>
      </p:sp>
      <p:sp>
        <p:nvSpPr>
          <p:cNvPr id="56" name="Text 54"/>
          <p:cNvSpPr/>
          <p:nvPr/>
        </p:nvSpPr>
        <p:spPr>
          <a:xfrm>
            <a:off x="4732020" y="3735288"/>
            <a:ext cx="1974647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关键数据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32020" y="3969603"/>
            <a:ext cx="205740" cy="571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32020" y="4043898"/>
            <a:ext cx="1974647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用核心KPI量化2022年的整体开源贡献与产出，以数据说话，客观审视全年的努力。</a:t>
            </a:r>
            <a:endParaRPr lang="en-US" sz="540" dirty="0"/>
          </a:p>
        </p:txBody>
      </p:sp>
      <p:sp>
        <p:nvSpPr>
          <p:cNvPr id="59" name="Shape 57"/>
          <p:cNvSpPr/>
          <p:nvPr/>
        </p:nvSpPr>
        <p:spPr>
          <a:xfrm>
            <a:off x="6706553" y="3472398"/>
            <a:ext cx="1980248" cy="924580"/>
          </a:xfrm>
          <a:prstGeom prst="roundRect">
            <a:avLst>
              <a:gd name="adj" fmla="val 3709"/>
            </a:avLst>
          </a:prstGeom>
          <a:solidFill>
            <a:srgbClr val="111626"/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06553" y="3472398"/>
            <a:ext cx="1968818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815138" y="3592413"/>
            <a:ext cx="19746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/ 04</a:t>
            </a:r>
            <a:endParaRPr lang="en-US" sz="540" dirty="0"/>
          </a:p>
        </p:txBody>
      </p:sp>
      <p:sp>
        <p:nvSpPr>
          <p:cNvPr id="62" name="Text 60"/>
          <p:cNvSpPr/>
          <p:nvPr/>
        </p:nvSpPr>
        <p:spPr>
          <a:xfrm>
            <a:off x="6815138" y="3735288"/>
            <a:ext cx="1974647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反思复盘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15138" y="3969603"/>
            <a:ext cx="205740" cy="571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4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815138" y="4043898"/>
            <a:ext cx="1974647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从数据与体验中提取经验教训，为2023年的方向选择与行动策略奠定思考基础。</a:t>
            </a:r>
            <a:endParaRPr lang="en-US" sz="540" dirty="0"/>
          </a:p>
        </p:txBody>
      </p:sp>
      <p:sp>
        <p:nvSpPr>
          <p:cNvPr id="65" name="Shape 63"/>
          <p:cNvSpPr/>
          <p:nvPr/>
        </p:nvSpPr>
        <p:spPr>
          <a:xfrm>
            <a:off x="457200" y="4556998"/>
            <a:ext cx="8229600" cy="377190"/>
          </a:xfrm>
          <a:prstGeom prst="rect">
            <a:avLst/>
          </a:prstGeom>
          <a:noFill/>
          <a:ln/>
        </p:spPr>
      </p:sp>
      <p:sp>
        <p:nvSpPr>
          <p:cNvPr id="66" name="Shape 64"/>
          <p:cNvSpPr/>
          <p:nvPr/>
        </p:nvSpPr>
        <p:spPr>
          <a:xfrm>
            <a:off x="457200" y="4556998"/>
            <a:ext cx="8229600" cy="0"/>
          </a:xfrm>
          <a:prstGeom prst="line">
            <a:avLst/>
          </a:prstGeom>
          <a:noFill/>
          <a:ln w="5715">
            <a:solidFill>
              <a:srgbClr val="1A20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4746486"/>
            <a:ext cx="6925666" cy="1067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95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第一章回顾2022年度开源阅读与布道实践，从阅读产出、社区活动、关键指标三个维度全面复盘，并用反思沉淀成长经验。</a:t>
            </a:r>
            <a:endParaRPr lang="en-US" sz="495" dirty="0"/>
          </a:p>
        </p:txBody>
      </p:sp>
      <p:sp>
        <p:nvSpPr>
          <p:cNvPr id="68" name="Shape 66"/>
          <p:cNvSpPr/>
          <p:nvPr/>
        </p:nvSpPr>
        <p:spPr>
          <a:xfrm>
            <a:off x="6777990" y="4665583"/>
            <a:ext cx="468630" cy="268605"/>
          </a:xfrm>
          <a:prstGeom prst="roundRect">
            <a:avLst>
              <a:gd name="adj" fmla="val 8511"/>
            </a:avLst>
          </a:prstGeom>
          <a:solidFill>
            <a:srgbClr val="2196F3">
              <a:alpha val="4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63715" y="4705588"/>
            <a:ext cx="34861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章节主题</a:t>
            </a:r>
            <a:endParaRPr lang="en-US" sz="405" dirty="0"/>
          </a:p>
        </p:txBody>
      </p:sp>
      <p:sp>
        <p:nvSpPr>
          <p:cNvPr id="70" name="Text 68"/>
          <p:cNvSpPr/>
          <p:nvPr/>
        </p:nvSpPr>
        <p:spPr>
          <a:xfrm>
            <a:off x="6863715" y="4797028"/>
            <a:ext cx="3657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年度回顾</a:t>
            </a:r>
            <a:endParaRPr lang="en-US" sz="540" dirty="0"/>
          </a:p>
        </p:txBody>
      </p:sp>
      <p:sp>
        <p:nvSpPr>
          <p:cNvPr id="71" name="Shape 69"/>
          <p:cNvSpPr/>
          <p:nvPr/>
        </p:nvSpPr>
        <p:spPr>
          <a:xfrm>
            <a:off x="7360920" y="4665583"/>
            <a:ext cx="360045" cy="268605"/>
          </a:xfrm>
          <a:prstGeom prst="roundRect">
            <a:avLst>
              <a:gd name="adj" fmla="val 8511"/>
            </a:avLst>
          </a:prstGeom>
          <a:solidFill>
            <a:srgbClr val="2196F3">
              <a:alpha val="4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46645" y="4705588"/>
            <a:ext cx="24003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小节数</a:t>
            </a:r>
            <a:endParaRPr lang="en-US" sz="405" dirty="0"/>
          </a:p>
        </p:txBody>
      </p:sp>
      <p:sp>
        <p:nvSpPr>
          <p:cNvPr id="73" name="Text 71"/>
          <p:cNvSpPr/>
          <p:nvPr/>
        </p:nvSpPr>
        <p:spPr>
          <a:xfrm>
            <a:off x="7446645" y="4797028"/>
            <a:ext cx="25717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40" dirty="0"/>
          </a:p>
        </p:txBody>
      </p:sp>
      <p:sp>
        <p:nvSpPr>
          <p:cNvPr id="74" name="Shape 72"/>
          <p:cNvSpPr/>
          <p:nvPr/>
        </p:nvSpPr>
        <p:spPr>
          <a:xfrm>
            <a:off x="7835265" y="4665583"/>
            <a:ext cx="851535" cy="268605"/>
          </a:xfrm>
          <a:prstGeom prst="roundRect">
            <a:avLst>
              <a:gd name="adj" fmla="val 8511"/>
            </a:avLst>
          </a:prstGeom>
          <a:solidFill>
            <a:srgbClr val="2196F3">
              <a:alpha val="4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20990" y="4705588"/>
            <a:ext cx="7616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时间范围</a:t>
            </a:r>
            <a:endParaRPr lang="en-US" sz="405" dirty="0"/>
          </a:p>
        </p:txBody>
      </p:sp>
      <p:sp>
        <p:nvSpPr>
          <p:cNvPr id="76" name="Text 74"/>
          <p:cNvSpPr/>
          <p:nvPr/>
        </p:nvSpPr>
        <p:spPr>
          <a:xfrm>
            <a:off x="7920990" y="4797028"/>
            <a:ext cx="7616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0E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2022.01 – 2022.12</a:t>
            </a:r>
            <a:endParaRPr lang="en-US" sz="540" dirty="0"/>
          </a:p>
        </p:txBody>
      </p:sp>
      <p:sp>
        <p:nvSpPr>
          <p:cNvPr id="77" name="Shape 75"/>
          <p:cNvSpPr/>
          <p:nvPr/>
        </p:nvSpPr>
        <p:spPr>
          <a:xfrm>
            <a:off x="285750" y="476273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4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48615" y="4762738"/>
            <a:ext cx="28575" cy="28575"/>
          </a:xfrm>
          <a:prstGeom prst="ellipse">
            <a:avLst/>
          </a:prstGeom>
          <a:solidFill>
            <a:srgbClr val="B0BEC5">
              <a:alpha val="4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11480" y="476273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4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74345" y="4762738"/>
            <a:ext cx="28575" cy="28575"/>
          </a:xfrm>
          <a:prstGeom prst="ellipse">
            <a:avLst/>
          </a:prstGeom>
          <a:solidFill>
            <a:srgbClr val="B0BEC5">
              <a:alpha val="4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37210" y="4762738"/>
            <a:ext cx="28575" cy="28575"/>
          </a:xfrm>
          <a:prstGeom prst="ellipse">
            <a:avLst/>
          </a:prstGeom>
          <a:solidFill>
            <a:srgbClr val="B0BEC5">
              <a:alpha val="4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C1A"/>
              </a:gs>
              <a:gs pos="40000">
                <a:srgbClr val="0B1424"/>
              </a:gs>
              <a:gs pos="100000">
                <a:srgbClr val="0E1B33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7692390" y="1143000"/>
            <a:ext cx="80010" cy="8001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52400" dist="50800" dir="16200000">
              <a:srgbClr val="00BCD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3943350"/>
            <a:ext cx="57150" cy="5715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" y="274320"/>
            <a:ext cx="34290" cy="2971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" y="284589"/>
            <a:ext cx="2051685" cy="2765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 阅读全景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2440305" y="371475"/>
            <a:ext cx="161940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 OVERVIEW · 2022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342900" y="628650"/>
            <a:ext cx="8833104" cy="13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2022年阅读覆盖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技术书籍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社区文档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前沿论文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三大类别，全年以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精读为主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泛读为辅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，形成结构化笔记体系，为布道内容输出提供扎实的知识输入。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342900" y="861536"/>
            <a:ext cx="217627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READING STACK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42900" y="992981"/>
            <a:ext cx="2176272" cy="201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全年精读书籍与技术资料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持续积累，层层叠加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 rot="60000">
            <a:off x="885825" y="1959888"/>
            <a:ext cx="942975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0097A7"/>
              </a:gs>
              <a:gs pos="100000">
                <a:srgbClr val="4DD0E1"/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162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4301" y="1951673"/>
            <a:ext cx="34290" cy="18288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120000">
            <a:off x="771525" y="2165628"/>
            <a:ext cx="1114425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1976D2"/>
              </a:gs>
              <a:gs pos="100000">
                <a:srgbClr val="64B5F6"/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673" y="2146237"/>
            <a:ext cx="34290" cy="18288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80000">
            <a:off x="1028700" y="2371368"/>
            <a:ext cx="971550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006064"/>
              </a:gs>
              <a:gs pos="100000">
                <a:srgbClr val="00ACC1"/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162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580" y="2346070"/>
            <a:ext cx="34290" cy="18288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60000">
            <a:off x="685800" y="2577108"/>
            <a:ext cx="1200150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1565C0"/>
              </a:gs>
              <a:gs pos="100000">
                <a:srgbClr val="42A5F5"/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162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296" y="2566649"/>
            <a:ext cx="34290" cy="18288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20000">
            <a:off x="914400" y="2782848"/>
            <a:ext cx="1028700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00838F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162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1522" y="2764953"/>
            <a:ext cx="34290" cy="18288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180000">
            <a:off x="742950" y="2988588"/>
            <a:ext cx="1143000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1565C0"/>
              </a:gs>
              <a:gs pos="100000">
                <a:srgbClr val="2196F3"/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162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8948" y="2958803"/>
            <a:ext cx="34290" cy="18288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" y="3057168"/>
            <a:ext cx="1028700" cy="22860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  <a:effectLst>
            <a:outerShdw sx="100000" sy="100000" kx="0" ky="0" algn="bl" rotWithShape="0" blurRad="45720" dist="50800" dir="16200000">
              <a:srgbClr val="2196F3">
                <a:alpha val="6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262908"/>
            <a:ext cx="97932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BOOKS · 12 NOTES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342900" y="3308628"/>
            <a:ext cx="1943100" cy="245745"/>
          </a:xfrm>
          <a:prstGeom prst="roundRect">
            <a:avLst>
              <a:gd name="adj" fmla="val 13953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625" y="3385780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阅读类别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2063115" y="3371493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342900" y="3611523"/>
            <a:ext cx="1943100" cy="274320"/>
          </a:xfrm>
          <a:prstGeom prst="roundRect">
            <a:avLst>
              <a:gd name="adj" fmla="val 12500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8625" y="3702963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知识体系</a:t>
            </a:r>
            <a:endParaRPr lang="en-US" sz="495" dirty="0"/>
          </a:p>
        </p:txBody>
      </p:sp>
      <p:sp>
        <p:nvSpPr>
          <p:cNvPr id="31" name="Text 29"/>
          <p:cNvSpPr/>
          <p:nvPr/>
        </p:nvSpPr>
        <p:spPr>
          <a:xfrm>
            <a:off x="1891665" y="3674388"/>
            <a:ext cx="4114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已构建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342900" y="3942993"/>
            <a:ext cx="1943100" cy="245745"/>
          </a:xfrm>
          <a:prstGeom prst="roundRect">
            <a:avLst>
              <a:gd name="adj" fmla="val 13953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625" y="4020145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复用效率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1845945" y="4005858"/>
            <a:ext cx="4572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60%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2446020" y="861536"/>
            <a:ext cx="3137535" cy="634365"/>
          </a:xfrm>
          <a:prstGeom prst="roundRect">
            <a:avLst>
              <a:gd name="adj" fmla="val 9009"/>
            </a:avLst>
          </a:prstGeom>
          <a:solidFill>
            <a:srgbClr val="111E36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6020" y="861536"/>
            <a:ext cx="22860" cy="6229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7" name="Shape 35"/>
          <p:cNvSpPr/>
          <p:nvPr/>
        </p:nvSpPr>
        <p:spPr>
          <a:xfrm>
            <a:off x="5286375" y="690086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8" name="Shape 36"/>
          <p:cNvSpPr/>
          <p:nvPr/>
        </p:nvSpPr>
        <p:spPr>
          <a:xfrm>
            <a:off x="2577465" y="970121"/>
            <a:ext cx="342900" cy="125730"/>
          </a:xfrm>
          <a:prstGeom prst="roundRect">
            <a:avLst>
              <a:gd name="adj" fmla="val 13636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7465" y="970121"/>
            <a:ext cx="400050" cy="12573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</a:t>
            </a:r>
            <a:endParaRPr lang="en-US" sz="450" dirty="0"/>
          </a:p>
        </p:txBody>
      </p:sp>
      <p:sp>
        <p:nvSpPr>
          <p:cNvPr id="40" name="Text 38"/>
          <p:cNvSpPr/>
          <p:nvPr/>
        </p:nvSpPr>
        <p:spPr>
          <a:xfrm>
            <a:off x="5365671" y="975836"/>
            <a:ext cx="17787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B0BEC5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▤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2577465" y="1141571"/>
            <a:ext cx="32196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E0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algn="l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</a:t>
            </a:r>
            <a:endParaRPr lang="en-US" sz="2160" dirty="0"/>
          </a:p>
        </p:txBody>
      </p:sp>
      <p:sp>
        <p:nvSpPr>
          <p:cNvPr id="42" name="Text 40"/>
          <p:cNvSpPr/>
          <p:nvPr/>
        </p:nvSpPr>
        <p:spPr>
          <a:xfrm>
            <a:off x="2577465" y="1450181"/>
            <a:ext cx="321960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精读书籍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2577465" y="1593056"/>
            <a:ext cx="321960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含技术专著与行业经典，覆盖系统与架构核心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5663565" y="861536"/>
            <a:ext cx="3137535" cy="634365"/>
          </a:xfrm>
          <a:prstGeom prst="roundRect">
            <a:avLst>
              <a:gd name="adj" fmla="val 9009"/>
            </a:avLst>
          </a:prstGeom>
          <a:solidFill>
            <a:srgbClr val="111E36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3565" y="861536"/>
            <a:ext cx="22860" cy="62293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46" name="Shape 44"/>
          <p:cNvSpPr/>
          <p:nvPr/>
        </p:nvSpPr>
        <p:spPr>
          <a:xfrm>
            <a:off x="8503920" y="690086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7" name="Shape 45"/>
          <p:cNvSpPr/>
          <p:nvPr/>
        </p:nvSpPr>
        <p:spPr>
          <a:xfrm>
            <a:off x="5795010" y="970121"/>
            <a:ext cx="337185" cy="125730"/>
          </a:xfrm>
          <a:prstGeom prst="roundRect">
            <a:avLst>
              <a:gd name="adj" fmla="val 13636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95010" y="970121"/>
            <a:ext cx="394335" cy="12573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</a:t>
            </a:r>
            <a:endParaRPr lang="en-US" sz="450" dirty="0"/>
          </a:p>
        </p:txBody>
      </p:sp>
      <p:sp>
        <p:nvSpPr>
          <p:cNvPr id="49" name="Text 47"/>
          <p:cNvSpPr/>
          <p:nvPr/>
        </p:nvSpPr>
        <p:spPr>
          <a:xfrm>
            <a:off x="8593038" y="975836"/>
            <a:ext cx="168057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B0BEC5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✎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795010" y="1141571"/>
            <a:ext cx="32196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E0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algn="l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篇</a:t>
            </a:r>
            <a:endParaRPr lang="en-US" sz="2160" dirty="0"/>
          </a:p>
        </p:txBody>
      </p:sp>
      <p:sp>
        <p:nvSpPr>
          <p:cNvPr id="51" name="Text 49"/>
          <p:cNvSpPr/>
          <p:nvPr/>
        </p:nvSpPr>
        <p:spPr>
          <a:xfrm>
            <a:off x="5795010" y="1450181"/>
            <a:ext cx="321960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笔记产出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5795010" y="1593056"/>
            <a:ext cx="321960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每本精读书籍配套一篇结构化精读笔记</a:t>
            </a:r>
            <a:endParaRPr lang="en-US" sz="495" dirty="0"/>
          </a:p>
        </p:txBody>
      </p:sp>
      <p:sp>
        <p:nvSpPr>
          <p:cNvPr id="53" name="Shape 51"/>
          <p:cNvSpPr/>
          <p:nvPr/>
        </p:nvSpPr>
        <p:spPr>
          <a:xfrm>
            <a:off x="2446020" y="1575911"/>
            <a:ext cx="3137535" cy="634365"/>
          </a:xfrm>
          <a:prstGeom prst="roundRect">
            <a:avLst>
              <a:gd name="adj" fmla="val 9009"/>
            </a:avLst>
          </a:prstGeom>
          <a:solidFill>
            <a:srgbClr val="111E36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46020" y="1575911"/>
            <a:ext cx="22860" cy="6229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42A5F5"/>
              </a:gs>
            </a:gsLst>
            <a:lin ang="5400000" scaled="0"/>
          </a:gradFill>
          <a:ln/>
        </p:spPr>
      </p:sp>
      <p:sp>
        <p:nvSpPr>
          <p:cNvPr id="55" name="Shape 53"/>
          <p:cNvSpPr/>
          <p:nvPr/>
        </p:nvSpPr>
        <p:spPr>
          <a:xfrm>
            <a:off x="5286375" y="1404461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6" name="Shape 54"/>
          <p:cNvSpPr/>
          <p:nvPr/>
        </p:nvSpPr>
        <p:spPr>
          <a:xfrm>
            <a:off x="2577465" y="1684496"/>
            <a:ext cx="285750" cy="125730"/>
          </a:xfrm>
          <a:prstGeom prst="roundRect">
            <a:avLst>
              <a:gd name="adj" fmla="val 13636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7465" y="1684496"/>
            <a:ext cx="342900" cy="12573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</a:t>
            </a:r>
            <a:endParaRPr lang="en-US" sz="450" dirty="0"/>
          </a:p>
        </p:txBody>
      </p:sp>
      <p:sp>
        <p:nvSpPr>
          <p:cNvPr id="58" name="Text 56"/>
          <p:cNvSpPr/>
          <p:nvPr/>
        </p:nvSpPr>
        <p:spPr>
          <a:xfrm>
            <a:off x="5370135" y="1690211"/>
            <a:ext cx="1734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B0BEC5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☰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2577465" y="1855946"/>
            <a:ext cx="32196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E0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项目</a:t>
            </a:r>
            <a:endParaRPr lang="en-US" sz="2160" dirty="0"/>
          </a:p>
        </p:txBody>
      </p:sp>
      <p:sp>
        <p:nvSpPr>
          <p:cNvPr id="60" name="Text 58"/>
          <p:cNvSpPr/>
          <p:nvPr/>
        </p:nvSpPr>
        <p:spPr>
          <a:xfrm>
            <a:off x="2577465" y="2164556"/>
            <a:ext cx="321960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文档研读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2577465" y="2307431"/>
            <a:ext cx="321960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深入主流开源项目架构与工程实践文档</a:t>
            </a:r>
            <a:endParaRPr lang="en-US" sz="495" dirty="0"/>
          </a:p>
        </p:txBody>
      </p:sp>
      <p:sp>
        <p:nvSpPr>
          <p:cNvPr id="62" name="Shape 60"/>
          <p:cNvSpPr/>
          <p:nvPr/>
        </p:nvSpPr>
        <p:spPr>
          <a:xfrm>
            <a:off x="5663565" y="1575911"/>
            <a:ext cx="3137535" cy="634365"/>
          </a:xfrm>
          <a:prstGeom prst="roundRect">
            <a:avLst>
              <a:gd name="adj" fmla="val 9009"/>
            </a:avLst>
          </a:prstGeom>
          <a:solidFill>
            <a:srgbClr val="111E36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3565" y="1575911"/>
            <a:ext cx="22860" cy="62293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5400000" scaled="0"/>
          </a:gradFill>
          <a:ln/>
        </p:spPr>
      </p:sp>
      <p:sp>
        <p:nvSpPr>
          <p:cNvPr id="64" name="Shape 62"/>
          <p:cNvSpPr/>
          <p:nvPr/>
        </p:nvSpPr>
        <p:spPr>
          <a:xfrm>
            <a:off x="8503920" y="1404461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5" name="Shape 63"/>
          <p:cNvSpPr/>
          <p:nvPr/>
        </p:nvSpPr>
        <p:spPr>
          <a:xfrm>
            <a:off x="5795010" y="1684496"/>
            <a:ext cx="360045" cy="125730"/>
          </a:xfrm>
          <a:prstGeom prst="roundRect">
            <a:avLst>
              <a:gd name="adj" fmla="val 13636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95010" y="1684496"/>
            <a:ext cx="417195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</a:t>
            </a:r>
            <a:endParaRPr lang="en-US" sz="450" dirty="0"/>
          </a:p>
        </p:txBody>
      </p:sp>
      <p:sp>
        <p:nvSpPr>
          <p:cNvPr id="67" name="Text 65"/>
          <p:cNvSpPr/>
          <p:nvPr/>
        </p:nvSpPr>
        <p:spPr>
          <a:xfrm>
            <a:off x="8593038" y="1690211"/>
            <a:ext cx="168057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B0BEC5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5795010" y="1855946"/>
            <a:ext cx="32196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E0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pPr algn="l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篇</a:t>
            </a:r>
            <a:endParaRPr lang="en-US" sz="2160" dirty="0"/>
          </a:p>
        </p:txBody>
      </p:sp>
      <p:sp>
        <p:nvSpPr>
          <p:cNvPr id="69" name="Text 67"/>
          <p:cNvSpPr/>
          <p:nvPr/>
        </p:nvSpPr>
        <p:spPr>
          <a:xfrm>
            <a:off x="5795010" y="2164556"/>
            <a:ext cx="321960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论文追踪</a:t>
            </a:r>
            <a:endParaRPr lang="en-US" sz="675" dirty="0"/>
          </a:p>
        </p:txBody>
      </p:sp>
      <p:sp>
        <p:nvSpPr>
          <p:cNvPr id="70" name="Text 68"/>
          <p:cNvSpPr/>
          <p:nvPr/>
        </p:nvSpPr>
        <p:spPr>
          <a:xfrm>
            <a:off x="5795010" y="2307431"/>
            <a:ext cx="321960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OS 与 PL 方向前沿论文持续跟踪与精读</a:t>
            </a:r>
            <a:endParaRPr lang="en-US" sz="495" dirty="0"/>
          </a:p>
        </p:txBody>
      </p:sp>
      <p:sp>
        <p:nvSpPr>
          <p:cNvPr id="71" name="Shape 69"/>
          <p:cNvSpPr/>
          <p:nvPr/>
        </p:nvSpPr>
        <p:spPr>
          <a:xfrm>
            <a:off x="342900" y="4280178"/>
            <a:ext cx="2063115" cy="587038"/>
          </a:xfrm>
          <a:prstGeom prst="roundRect">
            <a:avLst>
              <a:gd name="adj" fmla="val 7788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2900" y="4280178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3" name="Text 71"/>
          <p:cNvSpPr/>
          <p:nvPr/>
        </p:nvSpPr>
        <p:spPr>
          <a:xfrm>
            <a:off x="440055" y="4365903"/>
            <a:ext cx="209306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01</a:t>
            </a:r>
            <a:endParaRPr lang="en-US" sz="450" dirty="0"/>
          </a:p>
        </p:txBody>
      </p:sp>
      <p:sp>
        <p:nvSpPr>
          <p:cNvPr id="74" name="Text 72"/>
          <p:cNvSpPr/>
          <p:nvPr/>
        </p:nvSpPr>
        <p:spPr>
          <a:xfrm>
            <a:off x="440055" y="4457343"/>
            <a:ext cx="2093062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技术书籍精读</a:t>
            </a:r>
            <a:endParaRPr lang="en-US" sz="585" dirty="0"/>
          </a:p>
        </p:txBody>
      </p:sp>
      <p:sp>
        <p:nvSpPr>
          <p:cNvPr id="75" name="Text 73"/>
          <p:cNvSpPr/>
          <p:nvPr/>
        </p:nvSpPr>
        <p:spPr>
          <a:xfrm>
            <a:off x="440055" y="4595574"/>
            <a:ext cx="2093062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涵盖分布式系统、云原生、开源治理等核心领域，全年完成精读笔记12篇。</a:t>
            </a:r>
            <a:endParaRPr lang="en-US" sz="473" dirty="0"/>
          </a:p>
        </p:txBody>
      </p:sp>
      <p:sp>
        <p:nvSpPr>
          <p:cNvPr id="76" name="Shape 74"/>
          <p:cNvSpPr/>
          <p:nvPr/>
        </p:nvSpPr>
        <p:spPr>
          <a:xfrm>
            <a:off x="348615" y="4850070"/>
            <a:ext cx="1230957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7" name="Shape 75"/>
          <p:cNvSpPr/>
          <p:nvPr/>
        </p:nvSpPr>
        <p:spPr>
          <a:xfrm>
            <a:off x="2474595" y="4280178"/>
            <a:ext cx="2063115" cy="587038"/>
          </a:xfrm>
          <a:prstGeom prst="roundRect">
            <a:avLst>
              <a:gd name="adj" fmla="val 7788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74595" y="4280178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9" name="Text 77"/>
          <p:cNvSpPr/>
          <p:nvPr/>
        </p:nvSpPr>
        <p:spPr>
          <a:xfrm>
            <a:off x="2571750" y="4365903"/>
            <a:ext cx="209306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02</a:t>
            </a:r>
            <a:endParaRPr lang="en-US" sz="450" dirty="0"/>
          </a:p>
        </p:txBody>
      </p:sp>
      <p:sp>
        <p:nvSpPr>
          <p:cNvPr id="80" name="Text 78"/>
          <p:cNvSpPr/>
          <p:nvPr/>
        </p:nvSpPr>
        <p:spPr>
          <a:xfrm>
            <a:off x="2571750" y="4457343"/>
            <a:ext cx="2093062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社区文档研读</a:t>
            </a:r>
            <a:endParaRPr lang="en-US" sz="585" dirty="0"/>
          </a:p>
        </p:txBody>
      </p:sp>
      <p:sp>
        <p:nvSpPr>
          <p:cNvPr id="81" name="Text 79"/>
          <p:cNvSpPr/>
          <p:nvPr/>
        </p:nvSpPr>
        <p:spPr>
          <a:xfrm>
            <a:off x="2571750" y="4595574"/>
            <a:ext cx="2093062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深入阅读 Kubernetes、Prometheus 等主流开源项目架构文档，沉淀理解。</a:t>
            </a:r>
            <a:endParaRPr lang="en-US" sz="473" dirty="0"/>
          </a:p>
        </p:txBody>
      </p:sp>
      <p:sp>
        <p:nvSpPr>
          <p:cNvPr id="82" name="Shape 80"/>
          <p:cNvSpPr/>
          <p:nvPr/>
        </p:nvSpPr>
        <p:spPr>
          <a:xfrm>
            <a:off x="2480310" y="4850070"/>
            <a:ext cx="1538764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3" name="Shape 81"/>
          <p:cNvSpPr/>
          <p:nvPr/>
        </p:nvSpPr>
        <p:spPr>
          <a:xfrm>
            <a:off x="4606290" y="4280178"/>
            <a:ext cx="2063115" cy="587038"/>
          </a:xfrm>
          <a:prstGeom prst="roundRect">
            <a:avLst>
              <a:gd name="adj" fmla="val 7788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606290" y="4280178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5" name="Text 83"/>
          <p:cNvSpPr/>
          <p:nvPr/>
        </p:nvSpPr>
        <p:spPr>
          <a:xfrm>
            <a:off x="4703445" y="4365903"/>
            <a:ext cx="209306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03</a:t>
            </a:r>
            <a:endParaRPr lang="en-US" sz="450" dirty="0"/>
          </a:p>
        </p:txBody>
      </p:sp>
      <p:sp>
        <p:nvSpPr>
          <p:cNvPr id="86" name="Text 84"/>
          <p:cNvSpPr/>
          <p:nvPr/>
        </p:nvSpPr>
        <p:spPr>
          <a:xfrm>
            <a:off x="4703445" y="4457343"/>
            <a:ext cx="2093062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开源论文追踪</a:t>
            </a:r>
            <a:endParaRPr lang="en-US" sz="585" dirty="0"/>
          </a:p>
        </p:txBody>
      </p:sp>
      <p:sp>
        <p:nvSpPr>
          <p:cNvPr id="87" name="Text 85"/>
          <p:cNvSpPr/>
          <p:nvPr/>
        </p:nvSpPr>
        <p:spPr>
          <a:xfrm>
            <a:off x="4703445" y="4595574"/>
            <a:ext cx="2093062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关注操作系统、编程语言方向前沿论文，保持技术视野前沿性。</a:t>
            </a:r>
            <a:endParaRPr lang="en-US" sz="473" dirty="0"/>
          </a:p>
        </p:txBody>
      </p:sp>
      <p:sp>
        <p:nvSpPr>
          <p:cNvPr id="88" name="Shape 86"/>
          <p:cNvSpPr/>
          <p:nvPr/>
        </p:nvSpPr>
        <p:spPr>
          <a:xfrm>
            <a:off x="4612005" y="4850070"/>
            <a:ext cx="1025843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9" name="Shape 87"/>
          <p:cNvSpPr/>
          <p:nvPr/>
        </p:nvSpPr>
        <p:spPr>
          <a:xfrm>
            <a:off x="6737985" y="4280178"/>
            <a:ext cx="2063115" cy="587038"/>
          </a:xfrm>
          <a:prstGeom prst="roundRect">
            <a:avLst>
              <a:gd name="adj" fmla="val 7788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737985" y="4280178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1" name="Text 89"/>
          <p:cNvSpPr/>
          <p:nvPr/>
        </p:nvSpPr>
        <p:spPr>
          <a:xfrm>
            <a:off x="6835140" y="4365903"/>
            <a:ext cx="209306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04</a:t>
            </a:r>
            <a:endParaRPr lang="en-US" sz="450" dirty="0"/>
          </a:p>
        </p:txBody>
      </p:sp>
      <p:sp>
        <p:nvSpPr>
          <p:cNvPr id="92" name="Text 90"/>
          <p:cNvSpPr/>
          <p:nvPr/>
        </p:nvSpPr>
        <p:spPr>
          <a:xfrm>
            <a:off x="6835140" y="4457343"/>
            <a:ext cx="2093062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笔记体系搭建</a:t>
            </a:r>
            <a:endParaRPr lang="en-US" sz="585" dirty="0"/>
          </a:p>
        </p:txBody>
      </p:sp>
      <p:sp>
        <p:nvSpPr>
          <p:cNvPr id="93" name="Text 91"/>
          <p:cNvSpPr/>
          <p:nvPr/>
        </p:nvSpPr>
        <p:spPr>
          <a:xfrm>
            <a:off x="6835140" y="4595574"/>
            <a:ext cx="2093062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建立统一的读书笔记模板与标签体系，提升长期知识复用效率。</a:t>
            </a:r>
            <a:endParaRPr lang="en-US" sz="473" dirty="0"/>
          </a:p>
        </p:txBody>
      </p:sp>
      <p:sp>
        <p:nvSpPr>
          <p:cNvPr id="94" name="Shape 92"/>
          <p:cNvSpPr/>
          <p:nvPr/>
        </p:nvSpPr>
        <p:spPr>
          <a:xfrm>
            <a:off x="6743700" y="4850070"/>
            <a:ext cx="1846481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5" name="Shape 93"/>
          <p:cNvSpPr/>
          <p:nvPr/>
        </p:nvSpPr>
        <p:spPr>
          <a:xfrm>
            <a:off x="342900" y="4947225"/>
            <a:ext cx="8458200" cy="262890"/>
          </a:xfrm>
          <a:prstGeom prst="roundRect">
            <a:avLst>
              <a:gd name="adj" fmla="val 17391"/>
            </a:avLst>
          </a:prstGeom>
          <a:solidFill>
            <a:srgbClr val="0F1A30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5775" y="5032950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全年节奏</a:t>
            </a:r>
            <a:endParaRPr lang="en-US" sz="495" dirty="0"/>
          </a:p>
        </p:txBody>
      </p:sp>
      <p:sp>
        <p:nvSpPr>
          <p:cNvPr id="97" name="Shape 95"/>
          <p:cNvSpPr/>
          <p:nvPr/>
        </p:nvSpPr>
        <p:spPr>
          <a:xfrm>
            <a:off x="897255" y="5055810"/>
            <a:ext cx="45720" cy="4572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6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977265" y="5061525"/>
            <a:ext cx="6217920" cy="34290"/>
          </a:xfrm>
          <a:prstGeom prst="roundRect">
            <a:avLst>
              <a:gd name="adj" fmla="val 50000"/>
            </a:avLst>
          </a:prstGeom>
          <a:solidFill>
            <a:srgbClr val="2196F3">
              <a:alpha val="1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77265" y="5061525"/>
            <a:ext cx="6217920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00" name="Text 98"/>
          <p:cNvSpPr/>
          <p:nvPr/>
        </p:nvSpPr>
        <p:spPr>
          <a:xfrm>
            <a:off x="977265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JAN</a:t>
            </a:r>
            <a:endParaRPr lang="en-US" sz="405" dirty="0"/>
          </a:p>
        </p:txBody>
      </p:sp>
      <p:sp>
        <p:nvSpPr>
          <p:cNvPr id="101" name="Text 99"/>
          <p:cNvSpPr/>
          <p:nvPr/>
        </p:nvSpPr>
        <p:spPr>
          <a:xfrm>
            <a:off x="1533138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FEB</a:t>
            </a:r>
            <a:endParaRPr lang="en-US" sz="405" dirty="0"/>
          </a:p>
        </p:txBody>
      </p:sp>
      <p:sp>
        <p:nvSpPr>
          <p:cNvPr id="102" name="Text 100"/>
          <p:cNvSpPr/>
          <p:nvPr/>
        </p:nvSpPr>
        <p:spPr>
          <a:xfrm>
            <a:off x="2089100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MAR</a:t>
            </a:r>
            <a:endParaRPr lang="en-US" sz="405" dirty="0"/>
          </a:p>
        </p:txBody>
      </p:sp>
      <p:sp>
        <p:nvSpPr>
          <p:cNvPr id="103" name="Text 101"/>
          <p:cNvSpPr/>
          <p:nvPr/>
        </p:nvSpPr>
        <p:spPr>
          <a:xfrm>
            <a:off x="2644973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APR</a:t>
            </a:r>
            <a:endParaRPr lang="en-US" sz="405" dirty="0"/>
          </a:p>
        </p:txBody>
      </p:sp>
      <p:sp>
        <p:nvSpPr>
          <p:cNvPr id="104" name="Text 102"/>
          <p:cNvSpPr/>
          <p:nvPr/>
        </p:nvSpPr>
        <p:spPr>
          <a:xfrm>
            <a:off x="3200936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MAY</a:t>
            </a:r>
            <a:endParaRPr lang="en-US" sz="405" dirty="0"/>
          </a:p>
        </p:txBody>
      </p:sp>
      <p:sp>
        <p:nvSpPr>
          <p:cNvPr id="105" name="Text 103"/>
          <p:cNvSpPr/>
          <p:nvPr/>
        </p:nvSpPr>
        <p:spPr>
          <a:xfrm>
            <a:off x="3756809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JUN</a:t>
            </a:r>
            <a:endParaRPr lang="en-US" sz="405" dirty="0"/>
          </a:p>
        </p:txBody>
      </p:sp>
      <p:sp>
        <p:nvSpPr>
          <p:cNvPr id="106" name="Text 104"/>
          <p:cNvSpPr/>
          <p:nvPr/>
        </p:nvSpPr>
        <p:spPr>
          <a:xfrm>
            <a:off x="4312771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JUL</a:t>
            </a:r>
            <a:endParaRPr lang="en-US" sz="405" dirty="0"/>
          </a:p>
        </p:txBody>
      </p:sp>
      <p:sp>
        <p:nvSpPr>
          <p:cNvPr id="107" name="Text 105"/>
          <p:cNvSpPr/>
          <p:nvPr/>
        </p:nvSpPr>
        <p:spPr>
          <a:xfrm>
            <a:off x="4868644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AUG</a:t>
            </a:r>
            <a:endParaRPr lang="en-US" sz="405" dirty="0"/>
          </a:p>
        </p:txBody>
      </p:sp>
      <p:sp>
        <p:nvSpPr>
          <p:cNvPr id="108" name="Text 106"/>
          <p:cNvSpPr/>
          <p:nvPr/>
        </p:nvSpPr>
        <p:spPr>
          <a:xfrm>
            <a:off x="5424607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SEP</a:t>
            </a:r>
            <a:endParaRPr lang="en-US" sz="405" dirty="0"/>
          </a:p>
        </p:txBody>
      </p:sp>
      <p:sp>
        <p:nvSpPr>
          <p:cNvPr id="109" name="Text 107"/>
          <p:cNvSpPr/>
          <p:nvPr/>
        </p:nvSpPr>
        <p:spPr>
          <a:xfrm>
            <a:off x="5980480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OCT</a:t>
            </a:r>
            <a:endParaRPr lang="en-US" sz="405" dirty="0"/>
          </a:p>
        </p:txBody>
      </p:sp>
      <p:sp>
        <p:nvSpPr>
          <p:cNvPr id="110" name="Text 108"/>
          <p:cNvSpPr/>
          <p:nvPr/>
        </p:nvSpPr>
        <p:spPr>
          <a:xfrm>
            <a:off x="6536442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NOV</a:t>
            </a:r>
            <a:endParaRPr lang="en-US" sz="405" dirty="0"/>
          </a:p>
        </p:txBody>
      </p:sp>
      <p:sp>
        <p:nvSpPr>
          <p:cNvPr id="111" name="Text 109"/>
          <p:cNvSpPr/>
          <p:nvPr/>
        </p:nvSpPr>
        <p:spPr>
          <a:xfrm>
            <a:off x="7092315" y="5141535"/>
            <a:ext cx="159449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</a:t>
            </a:r>
            <a:endParaRPr lang="en-US" sz="405" dirty="0"/>
          </a:p>
        </p:txBody>
      </p:sp>
      <p:sp>
        <p:nvSpPr>
          <p:cNvPr id="112" name="Shape 110"/>
          <p:cNvSpPr/>
          <p:nvPr/>
        </p:nvSpPr>
        <p:spPr>
          <a:xfrm>
            <a:off x="7229475" y="505581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7389495" y="5035808"/>
            <a:ext cx="40005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精读 12本</a:t>
            </a:r>
            <a:endParaRPr lang="en-US" sz="450" dirty="0"/>
          </a:p>
        </p:txBody>
      </p:sp>
      <p:sp>
        <p:nvSpPr>
          <p:cNvPr id="114" name="Shape 112"/>
          <p:cNvSpPr/>
          <p:nvPr/>
        </p:nvSpPr>
        <p:spPr>
          <a:xfrm>
            <a:off x="7389495" y="5061525"/>
            <a:ext cx="34290" cy="3429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15" name="Text 113"/>
          <p:cNvSpPr/>
          <p:nvPr/>
        </p:nvSpPr>
        <p:spPr>
          <a:xfrm>
            <a:off x="7823835" y="5035808"/>
            <a:ext cx="43434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论文 10+篇</a:t>
            </a:r>
            <a:endParaRPr lang="en-US" sz="450" dirty="0"/>
          </a:p>
        </p:txBody>
      </p:sp>
      <p:sp>
        <p:nvSpPr>
          <p:cNvPr id="116" name="Shape 114"/>
          <p:cNvSpPr/>
          <p:nvPr/>
        </p:nvSpPr>
        <p:spPr>
          <a:xfrm>
            <a:off x="7823835" y="5061525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17" name="Text 115"/>
          <p:cNvSpPr/>
          <p:nvPr/>
        </p:nvSpPr>
        <p:spPr>
          <a:xfrm>
            <a:off x="8292465" y="5035808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 12 个月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A30"/>
              </a:gs>
              <a:gs pos="100000">
                <a:srgbClr val="071226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8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342900" y="285750"/>
            <a:ext cx="195453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98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2022布道实践</a:t>
            </a:r>
            <a:endParaRPr lang="en-US" sz="1980" dirty="0"/>
          </a:p>
        </p:txBody>
      </p:sp>
      <p:sp>
        <p:nvSpPr>
          <p:cNvPr id="5" name="Shape 3"/>
          <p:cNvSpPr/>
          <p:nvPr/>
        </p:nvSpPr>
        <p:spPr>
          <a:xfrm>
            <a:off x="2160270" y="474345"/>
            <a:ext cx="840105" cy="154305"/>
          </a:xfrm>
          <a:prstGeom prst="roundRect">
            <a:avLst>
              <a:gd name="adj" fmla="val 74074"/>
            </a:avLst>
          </a:prstGeom>
          <a:noFill/>
          <a:ln w="5715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60270" y="474345"/>
            <a:ext cx="940918" cy="154305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CONTENT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7709535" y="497205"/>
            <a:ext cx="1091565" cy="154305"/>
          </a:xfrm>
          <a:prstGeom prst="roundRect">
            <a:avLst>
              <a:gd name="adj" fmla="val 74074"/>
            </a:avLst>
          </a:prstGeom>
          <a:noFill/>
          <a:ln w="5715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9535" y="497205"/>
            <a:ext cx="1222553" cy="154305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EVANGELISM · 2022</a:t>
            </a:r>
            <a:endParaRPr lang="en-US" sz="540" dirty="0"/>
          </a:p>
        </p:txBody>
      </p:sp>
      <p:sp>
        <p:nvSpPr>
          <p:cNvPr id="9" name="Shape 7"/>
          <p:cNvSpPr/>
          <p:nvPr/>
        </p:nvSpPr>
        <p:spPr>
          <a:xfrm>
            <a:off x="342900" y="685800"/>
            <a:ext cx="84582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7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342900" y="771525"/>
            <a:ext cx="8833104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布道层面，2022年以线上分享与内容创作为主阵地，辅以线下 meetup 建立社群连接。全年在多个平台保持活跃输出，逐步建立起个人开源技术品牌。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342900" y="1010394"/>
            <a:ext cx="2045970" cy="1090315"/>
          </a:xfrm>
          <a:prstGeom prst="roundRect">
            <a:avLst>
              <a:gd name="adj" fmla="val 5242"/>
            </a:avLst>
          </a:prstGeom>
          <a:solidFill>
            <a:srgbClr val="0F2540"/>
          </a:solidFill>
          <a:ln w="5715">
            <a:solidFill>
              <a:srgbClr val="1B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1010394"/>
            <a:ext cx="20345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440055" y="1107549"/>
            <a:ext cx="207385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ONLINE</a:t>
            </a:r>
            <a:endParaRPr lang="en-US" sz="49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055" y="1233279"/>
            <a:ext cx="205740" cy="2057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40055" y="1496169"/>
            <a:ext cx="2073859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线上技术分享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440055" y="1679049"/>
            <a:ext cx="2073859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在开源之友等平台完成技术分享与直播 8 次，覆盖云原生与开源治理主题。</a:t>
            </a:r>
            <a:endParaRPr lang="en-US" sz="518" dirty="0"/>
          </a:p>
        </p:txBody>
      </p:sp>
      <p:sp>
        <p:nvSpPr>
          <p:cNvPr id="17" name="Shape 14"/>
          <p:cNvSpPr/>
          <p:nvPr/>
        </p:nvSpPr>
        <p:spPr>
          <a:xfrm>
            <a:off x="440055" y="1889254"/>
            <a:ext cx="1851660" cy="12573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440055" y="1889254"/>
            <a:ext cx="1851660" cy="0"/>
          </a:xfrm>
          <a:prstGeom prst="line">
            <a:avLst/>
          </a:prstGeom>
          <a:noFill/>
          <a:ln w="5715">
            <a:solidFill>
              <a:srgbClr val="1B3A5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440055" y="1889254"/>
            <a:ext cx="2073859" cy="12573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LIVE · STREAM · TALK</a:t>
            </a:r>
            <a:endParaRPr lang="en-US" sz="450" dirty="0"/>
          </a:p>
        </p:txBody>
      </p:sp>
      <p:sp>
        <p:nvSpPr>
          <p:cNvPr id="20" name="Shape 17"/>
          <p:cNvSpPr/>
          <p:nvPr/>
        </p:nvSpPr>
        <p:spPr>
          <a:xfrm>
            <a:off x="2480310" y="1010394"/>
            <a:ext cx="2045970" cy="1090315"/>
          </a:xfrm>
          <a:prstGeom prst="roundRect">
            <a:avLst>
              <a:gd name="adj" fmla="val 5242"/>
            </a:avLst>
          </a:prstGeom>
          <a:solidFill>
            <a:srgbClr val="0F2540"/>
          </a:solidFill>
          <a:ln w="5715">
            <a:solidFill>
              <a:srgbClr val="1B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80310" y="1010394"/>
            <a:ext cx="20345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2" name="Text 19"/>
          <p:cNvSpPr/>
          <p:nvPr/>
        </p:nvSpPr>
        <p:spPr>
          <a:xfrm>
            <a:off x="2577465" y="1107549"/>
            <a:ext cx="207385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COMMUNITY</a:t>
            </a:r>
            <a:endParaRPr lang="en-US" sz="495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7465" y="1233279"/>
            <a:ext cx="205740" cy="2057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577465" y="1496169"/>
            <a:ext cx="2073859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社区贡献</a:t>
            </a:r>
            <a:endParaRPr lang="en-US" sz="720" dirty="0"/>
          </a:p>
        </p:txBody>
      </p:sp>
      <p:sp>
        <p:nvSpPr>
          <p:cNvPr id="25" name="Text 21"/>
          <p:cNvSpPr/>
          <p:nvPr/>
        </p:nvSpPr>
        <p:spPr>
          <a:xfrm>
            <a:off x="2577465" y="1679049"/>
            <a:ext cx="2073859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参与多个开源项目 Issue 讨论与 PR 评审，贡献文档改进与问题修复。</a:t>
            </a:r>
            <a:endParaRPr lang="en-US" sz="518" dirty="0"/>
          </a:p>
        </p:txBody>
      </p:sp>
      <p:sp>
        <p:nvSpPr>
          <p:cNvPr id="26" name="Shape 22"/>
          <p:cNvSpPr/>
          <p:nvPr/>
        </p:nvSpPr>
        <p:spPr>
          <a:xfrm>
            <a:off x="2577465" y="1889254"/>
            <a:ext cx="1851660" cy="125730"/>
          </a:xfrm>
          <a:prstGeom prst="rect">
            <a:avLst/>
          </a:prstGeom>
          <a:noFill/>
          <a:ln/>
        </p:spPr>
      </p:sp>
      <p:sp>
        <p:nvSpPr>
          <p:cNvPr id="27" name="Shape 23"/>
          <p:cNvSpPr/>
          <p:nvPr/>
        </p:nvSpPr>
        <p:spPr>
          <a:xfrm>
            <a:off x="2577465" y="1889254"/>
            <a:ext cx="1851660" cy="0"/>
          </a:xfrm>
          <a:prstGeom prst="line">
            <a:avLst/>
          </a:prstGeom>
          <a:noFill/>
          <a:ln w="5715">
            <a:solidFill>
              <a:srgbClr val="1B3A5C"/>
            </a:solidFill>
            <a:prstDash val="dash"/>
          </a:ln>
        </p:spPr>
      </p:sp>
      <p:sp>
        <p:nvSpPr>
          <p:cNvPr id="28" name="Text 24"/>
          <p:cNvSpPr/>
          <p:nvPr/>
        </p:nvSpPr>
        <p:spPr>
          <a:xfrm>
            <a:off x="2577465" y="1889254"/>
            <a:ext cx="2073859" cy="12573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 · PR · REVIEW</a:t>
            </a:r>
            <a:endParaRPr lang="en-US" sz="450" dirty="0"/>
          </a:p>
        </p:txBody>
      </p:sp>
      <p:sp>
        <p:nvSpPr>
          <p:cNvPr id="29" name="Shape 25"/>
          <p:cNvSpPr/>
          <p:nvPr/>
        </p:nvSpPr>
        <p:spPr>
          <a:xfrm>
            <a:off x="4617720" y="1010394"/>
            <a:ext cx="2045970" cy="1090315"/>
          </a:xfrm>
          <a:prstGeom prst="roundRect">
            <a:avLst>
              <a:gd name="adj" fmla="val 5242"/>
            </a:avLst>
          </a:prstGeom>
          <a:solidFill>
            <a:srgbClr val="0F2540"/>
          </a:solidFill>
          <a:ln w="5715">
            <a:solidFill>
              <a:srgbClr val="1B3A5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617720" y="1010394"/>
            <a:ext cx="20345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1" name="Text 27"/>
          <p:cNvSpPr/>
          <p:nvPr/>
        </p:nvSpPr>
        <p:spPr>
          <a:xfrm>
            <a:off x="4714875" y="1107549"/>
            <a:ext cx="207385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MEETUP</a:t>
            </a:r>
            <a:endParaRPr lang="en-US" sz="495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4875" y="1233279"/>
            <a:ext cx="205740" cy="2057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714875" y="1496169"/>
            <a:ext cx="2073859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线下 meetup</a:t>
            </a:r>
            <a:endParaRPr lang="en-US" sz="720" dirty="0"/>
          </a:p>
        </p:txBody>
      </p:sp>
      <p:sp>
        <p:nvSpPr>
          <p:cNvPr id="34" name="Text 29"/>
          <p:cNvSpPr/>
          <p:nvPr/>
        </p:nvSpPr>
        <p:spPr>
          <a:xfrm>
            <a:off x="4714875" y="1679049"/>
            <a:ext cx="2073859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参加及组织本地开源技术 meetup 4 场，促进同城开发者面对面交流。</a:t>
            </a:r>
            <a:endParaRPr lang="en-US" sz="518" dirty="0"/>
          </a:p>
        </p:txBody>
      </p:sp>
      <p:sp>
        <p:nvSpPr>
          <p:cNvPr id="35" name="Shape 30"/>
          <p:cNvSpPr/>
          <p:nvPr/>
        </p:nvSpPr>
        <p:spPr>
          <a:xfrm>
            <a:off x="4714875" y="1889254"/>
            <a:ext cx="1851660" cy="125730"/>
          </a:xfrm>
          <a:prstGeom prst="rect">
            <a:avLst/>
          </a:prstGeom>
          <a:noFill/>
          <a:ln/>
        </p:spPr>
      </p:sp>
      <p:sp>
        <p:nvSpPr>
          <p:cNvPr id="36" name="Shape 31"/>
          <p:cNvSpPr/>
          <p:nvPr/>
        </p:nvSpPr>
        <p:spPr>
          <a:xfrm>
            <a:off x="4714875" y="1889254"/>
            <a:ext cx="1851660" cy="0"/>
          </a:xfrm>
          <a:prstGeom prst="line">
            <a:avLst/>
          </a:prstGeom>
          <a:noFill/>
          <a:ln w="5715">
            <a:solidFill>
              <a:srgbClr val="1B3A5C"/>
            </a:solidFill>
            <a:prstDash val="dash"/>
          </a:ln>
        </p:spPr>
      </p:sp>
      <p:sp>
        <p:nvSpPr>
          <p:cNvPr id="37" name="Text 32"/>
          <p:cNvSpPr/>
          <p:nvPr/>
        </p:nvSpPr>
        <p:spPr>
          <a:xfrm>
            <a:off x="4714875" y="1889254"/>
            <a:ext cx="2073859" cy="12573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OFFLINE · LOCAL · CIRCLE</a:t>
            </a:r>
            <a:endParaRPr lang="en-US" sz="450" dirty="0"/>
          </a:p>
        </p:txBody>
      </p:sp>
      <p:sp>
        <p:nvSpPr>
          <p:cNvPr id="38" name="Shape 33"/>
          <p:cNvSpPr/>
          <p:nvPr/>
        </p:nvSpPr>
        <p:spPr>
          <a:xfrm>
            <a:off x="6755130" y="1010394"/>
            <a:ext cx="2045970" cy="1090315"/>
          </a:xfrm>
          <a:prstGeom prst="roundRect">
            <a:avLst>
              <a:gd name="adj" fmla="val 5242"/>
            </a:avLst>
          </a:prstGeom>
          <a:solidFill>
            <a:srgbClr val="0F2540"/>
          </a:solidFill>
          <a:ln w="5715">
            <a:solidFill>
              <a:srgbClr val="1B3A5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755130" y="1010394"/>
            <a:ext cx="20345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0" name="Text 35"/>
          <p:cNvSpPr/>
          <p:nvPr/>
        </p:nvSpPr>
        <p:spPr>
          <a:xfrm>
            <a:off x="6852285" y="1107549"/>
            <a:ext cx="207385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CONTENT</a:t>
            </a:r>
            <a:endParaRPr lang="en-US" sz="495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2285" y="1233279"/>
            <a:ext cx="205740" cy="20574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852285" y="1496169"/>
            <a:ext cx="2073859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内容创作</a:t>
            </a:r>
            <a:endParaRPr lang="en-US" sz="720" dirty="0"/>
          </a:p>
        </p:txBody>
      </p:sp>
      <p:sp>
        <p:nvSpPr>
          <p:cNvPr id="43" name="Text 37"/>
          <p:cNvSpPr/>
          <p:nvPr/>
        </p:nvSpPr>
        <p:spPr>
          <a:xfrm>
            <a:off x="6852285" y="1679049"/>
            <a:ext cx="2073859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全年输出开源技术文章与短视频共计 20+ 篇，持续扩大技术影响力。</a:t>
            </a:r>
            <a:endParaRPr lang="en-US" sz="518" dirty="0"/>
          </a:p>
        </p:txBody>
      </p:sp>
      <p:sp>
        <p:nvSpPr>
          <p:cNvPr id="44" name="Shape 38"/>
          <p:cNvSpPr/>
          <p:nvPr/>
        </p:nvSpPr>
        <p:spPr>
          <a:xfrm>
            <a:off x="6852285" y="1889254"/>
            <a:ext cx="1851660" cy="125730"/>
          </a:xfrm>
          <a:prstGeom prst="rect">
            <a:avLst/>
          </a:prstGeom>
          <a:noFill/>
          <a:ln/>
        </p:spPr>
      </p:sp>
      <p:sp>
        <p:nvSpPr>
          <p:cNvPr id="45" name="Shape 39"/>
          <p:cNvSpPr/>
          <p:nvPr/>
        </p:nvSpPr>
        <p:spPr>
          <a:xfrm>
            <a:off x="6852285" y="1889254"/>
            <a:ext cx="1851660" cy="0"/>
          </a:xfrm>
          <a:prstGeom prst="line">
            <a:avLst/>
          </a:prstGeom>
          <a:noFill/>
          <a:ln w="5715">
            <a:solidFill>
              <a:srgbClr val="1B3A5C"/>
            </a:solidFill>
            <a:prstDash val="dash"/>
          </a:ln>
        </p:spPr>
      </p:sp>
      <p:sp>
        <p:nvSpPr>
          <p:cNvPr id="46" name="Text 40"/>
          <p:cNvSpPr/>
          <p:nvPr/>
        </p:nvSpPr>
        <p:spPr>
          <a:xfrm>
            <a:off x="6852285" y="1889254"/>
            <a:ext cx="2073859" cy="12573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ARTICLE · VIDEO · IMPACT</a:t>
            </a:r>
            <a:endParaRPr lang="en-US" sz="450" dirty="0"/>
          </a:p>
        </p:txBody>
      </p:sp>
      <p:sp>
        <p:nvSpPr>
          <p:cNvPr id="47" name="Text 41"/>
          <p:cNvSpPr/>
          <p:nvPr/>
        </p:nvSpPr>
        <p:spPr>
          <a:xfrm>
            <a:off x="342900" y="2203579"/>
            <a:ext cx="135697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KEY METRICS · 年度关键数据</a:t>
            </a:r>
            <a:endParaRPr lang="en-US" sz="585" dirty="0"/>
          </a:p>
        </p:txBody>
      </p:sp>
      <p:sp>
        <p:nvSpPr>
          <p:cNvPr id="48" name="Shape 42"/>
          <p:cNvSpPr/>
          <p:nvPr/>
        </p:nvSpPr>
        <p:spPr>
          <a:xfrm>
            <a:off x="1634490" y="2255014"/>
            <a:ext cx="7166610" cy="5715"/>
          </a:xfrm>
          <a:prstGeom prst="rect">
            <a:avLst/>
          </a:prstGeom>
          <a:gradFill rotWithShape="1">
            <a:gsLst>
              <a:gs pos="0">
                <a:srgbClr val="1B3A5C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9" name="Shape 43"/>
          <p:cNvSpPr/>
          <p:nvPr/>
        </p:nvSpPr>
        <p:spPr>
          <a:xfrm>
            <a:off x="342900" y="2369314"/>
            <a:ext cx="2045970" cy="674370"/>
          </a:xfrm>
          <a:prstGeom prst="roundRect">
            <a:avLst>
              <a:gd name="adj" fmla="val 5085"/>
            </a:avLst>
          </a:prstGeom>
          <a:gradFill rotWithShape="1">
            <a:gsLst>
              <a:gs pos="0">
                <a:srgbClr val="0F2540">
                  <a:alpha val="90000"/>
                </a:srgbClr>
              </a:gs>
              <a:gs pos="100000">
                <a:srgbClr val="0A1A30">
                  <a:alpha val="60000"/>
                </a:srgbClr>
              </a:gs>
            </a:gsLst>
            <a:lin ang="5400000" scaled="0"/>
          </a:gradFill>
          <a:ln w="17145">
            <a:solidFill>
              <a:srgbClr val="2196F3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218313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1" name="Shape 45"/>
          <p:cNvSpPr/>
          <p:nvPr/>
        </p:nvSpPr>
        <p:spPr>
          <a:xfrm>
            <a:off x="222885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2" name="Shape 46"/>
          <p:cNvSpPr/>
          <p:nvPr/>
        </p:nvSpPr>
        <p:spPr>
          <a:xfrm>
            <a:off x="227457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3" name="Text 47"/>
          <p:cNvSpPr/>
          <p:nvPr/>
        </p:nvSpPr>
        <p:spPr>
          <a:xfrm>
            <a:off x="451485" y="2455039"/>
            <a:ext cx="206105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线上分享</a:t>
            </a:r>
            <a:endParaRPr lang="en-US" sz="495" dirty="0"/>
          </a:p>
        </p:txBody>
      </p:sp>
      <p:sp>
        <p:nvSpPr>
          <p:cNvPr id="54" name="Text 48"/>
          <p:cNvSpPr/>
          <p:nvPr/>
        </p:nvSpPr>
        <p:spPr>
          <a:xfrm>
            <a:off x="451485" y="2592199"/>
            <a:ext cx="20610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pPr algn="l" indent="0" marL="0">
              <a:lnSpc>
                <a:spcPct val="11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次</a:t>
            </a:r>
            <a:endParaRPr lang="en-US" sz="1620" dirty="0"/>
          </a:p>
        </p:txBody>
      </p:sp>
      <p:sp>
        <p:nvSpPr>
          <p:cNvPr id="55" name="Text 49"/>
          <p:cNvSpPr/>
          <p:nvPr/>
        </p:nvSpPr>
        <p:spPr>
          <a:xfrm>
            <a:off x="451485" y="2852767"/>
            <a:ext cx="2061058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含直播与录制，覆盖云原生、开源治理两大主线。</a:t>
            </a:r>
            <a:endParaRPr lang="en-US" sz="495" dirty="0"/>
          </a:p>
        </p:txBody>
      </p:sp>
      <p:sp>
        <p:nvSpPr>
          <p:cNvPr id="56" name="Shape 50"/>
          <p:cNvSpPr/>
          <p:nvPr/>
        </p:nvSpPr>
        <p:spPr>
          <a:xfrm>
            <a:off x="2480310" y="2369314"/>
            <a:ext cx="2045970" cy="674370"/>
          </a:xfrm>
          <a:prstGeom prst="roundRect">
            <a:avLst>
              <a:gd name="adj" fmla="val 5085"/>
            </a:avLst>
          </a:prstGeom>
          <a:gradFill rotWithShape="1">
            <a:gsLst>
              <a:gs pos="0">
                <a:srgbClr val="0F2540">
                  <a:alpha val="90000"/>
                </a:srgbClr>
              </a:gs>
              <a:gs pos="100000">
                <a:srgbClr val="0A1A30">
                  <a:alpha val="60000"/>
                </a:srgbClr>
              </a:gs>
            </a:gsLst>
            <a:lin ang="5400000" scaled="0"/>
          </a:gradFill>
          <a:ln w="17145">
            <a:solidFill>
              <a:srgbClr val="2196F3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436626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8" name="Shape 52"/>
          <p:cNvSpPr/>
          <p:nvPr/>
        </p:nvSpPr>
        <p:spPr>
          <a:xfrm>
            <a:off x="441198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9" name="Text 53"/>
          <p:cNvSpPr/>
          <p:nvPr/>
        </p:nvSpPr>
        <p:spPr>
          <a:xfrm>
            <a:off x="2588895" y="2455039"/>
            <a:ext cx="206105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线下 meetup</a:t>
            </a:r>
            <a:endParaRPr lang="en-US" sz="495" dirty="0"/>
          </a:p>
        </p:txBody>
      </p:sp>
      <p:sp>
        <p:nvSpPr>
          <p:cNvPr id="60" name="Text 54"/>
          <p:cNvSpPr/>
          <p:nvPr/>
        </p:nvSpPr>
        <p:spPr>
          <a:xfrm>
            <a:off x="2588895" y="2592199"/>
            <a:ext cx="20610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pPr algn="l" indent="0" marL="0">
              <a:lnSpc>
                <a:spcPct val="11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场</a:t>
            </a:r>
            <a:endParaRPr lang="en-US" sz="1620" dirty="0"/>
          </a:p>
        </p:txBody>
      </p:sp>
      <p:sp>
        <p:nvSpPr>
          <p:cNvPr id="61" name="Text 55"/>
          <p:cNvSpPr/>
          <p:nvPr/>
        </p:nvSpPr>
        <p:spPr>
          <a:xfrm>
            <a:off x="2588895" y="2852767"/>
            <a:ext cx="2061058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组织或参与本地技术聚会，沉淀同城开发者网络。</a:t>
            </a:r>
            <a:endParaRPr lang="en-US" sz="495" dirty="0"/>
          </a:p>
        </p:txBody>
      </p:sp>
      <p:sp>
        <p:nvSpPr>
          <p:cNvPr id="62" name="Shape 56"/>
          <p:cNvSpPr/>
          <p:nvPr/>
        </p:nvSpPr>
        <p:spPr>
          <a:xfrm>
            <a:off x="4617720" y="2369314"/>
            <a:ext cx="2045970" cy="674370"/>
          </a:xfrm>
          <a:prstGeom prst="roundRect">
            <a:avLst>
              <a:gd name="adj" fmla="val 5085"/>
            </a:avLst>
          </a:prstGeom>
          <a:gradFill rotWithShape="1">
            <a:gsLst>
              <a:gs pos="0">
                <a:srgbClr val="0F2540">
                  <a:alpha val="90000"/>
                </a:srgbClr>
              </a:gs>
              <a:gs pos="100000">
                <a:srgbClr val="0A1A30">
                  <a:alpha val="60000"/>
                </a:srgbClr>
              </a:gs>
            </a:gsLst>
            <a:lin ang="5400000" scaled="0"/>
          </a:gradFill>
          <a:ln w="17145">
            <a:solidFill>
              <a:srgbClr val="2196F3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41223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4" name="Shape 58"/>
          <p:cNvSpPr/>
          <p:nvPr/>
        </p:nvSpPr>
        <p:spPr>
          <a:xfrm>
            <a:off x="645795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5" name="Shape 59"/>
          <p:cNvSpPr/>
          <p:nvPr/>
        </p:nvSpPr>
        <p:spPr>
          <a:xfrm>
            <a:off x="650367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6" name="Shape 60"/>
          <p:cNvSpPr/>
          <p:nvPr/>
        </p:nvSpPr>
        <p:spPr>
          <a:xfrm>
            <a:off x="654939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7" name="Text 61"/>
          <p:cNvSpPr/>
          <p:nvPr/>
        </p:nvSpPr>
        <p:spPr>
          <a:xfrm>
            <a:off x="4726305" y="2455039"/>
            <a:ext cx="206105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内容产出</a:t>
            </a:r>
            <a:endParaRPr lang="en-US" sz="495" dirty="0"/>
          </a:p>
        </p:txBody>
      </p:sp>
      <p:sp>
        <p:nvSpPr>
          <p:cNvPr id="68" name="Text 62"/>
          <p:cNvSpPr/>
          <p:nvPr/>
        </p:nvSpPr>
        <p:spPr>
          <a:xfrm>
            <a:off x="4726305" y="2592199"/>
            <a:ext cx="20610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20+</a:t>
            </a:r>
            <a:pPr algn="l" indent="0" marL="0">
              <a:lnSpc>
                <a:spcPct val="11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篇</a:t>
            </a:r>
            <a:endParaRPr lang="en-US" sz="1620" dirty="0"/>
          </a:p>
        </p:txBody>
      </p:sp>
      <p:sp>
        <p:nvSpPr>
          <p:cNvPr id="69" name="Text 63"/>
          <p:cNvSpPr/>
          <p:nvPr/>
        </p:nvSpPr>
        <p:spPr>
          <a:xfrm>
            <a:off x="4726305" y="2852767"/>
            <a:ext cx="2061058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技术文章 + 短视频双轨输出，持续扩大影响力。</a:t>
            </a:r>
            <a:endParaRPr lang="en-US" sz="495" dirty="0"/>
          </a:p>
        </p:txBody>
      </p:sp>
      <p:sp>
        <p:nvSpPr>
          <p:cNvPr id="70" name="Shape 64"/>
          <p:cNvSpPr/>
          <p:nvPr/>
        </p:nvSpPr>
        <p:spPr>
          <a:xfrm>
            <a:off x="6755130" y="2369314"/>
            <a:ext cx="2045970" cy="674370"/>
          </a:xfrm>
          <a:prstGeom prst="roundRect">
            <a:avLst>
              <a:gd name="adj" fmla="val 5085"/>
            </a:avLst>
          </a:prstGeom>
          <a:gradFill rotWithShape="1">
            <a:gsLst>
              <a:gs pos="0">
                <a:srgbClr val="0F2540">
                  <a:alpha val="90000"/>
                </a:srgbClr>
              </a:gs>
              <a:gs pos="100000">
                <a:srgbClr val="0A1A30">
                  <a:alpha val="60000"/>
                </a:srgbClr>
              </a:gs>
            </a:gsLst>
            <a:lin ang="5400000" scaled="0"/>
          </a:gradFill>
          <a:ln w="17145">
            <a:solidFill>
              <a:srgbClr val="2196F3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859536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2" name="Shape 66"/>
          <p:cNvSpPr/>
          <p:nvPr/>
        </p:nvSpPr>
        <p:spPr>
          <a:xfrm>
            <a:off x="864108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3" name="Shape 67"/>
          <p:cNvSpPr/>
          <p:nvPr/>
        </p:nvSpPr>
        <p:spPr>
          <a:xfrm>
            <a:off x="8686800" y="2455039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4" name="Text 68"/>
          <p:cNvSpPr/>
          <p:nvPr/>
        </p:nvSpPr>
        <p:spPr>
          <a:xfrm>
            <a:off x="6863715" y="2455039"/>
            <a:ext cx="206105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社区贡献</a:t>
            </a:r>
            <a:endParaRPr lang="en-US" sz="495" dirty="0"/>
          </a:p>
        </p:txBody>
      </p:sp>
      <p:sp>
        <p:nvSpPr>
          <p:cNvPr id="75" name="Text 69"/>
          <p:cNvSpPr/>
          <p:nvPr/>
        </p:nvSpPr>
        <p:spPr>
          <a:xfrm>
            <a:off x="6863715" y="2592199"/>
            <a:ext cx="20610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</a:t>
            </a:r>
            <a:endParaRPr lang="en-US" sz="1620" dirty="0"/>
          </a:p>
        </p:txBody>
      </p:sp>
      <p:sp>
        <p:nvSpPr>
          <p:cNvPr id="76" name="Text 70"/>
          <p:cNvSpPr/>
          <p:nvPr/>
        </p:nvSpPr>
        <p:spPr>
          <a:xfrm>
            <a:off x="6863715" y="2852767"/>
            <a:ext cx="2061058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 讨论、PR 评审、文档改进常态化参与。</a:t>
            </a:r>
            <a:endParaRPr lang="en-US" sz="495" dirty="0"/>
          </a:p>
        </p:txBody>
      </p:sp>
      <p:sp>
        <p:nvSpPr>
          <p:cNvPr id="77" name="Shape 71"/>
          <p:cNvSpPr/>
          <p:nvPr/>
        </p:nvSpPr>
        <p:spPr>
          <a:xfrm>
            <a:off x="342900" y="3112264"/>
            <a:ext cx="8458200" cy="28575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5000"/>
                </a:srgbClr>
              </a:gs>
            </a:gsLst>
            <a:lin ang="0" scaled="0"/>
          </a:gradFill>
          <a:ln w="5715">
            <a:solidFill>
              <a:srgbClr val="1B3A5C"/>
            </a:solidFill>
            <a:prstDash val="solid"/>
          </a:ln>
        </p:spPr>
      </p:sp>
      <p:pic>
        <p:nvPicPr>
          <p:cNvPr id="7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1485" y="3186559"/>
            <a:ext cx="137160" cy="137160"/>
          </a:xfrm>
          <a:prstGeom prst="rect">
            <a:avLst/>
          </a:prstGeom>
        </p:spPr>
      </p:pic>
      <p:sp>
        <p:nvSpPr>
          <p:cNvPr id="79" name="Text 72"/>
          <p:cNvSpPr/>
          <p:nvPr/>
        </p:nvSpPr>
        <p:spPr>
          <a:xfrm>
            <a:off x="680085" y="3197989"/>
            <a:ext cx="7508138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全年围绕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线上分享 · 社区贡献 · 线下 meetup · 内容创作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四大方向保持输出节奏， 从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 场分享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 场 meetup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，从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20+ 篇内容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持续社区参与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 逐步构建起稳定的开源技术布道闭环。</a:t>
            </a:r>
            <a:endParaRPr lang="en-US" sz="563" dirty="0"/>
          </a:p>
        </p:txBody>
      </p:sp>
      <p:sp>
        <p:nvSpPr>
          <p:cNvPr id="80" name="Shape 73"/>
          <p:cNvSpPr/>
          <p:nvPr/>
        </p:nvSpPr>
        <p:spPr>
          <a:xfrm>
            <a:off x="8052435" y="3186559"/>
            <a:ext cx="640080" cy="137160"/>
          </a:xfrm>
          <a:prstGeom prst="roundRect">
            <a:avLst>
              <a:gd name="adj" fmla="val 12500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8052435" y="3186559"/>
            <a:ext cx="716890" cy="13716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· 2022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241280" cy="2227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2022关键数据</a:t>
            </a:r>
            <a:endParaRPr lang="en-US" sz="1220" dirty="0"/>
          </a:p>
        </p:txBody>
      </p:sp>
      <p:sp>
        <p:nvSpPr>
          <p:cNvPr id="3" name="Text 1"/>
          <p:cNvSpPr/>
          <p:nvPr/>
        </p:nvSpPr>
        <p:spPr>
          <a:xfrm>
            <a:off x="0" y="326615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开源之路 · 输入驱动输出 · 影响力稳步增长</a:t>
            </a:r>
            <a:endParaRPr lang="en-US" sz="610" dirty="0"/>
          </a:p>
        </p:txBody>
      </p:sp>
      <p:sp>
        <p:nvSpPr>
          <p:cNvPr id="4" name="Text 2"/>
          <p:cNvSpPr/>
          <p:nvPr/>
        </p:nvSpPr>
        <p:spPr>
          <a:xfrm>
            <a:off x="0" y="462225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610" dirty="0"/>
          </a:p>
        </p:txBody>
      </p:sp>
      <p:sp>
        <p:nvSpPr>
          <p:cNvPr id="5" name="Text 3"/>
          <p:cNvSpPr/>
          <p:nvPr/>
        </p:nvSpPr>
        <p:spPr>
          <a:xfrm>
            <a:off x="96864" y="462225"/>
            <a:ext cx="154983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本</a:t>
            </a:r>
            <a:endParaRPr lang="en-US" sz="610" dirty="0"/>
          </a:p>
        </p:txBody>
      </p:sp>
      <p:sp>
        <p:nvSpPr>
          <p:cNvPr id="6" name="Text 4"/>
          <p:cNvSpPr/>
          <p:nvPr/>
        </p:nvSpPr>
        <p:spPr>
          <a:xfrm>
            <a:off x="0" y="559089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精读书籍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0" y="675327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 持续增长</a:t>
            </a:r>
            <a:endParaRPr lang="en-US" sz="610" dirty="0"/>
          </a:p>
        </p:txBody>
      </p:sp>
      <p:sp>
        <p:nvSpPr>
          <p:cNvPr id="8" name="Text 6"/>
          <p:cNvSpPr/>
          <p:nvPr/>
        </p:nvSpPr>
        <p:spPr>
          <a:xfrm>
            <a:off x="0" y="810937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610" dirty="0"/>
          </a:p>
        </p:txBody>
      </p:sp>
      <p:sp>
        <p:nvSpPr>
          <p:cNvPr id="9" name="Text 7"/>
          <p:cNvSpPr/>
          <p:nvPr/>
        </p:nvSpPr>
        <p:spPr>
          <a:xfrm>
            <a:off x="96864" y="810937"/>
            <a:ext cx="217945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+篇</a:t>
            </a:r>
            <a:endParaRPr lang="en-US" sz="610" dirty="0"/>
          </a:p>
        </p:txBody>
      </p:sp>
      <p:sp>
        <p:nvSpPr>
          <p:cNvPr id="10" name="Text 8"/>
          <p:cNvSpPr/>
          <p:nvPr/>
        </p:nvSpPr>
        <p:spPr>
          <a:xfrm>
            <a:off x="0" y="907801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技术文章与视频</a:t>
            </a:r>
            <a:endParaRPr lang="en-US" sz="610" dirty="0"/>
          </a:p>
        </p:txBody>
      </p:sp>
      <p:sp>
        <p:nvSpPr>
          <p:cNvPr id="11" name="Text 9"/>
          <p:cNvSpPr/>
          <p:nvPr/>
        </p:nvSpPr>
        <p:spPr>
          <a:xfrm>
            <a:off x="0" y="1024038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 持续增长</a:t>
            </a:r>
            <a:endParaRPr lang="en-US" sz="610" dirty="0"/>
          </a:p>
        </p:txBody>
      </p:sp>
      <p:sp>
        <p:nvSpPr>
          <p:cNvPr id="12" name="Text 10"/>
          <p:cNvSpPr/>
          <p:nvPr/>
        </p:nvSpPr>
        <p:spPr>
          <a:xfrm>
            <a:off x="0" y="1159649"/>
            <a:ext cx="131736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610" dirty="0"/>
          </a:p>
        </p:txBody>
      </p:sp>
      <p:sp>
        <p:nvSpPr>
          <p:cNvPr id="13" name="Text 11"/>
          <p:cNvSpPr/>
          <p:nvPr/>
        </p:nvSpPr>
        <p:spPr>
          <a:xfrm>
            <a:off x="48432" y="1159649"/>
            <a:ext cx="154983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次</a:t>
            </a:r>
            <a:endParaRPr lang="en-US" sz="610" dirty="0"/>
          </a:p>
        </p:txBody>
      </p:sp>
      <p:sp>
        <p:nvSpPr>
          <p:cNvPr id="14" name="Text 12"/>
          <p:cNvSpPr/>
          <p:nvPr/>
        </p:nvSpPr>
        <p:spPr>
          <a:xfrm>
            <a:off x="0" y="1256513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线上分享</a:t>
            </a:r>
            <a:endParaRPr lang="en-US" sz="610" dirty="0"/>
          </a:p>
        </p:txBody>
      </p:sp>
      <p:sp>
        <p:nvSpPr>
          <p:cNvPr id="15" name="Text 13"/>
          <p:cNvSpPr/>
          <p:nvPr/>
        </p:nvSpPr>
        <p:spPr>
          <a:xfrm>
            <a:off x="0" y="1372750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 持续增长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0" y="1508360"/>
            <a:ext cx="131736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610" dirty="0"/>
          </a:p>
        </p:txBody>
      </p:sp>
      <p:sp>
        <p:nvSpPr>
          <p:cNvPr id="17" name="Text 15"/>
          <p:cNvSpPr/>
          <p:nvPr/>
        </p:nvSpPr>
        <p:spPr>
          <a:xfrm>
            <a:off x="48432" y="1508360"/>
            <a:ext cx="154983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场</a:t>
            </a:r>
            <a:endParaRPr lang="en-US" sz="610" dirty="0"/>
          </a:p>
        </p:txBody>
      </p:sp>
      <p:sp>
        <p:nvSpPr>
          <p:cNvPr id="18" name="Text 16"/>
          <p:cNvSpPr/>
          <p:nvPr/>
        </p:nvSpPr>
        <p:spPr>
          <a:xfrm>
            <a:off x="0" y="1605225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线下Meetup</a:t>
            </a:r>
            <a:endParaRPr lang="en-US" sz="610" dirty="0"/>
          </a:p>
        </p:txBody>
      </p:sp>
      <p:sp>
        <p:nvSpPr>
          <p:cNvPr id="19" name="Text 17"/>
          <p:cNvSpPr/>
          <p:nvPr/>
        </p:nvSpPr>
        <p:spPr>
          <a:xfrm>
            <a:off x="0" y="1721462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 持续增长</a:t>
            </a:r>
            <a:endParaRPr lang="en-US" sz="610" dirty="0"/>
          </a:p>
        </p:txBody>
      </p:sp>
      <p:sp>
        <p:nvSpPr>
          <p:cNvPr id="20" name="Text 18"/>
          <p:cNvSpPr/>
          <p:nvPr/>
        </p:nvSpPr>
        <p:spPr>
          <a:xfrm>
            <a:off x="0" y="1857072"/>
            <a:ext cx="131736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48432" y="1857072"/>
            <a:ext cx="295436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+项目</a:t>
            </a:r>
            <a:endParaRPr lang="en-US" sz="610" dirty="0"/>
          </a:p>
        </p:txBody>
      </p:sp>
      <p:sp>
        <p:nvSpPr>
          <p:cNvPr id="22" name="Text 20"/>
          <p:cNvSpPr/>
          <p:nvPr/>
        </p:nvSpPr>
        <p:spPr>
          <a:xfrm>
            <a:off x="0" y="1953937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社区文档研读</a:t>
            </a:r>
            <a:endParaRPr lang="en-US" sz="610" dirty="0"/>
          </a:p>
        </p:txBody>
      </p:sp>
      <p:sp>
        <p:nvSpPr>
          <p:cNvPr id="23" name="Text 21"/>
          <p:cNvSpPr/>
          <p:nvPr/>
        </p:nvSpPr>
        <p:spPr>
          <a:xfrm>
            <a:off x="0" y="2070174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 持续增长</a:t>
            </a:r>
            <a:endParaRPr lang="en-US" sz="610" dirty="0"/>
          </a:p>
        </p:txBody>
      </p:sp>
      <p:sp>
        <p:nvSpPr>
          <p:cNvPr id="24" name="Text 22"/>
          <p:cNvSpPr/>
          <p:nvPr/>
        </p:nvSpPr>
        <p:spPr>
          <a:xfrm>
            <a:off x="0" y="2205784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610" dirty="0"/>
          </a:p>
        </p:txBody>
      </p:sp>
      <p:sp>
        <p:nvSpPr>
          <p:cNvPr id="25" name="Text 23"/>
          <p:cNvSpPr/>
          <p:nvPr/>
        </p:nvSpPr>
        <p:spPr>
          <a:xfrm>
            <a:off x="96864" y="2205784"/>
            <a:ext cx="217945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+篇</a:t>
            </a:r>
            <a:endParaRPr lang="en-US" sz="610" dirty="0"/>
          </a:p>
        </p:txBody>
      </p:sp>
      <p:sp>
        <p:nvSpPr>
          <p:cNvPr id="26" name="Text 24"/>
          <p:cNvSpPr/>
          <p:nvPr/>
        </p:nvSpPr>
        <p:spPr>
          <a:xfrm>
            <a:off x="0" y="2302649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论文追踪</a:t>
            </a:r>
            <a:endParaRPr lang="en-US" sz="610" dirty="0"/>
          </a:p>
        </p:txBody>
      </p:sp>
      <p:sp>
        <p:nvSpPr>
          <p:cNvPr id="27" name="Text 25"/>
          <p:cNvSpPr/>
          <p:nvPr/>
        </p:nvSpPr>
        <p:spPr>
          <a:xfrm>
            <a:off x="0" y="2418886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 持续增长</a:t>
            </a:r>
            <a:endParaRPr lang="en-US" sz="610" dirty="0"/>
          </a:p>
        </p:txBody>
      </p:sp>
      <p:sp>
        <p:nvSpPr>
          <p:cNvPr id="28" name="Text 26"/>
          <p:cNvSpPr/>
          <p:nvPr/>
        </p:nvSpPr>
        <p:spPr>
          <a:xfrm>
            <a:off x="0" y="2554496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610" dirty="0"/>
          </a:p>
        </p:txBody>
      </p:sp>
      <p:sp>
        <p:nvSpPr>
          <p:cNvPr id="29" name="Text 27"/>
          <p:cNvSpPr/>
          <p:nvPr/>
        </p:nvSpPr>
        <p:spPr>
          <a:xfrm>
            <a:off x="96864" y="2554496"/>
            <a:ext cx="154983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篇</a:t>
            </a:r>
            <a:endParaRPr lang="en-US" sz="610" dirty="0"/>
          </a:p>
        </p:txBody>
      </p:sp>
      <p:sp>
        <p:nvSpPr>
          <p:cNvPr id="30" name="Text 28"/>
          <p:cNvSpPr/>
          <p:nvPr/>
        </p:nvSpPr>
        <p:spPr>
          <a:xfrm>
            <a:off x="0" y="2651360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笔记产出</a:t>
            </a:r>
            <a:endParaRPr lang="en-US" sz="610" dirty="0"/>
          </a:p>
        </p:txBody>
      </p:sp>
      <p:sp>
        <p:nvSpPr>
          <p:cNvPr id="31" name="Text 29"/>
          <p:cNvSpPr/>
          <p:nvPr/>
        </p:nvSpPr>
        <p:spPr>
          <a:xfrm>
            <a:off x="0" y="2767598"/>
            <a:ext cx="10241280" cy="116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 持续增长</a:t>
            </a:r>
            <a:endParaRPr lang="en-US" sz="610" dirty="0"/>
          </a:p>
        </p:txBody>
      </p:sp>
      <p:sp>
        <p:nvSpPr>
          <p:cNvPr id="32" name="Text 30"/>
          <p:cNvSpPr/>
          <p:nvPr/>
        </p:nvSpPr>
        <p:spPr>
          <a:xfrm>
            <a:off x="0" y="2903208"/>
            <a:ext cx="1030637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METRIC · 核心聚焦</a:t>
            </a:r>
            <a:endParaRPr lang="en-US" sz="610" dirty="0"/>
          </a:p>
        </p:txBody>
      </p:sp>
      <p:sp>
        <p:nvSpPr>
          <p:cNvPr id="33" name="Text 31"/>
          <p:cNvSpPr/>
          <p:nvPr/>
        </p:nvSpPr>
        <p:spPr>
          <a:xfrm>
            <a:off x="0" y="3000072"/>
            <a:ext cx="131736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610" dirty="0"/>
          </a:p>
        </p:txBody>
      </p:sp>
      <p:sp>
        <p:nvSpPr>
          <p:cNvPr id="34" name="Text 32"/>
          <p:cNvSpPr/>
          <p:nvPr/>
        </p:nvSpPr>
        <p:spPr>
          <a:xfrm>
            <a:off x="0" y="3111466"/>
            <a:ext cx="464949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项核心指标</a:t>
            </a:r>
            <a:endParaRPr lang="en-US" sz="610" dirty="0"/>
          </a:p>
        </p:txBody>
      </p:sp>
      <p:sp>
        <p:nvSpPr>
          <p:cNvPr id="35" name="Text 33"/>
          <p:cNvSpPr/>
          <p:nvPr/>
        </p:nvSpPr>
        <p:spPr>
          <a:xfrm>
            <a:off x="0" y="3227704"/>
            <a:ext cx="486026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全年围绕精读、产出、分享、社区研究、论文追踪、笔记体系构建等七个维度持续深耕，以输入驱动输出，以输出扩大影响力。</a:t>
            </a:r>
            <a:endParaRPr lang="en-US" sz="610" dirty="0"/>
          </a:p>
        </p:txBody>
      </p:sp>
      <p:sp>
        <p:nvSpPr>
          <p:cNvPr id="36" name="Text 34"/>
          <p:cNvSpPr/>
          <p:nvPr/>
        </p:nvSpPr>
        <p:spPr>
          <a:xfrm>
            <a:off x="0" y="3343941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精读驱动</a:t>
            </a:r>
            <a:endParaRPr lang="en-US" sz="610" dirty="0"/>
          </a:p>
        </p:txBody>
      </p:sp>
      <p:sp>
        <p:nvSpPr>
          <p:cNvPr id="37" name="Text 35"/>
          <p:cNvSpPr/>
          <p:nvPr/>
        </p:nvSpPr>
        <p:spPr>
          <a:xfrm>
            <a:off x="334182" y="3343941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内容创作</a:t>
            </a:r>
            <a:endParaRPr lang="en-US" sz="610" dirty="0"/>
          </a:p>
        </p:txBody>
      </p:sp>
      <p:sp>
        <p:nvSpPr>
          <p:cNvPr id="38" name="Text 36"/>
          <p:cNvSpPr/>
          <p:nvPr/>
        </p:nvSpPr>
        <p:spPr>
          <a:xfrm>
            <a:off x="668364" y="3343941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社区参与</a:t>
            </a:r>
            <a:endParaRPr lang="en-US" sz="610" dirty="0"/>
          </a:p>
        </p:txBody>
      </p:sp>
      <p:sp>
        <p:nvSpPr>
          <p:cNvPr id="39" name="Text 37"/>
          <p:cNvSpPr/>
          <p:nvPr/>
        </p:nvSpPr>
        <p:spPr>
          <a:xfrm>
            <a:off x="1002547" y="3343941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知识沉淀</a:t>
            </a:r>
            <a:endParaRPr lang="en-US" sz="610" dirty="0"/>
          </a:p>
        </p:txBody>
      </p:sp>
      <p:sp>
        <p:nvSpPr>
          <p:cNvPr id="40" name="Text 38"/>
          <p:cNvSpPr/>
          <p:nvPr/>
        </p:nvSpPr>
        <p:spPr>
          <a:xfrm>
            <a:off x="0" y="3440805"/>
            <a:ext cx="648992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 01</a:t>
            </a:r>
            <a:endParaRPr lang="en-US" sz="610" dirty="0"/>
          </a:p>
        </p:txBody>
      </p:sp>
      <p:sp>
        <p:nvSpPr>
          <p:cNvPr id="41" name="Text 39"/>
          <p:cNvSpPr/>
          <p:nvPr/>
        </p:nvSpPr>
        <p:spPr>
          <a:xfrm>
            <a:off x="0" y="3552199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610" dirty="0"/>
          </a:p>
        </p:txBody>
      </p:sp>
      <p:sp>
        <p:nvSpPr>
          <p:cNvPr id="42" name="Text 40"/>
          <p:cNvSpPr/>
          <p:nvPr/>
        </p:nvSpPr>
        <p:spPr>
          <a:xfrm>
            <a:off x="96864" y="3552199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阅读指标</a:t>
            </a:r>
            <a:endParaRPr lang="en-US" sz="610" dirty="0"/>
          </a:p>
        </p:txBody>
      </p:sp>
      <p:sp>
        <p:nvSpPr>
          <p:cNvPr id="43" name="Text 41"/>
          <p:cNvSpPr/>
          <p:nvPr/>
        </p:nvSpPr>
        <p:spPr>
          <a:xfrm>
            <a:off x="0" y="3726555"/>
            <a:ext cx="9601200" cy="348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全年精读书籍12本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平均月读1本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社区文档研读覆盖6+开源项目</a:t>
            </a:r>
            <a:endParaRPr lang="en-US" sz="610" dirty="0"/>
          </a:p>
        </p:txBody>
      </p:sp>
      <p:sp>
        <p:nvSpPr>
          <p:cNvPr id="44" name="Text 42"/>
          <p:cNvSpPr/>
          <p:nvPr/>
        </p:nvSpPr>
        <p:spPr>
          <a:xfrm>
            <a:off x="0" y="4152759"/>
            <a:ext cx="648992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 02</a:t>
            </a:r>
            <a:endParaRPr lang="en-US" sz="610" dirty="0"/>
          </a:p>
        </p:txBody>
      </p:sp>
      <p:sp>
        <p:nvSpPr>
          <p:cNvPr id="45" name="Text 43"/>
          <p:cNvSpPr/>
          <p:nvPr/>
        </p:nvSpPr>
        <p:spPr>
          <a:xfrm>
            <a:off x="0" y="4264153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610" dirty="0"/>
          </a:p>
        </p:txBody>
      </p:sp>
      <p:sp>
        <p:nvSpPr>
          <p:cNvPr id="46" name="Text 44"/>
          <p:cNvSpPr/>
          <p:nvPr/>
        </p:nvSpPr>
        <p:spPr>
          <a:xfrm>
            <a:off x="96864" y="4264153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产出指标</a:t>
            </a:r>
            <a:endParaRPr lang="en-US" sz="610" dirty="0"/>
          </a:p>
        </p:txBody>
      </p:sp>
      <p:sp>
        <p:nvSpPr>
          <p:cNvPr id="47" name="Text 45"/>
          <p:cNvSpPr/>
          <p:nvPr/>
        </p:nvSpPr>
        <p:spPr>
          <a:xfrm>
            <a:off x="0" y="4438509"/>
            <a:ext cx="9601200" cy="348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技术文章与视频内容20+篇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线上分享8次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线下meetup 4场</a:t>
            </a:r>
            <a:endParaRPr lang="en-US" sz="610" dirty="0"/>
          </a:p>
        </p:txBody>
      </p:sp>
      <p:sp>
        <p:nvSpPr>
          <p:cNvPr id="48" name="Text 46"/>
          <p:cNvSpPr/>
          <p:nvPr/>
        </p:nvSpPr>
        <p:spPr>
          <a:xfrm>
            <a:off x="0" y="4864712"/>
            <a:ext cx="648992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 03</a:t>
            </a:r>
            <a:endParaRPr lang="en-US" sz="610" dirty="0"/>
          </a:p>
        </p:txBody>
      </p:sp>
      <p:sp>
        <p:nvSpPr>
          <p:cNvPr id="49" name="Text 47"/>
          <p:cNvSpPr/>
          <p:nvPr/>
        </p:nvSpPr>
        <p:spPr>
          <a:xfrm>
            <a:off x="0" y="4976106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610" dirty="0"/>
          </a:p>
        </p:txBody>
      </p:sp>
      <p:sp>
        <p:nvSpPr>
          <p:cNvPr id="50" name="Text 48"/>
          <p:cNvSpPr/>
          <p:nvPr/>
        </p:nvSpPr>
        <p:spPr>
          <a:xfrm>
            <a:off x="96864" y="4976106"/>
            <a:ext cx="464949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影响力指标</a:t>
            </a:r>
            <a:endParaRPr lang="en-US" sz="610" dirty="0"/>
          </a:p>
        </p:txBody>
      </p:sp>
      <p:sp>
        <p:nvSpPr>
          <p:cNvPr id="51" name="Text 49"/>
          <p:cNvSpPr/>
          <p:nvPr/>
        </p:nvSpPr>
        <p:spPr>
          <a:xfrm>
            <a:off x="0" y="5150462"/>
            <a:ext cx="9601200" cy="348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社区关注度稳步提升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分享场均观看人数同比增长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线下参与人数同比增长</a:t>
            </a:r>
            <a:endParaRPr lang="en-US" sz="610" dirty="0"/>
          </a:p>
        </p:txBody>
      </p:sp>
      <p:sp>
        <p:nvSpPr>
          <p:cNvPr id="52" name="Text 50"/>
          <p:cNvSpPr/>
          <p:nvPr/>
        </p:nvSpPr>
        <p:spPr>
          <a:xfrm>
            <a:off x="0" y="5576666"/>
            <a:ext cx="648992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 04</a:t>
            </a:r>
            <a:endParaRPr lang="en-US" sz="610" dirty="0"/>
          </a:p>
        </p:txBody>
      </p:sp>
      <p:sp>
        <p:nvSpPr>
          <p:cNvPr id="53" name="Text 51"/>
          <p:cNvSpPr/>
          <p:nvPr/>
        </p:nvSpPr>
        <p:spPr>
          <a:xfrm>
            <a:off x="0" y="5688060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610" dirty="0"/>
          </a:p>
        </p:txBody>
      </p:sp>
      <p:sp>
        <p:nvSpPr>
          <p:cNvPr id="54" name="Text 52"/>
          <p:cNvSpPr/>
          <p:nvPr/>
        </p:nvSpPr>
        <p:spPr>
          <a:xfrm>
            <a:off x="96864" y="5688060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成长指标</a:t>
            </a:r>
            <a:endParaRPr lang="en-US" sz="610" dirty="0"/>
          </a:p>
        </p:txBody>
      </p:sp>
      <p:sp>
        <p:nvSpPr>
          <p:cNvPr id="55" name="Text 53"/>
          <p:cNvSpPr/>
          <p:nvPr/>
        </p:nvSpPr>
        <p:spPr>
          <a:xfrm>
            <a:off x="0" y="5862416"/>
            <a:ext cx="9601200" cy="232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笔记体系从0到1搭建完成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知识沉淀效率显著改善</a:t>
            </a:r>
            <a:endParaRPr lang="en-US" sz="610" dirty="0"/>
          </a:p>
        </p:txBody>
      </p:sp>
      <p:sp>
        <p:nvSpPr>
          <p:cNvPr id="56" name="Text 54"/>
          <p:cNvSpPr/>
          <p:nvPr/>
        </p:nvSpPr>
        <p:spPr>
          <a:xfrm>
            <a:off x="0" y="6191755"/>
            <a:ext cx="106860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 05 · 短板识别</a:t>
            </a:r>
            <a:endParaRPr lang="en-US" sz="610" dirty="0"/>
          </a:p>
        </p:txBody>
      </p:sp>
      <p:sp>
        <p:nvSpPr>
          <p:cNvPr id="57" name="Text 55"/>
          <p:cNvSpPr/>
          <p:nvPr/>
        </p:nvSpPr>
        <p:spPr>
          <a:xfrm>
            <a:off x="0" y="6307992"/>
            <a:ext cx="185980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610" dirty="0"/>
          </a:p>
        </p:txBody>
      </p:sp>
      <p:sp>
        <p:nvSpPr>
          <p:cNvPr id="58" name="Text 56"/>
          <p:cNvSpPr/>
          <p:nvPr/>
        </p:nvSpPr>
        <p:spPr>
          <a:xfrm>
            <a:off x="96864" y="6307992"/>
            <a:ext cx="387458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短板识别</a:t>
            </a:r>
            <a:endParaRPr lang="en-US" sz="610" dirty="0"/>
          </a:p>
        </p:txBody>
      </p:sp>
      <p:sp>
        <p:nvSpPr>
          <p:cNvPr id="59" name="Text 57"/>
          <p:cNvSpPr/>
          <p:nvPr/>
        </p:nvSpPr>
        <p:spPr>
          <a:xfrm>
            <a:off x="0" y="6482348"/>
            <a:ext cx="9601200" cy="232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系统性开源项目代码贡献不足</a:t>
            </a:r>
            <a:endParaRPr lang="en-US" sz="610" dirty="0"/>
          </a:p>
          <a:p>
            <a:pPr algn="l" marL="342900" indent="-342900">
              <a:buSzPct val="100000"/>
              <a:buChar char="•"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论文翻译与解读产出偏少</a:t>
            </a:r>
            <a:endParaRPr lang="en-US" sz="610" dirty="0"/>
          </a:p>
        </p:txBody>
      </p:sp>
      <p:sp>
        <p:nvSpPr>
          <p:cNvPr id="60" name="Text 58"/>
          <p:cNvSpPr/>
          <p:nvPr/>
        </p:nvSpPr>
        <p:spPr>
          <a:xfrm>
            <a:off x="0" y="6811687"/>
            <a:ext cx="232475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输入</a:t>
            </a:r>
            <a:endParaRPr lang="en-US" sz="610" dirty="0"/>
          </a:p>
        </p:txBody>
      </p:sp>
      <p:sp>
        <p:nvSpPr>
          <p:cNvPr id="61" name="Text 59"/>
          <p:cNvSpPr/>
          <p:nvPr/>
        </p:nvSpPr>
        <p:spPr>
          <a:xfrm>
            <a:off x="179199" y="6811687"/>
            <a:ext cx="140453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610" dirty="0"/>
          </a:p>
        </p:txBody>
      </p:sp>
      <p:sp>
        <p:nvSpPr>
          <p:cNvPr id="62" name="Text 60"/>
          <p:cNvSpPr/>
          <p:nvPr/>
        </p:nvSpPr>
        <p:spPr>
          <a:xfrm>
            <a:off x="266377" y="6811687"/>
            <a:ext cx="232475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输出</a:t>
            </a:r>
            <a:endParaRPr lang="en-US" sz="610" dirty="0"/>
          </a:p>
        </p:txBody>
      </p:sp>
      <p:sp>
        <p:nvSpPr>
          <p:cNvPr id="63" name="Text 61"/>
          <p:cNvSpPr/>
          <p:nvPr/>
        </p:nvSpPr>
        <p:spPr>
          <a:xfrm>
            <a:off x="445576" y="6811687"/>
            <a:ext cx="140453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610" dirty="0"/>
          </a:p>
        </p:txBody>
      </p:sp>
      <p:sp>
        <p:nvSpPr>
          <p:cNvPr id="64" name="Text 62"/>
          <p:cNvSpPr/>
          <p:nvPr/>
        </p:nvSpPr>
        <p:spPr>
          <a:xfrm>
            <a:off x="532754" y="6811687"/>
            <a:ext cx="309966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影响力</a:t>
            </a:r>
            <a:endParaRPr lang="en-US" sz="610" dirty="0"/>
          </a:p>
        </p:txBody>
      </p:sp>
      <p:sp>
        <p:nvSpPr>
          <p:cNvPr id="65" name="Text 63"/>
          <p:cNvSpPr/>
          <p:nvPr/>
        </p:nvSpPr>
        <p:spPr>
          <a:xfrm>
            <a:off x="789445" y="6811687"/>
            <a:ext cx="140453" cy="920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↗</a:t>
            </a:r>
            <a:endParaRPr lang="en-US" sz="610" dirty="0"/>
          </a:p>
        </p:txBody>
      </p:sp>
      <p:sp>
        <p:nvSpPr>
          <p:cNvPr id="66" name="Text 64"/>
          <p:cNvSpPr/>
          <p:nvPr/>
        </p:nvSpPr>
        <p:spPr>
          <a:xfrm>
            <a:off x="0" y="6927924"/>
            <a:ext cx="5945150" cy="92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整体趋势</a:t>
            </a:r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：输入端精读驱动，输出端内容创作与分享为核心，影响力稳步增长；</a:t>
            </a:r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待补方向</a:t>
            </a:r>
            <a:pPr algn="l"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：系统性代码贡献与论文翻译解读，正是2023发力的关键突破口。</a:t>
            </a:r>
            <a:endParaRPr lang="en-US" sz="6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020"/>
              </a:gs>
              <a:gs pos="50000">
                <a:srgbClr val="060A14"/>
              </a:gs>
              <a:gs pos="100000">
                <a:srgbClr val="0A1020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6286500" y="-1143000"/>
            <a:ext cx="4000500" cy="40005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5750" y="228600"/>
            <a:ext cx="8572500" cy="40576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85750" y="634365"/>
            <a:ext cx="8572500" cy="0"/>
          </a:xfrm>
          <a:prstGeom prst="line">
            <a:avLst/>
          </a:prstGeom>
          <a:noFill/>
          <a:ln w="5715">
            <a:solidFill>
              <a:srgbClr val="1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" y="622935"/>
            <a:ext cx="16002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285750" y="302895"/>
            <a:ext cx="382905" cy="148590"/>
          </a:xfrm>
          <a:prstGeom prst="roundRect">
            <a:avLst>
              <a:gd name="adj" fmla="val 15385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750" y="302895"/>
            <a:ext cx="457200" cy="148590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· 06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771525" y="228600"/>
            <a:ext cx="129159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反思与收获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7800975" y="334328"/>
            <a:ext cx="74889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ANNUAL REVIEW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8538210" y="35433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52510" y="334328"/>
            <a:ext cx="2686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285750" y="760095"/>
            <a:ext cx="4217670" cy="1608147"/>
          </a:xfrm>
          <a:prstGeom prst="roundRect">
            <a:avLst>
              <a:gd name="adj" fmla="val 2843"/>
            </a:avLst>
          </a:prstGeom>
          <a:solidFill>
            <a:srgbClr val="101828"/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7195" y="868680"/>
            <a:ext cx="3954780" cy="211455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417195" y="1080135"/>
            <a:ext cx="395478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7195" y="891540"/>
            <a:ext cx="440055" cy="10287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417195" y="891540"/>
            <a:ext cx="497205" cy="10287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b="1" spc="6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914400" y="868680"/>
            <a:ext cx="103693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值得延续的正面经验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3651885" y="905828"/>
            <a:ext cx="80650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 ITEMS · CONTINUE</a:t>
            </a:r>
            <a:endParaRPr lang="en-US" sz="450" dirty="0"/>
          </a:p>
        </p:txBody>
      </p:sp>
      <p:sp>
        <p:nvSpPr>
          <p:cNvPr id="21" name="Shape 19"/>
          <p:cNvSpPr/>
          <p:nvPr/>
        </p:nvSpPr>
        <p:spPr>
          <a:xfrm>
            <a:off x="417195" y="1148715"/>
            <a:ext cx="3954780" cy="336024"/>
          </a:xfrm>
          <a:prstGeom prst="rect">
            <a:avLst/>
          </a:prstGeom>
          <a:solidFill>
            <a:srgbClr val="2196F3">
              <a:alpha val="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7195" y="1148715"/>
            <a:ext cx="0" cy="336024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205" y="1205865"/>
            <a:ext cx="274320" cy="221724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5805" y="1205865"/>
            <a:ext cx="400690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结构化沉淀有效</a:t>
            </a:r>
            <a:endParaRPr lang="en-US" sz="585" dirty="0"/>
          </a:p>
        </p:txBody>
      </p:sp>
      <p:sp>
        <p:nvSpPr>
          <p:cNvPr id="25" name="Text 23"/>
          <p:cNvSpPr/>
          <p:nvPr/>
        </p:nvSpPr>
        <p:spPr>
          <a:xfrm>
            <a:off x="725805" y="1331595"/>
            <a:ext cx="4006901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统一笔记模板让碎片化知识得以长期复用，布道内容输出更顺畅，知识资产逐步累积。</a:t>
            </a:r>
            <a:endParaRPr lang="en-US" sz="473" dirty="0"/>
          </a:p>
        </p:txBody>
      </p:sp>
      <p:sp>
        <p:nvSpPr>
          <p:cNvPr id="26" name="Shape 24"/>
          <p:cNvSpPr/>
          <p:nvPr/>
        </p:nvSpPr>
        <p:spPr>
          <a:xfrm>
            <a:off x="417195" y="1536174"/>
            <a:ext cx="3954780" cy="336024"/>
          </a:xfrm>
          <a:prstGeom prst="rect">
            <a:avLst/>
          </a:prstGeom>
          <a:solidFill>
            <a:srgbClr val="2196F3">
              <a:alpha val="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7195" y="1536174"/>
            <a:ext cx="0" cy="336024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205" y="1593324"/>
            <a:ext cx="274320" cy="221724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5805" y="1593324"/>
            <a:ext cx="400690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分享驱动学习</a:t>
            </a:r>
            <a:endParaRPr lang="en-US" sz="585" dirty="0"/>
          </a:p>
        </p:txBody>
      </p:sp>
      <p:sp>
        <p:nvSpPr>
          <p:cNvPr id="30" name="Text 28"/>
          <p:cNvSpPr/>
          <p:nvPr/>
        </p:nvSpPr>
        <p:spPr>
          <a:xfrm>
            <a:off x="725805" y="1719054"/>
            <a:ext cx="4006901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以讲促学，通过准备分享倒逼深度理解，是全年最高效的学习方式之一，认知闭环形成明显。</a:t>
            </a:r>
            <a:endParaRPr lang="en-US" sz="473" dirty="0"/>
          </a:p>
        </p:txBody>
      </p:sp>
      <p:sp>
        <p:nvSpPr>
          <p:cNvPr id="31" name="Shape 29"/>
          <p:cNvSpPr/>
          <p:nvPr/>
        </p:nvSpPr>
        <p:spPr>
          <a:xfrm>
            <a:off x="417195" y="1923633"/>
            <a:ext cx="3954780" cy="336024"/>
          </a:xfrm>
          <a:prstGeom prst="rect">
            <a:avLst/>
          </a:prstGeom>
          <a:solidFill>
            <a:srgbClr val="2196F3">
              <a:alpha val="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7195" y="1923633"/>
            <a:ext cx="0" cy="336024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205" y="1980783"/>
            <a:ext cx="274320" cy="221724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5805" y="1980783"/>
            <a:ext cx="400690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社区连接有价值</a:t>
            </a:r>
            <a:endParaRPr lang="en-US" sz="585" dirty="0"/>
          </a:p>
        </p:txBody>
      </p:sp>
      <p:sp>
        <p:nvSpPr>
          <p:cNvPr id="35" name="Text 33"/>
          <p:cNvSpPr/>
          <p:nvPr/>
        </p:nvSpPr>
        <p:spPr>
          <a:xfrm>
            <a:off x="725805" y="2106513"/>
            <a:ext cx="4006901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线下 meetup 建立的深度连接远胜纯线上互动，社群归属感显著增强，人脉网络持续扩展。</a:t>
            </a:r>
            <a:endParaRPr lang="en-US" sz="473" dirty="0"/>
          </a:p>
        </p:txBody>
      </p:sp>
      <p:sp>
        <p:nvSpPr>
          <p:cNvPr id="36" name="Shape 34"/>
          <p:cNvSpPr/>
          <p:nvPr/>
        </p:nvSpPr>
        <p:spPr>
          <a:xfrm>
            <a:off x="4640580" y="760095"/>
            <a:ext cx="4217670" cy="1608147"/>
          </a:xfrm>
          <a:prstGeom prst="roundRect">
            <a:avLst>
              <a:gd name="adj" fmla="val 2843"/>
            </a:avLst>
          </a:prstGeom>
          <a:solidFill>
            <a:srgbClr val="0E1626"/>
          </a:solidFill>
          <a:ln w="5715">
            <a:solidFill>
              <a:srgbClr val="B0BEC5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2025" y="868680"/>
            <a:ext cx="3954780" cy="211455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4772025" y="1080135"/>
            <a:ext cx="3954780" cy="0"/>
          </a:xfrm>
          <a:prstGeom prst="line">
            <a:avLst/>
          </a:prstGeom>
          <a:noFill/>
          <a:ln w="5715">
            <a:solidFill>
              <a:srgbClr val="1A2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2025" y="885825"/>
            <a:ext cx="560070" cy="114300"/>
          </a:xfrm>
          <a:prstGeom prst="roundRect">
            <a:avLst>
              <a:gd name="adj" fmla="val 15000"/>
            </a:avLst>
          </a:prstGeom>
          <a:solidFill>
            <a:srgbClr val="B0BEC5">
              <a:alpha val="12000"/>
            </a:srgbClr>
          </a:solidFill>
          <a:ln w="5715">
            <a:solidFill>
              <a:srgbClr val="B0BEC5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2025" y="885825"/>
            <a:ext cx="627278" cy="114300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50" b="1" spc="68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IMPROVE</a:t>
            </a:r>
            <a:endParaRPr lang="en-US" sz="450" dirty="0"/>
          </a:p>
        </p:txBody>
      </p:sp>
      <p:sp>
        <p:nvSpPr>
          <p:cNvPr id="41" name="Text 39"/>
          <p:cNvSpPr/>
          <p:nvPr/>
        </p:nvSpPr>
        <p:spPr>
          <a:xfrm>
            <a:off x="5389245" y="868680"/>
            <a:ext cx="1152144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关键短板：需重点突破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8086725" y="905828"/>
            <a:ext cx="7168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GAP · PRIORITY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4772025" y="1148715"/>
            <a:ext cx="3954780" cy="501759"/>
          </a:xfrm>
          <a:prstGeom prst="rect">
            <a:avLst/>
          </a:prstGeom>
          <a:solidFill>
            <a:srgbClr val="B0BEC5">
              <a:alpha val="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72025" y="1148715"/>
            <a:ext cx="0" cy="501759"/>
          </a:xfrm>
          <a:prstGeom prst="line">
            <a:avLst/>
          </a:prstGeom>
          <a:noFill/>
          <a:ln w="11430">
            <a:solidFill>
              <a:srgbClr val="B0B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3465" y="1217295"/>
            <a:ext cx="274320" cy="3645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BEC5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92065" y="1217295"/>
            <a:ext cx="398129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代码贡献需加强</a:t>
            </a:r>
            <a:endParaRPr lang="en-US" sz="630" dirty="0"/>
          </a:p>
        </p:txBody>
      </p:sp>
      <p:sp>
        <p:nvSpPr>
          <p:cNvPr id="47" name="Text 45"/>
          <p:cNvSpPr/>
          <p:nvPr/>
        </p:nvSpPr>
        <p:spPr>
          <a:xfrm>
            <a:off x="5092065" y="1354455"/>
            <a:ext cx="3981298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6A7A8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文档与内容产出丰富，但实际代码贡献偏少；在开源社区与项目实践中，代码层面的参与度明显不足，是下一阶段需重点突破的方向。</a:t>
            </a:r>
            <a:endParaRPr lang="en-US" sz="473" dirty="0"/>
          </a:p>
        </p:txBody>
      </p:sp>
      <p:sp>
        <p:nvSpPr>
          <p:cNvPr id="48" name="Shape 46"/>
          <p:cNvSpPr/>
          <p:nvPr/>
        </p:nvSpPr>
        <p:spPr>
          <a:xfrm>
            <a:off x="5092065" y="1484739"/>
            <a:ext cx="605790" cy="97155"/>
          </a:xfrm>
          <a:prstGeom prst="roundRect">
            <a:avLst>
              <a:gd name="adj" fmla="val 17647"/>
            </a:avLst>
          </a:prstGeom>
          <a:noFill/>
          <a:ln w="5715">
            <a:solidFill>
              <a:srgbClr val="B0BEC5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92065" y="1484739"/>
            <a:ext cx="678485" cy="97155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PRIORITY · HIGH</a:t>
            </a:r>
            <a:endParaRPr lang="en-US" sz="405" dirty="0"/>
          </a:p>
        </p:txBody>
      </p:sp>
      <p:sp>
        <p:nvSpPr>
          <p:cNvPr id="50" name="Shape 48"/>
          <p:cNvSpPr/>
          <p:nvPr/>
        </p:nvSpPr>
        <p:spPr>
          <a:xfrm>
            <a:off x="4772025" y="1707624"/>
            <a:ext cx="3954780" cy="17145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4772025" y="1707624"/>
            <a:ext cx="3954780" cy="0"/>
          </a:xfrm>
          <a:prstGeom prst="line">
            <a:avLst/>
          </a:prstGeom>
          <a:noFill/>
          <a:ln w="5715">
            <a:solidFill>
              <a:srgbClr val="B0BEC5">
                <a:alpha val="20000"/>
              </a:srgbClr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4772025" y="1770489"/>
            <a:ext cx="1360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▶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4882932" y="1781919"/>
            <a:ext cx="182422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反思直接决定下一阶段行动优先级：动手实践 &gt; 内容输出</a:t>
            </a:r>
            <a:endParaRPr lang="en-US" sz="450" dirty="0"/>
          </a:p>
        </p:txBody>
      </p:sp>
      <p:sp>
        <p:nvSpPr>
          <p:cNvPr id="54" name="Shape 52"/>
          <p:cNvSpPr/>
          <p:nvPr/>
        </p:nvSpPr>
        <p:spPr>
          <a:xfrm>
            <a:off x="285750" y="2482542"/>
            <a:ext cx="2796510" cy="457200"/>
          </a:xfrm>
          <a:prstGeom prst="roundRect">
            <a:avLst>
              <a:gd name="adj" fmla="val 7500"/>
            </a:avLst>
          </a:prstGeom>
          <a:solidFill>
            <a:srgbClr val="101828"/>
          </a:solidFill>
          <a:ln w="5715">
            <a:solidFill>
              <a:srgbClr val="1A2A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5750" y="2482542"/>
            <a:ext cx="17145" cy="4457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6" name="Shape 54"/>
          <p:cNvSpPr/>
          <p:nvPr/>
        </p:nvSpPr>
        <p:spPr>
          <a:xfrm>
            <a:off x="394335" y="2608272"/>
            <a:ext cx="205740" cy="205740"/>
          </a:xfrm>
          <a:prstGeom prst="ellipse">
            <a:avLst/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4335" y="2608272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630" dirty="0"/>
          </a:p>
        </p:txBody>
      </p:sp>
      <p:sp>
        <p:nvSpPr>
          <p:cNvPr id="58" name="Text 56"/>
          <p:cNvSpPr/>
          <p:nvPr/>
        </p:nvSpPr>
        <p:spPr>
          <a:xfrm>
            <a:off x="680085" y="2625417"/>
            <a:ext cx="29146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874395" y="2568267"/>
            <a:ext cx="235119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核心经验</a:t>
            </a:r>
            <a:endParaRPr lang="en-US" sz="540" dirty="0"/>
          </a:p>
        </p:txBody>
      </p:sp>
      <p:sp>
        <p:nvSpPr>
          <p:cNvPr id="60" name="Text 58"/>
          <p:cNvSpPr/>
          <p:nvPr/>
        </p:nvSpPr>
        <p:spPr>
          <a:xfrm>
            <a:off x="874395" y="2682567"/>
            <a:ext cx="235119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沉淀 · 分享 · 连接</a:t>
            </a:r>
            <a:pPr algn="l" indent="0" marL="0">
              <a:lnSpc>
                <a:spcPct val="150000"/>
              </a:lnSpc>
              <a:buNone/>
            </a:pPr>
            <a:endParaRPr lang="en-US" sz="4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三条路径持续发力</a:t>
            </a:r>
            <a:endParaRPr lang="en-US" sz="450" dirty="0"/>
          </a:p>
        </p:txBody>
      </p:sp>
      <p:sp>
        <p:nvSpPr>
          <p:cNvPr id="61" name="Shape 59"/>
          <p:cNvSpPr/>
          <p:nvPr/>
        </p:nvSpPr>
        <p:spPr>
          <a:xfrm>
            <a:off x="3173700" y="2482542"/>
            <a:ext cx="2796510" cy="457200"/>
          </a:xfrm>
          <a:prstGeom prst="roundRect">
            <a:avLst>
              <a:gd name="adj" fmla="val 7500"/>
            </a:avLst>
          </a:prstGeom>
          <a:solidFill>
            <a:srgbClr val="101828"/>
          </a:solidFill>
          <a:ln w="5715">
            <a:solidFill>
              <a:srgbClr val="1A2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73700" y="2482542"/>
            <a:ext cx="17145" cy="44577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63" name="Shape 61"/>
          <p:cNvSpPr/>
          <p:nvPr/>
        </p:nvSpPr>
        <p:spPr>
          <a:xfrm>
            <a:off x="3282285" y="2608272"/>
            <a:ext cx="205740" cy="205740"/>
          </a:xfrm>
          <a:prstGeom prst="ellipse">
            <a:avLst/>
          </a:prstGeom>
          <a:solidFill>
            <a:srgbClr val="B0BEC5">
              <a:alpha val="8000"/>
            </a:srgbClr>
          </a:solidFill>
          <a:ln w="5715">
            <a:solidFill>
              <a:srgbClr val="B0BEC5">
                <a:alpha val="2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82285" y="2608272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630" dirty="0"/>
          </a:p>
        </p:txBody>
      </p:sp>
      <p:sp>
        <p:nvSpPr>
          <p:cNvPr id="65" name="Text 63"/>
          <p:cNvSpPr/>
          <p:nvPr/>
        </p:nvSpPr>
        <p:spPr>
          <a:xfrm>
            <a:off x="3568035" y="2648277"/>
            <a:ext cx="213741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90" dirty="0"/>
          </a:p>
        </p:txBody>
      </p:sp>
      <p:sp>
        <p:nvSpPr>
          <p:cNvPr id="66" name="Text 64"/>
          <p:cNvSpPr/>
          <p:nvPr/>
        </p:nvSpPr>
        <p:spPr>
          <a:xfrm>
            <a:off x="3699480" y="2568267"/>
            <a:ext cx="242160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关键短板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3699480" y="2682567"/>
            <a:ext cx="242160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代码贡献不足</a:t>
            </a:r>
            <a:pPr algn="l" indent="0" marL="0">
              <a:lnSpc>
                <a:spcPct val="150000"/>
              </a:lnSpc>
              <a:buNone/>
            </a:pPr>
            <a:endParaRPr lang="en-US" sz="4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下一阶段重点突破方向</a:t>
            </a:r>
            <a:endParaRPr lang="en-US" sz="450" dirty="0"/>
          </a:p>
        </p:txBody>
      </p:sp>
      <p:sp>
        <p:nvSpPr>
          <p:cNvPr id="68" name="Shape 66"/>
          <p:cNvSpPr/>
          <p:nvPr/>
        </p:nvSpPr>
        <p:spPr>
          <a:xfrm>
            <a:off x="6061650" y="2482542"/>
            <a:ext cx="2796600" cy="457200"/>
          </a:xfrm>
          <a:prstGeom prst="roundRect">
            <a:avLst>
              <a:gd name="adj" fmla="val 7500"/>
            </a:avLst>
          </a:prstGeom>
          <a:solidFill>
            <a:srgbClr val="101828"/>
          </a:solidFill>
          <a:ln w="5715">
            <a:solidFill>
              <a:srgbClr val="1A2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61650" y="2482542"/>
            <a:ext cx="17145" cy="44577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FC3F7"/>
              </a:gs>
            </a:gsLst>
            <a:lin ang="5400000" scaled="0"/>
          </a:gradFill>
          <a:ln/>
        </p:spPr>
      </p:sp>
      <p:sp>
        <p:nvSpPr>
          <p:cNvPr id="70" name="Shape 68"/>
          <p:cNvSpPr/>
          <p:nvPr/>
        </p:nvSpPr>
        <p:spPr>
          <a:xfrm>
            <a:off x="6170235" y="2608272"/>
            <a:ext cx="205740" cy="205740"/>
          </a:xfrm>
          <a:prstGeom prst="ellipse">
            <a:avLst/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70235" y="2608272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72" name="Text 70"/>
          <p:cNvSpPr/>
          <p:nvPr/>
        </p:nvSpPr>
        <p:spPr>
          <a:xfrm>
            <a:off x="6455985" y="2648277"/>
            <a:ext cx="23110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90" dirty="0"/>
          </a:p>
        </p:txBody>
      </p:sp>
      <p:sp>
        <p:nvSpPr>
          <p:cNvPr id="73" name="Text 71"/>
          <p:cNvSpPr/>
          <p:nvPr/>
        </p:nvSpPr>
        <p:spPr>
          <a:xfrm>
            <a:off x="6641366" y="2568267"/>
            <a:ext cx="236129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改进方向</a:t>
            </a:r>
            <a:endParaRPr lang="en-US" sz="540" dirty="0"/>
          </a:p>
        </p:txBody>
      </p:sp>
      <p:sp>
        <p:nvSpPr>
          <p:cNvPr id="74" name="Text 72"/>
          <p:cNvSpPr/>
          <p:nvPr/>
        </p:nvSpPr>
        <p:spPr>
          <a:xfrm>
            <a:off x="6641366" y="2682567"/>
            <a:ext cx="236129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动手实践优先</a:t>
            </a:r>
            <a:pPr algn="l" indent="0" marL="0">
              <a:lnSpc>
                <a:spcPct val="150000"/>
              </a:lnSpc>
              <a:buNone/>
            </a:pPr>
            <a:endParaRPr lang="en-US" sz="4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从写文档转向写代码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285750" y="3031182"/>
            <a:ext cx="8572500" cy="320040"/>
          </a:xfrm>
          <a:prstGeom prst="roundRect">
            <a:avLst>
              <a:gd name="adj" fmla="val 10714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50000">
                <a:srgbClr val="00BCD4">
                  <a:alpha val="8000"/>
                </a:srgbClr>
              </a:gs>
              <a:gs pos="100000">
                <a:srgbClr val="2196F3">
                  <a:alpha val="12000"/>
                </a:srgbClr>
              </a:gs>
            </a:gsLst>
            <a:lin ang="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750" y="3031182"/>
            <a:ext cx="856107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7" name="Text 75"/>
          <p:cNvSpPr/>
          <p:nvPr/>
        </p:nvSpPr>
        <p:spPr>
          <a:xfrm>
            <a:off x="428625" y="3139767"/>
            <a:ext cx="78867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三条经验延续</a:t>
            </a:r>
            <a:endParaRPr lang="en-US" sz="810" dirty="0"/>
          </a:p>
        </p:txBody>
      </p:sp>
      <p:sp>
        <p:nvSpPr>
          <p:cNvPr id="78" name="Text 76"/>
          <p:cNvSpPr/>
          <p:nvPr/>
        </p:nvSpPr>
        <p:spPr>
          <a:xfrm>
            <a:off x="1205865" y="3139767"/>
            <a:ext cx="17487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90" kern="0" dirty="0">
                <a:solidFill>
                  <a:srgbClr val="7A8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810" dirty="0"/>
          </a:p>
        </p:txBody>
      </p:sp>
      <p:sp>
        <p:nvSpPr>
          <p:cNvPr id="79" name="Text 77"/>
          <p:cNvSpPr/>
          <p:nvPr/>
        </p:nvSpPr>
        <p:spPr>
          <a:xfrm>
            <a:off x="1343025" y="3139767"/>
            <a:ext cx="78867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一个短板突破</a:t>
            </a:r>
            <a:endParaRPr lang="en-US" sz="810" dirty="0"/>
          </a:p>
        </p:txBody>
      </p:sp>
      <p:sp>
        <p:nvSpPr>
          <p:cNvPr id="80" name="Shape 78"/>
          <p:cNvSpPr/>
          <p:nvPr/>
        </p:nvSpPr>
        <p:spPr>
          <a:xfrm>
            <a:off x="7029450" y="3168342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155180" y="3154055"/>
            <a:ext cx="85130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REFLECTION COMPLETE</a:t>
            </a:r>
            <a:endParaRPr lang="en-US" sz="450" dirty="0"/>
          </a:p>
        </p:txBody>
      </p:sp>
      <p:sp>
        <p:nvSpPr>
          <p:cNvPr id="82" name="Text 80"/>
          <p:cNvSpPr/>
          <p:nvPr/>
        </p:nvSpPr>
        <p:spPr>
          <a:xfrm>
            <a:off x="7995285" y="3154055"/>
            <a:ext cx="80650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A88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PHASE LOADING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24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24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000250" y="571500"/>
            <a:ext cx="5143500" cy="40005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43250" y="114300"/>
            <a:ext cx="2857500" cy="2286000"/>
          </a:xfrm>
          <a:prstGeom prst="rect">
            <a:avLst/>
          </a:prstGeom>
          <a:solidFill>
            <a:srgbClr val="00BCD4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2875" y="1428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142875" y="142875"/>
            <a:ext cx="171450" cy="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875" y="142875"/>
            <a:ext cx="0" cy="17145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9675" y="1428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829675" y="142875"/>
            <a:ext cx="171450" cy="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1125" y="142875"/>
            <a:ext cx="0" cy="17145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2875" y="48291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142875" y="5000625"/>
            <a:ext cx="171450" cy="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875" y="4829175"/>
            <a:ext cx="0" cy="17145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9675" y="48291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001125" y="4829175"/>
            <a:ext cx="0" cy="17145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9675" y="5000625"/>
            <a:ext cx="171450" cy="0"/>
          </a:xfrm>
          <a:prstGeom prst="line">
            <a:avLst/>
          </a:prstGeom>
          <a:noFill/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250" y="457200"/>
            <a:ext cx="22860" cy="22860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83855" y="685800"/>
            <a:ext cx="17145" cy="1714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4554855"/>
            <a:ext cx="17145" cy="1714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3890" y="4263390"/>
            <a:ext cx="22860" cy="22860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1714500"/>
            <a:ext cx="17145" cy="1714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98255" y="2571750"/>
            <a:ext cx="17145" cy="1714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725" y="1143000"/>
            <a:ext cx="114300" cy="1594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5" spc="180" kern="0" dirty="0">
                <a:solidFill>
                  <a:srgbClr val="B0BEC5">
                    <a:alpha val="2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 / ROADMAP / 2023 / ROADMAP</a:t>
            </a:r>
            <a:endParaRPr lang="en-US" sz="405" dirty="0"/>
          </a:p>
        </p:txBody>
      </p:sp>
      <p:sp>
        <p:nvSpPr>
          <p:cNvPr id="24" name="Text 22"/>
          <p:cNvSpPr/>
          <p:nvPr/>
        </p:nvSpPr>
        <p:spPr>
          <a:xfrm>
            <a:off x="8995410" y="1143000"/>
            <a:ext cx="114300" cy="1337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5" spc="180" kern="0" dirty="0">
                <a:solidFill>
                  <a:srgbClr val="B0BEC5">
                    <a:alpha val="2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 ONLINE · CHAPTER 02</a:t>
            </a:r>
            <a:endParaRPr lang="en-US" sz="405" dirty="0"/>
          </a:p>
        </p:txBody>
      </p:sp>
      <p:sp>
        <p:nvSpPr>
          <p:cNvPr id="25" name="Text 23"/>
          <p:cNvSpPr/>
          <p:nvPr/>
        </p:nvSpPr>
        <p:spPr>
          <a:xfrm>
            <a:off x="3963353" y="0"/>
            <a:ext cx="13633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4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A R T · 0 2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2866073" y="125730"/>
            <a:ext cx="3914775" cy="6057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960" b="1" spc="-45" kern="0" dirty="0">
                <a:solidFill>
                  <a:srgbClr val="E0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 规划展望</a:t>
            </a:r>
            <a:endParaRPr lang="en-US" sz="3960" dirty="0"/>
          </a:p>
        </p:txBody>
      </p:sp>
      <p:sp>
        <p:nvSpPr>
          <p:cNvPr id="27" name="Shape 25"/>
          <p:cNvSpPr/>
          <p:nvPr/>
        </p:nvSpPr>
        <p:spPr>
          <a:xfrm>
            <a:off x="4009073" y="771525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8" name="Shape 26"/>
          <p:cNvSpPr/>
          <p:nvPr/>
        </p:nvSpPr>
        <p:spPr>
          <a:xfrm>
            <a:off x="4557713" y="76009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7728" y="771525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0" name="Text 28"/>
          <p:cNvSpPr/>
          <p:nvPr/>
        </p:nvSpPr>
        <p:spPr>
          <a:xfrm>
            <a:off x="3531870" y="862965"/>
            <a:ext cx="232989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从反思到行动：阅读升级 · 布道深化 · 代码破局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0" y="4732020"/>
            <a:ext cx="9144000" cy="268605"/>
          </a:xfrm>
          <a:prstGeom prst="roundRect">
            <a:avLst>
              <a:gd name="adj" fmla="val 12766"/>
            </a:avLst>
          </a:prstGeom>
          <a:solidFill>
            <a:srgbClr val="111827">
              <a:alpha val="6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26118" y="484917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17558" y="4823460"/>
            <a:ext cx="3314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章节主题</a:t>
            </a:r>
            <a:endParaRPr lang="en-US" sz="450" dirty="0"/>
          </a:p>
        </p:txBody>
      </p:sp>
      <p:sp>
        <p:nvSpPr>
          <p:cNvPr id="34" name="Text 32"/>
          <p:cNvSpPr/>
          <p:nvPr/>
        </p:nvSpPr>
        <p:spPr>
          <a:xfrm>
            <a:off x="3649028" y="4806315"/>
            <a:ext cx="47434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2023规划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4220528" y="4806315"/>
            <a:ext cx="937260" cy="120015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4220528" y="4806315"/>
            <a:ext cx="0" cy="120015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09123" y="484917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00563" y="4823460"/>
            <a:ext cx="3314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核心方向</a:t>
            </a:r>
            <a:endParaRPr lang="en-US" sz="450" dirty="0"/>
          </a:p>
        </p:txBody>
      </p:sp>
      <p:sp>
        <p:nvSpPr>
          <p:cNvPr id="39" name="Text 37"/>
          <p:cNvSpPr/>
          <p:nvPr/>
        </p:nvSpPr>
        <p:spPr>
          <a:xfrm>
            <a:off x="4832033" y="4806315"/>
            <a:ext cx="2286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4个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5157788" y="4812030"/>
            <a:ext cx="942975" cy="108585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5157788" y="4812030"/>
            <a:ext cx="0" cy="108585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6383" y="484917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37823" y="4823460"/>
            <a:ext cx="2628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目标年</a:t>
            </a:r>
            <a:endParaRPr lang="en-US" sz="450" dirty="0"/>
          </a:p>
        </p:txBody>
      </p:sp>
      <p:sp>
        <p:nvSpPr>
          <p:cNvPr id="44" name="Text 42"/>
          <p:cNvSpPr/>
          <p:nvPr/>
        </p:nvSpPr>
        <p:spPr>
          <a:xfrm>
            <a:off x="5700713" y="4812030"/>
            <a:ext cx="3257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3671888" y="5034915"/>
            <a:ext cx="2016252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80" kern="0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 · CHAPTER TRANSITION · v2023</a:t>
            </a:r>
            <a:endParaRPr lang="en-US" sz="405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57300"/>
            <a:ext cx="8458200" cy="2514600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3829050" y="1971675"/>
            <a:ext cx="800100" cy="800100"/>
          </a:xfrm>
          <a:prstGeom prst="ellipse">
            <a:avLst/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A0E1A">
                  <a:alpha val="90000"/>
                </a:srgbClr>
              </a:gs>
            </a:gsLst>
            <a:path path="circle">
              <a:fillToRect l="50000" t="50000" r="50000" b="50000"/>
            </a:path>
          </a:gradFill>
          <a:ln w="5715">
            <a:solidFill>
              <a:srgbClr val="00BCD4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4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3920490" y="2063115"/>
            <a:ext cx="617220" cy="617220"/>
          </a:xfrm>
          <a:prstGeom prst="ellipse">
            <a:avLst/>
          </a:prstGeom>
          <a:noFill/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011930" y="2154555"/>
            <a:ext cx="434340" cy="434340"/>
          </a:xfrm>
          <a:prstGeom prst="ellips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dash"/>
          </a:ln>
        </p:spPr>
      </p:sp>
      <p:sp>
        <p:nvSpPr>
          <p:cNvPr id="50" name="Text 47"/>
          <p:cNvSpPr/>
          <p:nvPr/>
        </p:nvSpPr>
        <p:spPr>
          <a:xfrm>
            <a:off x="4026218" y="2245995"/>
            <a:ext cx="54292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1080" dirty="0"/>
          </a:p>
        </p:txBody>
      </p:sp>
      <p:sp>
        <p:nvSpPr>
          <p:cNvPr id="51" name="Text 48"/>
          <p:cNvSpPr/>
          <p:nvPr/>
        </p:nvSpPr>
        <p:spPr>
          <a:xfrm>
            <a:off x="4037648" y="2434590"/>
            <a:ext cx="434340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405" dirty="0"/>
          </a:p>
        </p:txBody>
      </p:sp>
      <p:sp>
        <p:nvSpPr>
          <p:cNvPr id="52" name="Shape 49"/>
          <p:cNvSpPr/>
          <p:nvPr/>
        </p:nvSpPr>
        <p:spPr>
          <a:xfrm>
            <a:off x="3257550" y="1114425"/>
            <a:ext cx="1943100" cy="512028"/>
          </a:xfrm>
          <a:prstGeom prst="roundRect">
            <a:avLst>
              <a:gd name="adj" fmla="val 11161"/>
            </a:avLst>
          </a:prstGeom>
          <a:gradFill rotWithShape="1">
            <a:gsLst>
              <a:gs pos="0">
                <a:srgbClr val="1A2035">
                  <a:alpha val="95000"/>
                </a:srgbClr>
              </a:gs>
              <a:gs pos="100000">
                <a:srgbClr val="111827">
                  <a:alpha val="95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3257550" y="1160145"/>
            <a:ext cx="17145" cy="409159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6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3388995" y="1234440"/>
            <a:ext cx="182880" cy="125730"/>
          </a:xfrm>
          <a:prstGeom prst="roundRect">
            <a:avLst>
              <a:gd name="adj" fmla="val 18182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388995" y="1234440"/>
            <a:ext cx="245745" cy="12573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56" name="Shape 53"/>
          <p:cNvSpPr/>
          <p:nvPr/>
        </p:nvSpPr>
        <p:spPr>
          <a:xfrm>
            <a:off x="3640455" y="121158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0460" y="1251585"/>
            <a:ext cx="91440" cy="91440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3880485" y="1214438"/>
            <a:ext cx="1331366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阅读升级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3388995" y="1434465"/>
            <a:ext cx="168981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在精读基础上引入翻译与解读，扩大知识输出的覆盖面</a:t>
            </a:r>
            <a:endParaRPr lang="en-US" sz="495" dirty="0"/>
          </a:p>
        </p:txBody>
      </p:sp>
      <p:sp>
        <p:nvSpPr>
          <p:cNvPr id="60" name="Shape 56"/>
          <p:cNvSpPr/>
          <p:nvPr/>
        </p:nvSpPr>
        <p:spPr>
          <a:xfrm>
            <a:off x="0" y="2085975"/>
            <a:ext cx="1714500" cy="512028"/>
          </a:xfrm>
          <a:prstGeom prst="roundRect">
            <a:avLst>
              <a:gd name="adj" fmla="val 11161"/>
            </a:avLst>
          </a:prstGeom>
          <a:gradFill rotWithShape="1">
            <a:gsLst>
              <a:gs pos="0">
                <a:srgbClr val="1A2035">
                  <a:alpha val="95000"/>
                </a:srgbClr>
              </a:gs>
              <a:gs pos="100000">
                <a:srgbClr val="111827">
                  <a:alpha val="95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61" name="Shape 57"/>
          <p:cNvSpPr/>
          <p:nvPr/>
        </p:nvSpPr>
        <p:spPr>
          <a:xfrm>
            <a:off x="0" y="2131695"/>
            <a:ext cx="17145" cy="409159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60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131445" y="2205990"/>
            <a:ext cx="194310" cy="125730"/>
          </a:xfrm>
          <a:prstGeom prst="roundRect">
            <a:avLst>
              <a:gd name="adj" fmla="val 18182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131445" y="2205990"/>
            <a:ext cx="257175" cy="12573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95" dirty="0"/>
          </a:p>
        </p:txBody>
      </p:sp>
      <p:sp>
        <p:nvSpPr>
          <p:cNvPr id="64" name="Shape 60"/>
          <p:cNvSpPr/>
          <p:nvPr/>
        </p:nvSpPr>
        <p:spPr>
          <a:xfrm>
            <a:off x="394335" y="218313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340" y="2223135"/>
            <a:ext cx="91440" cy="91440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634365" y="2185988"/>
            <a:ext cx="106299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社群共建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131445" y="2406015"/>
            <a:ext cx="162580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扩大 meetup 规模，探索开源之友社区协作新形态</a:t>
            </a:r>
            <a:endParaRPr lang="en-US" sz="495" dirty="0"/>
          </a:p>
        </p:txBody>
      </p:sp>
      <p:sp>
        <p:nvSpPr>
          <p:cNvPr id="68" name="Shape 63"/>
          <p:cNvSpPr/>
          <p:nvPr/>
        </p:nvSpPr>
        <p:spPr>
          <a:xfrm>
            <a:off x="6743700" y="2085975"/>
            <a:ext cx="1714500" cy="512028"/>
          </a:xfrm>
          <a:prstGeom prst="roundRect">
            <a:avLst>
              <a:gd name="adj" fmla="val 11161"/>
            </a:avLst>
          </a:prstGeom>
          <a:gradFill rotWithShape="1">
            <a:gsLst>
              <a:gs pos="0">
                <a:srgbClr val="1A2035">
                  <a:alpha val="95000"/>
                </a:srgbClr>
              </a:gs>
              <a:gs pos="100000">
                <a:srgbClr val="111827">
                  <a:alpha val="95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69" name="Shape 64"/>
          <p:cNvSpPr/>
          <p:nvPr/>
        </p:nvSpPr>
        <p:spPr>
          <a:xfrm>
            <a:off x="6743700" y="2131695"/>
            <a:ext cx="17145" cy="409159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60000"/>
              </a:srgbClr>
            </a:outerShdw>
          </a:effectLst>
        </p:spPr>
      </p:sp>
      <p:sp>
        <p:nvSpPr>
          <p:cNvPr id="70" name="Shape 65"/>
          <p:cNvSpPr/>
          <p:nvPr/>
        </p:nvSpPr>
        <p:spPr>
          <a:xfrm>
            <a:off x="6875145" y="2205990"/>
            <a:ext cx="194310" cy="125730"/>
          </a:xfrm>
          <a:prstGeom prst="roundRect">
            <a:avLst>
              <a:gd name="adj" fmla="val 18182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6875145" y="2205990"/>
            <a:ext cx="257175" cy="12573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72" name="Shape 67"/>
          <p:cNvSpPr/>
          <p:nvPr/>
        </p:nvSpPr>
        <p:spPr>
          <a:xfrm>
            <a:off x="7138035" y="218313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pic>
        <p:nvPicPr>
          <p:cNvPr id="7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8040" y="2223135"/>
            <a:ext cx="91440" cy="91440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7378065" y="2185988"/>
            <a:ext cx="106299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布道深化</a:t>
            </a:r>
            <a:endParaRPr lang="en-US" sz="900" dirty="0"/>
          </a:p>
        </p:txBody>
      </p:sp>
      <p:sp>
        <p:nvSpPr>
          <p:cNvPr id="75" name="Text 69"/>
          <p:cNvSpPr/>
          <p:nvPr/>
        </p:nvSpPr>
        <p:spPr>
          <a:xfrm>
            <a:off x="6875145" y="2406015"/>
            <a:ext cx="14785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从单次分享到系列课程，打造可持续的内容品牌</a:t>
            </a:r>
            <a:endParaRPr lang="en-US" sz="495" dirty="0"/>
          </a:p>
        </p:txBody>
      </p:sp>
      <p:sp>
        <p:nvSpPr>
          <p:cNvPr id="76" name="Shape 70"/>
          <p:cNvSpPr/>
          <p:nvPr/>
        </p:nvSpPr>
        <p:spPr>
          <a:xfrm>
            <a:off x="3257550" y="3171825"/>
            <a:ext cx="1943100" cy="512028"/>
          </a:xfrm>
          <a:prstGeom prst="roundRect">
            <a:avLst>
              <a:gd name="adj" fmla="val 11161"/>
            </a:avLst>
          </a:prstGeom>
          <a:gradFill rotWithShape="1">
            <a:gsLst>
              <a:gs pos="0">
                <a:srgbClr val="1A2035">
                  <a:alpha val="95000"/>
                </a:srgbClr>
              </a:gs>
              <a:gs pos="100000">
                <a:srgbClr val="111827">
                  <a:alpha val="95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77" name="Shape 71"/>
          <p:cNvSpPr/>
          <p:nvPr/>
        </p:nvSpPr>
        <p:spPr>
          <a:xfrm>
            <a:off x="3257550" y="3217545"/>
            <a:ext cx="17145" cy="409159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60000"/>
              </a:srgbClr>
            </a:outerShdw>
          </a:effectLst>
        </p:spPr>
      </p:sp>
      <p:sp>
        <p:nvSpPr>
          <p:cNvPr id="78" name="Shape 72"/>
          <p:cNvSpPr/>
          <p:nvPr/>
        </p:nvSpPr>
        <p:spPr>
          <a:xfrm>
            <a:off x="3388995" y="3291840"/>
            <a:ext cx="194310" cy="125730"/>
          </a:xfrm>
          <a:prstGeom prst="roundRect">
            <a:avLst>
              <a:gd name="adj" fmla="val 18182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3388995" y="3291840"/>
            <a:ext cx="257175" cy="12573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80" name="Shape 74"/>
          <p:cNvSpPr/>
          <p:nvPr/>
        </p:nvSpPr>
        <p:spPr>
          <a:xfrm>
            <a:off x="3651885" y="3268980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1890" y="3308985"/>
            <a:ext cx="91440" cy="91440"/>
          </a:xfrm>
          <a:prstGeom prst="rect">
            <a:avLst/>
          </a:prstGeom>
        </p:spPr>
      </p:pic>
      <p:sp>
        <p:nvSpPr>
          <p:cNvPr id="82" name="Text 75"/>
          <p:cNvSpPr/>
          <p:nvPr/>
        </p:nvSpPr>
        <p:spPr>
          <a:xfrm>
            <a:off x="3891915" y="3271838"/>
            <a:ext cx="131856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代码破局</a:t>
            </a:r>
            <a:endParaRPr lang="en-US" sz="900" dirty="0"/>
          </a:p>
        </p:txBody>
      </p:sp>
      <p:sp>
        <p:nvSpPr>
          <p:cNvPr id="83" name="Text 76"/>
          <p:cNvSpPr/>
          <p:nvPr/>
        </p:nvSpPr>
        <p:spPr>
          <a:xfrm>
            <a:off x="3388995" y="3491865"/>
            <a:ext cx="177942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选定1到2个目标项目，实现从阅读者到贡献者的角色转变</a:t>
            </a:r>
            <a:endParaRPr lang="en-US" sz="4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100000">
                <a:srgbClr val="071220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3657600" y="-2314575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4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2286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112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Text 3"/>
          <p:cNvSpPr/>
          <p:nvPr/>
        </p:nvSpPr>
        <p:spPr>
          <a:xfrm>
            <a:off x="365760" y="262890"/>
            <a:ext cx="1548994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 UPGRADE / 2023</a:t>
            </a:r>
            <a:endParaRPr lang="en-US" sz="585" dirty="0"/>
          </a:p>
        </p:txBody>
      </p:sp>
      <p:sp>
        <p:nvSpPr>
          <p:cNvPr id="6" name="Text 4"/>
          <p:cNvSpPr/>
          <p:nvPr/>
        </p:nvSpPr>
        <p:spPr>
          <a:xfrm>
            <a:off x="365760" y="377190"/>
            <a:ext cx="202311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8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pPr algn="l" indent="0" marL="0">
              <a:lnSpc>
                <a:spcPct val="105000"/>
              </a:lnSpc>
              <a:buNone/>
            </a:pPr>
            <a:r>
              <a:rPr lang="en-US" sz="198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阅读升级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365760" y="738307"/>
            <a:ext cx="262432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保持精读节奏 · 新增翻译解读 · 季度主题化推进 · 知识图谱化升级</a:t>
            </a:r>
            <a:endParaRPr lang="en-US" sz="585" dirty="0"/>
          </a:p>
        </p:txBody>
      </p:sp>
      <p:sp>
        <p:nvSpPr>
          <p:cNvPr id="8" name="Shape 6"/>
          <p:cNvSpPr/>
          <p:nvPr/>
        </p:nvSpPr>
        <p:spPr>
          <a:xfrm>
            <a:off x="7046595" y="652582"/>
            <a:ext cx="445770" cy="154305"/>
          </a:xfrm>
          <a:prstGeom prst="roundRect">
            <a:avLst>
              <a:gd name="adj" fmla="val 7407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6595" y="652582"/>
            <a:ext cx="508635" cy="154305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v2023.01</a:t>
            </a:r>
            <a:endParaRPr lang="en-US" sz="495" dirty="0"/>
          </a:p>
        </p:txBody>
      </p:sp>
      <p:sp>
        <p:nvSpPr>
          <p:cNvPr id="10" name="Shape 8"/>
          <p:cNvSpPr/>
          <p:nvPr/>
        </p:nvSpPr>
        <p:spPr>
          <a:xfrm>
            <a:off x="7549515" y="652582"/>
            <a:ext cx="605790" cy="154305"/>
          </a:xfrm>
          <a:prstGeom prst="roundRect">
            <a:avLst>
              <a:gd name="adj" fmla="val 7407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9515" y="652582"/>
            <a:ext cx="678485" cy="154305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CLOUD-NATIVE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8212455" y="652582"/>
            <a:ext cx="565785" cy="154305"/>
          </a:xfrm>
          <a:prstGeom prst="roundRect">
            <a:avLst>
              <a:gd name="adj" fmla="val 7407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2455" y="652582"/>
            <a:ext cx="633679" cy="154305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OPEN-SOURCE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365760" y="966907"/>
            <a:ext cx="1314450" cy="1068705"/>
          </a:xfrm>
          <a:prstGeom prst="roundRect">
            <a:avLst>
              <a:gd name="adj" fmla="val 4278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102340">
                  <a:alpha val="6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8730" y="795457"/>
            <a:ext cx="571500" cy="571500"/>
          </a:xfrm>
          <a:prstGeom prst="rect">
            <a:avLst/>
          </a:prstGeom>
          <a:solidFill>
            <a:srgbClr val="2196F3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2915" y="1066919"/>
            <a:ext cx="205740" cy="205740"/>
          </a:xfrm>
          <a:prstGeom prst="roundRect">
            <a:avLst>
              <a:gd name="adj" fmla="val 16667"/>
            </a:avLst>
          </a:prstGeom>
          <a:solidFill>
            <a:srgbClr val="2196F3">
              <a:alpha val="18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888" y="1101209"/>
            <a:ext cx="24688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📖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725805" y="1081207"/>
            <a:ext cx="4572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精读主线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25805" y="1201222"/>
            <a:ext cx="76809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IN-DEPTH READING</a:t>
            </a:r>
            <a:endParaRPr lang="en-US" sz="450" dirty="0"/>
          </a:p>
        </p:txBody>
      </p:sp>
      <p:sp>
        <p:nvSpPr>
          <p:cNvPr id="20" name="Shape 18"/>
          <p:cNvSpPr/>
          <p:nvPr/>
        </p:nvSpPr>
        <p:spPr>
          <a:xfrm>
            <a:off x="462915" y="1795582"/>
            <a:ext cx="1120140" cy="142875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62915" y="1795582"/>
            <a:ext cx="112014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62915" y="1852732"/>
            <a:ext cx="1885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节奏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1257300" y="1852732"/>
            <a:ext cx="388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本 / 月</a:t>
            </a:r>
            <a:endParaRPr lang="en-US" sz="495" dirty="0"/>
          </a:p>
        </p:txBody>
      </p:sp>
      <p:sp>
        <p:nvSpPr>
          <p:cNvPr id="24" name="Text 22"/>
          <p:cNvSpPr/>
          <p:nvPr/>
        </p:nvSpPr>
        <p:spPr>
          <a:xfrm>
            <a:off x="462915" y="1474738"/>
            <a:ext cx="1196950" cy="280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延续月均 1 本精读节奏，聚焦云原生与开源安全新领域，全年累计输出结构化笔记。</a:t>
            </a:r>
            <a:endParaRPr lang="en-US" sz="495" dirty="0"/>
          </a:p>
        </p:txBody>
      </p:sp>
      <p:sp>
        <p:nvSpPr>
          <p:cNvPr id="25" name="Shape 23"/>
          <p:cNvSpPr/>
          <p:nvPr/>
        </p:nvSpPr>
        <p:spPr>
          <a:xfrm>
            <a:off x="365760" y="2115622"/>
            <a:ext cx="1314450" cy="1068705"/>
          </a:xfrm>
          <a:prstGeom prst="roundRect">
            <a:avLst>
              <a:gd name="adj" fmla="val 4278"/>
            </a:avLst>
          </a:prstGeom>
          <a:gradFill rotWithShape="1">
            <a:gsLst>
              <a:gs pos="0">
                <a:srgbClr val="00BCD4">
                  <a:alpha val="12000"/>
                </a:srgbClr>
              </a:gs>
              <a:gs pos="100000">
                <a:srgbClr val="102340">
                  <a:alpha val="60000"/>
                </a:srgbClr>
              </a:gs>
            </a:gsLst>
            <a:lin ang="27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8730" y="1944172"/>
            <a:ext cx="571500" cy="57150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2915" y="2215634"/>
            <a:ext cx="205740" cy="205740"/>
          </a:xfrm>
          <a:prstGeom prst="roundRect">
            <a:avLst>
              <a:gd name="adj" fmla="val 16667"/>
            </a:avLst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888" y="2249924"/>
            <a:ext cx="24688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🌐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725805" y="2229922"/>
            <a:ext cx="4572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翻译解读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725805" y="2349937"/>
            <a:ext cx="96012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 · OUTPUT CHANNEL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462915" y="2944297"/>
            <a:ext cx="1120140" cy="142875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462915" y="2944297"/>
            <a:ext cx="1120140" cy="0"/>
          </a:xfrm>
          <a:prstGeom prst="line">
            <a:avLst/>
          </a:prstGeom>
          <a:noFill/>
          <a:ln w="5715">
            <a:solidFill>
              <a:srgbClr val="00BCD4">
                <a:alpha val="30000"/>
              </a:srgbClr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62915" y="3001447"/>
            <a:ext cx="3143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输出节奏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1177290" y="3001447"/>
            <a:ext cx="4686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2-3 篇 / 季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462915" y="2623453"/>
            <a:ext cx="1216152" cy="280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新增开源经典论文与书籍的中文翻译 / 解读任务，作为知识输出与内化的新通道。</a:t>
            </a:r>
            <a:endParaRPr lang="en-US" sz="495" dirty="0"/>
          </a:p>
        </p:txBody>
      </p:sp>
      <p:sp>
        <p:nvSpPr>
          <p:cNvPr id="36" name="Shape 34"/>
          <p:cNvSpPr/>
          <p:nvPr/>
        </p:nvSpPr>
        <p:spPr>
          <a:xfrm>
            <a:off x="1794510" y="966907"/>
            <a:ext cx="6983730" cy="2217420"/>
          </a:xfrm>
          <a:prstGeom prst="roundRect">
            <a:avLst>
              <a:gd name="adj" fmla="val 2577"/>
            </a:avLst>
          </a:prstGeom>
          <a:gradFill rotWithShape="1">
            <a:gsLst>
              <a:gs pos="0">
                <a:srgbClr val="102340">
                  <a:alpha val="55000"/>
                </a:srgbClr>
              </a:gs>
              <a:gs pos="100000">
                <a:srgbClr val="0A1628">
                  <a:alpha val="55000"/>
                </a:srgbClr>
              </a:gs>
            </a:gsLst>
            <a:lin ang="54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3460" y="1212652"/>
            <a:ext cx="103693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季度阅读主题时间轴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2177415" y="2115622"/>
            <a:ext cx="6217920" cy="11430"/>
          </a:xfrm>
          <a:prstGeom prst="rect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20000">
                <a:srgbClr val="2196F3">
                  <a:alpha val="90000"/>
                </a:srgbClr>
              </a:gs>
              <a:gs pos="80000">
                <a:srgbClr val="00BCD4">
                  <a:alpha val="90000"/>
                </a:srgbClr>
              </a:gs>
              <a:gs pos="100000">
                <a:srgbClr val="00BCD4">
                  <a:alpha val="15000"/>
                </a:srgbClr>
              </a:gs>
            </a:gsLst>
            <a:lin ang="0" scaled="0"/>
          </a:gradFill>
          <a:ln/>
        </p:spPr>
      </p:sp>
      <p:sp>
        <p:nvSpPr>
          <p:cNvPr id="39" name="Shape 37"/>
          <p:cNvSpPr/>
          <p:nvPr/>
        </p:nvSpPr>
        <p:spPr>
          <a:xfrm>
            <a:off x="2177415" y="2024182"/>
            <a:ext cx="11430" cy="194310"/>
          </a:xfrm>
          <a:prstGeom prst="rect">
            <a:avLst/>
          </a:prstGeom>
          <a:solidFill>
            <a:srgbClr val="B0BEC5">
              <a:alpha val="2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148840" y="2241352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450" dirty="0"/>
          </a:p>
        </p:txBody>
      </p:sp>
      <p:sp>
        <p:nvSpPr>
          <p:cNvPr id="41" name="Shape 39"/>
          <p:cNvSpPr/>
          <p:nvPr/>
        </p:nvSpPr>
        <p:spPr>
          <a:xfrm>
            <a:off x="4246245" y="2024182"/>
            <a:ext cx="11430" cy="194310"/>
          </a:xfrm>
          <a:prstGeom prst="rect">
            <a:avLst/>
          </a:prstGeom>
          <a:solidFill>
            <a:srgbClr val="B0BEC5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217670" y="2241352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6315075" y="2024182"/>
            <a:ext cx="11430" cy="194310"/>
          </a:xfrm>
          <a:prstGeom prst="rect">
            <a:avLst/>
          </a:prstGeom>
          <a:solidFill>
            <a:srgbClr val="B0BEC5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86500" y="2241352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8383905" y="2024182"/>
            <a:ext cx="11430" cy="194310"/>
          </a:xfrm>
          <a:prstGeom prst="rect">
            <a:avLst/>
          </a:prstGeom>
          <a:solidFill>
            <a:srgbClr val="B0BEC5">
              <a:alpha val="2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355330" y="2241352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450" dirty="0"/>
          </a:p>
        </p:txBody>
      </p:sp>
      <p:sp>
        <p:nvSpPr>
          <p:cNvPr id="47" name="Shape 45"/>
          <p:cNvSpPr/>
          <p:nvPr/>
        </p:nvSpPr>
        <p:spPr>
          <a:xfrm>
            <a:off x="2124015" y="1566982"/>
            <a:ext cx="1735485" cy="320040"/>
          </a:xfrm>
          <a:prstGeom prst="roundRect">
            <a:avLst>
              <a:gd name="adj" fmla="val 10714"/>
            </a:avLst>
          </a:prstGeom>
          <a:solidFill>
            <a:srgbClr val="102340">
              <a:alpha val="8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86880" y="1618417"/>
            <a:ext cx="37433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K8s 安全</a:t>
            </a:r>
            <a:endParaRPr lang="en-US" sz="563" dirty="0"/>
          </a:p>
        </p:txBody>
      </p:sp>
      <p:sp>
        <p:nvSpPr>
          <p:cNvPr id="49" name="Shape 47"/>
          <p:cNvSpPr/>
          <p:nvPr/>
        </p:nvSpPr>
        <p:spPr>
          <a:xfrm>
            <a:off x="2186880" y="1727002"/>
            <a:ext cx="274320" cy="108585"/>
          </a:xfrm>
          <a:prstGeom prst="roundRect">
            <a:avLst>
              <a:gd name="adj" fmla="val 10526"/>
            </a:avLst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21170" y="1749862"/>
            <a:ext cx="25717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容器安全</a:t>
            </a:r>
            <a:endParaRPr lang="en-US" sz="405" dirty="0"/>
          </a:p>
        </p:txBody>
      </p:sp>
      <p:sp>
        <p:nvSpPr>
          <p:cNvPr id="51" name="Shape 49"/>
          <p:cNvSpPr/>
          <p:nvPr/>
        </p:nvSpPr>
        <p:spPr>
          <a:xfrm>
            <a:off x="2484060" y="1727002"/>
            <a:ext cx="182880" cy="108585"/>
          </a:xfrm>
          <a:prstGeom prst="roundRect">
            <a:avLst>
              <a:gd name="adj" fmla="val 10526"/>
            </a:avLst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18350" y="1744147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RBAC</a:t>
            </a:r>
            <a:endParaRPr lang="en-US" sz="405" dirty="0"/>
          </a:p>
        </p:txBody>
      </p:sp>
      <p:sp>
        <p:nvSpPr>
          <p:cNvPr id="53" name="Shape 51"/>
          <p:cNvSpPr/>
          <p:nvPr/>
        </p:nvSpPr>
        <p:spPr>
          <a:xfrm>
            <a:off x="2988900" y="2115622"/>
            <a:ext cx="5715" cy="12573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2196F3">
                  <a:alpha val="15000"/>
                </a:srgbClr>
              </a:gs>
            </a:gsLst>
            <a:lin ang="5400000" scaled="0"/>
          </a:gradFill>
          <a:ln/>
        </p:spPr>
      </p:sp>
      <p:sp>
        <p:nvSpPr>
          <p:cNvPr id="54" name="Shape 52"/>
          <p:cNvSpPr/>
          <p:nvPr/>
        </p:nvSpPr>
        <p:spPr>
          <a:xfrm>
            <a:off x="2928893" y="1967032"/>
            <a:ext cx="125730" cy="12573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50800" dir="16200000">
              <a:srgbClr val="2196F3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940323" y="2127052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</a:t>
            </a:r>
            <a:endParaRPr lang="en-US" sz="585" dirty="0"/>
          </a:p>
        </p:txBody>
      </p:sp>
      <p:sp>
        <p:nvSpPr>
          <p:cNvPr id="56" name="Text 54"/>
          <p:cNvSpPr/>
          <p:nvPr/>
        </p:nvSpPr>
        <p:spPr>
          <a:xfrm>
            <a:off x="2146875" y="224135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📖</a:t>
            </a:r>
            <a:endParaRPr lang="en-US" sz="540" dirty="0"/>
          </a:p>
        </p:txBody>
      </p:sp>
      <p:sp>
        <p:nvSpPr>
          <p:cNvPr id="57" name="Text 55"/>
          <p:cNvSpPr/>
          <p:nvPr/>
        </p:nvSpPr>
        <p:spPr>
          <a:xfrm>
            <a:off x="2261175" y="225563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精读 3 本</a:t>
            </a:r>
            <a:endParaRPr lang="en-US" sz="450" dirty="0"/>
          </a:p>
        </p:txBody>
      </p:sp>
      <p:sp>
        <p:nvSpPr>
          <p:cNvPr id="58" name="Text 56"/>
          <p:cNvSpPr/>
          <p:nvPr/>
        </p:nvSpPr>
        <p:spPr>
          <a:xfrm>
            <a:off x="2146875" y="236708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🌐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2261175" y="238136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翻译 2 篇</a:t>
            </a:r>
            <a:endParaRPr lang="en-US" sz="450" dirty="0"/>
          </a:p>
        </p:txBody>
      </p:sp>
      <p:sp>
        <p:nvSpPr>
          <p:cNvPr id="60" name="Shape 58"/>
          <p:cNvSpPr/>
          <p:nvPr/>
        </p:nvSpPr>
        <p:spPr>
          <a:xfrm>
            <a:off x="3688497" y="1566982"/>
            <a:ext cx="1735485" cy="308610"/>
          </a:xfrm>
          <a:prstGeom prst="roundRect">
            <a:avLst>
              <a:gd name="adj" fmla="val 11111"/>
            </a:avLst>
          </a:prstGeom>
          <a:solidFill>
            <a:srgbClr val="102340">
              <a:alpha val="8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51362" y="1618417"/>
            <a:ext cx="3686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服务网格</a:t>
            </a:r>
            <a:endParaRPr lang="en-US" sz="563" dirty="0"/>
          </a:p>
        </p:txBody>
      </p:sp>
      <p:sp>
        <p:nvSpPr>
          <p:cNvPr id="62" name="Shape 60"/>
          <p:cNvSpPr/>
          <p:nvPr/>
        </p:nvSpPr>
        <p:spPr>
          <a:xfrm>
            <a:off x="3751362" y="1727002"/>
            <a:ext cx="211455" cy="97155"/>
          </a:xfrm>
          <a:prstGeom prst="roundRect">
            <a:avLst>
              <a:gd name="adj" fmla="val 11765"/>
            </a:avLst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85652" y="1744147"/>
            <a:ext cx="194310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Istio</a:t>
            </a:r>
            <a:endParaRPr lang="en-US" sz="405" dirty="0"/>
          </a:p>
        </p:txBody>
      </p:sp>
      <p:sp>
        <p:nvSpPr>
          <p:cNvPr id="64" name="Shape 62"/>
          <p:cNvSpPr/>
          <p:nvPr/>
        </p:nvSpPr>
        <p:spPr>
          <a:xfrm>
            <a:off x="3985677" y="1727002"/>
            <a:ext cx="268605" cy="97155"/>
          </a:xfrm>
          <a:prstGeom prst="roundRect">
            <a:avLst>
              <a:gd name="adj" fmla="val 11765"/>
            </a:avLst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19967" y="1744147"/>
            <a:ext cx="251460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Sidecar</a:t>
            </a:r>
            <a:endParaRPr lang="en-US" sz="405" dirty="0"/>
          </a:p>
        </p:txBody>
      </p:sp>
      <p:sp>
        <p:nvSpPr>
          <p:cNvPr id="66" name="Shape 64"/>
          <p:cNvSpPr/>
          <p:nvPr/>
        </p:nvSpPr>
        <p:spPr>
          <a:xfrm>
            <a:off x="4553382" y="2115622"/>
            <a:ext cx="5715" cy="12573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2196F3">
                  <a:alpha val="15000"/>
                </a:srgbClr>
              </a:gs>
            </a:gsLst>
            <a:lin ang="5400000" scaled="0"/>
          </a:gradFill>
          <a:ln/>
        </p:spPr>
      </p:sp>
      <p:sp>
        <p:nvSpPr>
          <p:cNvPr id="67" name="Shape 65"/>
          <p:cNvSpPr/>
          <p:nvPr/>
        </p:nvSpPr>
        <p:spPr>
          <a:xfrm>
            <a:off x="4493374" y="1967032"/>
            <a:ext cx="125730" cy="12573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50800" dir="16200000">
              <a:srgbClr val="2196F3">
                <a:alpha val="1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499089" y="2127052"/>
            <a:ext cx="18859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</a:t>
            </a:r>
            <a:endParaRPr lang="en-US" sz="585" dirty="0"/>
          </a:p>
        </p:txBody>
      </p:sp>
      <p:sp>
        <p:nvSpPr>
          <p:cNvPr id="69" name="Text 67"/>
          <p:cNvSpPr/>
          <p:nvPr/>
        </p:nvSpPr>
        <p:spPr>
          <a:xfrm>
            <a:off x="3711357" y="224135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📖</a:t>
            </a:r>
            <a:endParaRPr lang="en-US" sz="540" dirty="0"/>
          </a:p>
        </p:txBody>
      </p:sp>
      <p:sp>
        <p:nvSpPr>
          <p:cNvPr id="70" name="Text 68"/>
          <p:cNvSpPr/>
          <p:nvPr/>
        </p:nvSpPr>
        <p:spPr>
          <a:xfrm>
            <a:off x="3825657" y="225563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精读 3 本</a:t>
            </a:r>
            <a:endParaRPr lang="en-US" sz="450" dirty="0"/>
          </a:p>
        </p:txBody>
      </p:sp>
      <p:sp>
        <p:nvSpPr>
          <p:cNvPr id="71" name="Text 69"/>
          <p:cNvSpPr/>
          <p:nvPr/>
        </p:nvSpPr>
        <p:spPr>
          <a:xfrm>
            <a:off x="3711357" y="236708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🌐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3825657" y="238136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翻译 2 篇</a:t>
            </a:r>
            <a:endParaRPr lang="en-US" sz="450" dirty="0"/>
          </a:p>
        </p:txBody>
      </p:sp>
      <p:sp>
        <p:nvSpPr>
          <p:cNvPr id="73" name="Shape 71"/>
          <p:cNvSpPr/>
          <p:nvPr/>
        </p:nvSpPr>
        <p:spPr>
          <a:xfrm>
            <a:off x="5252978" y="1566982"/>
            <a:ext cx="1735485" cy="308610"/>
          </a:xfrm>
          <a:prstGeom prst="roundRect">
            <a:avLst>
              <a:gd name="adj" fmla="val 11111"/>
            </a:avLst>
          </a:prstGeom>
          <a:solidFill>
            <a:srgbClr val="102340">
              <a:alpha val="8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15843" y="1618417"/>
            <a:ext cx="4429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云原生进阶</a:t>
            </a:r>
            <a:endParaRPr lang="en-US" sz="563" dirty="0"/>
          </a:p>
        </p:txBody>
      </p:sp>
      <p:sp>
        <p:nvSpPr>
          <p:cNvPr id="75" name="Shape 73"/>
          <p:cNvSpPr/>
          <p:nvPr/>
        </p:nvSpPr>
        <p:spPr>
          <a:xfrm>
            <a:off x="5315843" y="1727002"/>
            <a:ext cx="297180" cy="97155"/>
          </a:xfrm>
          <a:prstGeom prst="roundRect">
            <a:avLst>
              <a:gd name="adj" fmla="val 11765"/>
            </a:avLst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50133" y="1744147"/>
            <a:ext cx="28003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Operator</a:t>
            </a:r>
            <a:endParaRPr lang="en-US" sz="405" dirty="0"/>
          </a:p>
        </p:txBody>
      </p:sp>
      <p:sp>
        <p:nvSpPr>
          <p:cNvPr id="77" name="Shape 75"/>
          <p:cNvSpPr/>
          <p:nvPr/>
        </p:nvSpPr>
        <p:spPr>
          <a:xfrm>
            <a:off x="5635883" y="1727002"/>
            <a:ext cx="182880" cy="97155"/>
          </a:xfrm>
          <a:prstGeom prst="roundRect">
            <a:avLst>
              <a:gd name="adj" fmla="val 11765"/>
            </a:avLst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70173" y="1744147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eBPF</a:t>
            </a:r>
            <a:endParaRPr lang="en-US" sz="405" dirty="0"/>
          </a:p>
        </p:txBody>
      </p:sp>
      <p:sp>
        <p:nvSpPr>
          <p:cNvPr id="79" name="Shape 77"/>
          <p:cNvSpPr/>
          <p:nvPr/>
        </p:nvSpPr>
        <p:spPr>
          <a:xfrm>
            <a:off x="6117863" y="2115622"/>
            <a:ext cx="5715" cy="12573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2196F3">
                  <a:alpha val="15000"/>
                </a:srgbClr>
              </a:gs>
            </a:gsLst>
            <a:lin ang="5400000" scaled="0"/>
          </a:gradFill>
          <a:ln/>
        </p:spPr>
      </p:sp>
      <p:sp>
        <p:nvSpPr>
          <p:cNvPr id="80" name="Shape 78"/>
          <p:cNvSpPr/>
          <p:nvPr/>
        </p:nvSpPr>
        <p:spPr>
          <a:xfrm>
            <a:off x="6057855" y="1967032"/>
            <a:ext cx="125730" cy="12573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50800" dir="16200000">
              <a:srgbClr val="2196F3">
                <a:alpha val="1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063570" y="2127052"/>
            <a:ext cx="18859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endParaRPr lang="en-US" sz="585" dirty="0"/>
          </a:p>
        </p:txBody>
      </p:sp>
      <p:sp>
        <p:nvSpPr>
          <p:cNvPr id="82" name="Text 80"/>
          <p:cNvSpPr/>
          <p:nvPr/>
        </p:nvSpPr>
        <p:spPr>
          <a:xfrm>
            <a:off x="5275838" y="224135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📖</a:t>
            </a:r>
            <a:endParaRPr lang="en-US" sz="540" dirty="0"/>
          </a:p>
        </p:txBody>
      </p:sp>
      <p:sp>
        <p:nvSpPr>
          <p:cNvPr id="83" name="Text 81"/>
          <p:cNvSpPr/>
          <p:nvPr/>
        </p:nvSpPr>
        <p:spPr>
          <a:xfrm>
            <a:off x="5390138" y="225563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精读 4 本</a:t>
            </a:r>
            <a:endParaRPr lang="en-US" sz="450" dirty="0"/>
          </a:p>
        </p:txBody>
      </p:sp>
      <p:sp>
        <p:nvSpPr>
          <p:cNvPr id="84" name="Text 82"/>
          <p:cNvSpPr/>
          <p:nvPr/>
        </p:nvSpPr>
        <p:spPr>
          <a:xfrm>
            <a:off x="5275838" y="236708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🌐</a:t>
            </a:r>
            <a:endParaRPr lang="en-US" sz="540" dirty="0"/>
          </a:p>
        </p:txBody>
      </p:sp>
      <p:sp>
        <p:nvSpPr>
          <p:cNvPr id="85" name="Text 83"/>
          <p:cNvSpPr/>
          <p:nvPr/>
        </p:nvSpPr>
        <p:spPr>
          <a:xfrm>
            <a:off x="5390138" y="238136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翻译 2 篇</a:t>
            </a:r>
            <a:endParaRPr lang="en-US" sz="450" dirty="0"/>
          </a:p>
        </p:txBody>
      </p:sp>
      <p:sp>
        <p:nvSpPr>
          <p:cNvPr id="86" name="Shape 84"/>
          <p:cNvSpPr/>
          <p:nvPr/>
        </p:nvSpPr>
        <p:spPr>
          <a:xfrm>
            <a:off x="6817459" y="1566982"/>
            <a:ext cx="1735485" cy="308610"/>
          </a:xfrm>
          <a:prstGeom prst="roundRect">
            <a:avLst>
              <a:gd name="adj" fmla="val 11111"/>
            </a:avLst>
          </a:prstGeom>
          <a:solidFill>
            <a:srgbClr val="102340">
              <a:alpha val="85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80324" y="1618417"/>
            <a:ext cx="59150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开源安全新领域</a:t>
            </a:r>
            <a:endParaRPr lang="en-US" sz="563" dirty="0"/>
          </a:p>
        </p:txBody>
      </p:sp>
      <p:sp>
        <p:nvSpPr>
          <p:cNvPr id="88" name="Shape 86"/>
          <p:cNvSpPr/>
          <p:nvPr/>
        </p:nvSpPr>
        <p:spPr>
          <a:xfrm>
            <a:off x="6880324" y="1727002"/>
            <a:ext cx="182880" cy="97155"/>
          </a:xfrm>
          <a:prstGeom prst="roundRect">
            <a:avLst>
              <a:gd name="adj" fmla="val 11765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14614" y="1744147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SBOM</a:t>
            </a:r>
            <a:endParaRPr lang="en-US" sz="405" dirty="0"/>
          </a:p>
        </p:txBody>
      </p:sp>
      <p:sp>
        <p:nvSpPr>
          <p:cNvPr id="90" name="Shape 88"/>
          <p:cNvSpPr/>
          <p:nvPr/>
        </p:nvSpPr>
        <p:spPr>
          <a:xfrm>
            <a:off x="7086064" y="1727002"/>
            <a:ext cx="411480" cy="97155"/>
          </a:xfrm>
          <a:prstGeom prst="roundRect">
            <a:avLst>
              <a:gd name="adj" fmla="val 11765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20354" y="1744147"/>
            <a:ext cx="39433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Supply-Chain</a:t>
            </a:r>
            <a:endParaRPr lang="en-US" sz="405" dirty="0"/>
          </a:p>
        </p:txBody>
      </p:sp>
      <p:sp>
        <p:nvSpPr>
          <p:cNvPr id="92" name="Shape 90"/>
          <p:cNvSpPr/>
          <p:nvPr/>
        </p:nvSpPr>
        <p:spPr>
          <a:xfrm>
            <a:off x="7682344" y="2115622"/>
            <a:ext cx="5715" cy="125730"/>
          </a:xfrm>
          <a:prstGeom prst="rect">
            <a:avLst/>
          </a:prstGeom>
          <a:gradFill rotWithShape="1">
            <a:gsLst>
              <a:gs pos="0">
                <a:srgbClr val="00BCD4">
                  <a:alpha val="60000"/>
                </a:srgbClr>
              </a:gs>
              <a:gs pos="100000">
                <a:srgbClr val="00BCD4">
                  <a:alpha val="15000"/>
                </a:srgbClr>
              </a:gs>
            </a:gsLst>
            <a:lin ang="5400000" scaled="0"/>
          </a:gradFill>
          <a:ln/>
        </p:spPr>
      </p:sp>
      <p:sp>
        <p:nvSpPr>
          <p:cNvPr id="93" name="Shape 91"/>
          <p:cNvSpPr/>
          <p:nvPr/>
        </p:nvSpPr>
        <p:spPr>
          <a:xfrm>
            <a:off x="7622337" y="1967032"/>
            <a:ext cx="125730" cy="1257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01600" dist="50800" dir="16200000">
              <a:srgbClr val="00BCD4">
                <a:alpha val="15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625194" y="2127052"/>
            <a:ext cx="194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</a:t>
            </a:r>
            <a:endParaRPr lang="en-US" sz="585" dirty="0"/>
          </a:p>
        </p:txBody>
      </p:sp>
      <p:sp>
        <p:nvSpPr>
          <p:cNvPr id="95" name="Text 93"/>
          <p:cNvSpPr/>
          <p:nvPr/>
        </p:nvSpPr>
        <p:spPr>
          <a:xfrm>
            <a:off x="6840319" y="224135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📖</a:t>
            </a:r>
            <a:endParaRPr lang="en-US" sz="540" dirty="0"/>
          </a:p>
        </p:txBody>
      </p:sp>
      <p:sp>
        <p:nvSpPr>
          <p:cNvPr id="96" name="Text 94"/>
          <p:cNvSpPr/>
          <p:nvPr/>
        </p:nvSpPr>
        <p:spPr>
          <a:xfrm>
            <a:off x="6954619" y="225563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精读 4 本</a:t>
            </a:r>
            <a:endParaRPr lang="en-US" sz="450" dirty="0"/>
          </a:p>
        </p:txBody>
      </p:sp>
      <p:sp>
        <p:nvSpPr>
          <p:cNvPr id="97" name="Text 95"/>
          <p:cNvSpPr/>
          <p:nvPr/>
        </p:nvSpPr>
        <p:spPr>
          <a:xfrm>
            <a:off x="6840319" y="2367082"/>
            <a:ext cx="1645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🌐</a:t>
            </a:r>
            <a:endParaRPr lang="en-US" sz="540" dirty="0"/>
          </a:p>
        </p:txBody>
      </p:sp>
      <p:sp>
        <p:nvSpPr>
          <p:cNvPr id="98" name="Text 96"/>
          <p:cNvSpPr/>
          <p:nvPr/>
        </p:nvSpPr>
        <p:spPr>
          <a:xfrm>
            <a:off x="6954619" y="2381369"/>
            <a:ext cx="331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解读 2 篇</a:t>
            </a:r>
            <a:endParaRPr lang="en-US" sz="450" dirty="0"/>
          </a:p>
        </p:txBody>
      </p:sp>
      <p:sp>
        <p:nvSpPr>
          <p:cNvPr id="99" name="Shape 97"/>
          <p:cNvSpPr/>
          <p:nvPr/>
        </p:nvSpPr>
        <p:spPr>
          <a:xfrm>
            <a:off x="365760" y="3310057"/>
            <a:ext cx="2043113" cy="1399103"/>
          </a:xfrm>
          <a:prstGeom prst="roundRect">
            <a:avLst>
              <a:gd name="adj" fmla="val 4085"/>
            </a:avLst>
          </a:prstGeom>
          <a:gradFill rotWithShape="1">
            <a:gsLst>
              <a:gs pos="0">
                <a:srgbClr val="102340">
                  <a:alpha val="85000"/>
                </a:srgbClr>
              </a:gs>
              <a:gs pos="100000">
                <a:srgbClr val="071220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365760" y="3310057"/>
            <a:ext cx="2031683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1" name="Shape 99"/>
          <p:cNvSpPr/>
          <p:nvPr/>
        </p:nvSpPr>
        <p:spPr>
          <a:xfrm>
            <a:off x="1940243" y="4240527"/>
            <a:ext cx="685800" cy="6858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4345" y="3455789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GOAL</a:t>
            </a:r>
            <a:endParaRPr lang="en-US" sz="495" dirty="0"/>
          </a:p>
        </p:txBody>
      </p:sp>
      <p:sp>
        <p:nvSpPr>
          <p:cNvPr id="103" name="Shape 101"/>
          <p:cNvSpPr/>
          <p:nvPr/>
        </p:nvSpPr>
        <p:spPr>
          <a:xfrm>
            <a:off x="2140268" y="3418642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92774" y="3438644"/>
            <a:ext cx="2194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📖</a:t>
            </a:r>
            <a:endParaRPr lang="en-US" sz="720" dirty="0"/>
          </a:p>
        </p:txBody>
      </p:sp>
      <p:sp>
        <p:nvSpPr>
          <p:cNvPr id="105" name="Text 103"/>
          <p:cNvSpPr/>
          <p:nvPr/>
        </p:nvSpPr>
        <p:spPr>
          <a:xfrm>
            <a:off x="474345" y="3681532"/>
            <a:ext cx="60007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精读节奏保持</a:t>
            </a:r>
            <a:endParaRPr lang="en-US" sz="675" dirty="0"/>
          </a:p>
        </p:txBody>
      </p:sp>
      <p:sp>
        <p:nvSpPr>
          <p:cNvPr id="106" name="Text 104"/>
          <p:cNvSpPr/>
          <p:nvPr/>
        </p:nvSpPr>
        <p:spPr>
          <a:xfrm>
            <a:off x="474345" y="3807262"/>
            <a:ext cx="548640" cy="28003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771525" y="3950137"/>
            <a:ext cx="36004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 / 年</a:t>
            </a:r>
            <a:endParaRPr lang="en-US" sz="585" dirty="0"/>
          </a:p>
        </p:txBody>
      </p:sp>
      <p:sp>
        <p:nvSpPr>
          <p:cNvPr id="108" name="Text 106"/>
          <p:cNvSpPr/>
          <p:nvPr/>
        </p:nvSpPr>
        <p:spPr>
          <a:xfrm>
            <a:off x="474345" y="4098727"/>
            <a:ext cx="115214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YEARLY TARGET · 14 BOOKS</a:t>
            </a:r>
            <a:endParaRPr lang="en-US" sz="450" dirty="0"/>
          </a:p>
        </p:txBody>
      </p:sp>
      <p:sp>
        <p:nvSpPr>
          <p:cNvPr id="109" name="Shape 107"/>
          <p:cNvSpPr/>
          <p:nvPr/>
        </p:nvSpPr>
        <p:spPr>
          <a:xfrm>
            <a:off x="474345" y="4230172"/>
            <a:ext cx="1825943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0" name="Text 108"/>
          <p:cNvSpPr/>
          <p:nvPr/>
        </p:nvSpPr>
        <p:spPr>
          <a:xfrm>
            <a:off x="474345" y="4281607"/>
            <a:ext cx="1907438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延续月均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本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精读节奏，聚焦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云原生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开源安全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新领域，结构化笔记沉淀。</a:t>
            </a:r>
            <a:endParaRPr lang="en-US" sz="495" dirty="0"/>
          </a:p>
        </p:txBody>
      </p:sp>
      <p:sp>
        <p:nvSpPr>
          <p:cNvPr id="111" name="Shape 109"/>
          <p:cNvSpPr/>
          <p:nvPr/>
        </p:nvSpPr>
        <p:spPr>
          <a:xfrm>
            <a:off x="2488883" y="3310057"/>
            <a:ext cx="2043113" cy="1399103"/>
          </a:xfrm>
          <a:prstGeom prst="roundRect">
            <a:avLst>
              <a:gd name="adj" fmla="val 4085"/>
            </a:avLst>
          </a:prstGeom>
          <a:gradFill rotWithShape="1">
            <a:gsLst>
              <a:gs pos="0">
                <a:srgbClr val="102340">
                  <a:alpha val="85000"/>
                </a:srgbClr>
              </a:gs>
              <a:gs pos="100000">
                <a:srgbClr val="071220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2488883" y="3310057"/>
            <a:ext cx="2031683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13" name="Shape 111"/>
          <p:cNvSpPr/>
          <p:nvPr/>
        </p:nvSpPr>
        <p:spPr>
          <a:xfrm>
            <a:off x="4063365" y="4240527"/>
            <a:ext cx="685800" cy="6858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114" name="Text 112"/>
          <p:cNvSpPr/>
          <p:nvPr/>
        </p:nvSpPr>
        <p:spPr>
          <a:xfrm>
            <a:off x="2597468" y="3455789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GOAL</a:t>
            </a:r>
            <a:endParaRPr lang="en-US" sz="495" dirty="0"/>
          </a:p>
        </p:txBody>
      </p:sp>
      <p:sp>
        <p:nvSpPr>
          <p:cNvPr id="115" name="Shape 113"/>
          <p:cNvSpPr/>
          <p:nvPr/>
        </p:nvSpPr>
        <p:spPr>
          <a:xfrm>
            <a:off x="4263390" y="3418642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315897" y="3438644"/>
            <a:ext cx="2194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🌐</a:t>
            </a:r>
            <a:endParaRPr lang="en-US" sz="720" dirty="0"/>
          </a:p>
        </p:txBody>
      </p:sp>
      <p:sp>
        <p:nvSpPr>
          <p:cNvPr id="117" name="Text 115"/>
          <p:cNvSpPr/>
          <p:nvPr/>
        </p:nvSpPr>
        <p:spPr>
          <a:xfrm>
            <a:off x="2597468" y="3681532"/>
            <a:ext cx="68580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翻译与解读新增</a:t>
            </a:r>
            <a:endParaRPr lang="en-US" sz="675" dirty="0"/>
          </a:p>
        </p:txBody>
      </p:sp>
      <p:sp>
        <p:nvSpPr>
          <p:cNvPr id="118" name="Text 116"/>
          <p:cNvSpPr/>
          <p:nvPr/>
        </p:nvSpPr>
        <p:spPr>
          <a:xfrm>
            <a:off x="2597468" y="3807262"/>
            <a:ext cx="868680" cy="28003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8-10</a:t>
            </a:r>
            <a:endParaRPr lang="en-US" sz="1800" dirty="0"/>
          </a:p>
        </p:txBody>
      </p:sp>
      <p:sp>
        <p:nvSpPr>
          <p:cNvPr id="119" name="Text 117"/>
          <p:cNvSpPr/>
          <p:nvPr/>
        </p:nvSpPr>
        <p:spPr>
          <a:xfrm>
            <a:off x="3157538" y="3950137"/>
            <a:ext cx="36004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篇 / 年</a:t>
            </a:r>
            <a:endParaRPr lang="en-US" sz="585" dirty="0"/>
          </a:p>
        </p:txBody>
      </p:sp>
      <p:sp>
        <p:nvSpPr>
          <p:cNvPr id="120" name="Text 118"/>
          <p:cNvSpPr/>
          <p:nvPr/>
        </p:nvSpPr>
        <p:spPr>
          <a:xfrm>
            <a:off x="2597468" y="4098727"/>
            <a:ext cx="124815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 OUTPUT · 8-10 ARTICLES</a:t>
            </a:r>
            <a:endParaRPr lang="en-US" sz="450" dirty="0"/>
          </a:p>
        </p:txBody>
      </p:sp>
      <p:sp>
        <p:nvSpPr>
          <p:cNvPr id="121" name="Shape 119"/>
          <p:cNvSpPr/>
          <p:nvPr/>
        </p:nvSpPr>
        <p:spPr>
          <a:xfrm>
            <a:off x="2597468" y="4230172"/>
            <a:ext cx="1825943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2" name="Text 120"/>
          <p:cNvSpPr/>
          <p:nvPr/>
        </p:nvSpPr>
        <p:spPr>
          <a:xfrm>
            <a:off x="2597468" y="4281607"/>
            <a:ext cx="1984248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新增开源经典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论文与书籍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的中文翻译 / 解读任务，作为知识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输出与内化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的新通道。</a:t>
            </a:r>
            <a:endParaRPr lang="en-US" sz="495" dirty="0"/>
          </a:p>
        </p:txBody>
      </p:sp>
      <p:sp>
        <p:nvSpPr>
          <p:cNvPr id="123" name="Shape 121"/>
          <p:cNvSpPr/>
          <p:nvPr/>
        </p:nvSpPr>
        <p:spPr>
          <a:xfrm>
            <a:off x="4612005" y="3310057"/>
            <a:ext cx="2043113" cy="1399103"/>
          </a:xfrm>
          <a:prstGeom prst="roundRect">
            <a:avLst>
              <a:gd name="adj" fmla="val 4085"/>
            </a:avLst>
          </a:prstGeom>
          <a:gradFill rotWithShape="1">
            <a:gsLst>
              <a:gs pos="0">
                <a:srgbClr val="102340">
                  <a:alpha val="85000"/>
                </a:srgbClr>
              </a:gs>
              <a:gs pos="100000">
                <a:srgbClr val="071220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4612005" y="3310057"/>
            <a:ext cx="2031683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25" name="Shape 123"/>
          <p:cNvSpPr/>
          <p:nvPr/>
        </p:nvSpPr>
        <p:spPr>
          <a:xfrm>
            <a:off x="6186488" y="4240527"/>
            <a:ext cx="685800" cy="6858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126" name="Text 124"/>
          <p:cNvSpPr/>
          <p:nvPr/>
        </p:nvSpPr>
        <p:spPr>
          <a:xfrm>
            <a:off x="4720590" y="3455789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GOAL</a:t>
            </a:r>
            <a:endParaRPr lang="en-US" sz="495" dirty="0"/>
          </a:p>
        </p:txBody>
      </p:sp>
      <p:sp>
        <p:nvSpPr>
          <p:cNvPr id="127" name="Shape 125"/>
          <p:cNvSpPr/>
          <p:nvPr/>
        </p:nvSpPr>
        <p:spPr>
          <a:xfrm>
            <a:off x="6386513" y="3418642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439019" y="3438644"/>
            <a:ext cx="28346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🗂️</a:t>
            </a:r>
            <a:endParaRPr lang="en-US" sz="720" dirty="0"/>
          </a:p>
        </p:txBody>
      </p:sp>
      <p:sp>
        <p:nvSpPr>
          <p:cNvPr id="129" name="Text 127"/>
          <p:cNvSpPr/>
          <p:nvPr/>
        </p:nvSpPr>
        <p:spPr>
          <a:xfrm>
            <a:off x="4720590" y="3681532"/>
            <a:ext cx="51435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主题化阅读</a:t>
            </a:r>
            <a:endParaRPr lang="en-US" sz="675" dirty="0"/>
          </a:p>
        </p:txBody>
      </p:sp>
      <p:sp>
        <p:nvSpPr>
          <p:cNvPr id="130" name="Text 128"/>
          <p:cNvSpPr/>
          <p:nvPr/>
        </p:nvSpPr>
        <p:spPr>
          <a:xfrm>
            <a:off x="4720590" y="3807262"/>
            <a:ext cx="388620" cy="28003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31" name="Text 129"/>
          <p:cNvSpPr/>
          <p:nvPr/>
        </p:nvSpPr>
        <p:spPr>
          <a:xfrm>
            <a:off x="4914900" y="3950137"/>
            <a:ext cx="50863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个主题 / 年</a:t>
            </a:r>
            <a:endParaRPr lang="en-US" sz="585" dirty="0"/>
          </a:p>
        </p:txBody>
      </p:sp>
      <p:sp>
        <p:nvSpPr>
          <p:cNvPr id="132" name="Text 130"/>
          <p:cNvSpPr/>
          <p:nvPr/>
        </p:nvSpPr>
        <p:spPr>
          <a:xfrm>
            <a:off x="4720590" y="4098727"/>
            <a:ext cx="115214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QUARTERLY THEMES · Q1-Q4</a:t>
            </a:r>
            <a:endParaRPr lang="en-US" sz="450" dirty="0"/>
          </a:p>
        </p:txBody>
      </p:sp>
      <p:sp>
        <p:nvSpPr>
          <p:cNvPr id="133" name="Shape 131"/>
          <p:cNvSpPr/>
          <p:nvPr/>
        </p:nvSpPr>
        <p:spPr>
          <a:xfrm>
            <a:off x="4720590" y="4230172"/>
            <a:ext cx="1825943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4" name="Text 132"/>
          <p:cNvSpPr/>
          <p:nvPr/>
        </p:nvSpPr>
        <p:spPr>
          <a:xfrm>
            <a:off x="4720590" y="4281607"/>
            <a:ext cx="2016252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按季度设定阅读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主题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，围绕 K8s 安全 / 服务网格 / 云原生进阶 / 开源安全实现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系统化知识构建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495" dirty="0"/>
          </a:p>
        </p:txBody>
      </p:sp>
      <p:sp>
        <p:nvSpPr>
          <p:cNvPr id="135" name="Shape 133"/>
          <p:cNvSpPr/>
          <p:nvPr/>
        </p:nvSpPr>
        <p:spPr>
          <a:xfrm>
            <a:off x="6735128" y="3310057"/>
            <a:ext cx="2043113" cy="1399103"/>
          </a:xfrm>
          <a:prstGeom prst="roundRect">
            <a:avLst>
              <a:gd name="adj" fmla="val 4085"/>
            </a:avLst>
          </a:prstGeom>
          <a:gradFill rotWithShape="1">
            <a:gsLst>
              <a:gs pos="0">
                <a:srgbClr val="102340">
                  <a:alpha val="85000"/>
                </a:srgbClr>
              </a:gs>
              <a:gs pos="100000">
                <a:srgbClr val="071220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6735128" y="3310057"/>
            <a:ext cx="2031683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37" name="Shape 135"/>
          <p:cNvSpPr/>
          <p:nvPr/>
        </p:nvSpPr>
        <p:spPr>
          <a:xfrm>
            <a:off x="8309610" y="4240527"/>
            <a:ext cx="685800" cy="685800"/>
          </a:xfrm>
          <a:prstGeom prst="rect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138" name="Text 136"/>
          <p:cNvSpPr/>
          <p:nvPr/>
        </p:nvSpPr>
        <p:spPr>
          <a:xfrm>
            <a:off x="6843713" y="3455789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GOAL</a:t>
            </a:r>
            <a:endParaRPr lang="en-US" sz="495" dirty="0"/>
          </a:p>
        </p:txBody>
      </p:sp>
      <p:sp>
        <p:nvSpPr>
          <p:cNvPr id="139" name="Shape 137"/>
          <p:cNvSpPr/>
          <p:nvPr/>
        </p:nvSpPr>
        <p:spPr>
          <a:xfrm>
            <a:off x="8509635" y="3418642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562142" y="3438644"/>
            <a:ext cx="28346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🕸️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6843713" y="3681532"/>
            <a:ext cx="60007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笔记体系升级</a:t>
            </a:r>
            <a:endParaRPr lang="en-US" sz="675" dirty="0"/>
          </a:p>
        </p:txBody>
      </p:sp>
      <p:sp>
        <p:nvSpPr>
          <p:cNvPr id="142" name="Text 140"/>
          <p:cNvSpPr/>
          <p:nvPr/>
        </p:nvSpPr>
        <p:spPr>
          <a:xfrm>
            <a:off x="6843713" y="3807262"/>
            <a:ext cx="560070" cy="28003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KG</a:t>
            </a:r>
            <a:endParaRPr lang="en-US" sz="1800" dirty="0"/>
          </a:p>
        </p:txBody>
      </p:sp>
      <p:sp>
        <p:nvSpPr>
          <p:cNvPr id="143" name="Text 141"/>
          <p:cNvSpPr/>
          <p:nvPr/>
        </p:nvSpPr>
        <p:spPr>
          <a:xfrm>
            <a:off x="7209473" y="3950137"/>
            <a:ext cx="76809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Knowledge Graph</a:t>
            </a:r>
            <a:endParaRPr lang="en-US" sz="585" dirty="0"/>
          </a:p>
        </p:txBody>
      </p:sp>
      <p:sp>
        <p:nvSpPr>
          <p:cNvPr id="144" name="Text 142"/>
          <p:cNvSpPr/>
          <p:nvPr/>
        </p:nvSpPr>
        <p:spPr>
          <a:xfrm>
            <a:off x="6843713" y="4098727"/>
            <a:ext cx="144018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TOOL UPGRADE · KNOWLEDGE GRAPH</a:t>
            </a:r>
            <a:endParaRPr lang="en-US" sz="450" dirty="0"/>
          </a:p>
        </p:txBody>
      </p:sp>
      <p:sp>
        <p:nvSpPr>
          <p:cNvPr id="145" name="Shape 143"/>
          <p:cNvSpPr/>
          <p:nvPr/>
        </p:nvSpPr>
        <p:spPr>
          <a:xfrm>
            <a:off x="6843713" y="4230172"/>
            <a:ext cx="1825943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6" name="Text 144"/>
          <p:cNvSpPr/>
          <p:nvPr/>
        </p:nvSpPr>
        <p:spPr>
          <a:xfrm>
            <a:off x="6843713" y="4281607"/>
            <a:ext cx="1990649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引入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知识图谱工具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，将分散笔记从文档升级为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0E6E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可检索、可关联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的知识网络。</a:t>
            </a:r>
            <a:endParaRPr lang="en-US" sz="495" dirty="0"/>
          </a:p>
        </p:txBody>
      </p:sp>
      <p:sp>
        <p:nvSpPr>
          <p:cNvPr id="147" name="Shape 145"/>
          <p:cNvSpPr/>
          <p:nvPr/>
        </p:nvSpPr>
        <p:spPr>
          <a:xfrm>
            <a:off x="365760" y="4789170"/>
            <a:ext cx="8412480" cy="125730"/>
          </a:xfrm>
          <a:prstGeom prst="rect">
            <a:avLst/>
          </a:prstGeom>
          <a:noFill/>
          <a:ln/>
        </p:spPr>
      </p:sp>
      <p:sp>
        <p:nvSpPr>
          <p:cNvPr id="148" name="Shape 146"/>
          <p:cNvSpPr/>
          <p:nvPr/>
        </p:nvSpPr>
        <p:spPr>
          <a:xfrm>
            <a:off x="365760" y="4789170"/>
            <a:ext cx="841248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149" name="Text 147"/>
          <p:cNvSpPr/>
          <p:nvPr/>
        </p:nvSpPr>
        <p:spPr>
          <a:xfrm>
            <a:off x="365760" y="4840605"/>
            <a:ext cx="264033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 2023 READING UPGRADE · IN-DEPTH + OUTPUT + THEME + KG</a:t>
            </a:r>
            <a:endParaRPr lang="en-US" sz="450" dirty="0"/>
          </a:p>
        </p:txBody>
      </p:sp>
      <p:sp>
        <p:nvSpPr>
          <p:cNvPr id="150" name="Text 148"/>
          <p:cNvSpPr/>
          <p:nvPr/>
        </p:nvSpPr>
        <p:spPr>
          <a:xfrm>
            <a:off x="7020878" y="4840605"/>
            <a:ext cx="196824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B0BEC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PAGE 01 / 01 · CLOUD-NATIVE &amp; OPEN-SOURCE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50A16"/>
              </a:gs>
              <a:gs pos="55000">
                <a:srgbClr val="0A1528"/>
              </a:gs>
              <a:gs pos="100000">
                <a:srgbClr val="070E1B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4114800" y="-36004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28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4572000" y="282892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112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/>
              </a:gs>
              <a:gs pos="50000">
                <a:srgbClr val="00BCD4"/>
              </a:gs>
              <a:gs pos="8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342900" y="262890"/>
            <a:ext cx="232989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PAGE 09 · CORE CHAPTER —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342900" y="451485"/>
            <a:ext cx="742950" cy="291465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18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90" kern="0" dirty="0">
                <a:solidFill>
                  <a:srgbClr val="E4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</a:t>
            </a:r>
            <a:endParaRPr lang="en-US" sz="1890" dirty="0"/>
          </a:p>
        </p:txBody>
      </p:sp>
      <p:sp>
        <p:nvSpPr>
          <p:cNvPr id="8" name="Shape 6"/>
          <p:cNvSpPr/>
          <p:nvPr/>
        </p:nvSpPr>
        <p:spPr>
          <a:xfrm>
            <a:off x="880110" y="57453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451485"/>
            <a:ext cx="491490" cy="291465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18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90" kern="0" dirty="0">
                <a:solidFill>
                  <a:srgbClr val="E4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endParaRPr lang="en-US" sz="1890" dirty="0"/>
          </a:p>
        </p:txBody>
      </p:sp>
      <p:sp>
        <p:nvSpPr>
          <p:cNvPr id="10" name="Shape 8"/>
          <p:cNvSpPr/>
          <p:nvPr/>
        </p:nvSpPr>
        <p:spPr>
          <a:xfrm>
            <a:off x="1291590" y="57453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451485"/>
            <a:ext cx="1245870" cy="291465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18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90" kern="0" dirty="0">
                <a:solidFill>
                  <a:srgbClr val="E4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代码突破</a:t>
            </a:r>
            <a:endParaRPr lang="en-US" sz="1890" dirty="0"/>
          </a:p>
        </p:txBody>
      </p:sp>
      <p:sp>
        <p:nvSpPr>
          <p:cNvPr id="12" name="Text 10"/>
          <p:cNvSpPr/>
          <p:nvPr/>
        </p:nvSpPr>
        <p:spPr>
          <a:xfrm>
            <a:off x="342900" y="811530"/>
            <a:ext cx="232989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EVANGELISM  ×  CODE BREAKTHROUGH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7606665" y="777240"/>
            <a:ext cx="133776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· GROWTH ROADMAP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8423910" y="891540"/>
            <a:ext cx="194310" cy="1143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52510" y="891540"/>
            <a:ext cx="8001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66810" y="891540"/>
            <a:ext cx="34290" cy="1143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" y="1005840"/>
            <a:ext cx="8458200" cy="325576"/>
          </a:xfrm>
          <a:prstGeom prst="rect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70000">
                <a:srgbClr val="00BC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342900" y="1005840"/>
            <a:ext cx="0" cy="325576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" y="1005840"/>
            <a:ext cx="9473184" cy="32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主旨叙事 — 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布道层面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从单次分享升级为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系列课程体系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；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代码层面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设定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明确破零目标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；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社群层面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扩大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meetup 规模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并引入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联合主办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；同时深化与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开源之友社区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的协作，实现</a:t>
            </a:r>
            <a:pPr algn="l" indent="0" marL="0">
              <a:lnSpc>
                <a:spcPct val="185000"/>
              </a:lnSpc>
              <a:buNone/>
            </a:pPr>
            <a:r>
              <a:rPr lang="en-US" sz="608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个人与社区的双向成长</a:t>
            </a:r>
            <a:pPr algn="l" indent="0" marL="0">
              <a:lnSpc>
                <a:spcPct val="185000"/>
              </a:lnSpc>
              <a:buNone/>
            </a:pPr>
            <a:r>
              <a:rPr lang="en-US" sz="608" spc="23" kern="0" dirty="0">
                <a:solidFill>
                  <a:srgbClr val="DCE6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608" dirty="0"/>
          </a:p>
        </p:txBody>
      </p:sp>
      <p:sp>
        <p:nvSpPr>
          <p:cNvPr id="20" name="Shape 18"/>
          <p:cNvSpPr/>
          <p:nvPr/>
        </p:nvSpPr>
        <p:spPr>
          <a:xfrm>
            <a:off x="342900" y="1445716"/>
            <a:ext cx="2037398" cy="634365"/>
          </a:xfrm>
          <a:prstGeom prst="roundRect">
            <a:avLst>
              <a:gd name="adj" fmla="val 9009"/>
            </a:avLst>
          </a:prstGeom>
          <a:solidFill>
            <a:srgbClr val="14223A">
              <a:alpha val="6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" y="1445716"/>
            <a:ext cx="17145" cy="6229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83118" y="1782901"/>
            <a:ext cx="400050" cy="4000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3" name="Text 21"/>
          <p:cNvSpPr/>
          <p:nvPr/>
        </p:nvSpPr>
        <p:spPr>
          <a:xfrm>
            <a:off x="462915" y="1542871"/>
            <a:ext cx="201305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SERIES COURSE</a:t>
            </a:r>
            <a:endParaRPr lang="en-US" sz="495" dirty="0"/>
          </a:p>
        </p:txBody>
      </p:sp>
      <p:sp>
        <p:nvSpPr>
          <p:cNvPr id="24" name="Text 22"/>
          <p:cNvSpPr/>
          <p:nvPr/>
        </p:nvSpPr>
        <p:spPr>
          <a:xfrm>
            <a:off x="462915" y="1662886"/>
            <a:ext cx="2013052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个系列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462915" y="1891486"/>
            <a:ext cx="20130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系列课程目标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2483168" y="1445716"/>
            <a:ext cx="2037398" cy="634365"/>
          </a:xfrm>
          <a:prstGeom prst="roundRect">
            <a:avLst>
              <a:gd name="adj" fmla="val 9009"/>
            </a:avLst>
          </a:prstGeom>
          <a:solidFill>
            <a:srgbClr val="14223A">
              <a:alpha val="6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3168" y="1445716"/>
            <a:ext cx="17145" cy="6229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23385" y="1782901"/>
            <a:ext cx="400050" cy="4000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9" name="Text 27"/>
          <p:cNvSpPr/>
          <p:nvPr/>
        </p:nvSpPr>
        <p:spPr>
          <a:xfrm>
            <a:off x="2603183" y="1542871"/>
            <a:ext cx="201305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 MILESTONE</a:t>
            </a:r>
            <a:endParaRPr lang="en-US" sz="495" dirty="0"/>
          </a:p>
        </p:txBody>
      </p:sp>
      <p:sp>
        <p:nvSpPr>
          <p:cNvPr id="30" name="Text 28"/>
          <p:cNvSpPr/>
          <p:nvPr/>
        </p:nvSpPr>
        <p:spPr>
          <a:xfrm>
            <a:off x="2603183" y="1662886"/>
            <a:ext cx="2013052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5+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有效 PR</a:t>
            </a:r>
            <a:endParaRPr lang="en-US" sz="1530" dirty="0"/>
          </a:p>
        </p:txBody>
      </p:sp>
      <p:sp>
        <p:nvSpPr>
          <p:cNvPr id="31" name="Text 29"/>
          <p:cNvSpPr/>
          <p:nvPr/>
        </p:nvSpPr>
        <p:spPr>
          <a:xfrm>
            <a:off x="2603183" y="1891486"/>
            <a:ext cx="20130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全年代码贡献破零</a:t>
            </a:r>
            <a:endParaRPr lang="en-US" sz="495" dirty="0"/>
          </a:p>
        </p:txBody>
      </p:sp>
      <p:sp>
        <p:nvSpPr>
          <p:cNvPr id="32" name="Shape 30"/>
          <p:cNvSpPr/>
          <p:nvPr/>
        </p:nvSpPr>
        <p:spPr>
          <a:xfrm>
            <a:off x="4623435" y="1445716"/>
            <a:ext cx="2037398" cy="634365"/>
          </a:xfrm>
          <a:prstGeom prst="roundRect">
            <a:avLst>
              <a:gd name="adj" fmla="val 9009"/>
            </a:avLst>
          </a:prstGeom>
          <a:solidFill>
            <a:srgbClr val="14223A">
              <a:alpha val="6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3435" y="1445716"/>
            <a:ext cx="17145" cy="6229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63653" y="1782901"/>
            <a:ext cx="400050" cy="4000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5" name="Text 33"/>
          <p:cNvSpPr/>
          <p:nvPr/>
        </p:nvSpPr>
        <p:spPr>
          <a:xfrm>
            <a:off x="4743450" y="1542871"/>
            <a:ext cx="201305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MEETUP SCALE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4743450" y="1662886"/>
            <a:ext cx="2013052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 / 年</a:t>
            </a:r>
            <a:endParaRPr lang="en-US" sz="1530" dirty="0"/>
          </a:p>
        </p:txBody>
      </p:sp>
      <p:sp>
        <p:nvSpPr>
          <p:cNvPr id="37" name="Text 35"/>
          <p:cNvSpPr/>
          <p:nvPr/>
        </p:nvSpPr>
        <p:spPr>
          <a:xfrm>
            <a:off x="4743450" y="1891486"/>
            <a:ext cx="20130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社群活动扩展目标</a:t>
            </a:r>
            <a:endParaRPr lang="en-US" sz="495" dirty="0"/>
          </a:p>
        </p:txBody>
      </p:sp>
      <p:sp>
        <p:nvSpPr>
          <p:cNvPr id="38" name="Shape 36"/>
          <p:cNvSpPr/>
          <p:nvPr/>
        </p:nvSpPr>
        <p:spPr>
          <a:xfrm>
            <a:off x="6763703" y="1445716"/>
            <a:ext cx="2037398" cy="634365"/>
          </a:xfrm>
          <a:prstGeom prst="roundRect">
            <a:avLst>
              <a:gd name="adj" fmla="val 9009"/>
            </a:avLst>
          </a:prstGeom>
          <a:solidFill>
            <a:srgbClr val="14223A">
              <a:alpha val="6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3703" y="1445716"/>
            <a:ext cx="17145" cy="6229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03920" y="1782901"/>
            <a:ext cx="400050" cy="4000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1" name="Text 39"/>
          <p:cNvSpPr/>
          <p:nvPr/>
        </p:nvSpPr>
        <p:spPr>
          <a:xfrm>
            <a:off x="6883718" y="1542871"/>
            <a:ext cx="201305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 DEPTH</a:t>
            </a:r>
            <a:endParaRPr lang="en-US" sz="495" dirty="0"/>
          </a:p>
        </p:txBody>
      </p:sp>
      <p:sp>
        <p:nvSpPr>
          <p:cNvPr id="42" name="Text 40"/>
          <p:cNvSpPr/>
          <p:nvPr/>
        </p:nvSpPr>
        <p:spPr>
          <a:xfrm>
            <a:off x="6883718" y="1662886"/>
            <a:ext cx="2013052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∞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</a:t>
            </a:r>
            <a:endParaRPr lang="en-US" sz="1530" dirty="0"/>
          </a:p>
        </p:txBody>
      </p:sp>
      <p:sp>
        <p:nvSpPr>
          <p:cNvPr id="43" name="Text 41"/>
          <p:cNvSpPr/>
          <p:nvPr/>
        </p:nvSpPr>
        <p:spPr>
          <a:xfrm>
            <a:off x="6883718" y="1891486"/>
            <a:ext cx="20130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社区协作深度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342900" y="2205811"/>
            <a:ext cx="4166235" cy="2114907"/>
          </a:xfrm>
          <a:prstGeom prst="roundRect">
            <a:avLst>
              <a:gd name="adj" fmla="val 3243"/>
            </a:avLst>
          </a:prstGeom>
          <a:solidFill>
            <a:srgbClr val="14223A">
              <a:alpha val="6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" y="1977211"/>
            <a:ext cx="800100" cy="8001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6" name="Shape 44"/>
          <p:cNvSpPr/>
          <p:nvPr/>
        </p:nvSpPr>
        <p:spPr>
          <a:xfrm>
            <a:off x="485775" y="2590502"/>
            <a:ext cx="388048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6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Text 45"/>
          <p:cNvSpPr/>
          <p:nvPr/>
        </p:nvSpPr>
        <p:spPr>
          <a:xfrm>
            <a:off x="485775" y="2337256"/>
            <a:ext cx="1484986" cy="173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左栏</a:t>
            </a:r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布道系列课程路线图</a:t>
            </a:r>
            <a:endParaRPr lang="en-US" sz="855" dirty="0"/>
          </a:p>
        </p:txBody>
      </p:sp>
      <p:sp>
        <p:nvSpPr>
          <p:cNvPr id="48" name="Shape 46"/>
          <p:cNvSpPr/>
          <p:nvPr/>
        </p:nvSpPr>
        <p:spPr>
          <a:xfrm>
            <a:off x="485775" y="2356187"/>
            <a:ext cx="240030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5775" y="2356187"/>
            <a:ext cx="297180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左栏</a:t>
            </a:r>
            <a:endParaRPr lang="en-US" sz="450" dirty="0"/>
          </a:p>
        </p:txBody>
      </p:sp>
      <p:sp>
        <p:nvSpPr>
          <p:cNvPr id="50" name="Text 48"/>
          <p:cNvSpPr/>
          <p:nvPr/>
        </p:nvSpPr>
        <p:spPr>
          <a:xfrm>
            <a:off x="3183255" y="2381012"/>
            <a:ext cx="132496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EVANGELISM ROADMAP / 01</a:t>
            </a:r>
            <a:endParaRPr lang="en-US" sz="495" dirty="0"/>
          </a:p>
        </p:txBody>
      </p:sp>
      <p:sp>
        <p:nvSpPr>
          <p:cNvPr id="51" name="Text 49"/>
          <p:cNvSpPr/>
          <p:nvPr/>
        </p:nvSpPr>
        <p:spPr>
          <a:xfrm>
            <a:off x="485775" y="2676227"/>
            <a:ext cx="434614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▍</a:t>
            </a:r>
            <a:pPr algn="l" indent="0" marL="0">
              <a:buNone/>
            </a:pPr>
            <a:r>
              <a:rPr lang="en-US" sz="540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系列课程打造</a:t>
            </a:r>
            <a:pPr algn="l" indent="0" marL="0">
              <a:buNone/>
            </a:pPr>
            <a:r>
              <a:rPr lang="en-US" sz="540" spc="45" kern="0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 将分散分享整合为系统化知识输出</a:t>
            </a:r>
            <a:endParaRPr lang="en-US" sz="540" dirty="0"/>
          </a:p>
        </p:txBody>
      </p:sp>
      <p:sp>
        <p:nvSpPr>
          <p:cNvPr id="52" name="Shape 50"/>
          <p:cNvSpPr/>
          <p:nvPr/>
        </p:nvSpPr>
        <p:spPr>
          <a:xfrm>
            <a:off x="485775" y="2841962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4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5775" y="2841962"/>
            <a:ext cx="274320" cy="194310"/>
          </a:xfrm>
          <a:prstGeom prst="rect">
            <a:avLst/>
          </a:prstGeom>
          <a:noFill/>
          <a:ln/>
        </p:spPr>
        <p:txBody>
          <a:bodyPr wrap="none" lIns="62865" tIns="80010" rIns="80010" bIns="62865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A15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760095" y="2841962"/>
            <a:ext cx="40389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K8s 实战系列</a:t>
            </a:r>
            <a:endParaRPr lang="en-US" sz="608" dirty="0"/>
          </a:p>
        </p:txBody>
      </p:sp>
      <p:sp>
        <p:nvSpPr>
          <p:cNvPr id="55" name="Text 53"/>
          <p:cNvSpPr/>
          <p:nvPr/>
        </p:nvSpPr>
        <p:spPr>
          <a:xfrm>
            <a:off x="760095" y="2979122"/>
            <a:ext cx="4038905" cy="111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聚焦</a:t>
            </a:r>
            <a:pPr algn="l" indent="0" marL="0">
              <a:lnSpc>
                <a:spcPct val="170000"/>
              </a:lnSpc>
              <a:buNone/>
            </a:pPr>
            <a:r>
              <a:rPr lang="en-US" sz="518" b="1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容器编排与生产实践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，从集群部署到调度优化，形成</a:t>
            </a:r>
            <a:pPr algn="l" indent="0" marL="0">
              <a:lnSpc>
                <a:spcPct val="170000"/>
              </a:lnSpc>
              <a:buNone/>
            </a:pPr>
            <a:r>
              <a:rPr lang="en-US" sz="518" b="1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4-6 讲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系统课程。</a:t>
            </a:r>
            <a:endParaRPr lang="en-US" sz="518" dirty="0"/>
          </a:p>
        </p:txBody>
      </p:sp>
      <p:sp>
        <p:nvSpPr>
          <p:cNvPr id="56" name="Shape 54"/>
          <p:cNvSpPr/>
          <p:nvPr/>
        </p:nvSpPr>
        <p:spPr>
          <a:xfrm>
            <a:off x="582930" y="3159413"/>
            <a:ext cx="11430" cy="57150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582930" y="3159413"/>
            <a:ext cx="0" cy="57150"/>
          </a:xfrm>
          <a:prstGeom prst="line">
            <a:avLst/>
          </a:prstGeom>
          <a:noFill/>
          <a:ln w="11430">
            <a:solidFill>
              <a:srgbClr val="00BCD4">
                <a:alpha val="45000"/>
              </a:srgbClr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85775" y="3285143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4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85775" y="3285143"/>
            <a:ext cx="274320" cy="194310"/>
          </a:xfrm>
          <a:prstGeom prst="rect">
            <a:avLst/>
          </a:prstGeom>
          <a:noFill/>
          <a:ln/>
        </p:spPr>
        <p:txBody>
          <a:bodyPr wrap="none" lIns="62865" tIns="80010" rIns="80010" bIns="62865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A15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" dirty="0"/>
          </a:p>
        </p:txBody>
      </p:sp>
      <p:sp>
        <p:nvSpPr>
          <p:cNvPr id="60" name="Text 58"/>
          <p:cNvSpPr/>
          <p:nvPr/>
        </p:nvSpPr>
        <p:spPr>
          <a:xfrm>
            <a:off x="760095" y="3285143"/>
            <a:ext cx="40389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开源治理系列</a:t>
            </a:r>
            <a:endParaRPr lang="en-US" sz="608" dirty="0"/>
          </a:p>
        </p:txBody>
      </p:sp>
      <p:sp>
        <p:nvSpPr>
          <p:cNvPr id="61" name="Text 59"/>
          <p:cNvSpPr/>
          <p:nvPr/>
        </p:nvSpPr>
        <p:spPr>
          <a:xfrm>
            <a:off x="760095" y="3422303"/>
            <a:ext cx="4038905" cy="111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覆盖</a:t>
            </a:r>
            <a:pPr algn="l" indent="0" marL="0">
              <a:lnSpc>
                <a:spcPct val="170000"/>
              </a:lnSpc>
              <a:buNone/>
            </a:pPr>
            <a:r>
              <a:rPr lang="en-US" sz="518" b="1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治理模型 / 贡献流程 / 社区运营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，沉淀方法论，输出</a:t>
            </a:r>
            <a:pPr algn="l" indent="0" marL="0">
              <a:lnSpc>
                <a:spcPct val="170000"/>
              </a:lnSpc>
              <a:buNone/>
            </a:pPr>
            <a:r>
              <a:rPr lang="en-US" sz="518" b="1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3-5 讲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518" dirty="0"/>
          </a:p>
        </p:txBody>
      </p:sp>
      <p:sp>
        <p:nvSpPr>
          <p:cNvPr id="62" name="Shape 60"/>
          <p:cNvSpPr/>
          <p:nvPr/>
        </p:nvSpPr>
        <p:spPr>
          <a:xfrm>
            <a:off x="582930" y="3602593"/>
            <a:ext cx="11430" cy="57150"/>
          </a:xfrm>
          <a:prstGeom prst="rect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582930" y="3602593"/>
            <a:ext cx="0" cy="57150"/>
          </a:xfrm>
          <a:prstGeom prst="line">
            <a:avLst/>
          </a:prstGeom>
          <a:noFill/>
          <a:ln w="11430">
            <a:solidFill>
              <a:srgbClr val="00BCD4">
                <a:alpha val="45000"/>
              </a:srgbClr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485775" y="3728323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4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85775" y="3728323"/>
            <a:ext cx="274320" cy="194310"/>
          </a:xfrm>
          <a:prstGeom prst="rect">
            <a:avLst/>
          </a:prstGeom>
          <a:noFill/>
          <a:ln/>
        </p:spPr>
        <p:txBody>
          <a:bodyPr wrap="none" lIns="62865" tIns="80010" rIns="80010" bIns="62865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A15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30" dirty="0"/>
          </a:p>
        </p:txBody>
      </p:sp>
      <p:sp>
        <p:nvSpPr>
          <p:cNvPr id="66" name="Text 64"/>
          <p:cNvSpPr/>
          <p:nvPr/>
        </p:nvSpPr>
        <p:spPr>
          <a:xfrm>
            <a:off x="760095" y="3728323"/>
            <a:ext cx="40389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跨系列主题专题</a:t>
            </a:r>
            <a:endParaRPr lang="en-US" sz="608" dirty="0"/>
          </a:p>
        </p:txBody>
      </p:sp>
      <p:sp>
        <p:nvSpPr>
          <p:cNvPr id="67" name="Text 65"/>
          <p:cNvSpPr/>
          <p:nvPr/>
        </p:nvSpPr>
        <p:spPr>
          <a:xfrm>
            <a:off x="760095" y="3865483"/>
            <a:ext cx="4038905" cy="111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针对</a:t>
            </a:r>
            <a:pPr algn="l" indent="0" marL="0">
              <a:lnSpc>
                <a:spcPct val="170000"/>
              </a:lnSpc>
              <a:buNone/>
            </a:pPr>
            <a:r>
              <a:rPr lang="en-US" sz="518" b="1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 Infra / 安全 / 性能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等跨域议题，组织</a:t>
            </a:r>
            <a:pPr algn="l" indent="0" marL="0">
              <a:lnSpc>
                <a:spcPct val="170000"/>
              </a:lnSpc>
              <a:buNone/>
            </a:pPr>
            <a:r>
              <a:rPr lang="en-US" sz="518" b="1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个主题系列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，形成知识矩阵。</a:t>
            </a:r>
            <a:endParaRPr lang="en-US" sz="518" dirty="0"/>
          </a:p>
        </p:txBody>
      </p:sp>
      <p:sp>
        <p:nvSpPr>
          <p:cNvPr id="68" name="Shape 66"/>
          <p:cNvSpPr/>
          <p:nvPr/>
        </p:nvSpPr>
        <p:spPr>
          <a:xfrm>
            <a:off x="4634865" y="2205811"/>
            <a:ext cx="4166235" cy="2114907"/>
          </a:xfrm>
          <a:prstGeom prst="roundRect">
            <a:avLst>
              <a:gd name="adj" fmla="val 3243"/>
            </a:avLst>
          </a:prstGeom>
          <a:solidFill>
            <a:srgbClr val="14223A">
              <a:alpha val="6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06265" y="1977211"/>
            <a:ext cx="800100" cy="8001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0" name="Shape 68"/>
          <p:cNvSpPr/>
          <p:nvPr/>
        </p:nvSpPr>
        <p:spPr>
          <a:xfrm>
            <a:off x="4777740" y="2590502"/>
            <a:ext cx="388048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6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1" name="Text 69"/>
          <p:cNvSpPr/>
          <p:nvPr/>
        </p:nvSpPr>
        <p:spPr>
          <a:xfrm>
            <a:off x="4777740" y="2337256"/>
            <a:ext cx="1484986" cy="173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右栏</a:t>
            </a:r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代码贡献里程碑阶梯</a:t>
            </a:r>
            <a:endParaRPr lang="en-US" sz="855" dirty="0"/>
          </a:p>
        </p:txBody>
      </p:sp>
      <p:sp>
        <p:nvSpPr>
          <p:cNvPr id="72" name="Shape 70"/>
          <p:cNvSpPr/>
          <p:nvPr/>
        </p:nvSpPr>
        <p:spPr>
          <a:xfrm>
            <a:off x="4777740" y="2356187"/>
            <a:ext cx="240030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6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7740" y="2356187"/>
            <a:ext cx="297180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右栏</a:t>
            </a:r>
            <a:endParaRPr lang="en-US" sz="450" dirty="0"/>
          </a:p>
        </p:txBody>
      </p:sp>
      <p:sp>
        <p:nvSpPr>
          <p:cNvPr id="74" name="Text 72"/>
          <p:cNvSpPr/>
          <p:nvPr/>
        </p:nvSpPr>
        <p:spPr>
          <a:xfrm>
            <a:off x="7680960" y="2381012"/>
            <a:ext cx="109453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CODE MILESTONE / 02</a:t>
            </a:r>
            <a:endParaRPr lang="en-US" sz="495" dirty="0"/>
          </a:p>
        </p:txBody>
      </p:sp>
      <p:sp>
        <p:nvSpPr>
          <p:cNvPr id="75" name="Text 73"/>
          <p:cNvSpPr/>
          <p:nvPr/>
        </p:nvSpPr>
        <p:spPr>
          <a:xfrm>
            <a:off x="4777740" y="2676227"/>
            <a:ext cx="434614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▍</a:t>
            </a:r>
            <a:pPr algn="l" indent="0" marL="0">
              <a:buNone/>
            </a:pPr>
            <a:r>
              <a:rPr lang="en-US" sz="540" b="1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代码贡献破零</a:t>
            </a:r>
            <a:pPr algn="l" indent="0" marL="0">
              <a:buNone/>
            </a:pPr>
            <a:r>
              <a:rPr lang="en-US" sz="540" spc="45" kern="0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 选定 1-2 个关注已久的开源项目，逐级攀升</a:t>
            </a:r>
            <a:endParaRPr lang="en-US" sz="540" dirty="0"/>
          </a:p>
        </p:txBody>
      </p:sp>
      <p:sp>
        <p:nvSpPr>
          <p:cNvPr id="76" name="Shape 74"/>
          <p:cNvSpPr/>
          <p:nvPr/>
        </p:nvSpPr>
        <p:spPr>
          <a:xfrm>
            <a:off x="4777740" y="2841962"/>
            <a:ext cx="3880485" cy="268605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63465" y="2910542"/>
            <a:ext cx="371475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4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63465" y="2910542"/>
            <a:ext cx="440055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LV · 01</a:t>
            </a:r>
            <a:endParaRPr lang="en-US" sz="540" dirty="0"/>
          </a:p>
        </p:txBody>
      </p:sp>
      <p:sp>
        <p:nvSpPr>
          <p:cNvPr id="79" name="Text 77"/>
          <p:cNvSpPr/>
          <p:nvPr/>
        </p:nvSpPr>
        <p:spPr>
          <a:xfrm>
            <a:off x="5314950" y="2920901"/>
            <a:ext cx="3505038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环境搭建 &amp; 文档修复</a:t>
            </a:r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E4E9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 熟悉项目结构，从 typo / README 修复起步，建立贡献链路。</a:t>
            </a:r>
            <a:endParaRPr lang="en-US" sz="563" dirty="0"/>
          </a:p>
        </p:txBody>
      </p:sp>
      <p:sp>
        <p:nvSpPr>
          <p:cNvPr id="80" name="Text 78"/>
          <p:cNvSpPr/>
          <p:nvPr/>
        </p:nvSpPr>
        <p:spPr>
          <a:xfrm>
            <a:off x="8524458" y="2921972"/>
            <a:ext cx="1360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▲</a:t>
            </a:r>
            <a:endParaRPr lang="en-US" sz="630" dirty="0"/>
          </a:p>
        </p:txBody>
      </p:sp>
      <p:sp>
        <p:nvSpPr>
          <p:cNvPr id="81" name="Shape 79"/>
          <p:cNvSpPr/>
          <p:nvPr/>
        </p:nvSpPr>
        <p:spPr>
          <a:xfrm>
            <a:off x="4777740" y="3167717"/>
            <a:ext cx="3880485" cy="358616"/>
          </a:xfrm>
          <a:prstGeom prst="roundRect">
            <a:avLst>
              <a:gd name="adj" fmla="val 12749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63465" y="3281303"/>
            <a:ext cx="38862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4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63465" y="3281303"/>
            <a:ext cx="457200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LV · 02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5332095" y="3236297"/>
            <a:ext cx="3485836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 跟进 &amp; 测试补充</a:t>
            </a:r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E4E9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 认领 Good First Issue，补充单测、修复小 Bug，PR × 1-2。</a:t>
            </a:r>
            <a:endParaRPr lang="en-US" sz="563" dirty="0"/>
          </a:p>
        </p:txBody>
      </p:sp>
      <p:sp>
        <p:nvSpPr>
          <p:cNvPr id="85" name="Text 83"/>
          <p:cNvSpPr/>
          <p:nvPr/>
        </p:nvSpPr>
        <p:spPr>
          <a:xfrm>
            <a:off x="8524458" y="3292733"/>
            <a:ext cx="1360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▲</a:t>
            </a:r>
            <a:endParaRPr lang="en-US" sz="630" dirty="0"/>
          </a:p>
        </p:txBody>
      </p:sp>
      <p:sp>
        <p:nvSpPr>
          <p:cNvPr id="86" name="Shape 84"/>
          <p:cNvSpPr/>
          <p:nvPr/>
        </p:nvSpPr>
        <p:spPr>
          <a:xfrm>
            <a:off x="4777740" y="3583484"/>
            <a:ext cx="3880485" cy="268605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63465" y="3652064"/>
            <a:ext cx="38862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4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63465" y="3652064"/>
            <a:ext cx="457200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LV · 03</a:t>
            </a:r>
            <a:endParaRPr lang="en-US" sz="540" dirty="0"/>
          </a:p>
        </p:txBody>
      </p:sp>
      <p:sp>
        <p:nvSpPr>
          <p:cNvPr id="89" name="Text 87"/>
          <p:cNvSpPr/>
          <p:nvPr/>
        </p:nvSpPr>
        <p:spPr>
          <a:xfrm>
            <a:off x="5332095" y="3662422"/>
            <a:ext cx="3485836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小功能实现</a:t>
            </a:r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E4E9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 独立完成小型 feature，参与 Code Review 讨论，PR × 2-3。</a:t>
            </a:r>
            <a:endParaRPr lang="en-US" sz="563" dirty="0"/>
          </a:p>
        </p:txBody>
      </p:sp>
      <p:sp>
        <p:nvSpPr>
          <p:cNvPr id="90" name="Text 88"/>
          <p:cNvSpPr/>
          <p:nvPr/>
        </p:nvSpPr>
        <p:spPr>
          <a:xfrm>
            <a:off x="8524458" y="3663494"/>
            <a:ext cx="1360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▲</a:t>
            </a:r>
            <a:endParaRPr lang="en-US" sz="630" dirty="0"/>
          </a:p>
        </p:txBody>
      </p:sp>
      <p:sp>
        <p:nvSpPr>
          <p:cNvPr id="91" name="Shape 89"/>
          <p:cNvSpPr/>
          <p:nvPr/>
        </p:nvSpPr>
        <p:spPr>
          <a:xfrm>
            <a:off x="4777740" y="3909239"/>
            <a:ext cx="3880485" cy="268605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63465" y="3977819"/>
            <a:ext cx="38862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4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63465" y="3977819"/>
            <a:ext cx="457200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LV · 04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5332095" y="3988177"/>
            <a:ext cx="3456432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全年 5+ 有效 PR</a:t>
            </a:r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E4E9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 达到</a:t>
            </a:r>
            <a:pPr algn="l" indent="0" marL="0">
              <a:lnSpc>
                <a:spcPct val="155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破零目标</a:t>
            </a:r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E4E9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，进入社区核心贡献者视野。</a:t>
            </a:r>
            <a:endParaRPr lang="en-US" sz="563" dirty="0"/>
          </a:p>
        </p:txBody>
      </p:sp>
      <p:sp>
        <p:nvSpPr>
          <p:cNvPr id="95" name="Text 93"/>
          <p:cNvSpPr/>
          <p:nvPr/>
        </p:nvSpPr>
        <p:spPr>
          <a:xfrm>
            <a:off x="8498205" y="3989249"/>
            <a:ext cx="15430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★</a:t>
            </a:r>
            <a:endParaRPr lang="en-US" sz="630" dirty="0"/>
          </a:p>
        </p:txBody>
      </p:sp>
      <p:sp>
        <p:nvSpPr>
          <p:cNvPr id="96" name="Shape 94"/>
          <p:cNvSpPr/>
          <p:nvPr/>
        </p:nvSpPr>
        <p:spPr>
          <a:xfrm>
            <a:off x="342900" y="4435019"/>
            <a:ext cx="4166235" cy="858679"/>
          </a:xfrm>
          <a:prstGeom prst="roundRect">
            <a:avLst>
              <a:gd name="adj" fmla="val 6656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80000">
                <a:srgbClr val="00BCD4">
                  <a:alpha val="5000"/>
                </a:srgbClr>
              </a:gs>
            </a:gsLst>
            <a:lin ang="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2900" y="4435019"/>
            <a:ext cx="17145" cy="847249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98" name="Shape 96"/>
          <p:cNvSpPr/>
          <p:nvPr/>
        </p:nvSpPr>
        <p:spPr>
          <a:xfrm>
            <a:off x="474345" y="4532174"/>
            <a:ext cx="171450" cy="17145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474345" y="4532174"/>
            <a:ext cx="24574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A15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85" dirty="0"/>
          </a:p>
        </p:txBody>
      </p:sp>
      <p:sp>
        <p:nvSpPr>
          <p:cNvPr id="100" name="Text 98"/>
          <p:cNvSpPr/>
          <p:nvPr/>
        </p:nvSpPr>
        <p:spPr>
          <a:xfrm>
            <a:off x="714375" y="4549319"/>
            <a:ext cx="69723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meetup 升级</a:t>
            </a:r>
            <a:endParaRPr lang="en-US" sz="720" dirty="0"/>
          </a:p>
        </p:txBody>
      </p:sp>
      <p:sp>
        <p:nvSpPr>
          <p:cNvPr id="101" name="Text 99"/>
          <p:cNvSpPr/>
          <p:nvPr/>
        </p:nvSpPr>
        <p:spPr>
          <a:xfrm>
            <a:off x="3914775" y="4575036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SCALE × 2</a:t>
            </a:r>
            <a:endParaRPr lang="en-US" sz="495" dirty="0"/>
          </a:p>
        </p:txBody>
      </p:sp>
      <p:sp>
        <p:nvSpPr>
          <p:cNvPr id="102" name="Text 100"/>
          <p:cNvSpPr/>
          <p:nvPr/>
        </p:nvSpPr>
        <p:spPr>
          <a:xfrm>
            <a:off x="474345" y="4749344"/>
            <a:ext cx="4371746" cy="121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 场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扩展至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 场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，引入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联合主办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模式，覆盖更广泛的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城市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主题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，构建可复制的活动范式。</a:t>
            </a:r>
            <a:endParaRPr lang="en-US" sz="563" dirty="0"/>
          </a:p>
        </p:txBody>
      </p:sp>
      <p:sp>
        <p:nvSpPr>
          <p:cNvPr id="103" name="Shape 101"/>
          <p:cNvSpPr/>
          <p:nvPr/>
        </p:nvSpPr>
        <p:spPr>
          <a:xfrm>
            <a:off x="474345" y="4927937"/>
            <a:ext cx="1263015" cy="268605"/>
          </a:xfrm>
          <a:prstGeom prst="roundRect">
            <a:avLst>
              <a:gd name="adj" fmla="val 12766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2920" y="4967942"/>
            <a:ext cx="135056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→ 8</a:t>
            </a:r>
            <a:endParaRPr lang="en-US" sz="630" dirty="0"/>
          </a:p>
        </p:txBody>
      </p:sp>
      <p:sp>
        <p:nvSpPr>
          <p:cNvPr id="105" name="Text 103"/>
          <p:cNvSpPr/>
          <p:nvPr/>
        </p:nvSpPr>
        <p:spPr>
          <a:xfrm>
            <a:off x="502920" y="5076527"/>
            <a:ext cx="135056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28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场次目标</a:t>
            </a:r>
            <a:endParaRPr lang="en-US" sz="428" dirty="0"/>
          </a:p>
        </p:txBody>
      </p:sp>
      <p:sp>
        <p:nvSpPr>
          <p:cNvPr id="106" name="Shape 104"/>
          <p:cNvSpPr/>
          <p:nvPr/>
        </p:nvSpPr>
        <p:spPr>
          <a:xfrm>
            <a:off x="1794510" y="4927937"/>
            <a:ext cx="1263015" cy="268605"/>
          </a:xfrm>
          <a:prstGeom prst="roundRect">
            <a:avLst>
              <a:gd name="adj" fmla="val 12766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823085" y="4967942"/>
            <a:ext cx="135056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</a:t>
            </a:r>
            <a:endParaRPr lang="en-US" sz="630" dirty="0"/>
          </a:p>
        </p:txBody>
      </p:sp>
      <p:sp>
        <p:nvSpPr>
          <p:cNvPr id="108" name="Text 106"/>
          <p:cNvSpPr/>
          <p:nvPr/>
        </p:nvSpPr>
        <p:spPr>
          <a:xfrm>
            <a:off x="1823085" y="5076527"/>
            <a:ext cx="135056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28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联合主办</a:t>
            </a:r>
            <a:endParaRPr lang="en-US" sz="428" dirty="0"/>
          </a:p>
        </p:txBody>
      </p:sp>
      <p:sp>
        <p:nvSpPr>
          <p:cNvPr id="109" name="Shape 107"/>
          <p:cNvSpPr/>
          <p:nvPr/>
        </p:nvSpPr>
        <p:spPr>
          <a:xfrm>
            <a:off x="3114675" y="4927937"/>
            <a:ext cx="1263015" cy="268605"/>
          </a:xfrm>
          <a:prstGeom prst="roundRect">
            <a:avLst>
              <a:gd name="adj" fmla="val 12766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143250" y="4967942"/>
            <a:ext cx="135056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CITY+</a:t>
            </a:r>
            <a:endParaRPr lang="en-US" sz="630" dirty="0"/>
          </a:p>
        </p:txBody>
      </p:sp>
      <p:sp>
        <p:nvSpPr>
          <p:cNvPr id="111" name="Text 109"/>
          <p:cNvSpPr/>
          <p:nvPr/>
        </p:nvSpPr>
        <p:spPr>
          <a:xfrm>
            <a:off x="3143250" y="5076527"/>
            <a:ext cx="135056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28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城市覆盖</a:t>
            </a:r>
            <a:endParaRPr lang="en-US" sz="428" dirty="0"/>
          </a:p>
        </p:txBody>
      </p:sp>
      <p:sp>
        <p:nvSpPr>
          <p:cNvPr id="112" name="Shape 110"/>
          <p:cNvSpPr/>
          <p:nvPr/>
        </p:nvSpPr>
        <p:spPr>
          <a:xfrm>
            <a:off x="4634865" y="4435019"/>
            <a:ext cx="4166235" cy="858679"/>
          </a:xfrm>
          <a:prstGeom prst="roundRect">
            <a:avLst>
              <a:gd name="adj" fmla="val 6656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80000">
                <a:srgbClr val="00BCD4">
                  <a:alpha val="5000"/>
                </a:srgbClr>
              </a:gs>
            </a:gsLst>
            <a:lin ang="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34865" y="4435019"/>
            <a:ext cx="17145" cy="847249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114" name="Shape 112"/>
          <p:cNvSpPr/>
          <p:nvPr/>
        </p:nvSpPr>
        <p:spPr>
          <a:xfrm>
            <a:off x="4766310" y="4532174"/>
            <a:ext cx="171450" cy="17145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4766310" y="4532174"/>
            <a:ext cx="24574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A15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585" dirty="0"/>
          </a:p>
        </p:txBody>
      </p:sp>
      <p:sp>
        <p:nvSpPr>
          <p:cNvPr id="116" name="Text 114"/>
          <p:cNvSpPr/>
          <p:nvPr/>
        </p:nvSpPr>
        <p:spPr>
          <a:xfrm>
            <a:off x="5006340" y="4549319"/>
            <a:ext cx="67437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开源社区协作</a:t>
            </a:r>
            <a:endParaRPr lang="en-US" sz="720" dirty="0"/>
          </a:p>
        </p:txBody>
      </p:sp>
      <p:sp>
        <p:nvSpPr>
          <p:cNvPr id="117" name="Text 115"/>
          <p:cNvSpPr/>
          <p:nvPr/>
        </p:nvSpPr>
        <p:spPr>
          <a:xfrm>
            <a:off x="7692390" y="4575036"/>
            <a:ext cx="109453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OPEN-SOURCE FRIENDS</a:t>
            </a:r>
            <a:endParaRPr lang="en-US" sz="495" dirty="0"/>
          </a:p>
        </p:txBody>
      </p:sp>
      <p:sp>
        <p:nvSpPr>
          <p:cNvPr id="118" name="Text 116"/>
          <p:cNvSpPr/>
          <p:nvPr/>
        </p:nvSpPr>
        <p:spPr>
          <a:xfrm>
            <a:off x="4766310" y="4749344"/>
            <a:ext cx="4371746" cy="121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开源之友社区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建立更紧密协作关系，探索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联合内容生产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活动共建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C8D6E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，实现个人影响力与社区生态的双向增益。</a:t>
            </a:r>
            <a:endParaRPr lang="en-US" sz="563" dirty="0"/>
          </a:p>
        </p:txBody>
      </p:sp>
      <p:sp>
        <p:nvSpPr>
          <p:cNvPr id="119" name="Shape 117"/>
          <p:cNvSpPr/>
          <p:nvPr/>
        </p:nvSpPr>
        <p:spPr>
          <a:xfrm>
            <a:off x="4766310" y="4927937"/>
            <a:ext cx="1263015" cy="268605"/>
          </a:xfrm>
          <a:prstGeom prst="roundRect">
            <a:avLst>
              <a:gd name="adj" fmla="val 12766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94885" y="4967942"/>
            <a:ext cx="135056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630" dirty="0"/>
          </a:p>
        </p:txBody>
      </p:sp>
      <p:sp>
        <p:nvSpPr>
          <p:cNvPr id="121" name="Text 119"/>
          <p:cNvSpPr/>
          <p:nvPr/>
        </p:nvSpPr>
        <p:spPr>
          <a:xfrm>
            <a:off x="4794885" y="5076527"/>
            <a:ext cx="135056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28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联合内容</a:t>
            </a:r>
            <a:endParaRPr lang="en-US" sz="428" dirty="0"/>
          </a:p>
        </p:txBody>
      </p:sp>
      <p:sp>
        <p:nvSpPr>
          <p:cNvPr id="122" name="Shape 120"/>
          <p:cNvSpPr/>
          <p:nvPr/>
        </p:nvSpPr>
        <p:spPr>
          <a:xfrm>
            <a:off x="6086475" y="4927937"/>
            <a:ext cx="1263015" cy="268605"/>
          </a:xfrm>
          <a:prstGeom prst="roundRect">
            <a:avLst>
              <a:gd name="adj" fmla="val 12766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15050" y="4967942"/>
            <a:ext cx="135056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</a:t>
            </a:r>
            <a:endParaRPr lang="en-US" sz="630" dirty="0"/>
          </a:p>
        </p:txBody>
      </p:sp>
      <p:sp>
        <p:nvSpPr>
          <p:cNvPr id="124" name="Text 122"/>
          <p:cNvSpPr/>
          <p:nvPr/>
        </p:nvSpPr>
        <p:spPr>
          <a:xfrm>
            <a:off x="6115050" y="5076527"/>
            <a:ext cx="135056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28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活动共建</a:t>
            </a:r>
            <a:endParaRPr lang="en-US" sz="428" dirty="0"/>
          </a:p>
        </p:txBody>
      </p:sp>
      <p:sp>
        <p:nvSpPr>
          <p:cNvPr id="125" name="Shape 123"/>
          <p:cNvSpPr/>
          <p:nvPr/>
        </p:nvSpPr>
        <p:spPr>
          <a:xfrm>
            <a:off x="7406640" y="4927937"/>
            <a:ext cx="1263015" cy="268605"/>
          </a:xfrm>
          <a:prstGeom prst="roundRect">
            <a:avLst>
              <a:gd name="adj" fmla="val 12766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35215" y="4967942"/>
            <a:ext cx="135056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SYNERGY</a:t>
            </a:r>
            <a:endParaRPr lang="en-US" sz="630" dirty="0"/>
          </a:p>
        </p:txBody>
      </p:sp>
      <p:sp>
        <p:nvSpPr>
          <p:cNvPr id="127" name="Text 125"/>
          <p:cNvSpPr/>
          <p:nvPr/>
        </p:nvSpPr>
        <p:spPr>
          <a:xfrm>
            <a:off x="7435215" y="5076527"/>
            <a:ext cx="135056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28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双向成长</a:t>
            </a:r>
            <a:endParaRPr lang="en-US" sz="428" dirty="0"/>
          </a:p>
        </p:txBody>
      </p:sp>
      <p:sp>
        <p:nvSpPr>
          <p:cNvPr id="128" name="Shape 126"/>
          <p:cNvSpPr/>
          <p:nvPr/>
        </p:nvSpPr>
        <p:spPr>
          <a:xfrm>
            <a:off x="342900" y="5373707"/>
            <a:ext cx="8458200" cy="148590"/>
          </a:xfrm>
          <a:prstGeom prst="rect">
            <a:avLst/>
          </a:prstGeom>
          <a:noFill/>
          <a:ln/>
        </p:spPr>
      </p:sp>
      <p:sp>
        <p:nvSpPr>
          <p:cNvPr id="129" name="Shape 127"/>
          <p:cNvSpPr/>
          <p:nvPr/>
        </p:nvSpPr>
        <p:spPr>
          <a:xfrm>
            <a:off x="342900" y="5373707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25000"/>
              </a:srgbClr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>
            <a:off x="342900" y="5459432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440055" y="5439430"/>
            <a:ext cx="391729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SECTION 09  ·  EVANGELISM ROADMAP × CODE MILESTONE × COMMUNITY SCALE</a:t>
            </a:r>
            <a:endParaRPr lang="en-US" sz="473" dirty="0"/>
          </a:p>
        </p:txBody>
      </p:sp>
      <p:sp>
        <p:nvSpPr>
          <p:cNvPr id="132" name="Text 130"/>
          <p:cNvSpPr/>
          <p:nvPr/>
        </p:nvSpPr>
        <p:spPr>
          <a:xfrm>
            <a:off x="7823835" y="5436572"/>
            <a:ext cx="109453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8BD4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 个人与社区 · 双向成长 —</a:t>
            </a:r>
            <a:endParaRPr lang="en-US" sz="47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30B1E"/>
              </a:gs>
              <a:gs pos="50000">
                <a:srgbClr val="071433"/>
              </a:gs>
              <a:gs pos="100000">
                <a:srgbClr val="030B1E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828800" y="-1800225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14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914400" y="-5143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03070" y="382905"/>
            <a:ext cx="20002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B0BEC5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3840480" y="342900"/>
            <a:ext cx="16386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7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· CHAPTER 10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5440680" y="382905"/>
            <a:ext cx="20002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B0BEC5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2208848" y="537210"/>
            <a:ext cx="2663190" cy="56578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90" b="1" spc="63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以书为灯</a:t>
            </a:r>
            <a:endParaRPr lang="en-US" sz="3690" dirty="0"/>
          </a:p>
        </p:txBody>
      </p:sp>
      <p:sp>
        <p:nvSpPr>
          <p:cNvPr id="10" name="Text 8"/>
          <p:cNvSpPr/>
          <p:nvPr/>
        </p:nvSpPr>
        <p:spPr>
          <a:xfrm>
            <a:off x="4403408" y="537210"/>
            <a:ext cx="805815" cy="56578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50000"/>
              </a:srgbClr>
            </a:outerShdw>
          </a:effectLst>
        </p:spPr>
        <p:txBody>
          <a:bodyPr wrap="none" lIns="0" tIns="45720" rIns="4572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90" b="1" spc="630" kern="0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3690" dirty="0"/>
          </a:p>
        </p:txBody>
      </p:sp>
      <p:sp>
        <p:nvSpPr>
          <p:cNvPr id="11" name="Text 9"/>
          <p:cNvSpPr/>
          <p:nvPr/>
        </p:nvSpPr>
        <p:spPr>
          <a:xfrm>
            <a:off x="4740593" y="537210"/>
            <a:ext cx="2663190" cy="56578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90" b="1" spc="63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开源同行</a:t>
            </a:r>
            <a:endParaRPr lang="en-US" sz="3690" dirty="0"/>
          </a:p>
        </p:txBody>
      </p:sp>
      <p:sp>
        <p:nvSpPr>
          <p:cNvPr id="12" name="Text 10"/>
          <p:cNvSpPr/>
          <p:nvPr/>
        </p:nvSpPr>
        <p:spPr>
          <a:xfrm>
            <a:off x="2208848" y="1195507"/>
            <a:ext cx="529346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spc="36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</a:t>
            </a:r>
            <a:pPr algn="ctr" indent="0" marL="0">
              <a:buNone/>
            </a:pPr>
            <a:r>
              <a:rPr lang="en-US" sz="990" spc="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已成过往</a:t>
            </a:r>
            <a:pPr algn="ctr" indent="0" marL="0">
              <a:buNone/>
            </a:pPr>
            <a:r>
              <a:rPr lang="en-US" sz="990" spc="36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buNone/>
            </a:pPr>
            <a:r>
              <a:rPr lang="en-US" sz="990" spc="36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 </a:t>
            </a:r>
            <a:pPr algn="ctr" indent="0" marL="0">
              <a:buNone/>
            </a:pPr>
            <a:r>
              <a:rPr lang="en-US" sz="990" spc="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静待书写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00050" y="1564124"/>
            <a:ext cx="404050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Shape 12"/>
          <p:cNvSpPr/>
          <p:nvPr/>
        </p:nvSpPr>
        <p:spPr>
          <a:xfrm rot="2700000">
            <a:off x="4543425" y="1538407"/>
            <a:ext cx="57150" cy="5715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8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3445" y="1564124"/>
            <a:ext cx="404050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571500" y="1744147"/>
            <a:ext cx="2560320" cy="1069777"/>
          </a:xfrm>
          <a:prstGeom prst="roundRect">
            <a:avLst>
              <a:gd name="adj" fmla="val 7479"/>
            </a:avLst>
          </a:prstGeom>
          <a:gradFill rotWithShape="1">
            <a:gsLst>
              <a:gs pos="0">
                <a:srgbClr val="0A1738">
                  <a:alpha val="70000"/>
                </a:srgbClr>
              </a:gs>
              <a:gs pos="100000">
                <a:srgbClr val="030B1E">
                  <a:alpha val="50000"/>
                </a:srgbClr>
              </a:gs>
            </a:gsLst>
            <a:lin ang="42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785" y="1738432"/>
            <a:ext cx="2548890" cy="1058349"/>
          </a:xfrm>
          <a:prstGeom prst="roundRect">
            <a:avLst>
              <a:gd name="adj" fmla="val 7560"/>
            </a:avLst>
          </a:prstGeom>
          <a:gradFill rotWithShape="1">
            <a:gsLst>
              <a:gs pos="0">
                <a:srgbClr val="FFB74D">
                  <a:alpha val="50000"/>
                </a:srgbClr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BCD4">
                  <a:alpha val="40000"/>
                </a:srgbClr>
              </a:gs>
            </a:gsLst>
            <a:lin ang="27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702945" y="1898452"/>
            <a:ext cx="25731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180" kern="0" dirty="0">
                <a:solidFill>
                  <a:srgbClr val="FFB7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· 01</a:t>
            </a:r>
            <a:endParaRPr lang="en-US" sz="585" dirty="0"/>
          </a:p>
        </p:txBody>
      </p:sp>
      <p:sp>
        <p:nvSpPr>
          <p:cNvPr id="19" name="Text 17"/>
          <p:cNvSpPr/>
          <p:nvPr/>
        </p:nvSpPr>
        <p:spPr>
          <a:xfrm>
            <a:off x="702945" y="2075617"/>
            <a:ext cx="9372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2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不忘初心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702945" y="2367082"/>
            <a:ext cx="2573122" cy="15198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以开源阅读为起点，持续为中文开源社区贡献知识与力量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2221885" y="2648188"/>
            <a:ext cx="89751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STAY FAITHFUL</a:t>
            </a:r>
            <a:endParaRPr lang="en-US" sz="495" dirty="0"/>
          </a:p>
        </p:txBody>
      </p:sp>
      <p:sp>
        <p:nvSpPr>
          <p:cNvPr id="22" name="Shape 20"/>
          <p:cNvSpPr/>
          <p:nvPr/>
        </p:nvSpPr>
        <p:spPr>
          <a:xfrm>
            <a:off x="3291840" y="1744147"/>
            <a:ext cx="2560320" cy="1069777"/>
          </a:xfrm>
          <a:prstGeom prst="roundRect">
            <a:avLst>
              <a:gd name="adj" fmla="val 7479"/>
            </a:avLst>
          </a:prstGeom>
          <a:gradFill rotWithShape="1">
            <a:gsLst>
              <a:gs pos="0">
                <a:srgbClr val="0A1738">
                  <a:alpha val="70000"/>
                </a:srgbClr>
              </a:gs>
              <a:gs pos="100000">
                <a:srgbClr val="030B1E">
                  <a:alpha val="50000"/>
                </a:srgbClr>
              </a:gs>
            </a:gsLst>
            <a:lin ang="42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86125" y="1738432"/>
            <a:ext cx="2548890" cy="1058349"/>
          </a:xfrm>
          <a:prstGeom prst="roundRect">
            <a:avLst>
              <a:gd name="adj" fmla="val 7560"/>
            </a:avLst>
          </a:prstGeom>
          <a:gradFill rotWithShape="1">
            <a:gsLst>
              <a:gs pos="0">
                <a:srgbClr val="FFB74D">
                  <a:alpha val="50000"/>
                </a:srgbClr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BCD4">
                  <a:alpha val="40000"/>
                </a:srgbClr>
              </a:gs>
            </a:gsLst>
            <a:lin ang="2700000" scaled="0"/>
          </a:gradFill>
          <a:ln/>
        </p:spPr>
      </p:sp>
      <p:sp>
        <p:nvSpPr>
          <p:cNvPr id="24" name="Text 22"/>
          <p:cNvSpPr/>
          <p:nvPr/>
        </p:nvSpPr>
        <p:spPr>
          <a:xfrm>
            <a:off x="3423285" y="1898452"/>
            <a:ext cx="25731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180" kern="0" dirty="0">
                <a:solidFill>
                  <a:srgbClr val="FFB7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· 02</a:t>
            </a:r>
            <a:endParaRPr lang="en-US" sz="585" dirty="0"/>
          </a:p>
        </p:txBody>
      </p:sp>
      <p:sp>
        <p:nvSpPr>
          <p:cNvPr id="25" name="Text 23"/>
          <p:cNvSpPr/>
          <p:nvPr/>
        </p:nvSpPr>
        <p:spPr>
          <a:xfrm>
            <a:off x="3423285" y="2075617"/>
            <a:ext cx="9372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2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知行合一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3423285" y="2367082"/>
            <a:ext cx="2573122" cy="303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从阅读到翻译、从分享到代码，让知识在实践闭环中沉淀为能力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5125105" y="2648188"/>
            <a:ext cx="6926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KNOW &amp; DO</a:t>
            </a:r>
            <a:endParaRPr lang="en-US" sz="495" dirty="0"/>
          </a:p>
        </p:txBody>
      </p:sp>
      <p:sp>
        <p:nvSpPr>
          <p:cNvPr id="28" name="Shape 26"/>
          <p:cNvSpPr/>
          <p:nvPr/>
        </p:nvSpPr>
        <p:spPr>
          <a:xfrm>
            <a:off x="6012180" y="1744147"/>
            <a:ext cx="2560320" cy="1069777"/>
          </a:xfrm>
          <a:prstGeom prst="roundRect">
            <a:avLst>
              <a:gd name="adj" fmla="val 7479"/>
            </a:avLst>
          </a:prstGeom>
          <a:gradFill rotWithShape="1">
            <a:gsLst>
              <a:gs pos="0">
                <a:srgbClr val="0A1738">
                  <a:alpha val="70000"/>
                </a:srgbClr>
              </a:gs>
              <a:gs pos="100000">
                <a:srgbClr val="030B1E">
                  <a:alpha val="50000"/>
                </a:srgbClr>
              </a:gs>
            </a:gsLst>
            <a:lin ang="42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06465" y="1738432"/>
            <a:ext cx="2548890" cy="1058349"/>
          </a:xfrm>
          <a:prstGeom prst="roundRect">
            <a:avLst>
              <a:gd name="adj" fmla="val 7560"/>
            </a:avLst>
          </a:prstGeom>
          <a:gradFill rotWithShape="1">
            <a:gsLst>
              <a:gs pos="0">
                <a:srgbClr val="FFB74D">
                  <a:alpha val="50000"/>
                </a:srgbClr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BCD4">
                  <a:alpha val="40000"/>
                </a:srgbClr>
              </a:gs>
            </a:gsLst>
            <a:lin ang="2700000" scaled="0"/>
          </a:gradFill>
          <a:ln/>
        </p:spPr>
      </p:sp>
      <p:sp>
        <p:nvSpPr>
          <p:cNvPr id="30" name="Text 28"/>
          <p:cNvSpPr/>
          <p:nvPr/>
        </p:nvSpPr>
        <p:spPr>
          <a:xfrm>
            <a:off x="6143625" y="1898452"/>
            <a:ext cx="25731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180" kern="0" dirty="0">
                <a:solidFill>
                  <a:srgbClr val="FFB7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· 03</a:t>
            </a:r>
            <a:endParaRPr lang="en-US" sz="585" dirty="0"/>
          </a:p>
        </p:txBody>
      </p:sp>
      <p:sp>
        <p:nvSpPr>
          <p:cNvPr id="31" name="Text 29"/>
          <p:cNvSpPr/>
          <p:nvPr/>
        </p:nvSpPr>
        <p:spPr>
          <a:xfrm>
            <a:off x="6143625" y="2075617"/>
            <a:ext cx="9372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2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与君共勉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6143625" y="2367082"/>
            <a:ext cx="2573122" cy="303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愿每一位开源之友都能在代码与文字中找到属于自己的发光时刻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7885450" y="2648188"/>
            <a:ext cx="64788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TOGETHER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1657350" y="3099673"/>
            <a:ext cx="6528816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58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开源之路是一场</a:t>
            </a:r>
            <a:pPr algn="ctr" indent="0" marL="0">
              <a:lnSpc>
                <a:spcPct val="200000"/>
              </a:lnSpc>
              <a:buNone/>
            </a:pPr>
            <a:r>
              <a:rPr lang="en-US" sz="585" spc="90" kern="0" dirty="0">
                <a:solidFill>
                  <a:srgbClr val="FFB7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马拉松</a:t>
            </a:r>
            <a:pPr algn="ctr" indent="0" marL="0">
              <a:lnSpc>
                <a:spcPct val="200000"/>
              </a:lnSpc>
              <a:buNone/>
            </a:pPr>
            <a:r>
              <a:rPr lang="en-US" sz="58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。2022年我们完成了从 0 到 1 的积累，2023 年将以更清晰的规划和更坚定的行动向前推进。感谢每一位</a:t>
            </a:r>
            <a:pPr algn="ctr" indent="0" marL="0">
              <a:lnSpc>
                <a:spcPct val="200000"/>
              </a:lnSpc>
              <a:buNone/>
            </a:pPr>
            <a:r>
              <a:rPr lang="en-US" sz="585" spc="90" kern="0" dirty="0">
                <a:solidFill>
                  <a:srgbClr val="FFB7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同行者</a:t>
            </a:r>
            <a:pPr algn="ctr" indent="0" marL="0">
              <a:lnSpc>
                <a:spcPct val="200000"/>
              </a:lnSpc>
              <a:buNone/>
            </a:pPr>
            <a:r>
              <a:rPr lang="en-US" sz="58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，未来我们一起走得更远。</a:t>
            </a:r>
            <a:endParaRPr lang="en-US" sz="585" dirty="0"/>
          </a:p>
        </p:txBody>
      </p:sp>
      <p:sp>
        <p:nvSpPr>
          <p:cNvPr id="35" name="Shape 33"/>
          <p:cNvSpPr/>
          <p:nvPr/>
        </p:nvSpPr>
        <p:spPr>
          <a:xfrm>
            <a:off x="571500" y="4246245"/>
            <a:ext cx="2590770" cy="440055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571500" y="4246245"/>
            <a:ext cx="259077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2233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8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" y="4331970"/>
            <a:ext cx="264563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 告 人</a:t>
            </a:r>
            <a:endParaRPr lang="en-US" sz="495" dirty="0"/>
          </a:p>
        </p:txBody>
      </p:sp>
      <p:sp>
        <p:nvSpPr>
          <p:cNvPr id="39" name="Text 37"/>
          <p:cNvSpPr/>
          <p:nvPr/>
        </p:nvSpPr>
        <p:spPr>
          <a:xfrm>
            <a:off x="685800" y="4469130"/>
            <a:ext cx="2645631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13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 · 适兕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3276570" y="4246245"/>
            <a:ext cx="2590860" cy="440055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3276570" y="4246245"/>
            <a:ext cx="259086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90870" y="42233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8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390870" y="4331970"/>
            <a:ext cx="264573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 告 时 间</a:t>
            </a:r>
            <a:endParaRPr lang="en-US" sz="495" dirty="0"/>
          </a:p>
        </p:txBody>
      </p:sp>
      <p:sp>
        <p:nvSpPr>
          <p:cNvPr id="44" name="Text 42"/>
          <p:cNvSpPr/>
          <p:nvPr/>
        </p:nvSpPr>
        <p:spPr>
          <a:xfrm>
            <a:off x="3390870" y="4469130"/>
            <a:ext cx="2645731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13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 年 12 月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5981730" y="4246245"/>
            <a:ext cx="2590770" cy="440055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5981730" y="4246245"/>
            <a:ext cx="259077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96030" y="42233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8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096030" y="4331970"/>
            <a:ext cx="264563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 一 期 更 新</a:t>
            </a:r>
            <a:endParaRPr lang="en-US" sz="495" dirty="0"/>
          </a:p>
        </p:txBody>
      </p:sp>
      <p:sp>
        <p:nvSpPr>
          <p:cNvPr id="49" name="Text 47"/>
          <p:cNvSpPr/>
          <p:nvPr/>
        </p:nvSpPr>
        <p:spPr>
          <a:xfrm>
            <a:off x="6096030" y="4469130"/>
            <a:ext cx="2645631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13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 年度回顾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3371850" y="4789170"/>
            <a:ext cx="45720" cy="45720"/>
          </a:xfrm>
          <a:prstGeom prst="ellipse">
            <a:avLst/>
          </a:prstGeom>
          <a:solidFill>
            <a:srgbClr val="FFB74D"/>
          </a:solidFill>
          <a:ln/>
          <a:effectLst>
            <a:outerShdw sx="100000" sy="100000" kx="0" ky="0" algn="bl" rotWithShape="0" blurRad="114300" dist="50800" dir="16200000">
              <a:srgbClr val="FFB74D">
                <a:alpha val="8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09010" y="4766310"/>
            <a:ext cx="238109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B0BEC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  ·  WITH GRATITUDE  ·  感恩同行</a:t>
            </a:r>
            <a:endParaRPr lang="en-US" sz="495" dirty="0"/>
          </a:p>
        </p:txBody>
      </p:sp>
      <p:sp>
        <p:nvSpPr>
          <p:cNvPr id="52" name="Shape 50"/>
          <p:cNvSpPr/>
          <p:nvPr/>
        </p:nvSpPr>
        <p:spPr>
          <a:xfrm>
            <a:off x="5726430" y="4789170"/>
            <a:ext cx="45720" cy="45720"/>
          </a:xfrm>
          <a:prstGeom prst="ellipse">
            <a:avLst/>
          </a:prstGeom>
          <a:solidFill>
            <a:srgbClr val="FFB74D"/>
          </a:solidFill>
          <a:ln/>
          <a:effectLst>
            <a:outerShdw sx="100000" sy="100000" kx="0" ky="0" algn="bl" rotWithShape="0" blurRad="114300" dist="50800" dir="16200000">
              <a:srgbClr val="FFB74D">
                <a:alpha val="8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2026-08-27T21:22:07Z</dcterms:created>
  <dcterms:modified xsi:type="dcterms:W3CDTF">2026-08-27T21:22:07Z</dcterms:modified>
</cp:coreProperties>
</file>